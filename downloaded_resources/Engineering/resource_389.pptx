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7.xml" ContentType="application/vnd.openxmlformats-officedocument.theme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8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9.xml" ContentType="application/vnd.openxmlformats-officedocument.theme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35" r:id="rId4"/>
    <p:sldMasterId id="2147484148" r:id="rId5"/>
    <p:sldMasterId id="2147484825" r:id="rId6"/>
    <p:sldMasterId id="2147484838" r:id="rId7"/>
    <p:sldMasterId id="2147484851" r:id="rId8"/>
    <p:sldMasterId id="2147484864" r:id="rId9"/>
    <p:sldMasterId id="2147484877" r:id="rId10"/>
    <p:sldMasterId id="2147484890" r:id="rId11"/>
    <p:sldMasterId id="2147484903" r:id="rId12"/>
    <p:sldMasterId id="2147484916" r:id="rId13"/>
  </p:sldMasterIdLst>
  <p:notesMasterIdLst>
    <p:notesMasterId r:id="rId51"/>
  </p:notesMasterIdLst>
  <p:sldIdLst>
    <p:sldId id="256" r:id="rId14"/>
    <p:sldId id="257" r:id="rId15"/>
    <p:sldId id="258" r:id="rId16"/>
    <p:sldId id="272" r:id="rId17"/>
    <p:sldId id="305" r:id="rId18"/>
    <p:sldId id="310" r:id="rId19"/>
    <p:sldId id="311" r:id="rId20"/>
    <p:sldId id="312" r:id="rId21"/>
    <p:sldId id="313" r:id="rId22"/>
    <p:sldId id="314" r:id="rId23"/>
    <p:sldId id="316" r:id="rId24"/>
    <p:sldId id="317" r:id="rId25"/>
    <p:sldId id="318" r:id="rId26"/>
    <p:sldId id="319" r:id="rId27"/>
    <p:sldId id="320" r:id="rId28"/>
    <p:sldId id="321" r:id="rId29"/>
    <p:sldId id="324" r:id="rId30"/>
    <p:sldId id="325" r:id="rId31"/>
    <p:sldId id="323" r:id="rId32"/>
    <p:sldId id="326" r:id="rId33"/>
    <p:sldId id="327" r:id="rId34"/>
    <p:sldId id="328" r:id="rId35"/>
    <p:sldId id="329" r:id="rId36"/>
    <p:sldId id="331" r:id="rId37"/>
    <p:sldId id="332" r:id="rId38"/>
    <p:sldId id="330" r:id="rId39"/>
    <p:sldId id="333" r:id="rId40"/>
    <p:sldId id="334" r:id="rId41"/>
    <p:sldId id="335" r:id="rId42"/>
    <p:sldId id="336" r:id="rId43"/>
    <p:sldId id="337" r:id="rId44"/>
    <p:sldId id="338" r:id="rId45"/>
    <p:sldId id="339" r:id="rId46"/>
    <p:sldId id="340" r:id="rId47"/>
    <p:sldId id="341" r:id="rId48"/>
    <p:sldId id="342" r:id="rId49"/>
    <p:sldId id="343" r:id="rId50"/>
  </p:sldIdLst>
  <p:sldSz cx="9144000" cy="6858000" type="screen4x3"/>
  <p:notesSz cx="6858000" cy="9144000"/>
  <p:defaultTextStyle>
    <a:defPPr algn="r" rtl="1">
      <a:defRPr lang="ar-MA"/>
    </a:defPPr>
    <a:lvl1pPr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  <p15:guide id="3" pos="1791">
          <p15:clr>
            <a:srgbClr val="A4A3A4"/>
          </p15:clr>
        </p15:guide>
        <p15:guide id="4" orient="horz" pos="3657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9CFEB90-9D66-8A0A-B491-5A1B86E8BE4E}" name="Sam Prince" initials="SP" userId="S::sam.prince1@pearson.com::b8c1c271-dd5b-4079-a09a-81f4ce8be8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  <p:cmAuthor id="4" name="Microsoft Office User" initials="Office [4]" lastIdx="1" clrIdx="3"/>
  <p:cmAuthor id="5" name="Microsoft Office User" initials="Office [5]" lastIdx="1" clrIdx="4"/>
  <p:cmAuthor id="6" name="Susan Leaper" initials="" lastIdx="2" clrIdx="5"/>
  <p:cmAuthor id="7" name="Microsoft Office User" initials="Office [8]" lastIdx="1" clrIdx="6"/>
  <p:cmAuthor id="8" name="Microsoft Office User" initials="Office [7]" lastIdx="1" clrIdx="7"/>
  <p:cmAuthor id="9" name="Microsoft Office User" initials="Office [9]" lastIdx="1" clrIdx="8"/>
  <p:cmAuthor id="10" name="Microsoft Office User" initials="Office [10]" lastIdx="1" clrIdx="9"/>
  <p:cmAuthor id="11" name="Microsoft Office User" initials="" lastIdx="1" clrIdx="10"/>
  <p:cmAuthor id="12" name="Unknown User1" initials="Unknown User1" lastIdx="1" clrIdx="11"/>
  <p:cmAuthor id="13" name="Unknown User2" initials="Unknown User2" lastIdx="1" clrIdx="12"/>
  <p:cmAuthor id="14" name="Chetna Somaiya" initials="CS" lastIdx="3" clrIdx="13">
    <p:extLst>
      <p:ext uri="{19B8F6BF-5375-455C-9EA6-DF929625EA0E}">
        <p15:presenceInfo xmlns:p15="http://schemas.microsoft.com/office/powerpoint/2012/main" userId="S::Chetna.Somaiya@pearson.com::beb44317-2430-4ffc-a211-c5eaf33a942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41144B-FA56-45FF-BE64-426AF9835812}" v="5" dt="2023-10-20T20:10:58.138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5707" autoAdjust="0"/>
  </p:normalViewPr>
  <p:slideViewPr>
    <p:cSldViewPr>
      <p:cViewPr varScale="1">
        <p:scale>
          <a:sx n="162" d="100"/>
          <a:sy n="162" d="100"/>
        </p:scale>
        <p:origin x="2064" y="144"/>
      </p:cViewPr>
      <p:guideLst>
        <p:guide orient="horz" pos="1933"/>
        <p:guide pos="2880"/>
        <p:guide pos="1791"/>
        <p:guide orient="horz" pos="3657"/>
        <p:guide pos="10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slide" Target="slides/slide26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slide" Target="slides/slide29.xml"/><Relationship Id="rId47" Type="http://schemas.openxmlformats.org/officeDocument/2006/relationships/slide" Target="slides/slide34.xml"/><Relationship Id="rId50" Type="http://schemas.openxmlformats.org/officeDocument/2006/relationships/slide" Target="slides/slide37.xml"/><Relationship Id="rId55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slide" Target="slides/slide27.xml"/><Relationship Id="rId45" Type="http://schemas.openxmlformats.org/officeDocument/2006/relationships/slide" Target="slides/slide32.xml"/><Relationship Id="rId53" Type="http://schemas.openxmlformats.org/officeDocument/2006/relationships/presProps" Target="presProps.xml"/><Relationship Id="rId58" Type="http://schemas.microsoft.com/office/2018/10/relationships/authors" Target="authors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slide" Target="slides/slide30.xml"/><Relationship Id="rId48" Type="http://schemas.openxmlformats.org/officeDocument/2006/relationships/slide" Target="slides/slide35.xml"/><Relationship Id="rId56" Type="http://schemas.openxmlformats.org/officeDocument/2006/relationships/tableStyles" Target="tableStyles.xml"/><Relationship Id="rId8" Type="http://schemas.openxmlformats.org/officeDocument/2006/relationships/slideMaster" Target="slideMasters/slideMaster5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slide" Target="slides/slide33.xml"/><Relationship Id="rId20" Type="http://schemas.openxmlformats.org/officeDocument/2006/relationships/slide" Target="slides/slide7.xml"/><Relationship Id="rId41" Type="http://schemas.openxmlformats.org/officeDocument/2006/relationships/slide" Target="slides/slide28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slide" Target="slides/slide36.xml"/><Relationship Id="rId57" Type="http://schemas.microsoft.com/office/2015/10/relationships/revisionInfo" Target="revisionInfo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18.xml"/><Relationship Id="rId44" Type="http://schemas.openxmlformats.org/officeDocument/2006/relationships/slide" Target="slides/slide31.xml"/><Relationship Id="rId5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AB728B-EDDE-A6C5-D196-B3077ECC97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A56322-4069-E1FA-88E7-034F66FE7B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5D99386-CD4E-9616-9887-3542DB332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535B185-CC76-5645-CC21-C267467C3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noProof="0"/>
              <a:t>Click to edit Master text styles</a:t>
            </a:r>
          </a:p>
          <a:p>
            <a:pPr lvl="1" rtl="1"/>
            <a:r>
              <a:rPr lang="ar" noProof="0"/>
              <a:t>Second level</a:t>
            </a:r>
          </a:p>
          <a:p>
            <a:pPr lvl="2" rtl="1"/>
            <a:r>
              <a:rPr lang="ar" noProof="0"/>
              <a:t>Third level</a:t>
            </a:r>
          </a:p>
          <a:p>
            <a:pPr lvl="3" rtl="1"/>
            <a:r>
              <a:rPr lang="ar" noProof="0"/>
              <a:t>Fourth level</a:t>
            </a:r>
          </a:p>
          <a:p>
            <a:pPr lvl="4" rtl="1"/>
            <a:r>
              <a:rPr lang="ar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51C7C9-7DD8-CB43-3488-140DE9ADA7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EA804D7-B145-B6C4-EAF9-FBA810DF6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fld id="{4D3E6F70-5D4D-4B7F-8590-7D87CFB0B67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F5058D73-7FD6-09C5-76B9-3C505DF2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12D40D7A-D6BB-CE8D-DF00-54DBA2F5C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E420995-9E0A-E982-F791-9C9605CD7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D6F72BC-0F0F-4CC6-9390-4A76262B3721}" type="slidenum">
              <a:rPr lang="en-GB" altLang="en-US" smtClean="0"/>
              <a:pPr/>
              <a:t>1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r>
              <a:rPr lang="ar">
                <a:latin typeface="Arial" panose="020B0604020202020204" pitchFamily="34" charset="0"/>
              </a:rPr>
              <a:t>A basic introduction to the unit.</a:t>
            </a:r>
          </a:p>
          <a:p>
            <a:pPr rtl="1"/>
            <a:endParaRPr lang="en-GB" altLang="en-US" b="1" dirty="0">
              <a:latin typeface="Arial" panose="020B0604020202020204" pitchFamily="34" charset="0"/>
            </a:endParaRPr>
          </a:p>
          <a:p>
            <a:pPr rtl="1"/>
            <a:r>
              <a:rPr lang="ar" b="1">
                <a:latin typeface="Arial" panose="020B0604020202020204" pitchFamily="34" charset="0"/>
              </a:rPr>
              <a:t>Useful websites:</a:t>
            </a:r>
          </a:p>
          <a:p>
            <a:pPr rtl="1"/>
            <a:endParaRPr lang="en-GB" altLang="en-US" b="1" dirty="0">
              <a:latin typeface="Arial" panose="020B0604020202020204" pitchFamily="34" charset="0"/>
            </a:endParaRPr>
          </a:p>
          <a:p>
            <a:pPr rtl="1"/>
            <a:r>
              <a:rPr lang="ar" b="0">
                <a:latin typeface="Arial" panose="020B0604020202020204" pitchFamily="34" charset="0"/>
              </a:rPr>
              <a:t>Country dependant.</a:t>
            </a:r>
          </a:p>
          <a:p>
            <a:pPr rtl="1"/>
            <a:endParaRPr lang="en-GB" altLang="en-US" dirty="0">
              <a:latin typeface="Arial" panose="020B0604020202020204" pitchFamily="34" charset="0"/>
            </a:endParaRPr>
          </a:p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2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067531E3-7725-4BFC-6978-A4907F202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77188842-F5EB-8E4E-C61A-E4F41BF1A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>
                <a:latin typeface="Arial" panose="020B0604020202020204" pitchFamily="34" charset="0"/>
              </a:rPr>
              <a:t>An outline of the three main learning aims in the unit.</a:t>
            </a:r>
          </a:p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15CA19B-7BA9-BBB0-E62C-1C0DA5306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96034ED-D7F7-483D-8544-ED89FE784A02}" type="slidenum">
              <a:rPr lang="en-GB" altLang="en-US" smtClean="0"/>
              <a:pPr/>
              <a:t>3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4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68751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439226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468839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678794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768916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206753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165021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295544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243092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213325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246730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793616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495521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055675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425299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861840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943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391160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360598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071029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310572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454755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290937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619725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031868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320218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783097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3844745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5737116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5481977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3079959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9939267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91198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Unit X: xxxxxxxxxxxxxxxxxxxxx</a:t>
            </a:r>
            <a:endParaRPr lang="en-GB" alt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</a:lstStyle>
          <a:p>
            <a:pPr rtl="1"/>
            <a:r>
              <a:rPr lang="ar"/>
              <a:t>Learning aim x</a:t>
            </a:r>
            <a:endParaRPr lang="en-US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6EB150E-6A8C-9996-298D-28DD3D2AB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2277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half" idx="1"/>
          </p:nvPr>
        </p:nvSpPr>
        <p:spPr>
          <a:xfrm>
            <a:off x="468313" y="2212975"/>
            <a:ext cx="2303462" cy="3592513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3421063" y="2212975"/>
            <a:ext cx="2303462" cy="3449638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</p:txBody>
      </p:sp>
      <p:sp>
        <p:nvSpPr>
          <p:cNvPr id="8" name="Content Placeholder 6"/>
          <p:cNvSpPr>
            <a:spLocks noGrp="1"/>
          </p:cNvSpPr>
          <p:nvPr>
            <p:ph sz="half" idx="11"/>
          </p:nvPr>
        </p:nvSpPr>
        <p:spPr>
          <a:xfrm>
            <a:off x="6156325" y="2212975"/>
            <a:ext cx="2592388" cy="3736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D71432-24B0-8453-1747-48D9C9A162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485564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80AFA65-534B-3AE4-50A7-9C86BDCF1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24088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4891031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  <a:endParaRPr lang="en-GB" alt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  <a:p>
            <a:pPr rtl="1"/>
            <a:endParaRPr lang="en-GB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3655394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F04B97-CC31-299F-C1D9-4AD1810429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169333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917A8A-EC74-8439-7D0C-B004E910A7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675447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122E-CC0D-DE46-E6F4-AAE67430FC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9105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D94B-CB73-9993-AEF0-ECDA61332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76542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6979FB-E9CD-4D7F-ABCE-40BC623DD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89179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78BFAD-CC17-3CA0-DBB1-5C8C41D912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143554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91736A9-B278-442F-0C6C-537088E45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146378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55076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452528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441696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946460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6373342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408335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10259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016104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931189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891133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969889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63331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490771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35484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0926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628952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86680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870646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492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59310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2315117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9033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5572074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155990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81636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495666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74686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709728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159200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3814516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214035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749398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324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886620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180306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06472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021014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547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604850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84920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818969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136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3682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2667902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0415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6937537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4329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972527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023017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282950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52511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99308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507841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6546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751688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524804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802915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121430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269447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46126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12879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25403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1894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18475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905896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5318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359597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559607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133426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85842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436060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9427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843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306584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688469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098227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073350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867217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8012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614344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936391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3145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268035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53661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54482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5636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609189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7646543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13263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60575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536031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16581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1217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546671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382759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410314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465027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91849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6709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265939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3959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509433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093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41679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57626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3803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7196095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962851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87443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670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947810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6" Type="http://schemas.openxmlformats.org/officeDocument/2006/relationships/image" Target="../media/image5.jpeg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image" Target="../media/image6.jpeg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audio" Target="../media/audio1.bin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5" Type="http://schemas.openxmlformats.org/officeDocument/2006/relationships/image" Target="../media/image7.jpeg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Relationship Id="rId14" Type="http://schemas.openxmlformats.org/officeDocument/2006/relationships/audio" Target="../media/audio1.bin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3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8.xml"/><Relationship Id="rId7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7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0.xml"/><Relationship Id="rId15" Type="http://schemas.openxmlformats.org/officeDocument/2006/relationships/image" Target="../media/image8.jpeg"/><Relationship Id="rId10" Type="http://schemas.openxmlformats.org/officeDocument/2006/relationships/slideLayout" Target="../slideLayouts/slideLayout85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Relationship Id="rId14" Type="http://schemas.openxmlformats.org/officeDocument/2006/relationships/audio" Target="../media/audio1.bin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5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9.xml"/><Relationship Id="rId2" Type="http://schemas.openxmlformats.org/officeDocument/2006/relationships/slideLayout" Target="../slideLayouts/slideLayout89.xml"/><Relationship Id="rId1" Type="http://schemas.openxmlformats.org/officeDocument/2006/relationships/slideLayout" Target="../slideLayouts/slideLayout88.xml"/><Relationship Id="rId6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2.xml"/><Relationship Id="rId15" Type="http://schemas.openxmlformats.org/officeDocument/2006/relationships/image" Target="../media/image9.jpeg"/><Relationship Id="rId10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6.xml"/><Relationship Id="rId14" Type="http://schemas.openxmlformats.org/officeDocument/2006/relationships/audio" Target="../media/audio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5" Type="http://schemas.openxmlformats.org/officeDocument/2006/relationships/image" Target="../media/image10.jpeg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audio" Target="../media/audio1.bin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9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23.xml"/><Relationship Id="rId2" Type="http://schemas.openxmlformats.org/officeDocument/2006/relationships/slideLayout" Target="../slideLayouts/slideLayout113.xml"/><Relationship Id="rId1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22.xml"/><Relationship Id="rId5" Type="http://schemas.openxmlformats.org/officeDocument/2006/relationships/slideLayout" Target="../slideLayouts/slideLayout116.xml"/><Relationship Id="rId15" Type="http://schemas.openxmlformats.org/officeDocument/2006/relationships/image" Target="../media/image11.jpeg"/><Relationship Id="rId10" Type="http://schemas.openxmlformats.org/officeDocument/2006/relationships/slideLayout" Target="../slideLayouts/slideLayout121.xml"/><Relationship Id="rId4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20.xml"/><Relationship Id="rId14" Type="http://schemas.openxmlformats.org/officeDocument/2006/relationships/audio" Target="../media/audio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Always Learning">
            <a:extLst>
              <a:ext uri="{FF2B5EF4-FFF2-40B4-BE49-F238E27FC236}">
                <a16:creationId xmlns:a16="http://schemas.microsoft.com/office/drawing/2014/main" id="{3B94A5EC-21A3-C7EE-ADC3-348E4DF7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16AA13-905D-5202-1E26-68E3C21E2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96A689FF-8B47-679F-73A4-A5EFC0190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139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929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55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930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EBC1066F-D701-C338-E1B5-8DB41332E88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069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9" r:id="rId1"/>
    <p:sldLayoutId id="2147484840" r:id="rId2"/>
    <p:sldLayoutId id="2147484841" r:id="rId3"/>
    <p:sldLayoutId id="2147484842" r:id="rId4"/>
    <p:sldLayoutId id="2147484843" r:id="rId5"/>
    <p:sldLayoutId id="2147484844" r:id="rId6"/>
    <p:sldLayoutId id="2147484845" r:id="rId7"/>
    <p:sldLayoutId id="2147484846" r:id="rId8"/>
    <p:sldLayoutId id="2147484847" r:id="rId9"/>
    <p:sldLayoutId id="2147484848" r:id="rId10"/>
    <p:sldLayoutId id="2147484849" r:id="rId11"/>
    <p:sldLayoutId id="2147484850" r:id="rId12"/>
    <p:sldLayoutId id="2147484931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093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8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0189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824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103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126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86D29E0-B089-110D-BF1E-B3C37F2C37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2130426"/>
            <a:ext cx="7772400" cy="281074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الوحدة 27</a:t>
            </a:r>
            <a:br>
              <a:rPr lang="en-GB" altLang="en-US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GB" altLang="en-US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البرمجة العامة</a:t>
            </a:r>
            <a:br>
              <a:rPr lang="en-GB" alt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8680" name="Footer Placeholder 2">
            <a:extLst>
              <a:ext uri="{FF2B5EF4-FFF2-40B4-BE49-F238E27FC236}">
                <a16:creationId xmlns:a16="http://schemas.microsoft.com/office/drawing/2014/main" id="{250B1923-7747-07CF-317E-05CAA217CF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71600" y="6459538"/>
            <a:ext cx="7560840" cy="287337"/>
          </a:xfrm>
        </p:spPr>
        <p:txBody>
          <a:bodyPr wrap="square" rtlCol="1" anchor="t">
            <a:normAutofit lnSpcReduction="10000"/>
          </a:bodyPr>
          <a:lstStyle/>
          <a:p>
            <a:pPr algn="ctr" rtl="1">
              <a:lnSpc>
                <a:spcPct val="90000"/>
              </a:lnSpc>
              <a:spcAft>
                <a:spcPts val="600"/>
              </a:spcAft>
              <a:defRPr/>
            </a:pPr>
            <a:r>
              <a:rPr lang="ar" sz="1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© حقوق التأليف والنشر لعام 2023 محفوظة لشركة بيرسون إديوكيشن ليمتد يُسمح بالنسخ للمؤسسة المشترية فقط.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F9ABFAC-8989-1E89-D1F4-0109F47DF19D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9" y="1327115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البرمجة العامة</a:t>
            </a:r>
          </a:p>
        </p:txBody>
      </p:sp>
      <p:sp>
        <p:nvSpPr>
          <p:cNvPr id="30723" name="Content Placeholder 3">
            <a:extLst>
              <a:ext uri="{FF2B5EF4-FFF2-40B4-BE49-F238E27FC236}">
                <a16:creationId xmlns:a16="http://schemas.microsoft.com/office/drawing/2014/main" id="{3C79F714-332C-AB63-03D9-E6D0CAE0623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9" y="2636912"/>
            <a:ext cx="8424935" cy="38258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ستتعلم في هذه الوحدة كيفية تنفيذ أنشطة البرمجة؛ مثل التصميم والتطوير والاختبار في المؤسسات الهندسية.</a:t>
            </a: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بالإضافة إلى ذلك، ستصمم البرنامج وتطوره باستخدام لغة برمجة مناسبة مع اختبار الحل الخاص بك وتحسينه.</a:t>
            </a: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سوف تتعلم كيفية كتابة كود البرمجة بلغة البرمجة C#.NET.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3F6BF4D-D74D-3DC1-244E-11C9FFFAB472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CD9316BF-B3CE-8341-5A0A-249747D6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أهداف التعلم</a:t>
            </a: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2771" name="Content Placeholder 3">
            <a:extLst>
              <a:ext uri="{FF2B5EF4-FFF2-40B4-BE49-F238E27FC236}">
                <a16:creationId xmlns:a16="http://schemas.microsoft.com/office/drawing/2014/main" id="{44DFA49F-83B7-E61C-00EB-D6046D571A0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91061" y="2276872"/>
            <a:ext cx="7991475" cy="3609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404813" indent="-387350" defTabSz="431800" rtl="1">
              <a:buNone/>
            </a:pP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(أ)	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دراسة الأدوات والتقنيات المستخدمة في تطوير برنامج</a:t>
            </a:r>
          </a:p>
          <a:p>
            <a:pPr marL="404813" indent="-404813" defTabSz="431800" rtl="1">
              <a:spcBef>
                <a:spcPts val="1200"/>
              </a:spcBef>
              <a:buNone/>
            </a:pP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(ب)	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تصميم برامج لتلبية متطلبات المستخدم</a:t>
            </a:r>
          </a:p>
          <a:p>
            <a:pPr marL="404813" indent="-404813" defTabSz="431800" rtl="1">
              <a:spcBef>
                <a:spcPts val="1200"/>
              </a:spcBef>
              <a:buNone/>
            </a:pP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(ج)	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تطوير برامج لتلبية متطلبات المستخدم</a:t>
            </a:r>
          </a:p>
          <a:p>
            <a:pPr marL="0" indent="0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endParaRPr lang="en-GB" altLang="en-US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endParaRPr lang="en-GB" altLang="en-US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br>
              <a:rPr lang="en-GB" alt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	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AB23291-7A3E-3EBB-A6AA-51755611028D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400">
                <a:latin typeface="Sakkal Majalla" panose="02000000000000000000" pitchFamily="2" charset="-78"/>
                <a:cs typeface="Sakkal Majalla" panose="02000000000000000000" pitchFamily="2" charset="-78"/>
              </a:rPr>
              <a:t>هدف التعلم (أ)</a:t>
            </a:r>
            <a:br>
              <a:rPr lang="en-US" altLang="en-US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3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763340" y="4077072"/>
            <a:ext cx="6769100" cy="215959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الأنواع المختلفة من لغات البرمجة، والتي تسمى النماذج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التقنيات المستخدمة في البرمجة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الأدوات المستخدمة في تطوير البرنامج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1" y="2493963"/>
            <a:ext cx="8517829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200" b="1">
                <a:latin typeface="Sakkal Majalla" panose="02000000000000000000" pitchFamily="2" charset="-78"/>
                <a:cs typeface="Sakkal Majalla" panose="02000000000000000000" pitchFamily="2" charset="-78"/>
              </a:rPr>
              <a:t>دراسة الأدوات والتقنيات المستخدمة في تطوير برنامج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0ED9EF9-D17A-F222-0A4A-C2404B6191B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1134" y="2348880"/>
            <a:ext cx="8208712" cy="388843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538163" indent="-538163"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تُستخدم لتصنيف لغات البرمجة المختلفة حسب الميزات </a:t>
            </a:r>
          </a:p>
          <a:p>
            <a:pPr marL="538163" indent="-538163"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بعض لغات البرمجة ذات نماذج فردية، وبعضها متعدد النماذج</a:t>
            </a:r>
          </a:p>
          <a:p>
            <a:pPr marL="538163" indent="-538163"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تركز هذه الوحدة على النماذج التالية:</a:t>
            </a:r>
          </a:p>
          <a:p>
            <a:pPr marL="1076325" lvl="1" indent="-538163" rtl="1">
              <a:buFont typeface="Courier New" panose="02070309020205020404" pitchFamily="49" charset="0"/>
              <a:buChar char="o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البرمجة الإجرائية</a:t>
            </a:r>
          </a:p>
          <a:p>
            <a:pPr marL="1076325" lvl="1" indent="-538163" rtl="1">
              <a:buFont typeface="Courier New" panose="02070309020205020404" pitchFamily="49" charset="0"/>
              <a:buChar char="o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البرمجة القائمة على الأحداث</a:t>
            </a:r>
          </a:p>
          <a:p>
            <a:pPr marL="1076325" lvl="1" indent="-538163" rtl="1">
              <a:buFont typeface="Courier New" panose="02070309020205020404" pitchFamily="49" charset="0"/>
              <a:buChar char="o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البرمجة الموجهة للعناصر.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524" y="1268760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نماذج لغة البرمجة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51027EE-ABCD-7C74-0BC1-E0A8C89D0EB8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88454976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48536" y="2060848"/>
            <a:ext cx="8208712" cy="39107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55600" indent="-355600"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تتبع مجموعة من التعليمات التي تحدد تدفق البرنامج.</a:t>
            </a:r>
          </a:p>
          <a:p>
            <a:pPr marL="355600" indent="-355600"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تعطي البرنامج بداية ونهاية.</a:t>
            </a:r>
          </a:p>
          <a:p>
            <a:pPr marL="355600" indent="-355600"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يمكن اعتبار كل جزء من التعليمات خطوة في نشاط ما، على سبيل المثال، الدخول عبر المدخل:</a:t>
            </a:r>
          </a:p>
          <a:p>
            <a:pPr marL="630238" lvl="1" indent="-274638" rtl="1">
              <a:buFont typeface="Courier New" panose="02070309020205020404" pitchFamily="49" charset="0"/>
              <a:buChar char="o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الخطوة 1: افتح الباب</a:t>
            </a:r>
          </a:p>
          <a:p>
            <a:pPr marL="630238" lvl="1" indent="-274638" rtl="1">
              <a:buFont typeface="Courier New" panose="02070309020205020404" pitchFamily="49" charset="0"/>
              <a:buChar char="o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الخطوة 2: ادخل عبر المدخل</a:t>
            </a:r>
          </a:p>
          <a:p>
            <a:pPr marL="630238" lvl="1" indent="-274638" rtl="1">
              <a:buFont typeface="Courier New" panose="02070309020205020404" pitchFamily="49" charset="0"/>
              <a:buChar char="o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الخطوة 3: أغلق الباب.</a:t>
            </a:r>
          </a:p>
          <a:p>
            <a:pPr marL="630238" lvl="1" indent="-274638" rtl="1">
              <a:buFont typeface="Courier New" panose="02070309020205020404" pitchFamily="49" charset="0"/>
              <a:buChar char="o"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355600" lvl="1" indent="0" rtl="1">
              <a:buNone/>
            </a:pP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سؤال: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هل يمكنك كتابة مجموعة من الخطوات لنشاط تقوم به كل يوم؟</a:t>
            </a:r>
          </a:p>
          <a:p>
            <a:pPr indent="0" rtl="1"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البرمجة الإجرائية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C3A3176-F024-9BBC-4EF8-C252821F805E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01170833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1134" y="2132856"/>
            <a:ext cx="8208712" cy="410445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55600" rtl="1">
              <a:tabLst>
                <a:tab pos="263525" algn="l"/>
              </a:tabLst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يتم إنشاء العناصر أو "الأشياء" للاستخدام في البرنامج.</a:t>
            </a:r>
          </a:p>
          <a:p>
            <a:pPr marL="355600" rtl="1">
              <a:tabLst>
                <a:tab pos="263525" algn="l"/>
              </a:tabLst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هذه العناصر عبارة عن مخططات أو "</a:t>
            </a: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فئات"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 تحتوي على:</a:t>
            </a:r>
          </a:p>
          <a:p>
            <a:pPr marL="803275" lvl="1" indent="-342900" rtl="1">
              <a:buFont typeface="Courier New" panose="02070309020205020404" pitchFamily="49" charset="0"/>
              <a:buChar char="o"/>
            </a:pP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خصائص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 وسمات وأوصاف العنصر</a:t>
            </a:r>
          </a:p>
          <a:p>
            <a:pPr marL="803275" lvl="1" indent="-342900" rtl="1">
              <a:buFont typeface="Courier New" panose="02070309020205020404" pitchFamily="49" charset="0"/>
              <a:buChar char="o"/>
            </a:pP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الإجراءات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، التي تسمح للعنصر بالتفاعل مع نفسه أو مع الآخرين.</a:t>
            </a:r>
          </a:p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يمكن استخدام مخطط أو </a:t>
            </a: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فئة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 وإعادة استخدامها داخل البرنامج، في كل مرة يتم فيها إنشاء </a:t>
            </a: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مثيل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 للعنصر..</a:t>
            </a: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None/>
            </a:pPr>
            <a:endParaRPr lang="en-GB" altLang="en-US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None/>
            </a:pP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سؤال: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 فكر في فئة DOG.  ماذا ستكون الخصائص والإجراءات؟  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البرمجة الموجهة للعناصر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A7A6821-7288-CC02-2A74-C468BFEA33A0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872218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1134" y="2132856"/>
            <a:ext cx="8208712" cy="410445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55600" indent="-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يتم تحديد تدفق البرنامج من خلال الأحداث داخل البرنامج.</a:t>
            </a:r>
          </a:p>
          <a:p>
            <a:pPr marL="355600" indent="-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يمكن أن تأتي الأحداث من داخل البرنامج أو من خارجه.</a:t>
            </a:r>
          </a:p>
          <a:p>
            <a:pPr marL="355600" indent="-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يمكن أن تشمل الأحداث ما يلي:</a:t>
            </a:r>
          </a:p>
          <a:p>
            <a:pPr marL="720725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النقر بالماوس على الشاشة</a:t>
            </a:r>
          </a:p>
          <a:p>
            <a:pPr marL="720725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المفاتيح الموجودة على لوحة المفاتيح</a:t>
            </a:r>
          </a:p>
          <a:p>
            <a:pPr marL="720725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دقات عدّاد الوقت</a:t>
            </a:r>
          </a:p>
          <a:p>
            <a:pPr marL="720725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المستشعرات داخل الآلات.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البرمجة القائمة على الأحداث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55667BC-F5D7-B60B-9C28-74E85E9AF760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04031204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1134" y="2132856"/>
            <a:ext cx="8208712" cy="453650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55600" indent="-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تساعد تقنيات البرمجة على تنظيم تدفق البرنامج والتحكم فيه.</a:t>
            </a:r>
          </a:p>
          <a:p>
            <a:pPr marL="355600" indent="-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تتكون البرامج من:</a:t>
            </a:r>
          </a:p>
          <a:p>
            <a:pPr marL="720725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المعلمات والمتغيرات، مثل الارتفاع والعرض والعمر</a:t>
            </a:r>
          </a:p>
          <a:p>
            <a:pPr marL="720725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المصفوفات والقوائم</a:t>
            </a:r>
          </a:p>
          <a:p>
            <a:pPr marL="720725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الوظائف والإجراءات</a:t>
            </a:r>
          </a:p>
          <a:p>
            <a:pPr marL="720725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العوامل</a:t>
            </a:r>
          </a:p>
          <a:p>
            <a:pPr marL="720725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المنطق - مقارنة البيانات والصواب /الخطأ</a:t>
            </a:r>
          </a:p>
          <a:p>
            <a:pPr marL="720725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النطاق</a:t>
            </a:r>
          </a:p>
          <a:p>
            <a:pPr marL="720725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التسلسل والتحديد والتكرار.</a:t>
            </a:r>
          </a:p>
          <a:p>
            <a:pPr marL="1085850" lvl="1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تقنيات البرمجة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2361361-DF46-C5EB-F66F-216964E2059B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62274742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895529" y="2132856"/>
            <a:ext cx="4392488" cy="410445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نص سهل الاستخدام لمساعدة المبرمج على قراءة الكود.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يتم تمييز التعليقات أحادية السطر الواحد بـ//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يتم تمييز التعليقات متعددة الأسطر بـ /* (البداية) و* (الأسطر الداخلية) و*/ (النهاية)</a:t>
            </a:r>
          </a:p>
          <a:p>
            <a:pPr indent="0" rtl="1"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التعليقات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73E186-1DD5-82EB-27E4-98D7E372813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57" y="2708920"/>
            <a:ext cx="3744415" cy="23480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6A3FD4-1791-9C5C-C774-914E3A78669E}"/>
              </a:ext>
            </a:extLst>
          </p:cNvPr>
          <p:cNvSpPr txBox="1"/>
          <p:nvPr/>
        </p:nvSpPr>
        <p:spPr>
          <a:xfrm>
            <a:off x="179512" y="5821813"/>
            <a:ext cx="8712968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indent="0" rtl="1">
              <a:buNone/>
            </a:pPr>
            <a:r>
              <a:rPr lang="ar" sz="2400" b="1">
                <a:latin typeface="Sakkal Majalla" panose="02000000000000000000" pitchFamily="2" charset="-78"/>
                <a:cs typeface="Sakkal Majalla" panose="02000000000000000000" pitchFamily="2" charset="-78"/>
              </a:rPr>
              <a:t>سؤال:</a:t>
            </a:r>
            <a:r>
              <a:rPr lang="ar" sz="2400">
                <a:latin typeface="Sakkal Majalla" panose="02000000000000000000" pitchFamily="2" charset="-78"/>
                <a:cs typeface="Sakkal Majalla" panose="02000000000000000000" pitchFamily="2" charset="-78"/>
              </a:rPr>
              <a:t> هل يمكنك تحديد التعليقات في القصاصة البرمجية؟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32DC42-9B1F-2272-3BB6-51D77C273617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88315292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-1" y="2060848"/>
            <a:ext cx="8820471" cy="410445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تخزن البيانات والمعلومات أثناء تنفيذ البرنامج.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تحدد نوع البيانات التي سيتم تخزينها داخلها.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تتبع بنية النوع والاسم والقيمة.</a:t>
            </a: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None/>
            </a:pPr>
            <a:endParaRPr lang="en-GB" altLang="en-US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None/>
            </a:pP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سؤال: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 هل يمكنك تحديد المتغيرات في القصاصة البرمجية؟ ماذا يوجد في السطر الأول؟</a:t>
            </a: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المعلمات والمتغيرات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245872-8357-9278-135B-669780DDD7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5576" y="4077072"/>
            <a:ext cx="7704854" cy="914951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B9ACFF8-0B2E-49D9-55BF-5E45676B6221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58981362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30" y="2132856"/>
            <a:ext cx="8820471" cy="472514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تخزن البيانات والمعلومات أثناء تنفيذ البرنامج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تحدد نوع البيانات التي سيتم تخزينها داخلها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تتبع بنية النوع والاسم والقيمة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تشمل الأنواع:</a:t>
            </a:r>
          </a:p>
          <a:p>
            <a:pPr marL="1143000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سلاسل الأحرف، مثل النص والكلمات</a:t>
            </a:r>
          </a:p>
          <a:p>
            <a:pPr marL="1143000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الأرقام، مثل الأعداد الصحيحة والزوجية</a:t>
            </a:r>
          </a:p>
          <a:p>
            <a:pPr marL="1143000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التواريخ والأوقات</a:t>
            </a:r>
          </a:p>
          <a:p>
            <a:pPr marL="1143000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منطقية (الثنائيات)، على سبيل المثال صحيحة وخاطئة.</a:t>
            </a: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30" y="1268760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أنواع البيانات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96108A6-0AA5-7F64-606E-CE451A5ECF6F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22629378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9" y="1844452"/>
            <a:ext cx="8820471" cy="472514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تخزن كل من المصفوفات والقوائم مجموعات من البيانات ويمكن فهرستها وفرزها وتجميعها وتغييرها حسب الحاجة.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المصفوفات:</a:t>
            </a:r>
          </a:p>
          <a:p>
            <a:pPr marL="1076325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ذات بنية وطول ثابتان، وتستهلك قدرًا معينًا من الذاكرة</a:t>
            </a:r>
          </a:p>
          <a:p>
            <a:pPr marL="1076325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لا يمكن تغيير حجمها بسهولة وهي غير فعالة.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القوائم: </a:t>
            </a:r>
          </a:p>
          <a:p>
            <a:pPr marL="985838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ذات أطوال ديناميكية ويمكن إدراج البيانات بها وإزالتها منها بشكل متكرر</a:t>
            </a:r>
          </a:p>
          <a:p>
            <a:pPr marL="985838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تستهلك ذاكرة أكبر من المصفوفات.</a:t>
            </a:r>
          </a:p>
          <a:p>
            <a:pPr marL="800100" lvl="1" indent="0" rtl="1">
              <a:buNone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	</a:t>
            </a:r>
          </a:p>
          <a:p>
            <a:pPr marL="1085850" lvl="1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المصفوفات والقوائم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961B1C7-E101-DA2D-D204-FAB06F04EE9A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90913353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9" y="1844452"/>
            <a:ext cx="8820471" cy="180057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يتم استخدام مصطلح الوظيفة والطريقة والإجراء والروتين والروتين الفرعي بالتبادل.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تعرّف «البرنامج المصغر» داخل البرنامج الذي ينفذ إجراءً عدة مرات حسب الحاجة.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حدد الوظيفة في الكود أدناه: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الوظائف والإجراءات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E1BA75-13CA-AC81-ABD9-C6E48F0C6C1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3648" y="3501008"/>
            <a:ext cx="6560308" cy="2077431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E84F702-A155-CA50-6500-240A0474D06A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46385333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9" y="1844452"/>
            <a:ext cx="8820471" cy="180057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يمكن للوظائف والإجراءات إعادة البيانات إلى البرنامج الرئيسي.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يُعرف باسم نوع الإرجاع ويجب أن تعيد الوظيفة هذا النوع مرة أخرى إلى البرنامج الرئيسي 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الإعادة هو المكان الذي تشير فيه الوظيفة أو الإجراء إلى نفسها داخل الكود الخاص بها.</a:t>
            </a: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بدون وضع شروط مناسبة، سيتم تشغيل البرنامج إلى الأبد.</a:t>
            </a: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أنواع الإعادة والإرجاع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310ED1-1AF2-44D6-EDD1-CC9B96E4A6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47765" y="3429000"/>
            <a:ext cx="4572000" cy="8763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F3BCB4-44EC-86E3-B7FB-EEDBE995668D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60141034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0" y="1844452"/>
            <a:ext cx="9144000" cy="453687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الرموز التي تخبر أجهزة الكمبيوتر بإجراء عمليات رياضية وارتباطية ومنطقية محددة.</a:t>
            </a:r>
          </a:p>
          <a:p>
            <a:pPr marL="685800" rtl="1"/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العوامل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الرياضية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:</a:t>
            </a:r>
          </a:p>
          <a:p>
            <a:pPr marL="1143000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+ للجمع، تضيف القيم معًا</a:t>
            </a:r>
          </a:p>
          <a:p>
            <a:pPr marL="1143000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- للطرح، تأخذ القيم بعيدًا عن بعضها</a:t>
            </a:r>
          </a:p>
          <a:p>
            <a:pPr marL="1143000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* للضرب، ضرب القيم معًا </a:t>
            </a:r>
          </a:p>
          <a:p>
            <a:pPr marL="1143000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/ للقسمة، تقسم قيمة واحدة على أخرى</a:t>
            </a:r>
          </a:p>
          <a:p>
            <a:pPr marL="1143000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MOD باقي القسمة - تأخذ الباقي من قسمة عدد صحيح.</a:t>
            </a:r>
          </a:p>
          <a:p>
            <a:pPr marL="1085850" lvl="1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العوامل (1)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B02A07F-6F53-27D1-3F7B-19A61357114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48757283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0" y="1844452"/>
            <a:ext cx="9144000" cy="453687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ال</a:t>
            </a:r>
            <a:r>
              <a:rPr lang="en" b="1">
                <a:latin typeface="Sakkal Majalla" panose="02000000000000000000" pitchFamily="2" charset="-78"/>
                <a:cs typeface="Sakkal Majalla" panose="02000000000000000000" pitchFamily="2" charset="-78"/>
              </a:rPr>
              <a:t>عوامل الارتباطية</a:t>
            </a:r>
            <a:r>
              <a:rPr lang="en">
                <a:latin typeface="Sakkal Majalla" panose="02000000000000000000" pitchFamily="2" charset="-78"/>
                <a:cs typeface="Sakkal Majalla" panose="02000000000000000000" pitchFamily="2" charset="-78"/>
              </a:rPr>
              <a:t>:</a:t>
            </a:r>
          </a:p>
          <a:p>
            <a:pPr marL="1143000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==، إذا تساوت قيمتان مع بعضهما</a:t>
            </a:r>
          </a:p>
          <a:p>
            <a:pPr marL="1143000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! =، إذا لم تكن القيمتان متماثلتين</a:t>
            </a:r>
          </a:p>
          <a:p>
            <a:pPr marL="1143000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&gt;، إذا كانت إحدى القيم أكبر من الأخرى</a:t>
            </a:r>
          </a:p>
          <a:p>
            <a:pPr marL="1143000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&lt;، إذا كانت إحدى القيم أقل من الأخرى</a:t>
            </a:r>
          </a:p>
          <a:p>
            <a:pPr marL="1143000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&gt;=، إذا كانت إحدى القيم أكبر من قيمة أخرى أو تساويها</a:t>
            </a:r>
          </a:p>
          <a:p>
            <a:pPr marL="1143000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&lt;=، إذا كانت إحدى القيم أقل من قيمة أخرى أو تساويها.</a:t>
            </a:r>
          </a:p>
          <a:p>
            <a:pPr marL="1085850" lvl="1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العوامل (2)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1D2C8A-B04F-5245-8DC0-407C55CC6AB3}"/>
              </a:ext>
            </a:extLst>
          </p:cNvPr>
          <p:cNvSpPr txBox="1"/>
          <p:nvPr/>
        </p:nvSpPr>
        <p:spPr>
          <a:xfrm>
            <a:off x="7409869" y="2159000"/>
            <a:ext cx="18473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rtl="1"/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80905DA-BDA8-A5FD-C94D-5FCEA28AE997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71681127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0" y="1844452"/>
            <a:ext cx="9144000" cy="453687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العوامل المنطقية</a:t>
            </a: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143000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AND، إذا كانت كلتا القيمتين صحيحتين، فإن النتيجة TRUE</a:t>
            </a:r>
          </a:p>
          <a:p>
            <a:pPr marL="1143000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OR، إذا كانت أي من القيمتين صحيحة، فإن النتيجة TRUE</a:t>
            </a:r>
          </a:p>
          <a:p>
            <a:pPr marL="1143000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NOT، إذا كانت القيمة صحيحة، فإن النتيجة FALSE</a:t>
            </a:r>
          </a:p>
          <a:p>
            <a:pPr marL="1143000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XOR، إذا كانت كلتا القيمتين صحيحتين، فإن النتيجة FALSE.</a:t>
            </a:r>
          </a:p>
          <a:p>
            <a:pPr marL="1085850" lvl="1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المنطق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1D2C8A-B04F-5245-8DC0-407C55CC6AB3}"/>
              </a:ext>
            </a:extLst>
          </p:cNvPr>
          <p:cNvSpPr txBox="1"/>
          <p:nvPr/>
        </p:nvSpPr>
        <p:spPr>
          <a:xfrm>
            <a:off x="7409869" y="2159000"/>
            <a:ext cx="18473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rtl="1"/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A5A2344-A464-47B0-8AAF-5E4E090BC17C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58152291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9" y="1844452"/>
            <a:ext cx="8820471" cy="46088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يحدد وضوح ورؤية العناصر داخل البرنامج. 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ينطبق على المتغيرات والمعلمات والإجراءات والوظائف والأساليب والفئات.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الكلمات الرئيسية المستخدمة لتحديد النطاق هي:</a:t>
            </a:r>
          </a:p>
          <a:p>
            <a:pPr marL="1143000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عام - مرئي في جميع أنحاء التطبيق</a:t>
            </a:r>
          </a:p>
          <a:p>
            <a:pPr marL="1143000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خاص - مرئي داخل الفئة التي يوجد فيها الكود</a:t>
            </a:r>
          </a:p>
          <a:p>
            <a:pPr marL="1143000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محمي - مرئي فقط داخل الفئات المشتقة حيث يوجد الكود.</a:t>
            </a:r>
          </a:p>
          <a:p>
            <a:pPr marL="1085850" lvl="1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النطاق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72284D5-5ABE-A42B-2D61-696147BF0D1E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56188423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9" y="1844452"/>
            <a:ext cx="8820471" cy="46088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في معظم الحالات، يتم تمرير المعلمات إلى الإجراءات </a:t>
            </a: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حسب القيمة.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يستخدم قيمة المعلمة التي تم تمريرها، ويمكن معالجتها، ولكنها لا تغير القيمة خارج الطريقة ما لم يتم إرجاعها كنوع إرجاع.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بدلاً من ذلك، يمكن تمرير المعلمات إلى الإجراءات </a:t>
            </a: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بالرجوع إليها.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تنعكس أي تغييرات على القيمة في الإجراء خارج الطريقة.</a:t>
            </a:r>
          </a:p>
          <a:p>
            <a:pPr marL="1085850" lvl="1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تمرير المعلمات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003FA90-E4AC-A00F-C81E-C924627A65C9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62253618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9" y="1844452"/>
            <a:ext cx="8820471" cy="46088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مجموعات من التعليمات لتنفيذ مهمة من خلال برنامج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يحتوي كل برنامج على سلسلة من التعليمات</a:t>
            </a: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يعالج هذا البرنامج الأساسي العدد الصحيح «sum»</a:t>
            </a:r>
          </a:p>
          <a:p>
            <a:pPr marL="1085850" lvl="1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التسلسل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4314CC-ADC9-A383-7F2A-FEF6EF735E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23628" y="3508925"/>
            <a:ext cx="6696744" cy="1450961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CAC76C-58B8-F5C5-5B83-5B8DC311B0F1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45829277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1751" y="1833691"/>
            <a:ext cx="8820471" cy="43204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يسمح للبرنامج باتخاذ قرار واختيار الناتج أو الإجراء الصحيح من الإدخال.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الناتج المحسوب لبيان التحديد هو قيمة منطقية.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فيما يلي الأنواع التي سنتناولها:</a:t>
            </a:r>
          </a:p>
          <a:p>
            <a:pPr marL="1143000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IF - إذا كان الشرط صحيحًا، فقم بتنفيذ الإجراء</a:t>
            </a:r>
          </a:p>
          <a:p>
            <a:pPr marL="1143000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IF... ELSE - إذا كان الشرط صحيحًا، فقم بتنفيذ الإجراء، إذا لم يكن صحيحًا، فقم بتنفيذ إجراء مختلف</a:t>
            </a:r>
          </a:p>
          <a:p>
            <a:pPr marL="1143000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switch-case - قم بالتبديل بين القيم المحتملة وتنفيذ الإجراءات ذات الصلة.</a:t>
            </a:r>
            <a:endParaRPr lang="en-GB" altLang="en-US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355600" lvl="1" indent="0" rtl="1">
              <a:buNone/>
            </a:pP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سؤال: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 كيف يساعد التحديد البرامج على العمل؟</a:t>
            </a:r>
          </a:p>
          <a:p>
            <a:pPr marL="1085850" lvl="1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التحديد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BC5AA0D-A6E6-9B71-1850-D85C43CCBE0A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3582126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9" y="1844452"/>
            <a:ext cx="8820471" cy="46088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يسمح التكرار بتكرار عدة خطوات لتبسيط الإجراء العام.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يشار إليه باسم حلقة (تكرار حلقي) في البرمجة.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فيما يلي الأنواع التي سنتناولها:</a:t>
            </a:r>
          </a:p>
          <a:p>
            <a:pPr marL="1143000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While وDo-While</a:t>
            </a:r>
          </a:p>
          <a:p>
            <a:pPr marL="1143000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For وFor Each.</a:t>
            </a:r>
          </a:p>
          <a:p>
            <a:pPr marL="1143000" lvl="1" indent="-342900" rtl="1">
              <a:buFont typeface="Courier New" panose="02070309020205020404" pitchFamily="49" charset="0"/>
              <a:buChar char="o"/>
            </a:pPr>
            <a:endParaRPr lang="en-GB" altLang="en-US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355600" lvl="1" indent="0" rtl="1">
              <a:buNone/>
            </a:pP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سؤال: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 كيف يساعد التكرار البرامج على العمل؟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التكرار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0DF0A77-016A-7B36-AD7A-C1C917AA6D9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67461825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755576" y="1844452"/>
            <a:ext cx="8064895" cy="288069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720725" lvl="1" indent="-365125"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While - يتحقق من صحة الشرط، ثم ينفذ إجراءً، ويستمر في تنفيذ الإجراء بينما يظل الشرط صحيحًا، وعندما يصبح الشرط غير صحيح، أوقف الإجراء.</a:t>
            </a:r>
          </a:p>
          <a:p>
            <a:pPr marL="720725" lvl="1" indent="-365125"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Do-While - ينفذ الإجراء، ثم يتحقق من صحة الشرط، ويستمر مثل حلقة زمنية حتى يصبح الشرط غير صحيح.</a:t>
            </a:r>
          </a:p>
          <a:p>
            <a:pPr marL="720725" lvl="1" indent="-365125" rtl="1"/>
            <a:r>
              <a:rPr lang="ar" i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تتحقق حلقة While من صحة الشرط قبل تنفيذ الإجراء، بينما تتحقق Do-While من صحة الشرط بعد تنفيذ الإجراء</a:t>
            </a:r>
          </a:p>
          <a:p>
            <a:pPr marL="355600" lvl="1" indent="0" rtl="1">
              <a:buNone/>
            </a:pP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سؤال: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كيف تساعد حلقات "while" و "do-while" البرامج على العمل؟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While وDo-While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4942004-1F52-6663-A10A-88EE0FE83FA2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3050970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9" y="1844452"/>
            <a:ext cx="8496942" cy="331274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720725" lvl="1" indent="-457200"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تُستخدم كلاهما للتكرار من خلال مجموعة من البيانات </a:t>
            </a:r>
          </a:p>
          <a:p>
            <a:pPr marL="720725" lvl="1" indent="-457200"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تتبع حلقات </a:t>
            </a: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For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بنية:</a:t>
            </a:r>
          </a:p>
          <a:p>
            <a:pPr marL="1076325" lvl="2" indent="-342900" rtl="1">
              <a:buFont typeface="Courier New" panose="02070309020205020404" pitchFamily="49" charset="0"/>
              <a:buChar char="o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فيما يتعلق بفهرس (فهرس البداية، الشرط المنطقي، تغيير الفهرس لأعلى أو لأسفل)</a:t>
            </a:r>
          </a:p>
          <a:p>
            <a:pPr marL="1076325" lvl="2" indent="-342900" rtl="1">
              <a:buFont typeface="Courier New" panose="02070309020205020404" pitchFamily="49" charset="0"/>
              <a:buChar char="o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عادة ما يتم معالجته باستخدام ++ (زيادة) أو - إنقاص ولكن يمكن تغييره بقيم محددة.</a:t>
            </a:r>
          </a:p>
          <a:p>
            <a:pPr marL="720725" lvl="1" indent="-457200"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تتكرر حلقات </a:t>
            </a: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For Each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عبر كل عنصر في مجموعة تبدأ من العنصر الأول في القائمة.</a:t>
            </a:r>
          </a:p>
          <a:p>
            <a:pPr marL="720725" lvl="1" indent="-457200"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لا تستخدم الفهارس في تكرارها.</a:t>
            </a:r>
          </a:p>
          <a:p>
            <a:pPr marL="0" lvl="1" indent="0" rtl="1">
              <a:lnSpc>
                <a:spcPts val="1000"/>
              </a:lnSpc>
              <a:spcBef>
                <a:spcPts val="0"/>
              </a:spcBef>
              <a:buNone/>
            </a:pPr>
            <a:endParaRPr lang="en-GB" altLang="en-US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82563" lvl="1" indent="0" rtl="1">
              <a:buNone/>
            </a:pP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سؤال: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كيف تساعد حلقات for و for each البرامج على العمل؟</a:t>
            </a:r>
          </a:p>
          <a:p>
            <a:pPr marL="1485900" lvl="2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For وFor Each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93D0689-2799-D377-08BB-922FB89C7631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12208286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9" y="1844452"/>
            <a:ext cx="8820471" cy="482490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تتوفر العديد من أدوات التطوير للمبرمجين لتطوير البرامج.</a:t>
            </a:r>
          </a:p>
          <a:p>
            <a:pPr marL="685800"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فيما يلي الأدوات الأساسية:</a:t>
            </a:r>
          </a:p>
          <a:p>
            <a:pPr marL="1076325" lvl="1" indent="-342900" rtl="1">
              <a:buFont typeface="Courier New" panose="02070309020205020404" pitchFamily="49" charset="0"/>
              <a:buChar char="o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المجمّعات - تأخذ التعليمات الأساسية وتحولها إلى أنماط من وحدات البت التي يمكن لمعالج الكمبيوتر استخدامها، سلسلة من وحدات 1 و 0</a:t>
            </a:r>
          </a:p>
          <a:p>
            <a:pPr marL="1076325" lvl="1" indent="-342900" rtl="1">
              <a:buFont typeface="Courier New" panose="02070309020205020404" pitchFamily="49" charset="0"/>
              <a:buChar char="o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المحولات البرمجية - هم المترجمون الذين يقومون ببرمجة الأكواد، مثل </a:t>
            </a:r>
            <a:r>
              <a:rPr 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  <a:t>C#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و Java، إلى برامج قابلة للتنفيذ بشرط أن تكون خالية من الأخطاء (تسلط بعض المحولات البرمجية الضوء على الأخطاء)</a:t>
            </a:r>
          </a:p>
          <a:p>
            <a:pPr marL="1076325" lvl="1" indent="-342900" rtl="1">
              <a:buFont typeface="Courier New" panose="02070309020205020404" pitchFamily="49" charset="0"/>
              <a:buChar char="o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المحولات التفسيرية - يحولون كود البرمجة إلى كود آلة سطرًا بسطر.</a:t>
            </a:r>
          </a:p>
          <a:p>
            <a:pPr marL="1085850" lvl="1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أدوات التطوير (1)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038788A-6C38-0982-7084-B491BFF85913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06427202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51520" y="1839784"/>
            <a:ext cx="8568951" cy="482490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1085850" lvl="1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355600" indent="-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تحتوي </a:t>
            </a: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بيئات التطوير المتكامل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، أو IDEs، على:</a:t>
            </a:r>
          </a:p>
          <a:p>
            <a:pPr marL="720725" lvl="1" indent="-365125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المجمعات</a:t>
            </a:r>
          </a:p>
          <a:p>
            <a:pPr marL="720725" lvl="1" indent="-365125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المحولات البرمجية</a:t>
            </a:r>
          </a:p>
          <a:p>
            <a:pPr marL="720725" lvl="1" indent="-365125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المحولات التفسيرية</a:t>
            </a:r>
          </a:p>
          <a:p>
            <a:pPr marL="355600" indent="-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"بيئة شاملة متكاملة" للبرمجة عند إنشاء برنامج.</a:t>
            </a:r>
          </a:p>
          <a:p>
            <a:pPr marL="355600" indent="-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تحتوي أيضًا على برامج تحرير الأكواد وأدوات تطوير البرامج وأدوات الاختبار والتحليلات وأدوات البناء والتشغيل.</a:t>
            </a:r>
          </a:p>
          <a:p>
            <a:pPr indent="0" rtl="1">
              <a:buNone/>
            </a:pPr>
            <a:endParaRPr lang="en-GB" altLang="en-US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92075" indent="0" rtl="1">
              <a:buNone/>
            </a:pP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سؤال: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 هل يمكنك ذكر أسماء أي بيئات تطوير متكامل للبرمجة شائعة؟</a:t>
            </a: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أدوات التطوير (2)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64001A8-A19E-1631-3FA6-A5E43F1D935F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12956101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9" y="2132856"/>
            <a:ext cx="8820471" cy="316835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محررات الكود - تسهل كتابة الكود وتحريره، وتحتوي بيئات IDE الحديثة على كود ذكي يبرز الأخطاء.</a:t>
            </a:r>
          </a:p>
          <a:p>
            <a:pPr marL="685800"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أدوات تطوير البرامج - توفر الأدوات والمكتبات والمحولات البرمجية والوظائف الإضافية. </a:t>
            </a:r>
          </a:p>
          <a:p>
            <a:pPr marL="685800"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أدوات البناء - عملية تجميع مبسطة تسمح للمبرمج «بالبناء والتشغيل» والتطبيق أثناء التكويد.</a:t>
            </a:r>
          </a:p>
          <a:p>
            <a:pPr marL="685800"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المكتبات - تضيف وظائف إضافية شائعة للمبرمجين الآخرين.</a:t>
            </a:r>
          </a:p>
          <a:p>
            <a:pPr marL="685800"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مصححات الأخطاء - تساعد المبرمج في العثور على المشكلات في الكود باستخدام التنقل عبر أسطر الكود والتوقف مؤقتًا عند أسطر محددة باستخدام نقاط التوقف.</a:t>
            </a: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أدوات التطوير (3)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1BA6149-8E1B-99C6-B888-5CCBB1135217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74173223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9" y="1844452"/>
            <a:ext cx="8820471" cy="482490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البرامج ليست مثالية أبدًا؛ ولا مبرمجيها كذلك.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تحدث أخطاء في بناء الجملة أثناء تطوير البرنامج، وتمنع التجميع والتنفيذ.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تحدث أخطاء وقت التشغيل أثناء تشغيل البرنامج ويجب «معالجتها».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يمكن معالجة الأخطاء بطريقتين:</a:t>
            </a:r>
          </a:p>
          <a:p>
            <a:pPr marL="1076325" lvl="1" indent="-3556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استثناء تم معالجته والتحكم فيه مع رسالة على الشاشة محتمل</a:t>
            </a:r>
          </a:p>
          <a:p>
            <a:pPr marL="1076325" lvl="1" indent="-3556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استثناء غير معالج ومتوقع، حيث قد يتعطل البرنامج أو يفقد وظائفه.</a:t>
            </a:r>
          </a:p>
          <a:p>
            <a:pPr indent="0" rtl="1">
              <a:buNone/>
            </a:pP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سؤال: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 ما هي فوائد الأخطاء التي عولجت بشكل جيد؟</a:t>
            </a: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معالجة الأخطاء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580DDDF-913A-E60A-BF21-C3DDD6202FD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03085202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400">
                <a:latin typeface="Sakkal Majalla" panose="02000000000000000000" pitchFamily="2" charset="-78"/>
                <a:cs typeface="Sakkal Majalla" panose="02000000000000000000" pitchFamily="2" charset="-78"/>
              </a:rPr>
              <a:t>هدف التعلم (ب)</a:t>
            </a:r>
            <a:br>
              <a:rPr lang="en-US" altLang="en-US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3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16012" y="4149725"/>
            <a:ext cx="6769100" cy="215959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الأدوات المستخدمة في تصميم البرامج</a:t>
            </a:r>
          </a:p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التخطيط لاختبار البرامج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1" y="2493963"/>
            <a:ext cx="8517829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200" b="1">
                <a:latin typeface="Sakkal Majalla" panose="02000000000000000000" pitchFamily="2" charset="-78"/>
                <a:cs typeface="Sakkal Majalla" panose="02000000000000000000" pitchFamily="2" charset="-78"/>
              </a:rPr>
              <a:t>تصميم برامج لتلبية متطلبات المستخدم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902F180-2E67-E69C-6CFD-19FC3AEB046B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58683339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1134" y="2132856"/>
            <a:ext cx="8208712" cy="410445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algn="ctr" rtl="1"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تتمثل الخطوة الأولى في تقييم متطلبات المستخدم</a:t>
            </a:r>
          </a:p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تُعرف متطلبات المستخدم بأنها ما يريده المستخدم أو المؤسسة ولماذا يريدون ذلك</a:t>
            </a:r>
          </a:p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ويُنص عليها في الوثائق للعرض على المستخدم أو الشركة في شكل:</a:t>
            </a:r>
          </a:p>
          <a:p>
            <a:pPr marL="720725" lvl="1" indent="-365125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مخططات التدفق - توضح تدفق المتطلبات وكيف ستعمل وكيف تلبي احتياجاتهم</a:t>
            </a:r>
          </a:p>
          <a:p>
            <a:pPr marL="720725" lvl="1" indent="-365125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تصميمات واجهة المستخدم (UI) - إن وجدت، تعرض واجهة المستخدم المراد تصميمها.</a:t>
            </a:r>
          </a:p>
          <a:p>
            <a:pPr marL="1085850" lvl="1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أدوات التصميم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A4501D9-5D91-88F9-776F-B0A5A2CF5D90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5395564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1134" y="2132856"/>
            <a:ext cx="8208712" cy="43204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يتم كتابة التخطيط للاختبار وتحديده قبل التطوير.</a:t>
            </a:r>
          </a:p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يضمن أن البرنامج يلبي متطلبات المستخدم والتصميمات.</a:t>
            </a:r>
          </a:p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سنركز على </a:t>
            </a: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خطط الاختبار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واختبارات الوحدة.</a:t>
            </a: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355600" rtl="1"/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خطط الاختبار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، تحتوي على مجموعات من الاختبارات (البرامج النصية).</a:t>
            </a:r>
          </a:p>
          <a:p>
            <a:pPr marL="285750" lvl="1" rtl="1">
              <a:tabLst>
                <a:tab pos="355600" algn="l"/>
              </a:tabLst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تحتوي البرامج النصية على:</a:t>
            </a:r>
          </a:p>
          <a:p>
            <a:pPr marL="720725" lvl="2" indent="-3556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الخطوات التي يجب القيام بها أثناء الاختبار</a:t>
            </a:r>
          </a:p>
          <a:p>
            <a:pPr marL="720725" lvl="2" indent="-3556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النتائج المتوقعة وغير المتوقعة</a:t>
            </a:r>
          </a:p>
          <a:p>
            <a:pPr marL="720725" lvl="1" indent="-3556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يجريه عادةً مختبر ضمان جودة متخصص.</a:t>
            </a:r>
          </a:p>
          <a:p>
            <a:pPr marL="1085850" lvl="1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التخطيط للاختبار (1)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E65D18B-FECB-E99D-42EC-6F43703F1D8F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5635474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7644" y="2060848"/>
            <a:ext cx="8208712" cy="43204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اختبار الوحدة - اختبارات مكودة داخل البرنامج وبيئة التطوير المتكامل.</a:t>
            </a:r>
          </a:p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تختبر وظائف محددة ضمن الاختبارات البرمجية.</a:t>
            </a:r>
          </a:p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ينفذه عادةً مبرمج أو مطور.</a:t>
            </a:r>
          </a:p>
          <a:p>
            <a:pPr marL="3556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3556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3556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3556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3556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2700" indent="0" rtl="1">
              <a:buNone/>
            </a:pP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سؤال: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 اكتب اختبار وحدة لأحد برامجك.  هل اجتاز أم أخفق؟</a:t>
            </a: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85850" lvl="1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التخطيط للاختبار (2)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18FDBE-6C33-5049-5285-CB5805CD08B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15817" y="3439798"/>
            <a:ext cx="3384376" cy="1953067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84F1134-13DE-ADCC-5849-0A235257A3C3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62485944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400">
                <a:latin typeface="Sakkal Majalla" panose="02000000000000000000" pitchFamily="2" charset="-78"/>
                <a:cs typeface="Sakkal Majalla" panose="02000000000000000000" pitchFamily="2" charset="-78"/>
              </a:rPr>
              <a:t>هدف التعلم (ج)</a:t>
            </a:r>
            <a:br>
              <a:rPr lang="en-US" altLang="en-US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3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16012" y="4149725"/>
            <a:ext cx="6769100" cy="215959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تخطيط مهام التطوير لضمان تناول جميع متطلبات المستخدم</a:t>
            </a:r>
          </a:p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تطوير البرنامج</a:t>
            </a:r>
          </a:p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اختبار البرنامج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1" y="2493963"/>
            <a:ext cx="8517829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200" b="1">
                <a:latin typeface="Sakkal Majalla" panose="02000000000000000000" pitchFamily="2" charset="-78"/>
                <a:cs typeface="Sakkal Majalla" panose="02000000000000000000" pitchFamily="2" charset="-78"/>
              </a:rPr>
              <a:t>تطوير برامج لتلبية متطلبات المستخدم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ACFE986-1AFD-8CE6-B536-4182DE3C43B6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50434615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1134" y="2132856"/>
            <a:ext cx="8208712" cy="43204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إنشاء مهام تطوير دقيقة من متطلبات المستخدم الأكبر والأوسع والأقل تحديدًا</a:t>
            </a: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مقسمة إلى "أجزاء" مثل:</a:t>
            </a:r>
          </a:p>
          <a:p>
            <a:pPr marL="720725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إنشاء واجهة المستخدم وأحداثها</a:t>
            </a:r>
          </a:p>
          <a:p>
            <a:pPr marL="720725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إنشاء طرق للوظائف داخل البرنامج وربطها بواجهة المستخدم.</a:t>
            </a:r>
          </a:p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يتم تقدير الوقت المستغرق لتطوير كل مهمة قبل التطوير ومقارنتها بعد ذلك، مما يساعد في وضع الميزانية وتخطيط الموارد</a:t>
            </a:r>
          </a:p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يسمح المخطط للأعمال بتخطيط الميزات للإصدارات الحالية والمستقبلية</a:t>
            </a:r>
          </a:p>
          <a:p>
            <a:pPr marL="1085850" lvl="1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تخطيط المهام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6C1A5E4-8B7F-1390-3E81-B20B6A67C362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92633568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03649" y="1772816"/>
            <a:ext cx="8208712" cy="489691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55600"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من المهم اختيار اللغة والنظام الأساسي الأكثر ملاءمة للبرنامج. قد يُطلب منك تطوير:</a:t>
            </a:r>
          </a:p>
          <a:p>
            <a:pPr marL="720725" indent="-365125" rtl="1">
              <a:buFont typeface="Courier New" panose="02070309020205020404" pitchFamily="49" charset="0"/>
              <a:buChar char="o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موقع ويب، حيث يقوم المستخدمون بتسجيل الدخول والوصول إلى البيانات من قاعدة بيانات: برمجة الويب (ASP.NET أو PHP) على برنامج أساسي لخادم الويب</a:t>
            </a:r>
          </a:p>
          <a:p>
            <a:pPr marL="720725" rtl="1">
              <a:buFont typeface="Courier New" panose="02070309020205020404" pitchFamily="49" charset="0"/>
              <a:buChar char="o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تطبيق هاتف محمول لمتجر Google Play: برمجة الهاتف المحمول (Java) على هاتف Android</a:t>
            </a:r>
          </a:p>
          <a:p>
            <a:pPr marL="720725" rtl="1">
              <a:buFont typeface="Courier New" panose="02070309020205020404" pitchFamily="49" charset="0"/>
              <a:buChar char="o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جهاز استشعار مياه يعمل على جهاز كمبيوتر صغير يعمل بالطاقة الشمسية: برمجة إنترنت الأشياء (</a:t>
            </a:r>
            <a:r>
              <a:rPr 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  <a:t>.NET Core, Python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) على راسبيري باي.</a:t>
            </a:r>
          </a:p>
          <a:p>
            <a:pPr marL="92075" indent="0" rtl="1">
              <a:buNone/>
            </a:pP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سؤال: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ما اللغة والنظام الأساسي الأنسب لكشك الوجبات السريعة الذي يأخذ النقود؟</a:t>
            </a: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85850" lvl="1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التطوير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ABE9113-888B-113D-FD0E-9A201CB599A0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54512437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1134" y="1844452"/>
            <a:ext cx="8208712" cy="489691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55600" rtl="1">
              <a:tabLst>
                <a:tab pos="263525" algn="l"/>
              </a:tabLst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إجراء اختبار البرنامج وفقًا لما يلي:</a:t>
            </a:r>
          </a:p>
          <a:p>
            <a:pPr marL="355600" rtl="1">
              <a:tabLst>
                <a:tab pos="263525" algn="l"/>
              </a:tabLst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الوظائف وسهولة الاستخدام مقابل:</a:t>
            </a:r>
          </a:p>
          <a:p>
            <a:pPr marL="720725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متطلبات وموضوعات المستخدم في مرحلة التخطيط</a:t>
            </a:r>
          </a:p>
          <a:p>
            <a:pPr marL="720725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نصوص الاختبار المحددة في مرحلة التخطيط.</a:t>
            </a:r>
          </a:p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اختبار التراجع:</a:t>
            </a:r>
          </a:p>
          <a:p>
            <a:pPr marL="720725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ضمان عدم تأثير التغييرات الحالية على البرنامج على تشغيل البرنامج قبل التغيير.</a:t>
            </a:r>
          </a:p>
          <a:p>
            <a:pPr marL="3556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الاختبار الإتلافي:</a:t>
            </a:r>
          </a:p>
          <a:p>
            <a:pPr marL="720725" lvl="1" indent="-342900" rtl="1">
              <a:buFont typeface="Courier New" panose="02070309020205020404" pitchFamily="49" charset="0"/>
              <a:buChar char="o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يحاول التسبب في أخطاء غير متوقعة وتسجيلها وإصلاحها.</a:t>
            </a: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85850" lvl="1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اختبار التطوير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6BA3AE0-AF09-3B6B-AA03-25C403DB44B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A103000360239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95272252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theme/theme1.xml><?xml version="1.0" encoding="utf-8"?>
<a:theme xmlns:a="http://schemas.openxmlformats.org/drawingml/2006/main" name="1_Information Technolog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onstructio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Business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Art and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Hospitalit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Agriculture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Travel and Tourism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Creative Media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0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012c9df-7563-46f6-96ee-cebd66fd5577" xsi:nil="true"/>
    <lcf76f155ced4ddcb4097134ff3c332f xmlns="f63d1639-2e8e-4dfe-b2d4-ff2deac92409">
      <Terms xmlns="http://schemas.microsoft.com/office/infopath/2007/PartnerControls"/>
    </lcf76f155ced4ddcb4097134ff3c332f>
    <_Flow_SignoffStatus xmlns="f63d1639-2e8e-4dfe-b2d4-ff2deac92409" xsi:nil="true"/>
    <AdditionalInfo xmlns="f63d1639-2e8e-4dfe-b2d4-ff2deac9240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F2AC0EC27FF3458662E003F8FEC281" ma:contentTypeVersion="20" ma:contentTypeDescription="Create a new document." ma:contentTypeScope="" ma:versionID="7d267daa26e24eee3a5f4b0eb9224b47">
  <xsd:schema xmlns:xsd="http://www.w3.org/2001/XMLSchema" xmlns:xs="http://www.w3.org/2001/XMLSchema" xmlns:p="http://schemas.microsoft.com/office/2006/metadata/properties" xmlns:ns2="f63d1639-2e8e-4dfe-b2d4-ff2deac92409" xmlns:ns3="7012c9df-7563-46f6-96ee-cebd66fd5577" targetNamespace="http://schemas.microsoft.com/office/2006/metadata/properties" ma:root="true" ma:fieldsID="144a094b618d5dc1a3294a7bede64c09" ns2:_="" ns3:_="">
    <xsd:import namespace="f63d1639-2e8e-4dfe-b2d4-ff2deac92409"/>
    <xsd:import namespace="7012c9df-7563-46f6-96ee-cebd66fd55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_Flow_SignoffStatus" minOccurs="0"/>
                <xsd:element ref="ns2:MediaServiceSearchProperties" minOccurs="0"/>
                <xsd:element ref="ns2:AdditionalInf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3d1639-2e8e-4dfe-b2d4-ff2deac924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dditionalInfo" ma:index="27" nillable="true" ma:displayName="Additional Info" ma:format="Dropdown" ma:internalName="AdditionalInfo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12c9df-7563-46f6-96ee-cebd66fd557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8bf6128-19fb-458b-8dd6-b174ec593e06}" ma:internalName="TaxCatchAll" ma:showField="CatchAllData" ma:web="7012c9df-7563-46f6-96ee-cebd66fd55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AA2910D-4917-49C0-8FBC-BFF7ABD28C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5881F99-FF01-4B4D-8107-B17C5B334F5C}">
  <ds:schemaRefs>
    <ds:schemaRef ds:uri="http://schemas.microsoft.com/office/2006/metadata/properties"/>
    <ds:schemaRef ds:uri="http://schemas.microsoft.com/office/infopath/2007/PartnerControls"/>
    <ds:schemaRef ds:uri="a26a0597-d0d1-4250-940c-88e9bf9d5597"/>
    <ds:schemaRef ds:uri="6881431a-e3b2-481e-ba90-fae26e2fa83c"/>
    <ds:schemaRef ds:uri="7c1bd8dc-4e40-424f-a15f-9ffcd522197f"/>
    <ds:schemaRef ds:uri="6125ffc9-2c56-435e-8267-1393444907b2"/>
  </ds:schemaRefs>
</ds:datastoreItem>
</file>

<file path=customXml/itemProps3.xml><?xml version="1.0" encoding="utf-8"?>
<ds:datastoreItem xmlns:ds="http://schemas.openxmlformats.org/officeDocument/2006/customXml" ds:itemID="{22306283-A880-4CF8-ACCC-282FDD451B3E}"/>
</file>

<file path=docProps/app.xml><?xml version="1.0" encoding="utf-8"?>
<Properties xmlns="http://schemas.openxmlformats.org/officeDocument/2006/extended-properties" xmlns:vt="http://schemas.openxmlformats.org/officeDocument/2006/docPropsVTypes">
  <TotalTime>13633</TotalTime>
  <Words>2112</Words>
  <Application>Microsoft Office PowerPoint</Application>
  <PresentationFormat>On-screen Show (4:3)</PresentationFormat>
  <Paragraphs>360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37</vt:i4>
      </vt:variant>
    </vt:vector>
  </HeadingPairs>
  <TitlesOfParts>
    <vt:vector size="53" baseType="lpstr">
      <vt:lpstr>Arial</vt:lpstr>
      <vt:lpstr>Calibri</vt:lpstr>
      <vt:lpstr>Courier New</vt:lpstr>
      <vt:lpstr>Sakkal Majalla</vt:lpstr>
      <vt:lpstr>Verdana</vt:lpstr>
      <vt:lpstr>Wingdings</vt:lpstr>
      <vt:lpstr>1_Information Technology</vt:lpstr>
      <vt:lpstr>2_Construction</vt:lpstr>
      <vt:lpstr>3_Business</vt:lpstr>
      <vt:lpstr>4_Engineering</vt:lpstr>
      <vt:lpstr>5_Art and Design</vt:lpstr>
      <vt:lpstr>6_Hospitality</vt:lpstr>
      <vt:lpstr>7_Agriculture</vt:lpstr>
      <vt:lpstr>8_Travel and Tourism</vt:lpstr>
      <vt:lpstr>9_Creative Media</vt:lpstr>
      <vt:lpstr>10_Beauty Therapy</vt:lpstr>
      <vt:lpstr>الوحدة 27  البرمجة العامة  </vt:lpstr>
      <vt:lpstr>البرمجة العامة</vt:lpstr>
      <vt:lpstr>أهداف التعلم</vt:lpstr>
      <vt:lpstr>هدف التعلم (أ)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هدف التعلم (ب)  </vt:lpstr>
      <vt:lpstr>PowerPoint Presentation</vt:lpstr>
      <vt:lpstr>PowerPoint Presentation</vt:lpstr>
      <vt:lpstr>PowerPoint Presentation</vt:lpstr>
      <vt:lpstr>هدف التعلم (ج) 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 Construction Science </dc:title>
  <dc:creator>Microsoft Office User</dc:creator>
  <cp:lastModifiedBy>Paul Winser</cp:lastModifiedBy>
  <cp:revision>114</cp:revision>
  <dcterms:created xsi:type="dcterms:W3CDTF">2020-07-15T07:14:47Z</dcterms:created>
  <dcterms:modified xsi:type="dcterms:W3CDTF">2023-11-21T20:54:42Z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ContentTypeId">
    <vt:lpwstr>0x01010011F2AC0EC27FF3458662E003F8FEC281</vt:lpwstr>
  </property>
  <property fmtid="{D5CDD505-2E9C-101B-9397-08002B2CF9AE}" pid="4" name="MediaServiceImageTags">
    <vt:lpwstr/>
  </property>
</Properties>
</file>