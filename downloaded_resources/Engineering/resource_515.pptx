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2"/>
  </p:notesMasterIdLst>
  <p:sldIdLst>
    <p:sldId id="256" r:id="rId14"/>
    <p:sldId id="257" r:id="rId15"/>
    <p:sldId id="449" r:id="rId16"/>
    <p:sldId id="258" r:id="rId17"/>
    <p:sldId id="272" r:id="rId18"/>
    <p:sldId id="381" r:id="rId19"/>
    <p:sldId id="437" r:id="rId20"/>
    <p:sldId id="418" r:id="rId21"/>
    <p:sldId id="424" r:id="rId22"/>
    <p:sldId id="438" r:id="rId23"/>
    <p:sldId id="425" r:id="rId24"/>
    <p:sldId id="319" r:id="rId25"/>
    <p:sldId id="415" r:id="rId26"/>
    <p:sldId id="439" r:id="rId27"/>
    <p:sldId id="419" r:id="rId28"/>
    <p:sldId id="441" r:id="rId29"/>
    <p:sldId id="426" r:id="rId30"/>
    <p:sldId id="420" r:id="rId31"/>
    <p:sldId id="442" r:id="rId32"/>
    <p:sldId id="421" r:id="rId33"/>
    <p:sldId id="443" r:id="rId34"/>
    <p:sldId id="427" r:id="rId35"/>
    <p:sldId id="444" r:id="rId36"/>
    <p:sldId id="382" r:id="rId37"/>
    <p:sldId id="416" r:id="rId38"/>
    <p:sldId id="445" r:id="rId39"/>
    <p:sldId id="428" r:id="rId40"/>
    <p:sldId id="446" r:id="rId41"/>
    <p:sldId id="422" r:id="rId42"/>
    <p:sldId id="447" r:id="rId43"/>
    <p:sldId id="429" r:id="rId44"/>
    <p:sldId id="448" r:id="rId45"/>
    <p:sldId id="384" r:id="rId46"/>
    <p:sldId id="423" r:id="rId47"/>
    <p:sldId id="430" r:id="rId48"/>
    <p:sldId id="431" r:id="rId49"/>
    <p:sldId id="432" r:id="rId50"/>
    <p:sldId id="450" r:id="rId51"/>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1191DC-BB64-464E-A476-82D0FF3D7780}" v="2" dt="2024-12-11T23:12:27.577"/>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665" autoAdjust="0"/>
    <p:restoredTop sz="87223" autoAdjust="0"/>
  </p:normalViewPr>
  <p:slideViewPr>
    <p:cSldViewPr>
      <p:cViewPr varScale="1">
        <p:scale>
          <a:sx n="137" d="100"/>
          <a:sy n="137" d="100"/>
        </p:scale>
        <p:origin x="2808" y="120"/>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Master" Target="slideMasters/slideMaster2.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microsoft.com/office/2015/10/relationships/revisionInfo" Target="revisionInfo.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tableStyles" Target="tableStyles.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D217F892-268F-495F-8511-2714B93270DA}"/>
    <pc:docChg chg="undo custSel addSld modSld">
      <pc:chgData name="Paul Winser" userId="c3146a91-e6bd-4264-bd86-e164e04bc32d" providerId="ADAL" clId="{D217F892-268F-495F-8511-2714B93270DA}" dt="2024-11-12T18:08:28.434" v="718" actId="1076"/>
      <pc:docMkLst>
        <pc:docMk/>
      </pc:docMkLst>
      <pc:sldChg chg="modSp mod">
        <pc:chgData name="Paul Winser" userId="c3146a91-e6bd-4264-bd86-e164e04bc32d" providerId="ADAL" clId="{D217F892-268F-495F-8511-2714B93270DA}" dt="2024-11-12T17:41:07.385" v="2" actId="20577"/>
        <pc:sldMkLst>
          <pc:docMk/>
          <pc:sldMk cId="0" sldId="256"/>
        </pc:sldMkLst>
        <pc:spChg chg="mod">
          <ac:chgData name="Paul Winser" userId="c3146a91-e6bd-4264-bd86-e164e04bc32d" providerId="ADAL" clId="{D217F892-268F-495F-8511-2714B93270DA}" dt="2024-11-12T17:41:07.385" v="2" actId="20577"/>
          <ac:spMkLst>
            <pc:docMk/>
            <pc:sldMk cId="0" sldId="256"/>
            <ac:spMk id="3" creationId="{986D29E0-B089-110D-BF1E-B3C37F2C37F9}"/>
          </ac:spMkLst>
        </pc:spChg>
      </pc:sldChg>
      <pc:sldChg chg="delSp modSp mod">
        <pc:chgData name="Paul Winser" userId="c3146a91-e6bd-4264-bd86-e164e04bc32d" providerId="ADAL" clId="{D217F892-268F-495F-8511-2714B93270DA}" dt="2024-11-12T17:50:02.601" v="15" actId="404"/>
        <pc:sldMkLst>
          <pc:docMk/>
          <pc:sldMk cId="0" sldId="257"/>
        </pc:sldMkLst>
        <pc:spChg chg="del">
          <ac:chgData name="Paul Winser" userId="c3146a91-e6bd-4264-bd86-e164e04bc32d" providerId="ADAL" clId="{D217F892-268F-495F-8511-2714B93270DA}" dt="2024-11-12T17:49:46.166" v="4" actId="478"/>
          <ac:spMkLst>
            <pc:docMk/>
            <pc:sldMk cId="0" sldId="257"/>
            <ac:spMk id="2" creationId="{699BD15B-3963-FABF-4FCC-DDEEA7CBAF24}"/>
          </ac:spMkLst>
        </pc:spChg>
        <pc:spChg chg="mod">
          <ac:chgData name="Paul Winser" userId="c3146a91-e6bd-4264-bd86-e164e04bc32d" providerId="ADAL" clId="{D217F892-268F-495F-8511-2714B93270DA}" dt="2024-11-12T17:50:02.601" v="15" actId="404"/>
          <ac:spMkLst>
            <pc:docMk/>
            <pc:sldMk cId="0" sldId="257"/>
            <ac:spMk id="30723" creationId="{3C79F714-332C-AB63-03D9-E6D0CAE0623F}"/>
          </ac:spMkLst>
        </pc:spChg>
      </pc:sldChg>
      <pc:sldChg chg="modSp mod">
        <pc:chgData name="Paul Winser" userId="c3146a91-e6bd-4264-bd86-e164e04bc32d" providerId="ADAL" clId="{D217F892-268F-495F-8511-2714B93270DA}" dt="2024-11-12T17:51:32.309" v="31" actId="14100"/>
        <pc:sldMkLst>
          <pc:docMk/>
          <pc:sldMk cId="0" sldId="258"/>
        </pc:sldMkLst>
        <pc:spChg chg="mod">
          <ac:chgData name="Paul Winser" userId="c3146a91-e6bd-4264-bd86-e164e04bc32d" providerId="ADAL" clId="{D217F892-268F-495F-8511-2714B93270DA}" dt="2024-11-12T17:51:26.117" v="28" actId="14100"/>
          <ac:spMkLst>
            <pc:docMk/>
            <pc:sldMk cId="0" sldId="258"/>
            <ac:spMk id="32770" creationId="{CD9316BF-B3CE-8341-5A0A-249747D6C6E1}"/>
          </ac:spMkLst>
        </pc:spChg>
        <pc:spChg chg="mod">
          <ac:chgData name="Paul Winser" userId="c3146a91-e6bd-4264-bd86-e164e04bc32d" providerId="ADAL" clId="{D217F892-268F-495F-8511-2714B93270DA}" dt="2024-11-12T17:51:32.309" v="31" actId="14100"/>
          <ac:spMkLst>
            <pc:docMk/>
            <pc:sldMk cId="0" sldId="258"/>
            <ac:spMk id="32771" creationId="{44DFA49F-83B7-E61C-00EB-D6046D571A05}"/>
          </ac:spMkLst>
        </pc:spChg>
      </pc:sldChg>
      <pc:sldChg chg="delSp mod">
        <pc:chgData name="Paul Winser" userId="c3146a91-e6bd-4264-bd86-e164e04bc32d" providerId="ADAL" clId="{D217F892-268F-495F-8511-2714B93270DA}" dt="2024-11-12T17:54:50.614" v="128" actId="478"/>
        <pc:sldMkLst>
          <pc:docMk/>
          <pc:sldMk cId="211838768" sldId="319"/>
        </pc:sldMkLst>
        <pc:spChg chg="del">
          <ac:chgData name="Paul Winser" userId="c3146a91-e6bd-4264-bd86-e164e04bc32d" providerId="ADAL" clId="{D217F892-268F-495F-8511-2714B93270DA}" dt="2024-11-12T17:54:50.614" v="128" actId="478"/>
          <ac:spMkLst>
            <pc:docMk/>
            <pc:sldMk cId="211838768" sldId="319"/>
            <ac:spMk id="2" creationId="{6BD01CBB-BD2B-7A16-A8B6-437BDD63B142}"/>
          </ac:spMkLst>
        </pc:spChg>
      </pc:sldChg>
      <pc:sldChg chg="delSp modSp mod">
        <pc:chgData name="Paul Winser" userId="c3146a91-e6bd-4264-bd86-e164e04bc32d" providerId="ADAL" clId="{D217F892-268F-495F-8511-2714B93270DA}" dt="2024-11-12T17:51:59.405" v="41" actId="207"/>
        <pc:sldMkLst>
          <pc:docMk/>
          <pc:sldMk cId="4160411727" sldId="381"/>
        </pc:sldMkLst>
        <pc:spChg chg="del">
          <ac:chgData name="Paul Winser" userId="c3146a91-e6bd-4264-bd86-e164e04bc32d" providerId="ADAL" clId="{D217F892-268F-495F-8511-2714B93270DA}" dt="2024-11-12T17:51:39.877" v="32" actId="478"/>
          <ac:spMkLst>
            <pc:docMk/>
            <pc:sldMk cId="4160411727" sldId="381"/>
            <ac:spMk id="2" creationId="{71599B28-4F9F-9E4D-4B95-0A54759108DF}"/>
          </ac:spMkLst>
        </pc:spChg>
        <pc:spChg chg="mod">
          <ac:chgData name="Paul Winser" userId="c3146a91-e6bd-4264-bd86-e164e04bc32d" providerId="ADAL" clId="{D217F892-268F-495F-8511-2714B93270DA}" dt="2024-11-12T17:51:59.405" v="41" actId="207"/>
          <ac:spMkLst>
            <pc:docMk/>
            <pc:sldMk cId="4160411727" sldId="381"/>
            <ac:spMk id="34819" creationId="{453C7683-8588-7ABC-32E0-8A4E68218620}"/>
          </ac:spMkLst>
        </pc:spChg>
      </pc:sldChg>
      <pc:sldChg chg="delSp mod">
        <pc:chgData name="Paul Winser" userId="c3146a91-e6bd-4264-bd86-e164e04bc32d" providerId="ADAL" clId="{D217F892-268F-495F-8511-2714B93270DA}" dt="2024-11-12T18:00:49.491" v="354" actId="478"/>
        <pc:sldMkLst>
          <pc:docMk/>
          <pc:sldMk cId="2447797040" sldId="382"/>
        </pc:sldMkLst>
        <pc:spChg chg="del">
          <ac:chgData name="Paul Winser" userId="c3146a91-e6bd-4264-bd86-e164e04bc32d" providerId="ADAL" clId="{D217F892-268F-495F-8511-2714B93270DA}" dt="2024-11-12T18:00:49.491" v="354" actId="478"/>
          <ac:spMkLst>
            <pc:docMk/>
            <pc:sldMk cId="2447797040" sldId="382"/>
            <ac:spMk id="2" creationId="{01C22BD8-C9A3-1332-67D2-A15097E64D03}"/>
          </ac:spMkLst>
        </pc:spChg>
      </pc:sldChg>
      <pc:sldChg chg="modSp mod">
        <pc:chgData name="Paul Winser" userId="c3146a91-e6bd-4264-bd86-e164e04bc32d" providerId="ADAL" clId="{D217F892-268F-495F-8511-2714B93270DA}" dt="2024-11-12T17:55:23.747" v="139" actId="14100"/>
        <pc:sldMkLst>
          <pc:docMk/>
          <pc:sldMk cId="3711031673" sldId="415"/>
        </pc:sldMkLst>
        <pc:spChg chg="mod">
          <ac:chgData name="Paul Winser" userId="c3146a91-e6bd-4264-bd86-e164e04bc32d" providerId="ADAL" clId="{D217F892-268F-495F-8511-2714B93270DA}" dt="2024-11-12T17:55:18.242" v="138" actId="12"/>
          <ac:spMkLst>
            <pc:docMk/>
            <pc:sldMk cId="3711031673" sldId="415"/>
            <ac:spMk id="34819" creationId="{453C7683-8588-7ABC-32E0-8A4E68218620}"/>
          </ac:spMkLst>
        </pc:spChg>
        <pc:picChg chg="mod">
          <ac:chgData name="Paul Winser" userId="c3146a91-e6bd-4264-bd86-e164e04bc32d" providerId="ADAL" clId="{D217F892-268F-495F-8511-2714B93270DA}" dt="2024-11-12T17:55:23.747" v="139" actId="14100"/>
          <ac:picMkLst>
            <pc:docMk/>
            <pc:sldMk cId="3711031673" sldId="415"/>
            <ac:picMk id="3074" creationId="{00000000-0000-0000-0000-000000000000}"/>
          </ac:picMkLst>
        </pc:picChg>
      </pc:sldChg>
      <pc:sldChg chg="delSp modSp mod">
        <pc:chgData name="Paul Winser" userId="c3146a91-e6bd-4264-bd86-e164e04bc32d" providerId="ADAL" clId="{D217F892-268F-495F-8511-2714B93270DA}" dt="2024-11-12T18:01:28.083" v="393" actId="1076"/>
        <pc:sldMkLst>
          <pc:docMk/>
          <pc:sldMk cId="3707984095" sldId="416"/>
        </pc:sldMkLst>
        <pc:spChg chg="del">
          <ac:chgData name="Paul Winser" userId="c3146a91-e6bd-4264-bd86-e164e04bc32d" providerId="ADAL" clId="{D217F892-268F-495F-8511-2714B93270DA}" dt="2024-11-12T18:01:24.435" v="392" actId="478"/>
          <ac:spMkLst>
            <pc:docMk/>
            <pc:sldMk cId="3707984095" sldId="416"/>
            <ac:spMk id="2" creationId="{70B6DD47-38FC-F329-6E81-ABCE9FFBDAA7}"/>
          </ac:spMkLst>
        </pc:spChg>
        <pc:spChg chg="mod">
          <ac:chgData name="Paul Winser" userId="c3146a91-e6bd-4264-bd86-e164e04bc32d" providerId="ADAL" clId="{D217F892-268F-495F-8511-2714B93270DA}" dt="2024-11-12T18:01:21.288" v="391" actId="5793"/>
          <ac:spMkLst>
            <pc:docMk/>
            <pc:sldMk cId="3707984095" sldId="416"/>
            <ac:spMk id="34819" creationId="{453C7683-8588-7ABC-32E0-8A4E68218620}"/>
          </ac:spMkLst>
        </pc:spChg>
        <pc:picChg chg="mod">
          <ac:chgData name="Paul Winser" userId="c3146a91-e6bd-4264-bd86-e164e04bc32d" providerId="ADAL" clId="{D217F892-268F-495F-8511-2714B93270DA}" dt="2024-11-12T18:01:28.083" v="393" actId="1076"/>
          <ac:picMkLst>
            <pc:docMk/>
            <pc:sldMk cId="3707984095" sldId="416"/>
            <ac:picMk id="9218" creationId="{00000000-0000-0000-0000-000000000000}"/>
          </ac:picMkLst>
        </pc:picChg>
      </pc:sldChg>
      <pc:sldChg chg="modSp mod">
        <pc:chgData name="Paul Winser" userId="c3146a91-e6bd-4264-bd86-e164e04bc32d" providerId="ADAL" clId="{D217F892-268F-495F-8511-2714B93270DA}" dt="2024-11-12T17:52:53.158" v="64" actId="14100"/>
        <pc:sldMkLst>
          <pc:docMk/>
          <pc:sldMk cId="853317201" sldId="418"/>
        </pc:sldMkLst>
        <pc:spChg chg="mod">
          <ac:chgData name="Paul Winser" userId="c3146a91-e6bd-4264-bd86-e164e04bc32d" providerId="ADAL" clId="{D217F892-268F-495F-8511-2714B93270DA}" dt="2024-11-12T17:52:53.158" v="64" actId="14100"/>
          <ac:spMkLst>
            <pc:docMk/>
            <pc:sldMk cId="853317201" sldId="418"/>
            <ac:spMk id="34819" creationId="{453C7683-8588-7ABC-32E0-8A4E68218620}"/>
          </ac:spMkLst>
        </pc:spChg>
        <pc:picChg chg="mod">
          <ac:chgData name="Paul Winser" userId="c3146a91-e6bd-4264-bd86-e164e04bc32d" providerId="ADAL" clId="{D217F892-268F-495F-8511-2714B93270DA}" dt="2024-11-12T17:52:23.686" v="50" actId="1076"/>
          <ac:picMkLst>
            <pc:docMk/>
            <pc:sldMk cId="853317201" sldId="418"/>
            <ac:picMk id="1026" creationId="{00000000-0000-0000-0000-000000000000}"/>
          </ac:picMkLst>
        </pc:picChg>
      </pc:sldChg>
      <pc:sldChg chg="delSp modSp mod">
        <pc:chgData name="Paul Winser" userId="c3146a91-e6bd-4264-bd86-e164e04bc32d" providerId="ADAL" clId="{D217F892-268F-495F-8511-2714B93270DA}" dt="2024-11-12T17:57:04.983" v="211" actId="207"/>
        <pc:sldMkLst>
          <pc:docMk/>
          <pc:sldMk cId="2093066133" sldId="419"/>
        </pc:sldMkLst>
        <pc:spChg chg="del">
          <ac:chgData name="Paul Winser" userId="c3146a91-e6bd-4264-bd86-e164e04bc32d" providerId="ADAL" clId="{D217F892-268F-495F-8511-2714B93270DA}" dt="2024-11-12T17:56:53.045" v="209" actId="478"/>
          <ac:spMkLst>
            <pc:docMk/>
            <pc:sldMk cId="2093066133" sldId="419"/>
            <ac:spMk id="2" creationId="{EF295707-310E-A03D-575A-645D91096220}"/>
          </ac:spMkLst>
        </pc:spChg>
        <pc:spChg chg="mod">
          <ac:chgData name="Paul Winser" userId="c3146a91-e6bd-4264-bd86-e164e04bc32d" providerId="ADAL" clId="{D217F892-268F-495F-8511-2714B93270DA}" dt="2024-11-12T17:57:04.983" v="211" actId="207"/>
          <ac:spMkLst>
            <pc:docMk/>
            <pc:sldMk cId="2093066133" sldId="419"/>
            <ac:spMk id="34819" creationId="{453C7683-8588-7ABC-32E0-8A4E68218620}"/>
          </ac:spMkLst>
        </pc:spChg>
      </pc:sldChg>
      <pc:sldChg chg="modSp mod">
        <pc:chgData name="Paul Winser" userId="c3146a91-e6bd-4264-bd86-e164e04bc32d" providerId="ADAL" clId="{D217F892-268F-495F-8511-2714B93270DA}" dt="2024-11-12T17:58:35.814" v="257" actId="6549"/>
        <pc:sldMkLst>
          <pc:docMk/>
          <pc:sldMk cId="3711736117" sldId="420"/>
        </pc:sldMkLst>
        <pc:spChg chg="mod">
          <ac:chgData name="Paul Winser" userId="c3146a91-e6bd-4264-bd86-e164e04bc32d" providerId="ADAL" clId="{D217F892-268F-495F-8511-2714B93270DA}" dt="2024-11-12T17:58:35.814" v="257" actId="6549"/>
          <ac:spMkLst>
            <pc:docMk/>
            <pc:sldMk cId="3711736117" sldId="420"/>
            <ac:spMk id="34819" creationId="{453C7683-8588-7ABC-32E0-8A4E68218620}"/>
          </ac:spMkLst>
        </pc:spChg>
      </pc:sldChg>
      <pc:sldChg chg="delSp modSp mod">
        <pc:chgData name="Paul Winser" userId="c3146a91-e6bd-4264-bd86-e164e04bc32d" providerId="ADAL" clId="{D217F892-268F-495F-8511-2714B93270DA}" dt="2024-11-12T17:59:45.419" v="309" actId="12"/>
        <pc:sldMkLst>
          <pc:docMk/>
          <pc:sldMk cId="3697481584" sldId="421"/>
        </pc:sldMkLst>
        <pc:spChg chg="del">
          <ac:chgData name="Paul Winser" userId="c3146a91-e6bd-4264-bd86-e164e04bc32d" providerId="ADAL" clId="{D217F892-268F-495F-8511-2714B93270DA}" dt="2024-11-12T17:59:42.908" v="307" actId="478"/>
          <ac:spMkLst>
            <pc:docMk/>
            <pc:sldMk cId="3697481584" sldId="421"/>
            <ac:spMk id="2" creationId="{128A4C1D-62B2-FAFB-3888-F1E20B855BA3}"/>
          </ac:spMkLst>
        </pc:spChg>
        <pc:spChg chg="mod">
          <ac:chgData name="Paul Winser" userId="c3146a91-e6bd-4264-bd86-e164e04bc32d" providerId="ADAL" clId="{D217F892-268F-495F-8511-2714B93270DA}" dt="2024-11-12T17:59:45.419" v="309" actId="12"/>
          <ac:spMkLst>
            <pc:docMk/>
            <pc:sldMk cId="3697481584" sldId="421"/>
            <ac:spMk id="34819" creationId="{453C7683-8588-7ABC-32E0-8A4E68218620}"/>
          </ac:spMkLst>
        </pc:spChg>
        <pc:picChg chg="mod">
          <ac:chgData name="Paul Winser" userId="c3146a91-e6bd-4264-bd86-e164e04bc32d" providerId="ADAL" clId="{D217F892-268F-495F-8511-2714B93270DA}" dt="2024-11-12T17:59:41.020" v="306" actId="1076"/>
          <ac:picMkLst>
            <pc:docMk/>
            <pc:sldMk cId="3697481584" sldId="421"/>
            <ac:picMk id="7170" creationId="{00000000-0000-0000-0000-000000000000}"/>
          </ac:picMkLst>
        </pc:picChg>
      </pc:sldChg>
      <pc:sldChg chg="modSp mod">
        <pc:chgData name="Paul Winser" userId="c3146a91-e6bd-4264-bd86-e164e04bc32d" providerId="ADAL" clId="{D217F892-268F-495F-8511-2714B93270DA}" dt="2024-11-12T18:03:38.827" v="537" actId="1076"/>
        <pc:sldMkLst>
          <pc:docMk/>
          <pc:sldMk cId="2498227278" sldId="422"/>
        </pc:sldMkLst>
        <pc:spChg chg="mod">
          <ac:chgData name="Paul Winser" userId="c3146a91-e6bd-4264-bd86-e164e04bc32d" providerId="ADAL" clId="{D217F892-268F-495F-8511-2714B93270DA}" dt="2024-11-12T18:03:34.868" v="536" actId="5793"/>
          <ac:spMkLst>
            <pc:docMk/>
            <pc:sldMk cId="2498227278" sldId="422"/>
            <ac:spMk id="34819" creationId="{453C7683-8588-7ABC-32E0-8A4E68218620}"/>
          </ac:spMkLst>
        </pc:spChg>
        <pc:picChg chg="mod">
          <ac:chgData name="Paul Winser" userId="c3146a91-e6bd-4264-bd86-e164e04bc32d" providerId="ADAL" clId="{D217F892-268F-495F-8511-2714B93270DA}" dt="2024-11-12T18:03:38.827" v="537" actId="1076"/>
          <ac:picMkLst>
            <pc:docMk/>
            <pc:sldMk cId="2498227278" sldId="422"/>
            <ac:picMk id="3" creationId="{68BA4B11-1528-C855-D6D2-684DE52F4683}"/>
          </ac:picMkLst>
        </pc:picChg>
      </pc:sldChg>
      <pc:sldChg chg="modSp mod">
        <pc:chgData name="Paul Winser" userId="c3146a91-e6bd-4264-bd86-e164e04bc32d" providerId="ADAL" clId="{D217F892-268F-495F-8511-2714B93270DA}" dt="2024-11-12T18:05:29.451" v="673" actId="12"/>
        <pc:sldMkLst>
          <pc:docMk/>
          <pc:sldMk cId="3643676220" sldId="423"/>
        </pc:sldMkLst>
        <pc:spChg chg="mod">
          <ac:chgData name="Paul Winser" userId="c3146a91-e6bd-4264-bd86-e164e04bc32d" providerId="ADAL" clId="{D217F892-268F-495F-8511-2714B93270DA}" dt="2024-11-12T18:05:29.451" v="673" actId="12"/>
          <ac:spMkLst>
            <pc:docMk/>
            <pc:sldMk cId="3643676220" sldId="423"/>
            <ac:spMk id="34819" creationId="{453C7683-8588-7ABC-32E0-8A4E68218620}"/>
          </ac:spMkLst>
        </pc:spChg>
      </pc:sldChg>
      <pc:sldChg chg="modSp mod">
        <pc:chgData name="Paul Winser" userId="c3146a91-e6bd-4264-bd86-e164e04bc32d" providerId="ADAL" clId="{D217F892-268F-495F-8511-2714B93270DA}" dt="2024-11-12T17:53:26.114" v="78" actId="12"/>
        <pc:sldMkLst>
          <pc:docMk/>
          <pc:sldMk cId="4182906055" sldId="424"/>
        </pc:sldMkLst>
        <pc:spChg chg="mod">
          <ac:chgData name="Paul Winser" userId="c3146a91-e6bd-4264-bd86-e164e04bc32d" providerId="ADAL" clId="{D217F892-268F-495F-8511-2714B93270DA}" dt="2024-11-12T17:53:26.114" v="78" actId="12"/>
          <ac:spMkLst>
            <pc:docMk/>
            <pc:sldMk cId="4182906055" sldId="424"/>
            <ac:spMk id="34819" creationId="{453C7683-8588-7ABC-32E0-8A4E68218620}"/>
          </ac:spMkLst>
        </pc:spChg>
      </pc:sldChg>
      <pc:sldChg chg="delSp modSp mod">
        <pc:chgData name="Paul Winser" userId="c3146a91-e6bd-4264-bd86-e164e04bc32d" providerId="ADAL" clId="{D217F892-268F-495F-8511-2714B93270DA}" dt="2024-11-12T17:54:48.682" v="127" actId="20577"/>
        <pc:sldMkLst>
          <pc:docMk/>
          <pc:sldMk cId="1351727792" sldId="425"/>
        </pc:sldMkLst>
        <pc:spChg chg="del">
          <ac:chgData name="Paul Winser" userId="c3146a91-e6bd-4264-bd86-e164e04bc32d" providerId="ADAL" clId="{D217F892-268F-495F-8511-2714B93270DA}" dt="2024-11-12T17:54:39.127" v="123" actId="478"/>
          <ac:spMkLst>
            <pc:docMk/>
            <pc:sldMk cId="1351727792" sldId="425"/>
            <ac:spMk id="2" creationId="{1EE79F81-66CB-D24A-931D-7FB3A26D9061}"/>
          </ac:spMkLst>
        </pc:spChg>
        <pc:spChg chg="mod">
          <ac:chgData name="Paul Winser" userId="c3146a91-e6bd-4264-bd86-e164e04bc32d" providerId="ADAL" clId="{D217F892-268F-495F-8511-2714B93270DA}" dt="2024-11-12T17:54:48.682" v="127" actId="20577"/>
          <ac:spMkLst>
            <pc:docMk/>
            <pc:sldMk cId="1351727792" sldId="425"/>
            <ac:spMk id="34819" creationId="{453C7683-8588-7ABC-32E0-8A4E68218620}"/>
          </ac:spMkLst>
        </pc:spChg>
      </pc:sldChg>
      <pc:sldChg chg="modSp mod">
        <pc:chgData name="Paul Winser" userId="c3146a91-e6bd-4264-bd86-e164e04bc32d" providerId="ADAL" clId="{D217F892-268F-495F-8511-2714B93270DA}" dt="2024-11-12T17:58:16.133" v="249" actId="1076"/>
        <pc:sldMkLst>
          <pc:docMk/>
          <pc:sldMk cId="3631367945" sldId="426"/>
        </pc:sldMkLst>
        <pc:spChg chg="mod">
          <ac:chgData name="Paul Winser" userId="c3146a91-e6bd-4264-bd86-e164e04bc32d" providerId="ADAL" clId="{D217F892-268F-495F-8511-2714B93270DA}" dt="2024-11-12T17:58:14.451" v="248" actId="14100"/>
          <ac:spMkLst>
            <pc:docMk/>
            <pc:sldMk cId="3631367945" sldId="426"/>
            <ac:spMk id="2" creationId="{AAE3BC04-7EE2-B187-57ED-5755A4EC23F6}"/>
          </ac:spMkLst>
        </pc:spChg>
        <pc:spChg chg="mod">
          <ac:chgData name="Paul Winser" userId="c3146a91-e6bd-4264-bd86-e164e04bc32d" providerId="ADAL" clId="{D217F892-268F-495F-8511-2714B93270DA}" dt="2024-11-12T17:57:59.613" v="238" actId="12"/>
          <ac:spMkLst>
            <pc:docMk/>
            <pc:sldMk cId="3631367945" sldId="426"/>
            <ac:spMk id="34819" creationId="{453C7683-8588-7ABC-32E0-8A4E68218620}"/>
          </ac:spMkLst>
        </pc:spChg>
        <pc:picChg chg="mod">
          <ac:chgData name="Paul Winser" userId="c3146a91-e6bd-4264-bd86-e164e04bc32d" providerId="ADAL" clId="{D217F892-268F-495F-8511-2714B93270DA}" dt="2024-11-12T17:58:16.133" v="249" actId="1076"/>
          <ac:picMkLst>
            <pc:docMk/>
            <pc:sldMk cId="3631367945" sldId="426"/>
            <ac:picMk id="6146" creationId="{00000000-0000-0000-0000-000000000000}"/>
          </ac:picMkLst>
        </pc:picChg>
      </pc:sldChg>
      <pc:sldChg chg="delSp modSp mod">
        <pc:chgData name="Paul Winser" userId="c3146a91-e6bd-4264-bd86-e164e04bc32d" providerId="ADAL" clId="{D217F892-268F-495F-8511-2714B93270DA}" dt="2024-11-12T18:00:26.395" v="345" actId="1076"/>
        <pc:sldMkLst>
          <pc:docMk/>
          <pc:sldMk cId="4057205295" sldId="427"/>
        </pc:sldMkLst>
        <pc:spChg chg="del">
          <ac:chgData name="Paul Winser" userId="c3146a91-e6bd-4264-bd86-e164e04bc32d" providerId="ADAL" clId="{D217F892-268F-495F-8511-2714B93270DA}" dt="2024-11-12T18:00:23.028" v="343" actId="478"/>
          <ac:spMkLst>
            <pc:docMk/>
            <pc:sldMk cId="4057205295" sldId="427"/>
            <ac:spMk id="2" creationId="{02680D17-385E-CCD8-0BA8-8C6FAD64273A}"/>
          </ac:spMkLst>
        </pc:spChg>
        <pc:spChg chg="mod">
          <ac:chgData name="Paul Winser" userId="c3146a91-e6bd-4264-bd86-e164e04bc32d" providerId="ADAL" clId="{D217F892-268F-495F-8511-2714B93270DA}" dt="2024-11-12T18:00:26.395" v="345" actId="1076"/>
          <ac:spMkLst>
            <pc:docMk/>
            <pc:sldMk cId="4057205295" sldId="427"/>
            <ac:spMk id="34819" creationId="{453C7683-8588-7ABC-32E0-8A4E68218620}"/>
          </ac:spMkLst>
        </pc:spChg>
      </pc:sldChg>
      <pc:sldChg chg="delSp modSp mod">
        <pc:chgData name="Paul Winser" userId="c3146a91-e6bd-4264-bd86-e164e04bc32d" providerId="ADAL" clId="{D217F892-268F-495F-8511-2714B93270DA}" dt="2024-11-12T18:02:32.631" v="472" actId="20577"/>
        <pc:sldMkLst>
          <pc:docMk/>
          <pc:sldMk cId="2502188395" sldId="428"/>
        </pc:sldMkLst>
        <pc:spChg chg="del">
          <ac:chgData name="Paul Winser" userId="c3146a91-e6bd-4264-bd86-e164e04bc32d" providerId="ADAL" clId="{D217F892-268F-495F-8511-2714B93270DA}" dt="2024-11-12T18:01:59.508" v="425" actId="478"/>
          <ac:spMkLst>
            <pc:docMk/>
            <pc:sldMk cId="2502188395" sldId="428"/>
            <ac:spMk id="2" creationId="{80DCBD57-B6F6-3C46-83C1-430A5624DCBD}"/>
          </ac:spMkLst>
        </pc:spChg>
        <pc:spChg chg="mod">
          <ac:chgData name="Paul Winser" userId="c3146a91-e6bd-4264-bd86-e164e04bc32d" providerId="ADAL" clId="{D217F892-268F-495F-8511-2714B93270DA}" dt="2024-11-12T18:02:32.631" v="472" actId="20577"/>
          <ac:spMkLst>
            <pc:docMk/>
            <pc:sldMk cId="2502188395" sldId="428"/>
            <ac:spMk id="34819" creationId="{453C7683-8588-7ABC-32E0-8A4E68218620}"/>
          </ac:spMkLst>
        </pc:spChg>
      </pc:sldChg>
      <pc:sldChg chg="modSp mod">
        <pc:chgData name="Paul Winser" userId="c3146a91-e6bd-4264-bd86-e164e04bc32d" providerId="ADAL" clId="{D217F892-268F-495F-8511-2714B93270DA}" dt="2024-11-12T18:04:37.237" v="618" actId="20577"/>
        <pc:sldMkLst>
          <pc:docMk/>
          <pc:sldMk cId="145391361" sldId="429"/>
        </pc:sldMkLst>
        <pc:spChg chg="mod">
          <ac:chgData name="Paul Winser" userId="c3146a91-e6bd-4264-bd86-e164e04bc32d" providerId="ADAL" clId="{D217F892-268F-495F-8511-2714B93270DA}" dt="2024-11-12T18:04:37.237" v="618" actId="20577"/>
          <ac:spMkLst>
            <pc:docMk/>
            <pc:sldMk cId="145391361" sldId="429"/>
            <ac:spMk id="34819" creationId="{453C7683-8588-7ABC-32E0-8A4E68218620}"/>
          </ac:spMkLst>
        </pc:spChg>
      </pc:sldChg>
      <pc:sldChg chg="modSp mod">
        <pc:chgData name="Paul Winser" userId="c3146a91-e6bd-4264-bd86-e164e04bc32d" providerId="ADAL" clId="{D217F892-268F-495F-8511-2714B93270DA}" dt="2024-11-12T18:08:21.257" v="716" actId="1076"/>
        <pc:sldMkLst>
          <pc:docMk/>
          <pc:sldMk cId="3156511139" sldId="430"/>
        </pc:sldMkLst>
        <pc:spChg chg="mod">
          <ac:chgData name="Paul Winser" userId="c3146a91-e6bd-4264-bd86-e164e04bc32d" providerId="ADAL" clId="{D217F892-268F-495F-8511-2714B93270DA}" dt="2024-11-12T18:05:59.001" v="689" actId="12"/>
          <ac:spMkLst>
            <pc:docMk/>
            <pc:sldMk cId="3156511139" sldId="430"/>
            <ac:spMk id="34819" creationId="{453C7683-8588-7ABC-32E0-8A4E68218620}"/>
          </ac:spMkLst>
        </pc:spChg>
        <pc:picChg chg="mod">
          <ac:chgData name="Paul Winser" userId="c3146a91-e6bd-4264-bd86-e164e04bc32d" providerId="ADAL" clId="{D217F892-268F-495F-8511-2714B93270DA}" dt="2024-11-12T18:08:21.257" v="716" actId="1076"/>
          <ac:picMkLst>
            <pc:docMk/>
            <pc:sldMk cId="3156511139" sldId="430"/>
            <ac:picMk id="13314" creationId="{00000000-0000-0000-0000-000000000000}"/>
          </ac:picMkLst>
        </pc:picChg>
      </pc:sldChg>
      <pc:sldChg chg="modSp mod">
        <pc:chgData name="Paul Winser" userId="c3146a91-e6bd-4264-bd86-e164e04bc32d" providerId="ADAL" clId="{D217F892-268F-495F-8511-2714B93270DA}" dt="2024-11-12T18:08:28.434" v="718" actId="1076"/>
        <pc:sldMkLst>
          <pc:docMk/>
          <pc:sldMk cId="3091838622" sldId="431"/>
        </pc:sldMkLst>
        <pc:spChg chg="mod">
          <ac:chgData name="Paul Winser" userId="c3146a91-e6bd-4264-bd86-e164e04bc32d" providerId="ADAL" clId="{D217F892-268F-495F-8511-2714B93270DA}" dt="2024-11-12T18:08:27.433" v="717" actId="1076"/>
          <ac:spMkLst>
            <pc:docMk/>
            <pc:sldMk cId="3091838622" sldId="431"/>
            <ac:spMk id="2" creationId="{8785392B-D98E-0475-3D12-71453D280BFA}"/>
          </ac:spMkLst>
        </pc:spChg>
        <pc:spChg chg="mod">
          <ac:chgData name="Paul Winser" userId="c3146a91-e6bd-4264-bd86-e164e04bc32d" providerId="ADAL" clId="{D217F892-268F-495F-8511-2714B93270DA}" dt="2024-11-12T18:06:09.705" v="695" actId="12"/>
          <ac:spMkLst>
            <pc:docMk/>
            <pc:sldMk cId="3091838622" sldId="431"/>
            <ac:spMk id="34819" creationId="{453C7683-8588-7ABC-32E0-8A4E68218620}"/>
          </ac:spMkLst>
        </pc:spChg>
        <pc:picChg chg="mod">
          <ac:chgData name="Paul Winser" userId="c3146a91-e6bd-4264-bd86-e164e04bc32d" providerId="ADAL" clId="{D217F892-268F-495F-8511-2714B93270DA}" dt="2024-11-12T18:08:28.434" v="718" actId="1076"/>
          <ac:picMkLst>
            <pc:docMk/>
            <pc:sldMk cId="3091838622" sldId="431"/>
            <ac:picMk id="14338" creationId="{00000000-0000-0000-0000-000000000000}"/>
          </ac:picMkLst>
        </pc:picChg>
      </pc:sldChg>
      <pc:sldChg chg="modSp mod">
        <pc:chgData name="Paul Winser" userId="c3146a91-e6bd-4264-bd86-e164e04bc32d" providerId="ADAL" clId="{D217F892-268F-495F-8511-2714B93270DA}" dt="2024-11-12T18:06:51.625" v="712" actId="12"/>
        <pc:sldMkLst>
          <pc:docMk/>
          <pc:sldMk cId="1942254869" sldId="432"/>
        </pc:sldMkLst>
        <pc:spChg chg="mod">
          <ac:chgData name="Paul Winser" userId="c3146a91-e6bd-4264-bd86-e164e04bc32d" providerId="ADAL" clId="{D217F892-268F-495F-8511-2714B93270DA}" dt="2024-11-12T18:06:51.625" v="712" actId="12"/>
          <ac:spMkLst>
            <pc:docMk/>
            <pc:sldMk cId="1942254869" sldId="432"/>
            <ac:spMk id="34819" creationId="{453C7683-8588-7ABC-32E0-8A4E68218620}"/>
          </ac:spMkLst>
        </pc:spChg>
        <pc:picChg chg="mod">
          <ac:chgData name="Paul Winser" userId="c3146a91-e6bd-4264-bd86-e164e04bc32d" providerId="ADAL" clId="{D217F892-268F-495F-8511-2714B93270DA}" dt="2024-11-12T18:06:47.851" v="710" actId="1076"/>
          <ac:picMkLst>
            <pc:docMk/>
            <pc:sldMk cId="1942254869" sldId="432"/>
            <ac:picMk id="3" creationId="{8C92C001-6CD4-2101-50A2-49C4624BE11B}"/>
          </ac:picMkLst>
        </pc:picChg>
      </pc:sldChg>
      <pc:sldChg chg="delSp modSp mod">
        <pc:chgData name="Paul Winser" userId="c3146a91-e6bd-4264-bd86-e164e04bc32d" providerId="ADAL" clId="{D217F892-268F-495F-8511-2714B93270DA}" dt="2024-11-12T17:52:16.974" v="48" actId="12"/>
        <pc:sldMkLst>
          <pc:docMk/>
          <pc:sldMk cId="3539044004" sldId="437"/>
        </pc:sldMkLst>
        <pc:spChg chg="del">
          <ac:chgData name="Paul Winser" userId="c3146a91-e6bd-4264-bd86-e164e04bc32d" providerId="ADAL" clId="{D217F892-268F-495F-8511-2714B93270DA}" dt="2024-11-12T17:52:10.023" v="44" actId="478"/>
          <ac:spMkLst>
            <pc:docMk/>
            <pc:sldMk cId="3539044004" sldId="437"/>
            <ac:spMk id="2" creationId="{8B978224-21AC-C41F-9F6E-8CCF685795E5}"/>
          </ac:spMkLst>
        </pc:spChg>
        <pc:spChg chg="mod">
          <ac:chgData name="Paul Winser" userId="c3146a91-e6bd-4264-bd86-e164e04bc32d" providerId="ADAL" clId="{D217F892-268F-495F-8511-2714B93270DA}" dt="2024-11-12T17:52:16.974" v="48" actId="12"/>
          <ac:spMkLst>
            <pc:docMk/>
            <pc:sldMk cId="3539044004" sldId="437"/>
            <ac:spMk id="34819" creationId="{453C7683-8588-7ABC-32E0-8A4E68218620}"/>
          </ac:spMkLst>
        </pc:spChg>
      </pc:sldChg>
      <pc:sldChg chg="delSp modSp mod">
        <pc:chgData name="Paul Winser" userId="c3146a91-e6bd-4264-bd86-e164e04bc32d" providerId="ADAL" clId="{D217F892-268F-495F-8511-2714B93270DA}" dt="2024-11-12T18:07:23.040" v="714" actId="1076"/>
        <pc:sldMkLst>
          <pc:docMk/>
          <pc:sldMk cId="2233116974" sldId="438"/>
        </pc:sldMkLst>
        <pc:spChg chg="del">
          <ac:chgData name="Paul Winser" userId="c3146a91-e6bd-4264-bd86-e164e04bc32d" providerId="ADAL" clId="{D217F892-268F-495F-8511-2714B93270DA}" dt="2024-11-12T17:53:53.396" v="85" actId="478"/>
          <ac:spMkLst>
            <pc:docMk/>
            <pc:sldMk cId="2233116974" sldId="438"/>
            <ac:spMk id="2" creationId="{81F443C8-28E6-F60B-29AC-E8B379E90760}"/>
          </ac:spMkLst>
        </pc:spChg>
        <pc:spChg chg="mod">
          <ac:chgData name="Paul Winser" userId="c3146a91-e6bd-4264-bd86-e164e04bc32d" providerId="ADAL" clId="{D217F892-268F-495F-8511-2714B93270DA}" dt="2024-11-12T18:07:17.684" v="713" actId="6549"/>
          <ac:spMkLst>
            <pc:docMk/>
            <pc:sldMk cId="2233116974" sldId="438"/>
            <ac:spMk id="34819" creationId="{453C7683-8588-7ABC-32E0-8A4E68218620}"/>
          </ac:spMkLst>
        </pc:spChg>
        <pc:picChg chg="mod">
          <ac:chgData name="Paul Winser" userId="c3146a91-e6bd-4264-bd86-e164e04bc32d" providerId="ADAL" clId="{D217F892-268F-495F-8511-2714B93270DA}" dt="2024-11-12T18:07:23.040" v="714" actId="1076"/>
          <ac:picMkLst>
            <pc:docMk/>
            <pc:sldMk cId="2233116974" sldId="438"/>
            <ac:picMk id="4" creationId="{D0D55764-CB4C-253D-B318-E00CB05B8226}"/>
          </ac:picMkLst>
        </pc:picChg>
      </pc:sldChg>
      <pc:sldChg chg="delSp modSp mod">
        <pc:chgData name="Paul Winser" userId="c3146a91-e6bd-4264-bd86-e164e04bc32d" providerId="ADAL" clId="{D217F892-268F-495F-8511-2714B93270DA}" dt="2024-11-12T17:56:13.157" v="159" actId="478"/>
        <pc:sldMkLst>
          <pc:docMk/>
          <pc:sldMk cId="1129581997" sldId="439"/>
        </pc:sldMkLst>
        <pc:spChg chg="del">
          <ac:chgData name="Paul Winser" userId="c3146a91-e6bd-4264-bd86-e164e04bc32d" providerId="ADAL" clId="{D217F892-268F-495F-8511-2714B93270DA}" dt="2024-11-12T17:56:13.157" v="159" actId="478"/>
          <ac:spMkLst>
            <pc:docMk/>
            <pc:sldMk cId="1129581997" sldId="439"/>
            <ac:spMk id="2" creationId="{3EAAF0C7-965F-6E30-F769-A24E4BBF0889}"/>
          </ac:spMkLst>
        </pc:spChg>
        <pc:spChg chg="mod">
          <ac:chgData name="Paul Winser" userId="c3146a91-e6bd-4264-bd86-e164e04bc32d" providerId="ADAL" clId="{D217F892-268F-495F-8511-2714B93270DA}" dt="2024-11-12T17:56:11.223" v="158" actId="403"/>
          <ac:spMkLst>
            <pc:docMk/>
            <pc:sldMk cId="1129581997" sldId="439"/>
            <ac:spMk id="34819" creationId="{453C7683-8588-7ABC-32E0-8A4E68218620}"/>
          </ac:spMkLst>
        </pc:spChg>
      </pc:sldChg>
      <pc:sldChg chg="delSp modSp mod">
        <pc:chgData name="Paul Winser" userId="c3146a91-e6bd-4264-bd86-e164e04bc32d" providerId="ADAL" clId="{D217F892-268F-495F-8511-2714B93270DA}" dt="2024-11-12T18:07:37.736" v="715" actId="1076"/>
        <pc:sldMkLst>
          <pc:docMk/>
          <pc:sldMk cId="2769744912" sldId="441"/>
        </pc:sldMkLst>
        <pc:spChg chg="mod">
          <ac:chgData name="Paul Winser" userId="c3146a91-e6bd-4264-bd86-e164e04bc32d" providerId="ADAL" clId="{D217F892-268F-495F-8511-2714B93270DA}" dt="2024-11-12T17:57:43.867" v="232" actId="27636"/>
          <ac:spMkLst>
            <pc:docMk/>
            <pc:sldMk cId="2769744912" sldId="441"/>
            <ac:spMk id="34819" creationId="{453C7683-8588-7ABC-32E0-8A4E68218620}"/>
          </ac:spMkLst>
        </pc:spChg>
        <pc:spChg chg="mod">
          <ac:chgData name="Paul Winser" userId="c3146a91-e6bd-4264-bd86-e164e04bc32d" providerId="ADAL" clId="{D217F892-268F-495F-8511-2714B93270DA}" dt="2024-11-12T18:07:37.736" v="715" actId="1076"/>
          <ac:spMkLst>
            <pc:docMk/>
            <pc:sldMk cId="2769744912" sldId="441"/>
            <ac:spMk id="34820" creationId="{8DCD7CE1-603D-4D59-3DBB-C13C0B6505F0}"/>
          </ac:spMkLst>
        </pc:spChg>
        <pc:spChg chg="del">
          <ac:chgData name="Paul Winser" userId="c3146a91-e6bd-4264-bd86-e164e04bc32d" providerId="ADAL" clId="{D217F892-268F-495F-8511-2714B93270DA}" dt="2024-11-12T17:57:14.052" v="214" actId="478"/>
          <ac:spMkLst>
            <pc:docMk/>
            <pc:sldMk cId="2769744912" sldId="441"/>
            <ac:spMk id="34825" creationId="{42F7DB81-F8A1-1E12-C70C-53C025FE3890}"/>
          </ac:spMkLst>
        </pc:spChg>
        <pc:picChg chg="mod">
          <ac:chgData name="Paul Winser" userId="c3146a91-e6bd-4264-bd86-e164e04bc32d" providerId="ADAL" clId="{D217F892-268F-495F-8511-2714B93270DA}" dt="2024-11-12T17:57:16.874" v="216" actId="1076"/>
          <ac:picMkLst>
            <pc:docMk/>
            <pc:sldMk cId="2769744912" sldId="441"/>
            <ac:picMk id="3" creationId="{A0CDDCE7-7569-7650-77D3-4A706AFDBD52}"/>
          </ac:picMkLst>
        </pc:picChg>
      </pc:sldChg>
      <pc:sldChg chg="delSp modSp mod">
        <pc:chgData name="Paul Winser" userId="c3146a91-e6bd-4264-bd86-e164e04bc32d" providerId="ADAL" clId="{D217F892-268F-495F-8511-2714B93270DA}" dt="2024-11-12T17:59:28.932" v="301" actId="478"/>
        <pc:sldMkLst>
          <pc:docMk/>
          <pc:sldMk cId="2660873069" sldId="442"/>
        </pc:sldMkLst>
        <pc:spChg chg="del">
          <ac:chgData name="Paul Winser" userId="c3146a91-e6bd-4264-bd86-e164e04bc32d" providerId="ADAL" clId="{D217F892-268F-495F-8511-2714B93270DA}" dt="2024-11-12T17:59:28.932" v="301" actId="478"/>
          <ac:spMkLst>
            <pc:docMk/>
            <pc:sldMk cId="2660873069" sldId="442"/>
            <ac:spMk id="2" creationId="{3103EA2B-920F-FC93-79F9-5E4C80D1143B}"/>
          </ac:spMkLst>
        </pc:spChg>
        <pc:spChg chg="mod">
          <ac:chgData name="Paul Winser" userId="c3146a91-e6bd-4264-bd86-e164e04bc32d" providerId="ADAL" clId="{D217F892-268F-495F-8511-2714B93270DA}" dt="2024-11-12T17:59:27.127" v="300" actId="20577"/>
          <ac:spMkLst>
            <pc:docMk/>
            <pc:sldMk cId="2660873069" sldId="442"/>
            <ac:spMk id="34819" creationId="{453C7683-8588-7ABC-32E0-8A4E68218620}"/>
          </ac:spMkLst>
        </pc:spChg>
      </pc:sldChg>
      <pc:sldChg chg="delSp modSp mod">
        <pc:chgData name="Paul Winser" userId="c3146a91-e6bd-4264-bd86-e164e04bc32d" providerId="ADAL" clId="{D217F892-268F-495F-8511-2714B93270DA}" dt="2024-11-12T18:00:00.667" v="315" actId="14100"/>
        <pc:sldMkLst>
          <pc:docMk/>
          <pc:sldMk cId="1807432862" sldId="443"/>
        </pc:sldMkLst>
        <pc:spChg chg="mod">
          <ac:chgData name="Paul Winser" userId="c3146a91-e6bd-4264-bd86-e164e04bc32d" providerId="ADAL" clId="{D217F892-268F-495F-8511-2714B93270DA}" dt="2024-11-12T18:00:00.667" v="315" actId="14100"/>
          <ac:spMkLst>
            <pc:docMk/>
            <pc:sldMk cId="1807432862" sldId="443"/>
            <ac:spMk id="34819" creationId="{453C7683-8588-7ABC-32E0-8A4E68218620}"/>
          </ac:spMkLst>
        </pc:spChg>
        <pc:spChg chg="del">
          <ac:chgData name="Paul Winser" userId="c3146a91-e6bd-4264-bd86-e164e04bc32d" providerId="ADAL" clId="{D217F892-268F-495F-8511-2714B93270DA}" dt="2024-11-12T17:59:55.927" v="312" actId="478"/>
          <ac:spMkLst>
            <pc:docMk/>
            <pc:sldMk cId="1807432862" sldId="443"/>
            <ac:spMk id="34825" creationId="{918849B1-DD84-5731-A343-DA87F8F89FBB}"/>
          </ac:spMkLst>
        </pc:spChg>
        <pc:picChg chg="mod">
          <ac:chgData name="Paul Winser" userId="c3146a91-e6bd-4264-bd86-e164e04bc32d" providerId="ADAL" clId="{D217F892-268F-495F-8511-2714B93270DA}" dt="2024-11-12T17:59:58.450" v="314" actId="1076"/>
          <ac:picMkLst>
            <pc:docMk/>
            <pc:sldMk cId="1807432862" sldId="443"/>
            <ac:picMk id="3" creationId="{4CBFEB0C-174A-9D5D-2BBD-DC018B276188}"/>
          </ac:picMkLst>
        </pc:picChg>
      </pc:sldChg>
      <pc:sldChg chg="delSp modSp mod">
        <pc:chgData name="Paul Winser" userId="c3146a91-e6bd-4264-bd86-e164e04bc32d" providerId="ADAL" clId="{D217F892-268F-495F-8511-2714B93270DA}" dt="2024-11-12T18:00:45.591" v="353" actId="6549"/>
        <pc:sldMkLst>
          <pc:docMk/>
          <pc:sldMk cId="1095428379" sldId="444"/>
        </pc:sldMkLst>
        <pc:spChg chg="del">
          <ac:chgData name="Paul Winser" userId="c3146a91-e6bd-4264-bd86-e164e04bc32d" providerId="ADAL" clId="{D217F892-268F-495F-8511-2714B93270DA}" dt="2024-11-12T18:00:41.142" v="352" actId="478"/>
          <ac:spMkLst>
            <pc:docMk/>
            <pc:sldMk cId="1095428379" sldId="444"/>
            <ac:spMk id="5" creationId="{370D3F93-4EFB-70EB-7D07-C23A4C0B9E1B}"/>
          </ac:spMkLst>
        </pc:spChg>
        <pc:spChg chg="mod">
          <ac:chgData name="Paul Winser" userId="c3146a91-e6bd-4264-bd86-e164e04bc32d" providerId="ADAL" clId="{D217F892-268F-495F-8511-2714B93270DA}" dt="2024-11-12T18:00:45.591" v="353" actId="6549"/>
          <ac:spMkLst>
            <pc:docMk/>
            <pc:sldMk cId="1095428379" sldId="444"/>
            <ac:spMk id="34819" creationId="{453C7683-8588-7ABC-32E0-8A4E68218620}"/>
          </ac:spMkLst>
        </pc:spChg>
        <pc:picChg chg="mod">
          <ac:chgData name="Paul Winser" userId="c3146a91-e6bd-4264-bd86-e164e04bc32d" providerId="ADAL" clId="{D217F892-268F-495F-8511-2714B93270DA}" dt="2024-11-12T18:00:39.883" v="351" actId="1076"/>
          <ac:picMkLst>
            <pc:docMk/>
            <pc:sldMk cId="1095428379" sldId="444"/>
            <ac:picMk id="3" creationId="{905E5FE6-216E-331D-5C64-42678FC4B18A}"/>
          </ac:picMkLst>
        </pc:picChg>
      </pc:sldChg>
      <pc:sldChg chg="delSp modSp mod">
        <pc:chgData name="Paul Winser" userId="c3146a91-e6bd-4264-bd86-e164e04bc32d" providerId="ADAL" clId="{D217F892-268F-495F-8511-2714B93270DA}" dt="2024-11-12T18:01:53.850" v="423" actId="14100"/>
        <pc:sldMkLst>
          <pc:docMk/>
          <pc:sldMk cId="3066222365" sldId="445"/>
        </pc:sldMkLst>
        <pc:spChg chg="del">
          <ac:chgData name="Paul Winser" userId="c3146a91-e6bd-4264-bd86-e164e04bc32d" providerId="ADAL" clId="{D217F892-268F-495F-8511-2714B93270DA}" dt="2024-11-12T18:01:49.350" v="421" actId="478"/>
          <ac:spMkLst>
            <pc:docMk/>
            <pc:sldMk cId="3066222365" sldId="445"/>
            <ac:spMk id="2" creationId="{16625E29-A718-78D7-B944-1BE590DE3362}"/>
          </ac:spMkLst>
        </pc:spChg>
        <pc:spChg chg="mod">
          <ac:chgData name="Paul Winser" userId="c3146a91-e6bd-4264-bd86-e164e04bc32d" providerId="ADAL" clId="{D217F892-268F-495F-8511-2714B93270DA}" dt="2024-11-12T18:01:53.850" v="423" actId="14100"/>
          <ac:spMkLst>
            <pc:docMk/>
            <pc:sldMk cId="3066222365" sldId="445"/>
            <ac:spMk id="34819" creationId="{453C7683-8588-7ABC-32E0-8A4E68218620}"/>
          </ac:spMkLst>
        </pc:spChg>
      </pc:sldChg>
      <pc:sldChg chg="delSp modSp mod">
        <pc:chgData name="Paul Winser" userId="c3146a91-e6bd-4264-bd86-e164e04bc32d" providerId="ADAL" clId="{D217F892-268F-495F-8511-2714B93270DA}" dt="2024-11-12T18:03:16.324" v="526" actId="207"/>
        <pc:sldMkLst>
          <pc:docMk/>
          <pc:sldMk cId="293165093" sldId="446"/>
        </pc:sldMkLst>
        <pc:spChg chg="del">
          <ac:chgData name="Paul Winser" userId="c3146a91-e6bd-4264-bd86-e164e04bc32d" providerId="ADAL" clId="{D217F892-268F-495F-8511-2714B93270DA}" dt="2024-11-12T18:02:42.146" v="478" actId="478"/>
          <ac:spMkLst>
            <pc:docMk/>
            <pc:sldMk cId="293165093" sldId="446"/>
            <ac:spMk id="2" creationId="{CDC59B11-FFDF-8DC1-C69E-A1F063A46AB8}"/>
          </ac:spMkLst>
        </pc:spChg>
        <pc:spChg chg="mod">
          <ac:chgData name="Paul Winser" userId="c3146a91-e6bd-4264-bd86-e164e04bc32d" providerId="ADAL" clId="{D217F892-268F-495F-8511-2714B93270DA}" dt="2024-11-12T18:03:16.324" v="526" actId="207"/>
          <ac:spMkLst>
            <pc:docMk/>
            <pc:sldMk cId="293165093" sldId="446"/>
            <ac:spMk id="34819" creationId="{453C7683-8588-7ABC-32E0-8A4E68218620}"/>
          </ac:spMkLst>
        </pc:spChg>
      </pc:sldChg>
      <pc:sldChg chg="modSp mod">
        <pc:chgData name="Paul Winser" userId="c3146a91-e6bd-4264-bd86-e164e04bc32d" providerId="ADAL" clId="{D217F892-268F-495F-8511-2714B93270DA}" dt="2024-11-12T18:04:02.260" v="571" actId="20577"/>
        <pc:sldMkLst>
          <pc:docMk/>
          <pc:sldMk cId="3565517133" sldId="447"/>
        </pc:sldMkLst>
        <pc:spChg chg="mod">
          <ac:chgData name="Paul Winser" userId="c3146a91-e6bd-4264-bd86-e164e04bc32d" providerId="ADAL" clId="{D217F892-268F-495F-8511-2714B93270DA}" dt="2024-11-12T18:04:02.260" v="571" actId="20577"/>
          <ac:spMkLst>
            <pc:docMk/>
            <pc:sldMk cId="3565517133" sldId="447"/>
            <ac:spMk id="34819" creationId="{453C7683-8588-7ABC-32E0-8A4E68218620}"/>
          </ac:spMkLst>
        </pc:spChg>
      </pc:sldChg>
      <pc:sldChg chg="modSp mod">
        <pc:chgData name="Paul Winser" userId="c3146a91-e6bd-4264-bd86-e164e04bc32d" providerId="ADAL" clId="{D217F892-268F-495F-8511-2714B93270DA}" dt="2024-11-12T18:05:15.720" v="668" actId="207"/>
        <pc:sldMkLst>
          <pc:docMk/>
          <pc:sldMk cId="1752987944" sldId="448"/>
        </pc:sldMkLst>
        <pc:spChg chg="mod">
          <ac:chgData name="Paul Winser" userId="c3146a91-e6bd-4264-bd86-e164e04bc32d" providerId="ADAL" clId="{D217F892-268F-495F-8511-2714B93270DA}" dt="2024-11-12T18:05:15.720" v="668" actId="207"/>
          <ac:spMkLst>
            <pc:docMk/>
            <pc:sldMk cId="1752987944" sldId="448"/>
            <ac:spMk id="34819" creationId="{453C7683-8588-7ABC-32E0-8A4E68218620}"/>
          </ac:spMkLst>
        </pc:spChg>
      </pc:sldChg>
      <pc:sldChg chg="delSp modSp add mod">
        <pc:chgData name="Paul Winser" userId="c3146a91-e6bd-4264-bd86-e164e04bc32d" providerId="ADAL" clId="{D217F892-268F-495F-8511-2714B93270DA}" dt="2024-11-12T17:51:10.569" v="25" actId="403"/>
        <pc:sldMkLst>
          <pc:docMk/>
          <pc:sldMk cId="2001262598" sldId="449"/>
        </pc:sldMkLst>
        <pc:spChg chg="del">
          <ac:chgData name="Paul Winser" userId="c3146a91-e6bd-4264-bd86-e164e04bc32d" providerId="ADAL" clId="{D217F892-268F-495F-8511-2714B93270DA}" dt="2024-11-12T17:51:05.547" v="22" actId="478"/>
          <ac:spMkLst>
            <pc:docMk/>
            <pc:sldMk cId="2001262598" sldId="449"/>
            <ac:spMk id="2" creationId="{699BD15B-3963-FABF-4FCC-DDEEA7CBAF24}"/>
          </ac:spMkLst>
        </pc:spChg>
        <pc:spChg chg="mod">
          <ac:chgData name="Paul Winser" userId="c3146a91-e6bd-4264-bd86-e164e04bc32d" providerId="ADAL" clId="{D217F892-268F-495F-8511-2714B93270DA}" dt="2024-11-12T17:51:10.569" v="25" actId="403"/>
          <ac:spMkLst>
            <pc:docMk/>
            <pc:sldMk cId="2001262598" sldId="449"/>
            <ac:spMk id="30723" creationId="{3C79F714-332C-AB63-03D9-E6D0CAE0623F}"/>
          </ac:spMkLst>
        </pc:spChg>
      </pc:sldChg>
    </pc:docChg>
  </pc:docChgLst>
  <pc:docChgLst>
    <pc:chgData name="Paul Winser" userId="c3146a91-e6bd-4264-bd86-e164e04bc32d" providerId="ADAL" clId="{B61191DC-BB64-464E-A476-82D0FF3D7780}"/>
    <pc:docChg chg="custSel addSld modSld">
      <pc:chgData name="Paul Winser" userId="c3146a91-e6bd-4264-bd86-e164e04bc32d" providerId="ADAL" clId="{B61191DC-BB64-464E-A476-82D0FF3D7780}" dt="2024-12-11T23:12:29.764" v="2" actId="478"/>
      <pc:docMkLst>
        <pc:docMk/>
      </pc:docMkLst>
      <pc:sldChg chg="addSp delSp modSp add mod modTransition">
        <pc:chgData name="Paul Winser" userId="c3146a91-e6bd-4264-bd86-e164e04bc32d" providerId="ADAL" clId="{B61191DC-BB64-464E-A476-82D0FF3D7780}" dt="2024-12-11T23:12:29.764" v="2" actId="478"/>
        <pc:sldMkLst>
          <pc:docMk/>
          <pc:sldMk cId="0" sldId="450"/>
        </pc:sldMkLst>
        <pc:spChg chg="del">
          <ac:chgData name="Paul Winser" userId="c3146a91-e6bd-4264-bd86-e164e04bc32d" providerId="ADAL" clId="{B61191DC-BB64-464E-A476-82D0FF3D7780}" dt="2024-12-11T23:12:29.764" v="2" actId="478"/>
          <ac:spMkLst>
            <pc:docMk/>
            <pc:sldMk cId="0" sldId="450"/>
            <ac:spMk id="2" creationId="{ED85F61A-6ECB-DE87-E7F2-2627C1F6B1C2}"/>
          </ac:spMkLst>
        </pc:spChg>
        <pc:spChg chg="add mod">
          <ac:chgData name="Paul Winser" userId="c3146a91-e6bd-4264-bd86-e164e04bc32d" providerId="ADAL" clId="{B61191DC-BB64-464E-A476-82D0FF3D7780}" dt="2024-12-11T23:12:27.577" v="1"/>
          <ac:spMkLst>
            <pc:docMk/>
            <pc:sldMk cId="0" sldId="450"/>
            <ac:spMk id="3" creationId="{E0E1A04D-8E9A-0CF8-732B-AFB1F2B890D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dirty="0"/>
              <a:t>A basic introduction to the unit.</a:t>
            </a:r>
          </a:p>
          <a:p>
            <a:pPr rtl="1"/>
            <a:endParaRPr lang="en-GB" altLang="en-US" b="1" dirty="0"/>
          </a:p>
          <a:p>
            <a:pPr rtl="1"/>
            <a:r>
              <a:rPr lang="ar" b="1" dirty="0"/>
              <a:t>Useful websites:</a:t>
            </a:r>
          </a:p>
          <a:p>
            <a:pPr rtl="1"/>
            <a:endParaRPr lang="en-GB" altLang="en-US" b="1" dirty="0"/>
          </a:p>
          <a:p>
            <a:pPr rtl="1"/>
            <a:r>
              <a:rPr lang="ar" b="0" dirty="0"/>
              <a:t>Country dependant.</a:t>
            </a:r>
          </a:p>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48706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2959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066113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14136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551135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30842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56673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041394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821503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882056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94947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186533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058652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5750780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215934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55866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932190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061851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140892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214635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681073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646644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8892406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203977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663322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77442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7006367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148940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319670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148929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766613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393711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318139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rtl="1"/>
              <a:t>38</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sz="1200"/>
            </a:lvl1pPr>
          </a:lstStyle>
          <a:p>
            <a:pPr rtl="1">
              <a:defRPr/>
            </a:pPr>
            <a:r>
              <a:rPr lang="ar"/>
              <a:t>© Pearson Education Ltd 2024.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pn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4" name="Picture 8">
            <a:extLst>
              <a:ext uri="{FF2B5EF4-FFF2-40B4-BE49-F238E27FC236}">
                <a16:creationId xmlns:a16="http://schemas.microsoft.com/office/drawing/2014/main" id="{0482E03C-3E54-EA06-1429-C3309A6C250A}"/>
              </a:ext>
            </a:extLst>
          </p:cNvPr>
          <p:cNvPicPr>
            <a:picLocks noChangeAspect="1" noChangeArrowheads="1"/>
          </p:cNvPicPr>
          <p:nvPr userDrawn="1"/>
        </p:nvPicPr>
        <p:blipFill rotWithShape="1">
          <a:blip r:embed="rId16" cstate="hqprint">
            <a:extLst>
              <a:ext uri="{28A0092B-C50C-407E-A947-70E740481C1C}">
                <a14:useLocalDpi xmlns:a14="http://schemas.microsoft.com/office/drawing/2010/main"/>
              </a:ext>
            </a:extLst>
          </a:blip>
          <a:srcRect l="51576"/>
          <a:stretch/>
        </p:blipFill>
        <p:spPr bwMode="auto">
          <a:xfrm>
            <a:off x="0" y="-2956"/>
            <a:ext cx="9140764"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D4D8FF7-D6E1-CE65-C2DC-58EF8CA99E0C}"/>
              </a:ext>
            </a:extLst>
          </p:cNvPr>
          <p:cNvSpPr txBox="1"/>
          <p:nvPr userDrawn="1"/>
        </p:nvSpPr>
        <p:spPr>
          <a:xfrm>
            <a:off x="107504" y="40536"/>
            <a:ext cx="4608512" cy="954107"/>
          </a:xfrm>
          <a:prstGeom prst="rect">
            <a:avLst/>
          </a:prstGeom>
          <a:noFill/>
        </p:spPr>
        <p:txBody>
          <a:bodyPr wrap="square" rtlCol="0">
            <a:spAutoFit/>
          </a:bodyPr>
          <a:lstStyle/>
          <a:p>
            <a:pPr algn="l"/>
            <a:r>
              <a:rPr lang="ar-EG" sz="2800" b="1">
                <a:latin typeface="Sakkal Majalla" panose="02000000000000000000" pitchFamily="2" charset="-78"/>
                <a:cs typeface="Sakkal Majalla" panose="02000000000000000000" pitchFamily="2" charset="-78"/>
              </a:rPr>
              <a:t>شهادة </a:t>
            </a:r>
            <a:r>
              <a:rPr lang="en-US" sz="2800" b="1">
                <a:latin typeface="Sakkal Majalla" panose="02000000000000000000" pitchFamily="2" charset="-78"/>
                <a:cs typeface="Sakkal Majalla" panose="02000000000000000000" pitchFamily="2" charset="-78"/>
              </a:rPr>
              <a:t>BTEC International</a:t>
            </a:r>
            <a:r>
              <a:rPr lang="ar-EG" sz="2800" b="1">
                <a:latin typeface="Sakkal Majalla" panose="02000000000000000000" pitchFamily="2" charset="-78"/>
                <a:cs typeface="Sakkal Majalla" panose="02000000000000000000" pitchFamily="2" charset="-78"/>
              </a:rPr>
              <a:t> للمستوى 3 </a:t>
            </a:r>
          </a:p>
          <a:p>
            <a:pPr algn="l"/>
            <a:r>
              <a:rPr lang="ar-EG" sz="2800" b="1">
                <a:latin typeface="Sakkal Majalla" panose="02000000000000000000" pitchFamily="2" charset="-78"/>
                <a:cs typeface="Sakkal Majalla" panose="02000000000000000000" pitchFamily="2" charset="-78"/>
              </a:rPr>
              <a:t>الهندسة</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68.xml"/><Relationship Id="rId4" Type="http://schemas.openxmlformats.org/officeDocument/2006/relationships/image" Target="../media/image15.jpeg"/></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 Id="rId4" Type="http://schemas.openxmlformats.org/officeDocument/2006/relationships/image" Target="../media/image16.jpeg"/></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 Id="rId4" Type="http://schemas.openxmlformats.org/officeDocument/2006/relationships/image" Target="../media/image17.jpeg"/></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68.xml"/><Relationship Id="rId4" Type="http://schemas.openxmlformats.org/officeDocument/2006/relationships/image" Target="../media/image18.jpeg"/></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 Id="rId4" Type="http://schemas.openxmlformats.org/officeDocument/2006/relationships/image" Target="../media/image19.jpe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 Id="rId4" Type="http://schemas.openxmlformats.org/officeDocument/2006/relationships/image" Target="../media/image20.jpe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 Id="rId4" Type="http://schemas.openxmlformats.org/officeDocument/2006/relationships/image" Target="../media/image21.jpe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7.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77.xml"/></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77.xml"/><Relationship Id="rId4" Type="http://schemas.openxmlformats.org/officeDocument/2006/relationships/image" Target="../media/image22.jpeg"/></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77.xml"/><Relationship Id="rId4" Type="http://schemas.openxmlformats.org/officeDocument/2006/relationships/image" Target="../media/image23.jpeg"/></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7.xml"/><Relationship Id="rId1" Type="http://schemas.openxmlformats.org/officeDocument/2006/relationships/slideLayout" Target="../slideLayouts/slideLayout77.xml"/><Relationship Id="rId4" Type="http://schemas.openxmlformats.org/officeDocument/2006/relationships/image" Target="../media/image24.jpeg"/></Relationships>
</file>

<file path=ppt/slides/_rels/slide3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8.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66</a:t>
            </a:r>
            <a:br>
              <a:rPr lang="en-GB" altLang="en-US" sz="4600" dirty="0"/>
            </a:br>
            <a:r>
              <a:rPr lang="ar" sz="4600" dirty="0"/>
              <a:t>أنظمة التعليق، والتوجيه،  </a:t>
            </a:r>
            <a:br>
              <a:rPr lang="en-GB" altLang="en-US" sz="4600" dirty="0"/>
            </a:br>
            <a:r>
              <a:rPr lang="ar" sz="4600" dirty="0"/>
              <a:t>والكبح في المركبات الخفيفة</a:t>
            </a:r>
            <a:br>
              <a:rPr lang="en-GB" altLang="en-US" sz="4600" dirty="0"/>
            </a:br>
            <a:endParaRPr lang="en-GB" altLang="en-US" sz="4600"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p:txBody>
          <a:bodyPr wrap="square" rtlCol="1" anchor="t">
            <a:normAutofit lnSpcReduction="10000"/>
          </a:bodyPr>
          <a:lstStyle/>
          <a:p>
            <a:pPr algn="ctr" rtl="1">
              <a:lnSpc>
                <a:spcPct val="90000"/>
              </a:lnSpc>
              <a:spcAft>
                <a:spcPts val="600"/>
              </a:spcAft>
              <a:defRPr/>
            </a:pPr>
            <a:r>
              <a:rPr lang="ar" sz="1400" dirty="0"/>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8EDDC6C1-16F6-6198-D7FC-C92CD7565202}"/>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179512" y="1556792"/>
            <a:ext cx="8712967" cy="28803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2000" b="1" dirty="0"/>
              <a:t>موجز عن الوحدة</a:t>
            </a:r>
          </a:p>
          <a:p>
            <a:pPr marL="0" indent="0" algn="ctr" rtl="1">
              <a:buNone/>
            </a:pPr>
            <a:endParaRPr lang="en-GB" sz="2000" b="1" dirty="0"/>
          </a:p>
          <a:p>
            <a:pPr marL="0" indent="0" algn="ctr" rtl="1">
              <a:buNone/>
            </a:pPr>
            <a:r>
              <a:rPr lang="ar" sz="2000" dirty="0"/>
              <a:t>تعرف هذه الوحدة المتعلمين بالمكونات والوظائف الأساسية لأنظمة التعليق والتوجيه والكبح في المركبات الخفيفة. </a:t>
            </a:r>
            <a:r>
              <a:rPr lang="ar-EG" sz="2000" dirty="0"/>
              <a:t>س</a:t>
            </a:r>
            <a:r>
              <a:rPr lang="ar" sz="2000" dirty="0"/>
              <a:t>يدرس</a:t>
            </a:r>
            <a:r>
              <a:rPr lang="ar-EG" sz="2000" dirty="0"/>
              <a:t> المتعلمون</a:t>
            </a:r>
            <a:r>
              <a:rPr lang="ar" sz="2000" dirty="0"/>
              <a:t> كيفية عمل هذه الأنظمة معًا لضمان استقرار المركبة وقيادتها وسلامتها على النحو الأمثل. وتتناول الوحدة كلًا من التطورات التكنولوجية التقليدية والحديثة، مثل نظام التعليق التكيفي وأنظمة </a:t>
            </a:r>
            <a:r>
              <a:rPr lang="ar-EG" sz="2000" dirty="0"/>
              <a:t>منع انغلاق </a:t>
            </a:r>
            <a:r>
              <a:rPr lang="ar" sz="2000" dirty="0"/>
              <a:t>المكابح، </a:t>
            </a:r>
            <a:r>
              <a:rPr lang="ar-EG" sz="2000" dirty="0"/>
              <a:t>وتركز أيضًا </a:t>
            </a:r>
            <a:r>
              <a:rPr lang="ar" sz="2000" dirty="0"/>
              <a:t>على تشخيص الأعطال وصيانة النظام. </a:t>
            </a:r>
            <a:r>
              <a:rPr lang="ar-EG" sz="2000" dirty="0"/>
              <a:t>عند </a:t>
            </a:r>
            <a:r>
              <a:rPr lang="ar" sz="2000" dirty="0"/>
              <a:t>إكمال هذه الوحدة، سيكتسب المتعلمون المهارات الأساسية لتشخيص </a:t>
            </a:r>
            <a:r>
              <a:rPr lang="ar-EG" sz="2000" dirty="0"/>
              <a:t>أهم </a:t>
            </a:r>
            <a:r>
              <a:rPr lang="ar" sz="2000" dirty="0"/>
              <a:t>أنظمة المركبات وصيانتها وفهمها، و</a:t>
            </a:r>
            <a:r>
              <a:rPr lang="ar-EG" sz="2000" dirty="0"/>
              <a:t>ستؤهلهم </a:t>
            </a:r>
            <a:r>
              <a:rPr lang="ar" sz="2000" dirty="0"/>
              <a:t> لتولي أدوار في هندسة السيارات أو</a:t>
            </a:r>
            <a:r>
              <a:rPr lang="ar-EG" sz="2000" dirty="0"/>
              <a:t> إجراء</a:t>
            </a:r>
            <a:r>
              <a:rPr lang="ar" sz="2000" dirty="0"/>
              <a:t> المزيد من الدراسات المتخصصة.</a:t>
            </a:r>
          </a:p>
        </p:txBody>
      </p:sp>
      <p:sp>
        <p:nvSpPr>
          <p:cNvPr id="2" name="Footer Placeholder 2">
            <a:extLst>
              <a:ext uri="{FF2B5EF4-FFF2-40B4-BE49-F238E27FC236}">
                <a16:creationId xmlns:a16="http://schemas.microsoft.com/office/drawing/2014/main" id="{A12B7C18-BA68-7E39-F912-7151A90D8D2A}"/>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467543" y="1412776"/>
            <a:ext cx="8208912" cy="30963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2000" b="1" dirty="0"/>
              <a:t>مقدمة الوحدة</a:t>
            </a:r>
          </a:p>
          <a:p>
            <a:pPr marL="0" indent="0" algn="ctr" rtl="1">
              <a:buNone/>
            </a:pPr>
            <a:endParaRPr lang="en-GB" altLang="en-US" sz="2000" b="1" dirty="0"/>
          </a:p>
          <a:p>
            <a:pPr marL="0" indent="0" algn="ctr" rtl="1">
              <a:buNone/>
            </a:pPr>
            <a:r>
              <a:rPr lang="ar" sz="2000" dirty="0"/>
              <a:t>لقد تطورت أنظمة المركبات الخفيفة الحديثة </a:t>
            </a:r>
            <a:r>
              <a:rPr lang="ar-EG" sz="2000" dirty="0"/>
              <a:t>تطورًا كبيرًا بغية </a:t>
            </a:r>
            <a:r>
              <a:rPr lang="ar" sz="2000" dirty="0"/>
              <a:t>تعزيز السلامة والراحة والتحكم في ظروف القيادة المختلفة. ومع التقدم في تكنولوجيا المحرك وناقل الحركة، باتت سيارات اليوم تعتمد </a:t>
            </a:r>
            <a:r>
              <a:rPr lang="ar-EG" sz="2000" dirty="0"/>
              <a:t>اعتمادًا كبيرًا </a:t>
            </a:r>
            <a:r>
              <a:rPr lang="ar" sz="2000" dirty="0"/>
              <a:t>على أنظمة التعليق والتوجيه والكبح </a:t>
            </a:r>
            <a:r>
              <a:rPr lang="ar-EG" sz="2000" dirty="0"/>
              <a:t>ذات التصاميم الممتازة</a:t>
            </a:r>
            <a:r>
              <a:rPr lang="ar" sz="2000" dirty="0"/>
              <a:t>. توفر هذه الوحدة دراسة متعمقة لهذه المكونات الأساسية، وتستكشف كل شيء بدءًا من إعدادات التعليق المستقل إلى الأنظمة المتقدمة مثل التوجيه الإلكتروني المعزز بالطاقة ونظام </a:t>
            </a:r>
            <a:r>
              <a:rPr lang="ar-EG" sz="2000" dirty="0"/>
              <a:t>منع انغلاق </a:t>
            </a:r>
            <a:r>
              <a:rPr lang="ar" sz="2000" dirty="0"/>
              <a:t>المكابح. </a:t>
            </a:r>
            <a:r>
              <a:rPr lang="ar-EG" sz="2000" dirty="0"/>
              <a:t>س</a:t>
            </a:r>
            <a:r>
              <a:rPr lang="ar" sz="2000" dirty="0"/>
              <a:t>يكتسب المتعلمون </a:t>
            </a:r>
            <a:r>
              <a:rPr lang="ar-EG" sz="2000" dirty="0"/>
              <a:t>ب</a:t>
            </a:r>
            <a:r>
              <a:rPr lang="ar" sz="2000" dirty="0"/>
              <a:t>الفحص العملي والتمارين التشخيصية فهمًا عمليًا لكيفية الحفاظ على هذه الأنظمة وتحديد المشكلات الشائعة. وتزود هذه الوحدة المتعلمين بالمهارات العملية والمعرفة لضمان سلامة السيارة وقيادتها وموثوقيته</a:t>
            </a:r>
            <a:r>
              <a:rPr lang="ar-EG" sz="2000" dirty="0"/>
              <a:t>ا</a:t>
            </a:r>
            <a:r>
              <a:rPr lang="ar" sz="2000" dirty="0"/>
              <a:t>، ما يوفر أساسًا قويًا لمزيد من الدراسات أو الالتحاق بمهن في صيانة السيارات والهندسة.</a:t>
            </a:r>
          </a:p>
        </p:txBody>
      </p:sp>
      <p:sp>
        <p:nvSpPr>
          <p:cNvPr id="2" name="Footer Placeholder 2">
            <a:extLst>
              <a:ext uri="{FF2B5EF4-FFF2-40B4-BE49-F238E27FC236}">
                <a16:creationId xmlns:a16="http://schemas.microsoft.com/office/drawing/2014/main" id="{DA0F9501-0C00-3F43-13E8-C1967E620064}"/>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2001262598"/>
      </p:ext>
    </p:extLst>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340768"/>
            <a:ext cx="8229600" cy="7182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3800" dirty="0"/>
              <a:t>نتاجات التعلم</a:t>
            </a:r>
            <a:endParaRPr lang="en-GB" altLang="en-US" sz="38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79209" y="2058988"/>
            <a:ext cx="7991475" cy="42503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endParaRPr lang="en-GB" altLang="en-US" sz="2200" b="1" dirty="0"/>
          </a:p>
          <a:p>
            <a:pPr marL="404813" indent="-387350" defTabSz="431800" rtl="1">
              <a:buNone/>
            </a:pPr>
            <a:r>
              <a:rPr lang="ar" sz="2200" b="1" dirty="0"/>
              <a:t>أ	تعرُّف وظيفة مختلف أنواع أنظمة التعليق وآلية تشغيلها</a:t>
            </a:r>
          </a:p>
          <a:p>
            <a:pPr marL="404813" indent="-387350" defTabSz="431800" rtl="1">
              <a:buNone/>
            </a:pPr>
            <a:endParaRPr lang="en-GB" altLang="en-US" sz="2200" b="1" dirty="0"/>
          </a:p>
          <a:p>
            <a:pPr marL="404813" indent="-387350" defTabSz="431800" rtl="1">
              <a:buNone/>
            </a:pPr>
            <a:r>
              <a:rPr lang="ar" sz="2200" b="1" dirty="0"/>
              <a:t>ب	تعرّف وظيفة مكونات نظام التوجيه وآلية تشغيلها</a:t>
            </a:r>
          </a:p>
          <a:p>
            <a:pPr marL="404813" indent="-387350" defTabSz="431800" rtl="1">
              <a:buNone/>
            </a:pPr>
            <a:endParaRPr lang="en-GB" altLang="en-US" sz="2200" b="1" dirty="0"/>
          </a:p>
          <a:p>
            <a:pPr marL="404813" indent="-387350" defTabSz="431800" rtl="1">
              <a:buNone/>
            </a:pPr>
            <a:r>
              <a:rPr lang="ar" sz="2200" b="1" dirty="0"/>
              <a:t>ج	تعرّف وظيفة مكونات نظام الكبح وآلية تشغيلها</a:t>
            </a:r>
          </a:p>
          <a:p>
            <a:pPr marL="404813" indent="-387350" defTabSz="431800" rtl="1">
              <a:buNone/>
            </a:pPr>
            <a:endParaRPr lang="en-GB" altLang="en-US" sz="2200" b="1" dirty="0"/>
          </a:p>
          <a:p>
            <a:pPr marL="404813" indent="-387350" defTabSz="431800" rtl="1">
              <a:buNone/>
            </a:pPr>
            <a:r>
              <a:rPr lang="ar" sz="2200" b="1" dirty="0"/>
              <a:t>د	اكتساب القدرة على تنفيذ إجراءات اكتشاف الأعطال في أنظمة التوجيه والكبح والتعليق</a:t>
            </a:r>
          </a:p>
        </p:txBody>
      </p:sp>
      <p:sp>
        <p:nvSpPr>
          <p:cNvPr id="2" name="Footer Placeholder 2">
            <a:extLst>
              <a:ext uri="{FF2B5EF4-FFF2-40B4-BE49-F238E27FC236}">
                <a16:creationId xmlns:a16="http://schemas.microsoft.com/office/drawing/2014/main" id="{AB8E6A6E-4ED1-E575-12C9-C3C23195F57D}"/>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أ</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799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تعرُّف وظيفة مختلف أنواع أنظمة التعليق وآلية تشغيلها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 </a:t>
            </a:r>
            <a:br>
              <a:rPr lang="en-GB" altLang="en-US" sz="3800" b="1" dirty="0">
                <a:latin typeface="Sakkal Majalla" panose="02000000000000000000" pitchFamily="2" charset="-78"/>
                <a:cs typeface="Sakkal Majalla" panose="02000000000000000000" pitchFamily="2" charset="-78"/>
              </a:rPr>
            </a:br>
            <a:endParaRPr lang="en-GB" altLang="en-US"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9AE7857D-4B17-F18F-2952-24423370A04A}"/>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340768"/>
            <a:ext cx="8496944" cy="47525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الهدف: </a:t>
            </a:r>
            <a:r>
              <a:rPr lang="ar" sz="1600" dirty="0"/>
              <a:t>فهم الغرض من أنظمة التعليق وأنواعها ومكوناتها في المركبات الخفيفة. يتناول هذا القسم متطلبات التعليق وأنواع التعليق المستقل والمخمدات وتأثير تصميم الهيكل على اختيار نظام التعليق.</a:t>
            </a:r>
          </a:p>
          <a:p>
            <a:pPr marL="0" indent="0" algn="ctr" rtl="1">
              <a:buNone/>
            </a:pPr>
            <a:endParaRPr lang="en-GB" sz="1600" dirty="0"/>
          </a:p>
          <a:p>
            <a:pPr marL="0" indent="0" rtl="1">
              <a:buNone/>
            </a:pPr>
            <a:r>
              <a:rPr lang="ar" sz="1600" b="1" dirty="0">
                <a:solidFill>
                  <a:schemeClr val="accent5">
                    <a:lumMod val="50000"/>
                  </a:schemeClr>
                </a:solidFill>
              </a:rPr>
              <a:t>متطلبات التعليق</a:t>
            </a:r>
          </a:p>
          <a:p>
            <a:pPr marL="463550" indent="-285750" rtl="1"/>
            <a:r>
              <a:rPr lang="ar" sz="1600" b="1" dirty="0"/>
              <a:t>الراحة</a:t>
            </a:r>
            <a:r>
              <a:rPr lang="ar" sz="1600" dirty="0"/>
              <a:t>: تُصمم أنظمة التعليق لامتصاص صدمات الطريق، ما يحسّن من راحة الركاب بالحد من تأثير المطبات والاهتزازات.</a:t>
            </a:r>
          </a:p>
          <a:p>
            <a:pPr marL="463550" indent="-285750" rtl="1"/>
            <a:r>
              <a:rPr lang="ar" sz="1600" b="1" dirty="0"/>
              <a:t>الثبات على الطرق</a:t>
            </a:r>
            <a:r>
              <a:rPr lang="ar" sz="1600" dirty="0"/>
              <a:t>: تتمثل إحدى الوظائف الرئيسة لنظام التعليق في إبقاء الإطارات على تلامس بالطريق، من ما يضمن الثبات والتحكم والقيادة، خاصةً في أثناء التسارع والكبح والانعطاف.</a:t>
            </a:r>
          </a:p>
          <a:p>
            <a:pPr marL="463550" indent="-285750" rtl="1"/>
            <a:r>
              <a:rPr lang="ar" sz="1600" b="1" dirty="0"/>
              <a:t>الوزن المعلق</a:t>
            </a:r>
            <a:r>
              <a:rPr lang="ar" sz="1600" dirty="0"/>
              <a:t>: الوزن الذي يحمله نظام التعليق، بما في ذلك جسم السيارة والمكونات الداخلية. حيث يساعد التصميم المناسب لنظام التعليق على إدارة هذا الوزن وتحسين راحة الركوب والقيادة.</a:t>
            </a:r>
          </a:p>
          <a:p>
            <a:pPr marL="463550" indent="-285750" rtl="1"/>
            <a:r>
              <a:rPr lang="ar" sz="1600" b="1" dirty="0"/>
              <a:t>الوزن غير المعلق</a:t>
            </a:r>
            <a:r>
              <a:rPr lang="ar" sz="1600" dirty="0"/>
              <a:t>: الوزن الذي لا يحمله نظام التعليق، مثل العجلات والإطارات والمكابح. ويؤدي تقليل الوزن غير المعلق إلى تحسين الثبات والاستجابة على الطريق.</a:t>
            </a:r>
          </a:p>
          <a:p>
            <a:pPr marL="177800" indent="0" rtl="1">
              <a:buNone/>
            </a:pPr>
            <a:endParaRPr lang="en-GB" sz="1600" dirty="0"/>
          </a:p>
          <a:p>
            <a:pPr marL="0" indent="0" rtl="1">
              <a:buNone/>
            </a:pPr>
            <a:r>
              <a:rPr lang="ar" sz="1600" b="1" dirty="0">
                <a:solidFill>
                  <a:schemeClr val="accent5">
                    <a:lumMod val="50000"/>
                  </a:schemeClr>
                </a:solidFill>
              </a:rPr>
              <a:t>أنواع التعليق الأمامي المستقل</a:t>
            </a:r>
          </a:p>
          <a:p>
            <a:pPr marL="463550" indent="-285750" rtl="1"/>
            <a:r>
              <a:rPr lang="ar" sz="1600" b="1" dirty="0"/>
              <a:t> ذراعا تحكم غير متساويي الطول</a:t>
            </a:r>
            <a:r>
              <a:rPr lang="ar" sz="1600" dirty="0"/>
              <a:t>: ذراعَا تحكّم علوي وسفلي غير متساويَي الطول، يُتيحا تحكّمًا أفضل في حركة العجلات. ويوفرا تحكمًا جيدًا وثباتًا من خلال الحفاظ على محاذاة العجلات في أثناء حركة التعليق.</a:t>
            </a:r>
          </a:p>
          <a:p>
            <a:pPr marL="463550" indent="-285750" rtl="1"/>
            <a:r>
              <a:rPr lang="ar" sz="1600" b="1" dirty="0"/>
              <a:t>روابط عرضية ودعامة: </a:t>
            </a:r>
            <a:r>
              <a:rPr lang="ar" sz="1600" dirty="0"/>
              <a:t> يستخدم ذراع تحكم سفلي واحد مع دعامة تتصل بإطار السيارة. ويوفر هذا التصميم الشائع في المركبات المدمجة البساطة والفعالية من حيث التكلفة مع الحفاظ على الثبات الفعال على الطريق.</a:t>
            </a:r>
          </a:p>
          <a:p>
            <a:pPr marL="0" indent="0" rtl="1">
              <a:buNone/>
            </a:pPr>
            <a:endParaRPr lang="en-GB" sz="1600" dirty="0"/>
          </a:p>
          <a:p>
            <a:pPr marL="0" indent="0" rtl="1">
              <a:buNone/>
            </a:pP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940152" y="332656"/>
            <a:ext cx="3157095"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أ1 أنظمة التعليق</a:t>
            </a:r>
          </a:p>
        </p:txBody>
      </p:sp>
      <p:sp>
        <p:nvSpPr>
          <p:cNvPr id="2" name="Footer Placeholder 2">
            <a:extLst>
              <a:ext uri="{FF2B5EF4-FFF2-40B4-BE49-F238E27FC236}">
                <a16:creationId xmlns:a16="http://schemas.microsoft.com/office/drawing/2014/main" id="{5638806C-D8F8-5391-7927-C95C0759437F}"/>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4160411727"/>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4" y="1340768"/>
            <a:ext cx="8496944"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endParaRPr lang="en-GB" sz="1600" dirty="0"/>
          </a:p>
          <a:p>
            <a:pPr marL="0" indent="0" rtl="1">
              <a:buNone/>
            </a:pPr>
            <a:r>
              <a:rPr lang="ar" sz="1600" b="1" dirty="0">
                <a:solidFill>
                  <a:schemeClr val="accent5">
                    <a:lumMod val="50000"/>
                  </a:schemeClr>
                </a:solidFill>
              </a:rPr>
              <a:t>أنواع التعليق الخلفي المستقل</a:t>
            </a:r>
          </a:p>
          <a:p>
            <a:pPr marL="463550" indent="-285750" rtl="1"/>
            <a:r>
              <a:rPr lang="ar" sz="1600" b="1" dirty="0"/>
              <a:t>ذراع السحب</a:t>
            </a:r>
            <a:r>
              <a:rPr lang="ar" sz="1600" dirty="0"/>
              <a:t>: العجلة موصلة بذراع سحب يدور في الأمام، ما يسمح بالتحكم في الحركة الرأسية. ويوفر تحكمًا مستقرًا ويشيع استخدامه في المركبات الخفيفة لتحسين مرونة نظام التعليق الخلفي.</a:t>
            </a:r>
          </a:p>
          <a:p>
            <a:pPr marL="463550" indent="-285750" rtl="1"/>
            <a:r>
              <a:rPr lang="ar" sz="1600" b="1" dirty="0"/>
              <a:t>أذرع السحب المستقلة وشبه المستقلة</a:t>
            </a:r>
            <a:r>
              <a:rPr lang="ar" sz="1600" dirty="0"/>
              <a:t>: </a:t>
            </a:r>
            <a:r>
              <a:rPr lang="ar" sz="1600" b="1" dirty="0"/>
              <a:t>ذراع السحب المستقل</a:t>
            </a:r>
            <a:r>
              <a:rPr lang="ar" sz="1600" dirty="0"/>
              <a:t>: يتحاذى مباشرة مع مركز العجلة، ما يوفر حركة تعليق بسيطة ومستقرة.</a:t>
            </a:r>
          </a:p>
          <a:p>
            <a:pPr marL="463550" indent="-285750" rtl="1"/>
            <a:r>
              <a:rPr lang="ar" sz="1600" b="1" dirty="0"/>
              <a:t>ذراع السحب شبه المستقل</a:t>
            </a:r>
            <a:r>
              <a:rPr lang="ar" sz="1600" dirty="0"/>
              <a:t>: يوضع بزاوية على منتصف العجلة، ما يوفر التوازن بين الثبات والراحة.</a:t>
            </a:r>
          </a:p>
          <a:p>
            <a:pPr marL="463550" indent="-285750" rtl="1"/>
            <a:r>
              <a:rPr lang="ar" sz="1600" b="1" dirty="0"/>
              <a:t>روابط عرضية غير متساوية</a:t>
            </a:r>
            <a:r>
              <a:rPr lang="ar" sz="1600" dirty="0"/>
              <a:t>: روابط ذات أطوال مختلفة للتحكم الدقيق في حركة العجلات وتغييرات الكامبر، ما يعزز من القدرة على التحكم والثبات.</a:t>
            </a:r>
          </a:p>
          <a:p>
            <a:pPr marL="463550" indent="-285750" rtl="1"/>
            <a:r>
              <a:rPr lang="ar" sz="1600" b="1" dirty="0"/>
              <a:t>روابط عرضية ودعامة: </a:t>
            </a:r>
            <a:r>
              <a:rPr lang="ar" sz="1600" dirty="0"/>
              <a:t> على غرار تصميم نظام التعليق الأمامي، يوفر هذا الإعداد توازنًا بين الراحة والقيادة من خلال التحكم في حركة العجلات بفعالية.</a:t>
            </a:r>
          </a:p>
          <a:p>
            <a:pPr marL="463550" indent="-285750" rtl="1"/>
            <a:r>
              <a:rPr lang="ar" sz="1600" b="1" dirty="0"/>
              <a:t>التعليق الهوائي</a:t>
            </a:r>
            <a:r>
              <a:rPr lang="ar" sz="1600" dirty="0"/>
              <a:t>: يستخدم النوابض الهوائية بدلًا من النوابض المعدنية التقليدية، ما يسمح بضبط ارتفاع المركبة وتحسين الراحة، وهو مفيد بشكل خاص للمركبات الثقيلة.</a:t>
            </a:r>
          </a:p>
          <a:p>
            <a:pPr marL="0" indent="0" rtl="1">
              <a:buNone/>
            </a:pPr>
            <a:endParaRPr lang="en-GB" sz="1600" dirty="0"/>
          </a:p>
          <a:p>
            <a:pPr marL="0" indent="0" rtl="1">
              <a:buNone/>
            </a:pP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868144" y="332656"/>
            <a:ext cx="3229103"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أ1 أنظمة التعليق</a:t>
            </a:r>
          </a:p>
        </p:txBody>
      </p:sp>
      <p:sp>
        <p:nvSpPr>
          <p:cNvPr id="2" name="Footer Placeholder 2">
            <a:extLst>
              <a:ext uri="{FF2B5EF4-FFF2-40B4-BE49-F238E27FC236}">
                <a16:creationId xmlns:a16="http://schemas.microsoft.com/office/drawing/2014/main" id="{20F4BCB3-D41F-C768-9098-4671271C22BF}"/>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3539044004"/>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03848" y="1340768"/>
            <a:ext cx="5760640" cy="47525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dirty="0">
                <a:solidFill>
                  <a:schemeClr val="accent5">
                    <a:lumMod val="50000"/>
                  </a:schemeClr>
                </a:solidFill>
              </a:rPr>
              <a:t>المخمدات: التصنيع والتشغيل والأعطال النموذجية</a:t>
            </a:r>
          </a:p>
          <a:p>
            <a:pPr marL="349250" indent="-171450" rtl="1"/>
            <a:r>
              <a:rPr lang="ar" sz="1300" b="1" dirty="0"/>
              <a:t>التصنيع</a:t>
            </a:r>
            <a:r>
              <a:rPr lang="ar" sz="1300" dirty="0"/>
              <a:t>: المخمدات، أو ماصات الصدمات، هي أجهزة أسطوانية تحتوي على سائل هيدروليكي ومكبس. حيث يتحرك مكبس المخمد عبر السائل الهيدروليكي، ويخلق مقاومة تعمل على إبطاء حركة نظام التعليق.</a:t>
            </a:r>
          </a:p>
          <a:p>
            <a:pPr marL="349250" indent="-171450" rtl="1"/>
            <a:r>
              <a:rPr lang="ar" sz="1300" b="1" dirty="0"/>
              <a:t>التشغيل</a:t>
            </a:r>
            <a:r>
              <a:rPr lang="ar" sz="1300" dirty="0"/>
              <a:t>: تتحكم المخمدات في سرعة انضغاط نظام التعليق وارتداده، مانعةً ارتداد المركبة بعد الاصطدام بمطب.</a:t>
            </a:r>
            <a:br>
              <a:rPr lang="en-GB" sz="1300" dirty="0"/>
            </a:br>
            <a:r>
              <a:rPr lang="ar" sz="1300" dirty="0"/>
              <a:t>فهي تلعب دورًا مهمًا في ضمان الاستقرار والراحة من خلال تبديد الطاقة التي تمتصها النوابض.</a:t>
            </a:r>
          </a:p>
          <a:p>
            <a:pPr marL="349250" indent="-171450" rtl="1"/>
            <a:r>
              <a:rPr lang="ar" sz="1300" dirty="0"/>
              <a:t>الأعطال النموذجية: </a:t>
            </a:r>
            <a:r>
              <a:rPr lang="ar" sz="1300" b="1" dirty="0"/>
              <a:t>تسرب السائل</a:t>
            </a:r>
            <a:r>
              <a:rPr lang="ar" sz="1300" dirty="0"/>
              <a:t>: مشكلة شائعة تقلل من فعالية المخمد، من ما يؤدي إلى سوء القيادة وزيادة الارتداد.</a:t>
            </a:r>
          </a:p>
          <a:p>
            <a:pPr marL="349250" indent="-171450" rtl="1"/>
            <a:r>
              <a:rPr lang="ar" sz="1300" b="1" dirty="0"/>
              <a:t>الجِلَب المتلفة:</a:t>
            </a:r>
            <a:r>
              <a:rPr lang="ar" sz="1300" dirty="0"/>
              <a:t> يمكن أن تسبب الضوضاء والاهتزاز وتقليل التحكم في المخمد.</a:t>
            </a:r>
          </a:p>
          <a:p>
            <a:pPr marL="349250" indent="-171450" rtl="1"/>
            <a:r>
              <a:rPr lang="ar" sz="1300" b="1" dirty="0"/>
              <a:t>قوة التخميد المخفضة</a:t>
            </a:r>
            <a:r>
              <a:rPr lang="ar" sz="1300" dirty="0"/>
              <a:t>: قد تفقد المخمدات بمرور الوقت قدرتها على مقاومة حركة نظام التعليق، من ما يؤدي إلى قيادة أكثر صعوبة وسوء التحكم.</a:t>
            </a:r>
          </a:p>
          <a:p>
            <a:pPr marL="0" indent="0" rtl="1">
              <a:buNone/>
            </a:pPr>
            <a:endParaRPr lang="en-GB" sz="1300" b="1" dirty="0">
              <a:solidFill>
                <a:schemeClr val="accent5">
                  <a:lumMod val="50000"/>
                </a:schemeClr>
              </a:solidFill>
            </a:endParaRPr>
          </a:p>
          <a:p>
            <a:pPr marL="0" indent="0" rtl="1">
              <a:buNone/>
            </a:pPr>
            <a:r>
              <a:rPr lang="ar" sz="1300" b="1" dirty="0">
                <a:solidFill>
                  <a:schemeClr val="accent5">
                    <a:lumMod val="50000"/>
                  </a:schemeClr>
                </a:solidFill>
              </a:rPr>
              <a:t>تأثير تصميم الهيكل على نوع التعليق</a:t>
            </a:r>
          </a:p>
          <a:p>
            <a:pPr marL="354012" indent="-171450" rtl="1"/>
            <a:r>
              <a:rPr lang="ar" sz="1300" b="1" dirty="0"/>
              <a:t>الهيكل السلّمي</a:t>
            </a:r>
            <a:r>
              <a:rPr lang="ar" sz="1300" dirty="0"/>
              <a:t>: تصميم تقليدي للهيكل، يوفر قاعدة قوية، وغالبًا ما يستخدم في الشاحنات والمركبات الكبيرة. ويُعد مناسبًا لأنظمة التعليق القوية القادرة على التعامل مع الأحمال الثقيلة والأراضي الوعرة.</a:t>
            </a:r>
          </a:p>
          <a:p>
            <a:pPr marL="354012" indent="-171450" rtl="1"/>
            <a:r>
              <a:rPr lang="ar" sz="1300" b="1" dirty="0"/>
              <a:t>الهيكل أحادي الجسم</a:t>
            </a:r>
            <a:r>
              <a:rPr lang="ar" sz="1300" dirty="0"/>
              <a:t>: تصميم أحادي يكون فيه الجسم والهيكل مُدمجين في وحدة واحدة، ويُستخدم بشكل شائع في سيارات الركوب. ويسمح بتركيب أنظمة تعليق مستقلة تعزز الراحة والقيادة بسبب انخفاض وزن السيارة.</a:t>
            </a:r>
          </a:p>
          <a:p>
            <a:pPr marL="354012" indent="-171450" rtl="1"/>
            <a:r>
              <a:rPr lang="ar" sz="1300" b="1" dirty="0"/>
              <a:t>الهيكل الشبكي</a:t>
            </a:r>
            <a:r>
              <a:rPr lang="ar" sz="1300" dirty="0"/>
              <a:t>: هيكل خفيف الوزن وصلب، غالبًا ما يوجد في السيارات عالية الأداء أو السيارات الرياضية. يُتيح إعدادات تعليق متقدمة تُوفر تحكمًا مُحسنًا وثباتًا على الطريق.</a:t>
            </a:r>
          </a:p>
          <a:p>
            <a:pPr marL="354012" indent="-171450" rtl="1"/>
            <a:r>
              <a:rPr lang="ar" sz="1300" b="1" dirty="0"/>
              <a:t>التركيبات الخارجية الملحومة</a:t>
            </a:r>
            <a:r>
              <a:rPr lang="ar" sz="1300" dirty="0"/>
              <a:t>: مزيج من الألواح الملحومة معًا لتشكيل هيكل قوي وداعم. ويشيع استخدامها في المركبات التي تتطلب توازنًا بين القوة والوزن والمرونة، ما يسمح بتصاميم تعليق متنوعة.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24128" y="116632"/>
            <a:ext cx="3312368"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أ1 أنظمة التعليق</a:t>
            </a:r>
          </a:p>
        </p:txBody>
      </p:sp>
      <p:sp>
        <p:nvSpPr>
          <p:cNvPr id="2" name="Footer Placeholder 2">
            <a:extLst>
              <a:ext uri="{FF2B5EF4-FFF2-40B4-BE49-F238E27FC236}">
                <a16:creationId xmlns:a16="http://schemas.microsoft.com/office/drawing/2014/main" id="{75AFF34C-7161-297B-8DF7-1BF4A71BD4AF}"/>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pic>
        <p:nvPicPr>
          <p:cNvPr id="3" name="Picture 2" descr="A pair of red and gold shock absorbers&#10;&#10;Description automatically generated">
            <a:extLst>
              <a:ext uri="{FF2B5EF4-FFF2-40B4-BE49-F238E27FC236}">
                <a16:creationId xmlns:a16="http://schemas.microsoft.com/office/drawing/2014/main" id="{540A62A3-8A45-4B01-D718-43784FFB7EF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rot="5400000">
            <a:off x="-312458" y="2624826"/>
            <a:ext cx="3815916" cy="2543944"/>
          </a:xfrm>
          <a:prstGeom prst="rect">
            <a:avLst/>
          </a:prstGeom>
        </p:spPr>
      </p:pic>
    </p:spTree>
    <p:extLst>
      <p:ext uri="{BB962C8B-B14F-4D97-AF65-F5344CB8AC3E}">
        <p14:creationId xmlns:p14="http://schemas.microsoft.com/office/powerpoint/2010/main" val="853317201"/>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412776"/>
            <a:ext cx="8712968" cy="53012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تشغيل النظام</a:t>
            </a:r>
          </a:p>
          <a:p>
            <a:pPr rtl="1"/>
            <a:r>
              <a:rPr lang="ar" sz="1400" b="1" dirty="0"/>
              <a:t>أنظمة التعليق التكيفية</a:t>
            </a:r>
            <a:r>
              <a:rPr lang="ar" sz="1400" dirty="0"/>
              <a:t>: مُصممة لضبط صلابة نظام التعليق ومستويات التخميد في الوقت الفعلي بناءً على ظروف القيادة، ما يُحسّن من الراحة والقيادة. حيث ترصد هذه الأنظمة بنشاط سطح الطريق وسرعة المركبة ومدخلات السائق لتوفير إعدادات مثالية لنظام التعليق وفقًا لظروف القيادة المختلفة.</a:t>
            </a:r>
          </a:p>
          <a:p>
            <a:pPr rtl="1"/>
            <a:r>
              <a:rPr lang="ar" sz="1400" b="1" dirty="0"/>
              <a:t>مزايا نظام التعليق التكيفي</a:t>
            </a:r>
            <a:r>
              <a:rPr lang="ar" sz="1400" dirty="0"/>
              <a:t>: يوفر قيادة أكثر سلاسة من خلال التكيف مع عيوب الطريق. كما يعزز التحكم والثبات من خلال تعديل خصائص نظام التعليق لتناسب بيئة القيادة.</a:t>
            </a:r>
          </a:p>
          <a:p>
            <a:pPr marL="0" indent="0" rtl="1">
              <a:buNone/>
            </a:pPr>
            <a:endParaRPr lang="en-GB" sz="1400" b="1" dirty="0">
              <a:solidFill>
                <a:schemeClr val="accent5">
                  <a:lumMod val="50000"/>
                </a:schemeClr>
              </a:solidFill>
            </a:endParaRPr>
          </a:p>
          <a:p>
            <a:pPr marL="0" indent="0" rtl="1">
              <a:buNone/>
            </a:pPr>
            <a:r>
              <a:rPr lang="ar" sz="1400" b="1" dirty="0">
                <a:solidFill>
                  <a:schemeClr val="accent5">
                    <a:lumMod val="50000"/>
                  </a:schemeClr>
                </a:solidFill>
              </a:rPr>
              <a:t>المكونات الرئيسة لأنظمة التعليق التكيفية</a:t>
            </a:r>
          </a:p>
          <a:p>
            <a:pPr rtl="1"/>
            <a:r>
              <a:rPr lang="ar" sz="1400" b="1" dirty="0"/>
              <a:t>وحدة التحكم الإلكترونية</a:t>
            </a:r>
            <a:r>
              <a:rPr lang="ar" sz="1400" dirty="0"/>
              <a:t>: المعالج المركزي لنظام التعليق التكيفي، الذي يفسر البيانات من أجهزة استشعار مختلفة ويضبط إعدادات التعليق. ويتصل بالأنظمة الإلكترونية الأخرى في المركبة لضمان توافق تعديلات التعليق مع ظروف القيادة ومدخلات السائق.</a:t>
            </a:r>
          </a:p>
          <a:p>
            <a:pPr rtl="1"/>
            <a:r>
              <a:rPr lang="ar" sz="1400" b="1" dirty="0"/>
              <a:t>المُنظِم</a:t>
            </a:r>
            <a:r>
              <a:rPr lang="ar" sz="1400" dirty="0"/>
              <a:t>: يتحكم في تدفق السوائل الهيدروليكية أو الهوائية في نظام التعليق، ما يسمح بالتعديل الدقيق لقوى التخميد. يعمل بالتزامن مع وحدة التحكم الإلكترونية لضمان تنظيم سلس وفعال للسائل، ما يؤثر بشكل مباشر في استجابة نظام التعليق.</a:t>
            </a:r>
          </a:p>
          <a:p>
            <a:pPr rtl="1"/>
            <a:r>
              <a:rPr lang="ar" sz="1400" b="1" dirty="0"/>
              <a:t>صمام الملف اللولبي: </a:t>
            </a:r>
            <a:r>
              <a:rPr lang="ar" sz="1400" dirty="0"/>
              <a:t> صمام متحكم فيه كهربائيًّا لضبط تدفق السائل داخل المُخَمِّدات. يعمل بسرعة استجابةً للإشارات الواردة من وحدة التحكم الإلكترونية، لإجراء تغييرات آنية في خصائص التخميد.</a:t>
            </a:r>
          </a:p>
          <a:p>
            <a:pPr marL="0" indent="0" rtl="1">
              <a:buNone/>
            </a:pPr>
            <a:endParaRPr lang="en-GB" sz="1400" b="1" dirty="0">
              <a:solidFill>
                <a:schemeClr val="accent5">
                  <a:lumMod val="50000"/>
                </a:schemeClr>
              </a:solidFill>
            </a:endParaRPr>
          </a:p>
          <a:p>
            <a:pPr marL="0" indent="0" rtl="1">
              <a:buNone/>
            </a:pPr>
            <a:r>
              <a:rPr lang="ar" sz="1400" b="1" dirty="0">
                <a:solidFill>
                  <a:schemeClr val="accent5">
                    <a:lumMod val="50000"/>
                  </a:schemeClr>
                </a:solidFill>
              </a:rPr>
              <a:t>المستشعرات</a:t>
            </a:r>
          </a:p>
          <a:p>
            <a:pPr rtl="1"/>
            <a:r>
              <a:rPr lang="ar" sz="1400" b="1" dirty="0"/>
              <a:t>مقاييس التسارع</a:t>
            </a:r>
            <a:r>
              <a:rPr lang="ar" sz="1400" dirty="0"/>
              <a:t>: يقيس تسارع المركبة ويرصد التغيرات المفاجئة في السرعة أو الاتجاه.</a:t>
            </a:r>
          </a:p>
          <a:p>
            <a:pPr rtl="1"/>
            <a:r>
              <a:rPr lang="ar" sz="1400" b="1" dirty="0"/>
              <a:t>مستشعرات الارتفاع</a:t>
            </a:r>
            <a:r>
              <a:rPr lang="ar" sz="1400" dirty="0"/>
              <a:t>: ترصد موضع كل عجلة بالنسبة لجسم المركبة، ما يساعد على الحفاظ على مستوى القيادة.</a:t>
            </a:r>
          </a:p>
          <a:p>
            <a:pPr rtl="1"/>
            <a:r>
              <a:rPr lang="ar" sz="1400" b="1" dirty="0"/>
              <a:t>مستشعرات الضغط</a:t>
            </a:r>
            <a:r>
              <a:rPr lang="ar" sz="1400" dirty="0"/>
              <a:t>: تراقب الضغط داخل المخمدات أو دوائر السوائل، ما يضمن بقاء إعدادات نظام التعليق ضمن الحدود الآمنة.</a:t>
            </a:r>
          </a:p>
          <a:p>
            <a:pPr rtl="1"/>
            <a:r>
              <a:rPr lang="ar" sz="1400" b="1" dirty="0"/>
              <a:t>مستشعرات السرعة</a:t>
            </a:r>
            <a:r>
              <a:rPr lang="ar" sz="1400" dirty="0"/>
              <a:t>: تقيس سرعة العجلة لمساعدة النظام على توقع التغييرات في ظروف الطريق.</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16632"/>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أ2 نظام التعليق التكيفي </a:t>
            </a:r>
          </a:p>
          <a:p>
            <a:pPr rtl="1"/>
            <a:r>
              <a:rPr lang="ar" sz="2200" b="1" dirty="0">
                <a:latin typeface="Sakkal Majalla" panose="02000000000000000000" pitchFamily="2" charset="-78"/>
                <a:cs typeface="Sakkal Majalla" panose="02000000000000000000" pitchFamily="2" charset="-78"/>
              </a:rPr>
              <a:t>المكونات الرئيسة:</a:t>
            </a:r>
            <a:endParaRPr lang="en-GB" altLang="en-US" sz="22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E06B3F6-B4E4-FF24-53FB-B21B3022E112}"/>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4182906055"/>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196752"/>
            <a:ext cx="8568952" cy="29523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مكونات إضافية في أنظمة التعليق التكيفية</a:t>
            </a:r>
          </a:p>
          <a:p>
            <a:pPr rtl="1"/>
            <a:r>
              <a:rPr lang="ar" sz="1600" b="1" dirty="0"/>
              <a:t>المخمدات</a:t>
            </a:r>
            <a:r>
              <a:rPr lang="ar" sz="1600" dirty="0"/>
              <a:t>: مُمتصّات صدمات مُتخصِّصة تعمل بتنسيق مع وحدة التحكم الإلكترونية لضبط مُعامل الصلابة تبعًا لظروف الطريق. وتستخدم مخمدات النظم التكيفية مقاومة متغيرة، غالبًا ما تُتحكم بها صمامات الملف اللولبي أو السائل المغناطيسي، لتغيير الإحساس بنظام التعليق.</a:t>
            </a:r>
          </a:p>
          <a:p>
            <a:pPr rtl="1"/>
            <a:r>
              <a:rPr lang="ar" sz="1600" b="1" dirty="0"/>
              <a:t>مُقيِّدات السوائل: </a:t>
            </a:r>
            <a:r>
              <a:rPr lang="ar" sz="1600" dirty="0"/>
              <a:t> المكونات الموجودة داخل المثبط التي تتحكم في معدل تدفق السوائل، من ما يؤثر على خصائص التخميد. وتُستخدم لضبط استجابة نظام التعليق، ما يجعل الانتقال بين مستويات التخميد المختلفة سلسًا ودقيقًا.</a:t>
            </a:r>
          </a:p>
          <a:p>
            <a:pPr rtl="1"/>
            <a:r>
              <a:rPr lang="ar" sz="1600" b="1" dirty="0"/>
              <a:t>سائل المثبط المغناطيسي</a:t>
            </a:r>
            <a:r>
              <a:rPr lang="ar" sz="1600" dirty="0"/>
              <a:t>: يحتوي على سائل ذو خاصية ريولوجية مغناطيسية، والذي يُغيّر لزوجته استجابةً لحقل مغناطيسي. ويُتيحُ عمل تعديلاتٍ شبه فوريةٍ في صلابة المخمدات عندما تُفعّل وحدة التحكم الإلكترونية مجالًا مغناطيسيًا، من ما يُوفر استجابةً سريعةً لظروف الطريق.</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16632"/>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أ2 نظام التعليق التكيفي </a:t>
            </a:r>
          </a:p>
          <a:p>
            <a:pPr rtl="1"/>
            <a:r>
              <a:rPr lang="ar" sz="2200" b="1" dirty="0">
                <a:latin typeface="Sakkal Majalla" panose="02000000000000000000" pitchFamily="2" charset="-78"/>
                <a:cs typeface="Sakkal Majalla" panose="02000000000000000000" pitchFamily="2" charset="-78"/>
              </a:rPr>
              <a:t>المكونات الرئيسة:</a:t>
            </a:r>
            <a:endParaRPr lang="en-GB" altLang="en-US" sz="22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056BED60-E59C-F99A-6E40-70AAECD3BB02}"/>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pic>
        <p:nvPicPr>
          <p:cNvPr id="3" name="Picture 2" descr="Close-up of a comfort and advanced button&#10;&#10;Description automatically generated">
            <a:extLst>
              <a:ext uri="{FF2B5EF4-FFF2-40B4-BE49-F238E27FC236}">
                <a16:creationId xmlns:a16="http://schemas.microsoft.com/office/drawing/2014/main" id="{83D04EA7-3EEE-CF15-C565-BD7C5AC00F8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862064" y="3861048"/>
            <a:ext cx="3419872" cy="2279915"/>
          </a:xfrm>
          <a:prstGeom prst="rect">
            <a:avLst/>
          </a:prstGeom>
        </p:spPr>
      </p:pic>
    </p:spTree>
    <p:extLst>
      <p:ext uri="{BB962C8B-B14F-4D97-AF65-F5344CB8AC3E}">
        <p14:creationId xmlns:p14="http://schemas.microsoft.com/office/powerpoint/2010/main" val="2233116974"/>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1412776"/>
            <a:ext cx="8784976" cy="46805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نظام التحكم التنبؤي النشط بالقيادة.</a:t>
            </a:r>
            <a:br>
              <a:rPr lang="en-GB" sz="1600" dirty="0"/>
            </a:br>
            <a:endParaRPr lang="en-GB" sz="1600" dirty="0"/>
          </a:p>
          <a:p>
            <a:pPr marL="0" indent="0" rtl="1">
              <a:buNone/>
            </a:pPr>
            <a:r>
              <a:rPr lang="ar" sz="1600" b="1" dirty="0"/>
              <a:t>وظيفة نظام التحكم التنبؤي النشط بالقيادة</a:t>
            </a:r>
            <a:r>
              <a:rPr lang="ar" sz="1600" dirty="0"/>
              <a:t>: يستخدم مستشعرات وكاميرات لمسح الطريق أمام المركبة وتوقع التغيرات في ظروف السطح. ويضبط إعدادات نظام التعليق بشكل استباقي لتحسين راحة القيادة وثباتها قبل مواجهة عيوب الطريق.</a:t>
            </a:r>
          </a:p>
          <a:p>
            <a:pPr rtl="1"/>
            <a:r>
              <a:rPr lang="ar" sz="1600" b="1" dirty="0"/>
              <a:t>المزايا:</a:t>
            </a:r>
            <a:r>
              <a:rPr lang="ar" sz="1600" dirty="0"/>
              <a:t> يوفر قيادة أكثر سلاسة من خلال تقليل تأثير الصدمات والانخفاضات على المركبة. يعزز الثبات والتحكم من خلال تقليل ميلان الجسم، وانحداره، واندفاعه نحو الأمام في أثناء التسارع، والكبح، والانعطاف.</a:t>
            </a:r>
          </a:p>
          <a:p>
            <a:pPr marL="0" indent="0" rtl="1">
              <a:buNone/>
            </a:pPr>
            <a:endParaRPr lang="en-GB" sz="1600" dirty="0"/>
          </a:p>
          <a:p>
            <a:pPr marL="0" indent="0" rtl="1">
              <a:buNone/>
            </a:pPr>
            <a:r>
              <a:rPr lang="ar" sz="1600" b="1" dirty="0">
                <a:solidFill>
                  <a:schemeClr val="accent5">
                    <a:lumMod val="50000"/>
                  </a:schemeClr>
                </a:solidFill>
              </a:rPr>
              <a:t>مبادئ عمل أنظمة التعليق التكيفية.</a:t>
            </a:r>
            <a:br>
              <a:rPr lang="en-GB" sz="1600" dirty="0"/>
            </a:br>
            <a:endParaRPr lang="en-GB" sz="1600" dirty="0"/>
          </a:p>
          <a:p>
            <a:pPr marL="0" indent="0" rtl="1">
              <a:buNone/>
            </a:pPr>
            <a:r>
              <a:rPr lang="ar" sz="1600" b="1" dirty="0"/>
              <a:t>التعديل في الوقت الفعلي</a:t>
            </a:r>
            <a:r>
              <a:rPr lang="ar" sz="1600" dirty="0"/>
              <a:t>: يعمل نظام التعليق التكيفي باستمرار على ضبط إعدادات التعليق بناءً على بيانات الوقت الفعلي الواردة من المستشعرات. حيث تُجرى التغييرات في أجزاء من الثانية، ليستجيب النظام بسرعة لظروف القيادة المختلفة.</a:t>
            </a:r>
          </a:p>
          <a:p>
            <a:pPr rtl="1"/>
            <a:r>
              <a:rPr lang="ar" sz="1600" dirty="0"/>
              <a:t>أنظمة التحكم مغلقة الحلقة: تعمل أنظمة التعليق التكيفية مثل الأنظمة ذات الحلقة المغلقة، حيث ترسل المعلومات إلى وحدة التحكم الإلكترونية، والتي تعمل على ضبط المخمدات وفقًا لذلك. وتعالج وحدة التحكم الإلكترونية البيانات الجديدة باستمرار للحفاظ على إعدادات نظام التعليق المثلى، ما يعزز من مستويات الراحة والتحكم.</a:t>
            </a:r>
          </a:p>
          <a:p>
            <a:pPr rtl="1"/>
            <a:r>
              <a:rPr lang="ar" sz="1600" b="1" dirty="0"/>
              <a:t>التشغيل المغناطيسي والهيدروليكي: </a:t>
            </a:r>
            <a:r>
              <a:rPr lang="ar" sz="1600" dirty="0"/>
              <a:t> </a:t>
            </a:r>
            <a:r>
              <a:rPr lang="ar" sz="1600" b="1" dirty="0"/>
              <a:t>الأنظمة المغناطيسية</a:t>
            </a:r>
            <a:r>
              <a:rPr lang="ar" sz="1600" dirty="0"/>
              <a:t>: تستخدم سائل المثبط المغناطيسي لتحقيق صلابة متغيرة من خلال المغناطيسات الكهربائية التي تغير خصائص السائل.</a:t>
            </a:r>
          </a:p>
          <a:p>
            <a:pPr rtl="1"/>
            <a:r>
              <a:rPr lang="ar" sz="1600" b="1" dirty="0"/>
              <a:t>الأنظمة الهيدروليكية/الهوائية: </a:t>
            </a:r>
            <a:r>
              <a:rPr lang="ar" sz="1600" dirty="0"/>
              <a:t> تستخدم الصمامات اللولبية لتنظيم تدفق السوائل أو الهواء، ما يتيح إجراء تغييرات في ضغط المخمد وارتفاع نظام التعليق.</a:t>
            </a:r>
            <a:br>
              <a:rPr lang="en-GB" sz="1600" dirty="0"/>
            </a:b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16632"/>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أ2 نظام التعليق التكيفي </a:t>
            </a:r>
          </a:p>
          <a:p>
            <a:pPr rtl="1"/>
            <a:r>
              <a:rPr lang="ar" sz="2200" b="1" dirty="0">
                <a:latin typeface="Sakkal Majalla" panose="02000000000000000000" pitchFamily="2" charset="-78"/>
                <a:cs typeface="Sakkal Majalla" panose="02000000000000000000" pitchFamily="2" charset="-78"/>
              </a:rPr>
              <a:t>المكونات الرئيسة:</a:t>
            </a:r>
            <a:endParaRPr lang="en-GB" altLang="en-US" sz="22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3D3115D5-3110-787C-CE25-5D4A8CC127BB}"/>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1351727792"/>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ب</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223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تعرّف وظيفة مكونات نظام التوجيه وآلية تشغيلها</a:t>
            </a:r>
          </a:p>
        </p:txBody>
      </p:sp>
      <p:sp>
        <p:nvSpPr>
          <p:cNvPr id="2" name="Footer Placeholder 2">
            <a:extLst>
              <a:ext uri="{FF2B5EF4-FFF2-40B4-BE49-F238E27FC236}">
                <a16:creationId xmlns:a16="http://schemas.microsoft.com/office/drawing/2014/main" id="{1C035120-6F6B-5566-1893-8DA286B51481}"/>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211838768"/>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48844" y="1340768"/>
            <a:ext cx="8815644" cy="511256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dirty="0"/>
              <a:t>الهدف</a:t>
            </a:r>
            <a:r>
              <a:rPr lang="ar" sz="1300" dirty="0"/>
              <a:t>: تعرف الخصائص الأساسية للتوجيه وتأثيراتها على قيادة السيارة وثباتها. ويتناول هذا القسم التوجيه الناقص، والتوجيه الزائد، والتوجيه المحايد، ومحور التدحرج ، ومركز التدحرج، ومركز الثقل ، وهندسة التوجيه.</a:t>
            </a:r>
          </a:p>
          <a:p>
            <a:pPr marL="0" indent="0" rtl="1">
              <a:buNone/>
            </a:pPr>
            <a:endParaRPr lang="en-GB" sz="1300" dirty="0"/>
          </a:p>
          <a:p>
            <a:pPr marL="0" indent="0" rtl="1">
              <a:buNone/>
            </a:pPr>
            <a:r>
              <a:rPr lang="ar" sz="1300" b="1" dirty="0"/>
              <a:t>التوجيه الناقص، والتوجيه الزائد، والتوجيه المحايد</a:t>
            </a:r>
          </a:p>
          <a:p>
            <a:pPr rtl="1"/>
            <a:r>
              <a:rPr lang="ar" sz="1300" b="1" dirty="0"/>
              <a:t>التوجيه الناقص: </a:t>
            </a:r>
            <a:r>
              <a:rPr lang="ar" sz="1300" dirty="0"/>
              <a:t> يحدث التوجيه الناقص عندما تفقد العجلات الأمامية تماسكها قبل العجلات الخلفية، ما يؤدي إلى انعطاف السيارة بزاوية أقل من المطلوبة. يشيع استخدام التوجيه الناقص في المركبات ذات الدفع الأمامي؛ إذ ينتج عنه نصف قطر دوران أوسع، وعادةً ما يكون التحكم فيه أسهل.</a:t>
            </a:r>
          </a:p>
          <a:p>
            <a:pPr rtl="1"/>
            <a:r>
              <a:rPr lang="ar" sz="1300" b="1" dirty="0"/>
              <a:t>التوجيه الزائد: </a:t>
            </a:r>
            <a:r>
              <a:rPr lang="ar" sz="1300" dirty="0"/>
              <a:t> يحدث التوجيه الزائد عندما تفقد العجلات الخلفية تماسكها قبل العجلات الأمامية، ما يجعل السيارة تنعطف بزاوية أشد من المطلوبة. يُعد التوجيه الزائد أكثر شيوعًا في المركبات ذات الدفع الخلفي، حيث يمكن أن يؤدي التوجيه الزائد إلى فقدان التحكم، خاصةً عند السرعات العالية.</a:t>
            </a:r>
          </a:p>
          <a:p>
            <a:pPr rtl="1"/>
            <a:r>
              <a:rPr lang="ar" sz="1300" b="1" dirty="0"/>
              <a:t>التوجيه المحايد</a:t>
            </a:r>
            <a:r>
              <a:rPr lang="ar" sz="1300" dirty="0"/>
              <a:t>: يتحقق التوجيه المحايد عندما تحافظ كل من العجلات الأمامية والخلفية على تماسك مثالي، من ما ينتج عنه استجابة توجيه متوازنة. ويُفضل للقيادة عالية الأداء، حيث يوفر تحكمًا ثابتًا ويمكن التنبؤ به.</a:t>
            </a:r>
          </a:p>
          <a:p>
            <a:pPr rtl="1"/>
            <a:endParaRPr lang="en-GB" sz="1300" dirty="0"/>
          </a:p>
          <a:p>
            <a:pPr marL="0" indent="0" rtl="1">
              <a:buNone/>
            </a:pPr>
            <a:r>
              <a:rPr lang="ar" sz="1300" b="1" dirty="0"/>
              <a:t>محور التدحرج ومركز التدحرج ومركز الجاذبية</a:t>
            </a:r>
          </a:p>
          <a:p>
            <a:pPr rtl="1"/>
            <a:r>
              <a:rPr lang="ar" sz="1300" b="1" dirty="0"/>
              <a:t>محور التدحرج</a:t>
            </a:r>
            <a:r>
              <a:rPr lang="ar" sz="1300" dirty="0"/>
              <a:t>: هو خط وهمي يربط بين مركزي التدحرج للمحورين الأمامي والخلفي، والذي يدور حوله جسم المركبة في أثناء الانعطاف. ويؤثر محور التدحرج على درجة ميلان جسم المركبة، ما يؤثر في ثباتها وقيادتها.</a:t>
            </a:r>
          </a:p>
          <a:p>
            <a:pPr rtl="1"/>
            <a:r>
              <a:rPr lang="ar" sz="1300" b="1" dirty="0"/>
              <a:t>مركز التدحرج</a:t>
            </a:r>
            <a:r>
              <a:rPr lang="ar" sz="1300" dirty="0"/>
              <a:t>: النقطة التي يحدث حولها دوران الجسم. يُقلل مركز التدحرج المنخفض من ميلان جسم المركبة، ولكنه قد يزيد من خطر التوجيه الناقص. يؤثر مركزا التدحرج في كلا المحورين الأمامي والخلفي على انتقال الوزن، ويؤديان دورًا مهمًا في ديناميكيات القيادة.</a:t>
            </a:r>
          </a:p>
          <a:p>
            <a:pPr rtl="1"/>
            <a:r>
              <a:rPr lang="ar" sz="1300" b="1" dirty="0"/>
              <a:t>مركز الجاذبية</a:t>
            </a:r>
            <a:r>
              <a:rPr lang="ar" sz="1300" dirty="0"/>
              <a:t>: النقطة التي تتركز فيها كتلة المركز. يُحسّن مركز الثقل المنخفض من ثبات المركبة ويُقلل من ميلان جسمها. تكون المركبات ذات مركز الثقل المرتفع (مثل السيارات الرياضية ذات الدفع الرباعي) أكثر عرضة للانقلاب عند المنعطفات الحادة مقارنةً بالمركبات ذات مركز الثقل المنخفض. </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6753"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ب1 خصائص التوجيه</a:t>
            </a:r>
          </a:p>
        </p:txBody>
      </p:sp>
      <p:sp>
        <p:nvSpPr>
          <p:cNvPr id="2" name="Footer Placeholder 2">
            <a:extLst>
              <a:ext uri="{FF2B5EF4-FFF2-40B4-BE49-F238E27FC236}">
                <a16:creationId xmlns:a16="http://schemas.microsoft.com/office/drawing/2014/main" id="{997AC923-32EE-6F5C-16A8-AD874736FA69}"/>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pic>
        <p:nvPicPr>
          <p:cNvPr id="4" name="Picture 3" descr="A car on a road&#10;&#10;Description automatically generated">
            <a:extLst>
              <a:ext uri="{FF2B5EF4-FFF2-40B4-BE49-F238E27FC236}">
                <a16:creationId xmlns:a16="http://schemas.microsoft.com/office/drawing/2014/main" id="{916B0353-B519-5393-2C8D-1471B5F0A3CA}"/>
              </a:ext>
            </a:extLst>
          </p:cNvPr>
          <p:cNvPicPr>
            <a:picLocks noChangeAspect="1"/>
          </p:cNvPicPr>
          <p:nvPr/>
        </p:nvPicPr>
        <p:blipFill>
          <a:blip r:embed="rId4" cstate="print">
            <a:alphaModFix amt="50000"/>
            <a:extLst>
              <a:ext uri="{28A0092B-C50C-407E-A947-70E740481C1C}">
                <a14:useLocalDpi xmlns:a14="http://schemas.microsoft.com/office/drawing/2010/main"/>
              </a:ext>
            </a:extLst>
          </a:blip>
          <a:stretch>
            <a:fillRect/>
          </a:stretch>
        </p:blipFill>
        <p:spPr>
          <a:xfrm>
            <a:off x="-6896" y="1283330"/>
            <a:ext cx="9150896" cy="5227444"/>
          </a:xfrm>
          <a:prstGeom prst="rect">
            <a:avLst/>
          </a:prstGeom>
        </p:spPr>
      </p:pic>
    </p:spTree>
    <p:extLst>
      <p:ext uri="{BB962C8B-B14F-4D97-AF65-F5344CB8AC3E}">
        <p14:creationId xmlns:p14="http://schemas.microsoft.com/office/powerpoint/2010/main" val="3711031673"/>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3" y="1484784"/>
            <a:ext cx="8280920" cy="33843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3000" b="1" dirty="0"/>
              <a:t>هندسة التوجيه</a:t>
            </a:r>
          </a:p>
          <a:p>
            <a:pPr rtl="1"/>
            <a:endParaRPr lang="en-GB" sz="1800" b="1" dirty="0"/>
          </a:p>
          <a:p>
            <a:pPr rtl="1"/>
            <a:r>
              <a:rPr lang="ar" sz="2000" b="1" dirty="0"/>
              <a:t>الكامبر</a:t>
            </a:r>
            <a:r>
              <a:rPr lang="ar" sz="2000" dirty="0"/>
              <a:t>: هي زاوية العجلات بالنسبة للمحور الرأسي عند النظر إليها من الأمام أو الخلف.</a:t>
            </a:r>
          </a:p>
          <a:p>
            <a:pPr rtl="1"/>
            <a:r>
              <a:rPr lang="ar" sz="2000" b="1" dirty="0"/>
              <a:t>الكامبر الإيجابية: </a:t>
            </a:r>
            <a:r>
              <a:rPr lang="ar" sz="2000" dirty="0"/>
              <a:t> يميل الجزء العلوي من العجلة إلى الخارج، من ما قد يُحسّن الثبات ولكنه يُقلل من التماسك عند الانعطاف.</a:t>
            </a:r>
          </a:p>
          <a:p>
            <a:pPr rtl="1"/>
            <a:r>
              <a:rPr lang="ar" sz="2000" b="1" dirty="0"/>
              <a:t>الكامبر السلبية: </a:t>
            </a:r>
            <a:r>
              <a:rPr lang="ar" sz="2000" dirty="0"/>
              <a:t> يميل الجزء العلوي من العجلة إلى الداخل، من ما يزيد من التماسك والثبات عند الانعطاف.</a:t>
            </a:r>
          </a:p>
          <a:p>
            <a:pPr rtl="1"/>
            <a:r>
              <a:rPr lang="ar" sz="2000" b="1" dirty="0"/>
              <a:t>الكاستر</a:t>
            </a:r>
            <a:r>
              <a:rPr lang="ar" sz="2000" dirty="0"/>
              <a:t>: هي زاوية محور ارتكاز التوجيه بالنسبة للمحور الرأسي عند النظر إليه من الجانب.</a:t>
            </a:r>
          </a:p>
          <a:p>
            <a:pPr rtl="1"/>
            <a:r>
              <a:rPr lang="ar" sz="2000" b="1" dirty="0"/>
              <a:t>الكاستر الإيجابي</a:t>
            </a:r>
            <a:r>
              <a:rPr lang="ar" sz="2000" dirty="0"/>
              <a:t>: يحسن من ثبات المركبة في خط مستقيم والشعور بالتوجيه، ولكنه قد يجعل التوجيه عند السرعات المنخفضة أكثر صعوبة.</a:t>
            </a:r>
          </a:p>
          <a:p>
            <a:pPr rtl="1"/>
            <a:r>
              <a:rPr lang="ar" sz="2000" b="1" dirty="0"/>
              <a:t>الكاستر السلبي</a:t>
            </a:r>
            <a:r>
              <a:rPr lang="ar" sz="2000" dirty="0"/>
              <a:t>: نادرًا ما يُستخدم، لأنه يُقلل من الثبات ويجعل التحكم في المركبة صعبًا.</a:t>
            </a:r>
            <a:br>
              <a:rPr lang="en-GB" sz="1400" dirty="0"/>
            </a:br>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ب1 خصائص التوجيه</a:t>
            </a:r>
          </a:p>
        </p:txBody>
      </p:sp>
      <p:sp>
        <p:nvSpPr>
          <p:cNvPr id="2" name="Footer Placeholder 2">
            <a:extLst>
              <a:ext uri="{FF2B5EF4-FFF2-40B4-BE49-F238E27FC236}">
                <a16:creationId xmlns:a16="http://schemas.microsoft.com/office/drawing/2014/main" id="{33E4E216-3F84-B2ED-8D38-E35B15A7F064}"/>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1129581997"/>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556792"/>
            <a:ext cx="8568952" cy="4536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تشغيل نظام التوجيه الهيدروليكي المعزز بالطاقة</a:t>
            </a:r>
            <a:br>
              <a:rPr lang="en-GB" sz="1600" dirty="0"/>
            </a:br>
            <a:endParaRPr lang="en-GB" sz="1600" dirty="0"/>
          </a:p>
          <a:p>
            <a:pPr rtl="1"/>
            <a:r>
              <a:rPr lang="ar" sz="1600" b="1" dirty="0"/>
              <a:t>كيف يعمل</a:t>
            </a:r>
            <a:r>
              <a:rPr lang="ar" sz="1600" dirty="0"/>
              <a:t>: يستخدم نظام التوجيه الهيدروليكي المساعد سائلًا مضغوطًا لتقليل الجهد اللازم لتدوير عجلة القيادة، ما يجعل التوجيه أسهل، خاصةً عند السرعات المنخفضة. يُفعّل النظام الهيدروليكي بواسطة مُدخلات السائق، ويُوجَّه ضغط السائل إلى أسطوانة الطاقة التي تُساعد على حركة جهاز التوجيه.</a:t>
            </a:r>
          </a:p>
          <a:p>
            <a:pPr rtl="1"/>
            <a:r>
              <a:rPr lang="ar" sz="1600" b="1" dirty="0"/>
              <a:t>مزايا النظام</a:t>
            </a:r>
            <a:r>
              <a:rPr lang="ar" sz="1600" dirty="0"/>
              <a:t>: توفر الأنظمة الهيدروليكية مساعدة توجيه سلسة ومتسقة، وتُستخدم على نطاق واسع في المركبات الثقيلة.</a:t>
            </a:r>
          </a:p>
          <a:p>
            <a:pPr rtl="1"/>
            <a:r>
              <a:rPr lang="ar" sz="1600" b="1" dirty="0"/>
              <a:t>المكونات الرئيسة لنظام التوجيه الهيدروليكي المعزز بالطاقة</a:t>
            </a:r>
          </a:p>
          <a:p>
            <a:pPr lvl="1" rtl="1"/>
            <a:r>
              <a:rPr lang="ar" sz="1600" b="1" dirty="0">
                <a:latin typeface="Sakkal Majalla" panose="02000000000000000000" pitchFamily="2" charset="-78"/>
              </a:rPr>
              <a:t>المضخة الهيدروليكية</a:t>
            </a:r>
            <a:r>
              <a:rPr lang="ar" sz="1600" dirty="0">
                <a:latin typeface="Sakkal Majalla" panose="02000000000000000000" pitchFamily="2" charset="-78"/>
              </a:rPr>
              <a:t>: تولد ضغط السوائل المطلوب للمساعدة على التوجيه.</a:t>
            </a:r>
          </a:p>
          <a:p>
            <a:pPr lvl="1" rtl="1"/>
            <a:r>
              <a:rPr lang="ar" sz="1600" b="1" dirty="0">
                <a:latin typeface="Sakkal Majalla" panose="02000000000000000000" pitchFamily="2" charset="-78"/>
              </a:rPr>
              <a:t>صمام التحكم</a:t>
            </a:r>
            <a:r>
              <a:rPr lang="ar" sz="1600" dirty="0">
                <a:latin typeface="Sakkal Majalla" panose="02000000000000000000" pitchFamily="2" charset="-78"/>
              </a:rPr>
              <a:t>: يوجه السائل المضغوط إلى أسطوانة الطاقة بناءً على مدخلات التوجيه.</a:t>
            </a:r>
          </a:p>
          <a:p>
            <a:pPr lvl="1" rtl="1"/>
            <a:r>
              <a:rPr lang="ar" sz="1600" b="1" dirty="0">
                <a:latin typeface="Sakkal Majalla" panose="02000000000000000000" pitchFamily="2" charset="-78"/>
              </a:rPr>
              <a:t>أسطوانة الطاقة</a:t>
            </a:r>
            <a:r>
              <a:rPr lang="ar" sz="1600" dirty="0">
                <a:latin typeface="Sakkal Majalla" panose="02000000000000000000" pitchFamily="2" charset="-78"/>
              </a:rPr>
              <a:t>: تستخدم القوة الهيدروليكية لمساعدة جهاز التوجيه، ما يقلل من جهد التوجيه.</a:t>
            </a:r>
          </a:p>
          <a:p>
            <a:pPr lvl="1" rtl="1"/>
            <a:r>
              <a:rPr lang="ar" sz="1600" b="1" dirty="0">
                <a:latin typeface="Sakkal Majalla" panose="02000000000000000000" pitchFamily="2" charset="-78"/>
              </a:rPr>
              <a:t>الخزان</a:t>
            </a:r>
            <a:r>
              <a:rPr lang="ar" sz="1600" dirty="0">
                <a:latin typeface="Sakkal Majalla" panose="02000000000000000000" pitchFamily="2" charset="-78"/>
              </a:rPr>
              <a:t>: يخزن السائل الهيدروليكي الذي يستخدمه النظام.</a:t>
            </a:r>
          </a:p>
          <a:p>
            <a:pPr lvl="1" rtl="1"/>
            <a:r>
              <a:rPr lang="ar" sz="1600" b="1" dirty="0">
                <a:latin typeface="Sakkal Majalla" panose="02000000000000000000" pitchFamily="2" charset="-78"/>
              </a:rPr>
              <a:t>الفلتر</a:t>
            </a:r>
            <a:r>
              <a:rPr lang="ar" sz="1600" dirty="0">
                <a:latin typeface="Sakkal Majalla" panose="02000000000000000000" pitchFamily="2" charset="-78"/>
              </a:rPr>
              <a:t>: يمنع دخول الملوثات إلى النظام ويضمن سلاسة التشغيل.</a:t>
            </a:r>
          </a:p>
          <a:p>
            <a:pPr lvl="1" rtl="1"/>
            <a:r>
              <a:rPr lang="ar" sz="1600" b="1" dirty="0">
                <a:latin typeface="Sakkal Majalla" panose="02000000000000000000" pitchFamily="2" charset="-78"/>
              </a:rPr>
              <a:t>صمام تخفيف الضغط</a:t>
            </a:r>
            <a:r>
              <a:rPr lang="ar" sz="1600" dirty="0">
                <a:latin typeface="Sakkal Majalla" panose="02000000000000000000" pitchFamily="2" charset="-78"/>
              </a:rPr>
              <a:t>: يحافظ على مستويات الضغط الآمنة داخل النظام، ما يمنع التلف.</a:t>
            </a:r>
          </a:p>
          <a:p>
            <a:pPr lvl="1" rtl="1"/>
            <a:r>
              <a:rPr lang="ar" sz="1600" b="1" dirty="0">
                <a:latin typeface="Sakkal Majalla" panose="02000000000000000000" pitchFamily="2" charset="-78"/>
              </a:rPr>
              <a:t>الأنابيب</a:t>
            </a:r>
            <a:r>
              <a:rPr lang="ar" sz="1600" dirty="0">
                <a:latin typeface="Sakkal Majalla" panose="02000000000000000000" pitchFamily="2" charset="-78"/>
              </a:rPr>
              <a:t>: تعمل على نقل السوائل الهيدروليكية من المكونات وإليها.</a:t>
            </a:r>
          </a:p>
          <a:p>
            <a:pPr marL="0" indent="0" rtl="1">
              <a:buNone/>
            </a:pPr>
            <a:br>
              <a:rPr lang="en-GB" sz="1400" dirty="0"/>
            </a:br>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22914" y="44624"/>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ب2 تشغيل نظام التوجيه المعزز بالطاقة </a:t>
            </a:r>
          </a:p>
          <a:p>
            <a:pPr rtl="1"/>
            <a:r>
              <a:rPr lang="ar" sz="2200" b="1" dirty="0">
                <a:latin typeface="Sakkal Majalla" panose="02000000000000000000" pitchFamily="2" charset="-78"/>
                <a:cs typeface="Sakkal Majalla" panose="02000000000000000000" pitchFamily="2" charset="-78"/>
              </a:rPr>
              <a:t>ومكوناته</a:t>
            </a:r>
          </a:p>
        </p:txBody>
      </p:sp>
      <p:sp>
        <p:nvSpPr>
          <p:cNvPr id="2" name="Footer Placeholder 2">
            <a:extLst>
              <a:ext uri="{FF2B5EF4-FFF2-40B4-BE49-F238E27FC236}">
                <a16:creationId xmlns:a16="http://schemas.microsoft.com/office/drawing/2014/main" id="{A0B8418E-8147-EAB0-D117-FA4DE7FFFC3E}"/>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2093066133"/>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74848" y="1340768"/>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2600" b="1" dirty="0">
                <a:solidFill>
                  <a:schemeClr val="tx2"/>
                </a:solidFill>
                <a:latin typeface="Sakkal Majalla" panose="02000000000000000000" pitchFamily="2" charset="-78"/>
                <a:cs typeface="Sakkal Majalla" panose="02000000000000000000" pitchFamily="2" charset="-78"/>
              </a:rPr>
              <a:t>ب2 تشغيل نظام التوجيه المعزز بالطاقة </a:t>
            </a:r>
          </a:p>
          <a:p>
            <a:pPr algn="ctr" rtl="1">
              <a:lnSpc>
                <a:spcPct val="90000"/>
              </a:lnSpc>
              <a:spcAft>
                <a:spcPts val="600"/>
              </a:spcAft>
            </a:pPr>
            <a:r>
              <a:rPr lang="ar" sz="2600" b="1" dirty="0">
                <a:solidFill>
                  <a:schemeClr val="tx2"/>
                </a:solidFill>
                <a:latin typeface="Sakkal Majalla" panose="02000000000000000000" pitchFamily="2" charset="-78"/>
                <a:cs typeface="Sakkal Majalla" panose="02000000000000000000" pitchFamily="2" charset="-78"/>
              </a:rPr>
              <a:t>ومكوناته</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2564903"/>
            <a:ext cx="4752528" cy="2880321"/>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Autofit/>
          </a:bodyPr>
          <a:lstStyle/>
          <a:p>
            <a:pPr marL="0" indent="0" rtl="1">
              <a:lnSpc>
                <a:spcPct val="110000"/>
              </a:lnSpc>
              <a:buNone/>
            </a:pPr>
            <a:r>
              <a:rPr lang="ar" sz="1500" b="1" dirty="0">
                <a:solidFill>
                  <a:schemeClr val="accent5">
                    <a:lumMod val="50000"/>
                  </a:schemeClr>
                </a:solidFill>
              </a:rPr>
              <a:t>أنواع صندوق تروس التوجيه</a:t>
            </a:r>
          </a:p>
          <a:p>
            <a:pPr marL="0" indent="0" rtl="1">
              <a:lnSpc>
                <a:spcPct val="120000"/>
              </a:lnSpc>
            </a:pPr>
            <a:endParaRPr lang="en-GB" sz="1500" dirty="0"/>
          </a:p>
          <a:p>
            <a:pPr rtl="1">
              <a:lnSpc>
                <a:spcPct val="120000"/>
              </a:lnSpc>
            </a:pPr>
            <a:r>
              <a:rPr lang="ar" sz="1500" b="1" dirty="0"/>
              <a:t>متكامل</a:t>
            </a:r>
            <a:r>
              <a:rPr lang="ar" sz="1500" dirty="0"/>
              <a:t>: يُدمج صندوق تروس التوجيه ونظام التوجيه المعزز بالطاقة معًا في وحدة واحدة.</a:t>
            </a:r>
          </a:p>
          <a:p>
            <a:pPr rtl="1">
              <a:lnSpc>
                <a:spcPct val="120000"/>
              </a:lnSpc>
            </a:pPr>
            <a:r>
              <a:rPr lang="ar" sz="1500" b="1" dirty="0"/>
              <a:t>شبه متكامل</a:t>
            </a:r>
            <a:r>
              <a:rPr lang="ar" sz="1500" dirty="0"/>
              <a:t>: يُدمج نظام التوجيه المعزز بالطاقة جزئيًا في صندوق تروس التوجيه.</a:t>
            </a:r>
          </a:p>
          <a:p>
            <a:pPr rtl="1">
              <a:lnSpc>
                <a:spcPct val="120000"/>
              </a:lnSpc>
            </a:pPr>
            <a:r>
              <a:rPr lang="ar" sz="1500" b="1" dirty="0"/>
              <a:t>الجريدة المسننة والترس</a:t>
            </a:r>
            <a:r>
              <a:rPr lang="ar" sz="1500" dirty="0"/>
              <a:t>: تستخدم آلية الجريدة المسننة والترس لتوفير توجيه مباشر وسريع الاستجابة.</a:t>
            </a:r>
          </a:p>
          <a:p>
            <a:pPr rtl="1">
              <a:lnSpc>
                <a:spcPct val="120000"/>
              </a:lnSpc>
            </a:pPr>
            <a:r>
              <a:rPr lang="ar" sz="1500" b="1" dirty="0"/>
              <a:t>الترس الدودي والوحدة التابعة</a:t>
            </a:r>
            <a:r>
              <a:rPr lang="ar" sz="1500" dirty="0"/>
              <a:t>: آلية أكثر تقليدية تستخدم في المركبات الكبيرة لأغراض المتانة.</a:t>
            </a:r>
          </a:p>
          <a:p>
            <a:pPr rtl="1">
              <a:lnSpc>
                <a:spcPct val="120000"/>
              </a:lnSpc>
            </a:pPr>
            <a:r>
              <a:rPr lang="ar" sz="1500" b="1" dirty="0"/>
              <a:t>حساس السرعة</a:t>
            </a:r>
            <a:r>
              <a:rPr lang="ar" sz="1500" dirty="0"/>
              <a:t>: يضبط مستوى مساعدة التوجيه بناءً على سرعة السيارة، ليوفر مساعدة توجيه أكبر عند السرعات المنخفضة وأقل عند السرعات العالية.</a:t>
            </a:r>
            <a:br>
              <a:rPr lang="en-GB" sz="1500" dirty="0"/>
            </a:br>
            <a:endParaRPr lang="en-GB" sz="1500" dirty="0"/>
          </a:p>
        </p:txBody>
      </p:sp>
      <p:sp>
        <p:nvSpPr>
          <p:cNvPr id="2" name="Footer Placeholder 2">
            <a:extLst>
              <a:ext uri="{FF2B5EF4-FFF2-40B4-BE49-F238E27FC236}">
                <a16:creationId xmlns:a16="http://schemas.microsoft.com/office/drawing/2014/main" id="{EAB05356-3F74-2A82-B068-C51EC1A895F5}"/>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pic>
        <p:nvPicPr>
          <p:cNvPr id="4" name="Picture 3" descr="A person holding a steering wheel&#10;&#10;Description automatically generated">
            <a:extLst>
              <a:ext uri="{FF2B5EF4-FFF2-40B4-BE49-F238E27FC236}">
                <a16:creationId xmlns:a16="http://schemas.microsoft.com/office/drawing/2014/main" id="{2870D3C7-D0A4-2B5B-247D-E39129B8982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148064" y="3111543"/>
            <a:ext cx="3636152" cy="2424101"/>
          </a:xfrm>
          <a:prstGeom prst="rect">
            <a:avLst/>
          </a:prstGeom>
        </p:spPr>
      </p:pic>
    </p:spTree>
    <p:extLst>
      <p:ext uri="{BB962C8B-B14F-4D97-AF65-F5344CB8AC3E}">
        <p14:creationId xmlns:p14="http://schemas.microsoft.com/office/powerpoint/2010/main" val="2769744912"/>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1124744"/>
            <a:ext cx="8856984" cy="32403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تشغيل نظام التوجيه المعزز بالطاقة الكهربائية</a:t>
            </a:r>
          </a:p>
          <a:p>
            <a:pPr rtl="1"/>
            <a:r>
              <a:rPr lang="ar" sz="1600" b="1" dirty="0"/>
              <a:t>كيف يعمل</a:t>
            </a:r>
            <a:r>
              <a:rPr lang="ar" sz="1600" dirty="0"/>
              <a:t>: يستخدم نظام التوجيه المعزز بالطاقة الكهربائية محركًا كهربائيًا لتوفير المساعدة على التوجيه، لإلغاء الحاجة إلى السائل الهيدروليكي والمضخة. حيث يضبط النظام مساعدة التوجيه استنادًا إلى البيانات الواردة في الوقت الفعلي من المستشعرات، ليوفر مساعدة توجيه سلسة ومتغيرة. </a:t>
            </a:r>
          </a:p>
          <a:p>
            <a:pPr rtl="1"/>
            <a:r>
              <a:rPr lang="ar" sz="1600" b="1" dirty="0"/>
              <a:t>مزايا نظام التوجيه المعزز بالطاقة الكهربائية</a:t>
            </a:r>
            <a:r>
              <a:rPr lang="ar" sz="1600" dirty="0"/>
              <a:t>: كفاءة محسّنة في استهلاك الوقود، حيث لا يستخدم الطاقة إلا عند الحاجة إلى مساعدة التوجيه. يسمح بالتكامل مع أنظمة مساعدة السائق المتقدمة، مثل نظام المساعدة على الحفاظ على المسار ومواقف السيارات الآلية.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07968" y="188640"/>
            <a:ext cx="3736032"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ب2 تشغيل نظام التوجيه المعزز بالطاقة </a:t>
            </a:r>
          </a:p>
          <a:p>
            <a:pPr rtl="1"/>
            <a:r>
              <a:rPr lang="ar" sz="2200" b="1" dirty="0">
                <a:latin typeface="Sakkal Majalla" panose="02000000000000000000" pitchFamily="2" charset="-78"/>
                <a:cs typeface="Sakkal Majalla" panose="02000000000000000000" pitchFamily="2" charset="-78"/>
              </a:rPr>
              <a:t>ومكوناته</a:t>
            </a:r>
          </a:p>
        </p:txBody>
      </p:sp>
      <p:sp>
        <p:nvSpPr>
          <p:cNvPr id="2" name="Content Placeholder 3">
            <a:extLst>
              <a:ext uri="{FF2B5EF4-FFF2-40B4-BE49-F238E27FC236}">
                <a16:creationId xmlns:a16="http://schemas.microsoft.com/office/drawing/2014/main" id="{AAE3BC04-7EE2-B187-57ED-5755A4EC23F6}"/>
              </a:ext>
            </a:extLst>
          </p:cNvPr>
          <p:cNvSpPr txBox="1">
            <a:spLocks noChangeArrowheads="1"/>
          </p:cNvSpPr>
          <p:nvPr/>
        </p:nvSpPr>
        <p:spPr bwMode="auto">
          <a:xfrm>
            <a:off x="4572001" y="2817297"/>
            <a:ext cx="4414553"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600" b="1" kern="0" dirty="0">
                <a:solidFill>
                  <a:schemeClr val="accent5">
                    <a:lumMod val="50000"/>
                  </a:schemeClr>
                </a:solidFill>
                <a:latin typeface="Sakkal Majalla" panose="02000000000000000000" pitchFamily="2" charset="-78"/>
                <a:cs typeface="Sakkal Majalla" panose="02000000000000000000" pitchFamily="2" charset="-78"/>
              </a:rPr>
              <a:t>المكونات الرئيسة لنظام التوجيه المعزز بالطاقة الكهربائية</a:t>
            </a:r>
          </a:p>
          <a:p>
            <a:pPr rtl="1"/>
            <a:r>
              <a:rPr lang="ar" sz="1600" b="1" kern="0" dirty="0">
                <a:latin typeface="Sakkal Majalla" panose="02000000000000000000" pitchFamily="2" charset="-78"/>
                <a:cs typeface="Sakkal Majalla" panose="02000000000000000000" pitchFamily="2" charset="-78"/>
              </a:rPr>
              <a:t>حامل توجيه نظام التوجيه المعزز بالطاقة الكهربائية</a:t>
            </a:r>
            <a:r>
              <a:rPr lang="ar" sz="1600" kern="0" dirty="0">
                <a:latin typeface="Sakkal Majalla" panose="02000000000000000000" pitchFamily="2" charset="-78"/>
                <a:cs typeface="Sakkal Majalla" panose="02000000000000000000" pitchFamily="2" charset="-78"/>
              </a:rPr>
              <a:t>: يحتوي على المحرك الكهربائي الذي يساعد على التوجيه، ويوفر مساعدة متغيرة حسب ظروف القيادة.</a:t>
            </a:r>
          </a:p>
          <a:p>
            <a:pPr rtl="1"/>
            <a:r>
              <a:rPr lang="ar" sz="1600" b="1" kern="0" dirty="0">
                <a:latin typeface="Sakkal Majalla" panose="02000000000000000000" pitchFamily="2" charset="-78"/>
                <a:cs typeface="Sakkal Majalla" panose="02000000000000000000" pitchFamily="2" charset="-78"/>
              </a:rPr>
              <a:t>مستشعر عزم الدوران</a:t>
            </a:r>
            <a:r>
              <a:rPr lang="ar" sz="1600" kern="0" dirty="0">
                <a:latin typeface="Sakkal Majalla" panose="02000000000000000000" pitchFamily="2" charset="-78"/>
                <a:cs typeface="Sakkal Majalla" panose="02000000000000000000" pitchFamily="2" charset="-78"/>
              </a:rPr>
              <a:t>: يقيس عزم الدوران المطبق على عجلة القيادة ويرسل هذه البيانات إلى نظام التحكم، الذي يضبط المساعدة بحسب الحاجة.</a:t>
            </a:r>
          </a:p>
          <a:p>
            <a:pPr rtl="1"/>
            <a:r>
              <a:rPr lang="ar" sz="1600" b="1" kern="0" dirty="0">
                <a:latin typeface="Sakkal Majalla" panose="02000000000000000000" pitchFamily="2" charset="-78"/>
                <a:cs typeface="Sakkal Majalla" panose="02000000000000000000" pitchFamily="2" charset="-78"/>
              </a:rPr>
              <a:t>مخططات الأسلاك</a:t>
            </a:r>
            <a:r>
              <a:rPr lang="ar" sz="1600" kern="0" dirty="0">
                <a:latin typeface="Sakkal Majalla" panose="02000000000000000000" pitchFamily="2" charset="-78"/>
                <a:cs typeface="Sakkal Majalla" panose="02000000000000000000" pitchFamily="2" charset="-78"/>
              </a:rPr>
              <a:t>: يوضح التوصيلات الكهربائية داخل نظام  نظام التوجيه المعزز بالطاقة الكهربائية، ويوضح كيفية تدفق الطاقة من البطارية إلى المحرك والمستشعر ووحدة التحكم الإلكترونية. ويساعد الفهم الواضح لمخطط الأسلاك على تشخيص المشكلات الكهربائية وإصلاحها في أنظمة نظام التوجيه المعزز بالطاقة الكهربائية.</a:t>
            </a:r>
          </a:p>
        </p:txBody>
      </p:sp>
      <p:sp>
        <p:nvSpPr>
          <p:cNvPr id="3" name="Footer Placeholder 2">
            <a:extLst>
              <a:ext uri="{FF2B5EF4-FFF2-40B4-BE49-F238E27FC236}">
                <a16:creationId xmlns:a16="http://schemas.microsoft.com/office/drawing/2014/main" id="{FD473ADB-D320-2D24-EBDC-7C3E41DD8446}"/>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pic>
        <p:nvPicPr>
          <p:cNvPr id="4" name="Picture 3" descr="A person driving a car&#10;&#10;Description automatically generated">
            <a:extLst>
              <a:ext uri="{FF2B5EF4-FFF2-40B4-BE49-F238E27FC236}">
                <a16:creationId xmlns:a16="http://schemas.microsoft.com/office/drawing/2014/main" id="{06EFD89A-AB35-2862-C53C-903B2FBEEC0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39553" y="3284984"/>
            <a:ext cx="3672408" cy="2448272"/>
          </a:xfrm>
          <a:prstGeom prst="rect">
            <a:avLst/>
          </a:prstGeom>
        </p:spPr>
      </p:pic>
    </p:spTree>
    <p:extLst>
      <p:ext uri="{BB962C8B-B14F-4D97-AF65-F5344CB8AC3E}">
        <p14:creationId xmlns:p14="http://schemas.microsoft.com/office/powerpoint/2010/main" val="3631367945"/>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268760"/>
            <a:ext cx="8568952" cy="53285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الهدف</a:t>
            </a:r>
            <a:r>
              <a:rPr lang="ar" sz="1600" dirty="0"/>
              <a:t>: تعرف الأنواع المختلفة لعجلات الطرق ومواد تصنيعها ورموز الإطارات وطرق تثبيت العجلات. ويتناول هذا القسم أنواعًا مختلفة من العجلات ورموز الإطارات وكيفية تثبيت العجلات في المركبات.</a:t>
            </a:r>
          </a:p>
          <a:p>
            <a:pPr marL="0" indent="0" algn="ctr" rtl="1">
              <a:buNone/>
            </a:pPr>
            <a:r>
              <a:rPr lang="ar" sz="1600" b="1" dirty="0">
                <a:solidFill>
                  <a:schemeClr val="accent5">
                    <a:lumMod val="50000"/>
                  </a:schemeClr>
                </a:solidFill>
              </a:rPr>
              <a:t>أنواع العجلات</a:t>
            </a:r>
          </a:p>
          <a:p>
            <a:pPr marL="0" indent="0" rtl="1">
              <a:buNone/>
            </a:pPr>
            <a:r>
              <a:rPr lang="ar" sz="1600" b="1" dirty="0"/>
              <a:t>العجلات المصنوعة من السبائك</a:t>
            </a:r>
          </a:p>
          <a:p>
            <a:pPr rtl="1"/>
            <a:r>
              <a:rPr lang="ar" sz="1600" b="1" dirty="0"/>
              <a:t>السبائك المصبوبة</a:t>
            </a:r>
            <a:r>
              <a:rPr lang="ar" sz="1600" dirty="0"/>
              <a:t>: تُصنّع عن طريق صب سبائك الألومنيوم داخل قوالب، ما يجعلها خفيفة الوزن ويمنحها قدرة جيدة على تبديد الحرارة.</a:t>
            </a:r>
          </a:p>
          <a:p>
            <a:pPr rtl="1"/>
            <a:r>
              <a:rPr lang="ar" sz="1600" b="1" dirty="0"/>
              <a:t>السبائك المطروقة</a:t>
            </a:r>
            <a:r>
              <a:rPr lang="ar" sz="1600" dirty="0"/>
              <a:t>: تُصنّع تحت ضغط عالٍ، لإنتاج عجلة ذات كثافة وقوة أعلى مع وزن أخف مقارنةً بعجلات السبائك المصبوبة.</a:t>
            </a:r>
          </a:p>
          <a:p>
            <a:pPr rtl="1"/>
            <a:r>
              <a:rPr lang="ar" sz="1600" b="1" dirty="0"/>
              <a:t>عجلات فولاذية</a:t>
            </a:r>
            <a:r>
              <a:rPr lang="ar" sz="1600" dirty="0"/>
              <a:t>: تتميّز بالمتانة والكفاءة من حيث التكلفة، لكنها أثقل من العجلات المصنوعة من السبائك، ما قد يؤثر في أداء المركبة.</a:t>
            </a:r>
          </a:p>
          <a:p>
            <a:pPr marL="0" indent="0" rtl="1">
              <a:buNone/>
            </a:pPr>
            <a:r>
              <a:rPr lang="ar" sz="1600" b="1" dirty="0"/>
              <a:t>العجلات المتخصصة</a:t>
            </a:r>
          </a:p>
          <a:p>
            <a:pPr rtl="1"/>
            <a:r>
              <a:rPr lang="ar" sz="1600" b="1" dirty="0"/>
              <a:t>العجلات ذات التجويف العميق</a:t>
            </a:r>
            <a:r>
              <a:rPr lang="ar" sz="1600" dirty="0"/>
              <a:t>: تتميز بجزء مركزي عميق، من ما يُسهّل تركيب الإطارات.</a:t>
            </a:r>
          </a:p>
          <a:p>
            <a:pPr rtl="1"/>
            <a:r>
              <a:rPr lang="ar" sz="1600" b="1" dirty="0"/>
              <a:t>العجلات السلكية</a:t>
            </a:r>
            <a:r>
              <a:rPr lang="ar" sz="1600" dirty="0"/>
              <a:t>: شائعة في السيارات والدراجات النارية الكلاسيكية، حيث تُضفي مظهرًا عتيقًا لكنها تتطلب صيانة أكثر.</a:t>
            </a:r>
          </a:p>
          <a:p>
            <a:pPr rtl="1"/>
            <a:r>
              <a:rPr lang="ar" sz="1600" b="1" dirty="0"/>
              <a:t>العجلات ذات الحافة المسطحة وحواف التثبيت المزدوجة:</a:t>
            </a:r>
            <a:r>
              <a:rPr lang="ar" sz="1600" dirty="0"/>
              <a:t> مصممة لتثبيت حافة الإطار بشكل أكثر فعالية، ما يقلل خطر انزلاق الإطار.</a:t>
            </a:r>
          </a:p>
          <a:p>
            <a:pPr rtl="1"/>
            <a:r>
              <a:rPr lang="ar" sz="1600" b="1" dirty="0"/>
              <a:t>العجلات المقسمة</a:t>
            </a:r>
            <a:r>
              <a:rPr lang="ar" sz="1600" dirty="0"/>
              <a:t>: تتكون من جزأين أو أكثر، ما يسمح بتغيير الإطارات بسهولة، وغالبًا ما تستخدم في التطبيقات الصناعية أو الزراعية.</a:t>
            </a:r>
          </a:p>
          <a:p>
            <a:pPr rtl="1"/>
            <a:r>
              <a:rPr lang="ar" sz="1600" b="1" dirty="0"/>
              <a:t>عجلات شفة قابلة للفك</a:t>
            </a:r>
            <a:r>
              <a:rPr lang="ar" sz="1600" dirty="0"/>
              <a:t>: تتميز بحافة قابلة للفصل تُتيح تغيير الإطارات بسرعة، وتُستخدم غالبًا في المركبات الثقيلة أو المتخصصة.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64088" y="332656"/>
            <a:ext cx="3779912"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ب3 بنية عجلة الطريق</a:t>
            </a:r>
          </a:p>
        </p:txBody>
      </p:sp>
      <p:sp>
        <p:nvSpPr>
          <p:cNvPr id="2" name="Footer Placeholder 2">
            <a:extLst>
              <a:ext uri="{FF2B5EF4-FFF2-40B4-BE49-F238E27FC236}">
                <a16:creationId xmlns:a16="http://schemas.microsoft.com/office/drawing/2014/main" id="{179963AF-28AC-4329-0406-0BC0F3FB79E6}"/>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3711736117"/>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484784"/>
            <a:ext cx="8424936" cy="25202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رموز الجنط وطرق تثبيت العجلات</a:t>
            </a:r>
          </a:p>
          <a:p>
            <a:pPr marL="0" indent="0" rtl="1">
              <a:buNone/>
            </a:pPr>
            <a:r>
              <a:rPr lang="ar" sz="1600" b="1" dirty="0"/>
              <a:t>رموز الجنط</a:t>
            </a:r>
            <a:r>
              <a:rPr lang="ar" sz="1600" dirty="0"/>
              <a:t>: </a:t>
            </a:r>
          </a:p>
          <a:p>
            <a:pPr rtl="1"/>
            <a:r>
              <a:rPr lang="ar" sz="1600" dirty="0"/>
              <a:t>تشير رموز الجنط إلى الأبعاد والمواصفات الخاصة بجنط العجلة، بما في ذلك العرض والقطر والنمط.</a:t>
            </a:r>
          </a:p>
          <a:p>
            <a:pPr rtl="1"/>
            <a:r>
              <a:rPr lang="ar" sz="1600" dirty="0"/>
              <a:t>يضمن فهم رموز الجنوط التوافق مع الإطارات والمركبات المحددة، ما يساعد على تركيب الإطارات بشكل صحيح وضمان الأداء المناسب.</a:t>
            </a:r>
          </a:p>
          <a:p>
            <a:pPr marL="0" indent="0" rtl="1">
              <a:buNone/>
            </a:pPr>
            <a:endParaRPr lang="en-GB" sz="1600" b="1" dirty="0"/>
          </a:p>
          <a:p>
            <a:pPr marL="0" indent="0" rtl="1">
              <a:buNone/>
            </a:pPr>
            <a:r>
              <a:rPr lang="ar" sz="1600" b="1" dirty="0"/>
              <a:t>طرق ثبيت العجلات</a:t>
            </a:r>
            <a:r>
              <a:rPr lang="ar" sz="1600" dirty="0"/>
              <a:t>:</a:t>
            </a:r>
          </a:p>
          <a:p>
            <a:pPr rtl="1"/>
            <a:r>
              <a:rPr lang="ar" sz="1600" b="1" dirty="0"/>
              <a:t>البراغي والصواميل</a:t>
            </a:r>
            <a:r>
              <a:rPr lang="ar" sz="1600" dirty="0"/>
              <a:t>: يُعد تثبيت العجلات بالبراغي والصواميل الطريقة الأكثر شيوعًا، حيث تُثبَّت العجلة بواسطة مسامير أو صواميل تربطها بالمحور.</a:t>
            </a:r>
          </a:p>
          <a:p>
            <a:pPr rtl="1"/>
            <a:r>
              <a:rPr lang="ar" sz="1600" b="1" dirty="0"/>
              <a:t>آليات التثبيت المركزي</a:t>
            </a:r>
            <a:r>
              <a:rPr lang="ar" sz="1600" dirty="0"/>
              <a:t>: توجد في مركبات الأداء، وتسمح بتغيير سريع للعجلات باستخدام صمولة مركزية واحدة.</a:t>
            </a:r>
          </a:p>
          <a:p>
            <a:pPr rtl="1"/>
            <a:r>
              <a:rPr lang="ar" sz="1600" b="1" dirty="0"/>
              <a:t>المسامير اللولبية</a:t>
            </a:r>
            <a:r>
              <a:rPr lang="ar" sz="1600" dirty="0"/>
              <a:t>: تُثبت العجلة عن طريق ربط الصواميل على المسامير اللولبية المثبتة مسبقًا على محور المركبة.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64088" y="332656"/>
            <a:ext cx="3779912"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ب3 بنية عجلة الطريق</a:t>
            </a:r>
          </a:p>
        </p:txBody>
      </p:sp>
      <p:sp>
        <p:nvSpPr>
          <p:cNvPr id="2" name="Footer Placeholder 2">
            <a:extLst>
              <a:ext uri="{FF2B5EF4-FFF2-40B4-BE49-F238E27FC236}">
                <a16:creationId xmlns:a16="http://schemas.microsoft.com/office/drawing/2014/main" id="{5F845FE3-1DE7-03B5-2F54-16C90E1145D3}"/>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2660873069"/>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572000" y="1484784"/>
            <a:ext cx="4299930" cy="43204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أنواع تصنيع الإطارات</a:t>
            </a:r>
          </a:p>
          <a:p>
            <a:pPr marL="0" indent="0" rtl="1">
              <a:buNone/>
            </a:pPr>
            <a:endParaRPr lang="en-GB" sz="1600" b="1" dirty="0"/>
          </a:p>
          <a:p>
            <a:pPr rtl="1"/>
            <a:r>
              <a:rPr lang="ar" sz="1600" b="1" dirty="0"/>
              <a:t>إطارات محزمة</a:t>
            </a:r>
            <a:r>
              <a:rPr lang="ar" sz="1600" dirty="0"/>
              <a:t>: تحتوي على طبقات مرتبة بزاوية 90 درجة على اتجاه الإطار، مع أحزمة فولاذية لتوفير تعزيز إضافي. توفر كفاءة محسّنة في استهلاك الوقود، وتحكمًا محسنًا، وعمرًا أطول لمداس الإطار، وتُستخدم غالبًا في سيارات الركاب.</a:t>
            </a:r>
          </a:p>
          <a:p>
            <a:pPr rtl="1"/>
            <a:r>
              <a:rPr lang="ar" sz="1600" b="1" dirty="0"/>
              <a:t>إطارات قطرية</a:t>
            </a:r>
            <a:r>
              <a:rPr lang="ar" sz="1600" dirty="0"/>
              <a:t>: تُرتب الطبقات بشكل قطري عبر الإطار، ما يُنشئ هيكلًا قويًا. توفر جدرانًا جانبية قوية، ما يجعلها مناسبة للاستخدام على الطرق الوعرة والزراعية والصناعية.</a:t>
            </a:r>
          </a:p>
          <a:p>
            <a:pPr rtl="1"/>
            <a:r>
              <a:rPr lang="ar" sz="1600" b="1" dirty="0"/>
              <a:t>إطارات مفرغة</a:t>
            </a:r>
            <a:r>
              <a:rPr lang="ar" sz="1600" dirty="0"/>
              <a:t>: مُصممة للحفاظ على الشكل والأداء بعد الثقب، ما يسمح للسائقين بمواصلة القيادة لمسافة محدودة. توفر أمانًا إضافيًا ولكنها تتطلب عجلات وأنظمة مراقبة متوافقة.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499992" y="332656"/>
            <a:ext cx="4644008"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ب4 بنية الإطارات واستخدامها</a:t>
            </a:r>
          </a:p>
        </p:txBody>
      </p:sp>
      <p:sp>
        <p:nvSpPr>
          <p:cNvPr id="2" name="Footer Placeholder 2">
            <a:extLst>
              <a:ext uri="{FF2B5EF4-FFF2-40B4-BE49-F238E27FC236}">
                <a16:creationId xmlns:a16="http://schemas.microsoft.com/office/drawing/2014/main" id="{58FE150D-A20A-D0BA-ADF6-EFB50EF7155A}"/>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pic>
        <p:nvPicPr>
          <p:cNvPr id="3" name="Picture 2" descr="Close-up of a black tire&#10;&#10;Description automatically generated">
            <a:extLst>
              <a:ext uri="{FF2B5EF4-FFF2-40B4-BE49-F238E27FC236}">
                <a16:creationId xmlns:a16="http://schemas.microsoft.com/office/drawing/2014/main" id="{85A48590-BC3D-6231-CE0B-09C4AA5A6E7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7544" y="2708920"/>
            <a:ext cx="3800462" cy="2533641"/>
          </a:xfrm>
          <a:prstGeom prst="rect">
            <a:avLst/>
          </a:prstGeom>
        </p:spPr>
      </p:pic>
    </p:spTree>
    <p:extLst>
      <p:ext uri="{BB962C8B-B14F-4D97-AF65-F5344CB8AC3E}">
        <p14:creationId xmlns:p14="http://schemas.microsoft.com/office/powerpoint/2010/main" val="3697481584"/>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lose-up of a tire with text on it&#10;&#10;Description automatically generated">
            <a:extLst>
              <a:ext uri="{FF2B5EF4-FFF2-40B4-BE49-F238E27FC236}">
                <a16:creationId xmlns:a16="http://schemas.microsoft.com/office/drawing/2014/main" id="{B59CFFAD-A617-8E08-162D-09D3C2DFDF1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44008" y="2708920"/>
            <a:ext cx="4103688" cy="2735794"/>
          </a:xfrm>
          <a:prstGeom prst="rect">
            <a:avLst/>
          </a:prstGeom>
        </p:spPr>
      </p:pic>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600" b="1" dirty="0">
                <a:solidFill>
                  <a:schemeClr val="tx2"/>
                </a:solidFill>
                <a:latin typeface="Sakkal Majalla" panose="02000000000000000000" pitchFamily="2" charset="-78"/>
                <a:cs typeface="Sakkal Majalla" panose="02000000000000000000" pitchFamily="2" charset="-78"/>
              </a:rPr>
              <a:t>ب4 بنية الإطارات واستخدامها</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8312" y="2196001"/>
            <a:ext cx="4103688"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fontScale="40000" lnSpcReduction="20000"/>
          </a:bodyPr>
          <a:lstStyle/>
          <a:p>
            <a:pPr marL="0" indent="0" rtl="1">
              <a:lnSpc>
                <a:spcPct val="90000"/>
              </a:lnSpc>
              <a:buNone/>
            </a:pPr>
            <a:r>
              <a:rPr lang="ar" sz="4000" b="1" dirty="0"/>
              <a:t>ب4 نمط الإطارات وعلامات الإطارات</a:t>
            </a:r>
          </a:p>
          <a:p>
            <a:pPr marL="0" indent="0" rtl="1">
              <a:lnSpc>
                <a:spcPct val="90000"/>
              </a:lnSpc>
              <a:buNone/>
            </a:pPr>
            <a:endParaRPr lang="en-GB" sz="2500" b="1" dirty="0"/>
          </a:p>
          <a:p>
            <a:pPr rtl="1">
              <a:lnSpc>
                <a:spcPct val="120000"/>
              </a:lnSpc>
            </a:pPr>
            <a:r>
              <a:rPr lang="ar" sz="3400" b="1" dirty="0"/>
              <a:t>العرض:</a:t>
            </a:r>
            <a:r>
              <a:rPr lang="ar" sz="3400" dirty="0"/>
              <a:t> يُعبر عن عرض الإطار بوحدة المليمتر، وهو عامل يؤثر في التماسك والاستقرار.</a:t>
            </a:r>
          </a:p>
          <a:p>
            <a:pPr rtl="1">
              <a:lnSpc>
                <a:spcPct val="120000"/>
              </a:lnSpc>
            </a:pPr>
            <a:r>
              <a:rPr lang="ar" sz="3400" b="1" dirty="0"/>
              <a:t>نسبة العرض إلى الارتفاع</a:t>
            </a:r>
            <a:r>
              <a:rPr lang="ar" sz="3400" dirty="0"/>
              <a:t>: النسبة المئوية لارتفاع الجدار الجانبي للإطار مقارنة بعرضه. توفر نسبة العرض إلى الارتفاع المنخفضة تحكمًا أفضل ولكنها قد تقلل راحة القيادة.</a:t>
            </a:r>
          </a:p>
          <a:p>
            <a:pPr rtl="1">
              <a:lnSpc>
                <a:spcPct val="120000"/>
              </a:lnSpc>
            </a:pPr>
            <a:r>
              <a:rPr lang="ar" sz="3400" b="1" dirty="0"/>
              <a:t>نوع التصنيع</a:t>
            </a:r>
            <a:r>
              <a:rPr lang="ar" sz="3400" dirty="0"/>
              <a:t>: هيكل قطري أو متقاطع، غالبًا ما يُميَّز على الجدار الجانبي.</a:t>
            </a:r>
          </a:p>
          <a:p>
            <a:pPr rtl="1">
              <a:lnSpc>
                <a:spcPct val="120000"/>
              </a:lnSpc>
            </a:pPr>
            <a:r>
              <a:rPr lang="ar" sz="3400" b="1" dirty="0"/>
              <a:t>مؤشر التحميل</a:t>
            </a:r>
            <a:r>
              <a:rPr lang="ar" sz="3400" dirty="0"/>
              <a:t>: يمثل الحد الأقصى للحمل الذي يمكن أن يتحمله الإطار، وهو ضروري لضمان سلامة المركبة.</a:t>
            </a:r>
          </a:p>
          <a:p>
            <a:pPr rtl="1">
              <a:lnSpc>
                <a:spcPct val="120000"/>
              </a:lnSpc>
            </a:pPr>
            <a:r>
              <a:rPr lang="ar" sz="3400" b="1" dirty="0"/>
              <a:t>مؤشر السرعة</a:t>
            </a:r>
            <a:r>
              <a:rPr lang="ar" sz="3400" dirty="0"/>
              <a:t>: يحدد السرعة القصوى التي يمكن يتحملها الإطار بأمان.</a:t>
            </a:r>
          </a:p>
          <a:p>
            <a:pPr rtl="1">
              <a:lnSpc>
                <a:spcPct val="120000"/>
              </a:lnSpc>
            </a:pPr>
            <a:r>
              <a:rPr lang="ar" sz="3400" b="1" dirty="0"/>
              <a:t>تصنيفات المخاطر</a:t>
            </a:r>
            <a:r>
              <a:rPr lang="ar" sz="3400" dirty="0"/>
              <a:t>: يشير إلى قدرة الإطار على حمل الحمولة، ما يُظهر مدى قوة تصنيع الإطار.</a:t>
            </a:r>
          </a:p>
          <a:p>
            <a:pPr rtl="1">
              <a:lnSpc>
                <a:spcPct val="120000"/>
              </a:lnSpc>
            </a:pPr>
            <a:r>
              <a:rPr lang="ar" sz="3400" b="1" dirty="0"/>
              <a:t>مؤشرات الاتجاه</a:t>
            </a:r>
            <a:r>
              <a:rPr lang="ar" sz="3400" dirty="0"/>
              <a:t>: الأسهم التي تشير إلى اتجاه الدوران الصحيح للحصول على الأداء الأمثل، توجد عادةً على إطارات الأداء والإطارات الاتجاهية.</a:t>
            </a:r>
            <a:br>
              <a:rPr lang="en-GB" sz="2900" dirty="0"/>
            </a:br>
            <a:endParaRPr lang="en-GB" sz="2900" dirty="0"/>
          </a:p>
        </p:txBody>
      </p:sp>
      <p:sp>
        <p:nvSpPr>
          <p:cNvPr id="2" name="TextBox 1">
            <a:extLst>
              <a:ext uri="{FF2B5EF4-FFF2-40B4-BE49-F238E27FC236}">
                <a16:creationId xmlns:a16="http://schemas.microsoft.com/office/drawing/2014/main" id="{A908CF88-4396-456A-B65D-880F42107C33}"/>
              </a:ext>
            </a:extLst>
          </p:cNvPr>
          <p:cNvSpPr txBox="1"/>
          <p:nvPr/>
        </p:nvSpPr>
        <p:spPr>
          <a:xfrm>
            <a:off x="4860032" y="3460358"/>
            <a:ext cx="576064" cy="184666"/>
          </a:xfrm>
          <a:prstGeom prst="rect">
            <a:avLst/>
          </a:prstGeom>
          <a:solidFill>
            <a:schemeClr val="tx1"/>
          </a:solidFill>
        </p:spPr>
        <p:txBody>
          <a:bodyPr wrap="square" lIns="0" tIns="0" rIns="0" bIns="0" rtlCol="0">
            <a:spAutoFit/>
          </a:bodyPr>
          <a:lstStyle/>
          <a:p>
            <a:pPr algn="ctr"/>
            <a:r>
              <a:rPr lang="ar-EG" sz="1200" dirty="0">
                <a:solidFill>
                  <a:schemeClr val="bg1"/>
                </a:solidFill>
                <a:latin typeface="Sakkal Majalla" panose="02000000000000000000" pitchFamily="2" charset="-78"/>
                <a:cs typeface="Sakkal Majalla" panose="02000000000000000000" pitchFamily="2" charset="-78"/>
              </a:rPr>
              <a:t>العرض</a:t>
            </a:r>
            <a:endParaRPr lang="en-US" sz="1200" dirty="0">
              <a:solidFill>
                <a:schemeClr val="bg1"/>
              </a:solidFill>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591EDA3F-1025-4833-ADB6-2136C2EE42DF}"/>
              </a:ext>
            </a:extLst>
          </p:cNvPr>
          <p:cNvSpPr txBox="1"/>
          <p:nvPr/>
        </p:nvSpPr>
        <p:spPr>
          <a:xfrm>
            <a:off x="5323034" y="2959520"/>
            <a:ext cx="864096" cy="369332"/>
          </a:xfrm>
          <a:prstGeom prst="rect">
            <a:avLst/>
          </a:prstGeom>
          <a:solidFill>
            <a:schemeClr val="tx1"/>
          </a:solidFill>
        </p:spPr>
        <p:txBody>
          <a:bodyPr wrap="square" lIns="0" tIns="0" rIns="0" bIns="0" rtlCol="0">
            <a:spAutoFit/>
          </a:bodyPr>
          <a:lstStyle/>
          <a:p>
            <a:pPr algn="ctr"/>
            <a:r>
              <a:rPr lang="ar-EG" sz="1200" dirty="0">
                <a:solidFill>
                  <a:schemeClr val="bg1"/>
                </a:solidFill>
                <a:latin typeface="Sakkal Majalla" panose="02000000000000000000" pitchFamily="2" charset="-78"/>
                <a:cs typeface="Sakkal Majalla" panose="02000000000000000000" pitchFamily="2" charset="-78"/>
              </a:rPr>
              <a:t>نسبة العرض إلى الارتفاع</a:t>
            </a:r>
            <a:endParaRPr lang="en-US" sz="1200" dirty="0">
              <a:solidFill>
                <a:schemeClr val="bg1"/>
              </a:solidFill>
              <a:latin typeface="Sakkal Majalla" panose="02000000000000000000" pitchFamily="2" charset="-78"/>
              <a:cs typeface="Sakkal Majalla" panose="02000000000000000000" pitchFamily="2" charset="-78"/>
            </a:endParaRPr>
          </a:p>
        </p:txBody>
      </p:sp>
      <p:sp>
        <p:nvSpPr>
          <p:cNvPr id="7" name="TextBox 6">
            <a:extLst>
              <a:ext uri="{FF2B5EF4-FFF2-40B4-BE49-F238E27FC236}">
                <a16:creationId xmlns:a16="http://schemas.microsoft.com/office/drawing/2014/main" id="{44D2A885-9D66-428E-8FD6-92F715BC6922}"/>
              </a:ext>
            </a:extLst>
          </p:cNvPr>
          <p:cNvSpPr txBox="1"/>
          <p:nvPr/>
        </p:nvSpPr>
        <p:spPr>
          <a:xfrm>
            <a:off x="6187130" y="3016561"/>
            <a:ext cx="939630" cy="184666"/>
          </a:xfrm>
          <a:prstGeom prst="rect">
            <a:avLst/>
          </a:prstGeom>
          <a:solidFill>
            <a:schemeClr val="tx1"/>
          </a:solidFill>
        </p:spPr>
        <p:txBody>
          <a:bodyPr wrap="square" lIns="0" tIns="0" rIns="0" bIns="0" rtlCol="0">
            <a:spAutoFit/>
          </a:bodyPr>
          <a:lstStyle/>
          <a:p>
            <a:pPr algn="ctr"/>
            <a:r>
              <a:rPr lang="ar-EG" sz="1200" dirty="0">
                <a:solidFill>
                  <a:schemeClr val="bg1"/>
                </a:solidFill>
                <a:latin typeface="Sakkal Majalla" panose="02000000000000000000" pitchFamily="2" charset="-78"/>
                <a:cs typeface="Sakkal Majalla" panose="02000000000000000000" pitchFamily="2" charset="-78"/>
              </a:rPr>
              <a:t>نوع التصنيع</a:t>
            </a:r>
            <a:endParaRPr lang="en-US" sz="1200" dirty="0">
              <a:solidFill>
                <a:schemeClr val="bg1"/>
              </a:solidFill>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8777B5E8-6A42-4661-B4D1-955BB4AC23C0}"/>
              </a:ext>
            </a:extLst>
          </p:cNvPr>
          <p:cNvSpPr txBox="1"/>
          <p:nvPr/>
        </p:nvSpPr>
        <p:spPr>
          <a:xfrm>
            <a:off x="6715436" y="3258268"/>
            <a:ext cx="864096" cy="184666"/>
          </a:xfrm>
          <a:prstGeom prst="rect">
            <a:avLst/>
          </a:prstGeom>
          <a:solidFill>
            <a:schemeClr val="tx1"/>
          </a:solidFill>
        </p:spPr>
        <p:txBody>
          <a:bodyPr wrap="square" lIns="0" tIns="0" rIns="0" bIns="0" rtlCol="0">
            <a:spAutoFit/>
          </a:bodyPr>
          <a:lstStyle/>
          <a:p>
            <a:pPr algn="ctr"/>
            <a:r>
              <a:rPr lang="ar-EG" sz="1200" dirty="0">
                <a:solidFill>
                  <a:schemeClr val="bg1"/>
                </a:solidFill>
                <a:latin typeface="Sakkal Majalla" panose="02000000000000000000" pitchFamily="2" charset="-78"/>
                <a:cs typeface="Sakkal Majalla" panose="02000000000000000000" pitchFamily="2" charset="-78"/>
              </a:rPr>
              <a:t>قطر الحافة</a:t>
            </a:r>
            <a:endParaRPr lang="en-US" sz="1200" dirty="0">
              <a:solidFill>
                <a:schemeClr val="bg1"/>
              </a:solidFill>
              <a:latin typeface="Sakkal Majalla" panose="02000000000000000000" pitchFamily="2" charset="-78"/>
              <a:cs typeface="Sakkal Majalla" panose="02000000000000000000" pitchFamily="2" charset="-78"/>
            </a:endParaRPr>
          </a:p>
        </p:txBody>
      </p:sp>
      <p:sp>
        <p:nvSpPr>
          <p:cNvPr id="9" name="TextBox 8">
            <a:extLst>
              <a:ext uri="{FF2B5EF4-FFF2-40B4-BE49-F238E27FC236}">
                <a16:creationId xmlns:a16="http://schemas.microsoft.com/office/drawing/2014/main" id="{45CE1249-DF1C-431A-9F4C-77F8323BB693}"/>
              </a:ext>
            </a:extLst>
          </p:cNvPr>
          <p:cNvSpPr txBox="1"/>
          <p:nvPr/>
        </p:nvSpPr>
        <p:spPr>
          <a:xfrm>
            <a:off x="7232731" y="3442934"/>
            <a:ext cx="864096" cy="184666"/>
          </a:xfrm>
          <a:prstGeom prst="rect">
            <a:avLst/>
          </a:prstGeom>
          <a:solidFill>
            <a:schemeClr val="tx1"/>
          </a:solidFill>
        </p:spPr>
        <p:txBody>
          <a:bodyPr wrap="square" lIns="0" tIns="0" rIns="0" bIns="0" rtlCol="0">
            <a:spAutoFit/>
          </a:bodyPr>
          <a:lstStyle/>
          <a:p>
            <a:pPr algn="ctr"/>
            <a:r>
              <a:rPr lang="ar-EG" sz="1200" dirty="0">
                <a:solidFill>
                  <a:schemeClr val="bg1"/>
                </a:solidFill>
                <a:latin typeface="Sakkal Majalla" panose="02000000000000000000" pitchFamily="2" charset="-78"/>
                <a:cs typeface="Sakkal Majalla" panose="02000000000000000000" pitchFamily="2" charset="-78"/>
              </a:rPr>
              <a:t>مؤشر التحميل</a:t>
            </a:r>
            <a:endParaRPr lang="en-US" sz="1200" dirty="0">
              <a:solidFill>
                <a:schemeClr val="bg1"/>
              </a:solidFill>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C462B55A-C19F-4034-95B8-356B373AFC9C}"/>
              </a:ext>
            </a:extLst>
          </p:cNvPr>
          <p:cNvSpPr txBox="1"/>
          <p:nvPr/>
        </p:nvSpPr>
        <p:spPr>
          <a:xfrm>
            <a:off x="7668344" y="3676707"/>
            <a:ext cx="864096" cy="169277"/>
          </a:xfrm>
          <a:prstGeom prst="rect">
            <a:avLst/>
          </a:prstGeom>
          <a:solidFill>
            <a:schemeClr val="tx1"/>
          </a:solidFill>
        </p:spPr>
        <p:txBody>
          <a:bodyPr wrap="square" lIns="0" tIns="0" rIns="0" bIns="0" rtlCol="0">
            <a:spAutoFit/>
          </a:bodyPr>
          <a:lstStyle/>
          <a:p>
            <a:pPr algn="ctr"/>
            <a:r>
              <a:rPr lang="ar-EG" sz="1100" dirty="0">
                <a:solidFill>
                  <a:schemeClr val="bg1"/>
                </a:solidFill>
                <a:latin typeface="Sakkal Majalla" panose="02000000000000000000" pitchFamily="2" charset="-78"/>
                <a:cs typeface="Sakkal Majalla" panose="02000000000000000000" pitchFamily="2" charset="-78"/>
              </a:rPr>
              <a:t>مؤشر السرعة</a:t>
            </a:r>
            <a:endParaRPr lang="en-US" sz="1100" dirty="0">
              <a:solidFill>
                <a:schemeClr val="bg1"/>
              </a:solidFill>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2144B7A8-D336-F67E-D7B2-6DF1A7643852}"/>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1807432862"/>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75556" y="2060848"/>
            <a:ext cx="8100900" cy="41764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استخدامات الإطارات</a:t>
            </a:r>
            <a:br>
              <a:rPr lang="en-GB" sz="1600" dirty="0"/>
            </a:br>
            <a:endParaRPr lang="en-GB" sz="1600" dirty="0"/>
          </a:p>
          <a:p>
            <a:pPr rtl="1"/>
            <a:r>
              <a:rPr lang="ar" sz="1600" b="1" dirty="0"/>
              <a:t>إطارات عالية الأداء</a:t>
            </a:r>
            <a:r>
              <a:rPr lang="ar" sz="1600" dirty="0"/>
              <a:t>: مصممة للسيارات الرياضية والمركبات عالية السرعة، ما يوفر تماسكًا وتحكمًا فائقين.</a:t>
            </a:r>
          </a:p>
          <a:p>
            <a:pPr rtl="1"/>
            <a:r>
              <a:rPr lang="ar" sz="1600" b="1" dirty="0"/>
              <a:t>إطارات المركبات الخفيفة</a:t>
            </a:r>
            <a:r>
              <a:rPr lang="ar" sz="1600" dirty="0"/>
              <a:t>: إطارات قياسية مصممة لسيارات الركاب، لتحقيق التوازن بين الراحة والكفاءة والمتانة.</a:t>
            </a:r>
          </a:p>
          <a:p>
            <a:pPr rtl="1"/>
            <a:r>
              <a:rPr lang="ar" sz="1600" b="1" dirty="0"/>
              <a:t>إطارات الدراجات النارية</a:t>
            </a:r>
            <a:r>
              <a:rPr lang="ar" sz="1600" dirty="0"/>
              <a:t>: مصممة خصيصًا للدراجات النارية ذات الأنماط والمركبات المختلفة لتحقيق التماسك والثبات.</a:t>
            </a:r>
          </a:p>
          <a:p>
            <a:pPr rtl="1"/>
            <a:r>
              <a:rPr lang="ar" sz="1600" b="1" dirty="0"/>
              <a:t>الإطارات الزراعية</a:t>
            </a:r>
            <a:r>
              <a:rPr lang="ar" sz="1600" dirty="0"/>
              <a:t>: مصممة للجرارات والآلات الزراعية الأخرى، ما يوفر قوة جر قوية على الأراضي الرخوة.</a:t>
            </a:r>
          </a:p>
          <a:p>
            <a:pPr rtl="1"/>
            <a:r>
              <a:rPr lang="ar" sz="1600" b="1" dirty="0"/>
              <a:t>الإطارات الصناعية</a:t>
            </a:r>
            <a:r>
              <a:rPr lang="ar" sz="1600" dirty="0"/>
              <a:t>: الإطارات الثقيلة المستخدمة في التصنيع والمعدات الصناعية، وتتميز بصلابتها وقدرتها على تحمل الأحمال الكبيرة.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402606" y="332656"/>
            <a:ext cx="4752527"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ب4 بنية الإطارات واستخدامها</a:t>
            </a:r>
          </a:p>
        </p:txBody>
      </p:sp>
      <p:sp>
        <p:nvSpPr>
          <p:cNvPr id="2" name="Footer Placeholder 2">
            <a:extLst>
              <a:ext uri="{FF2B5EF4-FFF2-40B4-BE49-F238E27FC236}">
                <a16:creationId xmlns:a16="http://schemas.microsoft.com/office/drawing/2014/main" id="{A8B9CFBA-E092-F13C-D7FC-73614CDBA84D}"/>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4057205295"/>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139953" y="1484784"/>
            <a:ext cx="4752527" cy="43924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أنواع الصمامات وأنظمة مراقبة ضغط الإطارات</a:t>
            </a:r>
          </a:p>
          <a:p>
            <a:pPr rtl="1"/>
            <a:r>
              <a:rPr lang="ar" sz="1600" b="1" dirty="0"/>
              <a:t>أنواع الصمامات</a:t>
            </a:r>
            <a:r>
              <a:rPr lang="ar" sz="1600" dirty="0"/>
              <a:t>: </a:t>
            </a:r>
            <a:r>
              <a:rPr lang="ar" sz="1600" b="1" dirty="0"/>
              <a:t>صمامات إطباقية:</a:t>
            </a:r>
            <a:r>
              <a:rPr lang="ar" sz="1600" dirty="0"/>
              <a:t> صمامات مطاطية معيارية سهلة التركيب، تُستخدم غالبًا في المركبات الخاصة.</a:t>
            </a:r>
          </a:p>
          <a:p>
            <a:pPr rtl="1"/>
            <a:r>
              <a:rPr lang="ar" sz="1600" b="1" dirty="0"/>
              <a:t>صمامات المشبك: </a:t>
            </a:r>
            <a:r>
              <a:rPr lang="ar" sz="1600" dirty="0"/>
              <a:t> تُثبت باستخدام مشبك معدني، ما يوفر متانة أعلى، وتُستخدم عادةً مع العجلات المعدنية والإطارات المفرغة.</a:t>
            </a:r>
          </a:p>
          <a:p>
            <a:pPr marL="182563" indent="-182563" rtl="1">
              <a:buFont typeface="Arial" panose="020B0604020202020204" pitchFamily="34" charset="0"/>
              <a:buChar char="•"/>
            </a:pPr>
            <a:endParaRPr lang="en-GB" sz="1600" dirty="0"/>
          </a:p>
          <a:p>
            <a:pPr marL="0" indent="0" rtl="1">
              <a:buNone/>
            </a:pPr>
            <a:r>
              <a:rPr lang="ar" sz="1600" b="1" dirty="0"/>
              <a:t>أنظمة مراقبة ضغط الإطارات</a:t>
            </a:r>
            <a:r>
              <a:rPr lang="ar" sz="1600" dirty="0"/>
              <a:t>:</a:t>
            </a:r>
          </a:p>
          <a:p>
            <a:pPr rtl="1"/>
            <a:r>
              <a:rPr lang="ar" sz="1600" b="1" dirty="0"/>
              <a:t>نظام مراقبة ضغط الإطارات المباشر:</a:t>
            </a:r>
            <a:r>
              <a:rPr lang="ar" sz="1600" dirty="0"/>
              <a:t> يستخدم أجهزة استشعار في كل إطار لمراقبة الضغط وإرسال البيانات إلى لوحة القيادة في المركبة.</a:t>
            </a:r>
          </a:p>
          <a:p>
            <a:pPr rtl="1"/>
            <a:r>
              <a:rPr lang="ar" sz="1600" b="1" dirty="0"/>
              <a:t>نظام مراقبة ضغط الإطارات غير المباشر:</a:t>
            </a:r>
            <a:r>
              <a:rPr lang="ar" sz="1600" dirty="0"/>
              <a:t> يقيس سرعة العجلة لاكتشاف تغيرات الضغط، ويشير إلى انخفاض التضخم عندما تختلف السرعة عن القيم المتوقعة.</a:t>
            </a:r>
          </a:p>
          <a:p>
            <a:pPr rtl="1"/>
            <a:r>
              <a:rPr lang="ar" sz="1600" b="1" dirty="0"/>
              <a:t>الأهمية</a:t>
            </a:r>
            <a:r>
              <a:rPr lang="ar" sz="1600" dirty="0"/>
              <a:t>: تعمل أنظمة مراقبة ضغط الإطارات على تعزيز السلامة من خلال تنبيه السائق إلى انخفاض ضغط الإطارات، ما يقلل مخاطر الانفجارات ويحسن كفاءة استهلاك الوقود.</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402606" y="332656"/>
            <a:ext cx="4752527"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ب4 بنية الإطارات واستخدامها</a:t>
            </a:r>
          </a:p>
        </p:txBody>
      </p:sp>
      <p:sp>
        <p:nvSpPr>
          <p:cNvPr id="2" name="Footer Placeholder 2">
            <a:extLst>
              <a:ext uri="{FF2B5EF4-FFF2-40B4-BE49-F238E27FC236}">
                <a16:creationId xmlns:a16="http://schemas.microsoft.com/office/drawing/2014/main" id="{1D0E021B-C02E-15CA-32B1-DCB1B9B2CCB7}"/>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pic>
        <p:nvPicPr>
          <p:cNvPr id="4" name="Picture 3" descr="A person using a tire pump&#10;&#10;Description automatically generated">
            <a:extLst>
              <a:ext uri="{FF2B5EF4-FFF2-40B4-BE49-F238E27FC236}">
                <a16:creationId xmlns:a16="http://schemas.microsoft.com/office/drawing/2014/main" id="{B3AB1929-54C8-C33D-B76D-940F35A8600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47564" y="2636912"/>
            <a:ext cx="3276041" cy="2184339"/>
          </a:xfrm>
          <a:prstGeom prst="rect">
            <a:avLst/>
          </a:prstGeom>
        </p:spPr>
      </p:pic>
    </p:spTree>
    <p:extLst>
      <p:ext uri="{BB962C8B-B14F-4D97-AF65-F5344CB8AC3E}">
        <p14:creationId xmlns:p14="http://schemas.microsoft.com/office/powerpoint/2010/main" val="1095428379"/>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ج</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223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تعرّف وظيفة مكونات نظام الكبح وآلية تشغيلها</a:t>
            </a:r>
          </a:p>
        </p:txBody>
      </p:sp>
      <p:sp>
        <p:nvSpPr>
          <p:cNvPr id="2" name="Footer Placeholder 2">
            <a:extLst>
              <a:ext uri="{FF2B5EF4-FFF2-40B4-BE49-F238E27FC236}">
                <a16:creationId xmlns:a16="http://schemas.microsoft.com/office/drawing/2014/main" id="{D7170D5A-FEE7-6C74-C384-3BFFFADC32B2}"/>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2447797040"/>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476161" y="1268760"/>
            <a:ext cx="5447669" cy="49685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الهدف</a:t>
            </a:r>
            <a:r>
              <a:rPr lang="ar" sz="1600" dirty="0"/>
              <a:t>: فهم المكونات الرئيسة لأنظمة الكبح، بما في ذلك أنواع المكابح القرصية، ودارات الكبح، وعمليات تفريغ المكابح من الهواء، وأنظمة مكابح اليد. يغطي هذا الجزء أنواع المكابح القرصية وخصائص سوائل المكابح ومكونات تفريغ المكابح من الهواء وأنظمة التحذير وأنواع دوائر المكابح وأنظمة مكابح اليد.</a:t>
            </a:r>
          </a:p>
          <a:p>
            <a:pPr marL="0" indent="0" rtl="1">
              <a:buNone/>
            </a:pPr>
            <a:endParaRPr lang="en-GB" sz="1600" dirty="0"/>
          </a:p>
          <a:p>
            <a:pPr marL="0" indent="0" rtl="1">
              <a:buNone/>
            </a:pPr>
            <a:r>
              <a:rPr lang="ar" sz="1600" b="1" dirty="0">
                <a:solidFill>
                  <a:schemeClr val="accent5">
                    <a:lumMod val="50000"/>
                  </a:schemeClr>
                </a:solidFill>
              </a:rPr>
              <a:t>أنواع أنظمة الكبح</a:t>
            </a:r>
          </a:p>
          <a:p>
            <a:pPr rtl="1"/>
            <a:r>
              <a:rPr lang="ar" sz="1600" b="1" dirty="0"/>
              <a:t>مكابح قرصية ذات مكبس واحد</a:t>
            </a:r>
            <a:r>
              <a:rPr lang="ar" sz="1600" dirty="0"/>
              <a:t>: يستخدم هذا النوع من المكابح مكبسًا واحدًا للضغط على وسادات المكابح باتجاه القرص، ما يُولد احتكاكًا يؤدي إلى إبطاء المركبة.</a:t>
            </a:r>
          </a:p>
          <a:p>
            <a:pPr rtl="1"/>
            <a:r>
              <a:rPr lang="ar" sz="1600" dirty="0"/>
              <a:t>تُستخدم في المركبات الصغيرة نظرًا لقدرتها على توفير قوة توقف كافية للأحمال الخفيفة.</a:t>
            </a:r>
          </a:p>
          <a:p>
            <a:pPr rtl="1"/>
            <a:r>
              <a:rPr lang="ar" sz="1600" b="1" dirty="0"/>
              <a:t>مكابح قرصية متعددة المكابس:</a:t>
            </a:r>
            <a:r>
              <a:rPr lang="ar" sz="1600" dirty="0"/>
              <a:t> تحتوي على مكابس متعددة تُوزِّع الضغط بالتساوي على وسادة المكابح، ما يُعزز قوة الكبح ويُحسِّن تبديد الحرارة.</a:t>
            </a:r>
          </a:p>
          <a:p>
            <a:pPr rtl="1"/>
            <a:r>
              <a:rPr lang="ar" sz="1600" dirty="0"/>
              <a:t>تُستخدم غالبًا في المركبات عالية الأداء أو الثقيلة نظرًا لتحسين كفاءة الكبح.</a:t>
            </a:r>
          </a:p>
          <a:p>
            <a:pPr rtl="1"/>
            <a:r>
              <a:rPr lang="ar" sz="1600" b="1" dirty="0"/>
              <a:t>خصائص سائل المكابح</a:t>
            </a:r>
            <a:r>
              <a:rPr lang="ar" sz="1600" dirty="0"/>
              <a:t>: </a:t>
            </a:r>
            <a:r>
              <a:rPr lang="ar" sz="1600" b="1" dirty="0"/>
              <a:t>الغرض</a:t>
            </a:r>
            <a:r>
              <a:rPr lang="ar" sz="1600" dirty="0"/>
              <a:t>: نقل القوة من دواسة المكابح إلى فكَّي المكابح ما يُتيح تنفيذ عملية الكبح.</a:t>
            </a:r>
          </a:p>
          <a:p>
            <a:pPr rtl="1"/>
            <a:r>
              <a:rPr lang="ar" sz="1600" b="1" dirty="0"/>
              <a:t>الخصائص:</a:t>
            </a:r>
            <a:r>
              <a:rPr lang="ar" sz="1600" dirty="0"/>
              <a:t> يجب أن يكون سائل المكابح غير قابل للضغط، وأن يتحمل درجات حرارة عالية، ومقاومًا لامتصاص الرطوبة لضمان الكفاءة.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ج1 المكونات الرئيسة</a:t>
            </a:r>
          </a:p>
        </p:txBody>
      </p:sp>
      <p:sp>
        <p:nvSpPr>
          <p:cNvPr id="2" name="Footer Placeholder 2">
            <a:extLst>
              <a:ext uri="{FF2B5EF4-FFF2-40B4-BE49-F238E27FC236}">
                <a16:creationId xmlns:a16="http://schemas.microsoft.com/office/drawing/2014/main" id="{6240D896-1645-54FD-6CA1-5347DAC80978}"/>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pic>
        <p:nvPicPr>
          <p:cNvPr id="3" name="Picture 2" descr="A close-up of a disc brake&#10;&#10;Description automatically generated">
            <a:extLst>
              <a:ext uri="{FF2B5EF4-FFF2-40B4-BE49-F238E27FC236}">
                <a16:creationId xmlns:a16="http://schemas.microsoft.com/office/drawing/2014/main" id="{30B0FB25-8556-BA84-DF97-BD661E4B68A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89371" y="2564904"/>
            <a:ext cx="2986790" cy="2808312"/>
          </a:xfrm>
          <a:prstGeom prst="rect">
            <a:avLst/>
          </a:prstGeom>
        </p:spPr>
      </p:pic>
    </p:spTree>
    <p:extLst>
      <p:ext uri="{BB962C8B-B14F-4D97-AF65-F5344CB8AC3E}">
        <p14:creationId xmlns:p14="http://schemas.microsoft.com/office/powerpoint/2010/main" val="3707984095"/>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4" y="2420888"/>
            <a:ext cx="8352928" cy="33843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مكون تفريغ المكابح من الهواء.</a:t>
            </a:r>
            <a:br>
              <a:rPr lang="en-GB" sz="1600" dirty="0"/>
            </a:br>
            <a:endParaRPr lang="en-GB" sz="1600" dirty="0"/>
          </a:p>
          <a:p>
            <a:pPr rtl="1"/>
            <a:r>
              <a:rPr lang="ar" sz="1600" b="1" dirty="0"/>
              <a:t>تفريغ المكابح من الهواء</a:t>
            </a:r>
            <a:r>
              <a:rPr lang="ar" sz="1600" dirty="0"/>
              <a:t>: عملية تفريغ الهواء من خطوط المكابح لضمان أداء الكبح المتسق والموثوق.</a:t>
            </a:r>
          </a:p>
          <a:p>
            <a:pPr rtl="1"/>
            <a:r>
              <a:rPr lang="ar" sz="1600" dirty="0"/>
              <a:t>يمكن أن يتسبب الهواء في الخطوط في ضعف استجابة المكابح، ما يقلل فعالية الكبح.</a:t>
            </a:r>
          </a:p>
          <a:p>
            <a:pPr rtl="1"/>
            <a:r>
              <a:rPr lang="ar" sz="1600" b="1" dirty="0"/>
              <a:t>مكونات تفريغ المكابح من الهواء:</a:t>
            </a:r>
            <a:r>
              <a:rPr lang="ar" sz="1600" dirty="0"/>
              <a:t> </a:t>
            </a:r>
            <a:r>
              <a:rPr lang="ar" sz="1600" b="1" dirty="0"/>
              <a:t>لولب تنفيس</a:t>
            </a:r>
            <a:r>
              <a:rPr lang="ar" sz="1600" dirty="0"/>
              <a:t>: تتيح إطلاق كل من الهواء وسائل المكابح بشكل محكم خلال عملية تفريغ الهواء.</a:t>
            </a:r>
          </a:p>
          <a:p>
            <a:pPr rtl="1"/>
            <a:r>
              <a:rPr lang="ar" sz="1600" b="1" dirty="0"/>
              <a:t>صمام تفريغ المكابح من الهواء:</a:t>
            </a:r>
            <a:r>
              <a:rPr lang="ar" sz="1600" dirty="0"/>
              <a:t> صمام أحادي الاتجاه يسمح بخروج الهواء دون دخول هواء جديد إلى النظام.</a:t>
            </a:r>
          </a:p>
          <a:p>
            <a:pPr rtl="1"/>
            <a:r>
              <a:rPr lang="ar" sz="1600" b="1" dirty="0"/>
              <a:t>مضخة التفريغ:</a:t>
            </a:r>
            <a:r>
              <a:rPr lang="ar" sz="1600" dirty="0"/>
              <a:t> جهاز يستخدم لتوليد ضغط في نظام الكبح، ما يطرد الهواء من الخطوط ويضمن استجابة جيدة للدواسة.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300192" y="332656"/>
            <a:ext cx="2797055"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ج1 المكونات الرئيسة</a:t>
            </a:r>
          </a:p>
        </p:txBody>
      </p:sp>
      <p:sp>
        <p:nvSpPr>
          <p:cNvPr id="2" name="Footer Placeholder 2">
            <a:extLst>
              <a:ext uri="{FF2B5EF4-FFF2-40B4-BE49-F238E27FC236}">
                <a16:creationId xmlns:a16="http://schemas.microsoft.com/office/drawing/2014/main" id="{AD3A31B8-A87C-1E72-7E0D-0BAB4F1DCE05}"/>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3066222365"/>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412776"/>
            <a:ext cx="8964488" cy="44644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أنظمة تحذير وسادة المكابح.</a:t>
            </a:r>
            <a:br>
              <a:rPr lang="en-GB" sz="1600" dirty="0"/>
            </a:br>
            <a:endParaRPr lang="en-GB" sz="1600" dirty="0"/>
          </a:p>
          <a:p>
            <a:pPr marL="0" indent="0" rtl="1">
              <a:buNone/>
            </a:pPr>
            <a:r>
              <a:rPr lang="ar" sz="1600" b="1" dirty="0"/>
              <a:t>أجهزة استشعار تآكل وسادة المكابح:</a:t>
            </a:r>
            <a:r>
              <a:rPr lang="ar" sz="1600" dirty="0"/>
              <a:t> </a:t>
            </a:r>
            <a:r>
              <a:rPr lang="ar" sz="1600" b="1" dirty="0"/>
              <a:t>الوظيفة</a:t>
            </a:r>
            <a:r>
              <a:rPr lang="ar" sz="1600" dirty="0"/>
              <a:t>: تكتشف حالة تآكل وسادات المكابح وتُنبه السائق بضرورة استبدالها لضمان الكفاءة.</a:t>
            </a:r>
          </a:p>
          <a:p>
            <a:pPr rtl="1"/>
            <a:r>
              <a:rPr lang="ar" sz="1600" b="1" dirty="0"/>
              <a:t>أنواع</a:t>
            </a:r>
            <a:r>
              <a:rPr lang="ar" sz="1600" dirty="0"/>
              <a:t>: </a:t>
            </a:r>
            <a:r>
              <a:rPr lang="ar" sz="1600" b="1" dirty="0"/>
              <a:t>أجهزة الاستشعار الميكانيكية</a:t>
            </a:r>
            <a:r>
              <a:rPr lang="ar" sz="1600" dirty="0"/>
              <a:t>: شريط معدني يلامس القرص عند تآكل الوسادة، ما يُحدث ضجيجًا صاخبًا.</a:t>
            </a:r>
          </a:p>
          <a:p>
            <a:pPr rtl="1"/>
            <a:r>
              <a:rPr lang="ar" sz="1600" b="1" dirty="0"/>
              <a:t>أجهزة الاستشعار الإلكترونية</a:t>
            </a:r>
            <a:r>
              <a:rPr lang="ar" sz="1600" dirty="0"/>
              <a:t>: تصدر أجهزة الاستشعار المدمجة في وسادة المكابح تنبيه عبر إضاءة مؤشر تحذيري على لوحة القيادة عند الحاجة إلى استبدال الوسادات.</a:t>
            </a:r>
          </a:p>
          <a:p>
            <a:pPr rtl="1"/>
            <a:r>
              <a:rPr lang="ar" sz="1600" b="1" dirty="0"/>
              <a:t>المزايا</a:t>
            </a:r>
            <a:r>
              <a:rPr lang="ar" sz="1600" dirty="0"/>
              <a:t>: تُعزز السلامة من خلال تنبيه السائق بضرورة استبدال وسائد المكابح، ما يقلل خطر تعطل المكابح.</a:t>
            </a:r>
          </a:p>
          <a:p>
            <a:pPr marL="0" indent="0" rtl="1">
              <a:buNone/>
            </a:pPr>
            <a:endParaRPr lang="en-GB" sz="1600" dirty="0"/>
          </a:p>
          <a:p>
            <a:pPr marL="0" indent="0" rtl="1">
              <a:buNone/>
            </a:pPr>
            <a:r>
              <a:rPr lang="ar" sz="1600" b="1" dirty="0">
                <a:solidFill>
                  <a:schemeClr val="accent5">
                    <a:lumMod val="50000"/>
                  </a:schemeClr>
                </a:solidFill>
              </a:rPr>
              <a:t>أنواع دوائر المكابح (التصنيع والأداء)</a:t>
            </a:r>
            <a:br>
              <a:rPr lang="en-GB" sz="1600" dirty="0"/>
            </a:br>
            <a:endParaRPr lang="en-GB" sz="1600" dirty="0"/>
          </a:p>
          <a:p>
            <a:pPr marL="0" indent="0" rtl="1">
              <a:buNone/>
            </a:pPr>
            <a:r>
              <a:rPr lang="ar" sz="1600" b="1" dirty="0"/>
              <a:t>أسطوانة كبح رئيسة ترادفية:</a:t>
            </a:r>
            <a:r>
              <a:rPr lang="ar" sz="1600" dirty="0"/>
              <a:t> أسطوانة رئيسة تحتوي على حجرتين منفصلتين، ما يتيح وجود دوائر هيدروليكية مستقلة للمكابح الأمامية والخلفية.</a:t>
            </a:r>
          </a:p>
          <a:p>
            <a:pPr rtl="1"/>
            <a:r>
              <a:rPr lang="ar" sz="1600" b="1" dirty="0"/>
              <a:t>المزايا</a:t>
            </a:r>
            <a:r>
              <a:rPr lang="ar" sz="1600" dirty="0"/>
              <a:t>: تعزز السلامة من خلال توفير قدرة الكبح لمحور واحد على الأقل في حالة تعطل الدائرة الأخرى.</a:t>
            </a:r>
          </a:p>
          <a:p>
            <a:pPr rtl="1"/>
            <a:r>
              <a:rPr lang="ar" sz="1600" b="1" dirty="0"/>
              <a:t>وحدة التحكم في الموضع (المؤازرة)</a:t>
            </a:r>
            <a:r>
              <a:rPr lang="ar" sz="1600" dirty="0"/>
              <a:t>: استخدم ضغط التفريغ لتضخيم القوة المطبقة على دواسة المكابح، ما يسهل عملية على السائق.</a:t>
            </a:r>
          </a:p>
          <a:p>
            <a:pPr rtl="1"/>
            <a:r>
              <a:rPr lang="ar" sz="1600" dirty="0"/>
              <a:t>تُستخدم بشكل شائع في سيارات الركاب، لتقليل إجهاد السائق.</a:t>
            </a:r>
          </a:p>
          <a:p>
            <a:pPr rtl="1"/>
            <a:r>
              <a:rPr lang="ar" sz="1600" b="1" dirty="0"/>
              <a:t>صمامات توزيع الضغط:</a:t>
            </a:r>
            <a:r>
              <a:rPr lang="ar" sz="1600" dirty="0"/>
              <a:t> اضبط قوة الكبح المطبقة على المكابح الخلفية بناءً على حمولة المركبة، ما يساعد على منع انغلاق العجلات الخلفية. توجد غالبًا في المركبات ذات الأحمال المختلفة، مثل الشاحنات والشاحنات الصغيرة.</a:t>
            </a:r>
            <a:br>
              <a:rPr lang="en-GB" sz="1600" dirty="0"/>
            </a:br>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56176" y="332656"/>
            <a:ext cx="2941071"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ج1 المكونات الرئيسة</a:t>
            </a:r>
          </a:p>
        </p:txBody>
      </p:sp>
      <p:sp>
        <p:nvSpPr>
          <p:cNvPr id="2" name="Footer Placeholder 2">
            <a:extLst>
              <a:ext uri="{FF2B5EF4-FFF2-40B4-BE49-F238E27FC236}">
                <a16:creationId xmlns:a16="http://schemas.microsoft.com/office/drawing/2014/main" id="{D15FEBFD-8B47-7286-4138-8EBCBCD3B0F7}"/>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2502188395"/>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4" y="1412776"/>
            <a:ext cx="8424936" cy="30963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أنظمة الكبح اليدوية</a:t>
            </a:r>
            <a:br>
              <a:rPr lang="en-GB" sz="1600" dirty="0"/>
            </a:br>
            <a:endParaRPr lang="en-GB" sz="1600" dirty="0"/>
          </a:p>
          <a:p>
            <a:pPr rtl="1"/>
            <a:r>
              <a:rPr lang="ar" sz="1600" b="1" dirty="0"/>
              <a:t>أنظمة الكبح اليدوية الميكانيكية:</a:t>
            </a:r>
            <a:r>
              <a:rPr lang="ar" sz="1600" dirty="0"/>
              <a:t> تعتمد على كابل متصل بالمكابح الخلفية لتثبيت المركبة في مكانها عند الوقوف.</a:t>
            </a:r>
          </a:p>
          <a:p>
            <a:pPr rtl="1"/>
            <a:r>
              <a:rPr lang="ar" sz="1600" b="1" dirty="0"/>
              <a:t>المكونات</a:t>
            </a:r>
            <a:r>
              <a:rPr lang="ar" sz="1600" dirty="0"/>
              <a:t>: </a:t>
            </a:r>
            <a:r>
              <a:rPr lang="ar" sz="1600" b="1" dirty="0"/>
              <a:t>ذراع المكبح اليدوي</a:t>
            </a:r>
            <a:r>
              <a:rPr lang="ar" sz="1600" dirty="0"/>
              <a:t>: يطبق الشد على الكابل.</a:t>
            </a:r>
          </a:p>
          <a:p>
            <a:pPr rtl="1"/>
            <a:r>
              <a:rPr lang="ar" sz="1600" b="1" dirty="0"/>
              <a:t>الكابلات</a:t>
            </a:r>
            <a:r>
              <a:rPr lang="ar" sz="1600" dirty="0"/>
              <a:t>: تنقل القوة من الرافعة إلى المكابح الخلفية، ما يؤدي إلى قفل العجلات.</a:t>
            </a:r>
          </a:p>
          <a:p>
            <a:pPr rtl="1"/>
            <a:r>
              <a:rPr lang="ar" sz="1600" b="1" dirty="0"/>
              <a:t>التشغيل</a:t>
            </a:r>
            <a:r>
              <a:rPr lang="ar" sz="1600" dirty="0"/>
              <a:t>: يؤدي سحب ذراع المكبح اليدوي إلى شد الكابل وتنشيط المكابح الخلفية.</a:t>
            </a:r>
          </a:p>
          <a:p>
            <a:pPr rtl="1"/>
            <a:r>
              <a:rPr lang="ar" sz="1600" b="1" dirty="0"/>
              <a:t>أنظمة المكبح اليدوي الكهربائية:</a:t>
            </a:r>
            <a:r>
              <a:rPr lang="ar" sz="1600" dirty="0"/>
              <a:t> نظام يُتحكم فيه إلكترونيًا يستبدل ذراع المكبح اليدوي التقليدي بزر.</a:t>
            </a:r>
          </a:p>
          <a:p>
            <a:pPr rtl="1"/>
            <a:r>
              <a:rPr lang="ar" sz="1600" b="1" dirty="0"/>
              <a:t>المكونات</a:t>
            </a:r>
            <a:r>
              <a:rPr lang="ar" sz="1600" dirty="0"/>
              <a:t>: </a:t>
            </a:r>
            <a:r>
              <a:rPr lang="ar" sz="1600" b="1" dirty="0"/>
              <a:t>وحدة التحكم الإلكترونية</a:t>
            </a:r>
            <a:r>
              <a:rPr lang="ar" sz="1600" dirty="0"/>
              <a:t>: تتحكم في وظيفة المكابح اليدوي الكهربائية بناءً على أوامر السائق.</a:t>
            </a:r>
          </a:p>
          <a:p>
            <a:pPr rtl="1"/>
            <a:r>
              <a:rPr lang="ar" sz="1600" b="1" dirty="0"/>
              <a:t>المحرك الكهربائي</a:t>
            </a:r>
            <a:r>
              <a:rPr lang="ar" sz="1600" dirty="0"/>
              <a:t>: يُفعّل أو يحرر المكابح بناءً على إشارات وحدة التحكم الإلكترونية.</a:t>
            </a:r>
          </a:p>
          <a:p>
            <a:pPr rtl="1"/>
            <a:r>
              <a:rPr lang="ar" sz="1600" b="1" dirty="0"/>
              <a:t>المزايا</a:t>
            </a:r>
            <a:r>
              <a:rPr lang="ar" sz="1600" dirty="0"/>
              <a:t>: يوفر تطبيقًا متسقًا للمكابح ويتكامل مع الأنظمة الأخرى، مثل نظام المساعدة على الانطلاق على المرتفعات</a:t>
            </a:r>
            <a:br>
              <a:rPr lang="en-GB" sz="1400" dirty="0"/>
            </a:br>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56176" y="332656"/>
            <a:ext cx="2941071"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ج1 المكونات الرئيسة</a:t>
            </a:r>
          </a:p>
        </p:txBody>
      </p:sp>
      <p:sp>
        <p:nvSpPr>
          <p:cNvPr id="2" name="Footer Placeholder 2">
            <a:extLst>
              <a:ext uri="{FF2B5EF4-FFF2-40B4-BE49-F238E27FC236}">
                <a16:creationId xmlns:a16="http://schemas.microsoft.com/office/drawing/2014/main" id="{A194FF5F-6831-9CEC-5AE8-96EB6FF03AE1}"/>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293165093"/>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851920" y="2060848"/>
            <a:ext cx="5112568" cy="37444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الهدف</a:t>
            </a:r>
            <a:r>
              <a:rPr lang="ar" sz="1600" dirty="0"/>
              <a:t>: تعرف تشغيل أنظمة منع انغلاق المكابح ومكوناته ووظائفه وأنظمة التحكم في الجر، بالإضافة إلى التحكم في الاستقرار الديناميكي. يتناول هذا الجزء نظام منع انغلاق المكابح ومكونات التحكم في الجر، بما في ذلك أجهزة استشعار سرعة العجلة ووحدة التحكم الإلكترونية ومغير النظام والخزان، إضافة إلى التحكم في الاستقرار الديناميكي.</a:t>
            </a:r>
          </a:p>
          <a:p>
            <a:pPr marL="0" indent="0" rtl="1">
              <a:buNone/>
            </a:pPr>
            <a:endParaRPr lang="en-GB" sz="1600" dirty="0"/>
          </a:p>
          <a:p>
            <a:pPr marL="0" indent="0" rtl="1">
              <a:buNone/>
            </a:pPr>
            <a:r>
              <a:rPr lang="ar" sz="1600" b="1" dirty="0">
                <a:solidFill>
                  <a:schemeClr val="accent5">
                    <a:lumMod val="50000"/>
                  </a:schemeClr>
                </a:solidFill>
              </a:rPr>
              <a:t>تشغيل نظام منع انغلاق المكابح (ABS)</a:t>
            </a:r>
          </a:p>
          <a:p>
            <a:pPr marL="0" indent="0" rtl="1">
              <a:buNone/>
            </a:pPr>
            <a:r>
              <a:rPr lang="ar" sz="1600" b="1" dirty="0"/>
              <a:t>كيف يعمل نظام منع انغلاق المكابح</a:t>
            </a:r>
            <a:r>
              <a:rPr lang="ar" sz="1600" dirty="0"/>
              <a:t>: يمنع نظام منع انغلاق المكابح انغلاق العجلات في أثناء الكبح الشديد عن طريق الضغط السريع على المكابح، ما يسمح للسائق بالحفاظ على التحكم في التوجيه. يُعدل النظام ضغط الكبح بناءً على بيانات أجهزة استشعار سرعة العجلة، ما يُحافظ على قوة الكبح المثلى دون انزلاق.</a:t>
            </a:r>
            <a:br>
              <a:rPr lang="en-GB" sz="1600" dirty="0"/>
            </a:br>
            <a:r>
              <a:rPr lang="ar" sz="1600" b="1" dirty="0"/>
              <a:t>فوائد نظام منع انغلاق المكابح</a:t>
            </a:r>
            <a:r>
              <a:rPr lang="ar" sz="1600" dirty="0"/>
              <a:t>: يُحسن استقرار المركبة والتحكم بها، خاصةً على الأسطح الزلقة أو غير المستوية. يسمح للسائق بالتوجيه في أثناء الكبح، ما يقلل مسافات التوقف ويعزز مستوى السلامة.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22914" y="116632"/>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ج2 نظام منع انغلاق المكابح (ABS) </a:t>
            </a:r>
          </a:p>
          <a:p>
            <a:pPr rtl="1"/>
            <a:r>
              <a:rPr lang="ar" sz="2200" b="1" dirty="0">
                <a:latin typeface="Sakkal Majalla" panose="02000000000000000000" pitchFamily="2" charset="-78"/>
                <a:cs typeface="Sakkal Majalla" panose="02000000000000000000" pitchFamily="2" charset="-78"/>
              </a:rPr>
              <a:t>ومكونات التحكم في الجر</a:t>
            </a:r>
          </a:p>
        </p:txBody>
      </p:sp>
      <p:sp>
        <p:nvSpPr>
          <p:cNvPr id="2" name="Footer Placeholder 2">
            <a:extLst>
              <a:ext uri="{FF2B5EF4-FFF2-40B4-BE49-F238E27FC236}">
                <a16:creationId xmlns:a16="http://schemas.microsoft.com/office/drawing/2014/main" id="{EF68E037-02D9-8B58-4743-8BDE242054AB}"/>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pic>
        <p:nvPicPr>
          <p:cNvPr id="4" name="Picture 3" descr="A yellow button with black text&#10;&#10;Description automatically generated">
            <a:extLst>
              <a:ext uri="{FF2B5EF4-FFF2-40B4-BE49-F238E27FC236}">
                <a16:creationId xmlns:a16="http://schemas.microsoft.com/office/drawing/2014/main" id="{2DCF347B-3BF4-8C6C-CD08-D54C5852C3D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7544" y="2880248"/>
            <a:ext cx="3164945" cy="2105615"/>
          </a:xfrm>
          <a:prstGeom prst="rect">
            <a:avLst/>
          </a:prstGeom>
        </p:spPr>
      </p:pic>
    </p:spTree>
    <p:extLst>
      <p:ext uri="{BB962C8B-B14F-4D97-AF65-F5344CB8AC3E}">
        <p14:creationId xmlns:p14="http://schemas.microsoft.com/office/powerpoint/2010/main" val="2498227278"/>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700808"/>
            <a:ext cx="8496944" cy="40324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المكونات الرئيسة لنظام منع انغلاق المكابح</a:t>
            </a:r>
          </a:p>
          <a:p>
            <a:pPr rtl="1"/>
            <a:r>
              <a:rPr lang="ar" sz="1600" b="1" dirty="0"/>
              <a:t>أجهزة استشعار سرعة العجلة</a:t>
            </a:r>
            <a:r>
              <a:rPr lang="ar" sz="1600" dirty="0"/>
              <a:t>: تراقب أجهزة الاستشعار المتواجدة على كل عجلة سرعة العجلة وترسل البيانات فورًا إلى وحدة التحكم الإلكترونية.</a:t>
            </a:r>
          </a:p>
          <a:p>
            <a:pPr rtl="1"/>
            <a:r>
              <a:rPr lang="ar" sz="1600" dirty="0"/>
              <a:t>تكتشف أي اختلاف في سرعة العجلات قد يشير إلى احتمال انغلاقها، ما يدفع النظام إلى التدخل وتشغيل خاصية منع الانغلاق.</a:t>
            </a:r>
          </a:p>
          <a:p>
            <a:pPr rtl="1"/>
            <a:r>
              <a:rPr lang="ar" sz="1600" b="1" dirty="0"/>
              <a:t>وحدة التحكم الإلكترونية</a:t>
            </a:r>
            <a:r>
              <a:rPr lang="ar" sz="1600" dirty="0"/>
              <a:t>: تُعتبر بمثابة "العقل المدبر" لنظام منع انغلاق المكابح، حيث تعالج البيانات الواردة من أجهزة استشعار سرعة العجلات وتتحكم في جهاز تنظيم ضغط المكابح. تحسب وحدة التحكم الإلكترونية التعديلات اللازمة لضغط المكابح لضمان عدم انغلاق العجلات في أثناء الكبح.</a:t>
            </a:r>
          </a:p>
          <a:p>
            <a:pPr rtl="1"/>
            <a:r>
              <a:rPr lang="ar" sz="1600" b="1" dirty="0"/>
              <a:t>مغير النظام:</a:t>
            </a:r>
            <a:r>
              <a:rPr lang="ar" sz="1600" dirty="0"/>
              <a:t> يتحكم في ضغط المكابح لكل عجلة عن طريق الضغط السريع على المكابح لمنع انغلاق العجلة.</a:t>
            </a:r>
          </a:p>
          <a:p>
            <a:pPr rtl="1"/>
            <a:r>
              <a:rPr lang="ar" sz="1600" dirty="0"/>
              <a:t>يستخدم المغير صمامات لولبية لزيادة ضغط المكابح أو تقليله وفق توجيهات وحدة التحكم الإلكترونية.</a:t>
            </a:r>
          </a:p>
          <a:p>
            <a:pPr rtl="1"/>
            <a:r>
              <a:rPr lang="ar" sz="1600" b="1" dirty="0"/>
              <a:t>الخزان</a:t>
            </a:r>
            <a:r>
              <a:rPr lang="ar" sz="1600" dirty="0"/>
              <a:t>: يخزن سائل المكابح الإضافي اللازم لتشغيل نظام منع انغلاق المكابح لضمان إمكانية تعديل ضغط المكابح دون استنفاد دائرة المكابح الرئيسة. يُعد ضروريًا للحفاظ على مستويات السوائل في أثناء التغيرات السريعة في الضغط.</a:t>
            </a:r>
          </a:p>
          <a:p>
            <a:pPr rtl="1"/>
            <a:r>
              <a:rPr lang="ar" sz="1600" b="1" dirty="0"/>
              <a:t>نظام التحكم الإلكتروني</a:t>
            </a:r>
            <a:r>
              <a:rPr lang="ar" sz="1600" dirty="0"/>
              <a:t>: ينسق عملية نظام منع انغلاق المكابح مع الأنظمة الإلكترونية الأخرى، مثل نظام التحكم في الجر، لضمان استقرار المركبة والتحكم بها بشكل شامل. يتفاعل مع نظام التحكم المركزي للمركبة لإدارة تفعيل نظام منع انغلاق المكابح ومراقبة حالته.</a:t>
            </a:r>
            <a:br>
              <a:rPr lang="en-GB" sz="1600" dirty="0"/>
            </a:b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22914" y="116632"/>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ج2 نظام منع انغلاق المكابح (ABS) </a:t>
            </a:r>
          </a:p>
          <a:p>
            <a:pPr rtl="1"/>
            <a:r>
              <a:rPr lang="ar" sz="2200" b="1" dirty="0">
                <a:latin typeface="Sakkal Majalla" panose="02000000000000000000" pitchFamily="2" charset="-78"/>
                <a:cs typeface="Sakkal Majalla" panose="02000000000000000000" pitchFamily="2" charset="-78"/>
              </a:rPr>
              <a:t>ومكونات التحكم في الجر</a:t>
            </a:r>
          </a:p>
        </p:txBody>
      </p:sp>
      <p:sp>
        <p:nvSpPr>
          <p:cNvPr id="2" name="Footer Placeholder 2">
            <a:extLst>
              <a:ext uri="{FF2B5EF4-FFF2-40B4-BE49-F238E27FC236}">
                <a16:creationId xmlns:a16="http://schemas.microsoft.com/office/drawing/2014/main" id="{FD00353E-0518-8B3E-2321-839CE7445E60}"/>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3565517133"/>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7504" y="1340768"/>
            <a:ext cx="8928992" cy="50131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تشغيل نظام التحكم في الجر ومكوناته</a:t>
            </a:r>
            <a:br>
              <a:rPr lang="en-GB" sz="1600" dirty="0"/>
            </a:br>
            <a:r>
              <a:rPr lang="ar" sz="1600" b="1" dirty="0"/>
              <a:t>كيفية عمل نظام التحكم في الجر</a:t>
            </a:r>
            <a:r>
              <a:rPr lang="ar" sz="1600" dirty="0"/>
              <a:t>: يمنع نظام التحكم في الجر انزلاق العجلة في أثناء التسارع من خلال تقليل قوة المحرك أو تطبيق قوة المكابح على عجلات محددة.  يعمل بالتكامل مع نظام منع انغلاق المكابح، حيث يعتمد على نفس أجهزة استشعار سرعة العجلات ووحدة التحكم الإلكترونية لمراقبة دوران العجلات والحفاظ على الجر.</a:t>
            </a:r>
          </a:p>
          <a:p>
            <a:pPr rtl="1"/>
            <a:r>
              <a:rPr lang="ar" sz="1600" b="1" dirty="0"/>
              <a:t>مكونات التحكم في الجر</a:t>
            </a:r>
            <a:r>
              <a:rPr lang="ar" sz="1600" dirty="0"/>
              <a:t>: </a:t>
            </a:r>
            <a:r>
              <a:rPr lang="ar" sz="1600" b="1" dirty="0"/>
              <a:t>أجهزة استشعار سرعة العجلة</a:t>
            </a:r>
            <a:r>
              <a:rPr lang="ar" sz="1600" dirty="0"/>
              <a:t>: تقدم بيانات إلى وحدة التحكم الإلكترونية حول سرعة دوران العجلة، ما يساعد على اكتشاف انزلاق العجلة</a:t>
            </a:r>
          </a:p>
          <a:p>
            <a:pPr rtl="1"/>
            <a:r>
              <a:rPr lang="ar" sz="1600" b="1" dirty="0"/>
              <a:t>وحدة التحكم الإلكترونية</a:t>
            </a:r>
            <a:r>
              <a:rPr lang="ar" sz="1600" dirty="0"/>
              <a:t>: تعالج البيانات وتفعّل جهاز تنظيم الضغط أو تضبط قوة المحرك لمنع انزلاق العجلات.</a:t>
            </a:r>
          </a:p>
          <a:p>
            <a:pPr rtl="1"/>
            <a:r>
              <a:rPr lang="ar" sz="1600" b="1" dirty="0"/>
              <a:t>مغير النظام:</a:t>
            </a:r>
            <a:r>
              <a:rPr lang="ar" sz="1600" dirty="0"/>
              <a:t> يضبط قوة المكابح على العجلات الفردية لاستعادة قوة الجر دون زيادة التحميل على المحرك.</a:t>
            </a:r>
          </a:p>
          <a:p>
            <a:pPr marL="0" indent="0" rtl="1">
              <a:buNone/>
            </a:pPr>
            <a:endParaRPr lang="en-GB" sz="1600" dirty="0"/>
          </a:p>
          <a:p>
            <a:pPr marL="0" indent="0" rtl="1">
              <a:buNone/>
            </a:pPr>
            <a:r>
              <a:rPr lang="ar" sz="1600" b="1" dirty="0">
                <a:solidFill>
                  <a:schemeClr val="accent5">
                    <a:lumMod val="50000"/>
                  </a:schemeClr>
                </a:solidFill>
              </a:rPr>
              <a:t>التحكم في الاستقرار الديناميكي</a:t>
            </a:r>
            <a:br>
              <a:rPr lang="en-GB" sz="1600" dirty="0"/>
            </a:br>
            <a:r>
              <a:rPr lang="ar" sz="1600" b="1" dirty="0"/>
              <a:t>وظيفة التحكم في الاستقرار الديناميكي</a:t>
            </a:r>
            <a:r>
              <a:rPr lang="ar" sz="1600" dirty="0"/>
              <a:t>: يعمل نظام التحكم في الاستقرار الديناميكي على تحسين ثبات المركبة من خلال ضبط قوة المكابح وقوة المحرك تلقائيًا عند اكتشاف فقدان السيطرة. تمنع الانزلاق الجانبي والانزلاق الأمامي عن طريق الكبح الانتقائي للعجلات الفردية وضبط قوة المحرك.</a:t>
            </a:r>
          </a:p>
          <a:p>
            <a:pPr rtl="1"/>
            <a:r>
              <a:rPr lang="ar" sz="1600" b="1" dirty="0"/>
              <a:t>مدخلات ومخرجات التحكم في الاستقرار الديناميكي</a:t>
            </a:r>
            <a:r>
              <a:rPr lang="ar" sz="1600" dirty="0"/>
              <a:t>:</a:t>
            </a:r>
          </a:p>
          <a:p>
            <a:pPr rtl="1"/>
            <a:r>
              <a:rPr lang="ar" sz="1600" b="1" dirty="0"/>
              <a:t>المدخلات</a:t>
            </a:r>
            <a:r>
              <a:rPr lang="ar" sz="1600" dirty="0"/>
              <a:t>: ترسل أجهزة استشعار سرعة العجلة وزاوية التوجيه ومعدل الانحراف بيانات عن حركة المركبة واتجاهها.</a:t>
            </a:r>
          </a:p>
          <a:p>
            <a:pPr rtl="1"/>
            <a:r>
              <a:rPr lang="ar" sz="1600" dirty="0"/>
              <a:t>تساعد هذه المدخلات النظام على تحديد ما إذا كانت المركبة تنحرف عن المسار المقصود.</a:t>
            </a:r>
          </a:p>
          <a:p>
            <a:pPr rtl="1"/>
            <a:r>
              <a:rPr lang="ar" sz="1600" b="1" dirty="0"/>
              <a:t>المخرجات</a:t>
            </a:r>
            <a:r>
              <a:rPr lang="ar" sz="1600" dirty="0"/>
              <a:t>: يضبط النظام قوة الكبح على عجلات محددة ويقلل قوة المحرك إذا لزم الأمر.</a:t>
            </a:r>
          </a:p>
          <a:p>
            <a:pPr rtl="1"/>
            <a:r>
              <a:rPr lang="ar" sz="1600" dirty="0"/>
              <a:t>تعمل هذه التعديلات على مقاومة الانزلاق وتساعد على إبقاء المركبة في مسارها الصحيح.</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22914" y="116632"/>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ج2 نظام منع انغلاق المكابح (ABS) </a:t>
            </a:r>
          </a:p>
          <a:p>
            <a:pPr rtl="1"/>
            <a:r>
              <a:rPr lang="ar" sz="2200" b="1" dirty="0">
                <a:latin typeface="Sakkal Majalla" panose="02000000000000000000" pitchFamily="2" charset="-78"/>
                <a:cs typeface="Sakkal Majalla" panose="02000000000000000000" pitchFamily="2" charset="-78"/>
              </a:rPr>
              <a:t>ومكونات التحكم في الجر</a:t>
            </a:r>
          </a:p>
        </p:txBody>
      </p:sp>
      <p:sp>
        <p:nvSpPr>
          <p:cNvPr id="2" name="Footer Placeholder 2">
            <a:extLst>
              <a:ext uri="{FF2B5EF4-FFF2-40B4-BE49-F238E27FC236}">
                <a16:creationId xmlns:a16="http://schemas.microsoft.com/office/drawing/2014/main" id="{C820A5BA-6026-8E16-0A43-944F06B208C7}"/>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145391361"/>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7504" y="1412776"/>
            <a:ext cx="8928992" cy="43924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br>
              <a:rPr lang="en-GB" sz="1600" dirty="0"/>
            </a:br>
            <a:br>
              <a:rPr lang="en-GB" sz="1600" dirty="0"/>
            </a:br>
            <a:r>
              <a:rPr lang="ar" sz="1600" b="1" dirty="0">
                <a:solidFill>
                  <a:schemeClr val="accent5">
                    <a:lumMod val="50000"/>
                  </a:schemeClr>
                </a:solidFill>
              </a:rPr>
              <a:t>تنسيق النظام: نظام منع انغلاق المكابح والتحكم في الجر والتحكم في الاستقرار الديناميكي</a:t>
            </a:r>
          </a:p>
          <a:p>
            <a:pPr rtl="1"/>
            <a:r>
              <a:rPr lang="ar" sz="1600" b="1" dirty="0"/>
              <a:t>دمج أنظمة منع انغلاق المكابح والتحكم في الجر والتحكم في الاستقرار الديناميكي</a:t>
            </a:r>
            <a:r>
              <a:rPr lang="ar" sz="1600" dirty="0"/>
              <a:t>: يعمل نظام منع انغلاق المكابح ونظام التحكم في الجر ونظام التحكم في الاستقرار الديناميكي معًا للحفاظ على الثبات والتحكم والجر في ظروف القيادة المختلفة.</a:t>
            </a:r>
          </a:p>
          <a:p>
            <a:pPr rtl="1"/>
            <a:r>
              <a:rPr lang="ar" sz="1600" b="1" dirty="0"/>
              <a:t>منع انغلاق المكابح</a:t>
            </a:r>
            <a:r>
              <a:rPr lang="ar" sz="1600" dirty="0"/>
              <a:t>: يمنع انغلاق العجلات في أثناء الكبح، ما يتيح توقفًا محكمًا.</a:t>
            </a:r>
          </a:p>
          <a:p>
            <a:pPr rtl="1"/>
            <a:r>
              <a:rPr lang="ar" sz="1600" b="1" dirty="0"/>
              <a:t>تشغيل نظام التحكم في الجر</a:t>
            </a:r>
            <a:r>
              <a:rPr lang="ar" sz="1600" dirty="0"/>
              <a:t>: يحافظ على قوة الجر من خلال إدارة دوران العجلة في أثناء التسارع.</a:t>
            </a:r>
          </a:p>
          <a:p>
            <a:pPr rtl="1"/>
            <a:r>
              <a:rPr lang="ar" sz="1600" b="1" dirty="0"/>
              <a:t>التحكم في الاستقرار الديناميكي</a:t>
            </a:r>
            <a:r>
              <a:rPr lang="ar" sz="1600" dirty="0"/>
              <a:t>: يعزز الثبات العام من خلال تصحيح الانزلاق الجانبي أو الأمامي من خلال الكبح الانتقائي وضبط قوة المحرك.</a:t>
            </a:r>
          </a:p>
          <a:p>
            <a:pPr marL="0" indent="0" rtl="1">
              <a:buNone/>
            </a:pPr>
            <a:endParaRPr lang="en-GB" sz="1600" b="1" dirty="0"/>
          </a:p>
          <a:p>
            <a:pPr marL="0" indent="0" rtl="1">
              <a:buNone/>
            </a:pPr>
            <a:r>
              <a:rPr lang="ar" sz="1600" b="1" dirty="0">
                <a:solidFill>
                  <a:schemeClr val="accent5">
                    <a:lumMod val="50000"/>
                  </a:schemeClr>
                </a:solidFill>
              </a:rPr>
              <a:t>النقاط الرئيسة:</a:t>
            </a:r>
            <a:endParaRPr lang="ar" sz="1600" dirty="0">
              <a:solidFill>
                <a:schemeClr val="accent5">
                  <a:lumMod val="50000"/>
                </a:schemeClr>
              </a:solidFill>
            </a:endParaRPr>
          </a:p>
          <a:p>
            <a:pPr rtl="1"/>
            <a:r>
              <a:rPr lang="ar" sz="1600" dirty="0"/>
              <a:t>يمنع نظام منع انغلاق المكابح قفل العجلة، ما يسمح بالكبح والتوجيه ب</a:t>
            </a:r>
            <a:r>
              <a:rPr lang="ar-EG" sz="1600"/>
              <a:t>أمان و</a:t>
            </a:r>
            <a:r>
              <a:rPr lang="ar" sz="1600"/>
              <a:t> </a:t>
            </a:r>
            <a:r>
              <a:rPr lang="ar" sz="1600" dirty="0"/>
              <a:t>إمكانية التوجيه في أثناء حالات الطوارئ.</a:t>
            </a:r>
          </a:p>
          <a:p>
            <a:pPr rtl="1"/>
            <a:r>
              <a:rPr lang="ar" sz="1600" dirty="0"/>
              <a:t>يستخدم نظام التحكم في الجر نفس أجهزة الاستشعار مثل منع انغلاق المكابح لمنع انزلاق العجلة في أثناء التسارع، ما يضمن الثبات.</a:t>
            </a:r>
          </a:p>
          <a:p>
            <a:pPr rtl="1"/>
            <a:r>
              <a:rPr lang="ar" sz="1600" dirty="0"/>
              <a:t>يعمل نظام التحكم الديناميكي بالثبات على الحفاظ على ثبات المركبة في أثناء المناورات من خلال ضبط قوة المكابح وقوتها، ما يقلل خطر الانزلاق.</a:t>
            </a:r>
          </a:p>
          <a:p>
            <a:pPr rtl="1"/>
            <a:r>
              <a:rPr lang="ar" sz="1600" dirty="0"/>
              <a:t>تعمل هذه الأنظمة معًا على تعزيز السلامة والتحكم والاستقرار، لا سيما في ظروف القيادة المعاكسة.</a:t>
            </a:r>
            <a:br>
              <a:rPr lang="en-GB" sz="1600" dirty="0"/>
            </a:b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22914" y="116632"/>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ج2 نظام منع انغلاق المكابح (ABS) </a:t>
            </a:r>
          </a:p>
          <a:p>
            <a:pPr rtl="1"/>
            <a:r>
              <a:rPr lang="ar" sz="2200" b="1" dirty="0">
                <a:latin typeface="Sakkal Majalla" panose="02000000000000000000" pitchFamily="2" charset="-78"/>
                <a:cs typeface="Sakkal Majalla" panose="02000000000000000000" pitchFamily="2" charset="-78"/>
              </a:rPr>
              <a:t>ومكونات التحكم في الجر</a:t>
            </a:r>
          </a:p>
        </p:txBody>
      </p:sp>
      <p:sp>
        <p:nvSpPr>
          <p:cNvPr id="2" name="Footer Placeholder 2">
            <a:extLst>
              <a:ext uri="{FF2B5EF4-FFF2-40B4-BE49-F238E27FC236}">
                <a16:creationId xmlns:a16="http://schemas.microsoft.com/office/drawing/2014/main" id="{16F063B0-33CC-4774-CF5A-4FE3C746196C}"/>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1752987944"/>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د</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799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اكتساب القدرة على تنفيذ إجراءات اكتشاف الأعطال في أنظمة التوجيه والكبح والتعليق</a:t>
            </a:r>
          </a:p>
        </p:txBody>
      </p:sp>
      <p:sp>
        <p:nvSpPr>
          <p:cNvPr id="2" name="Footer Placeholder 2">
            <a:extLst>
              <a:ext uri="{FF2B5EF4-FFF2-40B4-BE49-F238E27FC236}">
                <a16:creationId xmlns:a16="http://schemas.microsoft.com/office/drawing/2014/main" id="{96D9398F-1B45-6195-DAA2-495043B74C7D}"/>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1318055345"/>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1412776"/>
            <a:ext cx="8856984" cy="4896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الهدف</a:t>
            </a:r>
            <a:r>
              <a:rPr lang="ar" sz="1600" dirty="0"/>
              <a:t>: فهم كيفية تحديد الأعطال في أنظمة التوجيه والمكابح والتعليق ومعالجتها باستخدام معدات التشخيص، واتباع ممارسات عمل آمنة. يغطي هذا الجزء أدوات التشخيص وضبط وصيانة المكونات وحمايتها وممارسات العمل الآمنة.</a:t>
            </a:r>
          </a:p>
          <a:p>
            <a:pPr marL="0" indent="0" rtl="1">
              <a:buNone/>
            </a:pPr>
            <a:endParaRPr lang="en-GB" sz="1600" dirty="0"/>
          </a:p>
          <a:p>
            <a:pPr marL="0" indent="0" algn="ctr" rtl="1">
              <a:buNone/>
            </a:pPr>
            <a:r>
              <a:rPr lang="ar" sz="1600" b="1" dirty="0">
                <a:solidFill>
                  <a:schemeClr val="accent5">
                    <a:lumMod val="50000"/>
                  </a:schemeClr>
                </a:solidFill>
              </a:rPr>
              <a:t>استخدام معدات التشخيص لتحديد الأعطال</a:t>
            </a:r>
          </a:p>
          <a:p>
            <a:pPr marL="0" indent="0" rtl="1">
              <a:buNone/>
            </a:pPr>
            <a:r>
              <a:rPr lang="ar" sz="1600" b="1" dirty="0"/>
              <a:t>معدات التشخيص</a:t>
            </a:r>
          </a:p>
          <a:p>
            <a:pPr rtl="1"/>
            <a:r>
              <a:rPr lang="ar" sz="1600" b="1" dirty="0"/>
              <a:t>ماسحات معدات التشخيص الداخلي</a:t>
            </a:r>
            <a:r>
              <a:rPr lang="ar" sz="1600" dirty="0"/>
              <a:t>: توفر ماسحات معدات التشخيص الداخلي رموز الأعطال للأنظمة المختلفة، ما يساعد على تحديد الأعطال لأنظمة التوجيه والكبح والتعليق.</a:t>
            </a:r>
          </a:p>
          <a:p>
            <a:pPr rtl="1"/>
            <a:r>
              <a:rPr lang="ar" sz="1600" b="1" dirty="0"/>
              <a:t>أجهزة القياس متعددة الأغراض</a:t>
            </a:r>
            <a:r>
              <a:rPr lang="ar" sz="1600" dirty="0"/>
              <a:t>: تستخدم لاختبار الدوائر الكهربائية وأجهزة الاستشعار داخل هذه الأنظمة، وهي مفيدة بشكل خاص لتحديد أعطال أجهزة الاستشعار في أنظمة التوجيه الإلكتروني أو منع انغلاق المكابح.</a:t>
            </a:r>
          </a:p>
          <a:p>
            <a:pPr rtl="1"/>
            <a:r>
              <a:rPr lang="ar" sz="1600" b="1" dirty="0"/>
              <a:t>مقاييس الضغط</a:t>
            </a:r>
            <a:r>
              <a:rPr lang="ar" sz="1600" dirty="0"/>
              <a:t>: تقيس الضغط الهيدروليكي داخل أنظمة المكابح للكشف عن التسريبات أو انخفاض الضغط أو صمامات الضغط المعطوبة.</a:t>
            </a:r>
          </a:p>
          <a:p>
            <a:pPr rtl="1"/>
            <a:r>
              <a:rPr lang="ar" sz="1600" b="1" dirty="0"/>
              <a:t>آلة ضبط العجلات</a:t>
            </a:r>
            <a:r>
              <a:rPr lang="ar" sz="1600" dirty="0"/>
              <a:t>: تضمن ضبط هندسة التوجيه بشكل صحيح، وتكشف عن مشكلات المحاذاة التي قد تؤثر في التحكم.</a:t>
            </a:r>
          </a:p>
          <a:p>
            <a:pPr marL="0" indent="0" rtl="1">
              <a:buNone/>
            </a:pPr>
            <a:r>
              <a:rPr lang="ar" sz="1600" b="1" dirty="0"/>
              <a:t>الأعطال الشائعة المكتشفة:</a:t>
            </a:r>
          </a:p>
          <a:p>
            <a:pPr rtl="1"/>
            <a:r>
              <a:rPr lang="ar" sz="1600" b="1" dirty="0"/>
              <a:t>نظام التوجيه</a:t>
            </a:r>
            <a:r>
              <a:rPr lang="ar" sz="1600" dirty="0"/>
              <a:t>: عدم المحاذاة أو أعطال أجهزة الاستشعار في نظام التوجيه المعزز بالطاقة الكهربائية أو المكونات البالية.</a:t>
            </a:r>
          </a:p>
          <a:p>
            <a:pPr rtl="1"/>
            <a:r>
              <a:rPr lang="ar" sz="1600" b="1" dirty="0"/>
              <a:t>نظام الكبح</a:t>
            </a:r>
            <a:r>
              <a:rPr lang="ar" sz="1600" dirty="0"/>
              <a:t>: أعطال أجهزة استشعار نظام منع انغلاق المكابح أو تآكل وسادات المكابح البالية أو تسرب السوائل.</a:t>
            </a:r>
          </a:p>
          <a:p>
            <a:pPr rtl="1"/>
            <a:r>
              <a:rPr lang="ar" sz="1600" b="1" dirty="0"/>
              <a:t>نظام التعليق</a:t>
            </a:r>
            <a:r>
              <a:rPr lang="ar" sz="1600" dirty="0"/>
              <a:t>: تآكل المثبطات أو مشكلات المحاذاة أو مشكلات في ارتفاع المركبة.</a:t>
            </a:r>
          </a:p>
          <a:p>
            <a:pPr rtl="1"/>
            <a:r>
              <a:rPr lang="ar" sz="1600" b="1" dirty="0"/>
              <a:t>الإجراء التصحيحي</a:t>
            </a:r>
            <a:r>
              <a:rPr lang="ar" sz="1600" dirty="0"/>
              <a:t>: بمجرد تحديد الأعطال، قد تتضمن الإجراءات التصحيحية استبدال المكونات المعيبة أو تعديلها أو إجراء عمليات إعادة التنظيم أو إعادة معايرة أجهزة الاستشعار.</a:t>
            </a:r>
            <a:br>
              <a:rPr lang="en-GB" sz="1600" dirty="0"/>
            </a:b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660232" y="332656"/>
            <a:ext cx="2437015"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د1 اكتشاف الأعطال</a:t>
            </a:r>
          </a:p>
        </p:txBody>
      </p:sp>
      <p:sp>
        <p:nvSpPr>
          <p:cNvPr id="2" name="Footer Placeholder 2">
            <a:extLst>
              <a:ext uri="{FF2B5EF4-FFF2-40B4-BE49-F238E27FC236}">
                <a16:creationId xmlns:a16="http://schemas.microsoft.com/office/drawing/2014/main" id="{7BB9F019-7EE4-7FFD-98B5-519022EF81F7}"/>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extLst>
      <p:ext uri="{BB962C8B-B14F-4D97-AF65-F5344CB8AC3E}">
        <p14:creationId xmlns:p14="http://schemas.microsoft.com/office/powerpoint/2010/main" val="3643676220"/>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347864" y="1196752"/>
            <a:ext cx="5688632" cy="55172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تعديل المكونات الرئيسة وصيانتها</a:t>
            </a:r>
          </a:p>
          <a:p>
            <a:pPr rtl="1"/>
            <a:r>
              <a:rPr lang="ar" sz="1600" b="1" dirty="0"/>
              <a:t>صيانة نظام التوجيه</a:t>
            </a:r>
            <a:r>
              <a:rPr lang="ar" sz="1600" dirty="0"/>
              <a:t>:</a:t>
            </a:r>
          </a:p>
          <a:p>
            <a:pPr rtl="1"/>
            <a:r>
              <a:rPr lang="ar" sz="1600" b="1" dirty="0"/>
              <a:t>ضبط المحاذاة</a:t>
            </a:r>
            <a:r>
              <a:rPr lang="ar" sz="1600" dirty="0"/>
              <a:t>: تصحيح زوايا الكامبر والكاستر وزاوية الميل لضمان قيادة آمنة وتقليل تآكل الإطارات.</a:t>
            </a:r>
          </a:p>
          <a:p>
            <a:pPr rtl="1"/>
            <a:r>
              <a:rPr lang="ar" sz="1600" b="1" dirty="0"/>
              <a:t>فحص المكونات</a:t>
            </a:r>
            <a:r>
              <a:rPr lang="ar" sz="1600" dirty="0"/>
              <a:t>: التحقق من حالة التآكل في قضبان التوجيه، والمفاصل الكروية، والجلب، واستبدالها عند الحاجة.</a:t>
            </a:r>
          </a:p>
          <a:p>
            <a:pPr rtl="1"/>
            <a:r>
              <a:rPr lang="ar" sz="1600" b="1" dirty="0"/>
              <a:t>فحوصات السوائل</a:t>
            </a:r>
            <a:r>
              <a:rPr lang="ar" sz="1600" dirty="0"/>
              <a:t>: التأكد من وجود مستويات كافية من السوائل في أنظمة التوجيه الهيدروليكي المدعومة بالطاق.</a:t>
            </a:r>
            <a:endParaRPr lang="en-GB" sz="1600" b="1" dirty="0"/>
          </a:p>
          <a:p>
            <a:pPr marL="0" indent="0" rtl="1">
              <a:buNone/>
            </a:pPr>
            <a:r>
              <a:rPr lang="ar" sz="1600" b="1" dirty="0">
                <a:solidFill>
                  <a:schemeClr val="accent5">
                    <a:lumMod val="50000"/>
                  </a:schemeClr>
                </a:solidFill>
              </a:rPr>
              <a:t>صيانة نظام الكبح</a:t>
            </a:r>
          </a:p>
          <a:p>
            <a:pPr rtl="1"/>
            <a:r>
              <a:rPr lang="ar" sz="1600" b="1" dirty="0"/>
              <a:t>استبدال وسادة الكبح</a:t>
            </a:r>
            <a:r>
              <a:rPr lang="ar" sz="1600" dirty="0"/>
              <a:t>: ضروري للحفاظ على أداء المكابح وسلامتها.</a:t>
            </a:r>
          </a:p>
          <a:p>
            <a:pPr rtl="1"/>
            <a:r>
              <a:rPr lang="ar" sz="1600" b="1" dirty="0"/>
              <a:t>تفريغ المكابح من الهواء</a:t>
            </a:r>
            <a:r>
              <a:rPr lang="ar" sz="1600" dirty="0"/>
              <a:t>: يزيل الهواء من خطوط المكابح، لضمان ضغط متسق في أثناء الكبح.</a:t>
            </a:r>
          </a:p>
          <a:p>
            <a:pPr rtl="1"/>
            <a:r>
              <a:rPr lang="ar" sz="1600" b="1" dirty="0"/>
              <a:t>فحص جهاز استشعار نظام منع انغلاق المكابح:</a:t>
            </a:r>
            <a:r>
              <a:rPr lang="ar" sz="1600" dirty="0"/>
              <a:t> يضمن أن أجهزة الاستشعار نظيفة وعملية ومتصلة بشكل صحيح.</a:t>
            </a:r>
          </a:p>
          <a:p>
            <a:pPr marL="0" indent="0" rtl="1">
              <a:buNone/>
            </a:pPr>
            <a:r>
              <a:rPr lang="ar" sz="1600" b="1" dirty="0">
                <a:solidFill>
                  <a:schemeClr val="accent5">
                    <a:lumMod val="50000"/>
                  </a:schemeClr>
                </a:solidFill>
              </a:rPr>
              <a:t>صيانة نظام التعليق</a:t>
            </a:r>
            <a:endParaRPr lang="en-GB" sz="1600" dirty="0">
              <a:solidFill>
                <a:schemeClr val="accent5">
                  <a:lumMod val="50000"/>
                </a:schemeClr>
              </a:solidFill>
            </a:endParaRPr>
          </a:p>
          <a:p>
            <a:pPr rtl="1"/>
            <a:r>
              <a:rPr lang="ar" sz="1600" b="1" dirty="0"/>
              <a:t>فحص المثبط واستبداله</a:t>
            </a:r>
            <a:r>
              <a:rPr lang="ar" sz="1600" dirty="0"/>
              <a:t>: تقلل المثبطات البالية من الثبات؛ بينما استبدالها يترتب عليه راحة الركوب والتحكم.</a:t>
            </a:r>
          </a:p>
          <a:p>
            <a:pPr rtl="1"/>
            <a:r>
              <a:rPr lang="ar" sz="1600" b="1" dirty="0"/>
              <a:t>فحص الزنبرك والجلبة:</a:t>
            </a:r>
            <a:r>
              <a:rPr lang="ar" sz="1600" dirty="0"/>
              <a:t> يضمن خلو جميع مكونات نظام التعليق من التآكل أو التلف.</a:t>
            </a:r>
          </a:p>
          <a:p>
            <a:pPr rtl="1"/>
            <a:r>
              <a:rPr lang="ar" sz="1600" b="1" dirty="0"/>
              <a:t>ضبط الارتفاع</a:t>
            </a:r>
            <a:r>
              <a:rPr lang="ar" sz="1600" dirty="0"/>
              <a:t>: ضبط ارتفاع الركوب في الأنظمة ذات التعليق القابل للتعديل أو التعليق الهوائي، ما يضمن توازن المركبة وثباتها.</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804248" y="332656"/>
            <a:ext cx="2292999"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د1 اكتشاف الأعطال</a:t>
            </a:r>
          </a:p>
        </p:txBody>
      </p:sp>
      <p:sp>
        <p:nvSpPr>
          <p:cNvPr id="2" name="Footer Placeholder 2">
            <a:extLst>
              <a:ext uri="{FF2B5EF4-FFF2-40B4-BE49-F238E27FC236}">
                <a16:creationId xmlns:a16="http://schemas.microsoft.com/office/drawing/2014/main" id="{84C1DDF8-6FE1-8289-5C65-442224B5BC79}"/>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pic>
        <p:nvPicPr>
          <p:cNvPr id="3" name="Picture 2" descr="A wire with a connector&#10;&#10;Description automatically generated with medium confidence">
            <a:extLst>
              <a:ext uri="{FF2B5EF4-FFF2-40B4-BE49-F238E27FC236}">
                <a16:creationId xmlns:a16="http://schemas.microsoft.com/office/drawing/2014/main" id="{CE3CF44C-6693-656B-DB8B-E9EB293ECE5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3528" y="2911252"/>
            <a:ext cx="3132348" cy="2088232"/>
          </a:xfrm>
          <a:prstGeom prst="rect">
            <a:avLst/>
          </a:prstGeom>
        </p:spPr>
      </p:pic>
    </p:spTree>
    <p:extLst>
      <p:ext uri="{BB962C8B-B14F-4D97-AF65-F5344CB8AC3E}">
        <p14:creationId xmlns:p14="http://schemas.microsoft.com/office/powerpoint/2010/main" val="3156511139"/>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1" y="1346581"/>
            <a:ext cx="8865098" cy="1794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حماية المكونات والأنظمة</a:t>
            </a:r>
          </a:p>
          <a:p>
            <a:pPr marL="0" indent="0" rtl="1">
              <a:buNone/>
            </a:pPr>
            <a:r>
              <a:rPr lang="ar" sz="1600" b="1" dirty="0"/>
              <a:t>تدابير الحماية</a:t>
            </a:r>
          </a:p>
          <a:p>
            <a:pPr rtl="1"/>
            <a:r>
              <a:rPr lang="ar" sz="1600" b="1" dirty="0"/>
              <a:t>استخدام الأغطية</a:t>
            </a:r>
            <a:r>
              <a:rPr lang="ar" sz="1600" dirty="0"/>
              <a:t>: يحمي المكونات من التلوث بالأوساخ والغبار والسوائل في أثناء الصيانة.</a:t>
            </a:r>
          </a:p>
          <a:p>
            <a:pPr rtl="1"/>
            <a:r>
              <a:rPr lang="ar" sz="1600" b="1" dirty="0"/>
              <a:t>منع التآكل</a:t>
            </a:r>
            <a:r>
              <a:rPr lang="ar" sz="1600" dirty="0"/>
              <a:t>: تطبيق رذاذ مضاد للتآكل على المكونات المعدنية المكشوفة، خاصة في أنظمة الكبح والتعليق.</a:t>
            </a:r>
          </a:p>
          <a:p>
            <a:pPr rtl="1"/>
            <a:r>
              <a:rPr lang="ar" sz="1600" b="1" dirty="0"/>
              <a:t>الحماية الكهربائية</a:t>
            </a:r>
            <a:r>
              <a:rPr lang="ar" sz="1600" dirty="0"/>
              <a:t>: فصل البطارية عند العمل على الأنظمة الكهربائية، ما يقلل مخاطر الدوائر القصيرة أو التلف.</a:t>
            </a:r>
          </a:p>
          <a:p>
            <a:pPr rtl="1">
              <a:buFont typeface="Arial" panose="020B0604020202020204" pitchFamily="34" charset="0"/>
              <a:buChar char="•"/>
            </a:pP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948264" y="332656"/>
            <a:ext cx="2148983"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د1 اكتشاف الأعطال</a:t>
            </a:r>
          </a:p>
        </p:txBody>
      </p:sp>
      <p:sp>
        <p:nvSpPr>
          <p:cNvPr id="2" name="Content Placeholder 3">
            <a:extLst>
              <a:ext uri="{FF2B5EF4-FFF2-40B4-BE49-F238E27FC236}">
                <a16:creationId xmlns:a16="http://schemas.microsoft.com/office/drawing/2014/main" id="{8785392B-D98E-0475-3D12-71453D280BFA}"/>
              </a:ext>
            </a:extLst>
          </p:cNvPr>
          <p:cNvSpPr txBox="1">
            <a:spLocks noChangeArrowheads="1"/>
          </p:cNvSpPr>
          <p:nvPr/>
        </p:nvSpPr>
        <p:spPr bwMode="auto">
          <a:xfrm>
            <a:off x="165010" y="3356992"/>
            <a:ext cx="4320480" cy="2889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sz="1600" b="1" kern="0" dirty="0">
                <a:solidFill>
                  <a:schemeClr val="accent5">
                    <a:lumMod val="50000"/>
                  </a:schemeClr>
                </a:solidFill>
                <a:latin typeface="Sakkal Majalla" panose="02000000000000000000" pitchFamily="2" charset="-78"/>
                <a:cs typeface="Sakkal Majalla" panose="02000000000000000000" pitchFamily="2" charset="-78"/>
              </a:rPr>
              <a:t>الحماية ضد الأخطار الشائعة</a:t>
            </a:r>
          </a:p>
          <a:p>
            <a:pPr rtl="1"/>
            <a:r>
              <a:rPr lang="ar" sz="1600" b="1" kern="0" dirty="0">
                <a:latin typeface="Sakkal Majalla" panose="02000000000000000000" pitchFamily="2" charset="-78"/>
                <a:cs typeface="Sakkal Majalla" panose="02000000000000000000" pitchFamily="2" charset="-78"/>
              </a:rPr>
              <a:t>تسربات السوائل الهيدروليكية</a:t>
            </a:r>
            <a:r>
              <a:rPr lang="ar" sz="1600" kern="0" dirty="0">
                <a:latin typeface="Sakkal Majalla" panose="02000000000000000000" pitchFamily="2" charset="-78"/>
                <a:cs typeface="Sakkal Majalla" panose="02000000000000000000" pitchFamily="2" charset="-78"/>
              </a:rPr>
              <a:t>: اتخاذ الاحتياطات اللازمة لتجنب انسكاب السوائل، الذي قد يؤدي إلى تلف المكونات الأخرى للمركبة أو التسبب في مخاطر الانزلاق.</a:t>
            </a:r>
          </a:p>
          <a:p>
            <a:pPr rtl="1"/>
            <a:r>
              <a:rPr lang="ar" sz="1600" b="1" kern="0" dirty="0">
                <a:latin typeface="Sakkal Majalla" panose="02000000000000000000" pitchFamily="2" charset="-78"/>
                <a:cs typeface="Sakkal Majalla" panose="02000000000000000000" pitchFamily="2" charset="-78"/>
              </a:rPr>
              <a:t>الحطام والملوثات</a:t>
            </a:r>
            <a:r>
              <a:rPr lang="ar" sz="1600" kern="0" dirty="0">
                <a:latin typeface="Sakkal Majalla" panose="02000000000000000000" pitchFamily="2" charset="-78"/>
                <a:cs typeface="Sakkal Majalla" panose="02000000000000000000" pitchFamily="2" charset="-78"/>
              </a:rPr>
              <a:t>: ضمان بقاء المكونات نظيفة، وخاصة أجهزة الاستشعار والأجزاء المتحركة، للحفاظ على قراءات دقيقة وتشغيل سلس.</a:t>
            </a:r>
          </a:p>
          <a:p>
            <a:pPr rtl="1"/>
            <a:r>
              <a:rPr lang="ar" sz="1600" b="1" kern="0" dirty="0">
                <a:latin typeface="Sakkal Majalla" panose="02000000000000000000" pitchFamily="2" charset="-78"/>
                <a:cs typeface="Sakkal Majalla" panose="02000000000000000000" pitchFamily="2" charset="-78"/>
              </a:rPr>
              <a:t>المخاطر البيئية</a:t>
            </a:r>
            <a:r>
              <a:rPr lang="ar" sz="1600" kern="0" dirty="0">
                <a:latin typeface="Sakkal Majalla" panose="02000000000000000000" pitchFamily="2" charset="-78"/>
                <a:cs typeface="Sakkal Majalla" panose="02000000000000000000" pitchFamily="2" charset="-78"/>
              </a:rPr>
              <a:t>: حماية المكونات من درجات الحرارة المرتفعة أو الرطوبة الشديدة التي قد تؤثر في خواص المواد ووظائفها.</a:t>
            </a:r>
          </a:p>
        </p:txBody>
      </p:sp>
      <p:sp>
        <p:nvSpPr>
          <p:cNvPr id="3" name="Footer Placeholder 2">
            <a:extLst>
              <a:ext uri="{FF2B5EF4-FFF2-40B4-BE49-F238E27FC236}">
                <a16:creationId xmlns:a16="http://schemas.microsoft.com/office/drawing/2014/main" id="{DC3022EE-9B0F-8A07-FC8C-C021321AC3A3}"/>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pic>
        <p:nvPicPr>
          <p:cNvPr id="4" name="Picture 3" descr="A hand in glove holding a wrench&#10;&#10;Description automatically generated">
            <a:extLst>
              <a:ext uri="{FF2B5EF4-FFF2-40B4-BE49-F238E27FC236}">
                <a16:creationId xmlns:a16="http://schemas.microsoft.com/office/drawing/2014/main" id="{133793F5-B9F1-EA27-689C-28EC93868E2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788024" y="3429000"/>
            <a:ext cx="3771163" cy="2514467"/>
          </a:xfrm>
          <a:prstGeom prst="rect">
            <a:avLst/>
          </a:prstGeom>
        </p:spPr>
      </p:pic>
    </p:spTree>
    <p:extLst>
      <p:ext uri="{BB962C8B-B14F-4D97-AF65-F5344CB8AC3E}">
        <p14:creationId xmlns:p14="http://schemas.microsoft.com/office/powerpoint/2010/main" val="3091838622"/>
      </p:ext>
    </p:extLst>
  </p:cSld>
  <p:clrMapOvr>
    <a:masterClrMapping/>
  </p:clrMapOvr>
  <p:transition>
    <p:sndAc>
      <p:stSnd>
        <p:snd r:embed="rId3"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7504" y="1340768"/>
            <a:ext cx="8784976" cy="49685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ممارسات العمل الآمنة</a:t>
            </a:r>
          </a:p>
          <a:p>
            <a:pPr marL="0" indent="0" rtl="1">
              <a:buNone/>
            </a:pPr>
            <a:r>
              <a:rPr lang="ar" sz="1600" b="1" dirty="0"/>
              <a:t>معدات الوقاية الشخصية</a:t>
            </a:r>
            <a:endParaRPr lang="en-GB" sz="1600" dirty="0"/>
          </a:p>
          <a:p>
            <a:pPr rtl="1"/>
            <a:r>
              <a:rPr lang="ar" sz="1600" b="1" dirty="0"/>
              <a:t>نظارات الحماية</a:t>
            </a:r>
            <a:r>
              <a:rPr lang="ar" sz="1600" dirty="0"/>
              <a:t>: لحماية العينين من الحطام، خاصة في أثناء الطحن أو العمل على أنظمة المكابح أو تعديلات التعليق.</a:t>
            </a:r>
          </a:p>
          <a:p>
            <a:pPr rtl="1"/>
            <a:r>
              <a:rPr lang="ar" sz="1600" b="1" dirty="0"/>
              <a:t>القفازات</a:t>
            </a:r>
            <a:r>
              <a:rPr lang="ar" sz="1600" dirty="0"/>
              <a:t>: حماية اليدين من الأجزاء الحادة والسوائل والمواد الكيميائية.</a:t>
            </a:r>
          </a:p>
          <a:p>
            <a:pPr rtl="1"/>
            <a:r>
              <a:rPr lang="ar" sz="1600" b="1" dirty="0"/>
              <a:t>واقيات الأذنين</a:t>
            </a:r>
            <a:r>
              <a:rPr lang="ar" sz="1600" dirty="0"/>
              <a:t>: ضرورية عند العمل مع معدات التشخيص الصاخبة أو العمل في البيئات الصاخبة.</a:t>
            </a:r>
          </a:p>
          <a:p>
            <a:pPr marL="0" indent="0" rtl="1">
              <a:buNone/>
            </a:pPr>
            <a:r>
              <a:rPr lang="ar" sz="1600" b="1" dirty="0"/>
              <a:t>سلامة منطقة العمل</a:t>
            </a:r>
          </a:p>
          <a:p>
            <a:pPr rtl="1"/>
            <a:r>
              <a:rPr lang="ar" sz="1600" b="1" dirty="0"/>
              <a:t>مساحة عمل منظمة</a:t>
            </a:r>
            <a:r>
              <a:rPr lang="ar" sz="1600" dirty="0"/>
              <a:t>:</a:t>
            </a:r>
          </a:p>
          <a:p>
            <a:pPr rtl="1"/>
            <a:r>
              <a:rPr lang="ar" sz="1600" dirty="0"/>
              <a:t>تخزين الأدوات والمكونات بشكل منظم لتقليل مخاطر التعثر وضمان الوصول السريع إليها.</a:t>
            </a:r>
          </a:p>
          <a:p>
            <a:pPr rtl="1"/>
            <a:r>
              <a:rPr lang="ar" sz="1600" b="1" dirty="0"/>
              <a:t>الإضاءة المناسبة</a:t>
            </a:r>
            <a:r>
              <a:rPr lang="ar" sz="1600" dirty="0"/>
              <a:t>: توفير رؤية واضحة عند العمل على الأنظمة المعقدة لتقليل احتمالية الأخطاء أو الإصابات.</a:t>
            </a:r>
          </a:p>
          <a:p>
            <a:pPr rtl="1"/>
            <a:r>
              <a:rPr lang="ar" sz="1600" b="1" dirty="0"/>
              <a:t>التهوية</a:t>
            </a:r>
            <a:r>
              <a:rPr lang="ar" sz="1600" dirty="0"/>
              <a:t>: تُعد التهوية أمرًا ضروريًا عند العمل مع سوائل المكابح أو مواد التنظيف أو المواد الكيميائية الأخرى لتجنب استنشاق الأبخرة الضارة.</a:t>
            </a:r>
          </a:p>
          <a:p>
            <a:pPr marL="0" indent="0" rtl="1">
              <a:buNone/>
            </a:pPr>
            <a:r>
              <a:rPr lang="ar" sz="1600" b="1" dirty="0"/>
              <a:t>الاستخدام الآمن للمعدات</a:t>
            </a:r>
          </a:p>
          <a:p>
            <a:pPr rtl="1"/>
            <a:r>
              <a:rPr lang="ar" sz="1600" b="1" dirty="0"/>
              <a:t>فحص الأدوات</a:t>
            </a:r>
            <a:r>
              <a:rPr lang="ar" sz="1600" dirty="0"/>
              <a:t>: التأكد من سلامة الأدوات قبل الاستخدام، لتقليل مخاطر الكسر أو الإصابة.</a:t>
            </a:r>
          </a:p>
          <a:p>
            <a:pPr rtl="1"/>
            <a:r>
              <a:rPr lang="ar" sz="1600" b="1" dirty="0"/>
              <a:t>اتباع إرشادات الشركة المصنعة</a:t>
            </a:r>
            <a:r>
              <a:rPr lang="ar" sz="1600" dirty="0"/>
              <a:t>: التزام الإجراءات الموصى بها لصيانة المكونات وتعديلها، والحفاظ على سلامة الأنظمة وسلامة العمال.</a:t>
            </a:r>
          </a:p>
          <a:p>
            <a:pPr rtl="1"/>
            <a:r>
              <a:rPr lang="ar" sz="1600" b="1" dirty="0"/>
              <a:t>التواصل مع الفريق</a:t>
            </a:r>
            <a:r>
              <a:rPr lang="ar" sz="1600" dirty="0"/>
              <a:t>: التواصل مع الآخرين في ورشة العمل لضمان الوعي بالإجراءات والحركات الآمنة، والحد من مخاطر الحوادث.</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804248" y="332656"/>
            <a:ext cx="2292999"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د1 اكتشاف الأعطال</a:t>
            </a:r>
          </a:p>
        </p:txBody>
      </p:sp>
      <p:sp>
        <p:nvSpPr>
          <p:cNvPr id="2" name="Footer Placeholder 2">
            <a:extLst>
              <a:ext uri="{FF2B5EF4-FFF2-40B4-BE49-F238E27FC236}">
                <a16:creationId xmlns:a16="http://schemas.microsoft.com/office/drawing/2014/main" id="{F3E90E57-FB1C-DF18-1EB1-F7ABC76805B7}"/>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pic>
        <p:nvPicPr>
          <p:cNvPr id="4" name="Picture 3" descr="A person in a hard hat and orange jacket holding a caliper&#10;&#10;Description automatically generated">
            <a:extLst>
              <a:ext uri="{FF2B5EF4-FFF2-40B4-BE49-F238E27FC236}">
                <a16:creationId xmlns:a16="http://schemas.microsoft.com/office/drawing/2014/main" id="{C4D718EA-AD71-105E-06A9-17E473644699}"/>
              </a:ext>
            </a:extLst>
          </p:cNvPr>
          <p:cNvPicPr>
            <a:picLocks noChangeAspect="1"/>
          </p:cNvPicPr>
          <p:nvPr/>
        </p:nvPicPr>
        <p:blipFill>
          <a:blip r:embed="rId4" cstate="print">
            <a:alphaModFix amt="20000"/>
            <a:extLst>
              <a:ext uri="{28A0092B-C50C-407E-A947-70E740481C1C}">
                <a14:useLocalDpi xmlns:a14="http://schemas.microsoft.com/office/drawing/2010/main"/>
              </a:ext>
            </a:extLst>
          </a:blip>
          <a:stretch>
            <a:fillRect/>
          </a:stretch>
        </p:blipFill>
        <p:spPr>
          <a:xfrm>
            <a:off x="575556" y="1196752"/>
            <a:ext cx="8136904" cy="5424603"/>
          </a:xfrm>
          <a:prstGeom prst="rect">
            <a:avLst/>
          </a:prstGeom>
        </p:spPr>
      </p:pic>
    </p:spTree>
    <p:extLst>
      <p:ext uri="{BB962C8B-B14F-4D97-AF65-F5344CB8AC3E}">
        <p14:creationId xmlns:p14="http://schemas.microsoft.com/office/powerpoint/2010/main" val="1942254869"/>
      </p:ext>
    </p:extLst>
  </p:cSld>
  <p:clrMapOvr>
    <a:masterClrMapping/>
  </p:clrMapOvr>
  <p:transition>
    <p:sndAc>
      <p:stSnd>
        <p:snd r:embed="rId3"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3" y="2060849"/>
            <a:ext cx="7991475" cy="2808312"/>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2600" kern="0" dirty="0">
                <a:latin typeface="Sakkal Majalla" panose="02000000000000000000" pitchFamily="2" charset="-78"/>
                <a:cs typeface="Sakkal Majalla" panose="02000000000000000000" pitchFamily="2" charset="-78"/>
              </a:rPr>
              <a:t>الصور</a:t>
            </a:r>
          </a:p>
          <a:p>
            <a:pPr marL="0" indent="0" rtl="1">
              <a:buNone/>
            </a:pPr>
            <a:r>
              <a:rPr lang="ar" sz="2000" b="1" dirty="0">
                <a:effectLst/>
                <a:latin typeface="Sakkal Majalla" panose="02000000000000000000" pitchFamily="2" charset="-78"/>
                <a:ea typeface="Times New Roman" panose="02020603050405020304" pitchFamily="18" charset="0"/>
                <a:cs typeface="Sakkal Majalla" panose="02000000000000000000" pitchFamily="2" charset="-78"/>
              </a:rPr>
              <a:t>123 آر إف: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ديفيد سيفورد (الشريحة 24)؛</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بيرسون إديوكيشن ليمتد: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استوديو 8 (الشريحة 22)، استوديو 8 (الشريحة 34)، استوديو 8 (الشريحة 35)؛</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b="1" dirty="0">
                <a:effectLst/>
                <a:latin typeface="Sakkal Majalla" panose="02000000000000000000" pitchFamily="2" charset="-78"/>
                <a:ea typeface="Times New Roman" panose="02020603050405020304" pitchFamily="18" charset="0"/>
                <a:cs typeface="Sakkal Majalla" panose="02000000000000000000" pitchFamily="2" charset="-78"/>
              </a:rPr>
              <a:t>شوترستوك:</a:t>
            </a: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بي.إس_2</a:t>
            </a: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 (الشريحة 7)، بيست أوتو فوتو (الشريحة 9)،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إنتريور ديزاين (الشريحة 12)،</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242424"/>
                </a:solidFill>
                <a:effectLst/>
                <a:latin typeface="Sakkal Majalla" panose="02000000000000000000" pitchFamily="2" charset="-78"/>
                <a:ea typeface="Times New Roman" panose="02020603050405020304" pitchFamily="18" charset="0"/>
                <a:cs typeface="Sakkal Majalla" panose="02000000000000000000" pitchFamily="2" charset="-78"/>
              </a:rPr>
              <a:t>فاست ستوك (الشريحة 15)،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تشومبوسان (الشريحة 16)،</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ريكيد (الشريحة 19)، بي إل كا ستوديو (الشريحة 20)، يوري نيكولاييف (الشريحة 28)، تشاتشاوال فومكايو (الشريحة 36).</a:t>
            </a:r>
            <a:endParaRPr lang="en-GB" sz="2000" dirty="0">
              <a:effectLst/>
              <a:latin typeface="Sakkal Majalla" panose="02000000000000000000" pitchFamily="2" charset="-78"/>
              <a:ea typeface="Times New Roman" panose="02020603050405020304" pitchFamily="18" charset="0"/>
              <a:cs typeface="Sakkal Majalla" panose="02000000000000000000" pitchFamily="2" charset="-78"/>
            </a:endParaRPr>
          </a:p>
          <a:p>
            <a:pPr marL="0" indent="0" rtl="1">
              <a:buFont typeface="Wingdings" panose="05000000000000000000" pitchFamily="2" charset="2"/>
              <a:buNone/>
            </a:pPr>
            <a:endParaRPr lang="en-GB" kern="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E0E1A04D-8E9A-0CF8-732B-AFB1F2B890D1}"/>
              </a:ext>
            </a:extLst>
          </p:cNvPr>
          <p:cNvSpPr txBox="1">
            <a:spLocks/>
          </p:cNvSpPr>
          <p:nvPr/>
        </p:nvSpPr>
        <p:spPr bwMode="auto">
          <a:xfrm>
            <a:off x="107504" y="6577709"/>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A103000399227</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4B700610-39F3-4A35-AAF4-C1E1359C0930}">
  <ds:schemaRefs>
    <ds:schemaRef ds:uri="http://purl.org/dc/dcmitype/"/>
    <ds:schemaRef ds:uri="http://schemas.microsoft.com/office/2006/documentManagement/types"/>
    <ds:schemaRef ds:uri="http://www.w3.org/XML/1998/namespace"/>
    <ds:schemaRef ds:uri="7c1bd8dc-4e40-424f-a15f-9ffcd522197f"/>
    <ds:schemaRef ds:uri="http://schemas.microsoft.com/office/infopath/2007/PartnerControls"/>
    <ds:schemaRef ds:uri="http://purl.org/dc/terms/"/>
    <ds:schemaRef ds:uri="http://schemas.openxmlformats.org/package/2006/metadata/core-properties"/>
    <ds:schemaRef ds:uri="6125ffc9-2c56-435e-8267-1393444907b2"/>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E6CC0B66-BC4E-4103-B699-0E1143058ACC}"/>
</file>

<file path=docProps/app.xml><?xml version="1.0" encoding="utf-8"?>
<Properties xmlns="http://schemas.openxmlformats.org/officeDocument/2006/extended-properties" xmlns:vt="http://schemas.openxmlformats.org/officeDocument/2006/docPropsVTypes">
  <TotalTime>11793</TotalTime>
  <Words>5742</Words>
  <Application>Microsoft Office PowerPoint</Application>
  <PresentationFormat>On-screen Show (4:3)</PresentationFormat>
  <Paragraphs>425</Paragraphs>
  <Slides>38</Slides>
  <Notes>38</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38</vt:i4>
      </vt:variant>
    </vt:vector>
  </HeadingPairs>
  <TitlesOfParts>
    <vt:vector size="53" baseType="lpstr">
      <vt:lpstr>Arial</vt:lpstr>
      <vt:lpstr>Calibri</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66 أنظمة التعليق، والتوجيه،   والكبح في المركبات الخفيفة </vt:lpstr>
      <vt:lpstr>PowerPoint Presentation</vt:lpstr>
      <vt:lpstr>PowerPoint Presentation</vt:lpstr>
      <vt:lpstr>نتاجات التعلم</vt:lpstr>
      <vt:lpstr>نتاج التعلم أ  </vt:lpstr>
      <vt:lpstr>PowerPoint Presentation</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د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256</cp:revision>
  <dcterms:created xsi:type="dcterms:W3CDTF">2020-07-15T07:14:47Z</dcterms:created>
  <dcterms:modified xsi:type="dcterms:W3CDTF">2024-12-11T23:12:30Z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