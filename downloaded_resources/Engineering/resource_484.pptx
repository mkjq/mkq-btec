
<file path=[Content_Types].xml><?xml version="1.0" encoding="utf-8"?>
<Types xmlns="http://schemas.openxmlformats.org/package/2006/content-types">
  <Default Extension="bin" ContentType="audio/unknown"/>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6"/>
  </p:notesMasterIdLst>
  <p:sldIdLst>
    <p:sldId id="256" r:id="rId14"/>
    <p:sldId id="349" r:id="rId15"/>
    <p:sldId id="350" r:id="rId16"/>
    <p:sldId id="258" r:id="rId17"/>
    <p:sldId id="272" r:id="rId18"/>
    <p:sldId id="319" r:id="rId19"/>
    <p:sldId id="320" r:id="rId20"/>
    <p:sldId id="342" r:id="rId21"/>
    <p:sldId id="321" r:id="rId22"/>
    <p:sldId id="352" r:id="rId23"/>
    <p:sldId id="343" r:id="rId24"/>
    <p:sldId id="351" r:id="rId25"/>
    <p:sldId id="322" r:id="rId26"/>
    <p:sldId id="318" r:id="rId27"/>
    <p:sldId id="323" r:id="rId28"/>
    <p:sldId id="324" r:id="rId29"/>
    <p:sldId id="325" r:id="rId30"/>
    <p:sldId id="326" r:id="rId31"/>
    <p:sldId id="327" r:id="rId32"/>
    <p:sldId id="328" r:id="rId33"/>
    <p:sldId id="348" r:id="rId34"/>
    <p:sldId id="353" r:id="rId35"/>
    <p:sldId id="329" r:id="rId36"/>
    <p:sldId id="344" r:id="rId37"/>
    <p:sldId id="330" r:id="rId38"/>
    <p:sldId id="347" r:id="rId39"/>
    <p:sldId id="331" r:id="rId40"/>
    <p:sldId id="354" r:id="rId41"/>
    <p:sldId id="355" r:id="rId42"/>
    <p:sldId id="356" r:id="rId43"/>
    <p:sldId id="334" r:id="rId44"/>
    <p:sldId id="335" r:id="rId45"/>
    <p:sldId id="346" r:id="rId46"/>
    <p:sldId id="336" r:id="rId47"/>
    <p:sldId id="337" r:id="rId48"/>
    <p:sldId id="357" r:id="rId49"/>
    <p:sldId id="358" r:id="rId50"/>
    <p:sldId id="338" r:id="rId51"/>
    <p:sldId id="340" r:id="rId52"/>
    <p:sldId id="341" r:id="rId53"/>
    <p:sldId id="345" r:id="rId54"/>
    <p:sldId id="360" r:id="rId55"/>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 id="15" name="Denise Ratcliffe" initials="DR" lastIdx="2" clrIdx="14">
    <p:extLst>
      <p:ext uri="{19B8F6BF-5375-455C-9EA6-DF929625EA0E}">
        <p15:presenceInfo xmlns:p15="http://schemas.microsoft.com/office/powerpoint/2012/main" userId="c6d0b3e1f824e5e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D9D507-0347-4D7F-9C8C-8E33CBA426A5}" v="45" dt="2025-01-14T16:08:26.896"/>
    <p1510:client id="{D87CF648-B45F-37BF-67BD-A5F775948CE9}" v="5" dt="2025-01-14T16:07:07.887"/>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933"/>
        <p:guide pos="2880"/>
        <p:guide pos="1791"/>
        <p:guide orient="horz" pos="3657"/>
        <p:guide pos="1066"/>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viewProps" Target="viewProp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commentAuthors" Target="commentAuthor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ew Gregory" userId="S::matthew.gregory2@pearson.com::8c337df5-6986-499e-b190-07598673e62f" providerId="AD" clId="Web-{D87CF648-B45F-37BF-67BD-A5F775948CE9}"/>
    <pc:docChg chg="modSld">
      <pc:chgData name="Matthew Gregory" userId="S::matthew.gregory2@pearson.com::8c337df5-6986-499e-b190-07598673e62f" providerId="AD" clId="Web-{D87CF648-B45F-37BF-67BD-A5F775948CE9}" dt="2025-01-14T16:07:02.575" v="3" actId="1076"/>
      <pc:docMkLst>
        <pc:docMk/>
      </pc:docMkLst>
      <pc:sldChg chg="addSp delSp modSp">
        <pc:chgData name="Matthew Gregory" userId="S::matthew.gregory2@pearson.com::8c337df5-6986-499e-b190-07598673e62f" providerId="AD" clId="Web-{D87CF648-B45F-37BF-67BD-A5F775948CE9}" dt="2025-01-14T16:07:02.575" v="3" actId="1076"/>
        <pc:sldMkLst>
          <pc:docMk/>
          <pc:sldMk cId="3236911344" sldId="346"/>
        </pc:sldMkLst>
        <pc:picChg chg="add mod">
          <ac:chgData name="Matthew Gregory" userId="S::matthew.gregory2@pearson.com::8c337df5-6986-499e-b190-07598673e62f" providerId="AD" clId="Web-{D87CF648-B45F-37BF-67BD-A5F775948CE9}" dt="2025-01-14T16:07:02.575" v="3" actId="1076"/>
          <ac:picMkLst>
            <pc:docMk/>
            <pc:sldMk cId="3236911344" sldId="346"/>
            <ac:picMk id="4" creationId="{1FC1150B-E489-A124-0629-5AA9EF3B8977}"/>
          </ac:picMkLst>
        </pc:picChg>
        <pc:picChg chg="del">
          <ac:chgData name="Matthew Gregory" userId="S::matthew.gregory2@pearson.com::8c337df5-6986-499e-b190-07598673e62f" providerId="AD" clId="Web-{D87CF648-B45F-37BF-67BD-A5F775948CE9}" dt="2025-01-14T16:06:46.856" v="0"/>
          <ac:picMkLst>
            <pc:docMk/>
            <pc:sldMk cId="3236911344" sldId="346"/>
            <ac:picMk id="11266" creationId="{E5ABD495-7AAB-46A0-A16B-AE4B206FD709}"/>
          </ac:picMkLst>
        </pc:picChg>
      </pc:sldChg>
    </pc:docChg>
  </pc:docChgLst>
  <pc:docChgLst>
    <pc:chgData name="Paul Winser" userId="c3146a91-e6bd-4264-bd86-e164e04bc32d" providerId="ADAL" clId="{86D9D507-0347-4D7F-9C8C-8E33CBA426A5}"/>
    <pc:docChg chg="custSel modSld">
      <pc:chgData name="Paul Winser" userId="c3146a91-e6bd-4264-bd86-e164e04bc32d" providerId="ADAL" clId="{86D9D507-0347-4D7F-9C8C-8E33CBA426A5}" dt="2025-01-14T15:56:06.446" v="48" actId="1076"/>
      <pc:docMkLst>
        <pc:docMk/>
      </pc:docMkLst>
      <pc:sldChg chg="addSp modSp mod">
        <pc:chgData name="Paul Winser" userId="c3146a91-e6bd-4264-bd86-e164e04bc32d" providerId="ADAL" clId="{86D9D507-0347-4D7F-9C8C-8E33CBA426A5}" dt="2025-01-06T11:30:01.323" v="2" actId="20577"/>
        <pc:sldMkLst>
          <pc:docMk/>
          <pc:sldMk cId="0" sldId="256"/>
        </pc:sldMkLst>
        <pc:spChg chg="add mod">
          <ac:chgData name="Paul Winser" userId="c3146a91-e6bd-4264-bd86-e164e04bc32d" providerId="ADAL" clId="{86D9D507-0347-4D7F-9C8C-8E33CBA426A5}" dt="2025-01-06T11:30:01.323" v="2" actId="20577"/>
          <ac:spMkLst>
            <pc:docMk/>
            <pc:sldMk cId="0" sldId="256"/>
            <ac:spMk id="4" creationId="{59CE3472-622E-FD05-1242-09D81EFE8C78}"/>
          </ac:spMkLst>
        </pc:spChg>
      </pc:sldChg>
      <pc:sldChg chg="addSp modSp modNotesTx">
        <pc:chgData name="Paul Winser" userId="c3146a91-e6bd-4264-bd86-e164e04bc32d" providerId="ADAL" clId="{86D9D507-0347-4D7F-9C8C-8E33CBA426A5}" dt="2025-01-06T11:30:14.992" v="6" actId="6549"/>
        <pc:sldMkLst>
          <pc:docMk/>
          <pc:sldMk cId="0" sldId="258"/>
        </pc:sldMkLst>
        <pc:spChg chg="add mod">
          <ac:chgData name="Paul Winser" userId="c3146a91-e6bd-4264-bd86-e164e04bc32d" providerId="ADAL" clId="{86D9D507-0347-4D7F-9C8C-8E33CBA426A5}" dt="2025-01-06T11:30:12.649" v="5"/>
          <ac:spMkLst>
            <pc:docMk/>
            <pc:sldMk cId="0" sldId="258"/>
            <ac:spMk id="2" creationId="{3B4B6284-1C82-9A1A-17C9-A439719BD5E6}"/>
          </ac:spMkLst>
        </pc:spChg>
      </pc:sldChg>
      <pc:sldChg chg="addSp modSp">
        <pc:chgData name="Paul Winser" userId="c3146a91-e6bd-4264-bd86-e164e04bc32d" providerId="ADAL" clId="{86D9D507-0347-4D7F-9C8C-8E33CBA426A5}" dt="2025-01-06T11:30:17.383" v="7"/>
        <pc:sldMkLst>
          <pc:docMk/>
          <pc:sldMk cId="0" sldId="272"/>
        </pc:sldMkLst>
        <pc:spChg chg="add mod">
          <ac:chgData name="Paul Winser" userId="c3146a91-e6bd-4264-bd86-e164e04bc32d" providerId="ADAL" clId="{86D9D507-0347-4D7F-9C8C-8E33CBA426A5}" dt="2025-01-06T11:30:17.383" v="7"/>
          <ac:spMkLst>
            <pc:docMk/>
            <pc:sldMk cId="0" sldId="272"/>
            <ac:spMk id="2" creationId="{440C2A55-AA75-1539-E13D-AD34050A1C23}"/>
          </ac:spMkLst>
        </pc:spChg>
      </pc:sldChg>
      <pc:sldChg chg="addSp modSp">
        <pc:chgData name="Paul Winser" userId="c3146a91-e6bd-4264-bd86-e164e04bc32d" providerId="ADAL" clId="{86D9D507-0347-4D7F-9C8C-8E33CBA426A5}" dt="2025-01-06T11:30:32.299" v="16"/>
        <pc:sldMkLst>
          <pc:docMk/>
          <pc:sldMk cId="2236349469" sldId="318"/>
        </pc:sldMkLst>
        <pc:spChg chg="add mod">
          <ac:chgData name="Paul Winser" userId="c3146a91-e6bd-4264-bd86-e164e04bc32d" providerId="ADAL" clId="{86D9D507-0347-4D7F-9C8C-8E33CBA426A5}" dt="2025-01-06T11:30:32.299" v="16"/>
          <ac:spMkLst>
            <pc:docMk/>
            <pc:sldMk cId="2236349469" sldId="318"/>
            <ac:spMk id="3" creationId="{FB28A130-C61F-4091-AD85-84D263D61B9E}"/>
          </ac:spMkLst>
        </pc:spChg>
      </pc:sldChg>
      <pc:sldChg chg="addSp modSp">
        <pc:chgData name="Paul Winser" userId="c3146a91-e6bd-4264-bd86-e164e04bc32d" providerId="ADAL" clId="{86D9D507-0347-4D7F-9C8C-8E33CBA426A5}" dt="2025-01-06T11:30:19.340" v="8"/>
        <pc:sldMkLst>
          <pc:docMk/>
          <pc:sldMk cId="2645492884" sldId="319"/>
        </pc:sldMkLst>
        <pc:spChg chg="add mod">
          <ac:chgData name="Paul Winser" userId="c3146a91-e6bd-4264-bd86-e164e04bc32d" providerId="ADAL" clId="{86D9D507-0347-4D7F-9C8C-8E33CBA426A5}" dt="2025-01-06T11:30:19.340" v="8"/>
          <ac:spMkLst>
            <pc:docMk/>
            <pc:sldMk cId="2645492884" sldId="319"/>
            <ac:spMk id="3" creationId="{ACDBE184-66CF-B6F1-8D9B-B09E9B9C0328}"/>
          </ac:spMkLst>
        </pc:spChg>
      </pc:sldChg>
      <pc:sldChg chg="addSp modSp">
        <pc:chgData name="Paul Winser" userId="c3146a91-e6bd-4264-bd86-e164e04bc32d" providerId="ADAL" clId="{86D9D507-0347-4D7F-9C8C-8E33CBA426A5}" dt="2025-01-06T11:30:20.644" v="9"/>
        <pc:sldMkLst>
          <pc:docMk/>
          <pc:sldMk cId="1044583352" sldId="320"/>
        </pc:sldMkLst>
        <pc:spChg chg="add mod">
          <ac:chgData name="Paul Winser" userId="c3146a91-e6bd-4264-bd86-e164e04bc32d" providerId="ADAL" clId="{86D9D507-0347-4D7F-9C8C-8E33CBA426A5}" dt="2025-01-06T11:30:20.644" v="9"/>
          <ac:spMkLst>
            <pc:docMk/>
            <pc:sldMk cId="1044583352" sldId="320"/>
            <ac:spMk id="3" creationId="{EE327B8A-8799-A596-633E-FB9E5A3E8243}"/>
          </ac:spMkLst>
        </pc:spChg>
      </pc:sldChg>
      <pc:sldChg chg="addSp delSp modSp mod">
        <pc:chgData name="Paul Winser" userId="c3146a91-e6bd-4264-bd86-e164e04bc32d" providerId="ADAL" clId="{86D9D507-0347-4D7F-9C8C-8E33CBA426A5}" dt="2025-01-14T15:56:06.446" v="48" actId="1076"/>
        <pc:sldMkLst>
          <pc:docMk/>
          <pc:sldMk cId="2453719591" sldId="321"/>
        </pc:sldMkLst>
        <pc:spChg chg="add mod">
          <ac:chgData name="Paul Winser" userId="c3146a91-e6bd-4264-bd86-e164e04bc32d" providerId="ADAL" clId="{86D9D507-0347-4D7F-9C8C-8E33CBA426A5}" dt="2025-01-06T11:30:23.363" v="11"/>
          <ac:spMkLst>
            <pc:docMk/>
            <pc:sldMk cId="2453719591" sldId="321"/>
            <ac:spMk id="5" creationId="{A54E0F09-1395-C285-B9A4-CBD1FBC9E4D3}"/>
          </ac:spMkLst>
        </pc:spChg>
        <pc:picChg chg="del">
          <ac:chgData name="Paul Winser" userId="c3146a91-e6bd-4264-bd86-e164e04bc32d" providerId="ADAL" clId="{86D9D507-0347-4D7F-9C8C-8E33CBA426A5}" dt="2025-01-14T15:56:03.635" v="46" actId="478"/>
          <ac:picMkLst>
            <pc:docMk/>
            <pc:sldMk cId="2453719591" sldId="321"/>
            <ac:picMk id="2" creationId="{5FE1C146-DA7F-35AB-C704-3DD43C507EB8}"/>
          </ac:picMkLst>
        </pc:picChg>
        <pc:picChg chg="add mod">
          <ac:chgData name="Paul Winser" userId="c3146a91-e6bd-4264-bd86-e164e04bc32d" providerId="ADAL" clId="{86D9D507-0347-4D7F-9C8C-8E33CBA426A5}" dt="2025-01-14T15:56:06.446" v="48" actId="1076"/>
          <ac:picMkLst>
            <pc:docMk/>
            <pc:sldMk cId="2453719591" sldId="321"/>
            <ac:picMk id="6" creationId="{626F1339-3374-280A-AEFE-8FF4BBDF06B9}"/>
          </ac:picMkLst>
        </pc:picChg>
      </pc:sldChg>
      <pc:sldChg chg="addSp modSp">
        <pc:chgData name="Paul Winser" userId="c3146a91-e6bd-4264-bd86-e164e04bc32d" providerId="ADAL" clId="{86D9D507-0347-4D7F-9C8C-8E33CBA426A5}" dt="2025-01-06T11:30:30.575" v="15"/>
        <pc:sldMkLst>
          <pc:docMk/>
          <pc:sldMk cId="2705643622" sldId="322"/>
        </pc:sldMkLst>
        <pc:spChg chg="add mod">
          <ac:chgData name="Paul Winser" userId="c3146a91-e6bd-4264-bd86-e164e04bc32d" providerId="ADAL" clId="{86D9D507-0347-4D7F-9C8C-8E33CBA426A5}" dt="2025-01-06T11:30:30.575" v="15"/>
          <ac:spMkLst>
            <pc:docMk/>
            <pc:sldMk cId="2705643622" sldId="322"/>
            <ac:spMk id="4" creationId="{BAE77576-889E-F3C7-7266-9FCC45504512}"/>
          </ac:spMkLst>
        </pc:spChg>
      </pc:sldChg>
      <pc:sldChg chg="addSp modSp">
        <pc:chgData name="Paul Winser" userId="c3146a91-e6bd-4264-bd86-e164e04bc32d" providerId="ADAL" clId="{86D9D507-0347-4D7F-9C8C-8E33CBA426A5}" dt="2025-01-06T11:30:33.528" v="17"/>
        <pc:sldMkLst>
          <pc:docMk/>
          <pc:sldMk cId="2599673036" sldId="323"/>
        </pc:sldMkLst>
        <pc:spChg chg="add mod">
          <ac:chgData name="Paul Winser" userId="c3146a91-e6bd-4264-bd86-e164e04bc32d" providerId="ADAL" clId="{86D9D507-0347-4D7F-9C8C-8E33CBA426A5}" dt="2025-01-06T11:30:33.528" v="17"/>
          <ac:spMkLst>
            <pc:docMk/>
            <pc:sldMk cId="2599673036" sldId="323"/>
            <ac:spMk id="3" creationId="{813FB62F-4652-440C-F5EB-417B2E0466DF}"/>
          </ac:spMkLst>
        </pc:spChg>
      </pc:sldChg>
      <pc:sldChg chg="addSp modSp">
        <pc:chgData name="Paul Winser" userId="c3146a91-e6bd-4264-bd86-e164e04bc32d" providerId="ADAL" clId="{86D9D507-0347-4D7F-9C8C-8E33CBA426A5}" dt="2025-01-06T11:30:34.909" v="18"/>
        <pc:sldMkLst>
          <pc:docMk/>
          <pc:sldMk cId="720357384" sldId="324"/>
        </pc:sldMkLst>
        <pc:spChg chg="add mod">
          <ac:chgData name="Paul Winser" userId="c3146a91-e6bd-4264-bd86-e164e04bc32d" providerId="ADAL" clId="{86D9D507-0347-4D7F-9C8C-8E33CBA426A5}" dt="2025-01-06T11:30:34.909" v="18"/>
          <ac:spMkLst>
            <pc:docMk/>
            <pc:sldMk cId="720357384" sldId="324"/>
            <ac:spMk id="3" creationId="{B89138E9-2021-F7DD-9316-61FBF0419E3C}"/>
          </ac:spMkLst>
        </pc:spChg>
      </pc:sldChg>
      <pc:sldChg chg="addSp modSp">
        <pc:chgData name="Paul Winser" userId="c3146a91-e6bd-4264-bd86-e164e04bc32d" providerId="ADAL" clId="{86D9D507-0347-4D7F-9C8C-8E33CBA426A5}" dt="2025-01-06T11:30:36.279" v="19"/>
        <pc:sldMkLst>
          <pc:docMk/>
          <pc:sldMk cId="2075193005" sldId="325"/>
        </pc:sldMkLst>
        <pc:spChg chg="add mod">
          <ac:chgData name="Paul Winser" userId="c3146a91-e6bd-4264-bd86-e164e04bc32d" providerId="ADAL" clId="{86D9D507-0347-4D7F-9C8C-8E33CBA426A5}" dt="2025-01-06T11:30:36.279" v="19"/>
          <ac:spMkLst>
            <pc:docMk/>
            <pc:sldMk cId="2075193005" sldId="325"/>
            <ac:spMk id="3" creationId="{DD259F83-2B90-06F6-03E2-03D0D3320978}"/>
          </ac:spMkLst>
        </pc:spChg>
      </pc:sldChg>
      <pc:sldChg chg="addSp modSp">
        <pc:chgData name="Paul Winser" userId="c3146a91-e6bd-4264-bd86-e164e04bc32d" providerId="ADAL" clId="{86D9D507-0347-4D7F-9C8C-8E33CBA426A5}" dt="2025-01-06T11:30:37.646" v="20"/>
        <pc:sldMkLst>
          <pc:docMk/>
          <pc:sldMk cId="1712314028" sldId="326"/>
        </pc:sldMkLst>
        <pc:spChg chg="add mod">
          <ac:chgData name="Paul Winser" userId="c3146a91-e6bd-4264-bd86-e164e04bc32d" providerId="ADAL" clId="{86D9D507-0347-4D7F-9C8C-8E33CBA426A5}" dt="2025-01-06T11:30:37.646" v="20"/>
          <ac:spMkLst>
            <pc:docMk/>
            <pc:sldMk cId="1712314028" sldId="326"/>
            <ac:spMk id="2" creationId="{ABE9289D-5920-32FD-2AB6-85DE897DD9EC}"/>
          </ac:spMkLst>
        </pc:spChg>
      </pc:sldChg>
      <pc:sldChg chg="addSp modSp">
        <pc:chgData name="Paul Winser" userId="c3146a91-e6bd-4264-bd86-e164e04bc32d" providerId="ADAL" clId="{86D9D507-0347-4D7F-9C8C-8E33CBA426A5}" dt="2025-01-06T11:30:39.240" v="21"/>
        <pc:sldMkLst>
          <pc:docMk/>
          <pc:sldMk cId="3376124121" sldId="327"/>
        </pc:sldMkLst>
        <pc:spChg chg="add mod">
          <ac:chgData name="Paul Winser" userId="c3146a91-e6bd-4264-bd86-e164e04bc32d" providerId="ADAL" clId="{86D9D507-0347-4D7F-9C8C-8E33CBA426A5}" dt="2025-01-06T11:30:39.240" v="21"/>
          <ac:spMkLst>
            <pc:docMk/>
            <pc:sldMk cId="3376124121" sldId="327"/>
            <ac:spMk id="3" creationId="{737202CE-A2FD-CA76-2958-E69393109F54}"/>
          </ac:spMkLst>
        </pc:spChg>
      </pc:sldChg>
      <pc:sldChg chg="addSp modSp">
        <pc:chgData name="Paul Winser" userId="c3146a91-e6bd-4264-bd86-e164e04bc32d" providerId="ADAL" clId="{86D9D507-0347-4D7F-9C8C-8E33CBA426A5}" dt="2025-01-06T11:30:41.347" v="22"/>
        <pc:sldMkLst>
          <pc:docMk/>
          <pc:sldMk cId="2016012986" sldId="328"/>
        </pc:sldMkLst>
        <pc:spChg chg="add mod">
          <ac:chgData name="Paul Winser" userId="c3146a91-e6bd-4264-bd86-e164e04bc32d" providerId="ADAL" clId="{86D9D507-0347-4D7F-9C8C-8E33CBA426A5}" dt="2025-01-06T11:30:41.347" v="22"/>
          <ac:spMkLst>
            <pc:docMk/>
            <pc:sldMk cId="2016012986" sldId="328"/>
            <ac:spMk id="4" creationId="{066BEA32-162C-05CC-5144-CAE7E75A2E1E}"/>
          </ac:spMkLst>
        </pc:spChg>
      </pc:sldChg>
      <pc:sldChg chg="addSp modSp">
        <pc:chgData name="Paul Winser" userId="c3146a91-e6bd-4264-bd86-e164e04bc32d" providerId="ADAL" clId="{86D9D507-0347-4D7F-9C8C-8E33CBA426A5}" dt="2025-01-06T11:30:45.926" v="25"/>
        <pc:sldMkLst>
          <pc:docMk/>
          <pc:sldMk cId="2763180742" sldId="329"/>
        </pc:sldMkLst>
        <pc:spChg chg="add mod">
          <ac:chgData name="Paul Winser" userId="c3146a91-e6bd-4264-bd86-e164e04bc32d" providerId="ADAL" clId="{86D9D507-0347-4D7F-9C8C-8E33CBA426A5}" dt="2025-01-06T11:30:45.926" v="25"/>
          <ac:spMkLst>
            <pc:docMk/>
            <pc:sldMk cId="2763180742" sldId="329"/>
            <ac:spMk id="3" creationId="{5F38172F-DE79-240F-EA9D-10E8CC9F0098}"/>
          </ac:spMkLst>
        </pc:spChg>
      </pc:sldChg>
      <pc:sldChg chg="addSp modSp">
        <pc:chgData name="Paul Winser" userId="c3146a91-e6bd-4264-bd86-e164e04bc32d" providerId="ADAL" clId="{86D9D507-0347-4D7F-9C8C-8E33CBA426A5}" dt="2025-01-06T11:30:49.651" v="27"/>
        <pc:sldMkLst>
          <pc:docMk/>
          <pc:sldMk cId="1474501594" sldId="330"/>
        </pc:sldMkLst>
        <pc:spChg chg="add mod">
          <ac:chgData name="Paul Winser" userId="c3146a91-e6bd-4264-bd86-e164e04bc32d" providerId="ADAL" clId="{86D9D507-0347-4D7F-9C8C-8E33CBA426A5}" dt="2025-01-06T11:30:49.651" v="27"/>
          <ac:spMkLst>
            <pc:docMk/>
            <pc:sldMk cId="1474501594" sldId="330"/>
            <ac:spMk id="4" creationId="{7A127AEF-049A-AE8C-AF65-F9E144BFD559}"/>
          </ac:spMkLst>
        </pc:spChg>
      </pc:sldChg>
      <pc:sldChg chg="addSp modSp">
        <pc:chgData name="Paul Winser" userId="c3146a91-e6bd-4264-bd86-e164e04bc32d" providerId="ADAL" clId="{86D9D507-0347-4D7F-9C8C-8E33CBA426A5}" dt="2025-01-06T11:30:54.321" v="29"/>
        <pc:sldMkLst>
          <pc:docMk/>
          <pc:sldMk cId="2790188497" sldId="331"/>
        </pc:sldMkLst>
        <pc:spChg chg="add mod">
          <ac:chgData name="Paul Winser" userId="c3146a91-e6bd-4264-bd86-e164e04bc32d" providerId="ADAL" clId="{86D9D507-0347-4D7F-9C8C-8E33CBA426A5}" dt="2025-01-06T11:30:54.321" v="29"/>
          <ac:spMkLst>
            <pc:docMk/>
            <pc:sldMk cId="2790188497" sldId="331"/>
            <ac:spMk id="3" creationId="{92B2068E-507A-38CE-DC40-906CE5D72899}"/>
          </ac:spMkLst>
        </pc:spChg>
      </pc:sldChg>
      <pc:sldChg chg="addSp modSp">
        <pc:chgData name="Paul Winser" userId="c3146a91-e6bd-4264-bd86-e164e04bc32d" providerId="ADAL" clId="{86D9D507-0347-4D7F-9C8C-8E33CBA426A5}" dt="2025-01-06T11:31:00.434" v="33"/>
        <pc:sldMkLst>
          <pc:docMk/>
          <pc:sldMk cId="4267187221" sldId="334"/>
        </pc:sldMkLst>
        <pc:spChg chg="add mod">
          <ac:chgData name="Paul Winser" userId="c3146a91-e6bd-4264-bd86-e164e04bc32d" providerId="ADAL" clId="{86D9D507-0347-4D7F-9C8C-8E33CBA426A5}" dt="2025-01-06T11:31:00.434" v="33"/>
          <ac:spMkLst>
            <pc:docMk/>
            <pc:sldMk cId="4267187221" sldId="334"/>
            <ac:spMk id="3" creationId="{B49EEF82-D02D-374A-0D36-840ABCD1D26F}"/>
          </ac:spMkLst>
        </pc:spChg>
      </pc:sldChg>
      <pc:sldChg chg="addSp modSp mod">
        <pc:chgData name="Paul Winser" userId="c3146a91-e6bd-4264-bd86-e164e04bc32d" providerId="ADAL" clId="{86D9D507-0347-4D7F-9C8C-8E33CBA426A5}" dt="2025-01-06T11:31:07.743" v="35" actId="1076"/>
        <pc:sldMkLst>
          <pc:docMk/>
          <pc:sldMk cId="3502374636" sldId="335"/>
        </pc:sldMkLst>
        <pc:spChg chg="add mod">
          <ac:chgData name="Paul Winser" userId="c3146a91-e6bd-4264-bd86-e164e04bc32d" providerId="ADAL" clId="{86D9D507-0347-4D7F-9C8C-8E33CBA426A5}" dt="2025-01-06T11:31:02.177" v="34"/>
          <ac:spMkLst>
            <pc:docMk/>
            <pc:sldMk cId="3502374636" sldId="335"/>
            <ac:spMk id="4" creationId="{C8D829B7-ED79-7675-C7E5-F74EFFBD4F0A}"/>
          </ac:spMkLst>
        </pc:spChg>
        <pc:graphicFrameChg chg="mod">
          <ac:chgData name="Paul Winser" userId="c3146a91-e6bd-4264-bd86-e164e04bc32d" providerId="ADAL" clId="{86D9D507-0347-4D7F-9C8C-8E33CBA426A5}" dt="2025-01-06T11:31:07.743" v="35" actId="1076"/>
          <ac:graphicFrameMkLst>
            <pc:docMk/>
            <pc:sldMk cId="3502374636" sldId="335"/>
            <ac:graphicFrameMk id="2" creationId="{38FE235F-3DE4-4596-B5EC-71FE391A0D47}"/>
          </ac:graphicFrameMkLst>
        </pc:graphicFrameChg>
      </pc:sldChg>
      <pc:sldChg chg="addSp modSp">
        <pc:chgData name="Paul Winser" userId="c3146a91-e6bd-4264-bd86-e164e04bc32d" providerId="ADAL" clId="{86D9D507-0347-4D7F-9C8C-8E33CBA426A5}" dt="2025-01-06T11:31:11.121" v="37"/>
        <pc:sldMkLst>
          <pc:docMk/>
          <pc:sldMk cId="1932795327" sldId="336"/>
        </pc:sldMkLst>
        <pc:spChg chg="add mod">
          <ac:chgData name="Paul Winser" userId="c3146a91-e6bd-4264-bd86-e164e04bc32d" providerId="ADAL" clId="{86D9D507-0347-4D7F-9C8C-8E33CBA426A5}" dt="2025-01-06T11:31:11.121" v="37"/>
          <ac:spMkLst>
            <pc:docMk/>
            <pc:sldMk cId="1932795327" sldId="336"/>
            <ac:spMk id="3" creationId="{10A49A55-14DF-4100-6623-E302408FFE31}"/>
          </ac:spMkLst>
        </pc:spChg>
      </pc:sldChg>
      <pc:sldChg chg="addSp modSp">
        <pc:chgData name="Paul Winser" userId="c3146a91-e6bd-4264-bd86-e164e04bc32d" providerId="ADAL" clId="{86D9D507-0347-4D7F-9C8C-8E33CBA426A5}" dt="2025-01-06T11:31:12.486" v="38"/>
        <pc:sldMkLst>
          <pc:docMk/>
          <pc:sldMk cId="3929371560" sldId="337"/>
        </pc:sldMkLst>
        <pc:spChg chg="add mod">
          <ac:chgData name="Paul Winser" userId="c3146a91-e6bd-4264-bd86-e164e04bc32d" providerId="ADAL" clId="{86D9D507-0347-4D7F-9C8C-8E33CBA426A5}" dt="2025-01-06T11:31:12.486" v="38"/>
          <ac:spMkLst>
            <pc:docMk/>
            <pc:sldMk cId="3929371560" sldId="337"/>
            <ac:spMk id="3" creationId="{8B949DC2-371D-B9E4-FA3D-E38FC54A6510}"/>
          </ac:spMkLst>
        </pc:spChg>
      </pc:sldChg>
      <pc:sldChg chg="addSp modSp">
        <pc:chgData name="Paul Winser" userId="c3146a91-e6bd-4264-bd86-e164e04bc32d" providerId="ADAL" clId="{86D9D507-0347-4D7F-9C8C-8E33CBA426A5}" dt="2025-01-06T11:31:16.600" v="41"/>
        <pc:sldMkLst>
          <pc:docMk/>
          <pc:sldMk cId="878394071" sldId="338"/>
        </pc:sldMkLst>
        <pc:spChg chg="add mod">
          <ac:chgData name="Paul Winser" userId="c3146a91-e6bd-4264-bd86-e164e04bc32d" providerId="ADAL" clId="{86D9D507-0347-4D7F-9C8C-8E33CBA426A5}" dt="2025-01-06T11:31:16.600" v="41"/>
          <ac:spMkLst>
            <pc:docMk/>
            <pc:sldMk cId="878394071" sldId="338"/>
            <ac:spMk id="3" creationId="{8CE6F54A-13CD-063D-D7FA-C6E0B08F99B8}"/>
          </ac:spMkLst>
        </pc:spChg>
      </pc:sldChg>
      <pc:sldChg chg="addSp modSp">
        <pc:chgData name="Paul Winser" userId="c3146a91-e6bd-4264-bd86-e164e04bc32d" providerId="ADAL" clId="{86D9D507-0347-4D7F-9C8C-8E33CBA426A5}" dt="2025-01-06T11:31:17.876" v="42"/>
        <pc:sldMkLst>
          <pc:docMk/>
          <pc:sldMk cId="3885341039" sldId="340"/>
        </pc:sldMkLst>
        <pc:spChg chg="add mod">
          <ac:chgData name="Paul Winser" userId="c3146a91-e6bd-4264-bd86-e164e04bc32d" providerId="ADAL" clId="{86D9D507-0347-4D7F-9C8C-8E33CBA426A5}" dt="2025-01-06T11:31:17.876" v="42"/>
          <ac:spMkLst>
            <pc:docMk/>
            <pc:sldMk cId="3885341039" sldId="340"/>
            <ac:spMk id="3" creationId="{817C603A-ADBF-199B-989C-13AB7B14E0AF}"/>
          </ac:spMkLst>
        </pc:spChg>
      </pc:sldChg>
      <pc:sldChg chg="addSp modSp">
        <pc:chgData name="Paul Winser" userId="c3146a91-e6bd-4264-bd86-e164e04bc32d" providerId="ADAL" clId="{86D9D507-0347-4D7F-9C8C-8E33CBA426A5}" dt="2025-01-06T11:31:19.362" v="43"/>
        <pc:sldMkLst>
          <pc:docMk/>
          <pc:sldMk cId="3843397369" sldId="341"/>
        </pc:sldMkLst>
        <pc:spChg chg="add mod">
          <ac:chgData name="Paul Winser" userId="c3146a91-e6bd-4264-bd86-e164e04bc32d" providerId="ADAL" clId="{86D9D507-0347-4D7F-9C8C-8E33CBA426A5}" dt="2025-01-06T11:31:19.362" v="43"/>
          <ac:spMkLst>
            <pc:docMk/>
            <pc:sldMk cId="3843397369" sldId="341"/>
            <ac:spMk id="4" creationId="{F01AADFE-ED4D-0EEB-E0AE-090530B4A71B}"/>
          </ac:spMkLst>
        </pc:spChg>
      </pc:sldChg>
      <pc:sldChg chg="addSp modSp">
        <pc:chgData name="Paul Winser" userId="c3146a91-e6bd-4264-bd86-e164e04bc32d" providerId="ADAL" clId="{86D9D507-0347-4D7F-9C8C-8E33CBA426A5}" dt="2025-01-06T11:30:21.997" v="10"/>
        <pc:sldMkLst>
          <pc:docMk/>
          <pc:sldMk cId="2148764918" sldId="342"/>
        </pc:sldMkLst>
        <pc:spChg chg="add mod">
          <ac:chgData name="Paul Winser" userId="c3146a91-e6bd-4264-bd86-e164e04bc32d" providerId="ADAL" clId="{86D9D507-0347-4D7F-9C8C-8E33CBA426A5}" dt="2025-01-06T11:30:21.997" v="10"/>
          <ac:spMkLst>
            <pc:docMk/>
            <pc:sldMk cId="2148764918" sldId="342"/>
            <ac:spMk id="4" creationId="{803A32E7-6068-9F56-3D10-6CFC08213601}"/>
          </ac:spMkLst>
        </pc:spChg>
      </pc:sldChg>
      <pc:sldChg chg="addSp modSp">
        <pc:chgData name="Paul Winser" userId="c3146a91-e6bd-4264-bd86-e164e04bc32d" providerId="ADAL" clId="{86D9D507-0347-4D7F-9C8C-8E33CBA426A5}" dt="2025-01-06T11:30:26.714" v="13"/>
        <pc:sldMkLst>
          <pc:docMk/>
          <pc:sldMk cId="2952915225" sldId="343"/>
        </pc:sldMkLst>
        <pc:spChg chg="add mod">
          <ac:chgData name="Paul Winser" userId="c3146a91-e6bd-4264-bd86-e164e04bc32d" providerId="ADAL" clId="{86D9D507-0347-4D7F-9C8C-8E33CBA426A5}" dt="2025-01-06T11:30:26.714" v="13"/>
          <ac:spMkLst>
            <pc:docMk/>
            <pc:sldMk cId="2952915225" sldId="343"/>
            <ac:spMk id="4" creationId="{BE998B5C-103C-49E8-9E36-D1F3B9CEAACF}"/>
          </ac:spMkLst>
        </pc:spChg>
      </pc:sldChg>
      <pc:sldChg chg="addSp modSp">
        <pc:chgData name="Paul Winser" userId="c3146a91-e6bd-4264-bd86-e164e04bc32d" providerId="ADAL" clId="{86D9D507-0347-4D7F-9C8C-8E33CBA426A5}" dt="2025-01-06T11:30:47.445" v="26"/>
        <pc:sldMkLst>
          <pc:docMk/>
          <pc:sldMk cId="1725141507" sldId="344"/>
        </pc:sldMkLst>
        <pc:spChg chg="add mod">
          <ac:chgData name="Paul Winser" userId="c3146a91-e6bd-4264-bd86-e164e04bc32d" providerId="ADAL" clId="{86D9D507-0347-4D7F-9C8C-8E33CBA426A5}" dt="2025-01-06T11:30:47.445" v="26"/>
          <ac:spMkLst>
            <pc:docMk/>
            <pc:sldMk cId="1725141507" sldId="344"/>
            <ac:spMk id="4" creationId="{8CF4CDC0-C0DD-30A5-09DA-E14592C5196B}"/>
          </ac:spMkLst>
        </pc:spChg>
      </pc:sldChg>
      <pc:sldChg chg="addSp modSp">
        <pc:chgData name="Paul Winser" userId="c3146a91-e6bd-4264-bd86-e164e04bc32d" providerId="ADAL" clId="{86D9D507-0347-4D7F-9C8C-8E33CBA426A5}" dt="2025-01-06T11:31:20.872" v="44"/>
        <pc:sldMkLst>
          <pc:docMk/>
          <pc:sldMk cId="1288918952" sldId="345"/>
        </pc:sldMkLst>
        <pc:spChg chg="add mod">
          <ac:chgData name="Paul Winser" userId="c3146a91-e6bd-4264-bd86-e164e04bc32d" providerId="ADAL" clId="{86D9D507-0347-4D7F-9C8C-8E33CBA426A5}" dt="2025-01-06T11:31:20.872" v="44"/>
          <ac:spMkLst>
            <pc:docMk/>
            <pc:sldMk cId="1288918952" sldId="345"/>
            <ac:spMk id="4" creationId="{2BAC6C70-8477-B033-7AC0-6518F57039AC}"/>
          </ac:spMkLst>
        </pc:spChg>
      </pc:sldChg>
      <pc:sldChg chg="addSp modSp">
        <pc:chgData name="Paul Winser" userId="c3146a91-e6bd-4264-bd86-e164e04bc32d" providerId="ADAL" clId="{86D9D507-0347-4D7F-9C8C-8E33CBA426A5}" dt="2025-01-06T11:31:09.217" v="36"/>
        <pc:sldMkLst>
          <pc:docMk/>
          <pc:sldMk cId="3236911344" sldId="346"/>
        </pc:sldMkLst>
        <pc:spChg chg="add mod">
          <ac:chgData name="Paul Winser" userId="c3146a91-e6bd-4264-bd86-e164e04bc32d" providerId="ADAL" clId="{86D9D507-0347-4D7F-9C8C-8E33CBA426A5}" dt="2025-01-06T11:31:09.217" v="36"/>
          <ac:spMkLst>
            <pc:docMk/>
            <pc:sldMk cId="3236911344" sldId="346"/>
            <ac:spMk id="3" creationId="{A02DD67A-AED8-A44C-7781-1DA626D13326}"/>
          </ac:spMkLst>
        </pc:spChg>
      </pc:sldChg>
      <pc:sldChg chg="addSp modSp">
        <pc:chgData name="Paul Winser" userId="c3146a91-e6bd-4264-bd86-e164e04bc32d" providerId="ADAL" clId="{86D9D507-0347-4D7F-9C8C-8E33CBA426A5}" dt="2025-01-06T11:30:52.500" v="28"/>
        <pc:sldMkLst>
          <pc:docMk/>
          <pc:sldMk cId="1983655430" sldId="347"/>
        </pc:sldMkLst>
        <pc:spChg chg="add mod">
          <ac:chgData name="Paul Winser" userId="c3146a91-e6bd-4264-bd86-e164e04bc32d" providerId="ADAL" clId="{86D9D507-0347-4D7F-9C8C-8E33CBA426A5}" dt="2025-01-06T11:30:52.500" v="28"/>
          <ac:spMkLst>
            <pc:docMk/>
            <pc:sldMk cId="1983655430" sldId="347"/>
            <ac:spMk id="4" creationId="{48AA2DD4-1C96-2517-E24D-7B12EF3C4D85}"/>
          </ac:spMkLst>
        </pc:spChg>
      </pc:sldChg>
      <pc:sldChg chg="addSp modSp">
        <pc:chgData name="Paul Winser" userId="c3146a91-e6bd-4264-bd86-e164e04bc32d" providerId="ADAL" clId="{86D9D507-0347-4D7F-9C8C-8E33CBA426A5}" dt="2025-01-06T11:30:43.023" v="23"/>
        <pc:sldMkLst>
          <pc:docMk/>
          <pc:sldMk cId="3804035395" sldId="348"/>
        </pc:sldMkLst>
        <pc:spChg chg="add mod">
          <ac:chgData name="Paul Winser" userId="c3146a91-e6bd-4264-bd86-e164e04bc32d" providerId="ADAL" clId="{86D9D507-0347-4D7F-9C8C-8E33CBA426A5}" dt="2025-01-06T11:30:43.023" v="23"/>
          <ac:spMkLst>
            <pc:docMk/>
            <pc:sldMk cId="3804035395" sldId="348"/>
            <ac:spMk id="3" creationId="{33E76C46-A65B-FB01-AAC3-EC21040BEC28}"/>
          </ac:spMkLst>
        </pc:spChg>
      </pc:sldChg>
      <pc:sldChg chg="addSp modSp">
        <pc:chgData name="Paul Winser" userId="c3146a91-e6bd-4264-bd86-e164e04bc32d" providerId="ADAL" clId="{86D9D507-0347-4D7F-9C8C-8E33CBA426A5}" dt="2025-01-06T11:30:09.403" v="3"/>
        <pc:sldMkLst>
          <pc:docMk/>
          <pc:sldMk cId="648773695" sldId="349"/>
        </pc:sldMkLst>
        <pc:spChg chg="add mod">
          <ac:chgData name="Paul Winser" userId="c3146a91-e6bd-4264-bd86-e164e04bc32d" providerId="ADAL" clId="{86D9D507-0347-4D7F-9C8C-8E33CBA426A5}" dt="2025-01-06T11:30:09.403" v="3"/>
          <ac:spMkLst>
            <pc:docMk/>
            <pc:sldMk cId="648773695" sldId="349"/>
            <ac:spMk id="4" creationId="{F9D48053-7B8E-B228-F4BE-1F648CEF72D4}"/>
          </ac:spMkLst>
        </pc:spChg>
      </pc:sldChg>
      <pc:sldChg chg="addSp modSp">
        <pc:chgData name="Paul Winser" userId="c3146a91-e6bd-4264-bd86-e164e04bc32d" providerId="ADAL" clId="{86D9D507-0347-4D7F-9C8C-8E33CBA426A5}" dt="2025-01-06T11:30:11.128" v="4"/>
        <pc:sldMkLst>
          <pc:docMk/>
          <pc:sldMk cId="2893489029" sldId="350"/>
        </pc:sldMkLst>
        <pc:spChg chg="add mod">
          <ac:chgData name="Paul Winser" userId="c3146a91-e6bd-4264-bd86-e164e04bc32d" providerId="ADAL" clId="{86D9D507-0347-4D7F-9C8C-8E33CBA426A5}" dt="2025-01-06T11:30:11.128" v="4"/>
          <ac:spMkLst>
            <pc:docMk/>
            <pc:sldMk cId="2893489029" sldId="350"/>
            <ac:spMk id="4" creationId="{196092A0-3D6A-4C8B-22D5-478607902544}"/>
          </ac:spMkLst>
        </pc:spChg>
      </pc:sldChg>
      <pc:sldChg chg="addSp modSp">
        <pc:chgData name="Paul Winser" userId="c3146a91-e6bd-4264-bd86-e164e04bc32d" providerId="ADAL" clId="{86D9D507-0347-4D7F-9C8C-8E33CBA426A5}" dt="2025-01-06T11:30:28.483" v="14"/>
        <pc:sldMkLst>
          <pc:docMk/>
          <pc:sldMk cId="3208562726" sldId="351"/>
        </pc:sldMkLst>
        <pc:spChg chg="add mod">
          <ac:chgData name="Paul Winser" userId="c3146a91-e6bd-4264-bd86-e164e04bc32d" providerId="ADAL" clId="{86D9D507-0347-4D7F-9C8C-8E33CBA426A5}" dt="2025-01-06T11:30:28.483" v="14"/>
          <ac:spMkLst>
            <pc:docMk/>
            <pc:sldMk cId="3208562726" sldId="351"/>
            <ac:spMk id="4" creationId="{EB9A24F8-FB0E-4D6B-6F3C-28A46A793767}"/>
          </ac:spMkLst>
        </pc:spChg>
      </pc:sldChg>
      <pc:sldChg chg="addSp modSp">
        <pc:chgData name="Paul Winser" userId="c3146a91-e6bd-4264-bd86-e164e04bc32d" providerId="ADAL" clId="{86D9D507-0347-4D7F-9C8C-8E33CBA426A5}" dt="2025-01-06T11:30:25.120" v="12"/>
        <pc:sldMkLst>
          <pc:docMk/>
          <pc:sldMk cId="1304457172" sldId="352"/>
        </pc:sldMkLst>
        <pc:spChg chg="add mod">
          <ac:chgData name="Paul Winser" userId="c3146a91-e6bd-4264-bd86-e164e04bc32d" providerId="ADAL" clId="{86D9D507-0347-4D7F-9C8C-8E33CBA426A5}" dt="2025-01-06T11:30:25.120" v="12"/>
          <ac:spMkLst>
            <pc:docMk/>
            <pc:sldMk cId="1304457172" sldId="352"/>
            <ac:spMk id="2" creationId="{937D5EC0-DDDB-82B9-3B1C-B905F9D0EBCC}"/>
          </ac:spMkLst>
        </pc:spChg>
      </pc:sldChg>
      <pc:sldChg chg="addSp modSp">
        <pc:chgData name="Paul Winser" userId="c3146a91-e6bd-4264-bd86-e164e04bc32d" providerId="ADAL" clId="{86D9D507-0347-4D7F-9C8C-8E33CBA426A5}" dt="2025-01-06T11:30:44.486" v="24"/>
        <pc:sldMkLst>
          <pc:docMk/>
          <pc:sldMk cId="1978815541" sldId="353"/>
        </pc:sldMkLst>
        <pc:spChg chg="add mod">
          <ac:chgData name="Paul Winser" userId="c3146a91-e6bd-4264-bd86-e164e04bc32d" providerId="ADAL" clId="{86D9D507-0347-4D7F-9C8C-8E33CBA426A5}" dt="2025-01-06T11:30:44.486" v="24"/>
          <ac:spMkLst>
            <pc:docMk/>
            <pc:sldMk cId="1978815541" sldId="353"/>
            <ac:spMk id="4" creationId="{4CEE2E87-61FB-0E1F-EFC9-BD21C257AE52}"/>
          </ac:spMkLst>
        </pc:spChg>
      </pc:sldChg>
      <pc:sldChg chg="addSp modSp">
        <pc:chgData name="Paul Winser" userId="c3146a91-e6bd-4264-bd86-e164e04bc32d" providerId="ADAL" clId="{86D9D507-0347-4D7F-9C8C-8E33CBA426A5}" dt="2025-01-06T11:30:55.787" v="30"/>
        <pc:sldMkLst>
          <pc:docMk/>
          <pc:sldMk cId="2618455539" sldId="354"/>
        </pc:sldMkLst>
        <pc:spChg chg="add mod">
          <ac:chgData name="Paul Winser" userId="c3146a91-e6bd-4264-bd86-e164e04bc32d" providerId="ADAL" clId="{86D9D507-0347-4D7F-9C8C-8E33CBA426A5}" dt="2025-01-06T11:30:55.787" v="30"/>
          <ac:spMkLst>
            <pc:docMk/>
            <pc:sldMk cId="2618455539" sldId="354"/>
            <ac:spMk id="4" creationId="{E5E26364-1A67-1F37-AEBB-829EA030B1B8}"/>
          </ac:spMkLst>
        </pc:spChg>
      </pc:sldChg>
      <pc:sldChg chg="addSp modSp">
        <pc:chgData name="Paul Winser" userId="c3146a91-e6bd-4264-bd86-e164e04bc32d" providerId="ADAL" clId="{86D9D507-0347-4D7F-9C8C-8E33CBA426A5}" dt="2025-01-06T11:30:57.717" v="31"/>
        <pc:sldMkLst>
          <pc:docMk/>
          <pc:sldMk cId="2462301980" sldId="355"/>
        </pc:sldMkLst>
        <pc:spChg chg="add mod">
          <ac:chgData name="Paul Winser" userId="c3146a91-e6bd-4264-bd86-e164e04bc32d" providerId="ADAL" clId="{86D9D507-0347-4D7F-9C8C-8E33CBA426A5}" dt="2025-01-06T11:30:57.717" v="31"/>
          <ac:spMkLst>
            <pc:docMk/>
            <pc:sldMk cId="2462301980" sldId="355"/>
            <ac:spMk id="4" creationId="{943C774D-A546-9DA6-FA36-4FF0D6965E6D}"/>
          </ac:spMkLst>
        </pc:spChg>
      </pc:sldChg>
      <pc:sldChg chg="addSp modSp">
        <pc:chgData name="Paul Winser" userId="c3146a91-e6bd-4264-bd86-e164e04bc32d" providerId="ADAL" clId="{86D9D507-0347-4D7F-9C8C-8E33CBA426A5}" dt="2025-01-06T11:30:59.016" v="32"/>
        <pc:sldMkLst>
          <pc:docMk/>
          <pc:sldMk cId="3706745010" sldId="356"/>
        </pc:sldMkLst>
        <pc:spChg chg="add mod">
          <ac:chgData name="Paul Winser" userId="c3146a91-e6bd-4264-bd86-e164e04bc32d" providerId="ADAL" clId="{86D9D507-0347-4D7F-9C8C-8E33CBA426A5}" dt="2025-01-06T11:30:59.016" v="32"/>
          <ac:spMkLst>
            <pc:docMk/>
            <pc:sldMk cId="3706745010" sldId="356"/>
            <ac:spMk id="4" creationId="{0A0C6344-9213-D664-0427-544F4D430D10}"/>
          </ac:spMkLst>
        </pc:spChg>
      </pc:sldChg>
      <pc:sldChg chg="addSp modSp">
        <pc:chgData name="Paul Winser" userId="c3146a91-e6bd-4264-bd86-e164e04bc32d" providerId="ADAL" clId="{86D9D507-0347-4D7F-9C8C-8E33CBA426A5}" dt="2025-01-06T11:31:13.813" v="39"/>
        <pc:sldMkLst>
          <pc:docMk/>
          <pc:sldMk cId="3764492078" sldId="357"/>
        </pc:sldMkLst>
        <pc:spChg chg="add mod">
          <ac:chgData name="Paul Winser" userId="c3146a91-e6bd-4264-bd86-e164e04bc32d" providerId="ADAL" clId="{86D9D507-0347-4D7F-9C8C-8E33CBA426A5}" dt="2025-01-06T11:31:13.813" v="39"/>
          <ac:spMkLst>
            <pc:docMk/>
            <pc:sldMk cId="3764492078" sldId="357"/>
            <ac:spMk id="4" creationId="{61F5AC33-727C-65FC-6342-286E14C57CF1}"/>
          </ac:spMkLst>
        </pc:spChg>
      </pc:sldChg>
      <pc:sldChg chg="addSp modSp">
        <pc:chgData name="Paul Winser" userId="c3146a91-e6bd-4264-bd86-e164e04bc32d" providerId="ADAL" clId="{86D9D507-0347-4D7F-9C8C-8E33CBA426A5}" dt="2025-01-06T11:31:15.196" v="40"/>
        <pc:sldMkLst>
          <pc:docMk/>
          <pc:sldMk cId="3886452073" sldId="358"/>
        </pc:sldMkLst>
        <pc:spChg chg="add mod">
          <ac:chgData name="Paul Winser" userId="c3146a91-e6bd-4264-bd86-e164e04bc32d" providerId="ADAL" clId="{86D9D507-0347-4D7F-9C8C-8E33CBA426A5}" dt="2025-01-06T11:31:15.196" v="40"/>
          <ac:spMkLst>
            <pc:docMk/>
            <pc:sldMk cId="3886452073" sldId="358"/>
            <ac:spMk id="4" creationId="{30A5CFA2-4569-4742-6A19-B57E010B2E26}"/>
          </ac:spMkLst>
        </pc:spChg>
      </pc:sldChg>
      <pc:sldChg chg="addSp modSp">
        <pc:chgData name="Paul Winser" userId="c3146a91-e6bd-4264-bd86-e164e04bc32d" providerId="ADAL" clId="{86D9D507-0347-4D7F-9C8C-8E33CBA426A5}" dt="2025-01-06T11:31:25.035" v="45"/>
        <pc:sldMkLst>
          <pc:docMk/>
          <pc:sldMk cId="1784085695" sldId="360"/>
        </pc:sldMkLst>
        <pc:spChg chg="add mod">
          <ac:chgData name="Paul Winser" userId="c3146a91-e6bd-4264-bd86-e164e04bc32d" providerId="ADAL" clId="{86D9D507-0347-4D7F-9C8C-8E33CBA426A5}" dt="2025-01-06T11:31:25.035" v="45"/>
          <ac:spMkLst>
            <pc:docMk/>
            <pc:sldMk cId="1784085695" sldId="360"/>
            <ac:spMk id="2" creationId="{F21CAD6D-4F7C-2177-14F4-B900604BAD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1</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rtl="1"/>
              <a:t>4</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5</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19037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65783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9294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710386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83352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407734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19336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649525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90598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17784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59421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554343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25876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780467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94098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241773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656364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94390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54646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578611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183844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971427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128376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081943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85854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77062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40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376056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41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821152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42</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rotWithShape="1">
          <a:blip r:embed="rId16">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
        <p:nvSpPr>
          <p:cNvPr id="12" name="Rectangle 11">
            <a:extLst>
              <a:ext uri="{FF2B5EF4-FFF2-40B4-BE49-F238E27FC236}">
                <a16:creationId xmlns:a16="http://schemas.microsoft.com/office/drawing/2014/main" id="{798312BF-F09E-6076-4208-E2A82B3DEE4D}"/>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a:latin typeface="Sakkal Majalla" panose="02000000000000000000" pitchFamily="2" charset="-78"/>
                <a:cs typeface="Sakkal Majalla" panose="02000000000000000000" pitchFamily="2" charset="-78"/>
              </a:rPr>
              <a:t>شهادة BTEC 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a:latin typeface="Sakkal Majalla" panose="02000000000000000000" pitchFamily="2" charset="-78"/>
                <a:cs typeface="Sakkal Majalla" panose="02000000000000000000" pitchFamily="2" charset="-78"/>
              </a:rPr>
              <a:t>3</a:t>
            </a:r>
            <a:endParaRPr lang="en-US" sz="2500" b="1">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66.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36.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7.xml.rels><?xml version="1.0" encoding="UTF-8" standalone="yes"?>
<Relationships xmlns="http://schemas.openxmlformats.org/package/2006/relationships"><Relationship Id="rId2" Type="http://schemas.openxmlformats.org/officeDocument/2006/relationships/audio" Target="../media/audio1.bin"/><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4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800"/>
              <a:t>الوحدة 25</a:t>
            </a:r>
            <a:br>
              <a:rPr lang="en-GB" altLang="en-US" sz="4800"/>
            </a:br>
            <a:r>
              <a:rPr lang="ar" sz="4800"/>
              <a:t>السلوك الميكانيكي </a:t>
            </a:r>
            <a:br>
              <a:rPr lang="en-US" sz="4800"/>
            </a:br>
            <a:r>
              <a:rPr lang="ar" sz="4800"/>
              <a:t>للمواد المعدنية</a:t>
            </a:r>
          </a:p>
        </p:txBody>
      </p:sp>
      <p:sp>
        <p:nvSpPr>
          <p:cNvPr id="2" name="Footer Placeholder 2">
            <a:extLst>
              <a:ext uri="{FF2B5EF4-FFF2-40B4-BE49-F238E27FC236}">
                <a16:creationId xmlns:a16="http://schemas.microsoft.com/office/drawing/2014/main" id="{C0AAFC9F-FB02-910D-1FEE-DCA913BD9A60}"/>
              </a:ext>
            </a:extLst>
          </p:cNvPr>
          <p:cNvSpPr>
            <a:spLocks noGrp="1"/>
          </p:cNvSpPr>
          <p:nvPr>
            <p:ph type="ftr" sz="quarter" idx="10"/>
          </p:nvPr>
        </p:nvSpPr>
        <p:spPr>
          <a:xfrm>
            <a:off x="0" y="6459538"/>
            <a:ext cx="9144000" cy="287337"/>
          </a:xfrm>
        </p:spPr>
        <p:txBody>
          <a:bodyPr wrap="square" rtlCol="1" anchor="t">
            <a:noAutofit/>
          </a:bodyPr>
          <a:lstStyle/>
          <a:p>
            <a:pPr algn="ctr" rtl="1">
              <a:lnSpc>
                <a:spcPct val="90000"/>
              </a:lnSpc>
              <a:spcAft>
                <a:spcPts val="600"/>
              </a:spcAft>
              <a:defRPr/>
            </a:pPr>
            <a:r>
              <a:rPr lang="ar" sz="1400"/>
              <a:t>© حقوق التأليف والنشر لعام 2024 محفوظة لشركة بيرسون إديوكيشن ليمتد. يُسمح بالنسخ للمؤسسة المشترية فقط. </a:t>
            </a:r>
          </a:p>
        </p:txBody>
      </p:sp>
      <p:sp>
        <p:nvSpPr>
          <p:cNvPr id="4" name="Footer Placeholder 2">
            <a:extLst>
              <a:ext uri="{FF2B5EF4-FFF2-40B4-BE49-F238E27FC236}">
                <a16:creationId xmlns:a16="http://schemas.microsoft.com/office/drawing/2014/main" id="{59CE3472-622E-FD05-1242-09D81EFE8C7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05B12-C642-49D0-B076-C1B7CBB37376}"/>
              </a:ext>
            </a:extLst>
          </p:cNvPr>
          <p:cNvSpPr>
            <a:spLocks noGrp="1"/>
          </p:cNvSpPr>
          <p:nvPr>
            <p:ph type="title"/>
          </p:nvPr>
        </p:nvSpPr>
        <p:spPr>
          <a:xfrm>
            <a:off x="457200" y="1195200"/>
            <a:ext cx="8229600" cy="864000"/>
          </a:xfrm>
        </p:spPr>
        <p:txBody>
          <a:bodyPr rtlCol="1"/>
          <a:lstStyle/>
          <a:p>
            <a:pPr rtl="1"/>
            <a:br>
              <a:rPr lang="en-GB" sz="4000" b="1"/>
            </a:br>
            <a:r>
              <a:rPr lang="ar" sz="4000" b="1"/>
              <a:t>مقدمة الوحدة</a:t>
            </a:r>
            <a:br>
              <a:rPr lang="en-GB" sz="4800" b="1"/>
            </a:br>
            <a:endParaRPr lang="en-GB" sz="4800"/>
          </a:p>
        </p:txBody>
      </p:sp>
      <p:sp>
        <p:nvSpPr>
          <p:cNvPr id="3" name="Content Placeholder 2">
            <a:extLst>
              <a:ext uri="{FF2B5EF4-FFF2-40B4-BE49-F238E27FC236}">
                <a16:creationId xmlns:a16="http://schemas.microsoft.com/office/drawing/2014/main" id="{E6CA7F83-B8D1-4437-92C8-73A6F31D5DE9}"/>
              </a:ext>
            </a:extLst>
          </p:cNvPr>
          <p:cNvSpPr>
            <a:spLocks noGrp="1"/>
          </p:cNvSpPr>
          <p:nvPr>
            <p:ph idx="1"/>
          </p:nvPr>
        </p:nvSpPr>
        <p:spPr>
          <a:xfrm>
            <a:off x="468311" y="2196000"/>
            <a:ext cx="8207375" cy="3878436"/>
          </a:xfrm>
        </p:spPr>
        <p:txBody>
          <a:bodyPr rtlCol="1"/>
          <a:lstStyle/>
          <a:p>
            <a:pPr marL="0" indent="0" algn="ctr" rtl="1">
              <a:buNone/>
            </a:pPr>
            <a:r>
              <a:rPr lang="ar" sz="2800" b="1"/>
              <a:t>أهمية اختيار المواد</a:t>
            </a:r>
          </a:p>
          <a:p>
            <a:pPr marL="0" indent="0" algn="ctr" rtl="1">
              <a:buNone/>
            </a:pPr>
            <a:endParaRPr lang="en-GB" altLang="en-US" sz="2800" b="1"/>
          </a:p>
          <a:p>
            <a:pPr marL="0" indent="0" rtl="1">
              <a:buNone/>
            </a:pPr>
            <a:r>
              <a:rPr lang="ar" sz="2600"/>
              <a:t>لا بد من اختيار أنسب المواد وطرق المعالجة لمنتج أو نظام مصمم لضمان ملاءمته للغرض.</a:t>
            </a:r>
            <a:endParaRPr lang="en-GB" altLang="en-US" sz="2600" b="1"/>
          </a:p>
          <a:p>
            <a:pPr algn="ctr" rtl="1"/>
            <a:endParaRPr lang="en-GB" altLang="en-US" sz="2800"/>
          </a:p>
        </p:txBody>
      </p:sp>
      <p:sp>
        <p:nvSpPr>
          <p:cNvPr id="4" name="Footer Placeholder 2">
            <a:extLst>
              <a:ext uri="{FF2B5EF4-FFF2-40B4-BE49-F238E27FC236}">
                <a16:creationId xmlns:a16="http://schemas.microsoft.com/office/drawing/2014/main" id="{F9D48053-7B8E-B228-F4BE-1F648CEF72D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648773695"/>
      </p:ext>
    </p:extLst>
  </p:cSld>
  <p:clrMapOvr>
    <a:masterClrMapping/>
  </p:clrMapOvr>
  <p:transition>
    <p:sndAc>
      <p:stSnd>
        <p:snd r:embed="rId2"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E812D-7CF4-4938-BCFF-661505CCDFD0}"/>
              </a:ext>
            </a:extLst>
          </p:cNvPr>
          <p:cNvSpPr>
            <a:spLocks noGrp="1"/>
          </p:cNvSpPr>
          <p:nvPr>
            <p:ph type="title"/>
          </p:nvPr>
        </p:nvSpPr>
        <p:spPr>
          <a:xfrm>
            <a:off x="457200" y="1195200"/>
            <a:ext cx="8229600" cy="864000"/>
          </a:xfrm>
        </p:spPr>
        <p:txBody>
          <a:bodyPr rtlCol="1"/>
          <a:lstStyle/>
          <a:p>
            <a:pPr rtl="1"/>
            <a:br>
              <a:rPr lang="en-GB" altLang="en-US" sz="4000" b="1"/>
            </a:br>
            <a:r>
              <a:rPr lang="ar" sz="4000" b="1"/>
              <a:t>محور الوحدة</a:t>
            </a:r>
            <a:br>
              <a:rPr lang="en-GB" altLang="en-US" sz="4800" b="1"/>
            </a:br>
            <a:endParaRPr lang="en-GB" sz="4800"/>
          </a:p>
        </p:txBody>
      </p:sp>
      <p:sp>
        <p:nvSpPr>
          <p:cNvPr id="3" name="Content Placeholder 2">
            <a:extLst>
              <a:ext uri="{FF2B5EF4-FFF2-40B4-BE49-F238E27FC236}">
                <a16:creationId xmlns:a16="http://schemas.microsoft.com/office/drawing/2014/main" id="{08B89B86-953F-4301-B207-875C0C4CFEB2}"/>
              </a:ext>
            </a:extLst>
          </p:cNvPr>
          <p:cNvSpPr>
            <a:spLocks noGrp="1"/>
          </p:cNvSpPr>
          <p:nvPr>
            <p:ph idx="1"/>
          </p:nvPr>
        </p:nvSpPr>
        <p:spPr>
          <a:xfrm>
            <a:off x="822036" y="2196000"/>
            <a:ext cx="7853650" cy="3878436"/>
          </a:xfrm>
        </p:spPr>
        <p:txBody>
          <a:bodyPr rtlCol="1"/>
          <a:lstStyle/>
          <a:p>
            <a:pPr rtl="1"/>
            <a:r>
              <a:rPr lang="ar" sz="2600"/>
              <a:t>تركز هذه الوحدة على البحث في البُنى الدقيقة للمواد المعدنية الحديدية وغير الحديدية ودراستها، وإجراء الاختبارات لتحديد خواصها الميكانيكية، واستكشاف أنماط الإخفاق لتحسين تصميم المكونات. تساعد هذه الوحدة على إعدادك للتدريب أو التدريب المهني أو العمل في دور فني في القطاع. </a:t>
            </a:r>
          </a:p>
        </p:txBody>
      </p:sp>
      <p:sp>
        <p:nvSpPr>
          <p:cNvPr id="4" name="Footer Placeholder 2">
            <a:extLst>
              <a:ext uri="{FF2B5EF4-FFF2-40B4-BE49-F238E27FC236}">
                <a16:creationId xmlns:a16="http://schemas.microsoft.com/office/drawing/2014/main" id="{196092A0-3D6A-4C8B-22D5-47860790254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893489029"/>
      </p:ext>
    </p:extLst>
  </p:cSld>
  <p:clrMapOvr>
    <a:masterClrMapping/>
  </p:clrMapOvr>
  <p:transition>
    <p:sndAc>
      <p:stSnd>
        <p:snd r:embed="rId2"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800" b="1"/>
              <a:t>نتاجات التعلم</a:t>
            </a:r>
            <a:endParaRPr lang="en-GB" altLang="en-US" sz="4800" b="1"/>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748144" y="2058987"/>
            <a:ext cx="7916647" cy="432234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600" b="1"/>
              <a:t>أ	</a:t>
            </a:r>
            <a:r>
              <a:rPr lang="ar" sz="2600"/>
              <a:t>دراسة البنية الدقيقة للمواد المعدنية وتأثيرات المعالجة </a:t>
            </a:r>
            <a:r>
              <a:rPr lang="ar-EG" sz="2600"/>
              <a:t>ف</a:t>
            </a:r>
            <a:r>
              <a:rPr lang="ar" sz="2600"/>
              <a:t>يها ونتيجة هذه التأثيرات على خواصها الميكانيكية</a:t>
            </a:r>
          </a:p>
          <a:p>
            <a:pPr marL="404813" indent="-387350" defTabSz="431800" rtl="1">
              <a:buNone/>
            </a:pPr>
            <a:endParaRPr lang="en-GB" altLang="en-US" sz="2600"/>
          </a:p>
          <a:p>
            <a:pPr marL="404813" indent="-387350" defTabSz="431800" rtl="1">
              <a:buNone/>
            </a:pPr>
            <a:r>
              <a:rPr lang="ar" sz="2600" b="1"/>
              <a:t>ب</a:t>
            </a:r>
            <a:r>
              <a:rPr lang="ar" sz="2600"/>
              <a:t>	استكشاف الخواص الميكانيكية للمواد المعدنية بأمان وتأثير هذه الخواص في متطلبات استخدامها</a:t>
            </a:r>
          </a:p>
          <a:p>
            <a:pPr marL="404813" indent="-387350" defTabSz="431800" rtl="1">
              <a:buNone/>
            </a:pPr>
            <a:endParaRPr lang="en-GB" altLang="en-US" sz="2600"/>
          </a:p>
          <a:p>
            <a:pPr marL="404813" indent="-387350" defTabSz="431800" rtl="1">
              <a:buNone/>
            </a:pPr>
            <a:r>
              <a:rPr lang="ar" sz="2600" b="1"/>
              <a:t>ج</a:t>
            </a:r>
            <a:r>
              <a:rPr lang="ar" sz="2600"/>
              <a:t>	استكشاف إخفاق المكونات المعدنية في أثناء استخدامها ودراسة إدخال</a:t>
            </a:r>
            <a:r>
              <a:rPr lang="ar-EG" sz="2600"/>
              <a:t> </a:t>
            </a:r>
            <a:r>
              <a:rPr lang="ar" sz="2600"/>
              <a:t>التحسينات على تصميمها</a:t>
            </a:r>
          </a:p>
          <a:p>
            <a:pPr marL="404813" indent="-387350" defTabSz="431800" rtl="1">
              <a:buNone/>
            </a:pPr>
            <a:endParaRPr lang="en-GB" altLang="en-US" sz="2600"/>
          </a:p>
          <a:p>
            <a:pPr marL="404813" indent="-387350" defTabSz="431800" rtl="1">
              <a:buNone/>
            </a:pPr>
            <a:endParaRPr lang="en-GB" altLang="en-US" sz="2600"/>
          </a:p>
        </p:txBody>
      </p:sp>
      <p:sp>
        <p:nvSpPr>
          <p:cNvPr id="2" name="Footer Placeholder 2">
            <a:extLst>
              <a:ext uri="{FF2B5EF4-FFF2-40B4-BE49-F238E27FC236}">
                <a16:creationId xmlns:a16="http://schemas.microsoft.com/office/drawing/2014/main" id="{3B4B6284-1C82-9A1A-17C9-A439719BD5E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800"/>
              <a:t>نتاج التعلم أ</a:t>
            </a:r>
            <a:br>
              <a:rPr lang="en-US" altLang="en-US" sz="2800"/>
            </a:br>
            <a:br>
              <a:rPr lang="en-US" altLang="en-US" sz="2800"/>
            </a:br>
            <a:endParaRPr lang="en-GB" altLang="en-US" sz="40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905164" y="2493963"/>
            <a:ext cx="762606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4000" b="1" spc="100">
                <a:latin typeface="Sakkal Majalla" panose="02000000000000000000" pitchFamily="2" charset="-78"/>
                <a:cs typeface="Sakkal Majalla" panose="02000000000000000000" pitchFamily="2" charset="-78"/>
              </a:rPr>
              <a:t>دراسة البنية الدقيقة للمواد المعدنية وتأثيرات المعالجة </a:t>
            </a:r>
            <a:r>
              <a:rPr lang="ar-EG" sz="4000" b="1" spc="100">
                <a:latin typeface="Sakkal Majalla" panose="02000000000000000000" pitchFamily="2" charset="-78"/>
                <a:cs typeface="Sakkal Majalla" panose="02000000000000000000" pitchFamily="2" charset="-78"/>
              </a:rPr>
              <a:t>ف</a:t>
            </a:r>
            <a:r>
              <a:rPr lang="ar" sz="4000" b="1" spc="100">
                <a:latin typeface="Sakkal Majalla" panose="02000000000000000000" pitchFamily="2" charset="-78"/>
                <a:cs typeface="Sakkal Majalla" panose="02000000000000000000" pitchFamily="2" charset="-78"/>
              </a:rPr>
              <a:t>يها ونتيجة هذه التأثيرات على خواصها الميكانيكية</a:t>
            </a:r>
          </a:p>
        </p:txBody>
      </p:sp>
      <p:sp>
        <p:nvSpPr>
          <p:cNvPr id="2" name="Footer Placeholder 2">
            <a:extLst>
              <a:ext uri="{FF2B5EF4-FFF2-40B4-BE49-F238E27FC236}">
                <a16:creationId xmlns:a16="http://schemas.microsoft.com/office/drawing/2014/main" id="{440C2A55-AA75-1539-E13D-AD34050A1C2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90806" y="1247677"/>
            <a:ext cx="8962388" cy="647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a:t>سنستكشف في هذا الجزء أنواعًا مختلفة من المعادن الحديدية والخلائط، منها الفولاذ الكربوني العادي، وفولاذ الخلائط، وحديد الزهر (المصبوب)، والحديد المطاوع. وسنناقش أيضًا طرق التعريف وأنظمة الترميز المستخدمة لهذه المواد.</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C4CC4071-EFD5-46C6-B277-41FBA3D8D140}"/>
              </a:ext>
            </a:extLst>
          </p:cNvPr>
          <p:cNvGraphicFramePr>
            <a:graphicFrameLocks noGrp="1"/>
          </p:cNvGraphicFramePr>
          <p:nvPr>
            <p:extLst>
              <p:ext uri="{D42A27DB-BD31-4B8C-83A1-F6EECF244321}">
                <p14:modId xmlns:p14="http://schemas.microsoft.com/office/powerpoint/2010/main" val="2752070649"/>
              </p:ext>
            </p:extLst>
          </p:nvPr>
        </p:nvGraphicFramePr>
        <p:xfrm>
          <a:off x="251520" y="2060848"/>
          <a:ext cx="8640960" cy="4265940"/>
        </p:xfrm>
        <a:graphic>
          <a:graphicData uri="http://schemas.openxmlformats.org/drawingml/2006/table">
            <a:tbl>
              <a:tblPr rtl="1" firstRow="1" bandRow="1">
                <a:tableStyleId>{073A0DAA-6AF3-43AB-8588-CEC1D06C72B9}</a:tableStyleId>
              </a:tblPr>
              <a:tblGrid>
                <a:gridCol w="2160240">
                  <a:extLst>
                    <a:ext uri="{9D8B030D-6E8A-4147-A177-3AD203B41FA5}">
                      <a16:colId xmlns:a16="http://schemas.microsoft.com/office/drawing/2014/main" val="1384357287"/>
                    </a:ext>
                  </a:extLst>
                </a:gridCol>
                <a:gridCol w="2160240">
                  <a:extLst>
                    <a:ext uri="{9D8B030D-6E8A-4147-A177-3AD203B41FA5}">
                      <a16:colId xmlns:a16="http://schemas.microsoft.com/office/drawing/2014/main" val="1522228880"/>
                    </a:ext>
                  </a:extLst>
                </a:gridCol>
                <a:gridCol w="2160240">
                  <a:extLst>
                    <a:ext uri="{9D8B030D-6E8A-4147-A177-3AD203B41FA5}">
                      <a16:colId xmlns:a16="http://schemas.microsoft.com/office/drawing/2014/main" val="1767478801"/>
                    </a:ext>
                  </a:extLst>
                </a:gridCol>
                <a:gridCol w="2160240">
                  <a:extLst>
                    <a:ext uri="{9D8B030D-6E8A-4147-A177-3AD203B41FA5}">
                      <a16:colId xmlns:a16="http://schemas.microsoft.com/office/drawing/2014/main" val="366251188"/>
                    </a:ext>
                  </a:extLst>
                </a:gridCol>
              </a:tblGrid>
              <a:tr h="1615101">
                <a:tc>
                  <a:txBody>
                    <a:bodyPr/>
                    <a:lstStyle/>
                    <a:p>
                      <a:pPr rtl="1"/>
                      <a:r>
                        <a:rPr lang="ar" sz="1300">
                          <a:latin typeface="Sakkal Majalla" panose="02000000000000000000" pitchFamily="2" charset="-78"/>
                          <a:cs typeface="Sakkal Majalla" panose="02000000000000000000" pitchFamily="2" charset="-78"/>
                        </a:rPr>
                        <a:t>معدن/خليط معدني</a:t>
                      </a:r>
                    </a:p>
                  </a:txBody>
                  <a:tcPr/>
                </a:tc>
                <a:tc>
                  <a:txBody>
                    <a:bodyPr/>
                    <a:lstStyle/>
                    <a:p>
                      <a:pPr rtl="1"/>
                      <a:r>
                        <a:rPr lang="ar" sz="1300">
                          <a:latin typeface="Sakkal Majalla" panose="02000000000000000000" pitchFamily="2" charset="-78"/>
                          <a:cs typeface="Sakkal Majalla" panose="02000000000000000000" pitchFamily="2" charset="-78"/>
                        </a:rPr>
                        <a:t>الوصف</a:t>
                      </a:r>
                    </a:p>
                  </a:txBody>
                  <a:tcPr/>
                </a:tc>
                <a:tc>
                  <a:txBody>
                    <a:bodyPr/>
                    <a:lstStyle/>
                    <a:p>
                      <a:pPr rtl="1"/>
                      <a:r>
                        <a:rPr lang="ar" sz="1300">
                          <a:latin typeface="Sakkal Majalla" panose="02000000000000000000" pitchFamily="2" charset="-78"/>
                          <a:cs typeface="Sakkal Majalla" panose="02000000000000000000" pitchFamily="2" charset="-78"/>
                        </a:rPr>
                        <a:t>طريقة التعريف</a:t>
                      </a:r>
                    </a:p>
                  </a:txBody>
                  <a:tcPr/>
                </a:tc>
                <a:tc>
                  <a:txBody>
                    <a:bodyPr/>
                    <a:lstStyle/>
                    <a:p>
                      <a:pPr rtl="1"/>
                      <a:r>
                        <a:rPr lang="ar" sz="1300">
                          <a:latin typeface="Sakkal Majalla" panose="02000000000000000000" pitchFamily="2" charset="-78"/>
                          <a:cs typeface="Sakkal Majalla" panose="02000000000000000000" pitchFamily="2" charset="-78"/>
                        </a:rPr>
                        <a:t>نظام الترميز</a:t>
                      </a:r>
                    </a:p>
                  </a:txBody>
                  <a:tcPr/>
                </a:tc>
                <a:extLst>
                  <a:ext uri="{0D108BD9-81ED-4DB2-BD59-A6C34878D82A}">
                    <a16:rowId xmlns:a16="http://schemas.microsoft.com/office/drawing/2014/main" val="1222777672"/>
                  </a:ext>
                </a:extLst>
              </a:tr>
              <a:tr h="655013">
                <a:tc>
                  <a:txBody>
                    <a:bodyPr/>
                    <a:lstStyle/>
                    <a:p>
                      <a:pPr rtl="1"/>
                      <a:r>
                        <a:rPr lang="ar" sz="1300">
                          <a:latin typeface="Sakkal Majalla" panose="02000000000000000000" pitchFamily="2" charset="-78"/>
                          <a:cs typeface="Sakkal Majalla" panose="02000000000000000000" pitchFamily="2" charset="-78"/>
                        </a:rPr>
                        <a:t>فولاذ كربوني عادي</a:t>
                      </a:r>
                    </a:p>
                  </a:txBody>
                  <a:tcPr/>
                </a:tc>
                <a:tc>
                  <a:txBody>
                    <a:bodyPr/>
                    <a:lstStyle/>
                    <a:p>
                      <a:pPr rtl="1"/>
                      <a:r>
                        <a:rPr lang="ar" sz="1300">
                          <a:latin typeface="Sakkal Majalla" panose="02000000000000000000" pitchFamily="2" charset="-78"/>
                          <a:cs typeface="Sakkal Majalla" panose="02000000000000000000" pitchFamily="2" charset="-78"/>
                        </a:rPr>
                        <a:t>يحتوي فقط على الحديد والكربون، ولا يحتوي على كميات كبيرة من العناصر الأخرى.</a:t>
                      </a:r>
                    </a:p>
                  </a:txBody>
                  <a:tcPr/>
                </a:tc>
                <a:tc>
                  <a:txBody>
                    <a:bodyPr/>
                    <a:lstStyle/>
                    <a:p>
                      <a:pPr rtl="1"/>
                      <a:r>
                        <a:rPr lang="ar" sz="1300">
                          <a:latin typeface="Sakkal Majalla" panose="02000000000000000000" pitchFamily="2" charset="-78"/>
                          <a:cs typeface="Sakkal Majalla" panose="02000000000000000000" pitchFamily="2" charset="-78"/>
                        </a:rPr>
                        <a:t>الاختبار المغناطيسي وتحليل محتوى الكربون</a:t>
                      </a:r>
                    </a:p>
                  </a:txBody>
                  <a:tcPr/>
                </a:tc>
                <a:tc>
                  <a:txBody>
                    <a:bodyPr/>
                    <a:lstStyle/>
                    <a:p>
                      <a:pPr rtl="1"/>
                      <a:r>
                        <a:rPr lang="ar" sz="1300">
                          <a:latin typeface="Sakkal Majalla" panose="02000000000000000000" pitchFamily="2" charset="-78"/>
                          <a:cs typeface="Sakkal Majalla" panose="02000000000000000000" pitchFamily="2" charset="-78"/>
                        </a:rPr>
                        <a:t>نظام التصنيف SAE-AISI استنادًا إلى محتوى الكربون</a:t>
                      </a:r>
                      <a:endParaRPr lang="en-GB" sz="130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109325373"/>
                  </a:ext>
                </a:extLst>
              </a:tr>
              <a:tr h="655013">
                <a:tc>
                  <a:txBody>
                    <a:bodyPr/>
                    <a:lstStyle/>
                    <a:p>
                      <a:pPr rtl="1"/>
                      <a:r>
                        <a:rPr lang="ar" sz="1300">
                          <a:latin typeface="Sakkal Majalla" panose="02000000000000000000" pitchFamily="2" charset="-78"/>
                          <a:cs typeface="Sakkal Majalla" panose="02000000000000000000" pitchFamily="2" charset="-78"/>
                        </a:rPr>
                        <a:t>فولاذ الخلائط</a:t>
                      </a:r>
                    </a:p>
                  </a:txBody>
                  <a:tcPr/>
                </a:tc>
                <a:tc>
                  <a:txBody>
                    <a:bodyPr/>
                    <a:lstStyle/>
                    <a:p>
                      <a:pPr rtl="1"/>
                      <a:r>
                        <a:rPr lang="ar" sz="1300">
                          <a:latin typeface="Sakkal Majalla" panose="02000000000000000000" pitchFamily="2" charset="-78"/>
                          <a:cs typeface="Sakkal Majalla" panose="02000000000000000000" pitchFamily="2" charset="-78"/>
                        </a:rPr>
                        <a:t>يحتوي على عناصر تخليط إضافية مثل الكروم والنيكل والموليبدينوم.</a:t>
                      </a:r>
                    </a:p>
                  </a:txBody>
                  <a:tcPr/>
                </a:tc>
                <a:tc>
                  <a:txBody>
                    <a:bodyPr/>
                    <a:lstStyle/>
                    <a:p>
                      <a:pPr rtl="1"/>
                      <a:r>
                        <a:rPr lang="ar" sz="1300">
                          <a:latin typeface="Sakkal Majalla" panose="02000000000000000000" pitchFamily="2" charset="-78"/>
                          <a:cs typeface="Sakkal Majalla" panose="02000000000000000000" pitchFamily="2" charset="-78"/>
                        </a:rPr>
                        <a:t>تحليل التركيب الكيميائي، فحص البنية الدقيقة</a:t>
                      </a:r>
                      <a:endParaRPr lang="en-GB" sz="1300">
                        <a:latin typeface="Sakkal Majalla" panose="02000000000000000000" pitchFamily="2" charset="-78"/>
                        <a:cs typeface="Sakkal Majalla" panose="02000000000000000000" pitchFamily="2" charset="-78"/>
                      </a:endParaRPr>
                    </a:p>
                  </a:txBody>
                  <a:tcPr/>
                </a:tc>
                <a:tc>
                  <a:txBody>
                    <a:bodyPr/>
                    <a:lstStyle/>
                    <a:p>
                      <a:pPr rtl="1"/>
                      <a:r>
                        <a:rPr lang="ar" sz="1300">
                          <a:latin typeface="Sakkal Majalla" panose="02000000000000000000" pitchFamily="2" charset="-78"/>
                          <a:cs typeface="Sakkal Majalla" panose="02000000000000000000" pitchFamily="2" charset="-78"/>
                        </a:rPr>
                        <a:t>نظام الترقيم الموحد (UNS) استنادًا إلى التركيب الكيميائي</a:t>
                      </a:r>
                    </a:p>
                  </a:txBody>
                  <a:tcPr/>
                </a:tc>
                <a:extLst>
                  <a:ext uri="{0D108BD9-81ED-4DB2-BD59-A6C34878D82A}">
                    <a16:rowId xmlns:a16="http://schemas.microsoft.com/office/drawing/2014/main" val="918246296"/>
                  </a:ext>
                </a:extLst>
              </a:tr>
              <a:tr h="655013">
                <a:tc>
                  <a:txBody>
                    <a:bodyPr/>
                    <a:lstStyle/>
                    <a:p>
                      <a:pPr rtl="1"/>
                      <a:r>
                        <a:rPr lang="ar" sz="1300">
                          <a:latin typeface="Sakkal Majalla" panose="02000000000000000000" pitchFamily="2" charset="-78"/>
                          <a:cs typeface="Sakkal Majalla" panose="02000000000000000000" pitchFamily="2" charset="-78"/>
                        </a:rPr>
                        <a:t>حديد الزهر</a:t>
                      </a:r>
                    </a:p>
                  </a:txBody>
                  <a:tcPr/>
                </a:tc>
                <a:tc>
                  <a:txBody>
                    <a:bodyPr/>
                    <a:lstStyle/>
                    <a:p>
                      <a:pPr rtl="1"/>
                      <a:r>
                        <a:rPr lang="ar" sz="1300">
                          <a:latin typeface="Sakkal Majalla" panose="02000000000000000000" pitchFamily="2" charset="-78"/>
                          <a:cs typeface="Sakkal Majalla" panose="02000000000000000000" pitchFamily="2" charset="-78"/>
                        </a:rPr>
                        <a:t>يحتوي على نسبة كربون أعلى من الفولاذ، ما يؤدي إلى قصافة وقابلية ممتازة للصب.</a:t>
                      </a:r>
                    </a:p>
                  </a:txBody>
                  <a:tcPr/>
                </a:tc>
                <a:tc>
                  <a:txBody>
                    <a:bodyPr/>
                    <a:lstStyle/>
                    <a:p>
                      <a:pPr rtl="1"/>
                      <a:r>
                        <a:rPr lang="ar" sz="1300">
                          <a:latin typeface="Sakkal Majalla" panose="02000000000000000000" pitchFamily="2" charset="-78"/>
                          <a:cs typeface="Sakkal Majalla" panose="02000000000000000000" pitchFamily="2" charset="-78"/>
                        </a:rPr>
                        <a:t>اختبار الكسر، تحليل محتوى الكربون</a:t>
                      </a:r>
                    </a:p>
                  </a:txBody>
                  <a:tcPr/>
                </a:tc>
                <a:tc>
                  <a:txBody>
                    <a:bodyPr/>
                    <a:lstStyle/>
                    <a:p>
                      <a:pPr rtl="1"/>
                      <a:r>
                        <a:rPr lang="ar" sz="1300">
                          <a:latin typeface="Sakkal Majalla" panose="02000000000000000000" pitchFamily="2" charset="-78"/>
                          <a:cs typeface="Sakkal Majalla" panose="02000000000000000000" pitchFamily="2" charset="-78"/>
                        </a:rPr>
                        <a:t>نظام تصنيف ASTM استنادًا إلى البنية الدقيقة</a:t>
                      </a:r>
                    </a:p>
                  </a:txBody>
                  <a:tcPr/>
                </a:tc>
                <a:extLst>
                  <a:ext uri="{0D108BD9-81ED-4DB2-BD59-A6C34878D82A}">
                    <a16:rowId xmlns:a16="http://schemas.microsoft.com/office/drawing/2014/main" val="478010944"/>
                  </a:ext>
                </a:extLst>
              </a:tr>
              <a:tr h="655013">
                <a:tc>
                  <a:txBody>
                    <a:bodyPr/>
                    <a:lstStyle/>
                    <a:p>
                      <a:pPr rtl="1"/>
                      <a:r>
                        <a:rPr lang="ar" sz="1300">
                          <a:latin typeface="Sakkal Majalla" panose="02000000000000000000" pitchFamily="2" charset="-78"/>
                          <a:cs typeface="Sakkal Majalla" panose="02000000000000000000" pitchFamily="2" charset="-78"/>
                        </a:rPr>
                        <a:t>الحديد المطاوع</a:t>
                      </a:r>
                    </a:p>
                  </a:txBody>
                  <a:tcPr/>
                </a:tc>
                <a:tc>
                  <a:txBody>
                    <a:bodyPr/>
                    <a:lstStyle/>
                    <a:p>
                      <a:pPr rtl="1"/>
                      <a:r>
                        <a:rPr lang="ar" sz="1300">
                          <a:latin typeface="Sakkal Majalla" panose="02000000000000000000" pitchFamily="2" charset="-78"/>
                          <a:cs typeface="Sakkal Majalla" panose="02000000000000000000" pitchFamily="2" charset="-78"/>
                        </a:rPr>
                        <a:t>يحتوي على نسبة منخفضة جدًا من الكربون وهو مرن ومطيل ومقاوم للتآكل.</a:t>
                      </a:r>
                    </a:p>
                  </a:txBody>
                  <a:tcPr/>
                </a:tc>
                <a:tc>
                  <a:txBody>
                    <a:bodyPr/>
                    <a:lstStyle/>
                    <a:p>
                      <a:pPr rtl="1"/>
                      <a:r>
                        <a:rPr lang="ar" sz="1300">
                          <a:latin typeface="Sakkal Majalla" panose="02000000000000000000" pitchFamily="2" charset="-78"/>
                          <a:cs typeface="Sakkal Majalla" panose="02000000000000000000" pitchFamily="2" charset="-78"/>
                        </a:rPr>
                        <a:t>الفحص البصري، اختبار الشرارة</a:t>
                      </a:r>
                    </a:p>
                  </a:txBody>
                  <a:tcPr/>
                </a:tc>
                <a:tc>
                  <a:txBody>
                    <a:bodyPr/>
                    <a:lstStyle/>
                    <a:p>
                      <a:pPr rtl="1"/>
                      <a:r>
                        <a:rPr lang="ar" sz="1300">
                          <a:latin typeface="Sakkal Majalla" panose="02000000000000000000" pitchFamily="2" charset="-78"/>
                          <a:cs typeface="Sakkal Majalla" panose="02000000000000000000" pitchFamily="2" charset="-78"/>
                        </a:rPr>
                        <a:t>لا يوجد نظام ترميز محدد</a:t>
                      </a:r>
                    </a:p>
                  </a:txBody>
                  <a:tcPr/>
                </a:tc>
                <a:extLst>
                  <a:ext uri="{0D108BD9-81ED-4DB2-BD59-A6C34878D82A}">
                    <a16:rowId xmlns:a16="http://schemas.microsoft.com/office/drawing/2014/main" val="3144878487"/>
                  </a:ext>
                </a:extLst>
              </a:tr>
            </a:tbl>
          </a:graphicData>
        </a:graphic>
      </p:graphicFrame>
      <p:sp>
        <p:nvSpPr>
          <p:cNvPr id="4" name="Title 1">
            <a:extLst>
              <a:ext uri="{FF2B5EF4-FFF2-40B4-BE49-F238E27FC236}">
                <a16:creationId xmlns:a16="http://schemas.microsoft.com/office/drawing/2014/main" id="{71446616-2274-9111-5454-EAAE9D407561}"/>
              </a:ext>
            </a:extLst>
          </p:cNvPr>
          <p:cNvSpPr>
            <a:spLocks noGrp="1"/>
          </p:cNvSpPr>
          <p:nvPr>
            <p:ph type="title"/>
          </p:nvPr>
        </p:nvSpPr>
        <p:spPr>
          <a:xfrm>
            <a:off x="4144318" y="434108"/>
            <a:ext cx="4952929" cy="546247"/>
          </a:xfrm>
        </p:spPr>
        <p:txBody>
          <a:bodyPr rtlCol="1"/>
          <a:lstStyle/>
          <a:p>
            <a:pPr algn="r" rtl="1"/>
            <a:r>
              <a:rPr lang="ar" sz="2400" b="1"/>
              <a:t>أ1: أنواع المعادن والخلائط الحديدية </a:t>
            </a:r>
            <a:br>
              <a:rPr lang="en-GB" altLang="en-US" sz="2400" b="1"/>
            </a:br>
            <a:endParaRPr lang="en-GB"/>
          </a:p>
        </p:txBody>
      </p:sp>
      <p:sp>
        <p:nvSpPr>
          <p:cNvPr id="3" name="Footer Placeholder 2">
            <a:extLst>
              <a:ext uri="{FF2B5EF4-FFF2-40B4-BE49-F238E27FC236}">
                <a16:creationId xmlns:a16="http://schemas.microsoft.com/office/drawing/2014/main" id="{ACDBE184-66CF-B6F1-8D9B-B09E9B9C032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645492884"/>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endParaRPr lang="en-GB" sz="1400" b="1">
              <a:effectLst/>
            </a:endParaRPr>
          </a:p>
          <a:p>
            <a:pPr marL="0" indent="0" rtl="1">
              <a:buNone/>
            </a:pPr>
            <a:r>
              <a:rPr lang="ar" sz="1600" b="1"/>
              <a:t>أنواع المعادن والخلائط غير الحديدية</a:t>
            </a:r>
          </a:p>
          <a:p>
            <a:pPr marL="0" indent="0" rtl="1">
              <a:buNone/>
            </a:pPr>
            <a:r>
              <a:rPr lang="ar" sz="1400">
                <a:effectLst/>
              </a:rPr>
              <a:t>المعادن والخلائط غير الحديدية مواد لا تحتوي على الحديد. وتُستخدم بأشكال مختلفة في قطاعات مثل الفضاء والسيارات والبناء والإلكترونيات. دعونا نستكشف بعض المعادن والخلائط غير الحديدية شائعة الاستخدام وطرق تعريفها وأنظمة ترميزها.</a:t>
            </a:r>
            <a:endParaRPr lang="en-GB" sz="105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03870EEB-4997-437C-B38A-9C79D06E06DA}"/>
              </a:ext>
            </a:extLst>
          </p:cNvPr>
          <p:cNvGraphicFramePr>
            <a:graphicFrameLocks noGrp="1"/>
          </p:cNvGraphicFramePr>
          <p:nvPr>
            <p:extLst>
              <p:ext uri="{D42A27DB-BD31-4B8C-83A1-F6EECF244321}">
                <p14:modId xmlns:p14="http://schemas.microsoft.com/office/powerpoint/2010/main" val="862863023"/>
              </p:ext>
            </p:extLst>
          </p:nvPr>
        </p:nvGraphicFramePr>
        <p:xfrm>
          <a:off x="342954" y="2564904"/>
          <a:ext cx="8605494" cy="3284985"/>
        </p:xfrm>
        <a:graphic>
          <a:graphicData uri="http://schemas.openxmlformats.org/drawingml/2006/table">
            <a:tbl>
              <a:tblPr rtl="1" firstRow="1" bandRow="1">
                <a:tableStyleId>{073A0DAA-6AF3-43AB-8588-CEC1D06C72B9}</a:tableStyleId>
              </a:tblPr>
              <a:tblGrid>
                <a:gridCol w="2868498">
                  <a:extLst>
                    <a:ext uri="{9D8B030D-6E8A-4147-A177-3AD203B41FA5}">
                      <a16:colId xmlns:a16="http://schemas.microsoft.com/office/drawing/2014/main" val="239609265"/>
                    </a:ext>
                  </a:extLst>
                </a:gridCol>
                <a:gridCol w="2868498">
                  <a:extLst>
                    <a:ext uri="{9D8B030D-6E8A-4147-A177-3AD203B41FA5}">
                      <a16:colId xmlns:a16="http://schemas.microsoft.com/office/drawing/2014/main" val="84692870"/>
                    </a:ext>
                  </a:extLst>
                </a:gridCol>
                <a:gridCol w="2868498">
                  <a:extLst>
                    <a:ext uri="{9D8B030D-6E8A-4147-A177-3AD203B41FA5}">
                      <a16:colId xmlns:a16="http://schemas.microsoft.com/office/drawing/2014/main" val="3258316754"/>
                    </a:ext>
                  </a:extLst>
                </a:gridCol>
              </a:tblGrid>
              <a:tr h="656997">
                <a:tc>
                  <a:txBody>
                    <a:bodyPr/>
                    <a:lstStyle/>
                    <a:p>
                      <a:pPr rtl="1"/>
                      <a:r>
                        <a:rPr lang="ar" sz="1200">
                          <a:latin typeface="Sakkal Majalla" panose="02000000000000000000" pitchFamily="2" charset="-78"/>
                          <a:cs typeface="Sakkal Majalla" panose="02000000000000000000" pitchFamily="2" charset="-78"/>
                        </a:rPr>
                        <a:t>معدن/خليط معدني</a:t>
                      </a:r>
                    </a:p>
                  </a:txBody>
                  <a:tcPr/>
                </a:tc>
                <a:tc>
                  <a:txBody>
                    <a:bodyPr/>
                    <a:lstStyle/>
                    <a:p>
                      <a:pPr rtl="1"/>
                      <a:r>
                        <a:rPr lang="ar" sz="1200">
                          <a:latin typeface="Sakkal Majalla" panose="02000000000000000000" pitchFamily="2" charset="-78"/>
                          <a:cs typeface="Sakkal Majalla" panose="02000000000000000000" pitchFamily="2" charset="-78"/>
                        </a:rPr>
                        <a:t>طرق التعريف</a:t>
                      </a:r>
                    </a:p>
                  </a:txBody>
                  <a:tcPr/>
                </a:tc>
                <a:tc>
                  <a:txBody>
                    <a:bodyPr/>
                    <a:lstStyle/>
                    <a:p>
                      <a:pPr rtl="1"/>
                      <a:r>
                        <a:rPr lang="ar" sz="1200">
                          <a:latin typeface="Sakkal Majalla" panose="02000000000000000000" pitchFamily="2" charset="-78"/>
                          <a:cs typeface="Sakkal Majalla" panose="02000000000000000000" pitchFamily="2" charset="-78"/>
                        </a:rPr>
                        <a:t>نظام الترميز</a:t>
                      </a:r>
                    </a:p>
                  </a:txBody>
                  <a:tcPr/>
                </a:tc>
                <a:extLst>
                  <a:ext uri="{0D108BD9-81ED-4DB2-BD59-A6C34878D82A}">
                    <a16:rowId xmlns:a16="http://schemas.microsoft.com/office/drawing/2014/main" val="2901293213"/>
                  </a:ext>
                </a:extLst>
              </a:tr>
              <a:tr h="656997">
                <a:tc>
                  <a:txBody>
                    <a:bodyPr/>
                    <a:lstStyle/>
                    <a:p>
                      <a:pPr rtl="1"/>
                      <a:r>
                        <a:rPr lang="ar" sz="1200">
                          <a:latin typeface="Sakkal Majalla" panose="02000000000000000000" pitchFamily="2" charset="-78"/>
                          <a:cs typeface="Sakkal Majalla" panose="02000000000000000000" pitchFamily="2" charset="-78"/>
                        </a:rPr>
                        <a:t>الألومنيوم</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الشرارة</a:t>
                      </a:r>
                    </a:p>
                  </a:txBody>
                  <a:tcPr/>
                </a:tc>
                <a:tc>
                  <a:txBody>
                    <a:bodyPr/>
                    <a:lstStyle/>
                    <a:p>
                      <a:pPr rtl="1"/>
                      <a:r>
                        <a:rPr lang="ar" sz="1200">
                          <a:latin typeface="Sakkal Majalla" panose="02000000000000000000" pitchFamily="2" charset="-78"/>
                          <a:cs typeface="Sakkal Majalla" panose="02000000000000000000" pitchFamily="2" charset="-78"/>
                        </a:rPr>
                        <a:t>نظام رابطة الألومنيوم (AA): رمز مكون من 4 أرقام</a:t>
                      </a:r>
                    </a:p>
                  </a:txBody>
                  <a:tcPr/>
                </a:tc>
                <a:extLst>
                  <a:ext uri="{0D108BD9-81ED-4DB2-BD59-A6C34878D82A}">
                    <a16:rowId xmlns:a16="http://schemas.microsoft.com/office/drawing/2014/main" val="3913755333"/>
                  </a:ext>
                </a:extLst>
              </a:tr>
              <a:tr h="656997">
                <a:tc>
                  <a:txBody>
                    <a:bodyPr/>
                    <a:lstStyle/>
                    <a:p>
                      <a:pPr rtl="1"/>
                      <a:r>
                        <a:rPr lang="ar" sz="1200">
                          <a:latin typeface="Sakkal Majalla" panose="02000000000000000000" pitchFamily="2" charset="-78"/>
                          <a:cs typeface="Sakkal Majalla" panose="02000000000000000000" pitchFamily="2" charset="-78"/>
                        </a:rPr>
                        <a:t>النحاس الأحمر</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الشرارة</a:t>
                      </a:r>
                    </a:p>
                  </a:txBody>
                  <a:tcPr/>
                </a:tc>
                <a:tc>
                  <a:txBody>
                    <a:bodyPr/>
                    <a:lstStyle/>
                    <a:p>
                      <a:pPr rtl="1"/>
                      <a:r>
                        <a:rPr lang="ar" sz="1200">
                          <a:latin typeface="Sakkal Majalla" panose="02000000000000000000" pitchFamily="2" charset="-78"/>
                          <a:cs typeface="Sakkal Majalla" panose="02000000000000000000" pitchFamily="2" charset="-78"/>
                        </a:rPr>
                        <a:t>نظام الترقيم الموحد (UNS): </a:t>
                      </a:r>
                      <a:r>
                        <a:rPr lang="en-US" sz="1200" noProof="0">
                          <a:latin typeface="Sakkal Majalla" panose="02000000000000000000" pitchFamily="2" charset="-78"/>
                          <a:cs typeface="Sakkal Majalla" panose="02000000000000000000" pitchFamily="2" charset="-78"/>
                        </a:rPr>
                        <a:t>C10000-C79999</a:t>
                      </a:r>
                    </a:p>
                  </a:txBody>
                  <a:tcPr/>
                </a:tc>
                <a:extLst>
                  <a:ext uri="{0D108BD9-81ED-4DB2-BD59-A6C34878D82A}">
                    <a16:rowId xmlns:a16="http://schemas.microsoft.com/office/drawing/2014/main" val="87303242"/>
                  </a:ext>
                </a:extLst>
              </a:tr>
              <a:tr h="656997">
                <a:tc>
                  <a:txBody>
                    <a:bodyPr/>
                    <a:lstStyle/>
                    <a:p>
                      <a:pPr rtl="1"/>
                      <a:r>
                        <a:rPr lang="ar" sz="1200">
                          <a:latin typeface="Sakkal Majalla" panose="02000000000000000000" pitchFamily="2" charset="-78"/>
                          <a:cs typeface="Sakkal Majalla" panose="02000000000000000000" pitchFamily="2" charset="-78"/>
                        </a:rPr>
                        <a:t>الذهب</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الحمض</a:t>
                      </a:r>
                    </a:p>
                  </a:txBody>
                  <a:tcPr/>
                </a:tc>
                <a:tc>
                  <a:txBody>
                    <a:bodyPr/>
                    <a:lstStyle/>
                    <a:p>
                      <a:pPr rtl="1"/>
                      <a:r>
                        <a:rPr lang="ar" sz="1200">
                          <a:latin typeface="Sakkal Majalla" panose="02000000000000000000" pitchFamily="2" charset="-78"/>
                          <a:cs typeface="Sakkal Majalla" panose="02000000000000000000" pitchFamily="2" charset="-78"/>
                        </a:rPr>
                        <a:t>نظام القيراط: 24 قيراط، 18 قيراط، 14 قيراط، وما إلى ذلك.</a:t>
                      </a:r>
                      <a:endParaRPr lang="en-GB" sz="120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1930576035"/>
                  </a:ext>
                </a:extLst>
              </a:tr>
              <a:tr h="656997">
                <a:tc>
                  <a:txBody>
                    <a:bodyPr/>
                    <a:lstStyle/>
                    <a:p>
                      <a:pPr rtl="1"/>
                      <a:r>
                        <a:rPr lang="ar" sz="1200">
                          <a:latin typeface="Sakkal Majalla" panose="02000000000000000000" pitchFamily="2" charset="-78"/>
                          <a:cs typeface="Sakkal Majalla" panose="02000000000000000000" pitchFamily="2" charset="-78"/>
                        </a:rPr>
                        <a:t>الرصاص</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الشرارة</a:t>
                      </a:r>
                    </a:p>
                  </a:txBody>
                  <a:tcPr/>
                </a:tc>
                <a:tc>
                  <a:txBody>
                    <a:bodyPr/>
                    <a:lstStyle/>
                    <a:p>
                      <a:pPr rtl="1"/>
                      <a:r>
                        <a:rPr lang="ar" sz="1200">
                          <a:latin typeface="Sakkal Majalla" panose="02000000000000000000" pitchFamily="2" charset="-78"/>
                          <a:cs typeface="Sakkal Majalla" panose="02000000000000000000" pitchFamily="2" charset="-78"/>
                        </a:rPr>
                        <a:t>نظام الترميز </a:t>
                      </a:r>
                      <a:r>
                        <a:rPr lang="en-US" sz="1200" noProof="0">
                          <a:latin typeface="Sakkal Majalla" panose="02000000000000000000" pitchFamily="2" charset="-78"/>
                          <a:cs typeface="Sakkal Majalla" panose="02000000000000000000" pitchFamily="2" charset="-78"/>
                        </a:rPr>
                        <a:t>ASTM B29-03</a:t>
                      </a:r>
                      <a:r>
                        <a:rPr lang="ar" sz="1200">
                          <a:latin typeface="Sakkal Majalla" panose="02000000000000000000" pitchFamily="2" charset="-78"/>
                          <a:cs typeface="Sakkal Majalla" panose="02000000000000000000" pitchFamily="2" charset="-78"/>
                        </a:rPr>
                        <a:t>: </a:t>
                      </a:r>
                      <a:r>
                        <a:rPr lang="en-US" sz="1200" noProof="0">
                          <a:latin typeface="Sakkal Majalla" panose="02000000000000000000" pitchFamily="2" charset="-78"/>
                          <a:cs typeface="Sakkal Majalla" panose="02000000000000000000" pitchFamily="2" charset="-78"/>
                        </a:rPr>
                        <a:t>L50001-L59999</a:t>
                      </a:r>
                    </a:p>
                  </a:txBody>
                  <a:tcPr/>
                </a:tc>
                <a:extLst>
                  <a:ext uri="{0D108BD9-81ED-4DB2-BD59-A6C34878D82A}">
                    <a16:rowId xmlns:a16="http://schemas.microsoft.com/office/drawing/2014/main" val="3236358562"/>
                  </a:ext>
                </a:extLst>
              </a:tr>
            </a:tbl>
          </a:graphicData>
        </a:graphic>
      </p:graphicFrame>
      <p:sp>
        <p:nvSpPr>
          <p:cNvPr id="4" name="Title 1">
            <a:extLst>
              <a:ext uri="{FF2B5EF4-FFF2-40B4-BE49-F238E27FC236}">
                <a16:creationId xmlns:a16="http://schemas.microsoft.com/office/drawing/2014/main" id="{B9928ED7-93B7-1836-109F-65DFCCF09F86}"/>
              </a:ext>
            </a:extLst>
          </p:cNvPr>
          <p:cNvSpPr>
            <a:spLocks noGrp="1"/>
          </p:cNvSpPr>
          <p:nvPr>
            <p:ph type="title"/>
          </p:nvPr>
        </p:nvSpPr>
        <p:spPr>
          <a:xfrm>
            <a:off x="4144318" y="452582"/>
            <a:ext cx="4952929" cy="527774"/>
          </a:xfrm>
        </p:spPr>
        <p:txBody>
          <a:bodyPr rtlCol="1"/>
          <a:lstStyle/>
          <a:p>
            <a:pPr algn="r" rtl="1"/>
            <a:r>
              <a:rPr lang="ar" sz="2400" b="1"/>
              <a:t>أ2: أنواع المعادن والخلائط غير الحديدية </a:t>
            </a:r>
            <a:br>
              <a:rPr lang="en-GB" altLang="en-US" sz="2400" b="1"/>
            </a:br>
            <a:endParaRPr lang="en-GB"/>
          </a:p>
        </p:txBody>
      </p:sp>
      <p:sp>
        <p:nvSpPr>
          <p:cNvPr id="3" name="Footer Placeholder 2">
            <a:extLst>
              <a:ext uri="{FF2B5EF4-FFF2-40B4-BE49-F238E27FC236}">
                <a16:creationId xmlns:a16="http://schemas.microsoft.com/office/drawing/2014/main" id="{EE327B8A-8799-A596-633E-FB9E5A3E824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044583352"/>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أنواع المعادن والخلائط غير الحديدية</a:t>
            </a:r>
          </a:p>
          <a:p>
            <a:pPr marL="0" indent="0" rtl="1">
              <a:buNone/>
            </a:pPr>
            <a:endParaRPr lang="en-GB" sz="1400">
              <a:effectLst/>
            </a:endParaRPr>
          </a:p>
          <a:p>
            <a:pPr marL="0" indent="0" rtl="1">
              <a:buNone/>
            </a:pPr>
            <a:r>
              <a:rPr lang="ar" sz="1400">
                <a:effectLst/>
              </a:rPr>
              <a:t>المعادن والخلائط غير الحديدية مواد لا تحتوي على الحديد. وتُستخدم بأشكال مختلفة في قطاعات مثل الفضاء والسيارات والبناء والإلكترونيات. دعونا نستكشف بعض المعادن والخلائط غير الحديدية شائعة الاستخدام وطرق تعريفها وأنظمة ترميزها.</a:t>
            </a:r>
            <a:endParaRPr lang="en-GB" sz="105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03870EEB-4997-437C-B38A-9C79D06E06DA}"/>
              </a:ext>
            </a:extLst>
          </p:cNvPr>
          <p:cNvGraphicFramePr>
            <a:graphicFrameLocks noGrp="1"/>
          </p:cNvGraphicFramePr>
          <p:nvPr>
            <p:extLst>
              <p:ext uri="{D42A27DB-BD31-4B8C-83A1-F6EECF244321}">
                <p14:modId xmlns:p14="http://schemas.microsoft.com/office/powerpoint/2010/main" val="1011280667"/>
              </p:ext>
            </p:extLst>
          </p:nvPr>
        </p:nvGraphicFramePr>
        <p:xfrm>
          <a:off x="214978" y="2348880"/>
          <a:ext cx="8714046" cy="3789414"/>
        </p:xfrm>
        <a:graphic>
          <a:graphicData uri="http://schemas.openxmlformats.org/drawingml/2006/table">
            <a:tbl>
              <a:tblPr rtl="1" firstRow="1" bandRow="1">
                <a:tableStyleId>{073A0DAA-6AF3-43AB-8588-CEC1D06C72B9}</a:tableStyleId>
              </a:tblPr>
              <a:tblGrid>
                <a:gridCol w="2904682">
                  <a:extLst>
                    <a:ext uri="{9D8B030D-6E8A-4147-A177-3AD203B41FA5}">
                      <a16:colId xmlns:a16="http://schemas.microsoft.com/office/drawing/2014/main" val="239609265"/>
                    </a:ext>
                  </a:extLst>
                </a:gridCol>
                <a:gridCol w="2904682">
                  <a:extLst>
                    <a:ext uri="{9D8B030D-6E8A-4147-A177-3AD203B41FA5}">
                      <a16:colId xmlns:a16="http://schemas.microsoft.com/office/drawing/2014/main" val="84692870"/>
                    </a:ext>
                  </a:extLst>
                </a:gridCol>
                <a:gridCol w="2904682">
                  <a:extLst>
                    <a:ext uri="{9D8B030D-6E8A-4147-A177-3AD203B41FA5}">
                      <a16:colId xmlns:a16="http://schemas.microsoft.com/office/drawing/2014/main" val="3258316754"/>
                    </a:ext>
                  </a:extLst>
                </a:gridCol>
              </a:tblGrid>
              <a:tr h="631569">
                <a:tc>
                  <a:txBody>
                    <a:bodyPr/>
                    <a:lstStyle/>
                    <a:p>
                      <a:pPr rtl="1"/>
                      <a:r>
                        <a:rPr lang="ar" sz="1200">
                          <a:latin typeface="Sakkal Majalla" panose="02000000000000000000" pitchFamily="2" charset="-78"/>
                          <a:cs typeface="Sakkal Majalla" panose="02000000000000000000" pitchFamily="2" charset="-78"/>
                        </a:rPr>
                        <a:t>معدن/خليط معدني</a:t>
                      </a:r>
                    </a:p>
                  </a:txBody>
                  <a:tcPr/>
                </a:tc>
                <a:tc>
                  <a:txBody>
                    <a:bodyPr/>
                    <a:lstStyle/>
                    <a:p>
                      <a:pPr rtl="1"/>
                      <a:r>
                        <a:rPr lang="ar" sz="1200">
                          <a:latin typeface="Sakkal Majalla" panose="02000000000000000000" pitchFamily="2" charset="-78"/>
                          <a:cs typeface="Sakkal Majalla" panose="02000000000000000000" pitchFamily="2" charset="-78"/>
                        </a:rPr>
                        <a:t>طرق التعريف</a:t>
                      </a:r>
                    </a:p>
                  </a:txBody>
                  <a:tcPr/>
                </a:tc>
                <a:tc>
                  <a:txBody>
                    <a:bodyPr/>
                    <a:lstStyle/>
                    <a:p>
                      <a:pPr rtl="1"/>
                      <a:r>
                        <a:rPr lang="ar" sz="1200">
                          <a:latin typeface="Sakkal Majalla" panose="02000000000000000000" pitchFamily="2" charset="-78"/>
                          <a:cs typeface="Sakkal Majalla" panose="02000000000000000000" pitchFamily="2" charset="-78"/>
                        </a:rPr>
                        <a:t>نظام الترميز</a:t>
                      </a:r>
                    </a:p>
                  </a:txBody>
                  <a:tcPr/>
                </a:tc>
                <a:extLst>
                  <a:ext uri="{0D108BD9-81ED-4DB2-BD59-A6C34878D82A}">
                    <a16:rowId xmlns:a16="http://schemas.microsoft.com/office/drawing/2014/main" val="2901293213"/>
                  </a:ext>
                </a:extLst>
              </a:tr>
              <a:tr h="631569">
                <a:tc>
                  <a:txBody>
                    <a:bodyPr/>
                    <a:lstStyle/>
                    <a:p>
                      <a:pPr rtl="1"/>
                      <a:r>
                        <a:rPr lang="ar" sz="1200">
                          <a:latin typeface="Sakkal Majalla" panose="02000000000000000000" pitchFamily="2" charset="-78"/>
                          <a:cs typeface="Sakkal Majalla" panose="02000000000000000000" pitchFamily="2" charset="-78"/>
                        </a:rPr>
                        <a:t>المغنيسيوم</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الشرارة</a:t>
                      </a:r>
                    </a:p>
                  </a:txBody>
                  <a:tcPr/>
                </a:tc>
                <a:tc>
                  <a:txBody>
                    <a:bodyPr/>
                    <a:lstStyle/>
                    <a:p>
                      <a:pPr rtl="1"/>
                      <a:r>
                        <a:rPr lang="ar" sz="1200">
                          <a:latin typeface="Sakkal Majalla" panose="02000000000000000000" pitchFamily="2" charset="-78"/>
                          <a:cs typeface="Sakkal Majalla" panose="02000000000000000000" pitchFamily="2" charset="-78"/>
                        </a:rPr>
                        <a:t>نظام الترميز </a:t>
                      </a:r>
                      <a:r>
                        <a:rPr lang="en-US" sz="1200" noProof="0">
                          <a:latin typeface="Sakkal Majalla" panose="02000000000000000000" pitchFamily="2" charset="-78"/>
                          <a:cs typeface="Sakkal Majalla" panose="02000000000000000000" pitchFamily="2" charset="-78"/>
                        </a:rPr>
                        <a:t>ASTM B93-18</a:t>
                      </a:r>
                      <a:r>
                        <a:rPr lang="ar" sz="1200">
                          <a:latin typeface="Sakkal Majalla" panose="02000000000000000000" pitchFamily="2" charset="-78"/>
                          <a:cs typeface="Sakkal Majalla" panose="02000000000000000000" pitchFamily="2" charset="-78"/>
                        </a:rPr>
                        <a:t>: </a:t>
                      </a:r>
                      <a:r>
                        <a:rPr lang="en-US" sz="1200" noProof="0">
                          <a:latin typeface="Sakkal Majalla" panose="02000000000000000000" pitchFamily="2" charset="-78"/>
                          <a:cs typeface="Sakkal Majalla" panose="02000000000000000000" pitchFamily="2" charset="-78"/>
                        </a:rPr>
                        <a:t>AZ31B</a:t>
                      </a:r>
                      <a:r>
                        <a:rPr lang="ar" sz="1200">
                          <a:latin typeface="Sakkal Majalla" panose="02000000000000000000" pitchFamily="2" charset="-78"/>
                          <a:cs typeface="Sakkal Majalla" panose="02000000000000000000" pitchFamily="2" charset="-78"/>
                        </a:rPr>
                        <a:t>، </a:t>
                      </a:r>
                      <a:r>
                        <a:rPr lang="en-US" sz="1200" noProof="0">
                          <a:latin typeface="Sakkal Majalla" panose="02000000000000000000" pitchFamily="2" charset="-78"/>
                          <a:cs typeface="Sakkal Majalla" panose="02000000000000000000" pitchFamily="2" charset="-78"/>
                        </a:rPr>
                        <a:t>AM60B</a:t>
                      </a:r>
                      <a:r>
                        <a:rPr lang="ar" sz="1200">
                          <a:latin typeface="Sakkal Majalla" panose="02000000000000000000" pitchFamily="2" charset="-78"/>
                          <a:cs typeface="Sakkal Majalla" panose="02000000000000000000" pitchFamily="2" charset="-78"/>
                        </a:rPr>
                        <a:t>، وما إلى ذلك.</a:t>
                      </a:r>
                    </a:p>
                  </a:txBody>
                  <a:tcPr/>
                </a:tc>
                <a:extLst>
                  <a:ext uri="{0D108BD9-81ED-4DB2-BD59-A6C34878D82A}">
                    <a16:rowId xmlns:a16="http://schemas.microsoft.com/office/drawing/2014/main" val="740946793"/>
                  </a:ext>
                </a:extLst>
              </a:tr>
              <a:tr h="631569">
                <a:tc>
                  <a:txBody>
                    <a:bodyPr/>
                    <a:lstStyle/>
                    <a:p>
                      <a:pPr rtl="1"/>
                      <a:r>
                        <a:rPr lang="ar" sz="1200">
                          <a:latin typeface="Sakkal Majalla" panose="02000000000000000000" pitchFamily="2" charset="-78"/>
                          <a:cs typeface="Sakkal Majalla" panose="02000000000000000000" pitchFamily="2" charset="-78"/>
                        </a:rPr>
                        <a:t>الفضة</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الحمض</a:t>
                      </a:r>
                    </a:p>
                  </a:txBody>
                  <a:tcPr/>
                </a:tc>
                <a:tc>
                  <a:txBody>
                    <a:bodyPr/>
                    <a:lstStyle/>
                    <a:p>
                      <a:pPr rtl="1"/>
                      <a:r>
                        <a:rPr lang="ar" sz="1200">
                          <a:latin typeface="Sakkal Majalla" panose="02000000000000000000" pitchFamily="2" charset="-78"/>
                          <a:cs typeface="Sakkal Majalla" panose="02000000000000000000" pitchFamily="2" charset="-78"/>
                        </a:rPr>
                        <a:t>نظام الوسم: 925 (الفضة الإسترلينية)، 999 (الفضة النقية)</a:t>
                      </a:r>
                    </a:p>
                  </a:txBody>
                  <a:tcPr/>
                </a:tc>
                <a:extLst>
                  <a:ext uri="{0D108BD9-81ED-4DB2-BD59-A6C34878D82A}">
                    <a16:rowId xmlns:a16="http://schemas.microsoft.com/office/drawing/2014/main" val="3911587388"/>
                  </a:ext>
                </a:extLst>
              </a:tr>
              <a:tr h="631569">
                <a:tc>
                  <a:txBody>
                    <a:bodyPr/>
                    <a:lstStyle/>
                    <a:p>
                      <a:pPr rtl="1"/>
                      <a:r>
                        <a:rPr lang="ar" sz="1200">
                          <a:latin typeface="Sakkal Majalla" panose="02000000000000000000" pitchFamily="2" charset="-78"/>
                          <a:cs typeface="Sakkal Majalla" panose="02000000000000000000" pitchFamily="2" charset="-78"/>
                        </a:rPr>
                        <a:t>القصدير</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الشرارة</a:t>
                      </a:r>
                    </a:p>
                  </a:txBody>
                  <a:tcPr/>
                </a:tc>
                <a:tc>
                  <a:txBody>
                    <a:bodyPr/>
                    <a:lstStyle/>
                    <a:p>
                      <a:pPr rtl="1"/>
                      <a:r>
                        <a:rPr lang="ar" sz="1200">
                          <a:latin typeface="Sakkal Majalla" panose="02000000000000000000" pitchFamily="2" charset="-78"/>
                          <a:cs typeface="Sakkal Majalla" panose="02000000000000000000" pitchFamily="2" charset="-78"/>
                        </a:rPr>
                        <a:t>نظام الترميز </a:t>
                      </a:r>
                      <a:r>
                        <a:rPr lang="en-US" sz="1200" noProof="0">
                          <a:latin typeface="Sakkal Majalla" panose="02000000000000000000" pitchFamily="2" charset="-78"/>
                          <a:cs typeface="Sakkal Majalla" panose="02000000000000000000" pitchFamily="2" charset="-78"/>
                        </a:rPr>
                        <a:t>ASTM B339-19</a:t>
                      </a:r>
                      <a:r>
                        <a:rPr lang="ar" sz="1200">
                          <a:latin typeface="Sakkal Majalla" panose="02000000000000000000" pitchFamily="2" charset="-78"/>
                          <a:cs typeface="Sakkal Majalla" panose="02000000000000000000" pitchFamily="2" charset="-78"/>
                        </a:rPr>
                        <a:t>: </a:t>
                      </a:r>
                      <a:r>
                        <a:rPr lang="en-US" sz="1200" noProof="0">
                          <a:latin typeface="Sakkal Majalla" panose="02000000000000000000" pitchFamily="2" charset="-78"/>
                          <a:cs typeface="Sakkal Majalla" panose="02000000000000000000" pitchFamily="2" charset="-78"/>
                        </a:rPr>
                        <a:t>C40000-C49999</a:t>
                      </a:r>
                    </a:p>
                  </a:txBody>
                  <a:tcPr/>
                </a:tc>
                <a:extLst>
                  <a:ext uri="{0D108BD9-81ED-4DB2-BD59-A6C34878D82A}">
                    <a16:rowId xmlns:a16="http://schemas.microsoft.com/office/drawing/2014/main" val="3483142858"/>
                  </a:ext>
                </a:extLst>
              </a:tr>
              <a:tr h="631569">
                <a:tc>
                  <a:txBody>
                    <a:bodyPr/>
                    <a:lstStyle/>
                    <a:p>
                      <a:pPr rtl="1"/>
                      <a:r>
                        <a:rPr lang="ar" sz="1200">
                          <a:latin typeface="Sakkal Majalla" panose="02000000000000000000" pitchFamily="2" charset="-78"/>
                          <a:cs typeface="Sakkal Majalla" panose="02000000000000000000" pitchFamily="2" charset="-78"/>
                        </a:rPr>
                        <a:t>التيتانيوم</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الشرارة</a:t>
                      </a:r>
                    </a:p>
                  </a:txBody>
                  <a:tcPr/>
                </a:tc>
                <a:tc>
                  <a:txBody>
                    <a:bodyPr/>
                    <a:lstStyle/>
                    <a:p>
                      <a:pPr rtl="1"/>
                      <a:r>
                        <a:rPr lang="ar" sz="1200">
                          <a:latin typeface="Sakkal Majalla" panose="02000000000000000000" pitchFamily="2" charset="-78"/>
                          <a:cs typeface="Sakkal Majalla" panose="02000000000000000000" pitchFamily="2" charset="-78"/>
                        </a:rPr>
                        <a:t>نظام الترميز </a:t>
                      </a:r>
                      <a:r>
                        <a:rPr lang="en-US" sz="1200" noProof="0">
                          <a:latin typeface="Sakkal Majalla" panose="02000000000000000000" pitchFamily="2" charset="-78"/>
                          <a:cs typeface="Sakkal Majalla" panose="02000000000000000000" pitchFamily="2" charset="-78"/>
                        </a:rPr>
                        <a:t>ASTM B265-20</a:t>
                      </a:r>
                      <a:r>
                        <a:rPr lang="ar" sz="1200">
                          <a:latin typeface="Sakkal Majalla" panose="02000000000000000000" pitchFamily="2" charset="-78"/>
                          <a:cs typeface="Sakkal Majalla" panose="02000000000000000000" pitchFamily="2" charset="-78"/>
                        </a:rPr>
                        <a:t>: درجة 1، درجة 2، وما إلى ذلك.</a:t>
                      </a:r>
                    </a:p>
                  </a:txBody>
                  <a:tcPr/>
                </a:tc>
                <a:extLst>
                  <a:ext uri="{0D108BD9-81ED-4DB2-BD59-A6C34878D82A}">
                    <a16:rowId xmlns:a16="http://schemas.microsoft.com/office/drawing/2014/main" val="1828729362"/>
                  </a:ext>
                </a:extLst>
              </a:tr>
              <a:tr h="631569">
                <a:tc>
                  <a:txBody>
                    <a:bodyPr/>
                    <a:lstStyle/>
                    <a:p>
                      <a:pPr rtl="1"/>
                      <a:r>
                        <a:rPr lang="ar" sz="1200">
                          <a:latin typeface="Sakkal Majalla" panose="02000000000000000000" pitchFamily="2" charset="-78"/>
                          <a:cs typeface="Sakkal Majalla" panose="02000000000000000000" pitchFamily="2" charset="-78"/>
                        </a:rPr>
                        <a:t>الزنك</a:t>
                      </a:r>
                    </a:p>
                  </a:txBody>
                  <a:tcPr/>
                </a:tc>
                <a:tc>
                  <a:txBody>
                    <a:bodyPr/>
                    <a:lstStyle/>
                    <a:p>
                      <a:pPr rtl="1"/>
                      <a:r>
                        <a:rPr lang="ar" sz="1200">
                          <a:latin typeface="Sakkal Majalla" panose="02000000000000000000" pitchFamily="2" charset="-78"/>
                          <a:cs typeface="Sakkal Majalla" panose="02000000000000000000" pitchFamily="2" charset="-78"/>
                        </a:rPr>
                        <a:t>الفحص البصري، اختبار الكثافة، اختبار الشرارة</a:t>
                      </a:r>
                    </a:p>
                  </a:txBody>
                  <a:tcPr/>
                </a:tc>
                <a:tc>
                  <a:txBody>
                    <a:bodyPr/>
                    <a:lstStyle/>
                    <a:p>
                      <a:pPr rtl="1"/>
                      <a:r>
                        <a:rPr lang="ar" sz="1200">
                          <a:latin typeface="Sakkal Majalla" panose="02000000000000000000" pitchFamily="2" charset="-78"/>
                          <a:cs typeface="Sakkal Majalla" panose="02000000000000000000" pitchFamily="2" charset="-78"/>
                        </a:rPr>
                        <a:t>نظام الترميز </a:t>
                      </a:r>
                      <a:r>
                        <a:rPr lang="en-US" sz="1200" noProof="0">
                          <a:latin typeface="Sakkal Majalla" panose="02000000000000000000" pitchFamily="2" charset="-78"/>
                          <a:cs typeface="Sakkal Majalla" panose="02000000000000000000" pitchFamily="2" charset="-78"/>
                        </a:rPr>
                        <a:t>ASTM B6-18</a:t>
                      </a:r>
                      <a:r>
                        <a:rPr lang="ar" sz="1200">
                          <a:latin typeface="Sakkal Majalla" panose="02000000000000000000" pitchFamily="2" charset="-78"/>
                          <a:cs typeface="Sakkal Majalla" panose="02000000000000000000" pitchFamily="2" charset="-78"/>
                        </a:rPr>
                        <a:t>: </a:t>
                      </a:r>
                      <a:r>
                        <a:rPr lang="en-US" sz="1200" noProof="0">
                          <a:latin typeface="Sakkal Majalla" panose="02000000000000000000" pitchFamily="2" charset="-78"/>
                          <a:cs typeface="Sakkal Majalla" panose="02000000000000000000" pitchFamily="2" charset="-78"/>
                        </a:rPr>
                        <a:t>ZA-8</a:t>
                      </a:r>
                      <a:r>
                        <a:rPr lang="ar" sz="1200">
                          <a:latin typeface="Sakkal Majalla" panose="02000000000000000000" pitchFamily="2" charset="-78"/>
                          <a:cs typeface="Sakkal Majalla" panose="02000000000000000000" pitchFamily="2" charset="-78"/>
                        </a:rPr>
                        <a:t>، </a:t>
                      </a:r>
                      <a:r>
                        <a:rPr lang="en-US" sz="1200" noProof="0">
                          <a:latin typeface="Sakkal Majalla" panose="02000000000000000000" pitchFamily="2" charset="-78"/>
                          <a:cs typeface="Sakkal Majalla" panose="02000000000000000000" pitchFamily="2" charset="-78"/>
                        </a:rPr>
                        <a:t>ZA-12</a:t>
                      </a:r>
                      <a:r>
                        <a:rPr lang="ar" sz="1200">
                          <a:latin typeface="Sakkal Majalla" panose="02000000000000000000" pitchFamily="2" charset="-78"/>
                          <a:cs typeface="Sakkal Majalla" panose="02000000000000000000" pitchFamily="2" charset="-78"/>
                        </a:rPr>
                        <a:t>، وما إلى ذلك.</a:t>
                      </a:r>
                      <a:endParaRPr lang="en-GB" sz="120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2356295927"/>
                  </a:ext>
                </a:extLst>
              </a:tr>
            </a:tbl>
          </a:graphicData>
        </a:graphic>
      </p:graphicFrame>
      <p:sp>
        <p:nvSpPr>
          <p:cNvPr id="3" name="Title 1">
            <a:extLst>
              <a:ext uri="{FF2B5EF4-FFF2-40B4-BE49-F238E27FC236}">
                <a16:creationId xmlns:a16="http://schemas.microsoft.com/office/drawing/2014/main" id="{B74B02E8-6748-3C4E-F02A-EAAFADF0FB23}"/>
              </a:ext>
            </a:extLst>
          </p:cNvPr>
          <p:cNvSpPr txBox="1">
            <a:spLocks/>
          </p:cNvSpPr>
          <p:nvPr/>
        </p:nvSpPr>
        <p:spPr bwMode="auto">
          <a:xfrm>
            <a:off x="4144318" y="452582"/>
            <a:ext cx="4952929" cy="527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algn="r"/>
            <a:r>
              <a:rPr lang="ar" sz="2400" b="1" kern="0"/>
              <a:t>أ2: أنواع المعادن والخلائط غير الحديدية </a:t>
            </a:r>
            <a:br>
              <a:rPr lang="en-GB" altLang="en-US" sz="2400" b="1" kern="0"/>
            </a:br>
            <a:endParaRPr lang="en-GB" kern="0"/>
          </a:p>
        </p:txBody>
      </p:sp>
      <p:sp>
        <p:nvSpPr>
          <p:cNvPr id="4" name="Footer Placeholder 2">
            <a:extLst>
              <a:ext uri="{FF2B5EF4-FFF2-40B4-BE49-F238E27FC236}">
                <a16:creationId xmlns:a16="http://schemas.microsoft.com/office/drawing/2014/main" id="{803A32E7-6068-9F56-3D10-6CFC0821360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148764918"/>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10000"/>
              </a:lnSpc>
              <a:buNone/>
            </a:pPr>
            <a:r>
              <a:rPr lang="ar" sz="1600" spc="30">
                <a:effectLst/>
              </a:rPr>
              <a:t>في دراسة السلوك الميكانيكي للمواد المعدنية، يعد فهم البنية الحبيبية أمرًا بالغ الأهمية. تشير البنية الحبيبية إلى ترتيب الحبوب؛ وهي بلورات فردية داخل المادة. تتأثر البنية الحبيبية بعوامل مختلفة؛ منها التراص الشبكي الذري، والعيوب البلورية، ومستويات الانزلاق، والأطوار المعدنية، ومخطط التوازن الحراري للحديد والكربون. عند فحص البنية الحبيبية، يمكننا أن نفهم أفضل تأثيرات البنية الحبيبية والتراص الشبكي والتخليط في الخواص الميكانيكية للمواد المعدنية.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347865" y="332656"/>
            <a:ext cx="574938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3" name="Table 3">
            <a:extLst>
              <a:ext uri="{FF2B5EF4-FFF2-40B4-BE49-F238E27FC236}">
                <a16:creationId xmlns:a16="http://schemas.microsoft.com/office/drawing/2014/main" id="{DA0B3140-B6D1-40F1-B715-4D71B5E08D07}"/>
              </a:ext>
            </a:extLst>
          </p:cNvPr>
          <p:cNvGraphicFramePr>
            <a:graphicFrameLocks noGrp="1"/>
          </p:cNvGraphicFramePr>
          <p:nvPr>
            <p:extLst>
              <p:ext uri="{D42A27DB-BD31-4B8C-83A1-F6EECF244321}">
                <p14:modId xmlns:p14="http://schemas.microsoft.com/office/powerpoint/2010/main" val="356023819"/>
              </p:ext>
            </p:extLst>
          </p:nvPr>
        </p:nvGraphicFramePr>
        <p:xfrm>
          <a:off x="4161193" y="2924136"/>
          <a:ext cx="4626783" cy="2952328"/>
        </p:xfrm>
        <a:graphic>
          <a:graphicData uri="http://schemas.openxmlformats.org/drawingml/2006/table">
            <a:tbl>
              <a:tblPr rtl="1" firstRow="1" bandRow="1">
                <a:tableStyleId>{073A0DAA-6AF3-43AB-8588-CEC1D06C72B9}</a:tableStyleId>
              </a:tblPr>
              <a:tblGrid>
                <a:gridCol w="1064044">
                  <a:extLst>
                    <a:ext uri="{9D8B030D-6E8A-4147-A177-3AD203B41FA5}">
                      <a16:colId xmlns:a16="http://schemas.microsoft.com/office/drawing/2014/main" val="3117785474"/>
                    </a:ext>
                  </a:extLst>
                </a:gridCol>
                <a:gridCol w="3562739">
                  <a:extLst>
                    <a:ext uri="{9D8B030D-6E8A-4147-A177-3AD203B41FA5}">
                      <a16:colId xmlns:a16="http://schemas.microsoft.com/office/drawing/2014/main" val="2684539567"/>
                    </a:ext>
                  </a:extLst>
                </a:gridCol>
              </a:tblGrid>
              <a:tr h="537991">
                <a:tc>
                  <a:txBody>
                    <a:bodyPr/>
                    <a:lstStyle/>
                    <a:p>
                      <a:pPr rtl="1"/>
                      <a:r>
                        <a:rPr lang="ar" sz="1400">
                          <a:latin typeface="Sakkal Majalla" panose="02000000000000000000" pitchFamily="2" charset="-78"/>
                          <a:cs typeface="Sakkal Majalla" panose="02000000000000000000" pitchFamily="2" charset="-78"/>
                        </a:rPr>
                        <a:t>الوجه</a:t>
                      </a:r>
                    </a:p>
                  </a:txBody>
                  <a:tcPr/>
                </a:tc>
                <a:tc>
                  <a:txBody>
                    <a:bodyPr/>
                    <a:lstStyle/>
                    <a:p>
                      <a:pPr rtl="1"/>
                      <a:r>
                        <a:rPr lang="ar" sz="14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3523886756"/>
                  </a:ext>
                </a:extLst>
              </a:tr>
              <a:tr h="752677">
                <a:tc>
                  <a:txBody>
                    <a:bodyPr/>
                    <a:lstStyle/>
                    <a:p>
                      <a:pPr rtl="1"/>
                      <a:r>
                        <a:rPr lang="ar" sz="1400">
                          <a:latin typeface="Sakkal Majalla" panose="02000000000000000000" pitchFamily="2" charset="-78"/>
                          <a:cs typeface="Sakkal Majalla" panose="02000000000000000000" pitchFamily="2" charset="-78"/>
                        </a:rPr>
                        <a:t>التراص الشبكي الذري</a:t>
                      </a:r>
                    </a:p>
                  </a:txBody>
                  <a:tcPr/>
                </a:tc>
                <a:tc>
                  <a:txBody>
                    <a:bodyPr/>
                    <a:lstStyle/>
                    <a:p>
                      <a:pPr rtl="1"/>
                      <a:r>
                        <a:rPr lang="ar" sz="1400">
                          <a:latin typeface="Sakkal Majalla" panose="02000000000000000000" pitchFamily="2" charset="-78"/>
                          <a:cs typeface="Sakkal Majalla" panose="02000000000000000000" pitchFamily="2" charset="-78"/>
                        </a:rPr>
                        <a:t>يحدد ترتيب الذرات داخل الشبكة البلورية البنية الحبيبية ويمكن أن يؤثر في خواص ميكانيكية مثل المقاومة والممطولية.</a:t>
                      </a:r>
                    </a:p>
                  </a:txBody>
                  <a:tcPr/>
                </a:tc>
                <a:extLst>
                  <a:ext uri="{0D108BD9-81ED-4DB2-BD59-A6C34878D82A}">
                    <a16:rowId xmlns:a16="http://schemas.microsoft.com/office/drawing/2014/main" val="1783746241"/>
                  </a:ext>
                </a:extLst>
              </a:tr>
              <a:tr h="737534">
                <a:tc>
                  <a:txBody>
                    <a:bodyPr/>
                    <a:lstStyle/>
                    <a:p>
                      <a:pPr rtl="1"/>
                      <a:r>
                        <a:rPr lang="ar" sz="1400">
                          <a:latin typeface="Sakkal Majalla" panose="02000000000000000000" pitchFamily="2" charset="-78"/>
                          <a:cs typeface="Sakkal Majalla" panose="02000000000000000000" pitchFamily="2" charset="-78"/>
                        </a:rPr>
                        <a:t>البنية الحبيبية</a:t>
                      </a:r>
                    </a:p>
                  </a:txBody>
                  <a:tcPr/>
                </a:tc>
                <a:tc>
                  <a:txBody>
                    <a:bodyPr/>
                    <a:lstStyle/>
                    <a:p>
                      <a:pPr rtl="1"/>
                      <a:r>
                        <a:rPr lang="ar" sz="1400">
                          <a:latin typeface="Sakkal Majalla" panose="02000000000000000000" pitchFamily="2" charset="-78"/>
                          <a:cs typeface="Sakkal Majalla" panose="02000000000000000000" pitchFamily="2" charset="-78"/>
                        </a:rPr>
                        <a:t>ترتيب البلورات الفردية، أو الحبيبات، داخل المادة. يمكن أن تشكل الحدود الحبيبية حواجز أمام حركة الانخلاع، ما يؤثر في الخواص الميكانيكية.</a:t>
                      </a:r>
                    </a:p>
                  </a:txBody>
                  <a:tcPr/>
                </a:tc>
                <a:extLst>
                  <a:ext uri="{0D108BD9-81ED-4DB2-BD59-A6C34878D82A}">
                    <a16:rowId xmlns:a16="http://schemas.microsoft.com/office/drawing/2014/main" val="2805958445"/>
                  </a:ext>
                </a:extLst>
              </a:tr>
              <a:tr h="924126">
                <a:tc>
                  <a:txBody>
                    <a:bodyPr/>
                    <a:lstStyle/>
                    <a:p>
                      <a:pPr rtl="1"/>
                      <a:r>
                        <a:rPr lang="ar" sz="1400">
                          <a:latin typeface="Sakkal Majalla" panose="02000000000000000000" pitchFamily="2" charset="-78"/>
                          <a:cs typeface="Sakkal Majalla" panose="02000000000000000000" pitchFamily="2" charset="-78"/>
                        </a:rPr>
                        <a:t>عيوب البلور (الكريستال)</a:t>
                      </a:r>
                    </a:p>
                  </a:txBody>
                  <a:tcPr/>
                </a:tc>
                <a:tc>
                  <a:txBody>
                    <a:bodyPr/>
                    <a:lstStyle/>
                    <a:p>
                      <a:pPr rtl="1"/>
                      <a:r>
                        <a:rPr lang="ar" sz="1400">
                          <a:latin typeface="Sakkal Majalla" panose="02000000000000000000" pitchFamily="2" charset="-78"/>
                          <a:cs typeface="Sakkal Majalla" panose="02000000000000000000" pitchFamily="2" charset="-78"/>
                        </a:rPr>
                        <a:t>يمكن أن تؤثر العيوب داخل الشبكة البلورية، مثل الشواغر والإنخلاع والحدود الحبيبية، في الخواص الميكانيكية.</a:t>
                      </a:r>
                    </a:p>
                  </a:txBody>
                  <a:tcPr/>
                </a:tc>
                <a:extLst>
                  <a:ext uri="{0D108BD9-81ED-4DB2-BD59-A6C34878D82A}">
                    <a16:rowId xmlns:a16="http://schemas.microsoft.com/office/drawing/2014/main" val="2988335291"/>
                  </a:ext>
                </a:extLst>
              </a:tr>
            </a:tbl>
          </a:graphicData>
        </a:graphic>
      </p:graphicFrame>
      <p:sp>
        <p:nvSpPr>
          <p:cNvPr id="8" name="TextBox 7">
            <a:extLst>
              <a:ext uri="{FF2B5EF4-FFF2-40B4-BE49-F238E27FC236}">
                <a16:creationId xmlns:a16="http://schemas.microsoft.com/office/drawing/2014/main" id="{6090C71F-4B87-4627-86A6-D79535D7132D}"/>
              </a:ext>
            </a:extLst>
          </p:cNvPr>
          <p:cNvSpPr txBox="1"/>
          <p:nvPr/>
        </p:nvSpPr>
        <p:spPr>
          <a:xfrm>
            <a:off x="1162077" y="5877272"/>
            <a:ext cx="1681731"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الكريستال</a:t>
            </a:r>
          </a:p>
        </p:txBody>
      </p:sp>
      <p:sp>
        <p:nvSpPr>
          <p:cNvPr id="4" name="Title 1">
            <a:extLst>
              <a:ext uri="{FF2B5EF4-FFF2-40B4-BE49-F238E27FC236}">
                <a16:creationId xmlns:a16="http://schemas.microsoft.com/office/drawing/2014/main" id="{083BFAF7-54BE-B80D-79FA-74235DFD52F3}"/>
              </a:ext>
            </a:extLst>
          </p:cNvPr>
          <p:cNvSpPr>
            <a:spLocks noGrp="1"/>
          </p:cNvSpPr>
          <p:nvPr>
            <p:ph type="title"/>
          </p:nvPr>
        </p:nvSpPr>
        <p:spPr>
          <a:xfrm>
            <a:off x="3851920" y="115950"/>
            <a:ext cx="5245327" cy="864406"/>
          </a:xfrm>
        </p:spPr>
        <p:txBody>
          <a:bodyPr rtlCol="1"/>
          <a:lstStyle/>
          <a:p>
            <a:pPr algn="r" rtl="1"/>
            <a:r>
              <a:rPr lang="ar" sz="2400" b="1"/>
              <a:t>أ4: البنية الحبيبية للمواد المعدنية </a:t>
            </a:r>
            <a:br>
              <a:rPr lang="en-GB" sz="2400" b="1"/>
            </a:br>
            <a:endParaRPr lang="en-GB" sz="2400" b="1"/>
          </a:p>
        </p:txBody>
      </p:sp>
      <p:sp>
        <p:nvSpPr>
          <p:cNvPr id="5" name="Footer Placeholder 2">
            <a:extLst>
              <a:ext uri="{FF2B5EF4-FFF2-40B4-BE49-F238E27FC236}">
                <a16:creationId xmlns:a16="http://schemas.microsoft.com/office/drawing/2014/main" id="{A54E0F09-1395-C285-B9A4-CBD1FBC9E4D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pic>
        <p:nvPicPr>
          <p:cNvPr id="6" name="Picture 5" descr="A crystal cluster of crystals&#10;&#10;Description automatically generated">
            <a:extLst>
              <a:ext uri="{FF2B5EF4-FFF2-40B4-BE49-F238E27FC236}">
                <a16:creationId xmlns:a16="http://schemas.microsoft.com/office/drawing/2014/main" id="{626F1339-3374-280A-AEFE-8FF4BBDF06B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89737" y="2506063"/>
            <a:ext cx="3312764" cy="3322450"/>
          </a:xfrm>
          <a:prstGeom prst="rect">
            <a:avLst/>
          </a:prstGeom>
        </p:spPr>
      </p:pic>
    </p:spTree>
    <p:extLst>
      <p:ext uri="{BB962C8B-B14F-4D97-AF65-F5344CB8AC3E}">
        <p14:creationId xmlns:p14="http://schemas.microsoft.com/office/powerpoint/2010/main" val="245371959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FD3956-FF6D-4FBE-8FCA-387CB818620C}"/>
              </a:ext>
            </a:extLst>
          </p:cNvPr>
          <p:cNvSpPr>
            <a:spLocks noGrp="1"/>
          </p:cNvSpPr>
          <p:nvPr>
            <p:ph sz="half" idx="2"/>
          </p:nvPr>
        </p:nvSpPr>
        <p:spPr>
          <a:xfrm>
            <a:off x="611560" y="1844824"/>
            <a:ext cx="7991475" cy="3609975"/>
          </a:xfrm>
        </p:spPr>
        <p:txBody>
          <a:bodyPr rtlCol="1"/>
          <a:lstStyle/>
          <a:p>
            <a:pPr rtl="1">
              <a:lnSpc>
                <a:spcPct val="110000"/>
              </a:lnSpc>
            </a:pPr>
            <a:r>
              <a:rPr lang="ar" sz="2200">
                <a:effectLst/>
              </a:rPr>
              <a:t>في دراسة السلوك الميكانيكي للمواد المعدنية، يعد فهم البنية الحبيبية أمرًا بالغ الأهمية. </a:t>
            </a:r>
          </a:p>
          <a:p>
            <a:pPr rtl="1">
              <a:lnSpc>
                <a:spcPct val="110000"/>
              </a:lnSpc>
            </a:pPr>
            <a:r>
              <a:rPr lang="ar" sz="2200">
                <a:effectLst/>
              </a:rPr>
              <a:t>تشير البنية الحبيبية إلى ترتيب الحبوب؛ وهي بلورات فردية داخل المادة. </a:t>
            </a:r>
          </a:p>
          <a:p>
            <a:pPr rtl="1">
              <a:lnSpc>
                <a:spcPct val="110000"/>
              </a:lnSpc>
            </a:pPr>
            <a:r>
              <a:rPr lang="ar" sz="2200">
                <a:effectLst/>
              </a:rPr>
              <a:t>تتأثر البنية الحبيبية بعوامل مختلفة؛ منها التراص الشبكي الذري، والعيوب البلورية، ومستويات الانزلاق، والأطوار المعدنية، ومخطط التوازن الحراري للحديد والكربون. </a:t>
            </a:r>
          </a:p>
          <a:p>
            <a:pPr rtl="1">
              <a:lnSpc>
                <a:spcPct val="110000"/>
              </a:lnSpc>
            </a:pPr>
            <a:r>
              <a:rPr lang="ar" sz="2200">
                <a:effectLst/>
              </a:rPr>
              <a:t>عند فحص البنية الحبيبية، يمكننا أن نفهم أفضل تأثيرات البنية الحبيبية والتراص الشبكي والتخليط في الخواص الميكانيكية للمواد المعدنية.</a:t>
            </a:r>
          </a:p>
          <a:p>
            <a:pPr rtl="1">
              <a:lnSpc>
                <a:spcPct val="110000"/>
              </a:lnSpc>
            </a:pPr>
            <a:endParaRPr lang="en-GB" sz="2200"/>
          </a:p>
        </p:txBody>
      </p:sp>
      <p:sp>
        <p:nvSpPr>
          <p:cNvPr id="2" name="Footer Placeholder 2">
            <a:extLst>
              <a:ext uri="{FF2B5EF4-FFF2-40B4-BE49-F238E27FC236}">
                <a16:creationId xmlns:a16="http://schemas.microsoft.com/office/drawing/2014/main" id="{937D5EC0-DDDB-82B9-3B1C-B905F9D0EBC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304457172"/>
      </p:ext>
    </p:extLst>
  </p:cSld>
  <p:clrMapOvr>
    <a:masterClrMapping/>
  </p:clrMapOvr>
  <p:transition>
    <p:sndAc>
      <p:stSnd>
        <p:snd r:embed="rId2"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800" b="1"/>
              <a:t>البنية الحبيبية للمواد المعدنية</a:t>
            </a:r>
          </a:p>
          <a:p>
            <a:pPr rtl="1"/>
            <a:endParaRPr lang="en-GB" sz="10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3" name="Table 3">
            <a:extLst>
              <a:ext uri="{FF2B5EF4-FFF2-40B4-BE49-F238E27FC236}">
                <a16:creationId xmlns:a16="http://schemas.microsoft.com/office/drawing/2014/main" id="{DA0B3140-B6D1-40F1-B715-4D71B5E08D07}"/>
              </a:ext>
            </a:extLst>
          </p:cNvPr>
          <p:cNvGraphicFramePr>
            <a:graphicFrameLocks noGrp="1"/>
          </p:cNvGraphicFramePr>
          <p:nvPr>
            <p:extLst>
              <p:ext uri="{D42A27DB-BD31-4B8C-83A1-F6EECF244321}">
                <p14:modId xmlns:p14="http://schemas.microsoft.com/office/powerpoint/2010/main" val="1429037938"/>
              </p:ext>
            </p:extLst>
          </p:nvPr>
        </p:nvGraphicFramePr>
        <p:xfrm>
          <a:off x="4549051" y="2067819"/>
          <a:ext cx="4466796" cy="4314508"/>
        </p:xfrm>
        <a:graphic>
          <a:graphicData uri="http://schemas.openxmlformats.org/drawingml/2006/table">
            <a:tbl>
              <a:tblPr rtl="1" firstRow="1" bandRow="1">
                <a:tableStyleId>{073A0DAA-6AF3-43AB-8588-CEC1D06C72B9}</a:tableStyleId>
              </a:tblPr>
              <a:tblGrid>
                <a:gridCol w="1298444">
                  <a:extLst>
                    <a:ext uri="{9D8B030D-6E8A-4147-A177-3AD203B41FA5}">
                      <a16:colId xmlns:a16="http://schemas.microsoft.com/office/drawing/2014/main" val="3117785474"/>
                    </a:ext>
                  </a:extLst>
                </a:gridCol>
                <a:gridCol w="3168352">
                  <a:extLst>
                    <a:ext uri="{9D8B030D-6E8A-4147-A177-3AD203B41FA5}">
                      <a16:colId xmlns:a16="http://schemas.microsoft.com/office/drawing/2014/main" val="2684539567"/>
                    </a:ext>
                  </a:extLst>
                </a:gridCol>
              </a:tblGrid>
              <a:tr h="453714">
                <a:tc>
                  <a:txBody>
                    <a:bodyPr/>
                    <a:lstStyle/>
                    <a:p>
                      <a:pPr rtl="1">
                        <a:lnSpc>
                          <a:spcPct val="110000"/>
                        </a:lnSpc>
                      </a:pPr>
                      <a:r>
                        <a:rPr lang="ar" sz="1400">
                          <a:latin typeface="Sakkal Majalla" panose="02000000000000000000" pitchFamily="2" charset="-78"/>
                          <a:cs typeface="Sakkal Majalla" panose="02000000000000000000" pitchFamily="2" charset="-78"/>
                        </a:rPr>
                        <a:t>الوجه</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3523886756"/>
                  </a:ext>
                </a:extLst>
              </a:tr>
              <a:tr h="952552">
                <a:tc>
                  <a:txBody>
                    <a:bodyPr/>
                    <a:lstStyle/>
                    <a:p>
                      <a:pPr rtl="1">
                        <a:lnSpc>
                          <a:spcPct val="110000"/>
                        </a:lnSpc>
                      </a:pPr>
                      <a:r>
                        <a:rPr lang="ar" sz="1400">
                          <a:latin typeface="Sakkal Majalla" panose="02000000000000000000" pitchFamily="2" charset="-78"/>
                          <a:cs typeface="Sakkal Majalla" panose="02000000000000000000" pitchFamily="2" charset="-78"/>
                        </a:rPr>
                        <a:t>مستويات الانزلاق</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المستويات التي يمكن للذرات أن تنزلق على طولها بسهولة عبر بعضها بعضًا، ما يؤدي إلى التشوه اللدائني. يؤثر وجود مستويات الانزلاق في مقاومة المادة وممطوليتها.</a:t>
                      </a:r>
                    </a:p>
                  </a:txBody>
                  <a:tcPr/>
                </a:tc>
                <a:extLst>
                  <a:ext uri="{0D108BD9-81ED-4DB2-BD59-A6C34878D82A}">
                    <a16:rowId xmlns:a16="http://schemas.microsoft.com/office/drawing/2014/main" val="2405876643"/>
                  </a:ext>
                </a:extLst>
              </a:tr>
              <a:tr h="779360">
                <a:tc>
                  <a:txBody>
                    <a:bodyPr/>
                    <a:lstStyle/>
                    <a:p>
                      <a:pPr rtl="1">
                        <a:lnSpc>
                          <a:spcPct val="110000"/>
                        </a:lnSpc>
                      </a:pPr>
                      <a:r>
                        <a:rPr lang="ar" sz="1400">
                          <a:latin typeface="Sakkal Majalla" panose="02000000000000000000" pitchFamily="2" charset="-78"/>
                          <a:cs typeface="Sakkal Majalla" panose="02000000000000000000" pitchFamily="2" charset="-78"/>
                        </a:rPr>
                        <a:t>الأطوار المعدنية</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يمكن أن تحتوي الأطوار المختلفة داخل المادة، مثل الفريت والأوستينيت والمارتينسيت، على بُنى حبيبية وخواص ميكانيكية مميزة.</a:t>
                      </a:r>
                    </a:p>
                  </a:txBody>
                  <a:tcPr/>
                </a:tc>
                <a:extLst>
                  <a:ext uri="{0D108BD9-81ED-4DB2-BD59-A6C34878D82A}">
                    <a16:rowId xmlns:a16="http://schemas.microsoft.com/office/drawing/2014/main" val="720596869"/>
                  </a:ext>
                </a:extLst>
              </a:tr>
              <a:tr h="1125743">
                <a:tc>
                  <a:txBody>
                    <a:bodyPr/>
                    <a:lstStyle/>
                    <a:p>
                      <a:pPr rtl="1">
                        <a:lnSpc>
                          <a:spcPct val="110000"/>
                        </a:lnSpc>
                      </a:pPr>
                      <a:r>
                        <a:rPr lang="ar" sz="1400">
                          <a:latin typeface="Sakkal Majalla" panose="02000000000000000000" pitchFamily="2" charset="-78"/>
                          <a:cs typeface="Sakkal Majalla" panose="02000000000000000000" pitchFamily="2" charset="-78"/>
                        </a:rPr>
                        <a:t>مخطط التوازن الحراري للحديد / الكربون</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مخطط بياني يوضح الأطوار والبنى الدقيقة لخلائط الحديد والكربون في درجات حرارة مختلفة. يعد فهم هذا المخطط البياني أمرًا ضروريًا للتنبؤ بالبُنى الحبيبية والخواص الميكانيكية.</a:t>
                      </a:r>
                    </a:p>
                  </a:txBody>
                  <a:tcPr/>
                </a:tc>
                <a:extLst>
                  <a:ext uri="{0D108BD9-81ED-4DB2-BD59-A6C34878D82A}">
                    <a16:rowId xmlns:a16="http://schemas.microsoft.com/office/drawing/2014/main" val="184033670"/>
                  </a:ext>
                </a:extLst>
              </a:tr>
              <a:tr h="986971">
                <a:tc>
                  <a:txBody>
                    <a:bodyPr/>
                    <a:lstStyle/>
                    <a:p>
                      <a:pPr rtl="1">
                        <a:lnSpc>
                          <a:spcPct val="110000"/>
                        </a:lnSpc>
                      </a:pPr>
                      <a:r>
                        <a:rPr lang="ar" sz="1400">
                          <a:latin typeface="Sakkal Majalla" panose="02000000000000000000" pitchFamily="2" charset="-78"/>
                          <a:cs typeface="Sakkal Majalla" panose="02000000000000000000" pitchFamily="2" charset="-78"/>
                        </a:rPr>
                        <a:t>تأثيرات البُنى الحبيبية والتراص الشبكي والتخليط</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يمكن أن تؤثر البنية الحبيبية والتراص الشبكي وعناصر التخليط بشكل كبير في الخواص الميكانيكية؛ منها المقاومة والممطولية والصلابة والمتانة.</a:t>
                      </a:r>
                    </a:p>
                  </a:txBody>
                  <a:tcPr/>
                </a:tc>
                <a:extLst>
                  <a:ext uri="{0D108BD9-81ED-4DB2-BD59-A6C34878D82A}">
                    <a16:rowId xmlns:a16="http://schemas.microsoft.com/office/drawing/2014/main" val="2971934735"/>
                  </a:ext>
                </a:extLst>
              </a:tr>
            </a:tbl>
          </a:graphicData>
        </a:graphic>
      </p:graphicFrame>
      <p:sp>
        <p:nvSpPr>
          <p:cNvPr id="7" name="TextBox 6">
            <a:extLst>
              <a:ext uri="{FF2B5EF4-FFF2-40B4-BE49-F238E27FC236}">
                <a16:creationId xmlns:a16="http://schemas.microsoft.com/office/drawing/2014/main" id="{FE27164B-CD43-4E86-A02E-5C4A09CBC00F}"/>
              </a:ext>
            </a:extLst>
          </p:cNvPr>
          <p:cNvSpPr txBox="1"/>
          <p:nvPr/>
        </p:nvSpPr>
        <p:spPr>
          <a:xfrm>
            <a:off x="971600" y="5517232"/>
            <a:ext cx="2456154"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مصنع التعدين والمعادن</a:t>
            </a:r>
          </a:p>
        </p:txBody>
      </p:sp>
      <p:pic>
        <p:nvPicPr>
          <p:cNvPr id="2" name="Picture 1">
            <a:extLst>
              <a:ext uri="{FF2B5EF4-FFF2-40B4-BE49-F238E27FC236}">
                <a16:creationId xmlns:a16="http://schemas.microsoft.com/office/drawing/2014/main" id="{1CA7D6F4-2A66-1FBA-B007-9170CDBE730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0092" y="2781741"/>
            <a:ext cx="3795290" cy="2583151"/>
          </a:xfrm>
          <a:prstGeom prst="rect">
            <a:avLst/>
          </a:prstGeom>
        </p:spPr>
      </p:pic>
      <p:sp>
        <p:nvSpPr>
          <p:cNvPr id="4" name="Footer Placeholder 2">
            <a:extLst>
              <a:ext uri="{FF2B5EF4-FFF2-40B4-BE49-F238E27FC236}">
                <a16:creationId xmlns:a16="http://schemas.microsoft.com/office/drawing/2014/main" id="{BE998B5C-103C-49E8-9E36-D1F3B9CEAAC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952915225"/>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2255C-3C65-4B48-8817-BD32F136E6C6}"/>
              </a:ext>
            </a:extLst>
          </p:cNvPr>
          <p:cNvSpPr>
            <a:spLocks noGrp="1"/>
          </p:cNvSpPr>
          <p:nvPr>
            <p:ph type="title"/>
          </p:nvPr>
        </p:nvSpPr>
        <p:spPr>
          <a:xfrm>
            <a:off x="5264726" y="111125"/>
            <a:ext cx="3771769" cy="863600"/>
          </a:xfrm>
        </p:spPr>
        <p:txBody>
          <a:bodyPr rtlCol="1"/>
          <a:lstStyle/>
          <a:p>
            <a:pPr algn="r" rtl="1"/>
            <a:r>
              <a:rPr lang="ar" sz="2400" b="1"/>
              <a:t>أ5: آثار المعالجة في الخواص الميكانيكية للمواد المعدنية </a:t>
            </a:r>
            <a:endParaRPr lang="en-GB" sz="2400" b="1"/>
          </a:p>
        </p:txBody>
      </p:sp>
      <p:sp>
        <p:nvSpPr>
          <p:cNvPr id="3" name="Content Placeholder 2">
            <a:extLst>
              <a:ext uri="{FF2B5EF4-FFF2-40B4-BE49-F238E27FC236}">
                <a16:creationId xmlns:a16="http://schemas.microsoft.com/office/drawing/2014/main" id="{DF8D2160-4034-4795-AE53-CED4486007B7}"/>
              </a:ext>
            </a:extLst>
          </p:cNvPr>
          <p:cNvSpPr>
            <a:spLocks noGrp="1"/>
          </p:cNvSpPr>
          <p:nvPr>
            <p:ph sz="half" idx="2"/>
          </p:nvPr>
        </p:nvSpPr>
        <p:spPr>
          <a:xfrm>
            <a:off x="684981" y="1556792"/>
            <a:ext cx="7991475" cy="3609975"/>
          </a:xfrm>
        </p:spPr>
        <p:txBody>
          <a:bodyPr rtlCol="1"/>
          <a:lstStyle/>
          <a:p>
            <a:pPr marL="0" indent="0" rtl="1">
              <a:lnSpc>
                <a:spcPct val="120000"/>
              </a:lnSpc>
              <a:buNone/>
            </a:pPr>
            <a:r>
              <a:rPr lang="ar" sz="2200" b="1">
                <a:effectLst/>
              </a:rPr>
              <a:t>آثار المعالجة في المواد المعدنية</a:t>
            </a:r>
          </a:p>
          <a:p>
            <a:pPr rtl="1">
              <a:lnSpc>
                <a:spcPct val="120000"/>
              </a:lnSpc>
            </a:pPr>
            <a:r>
              <a:rPr lang="ar" sz="2200">
                <a:effectLst/>
              </a:rPr>
              <a:t>افحص آثار تقنيات المعالجة المختلفة في البُنى الدقيقة للمواد المعدنية.</a:t>
            </a:r>
          </a:p>
          <a:p>
            <a:pPr rtl="1">
              <a:lnSpc>
                <a:spcPct val="120000"/>
              </a:lnSpc>
            </a:pPr>
            <a:r>
              <a:rPr lang="ar" sz="2200">
                <a:effectLst/>
              </a:rPr>
              <a:t>حلل كيفية تأثير المعالجة في الخواص الميكانيكية للمعادن</a:t>
            </a:r>
          </a:p>
          <a:p>
            <a:pPr marL="0" indent="0" rtl="1">
              <a:lnSpc>
                <a:spcPct val="120000"/>
              </a:lnSpc>
              <a:buNone/>
            </a:pPr>
            <a:r>
              <a:rPr lang="ar" sz="2200" b="1">
                <a:effectLst/>
              </a:rPr>
              <a:t>تأثير المعالجة في الخواص الميكانيكية</a:t>
            </a:r>
          </a:p>
          <a:p>
            <a:pPr rtl="1">
              <a:lnSpc>
                <a:spcPct val="120000"/>
              </a:lnSpc>
            </a:pPr>
            <a:r>
              <a:rPr lang="ar" sz="2200">
                <a:effectLst/>
              </a:rPr>
              <a:t>تحقق كيف تؤثر آثار معالجة البُنى الدقيقة في الخواص الميكانيكية للمواد المعدنية.</a:t>
            </a:r>
          </a:p>
          <a:p>
            <a:pPr rtl="1">
              <a:lnSpc>
                <a:spcPct val="120000"/>
              </a:lnSpc>
            </a:pPr>
            <a:r>
              <a:rPr lang="ar" sz="2200">
                <a:effectLst/>
              </a:rPr>
              <a:t>تعلم كيفية التنبؤ والتحكم في السلوك الميكانيكي للمعادن من خلال المعالجة.</a:t>
            </a:r>
          </a:p>
          <a:p>
            <a:pPr rtl="1">
              <a:lnSpc>
                <a:spcPct val="120000"/>
              </a:lnSpc>
              <a:buFont typeface="Arial" panose="020B0604020202020204" pitchFamily="34" charset="0"/>
              <a:buChar char="•"/>
            </a:pPr>
            <a:endParaRPr lang="en-GB" sz="2200"/>
          </a:p>
        </p:txBody>
      </p:sp>
      <p:sp>
        <p:nvSpPr>
          <p:cNvPr id="4" name="Footer Placeholder 2">
            <a:extLst>
              <a:ext uri="{FF2B5EF4-FFF2-40B4-BE49-F238E27FC236}">
                <a16:creationId xmlns:a16="http://schemas.microsoft.com/office/drawing/2014/main" id="{EB9A24F8-FB0E-4D6B-6F3C-28A46A79376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208562726"/>
      </p:ext>
    </p:extLst>
  </p:cSld>
  <p:clrMapOvr>
    <a:masterClrMapping/>
  </p:clrMapOvr>
  <p:transition>
    <p:sndAc>
      <p:stSnd>
        <p:snd r:embed="rId2"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a:effectLst/>
              </a:rPr>
              <a:t>تتأثر الخواص الميكانيكية للمواد المعدنية تأثرًا كبيرًا بتقنيات المعالجة المستخدمة في أثناء إنتاجها. ويمكن أن تؤثر العمليات المختلفة، مثل إعادة التبلور والتشكيل على الساخن والتشكيل على البارد والمعالجة الحرارية وإضافة عناصر التخليط، تأثيرًا كبيرًا في المقاومة والممطولية والصلابة والخواص الميكانيكية الأخرى للمعادن.</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2776124045"/>
              </p:ext>
            </p:extLst>
          </p:nvPr>
        </p:nvGraphicFramePr>
        <p:xfrm>
          <a:off x="214978" y="2106382"/>
          <a:ext cx="8605494" cy="4437113"/>
        </p:xfrm>
        <a:graphic>
          <a:graphicData uri="http://schemas.openxmlformats.org/drawingml/2006/table">
            <a:tbl>
              <a:tblPr rtl="1" firstRow="1" bandRow="1">
                <a:tableStyleId>{073A0DAA-6AF3-43AB-8588-CEC1D06C72B9}</a:tableStyleId>
              </a:tblPr>
              <a:tblGrid>
                <a:gridCol w="2363589">
                  <a:extLst>
                    <a:ext uri="{9D8B030D-6E8A-4147-A177-3AD203B41FA5}">
                      <a16:colId xmlns:a16="http://schemas.microsoft.com/office/drawing/2014/main" val="2372866801"/>
                    </a:ext>
                  </a:extLst>
                </a:gridCol>
                <a:gridCol w="3102211">
                  <a:extLst>
                    <a:ext uri="{9D8B030D-6E8A-4147-A177-3AD203B41FA5}">
                      <a16:colId xmlns:a16="http://schemas.microsoft.com/office/drawing/2014/main" val="1342377231"/>
                    </a:ext>
                  </a:extLst>
                </a:gridCol>
                <a:gridCol w="3139694">
                  <a:extLst>
                    <a:ext uri="{9D8B030D-6E8A-4147-A177-3AD203B41FA5}">
                      <a16:colId xmlns:a16="http://schemas.microsoft.com/office/drawing/2014/main" val="2962091477"/>
                    </a:ext>
                  </a:extLst>
                </a:gridCol>
              </a:tblGrid>
              <a:tr h="413184">
                <a:tc>
                  <a:txBody>
                    <a:bodyPr/>
                    <a:lstStyle/>
                    <a:p>
                      <a:pPr rtl="1"/>
                      <a:r>
                        <a:rPr lang="ar" sz="1400"/>
                        <a:t>تقنية المعالجة</a:t>
                      </a:r>
                    </a:p>
                  </a:txBody>
                  <a:tcPr/>
                </a:tc>
                <a:tc>
                  <a:txBody>
                    <a:bodyPr/>
                    <a:lstStyle/>
                    <a:p>
                      <a:pPr rtl="1"/>
                      <a:r>
                        <a:rPr lang="ar" sz="1400"/>
                        <a:t>الوصف</a:t>
                      </a:r>
                    </a:p>
                  </a:txBody>
                  <a:tcPr/>
                </a:tc>
                <a:tc>
                  <a:txBody>
                    <a:bodyPr/>
                    <a:lstStyle/>
                    <a:p>
                      <a:pPr rtl="1"/>
                      <a:r>
                        <a:rPr lang="ar" sz="1400"/>
                        <a:t>الآثار في الخواص الميكانيكية</a:t>
                      </a:r>
                    </a:p>
                  </a:txBody>
                  <a:tcPr/>
                </a:tc>
                <a:extLst>
                  <a:ext uri="{0D108BD9-81ED-4DB2-BD59-A6C34878D82A}">
                    <a16:rowId xmlns:a16="http://schemas.microsoft.com/office/drawing/2014/main" val="532041091"/>
                  </a:ext>
                </a:extLst>
              </a:tr>
              <a:tr h="827900">
                <a:tc>
                  <a:txBody>
                    <a:bodyPr/>
                    <a:lstStyle/>
                    <a:p>
                      <a:pPr rtl="1"/>
                      <a:r>
                        <a:rPr lang="ar" sz="1400">
                          <a:latin typeface="Sakkal Majalla" panose="02000000000000000000" pitchFamily="2" charset="-78"/>
                          <a:cs typeface="Sakkal Majalla" panose="02000000000000000000" pitchFamily="2" charset="-78"/>
                        </a:rPr>
                        <a:t>إعادة التبلور</a:t>
                      </a:r>
                    </a:p>
                  </a:txBody>
                  <a:tcPr/>
                </a:tc>
                <a:tc>
                  <a:txBody>
                    <a:bodyPr/>
                    <a:lstStyle/>
                    <a:p>
                      <a:pPr rtl="1"/>
                      <a:r>
                        <a:rPr lang="ar" sz="1400">
                          <a:latin typeface="Sakkal Majalla" panose="02000000000000000000" pitchFamily="2" charset="-78"/>
                          <a:cs typeface="Sakkal Majalla" panose="02000000000000000000" pitchFamily="2" charset="-78"/>
                        </a:rPr>
                        <a:t>عملية تُستبدل فيها حبيبات المعدن المشوهة بحبوب جديدة خالية من الإجهاد من خلال المعالجة الحرارية.</a:t>
                      </a:r>
                    </a:p>
                  </a:txBody>
                  <a:tcPr/>
                </a:tc>
                <a:tc>
                  <a:txBody>
                    <a:bodyPr/>
                    <a:lstStyle/>
                    <a:p>
                      <a:pPr rtl="1"/>
                      <a:r>
                        <a:rPr lang="ar" sz="1400">
                          <a:latin typeface="Sakkal Majalla" panose="02000000000000000000" pitchFamily="2" charset="-78"/>
                          <a:cs typeface="Sakkal Majalla" panose="02000000000000000000" pitchFamily="2" charset="-78"/>
                        </a:rPr>
                        <a:t>يزيد الممطولية والمتانة ويقلل الضغوط الداخلية ويحسن البنية الحبيبية.</a:t>
                      </a:r>
                    </a:p>
                  </a:txBody>
                  <a:tcPr/>
                </a:tc>
                <a:extLst>
                  <a:ext uri="{0D108BD9-81ED-4DB2-BD59-A6C34878D82A}">
                    <a16:rowId xmlns:a16="http://schemas.microsoft.com/office/drawing/2014/main" val="507577905"/>
                  </a:ext>
                </a:extLst>
              </a:tr>
              <a:tr h="827900">
                <a:tc>
                  <a:txBody>
                    <a:bodyPr/>
                    <a:lstStyle/>
                    <a:p>
                      <a:pPr rtl="1"/>
                      <a:r>
                        <a:rPr lang="ar" sz="1400">
                          <a:latin typeface="Sakkal Majalla" panose="02000000000000000000" pitchFamily="2" charset="-78"/>
                          <a:cs typeface="Sakkal Majalla" panose="02000000000000000000" pitchFamily="2" charset="-78"/>
                        </a:rPr>
                        <a:t>التشكيل على الساخن</a:t>
                      </a:r>
                    </a:p>
                  </a:txBody>
                  <a:tcPr/>
                </a:tc>
                <a:tc>
                  <a:txBody>
                    <a:bodyPr/>
                    <a:lstStyle/>
                    <a:p>
                      <a:pPr rtl="1"/>
                      <a:r>
                        <a:rPr lang="ar" sz="1400">
                          <a:latin typeface="Sakkal Majalla" panose="02000000000000000000" pitchFamily="2" charset="-78"/>
                          <a:cs typeface="Sakkal Majalla" panose="02000000000000000000" pitchFamily="2" charset="-78"/>
                        </a:rPr>
                        <a:t>عملية يتشوه فيها المعدن بطريقة لدائنية فوق درجة الحرارة التي يعيد فيها التبلور.</a:t>
                      </a:r>
                    </a:p>
                  </a:txBody>
                  <a:tcPr/>
                </a:tc>
                <a:tc>
                  <a:txBody>
                    <a:bodyPr/>
                    <a:lstStyle/>
                    <a:p>
                      <a:pPr rtl="1"/>
                      <a:r>
                        <a:rPr lang="ar" sz="1400">
                          <a:latin typeface="Sakkal Majalla" panose="02000000000000000000" pitchFamily="2" charset="-78"/>
                          <a:cs typeface="Sakkal Majalla" panose="02000000000000000000" pitchFamily="2" charset="-78"/>
                        </a:rPr>
                        <a:t>يزيد الممطولية ويقلل حجم الحبوب ويحسن الخواص الميكانيكية مثل المقاومة والمتانة.</a:t>
                      </a:r>
                    </a:p>
                  </a:txBody>
                  <a:tcPr/>
                </a:tc>
                <a:extLst>
                  <a:ext uri="{0D108BD9-81ED-4DB2-BD59-A6C34878D82A}">
                    <a16:rowId xmlns:a16="http://schemas.microsoft.com/office/drawing/2014/main" val="4079852136"/>
                  </a:ext>
                </a:extLst>
              </a:tr>
              <a:tr h="712329">
                <a:tc>
                  <a:txBody>
                    <a:bodyPr/>
                    <a:lstStyle/>
                    <a:p>
                      <a:pPr rtl="1"/>
                      <a:r>
                        <a:rPr lang="ar" sz="1400">
                          <a:latin typeface="Sakkal Majalla" panose="02000000000000000000" pitchFamily="2" charset="-78"/>
                          <a:cs typeface="Sakkal Majalla" panose="02000000000000000000" pitchFamily="2" charset="-78"/>
                        </a:rPr>
                        <a:t>التشكيل على البارد</a:t>
                      </a:r>
                    </a:p>
                  </a:txBody>
                  <a:tcPr/>
                </a:tc>
                <a:tc>
                  <a:txBody>
                    <a:bodyPr/>
                    <a:lstStyle/>
                    <a:p>
                      <a:pPr rtl="1"/>
                      <a:r>
                        <a:rPr lang="ar" sz="1400">
                          <a:latin typeface="Sakkal Majalla" panose="02000000000000000000" pitchFamily="2" charset="-78"/>
                          <a:cs typeface="Sakkal Majalla" panose="02000000000000000000" pitchFamily="2" charset="-78"/>
                        </a:rPr>
                        <a:t>عملية يتشوه فيها المعدن بطريقة لدائنية تحت درجة الحرارة التي يعيد فيها التبلور.</a:t>
                      </a:r>
                    </a:p>
                  </a:txBody>
                  <a:tcPr/>
                </a:tc>
                <a:tc>
                  <a:txBody>
                    <a:bodyPr/>
                    <a:lstStyle/>
                    <a:p>
                      <a:pPr rtl="1"/>
                      <a:r>
                        <a:rPr lang="ar" sz="1400">
                          <a:latin typeface="Sakkal Majalla" panose="02000000000000000000" pitchFamily="2" charset="-78"/>
                          <a:cs typeface="Sakkal Majalla" panose="02000000000000000000" pitchFamily="2" charset="-78"/>
                        </a:rPr>
                        <a:t>يزيد المقاومة والصلابة ويقلل الممطولية ويؤدي إلى الضغوط المتبقية.</a:t>
                      </a:r>
                    </a:p>
                  </a:txBody>
                  <a:tcPr/>
                </a:tc>
                <a:extLst>
                  <a:ext uri="{0D108BD9-81ED-4DB2-BD59-A6C34878D82A}">
                    <a16:rowId xmlns:a16="http://schemas.microsoft.com/office/drawing/2014/main" val="201176745"/>
                  </a:ext>
                </a:extLst>
              </a:tr>
              <a:tr h="827900">
                <a:tc>
                  <a:txBody>
                    <a:bodyPr/>
                    <a:lstStyle/>
                    <a:p>
                      <a:pPr rtl="1"/>
                      <a:r>
                        <a:rPr lang="ar" sz="1400">
                          <a:latin typeface="Sakkal Majalla" panose="02000000000000000000" pitchFamily="2" charset="-78"/>
                          <a:cs typeface="Sakkal Majalla" panose="02000000000000000000" pitchFamily="2" charset="-78"/>
                        </a:rPr>
                        <a:t>المعالجة الحرارية</a:t>
                      </a:r>
                    </a:p>
                  </a:txBody>
                  <a:tcPr/>
                </a:tc>
                <a:tc>
                  <a:txBody>
                    <a:bodyPr/>
                    <a:lstStyle/>
                    <a:p>
                      <a:pPr rtl="1"/>
                      <a:r>
                        <a:rPr lang="ar" sz="1400">
                          <a:latin typeface="Sakkal Majalla" panose="02000000000000000000" pitchFamily="2" charset="-78"/>
                          <a:cs typeface="Sakkal Majalla" panose="02000000000000000000" pitchFamily="2" charset="-78"/>
                        </a:rPr>
                        <a:t>مزيج من عمليات التسخين والتبريد المستخدمة لتغيير البنية الدقيقة وخواص المعدن.</a:t>
                      </a:r>
                    </a:p>
                  </a:txBody>
                  <a:tcPr/>
                </a:tc>
                <a:tc>
                  <a:txBody>
                    <a:bodyPr/>
                    <a:lstStyle/>
                    <a:p>
                      <a:pPr rtl="1"/>
                      <a:r>
                        <a:rPr lang="ar" sz="1400">
                          <a:latin typeface="Sakkal Majalla" panose="02000000000000000000" pitchFamily="2" charset="-78"/>
                          <a:cs typeface="Sakkal Majalla" panose="02000000000000000000" pitchFamily="2" charset="-78"/>
                        </a:rPr>
                        <a:t>يمكن أن تزيد أو تقلل المقاومة والصلابة والمتانة والخواص الميكانيكية الأخرى اعتمادًا على المعالجة المحددة.</a:t>
                      </a:r>
                    </a:p>
                  </a:txBody>
                  <a:tcPr/>
                </a:tc>
                <a:extLst>
                  <a:ext uri="{0D108BD9-81ED-4DB2-BD59-A6C34878D82A}">
                    <a16:rowId xmlns:a16="http://schemas.microsoft.com/office/drawing/2014/main" val="3914272375"/>
                  </a:ext>
                </a:extLst>
              </a:tr>
              <a:tr h="827900">
                <a:tc>
                  <a:txBody>
                    <a:bodyPr/>
                    <a:lstStyle/>
                    <a:p>
                      <a:pPr rtl="1"/>
                      <a:r>
                        <a:rPr lang="ar" sz="1400">
                          <a:latin typeface="Sakkal Majalla" panose="02000000000000000000" pitchFamily="2" charset="-78"/>
                          <a:cs typeface="Sakkal Majalla" panose="02000000000000000000" pitchFamily="2" charset="-78"/>
                        </a:rPr>
                        <a:t>عناصر التخليط</a:t>
                      </a:r>
                    </a:p>
                  </a:txBody>
                  <a:tcPr/>
                </a:tc>
                <a:tc>
                  <a:txBody>
                    <a:bodyPr/>
                    <a:lstStyle/>
                    <a:p>
                      <a:pPr rtl="1"/>
                      <a:r>
                        <a:rPr lang="ar" sz="1400">
                          <a:latin typeface="Sakkal Majalla" panose="02000000000000000000" pitchFamily="2" charset="-78"/>
                          <a:cs typeface="Sakkal Majalla" panose="02000000000000000000" pitchFamily="2" charset="-78"/>
                        </a:rPr>
                        <a:t>إضافة عناصر معينة إلى المعدن لتحسين خواصه الميكانيكية.</a:t>
                      </a:r>
                    </a:p>
                  </a:txBody>
                  <a:tcPr/>
                </a:tc>
                <a:tc>
                  <a:txBody>
                    <a:bodyPr/>
                    <a:lstStyle/>
                    <a:p>
                      <a:pPr rtl="1"/>
                      <a:r>
                        <a:rPr lang="ar" sz="1400">
                          <a:latin typeface="Sakkal Majalla" panose="02000000000000000000" pitchFamily="2" charset="-78"/>
                          <a:cs typeface="Sakkal Majalla" panose="02000000000000000000" pitchFamily="2" charset="-78"/>
                        </a:rPr>
                        <a:t>يمكن أن تعزز المقاومة والصلابة ومقاومة التآكل وغيرها من الخواص اعتمادًا على نوع وكمية عناصر التخليط.</a:t>
                      </a:r>
                    </a:p>
                  </a:txBody>
                  <a:tcPr/>
                </a:tc>
                <a:extLst>
                  <a:ext uri="{0D108BD9-81ED-4DB2-BD59-A6C34878D82A}">
                    <a16:rowId xmlns:a16="http://schemas.microsoft.com/office/drawing/2014/main" val="3112694223"/>
                  </a:ext>
                </a:extLst>
              </a:tr>
            </a:tbl>
          </a:graphicData>
        </a:graphic>
      </p:graphicFrame>
      <p:sp>
        <p:nvSpPr>
          <p:cNvPr id="3" name="Title 1">
            <a:extLst>
              <a:ext uri="{FF2B5EF4-FFF2-40B4-BE49-F238E27FC236}">
                <a16:creationId xmlns:a16="http://schemas.microsoft.com/office/drawing/2014/main" id="{3DC37416-CD93-8666-2F19-C6D730A647E2}"/>
              </a:ext>
            </a:extLst>
          </p:cNvPr>
          <p:cNvSpPr>
            <a:spLocks noGrp="1"/>
          </p:cNvSpPr>
          <p:nvPr>
            <p:ph type="title"/>
          </p:nvPr>
        </p:nvSpPr>
        <p:spPr>
          <a:xfrm>
            <a:off x="3275856" y="43756"/>
            <a:ext cx="5821391" cy="1008794"/>
          </a:xfrm>
        </p:spPr>
        <p:txBody>
          <a:bodyPr rtlCol="1"/>
          <a:lstStyle/>
          <a:p>
            <a:pPr algn="r" rtl="1"/>
            <a:r>
              <a:rPr lang="ar" sz="2400" b="1"/>
              <a:t>أ5: آثار المعالجة في الخواص الميكانيكية </a:t>
            </a:r>
            <a:br>
              <a:rPr lang="ar-EG" sz="2400" b="1"/>
            </a:br>
            <a:r>
              <a:rPr lang="ar" sz="2400" b="1"/>
              <a:t>للمواد المعدنية</a:t>
            </a:r>
          </a:p>
        </p:txBody>
      </p:sp>
      <p:sp>
        <p:nvSpPr>
          <p:cNvPr id="4" name="Footer Placeholder 2">
            <a:extLst>
              <a:ext uri="{FF2B5EF4-FFF2-40B4-BE49-F238E27FC236}">
                <a16:creationId xmlns:a16="http://schemas.microsoft.com/office/drawing/2014/main" id="{BAE77576-889E-F3C7-7266-9FCC4550451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705643622"/>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9556" y="1923301"/>
            <a:ext cx="5034932" cy="32403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600" b="1">
                <a:effectLst/>
              </a:rPr>
              <a:t>البُنى الدقيقة للمواد المعدنية</a:t>
            </a:r>
          </a:p>
          <a:p>
            <a:pPr rtl="1"/>
            <a:r>
              <a:rPr lang="ar" sz="2600">
                <a:effectLst/>
              </a:rPr>
              <a:t>استكشف البُنى الدقيقة المختلفة الموجودة في المواد المعدنية.</a:t>
            </a:r>
          </a:p>
          <a:p>
            <a:pPr rtl="1"/>
            <a:r>
              <a:rPr lang="ar" sz="2600">
                <a:effectLst/>
              </a:rPr>
              <a:t>افهم العلاقة بين البُنى الدقيقة والخواص الميكانيكية للمعادن.</a:t>
            </a:r>
            <a:endParaRPr lang="en-GB" sz="26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a:highlight>
                <a:srgbClr val="FFFF00"/>
              </a:highlight>
              <a:latin typeface="Sakkal Majalla" panose="02000000000000000000" pitchFamily="2" charset="-78"/>
              <a:cs typeface="Sakkal Majalla" panose="02000000000000000000" pitchFamily="2" charset="-78"/>
            </a:endParaRPr>
          </a:p>
        </p:txBody>
      </p:sp>
      <p:sp>
        <p:nvSpPr>
          <p:cNvPr id="8" name="TextBox 7">
            <a:extLst>
              <a:ext uri="{FF2B5EF4-FFF2-40B4-BE49-F238E27FC236}">
                <a16:creationId xmlns:a16="http://schemas.microsoft.com/office/drawing/2014/main" id="{0820B9DF-864E-42B8-AA5C-2136110EA4CE}"/>
              </a:ext>
            </a:extLst>
          </p:cNvPr>
          <p:cNvSpPr txBox="1"/>
          <p:nvPr/>
        </p:nvSpPr>
        <p:spPr>
          <a:xfrm>
            <a:off x="787524" y="5273824"/>
            <a:ext cx="2560340" cy="400110"/>
          </a:xfrm>
          <a:prstGeom prst="rect">
            <a:avLst/>
          </a:prstGeom>
          <a:noFill/>
        </p:spPr>
        <p:txBody>
          <a:bodyPr wrap="square" rtlCol="1">
            <a:spAutoFit/>
          </a:bodyPr>
          <a:lstStyle/>
          <a:p>
            <a:pPr algn="ctr" rtl="1"/>
            <a:r>
              <a:rPr lang="ar-EG" sz="2000" b="1">
                <a:latin typeface="Sakkal Majalla" panose="02000000000000000000" pitchFamily="2" charset="-78"/>
                <a:cs typeface="Sakkal Majalla" panose="02000000000000000000" pitchFamily="2" charset="-78"/>
              </a:rPr>
              <a:t>م</a:t>
            </a:r>
            <a:r>
              <a:rPr lang="ar" sz="2000" b="1">
                <a:effectLst/>
                <a:latin typeface="Sakkal Majalla" panose="02000000000000000000" pitchFamily="2" charset="-78"/>
                <a:cs typeface="Sakkal Majalla" panose="02000000000000000000" pitchFamily="2" charset="-78"/>
              </a:rPr>
              <a:t>واد </a:t>
            </a:r>
            <a:r>
              <a:rPr lang="ar-EG" sz="2000" b="1">
                <a:effectLst/>
                <a:latin typeface="Sakkal Majalla" panose="02000000000000000000" pitchFamily="2" charset="-78"/>
                <a:cs typeface="Sakkal Majalla" panose="02000000000000000000" pitchFamily="2" charset="-78"/>
              </a:rPr>
              <a:t>م</a:t>
            </a:r>
            <a:r>
              <a:rPr lang="ar" sz="2000" b="1">
                <a:effectLst/>
                <a:latin typeface="Sakkal Majalla" panose="02000000000000000000" pitchFamily="2" charset="-78"/>
                <a:cs typeface="Sakkal Majalla" panose="02000000000000000000" pitchFamily="2" charset="-78"/>
              </a:rPr>
              <a:t>عدنية</a:t>
            </a:r>
            <a:r>
              <a:rPr lang="ar" sz="2000" b="1" i="0">
                <a:effectLst/>
                <a:latin typeface="Roboto" panose="02000000000000000000" pitchFamily="2" charset="0"/>
                <a:cs typeface="Sakkal Majalla" panose="02000000000000000000" pitchFamily="2" charset="-78"/>
              </a:rPr>
              <a:t> </a:t>
            </a:r>
          </a:p>
        </p:txBody>
      </p:sp>
      <p:sp>
        <p:nvSpPr>
          <p:cNvPr id="5" name="Title 1">
            <a:extLst>
              <a:ext uri="{FF2B5EF4-FFF2-40B4-BE49-F238E27FC236}">
                <a16:creationId xmlns:a16="http://schemas.microsoft.com/office/drawing/2014/main" id="{F474D137-60A8-02A8-1487-5809A0FADF24}"/>
              </a:ext>
            </a:extLst>
          </p:cNvPr>
          <p:cNvSpPr>
            <a:spLocks noGrp="1"/>
          </p:cNvSpPr>
          <p:nvPr>
            <p:ph type="title"/>
          </p:nvPr>
        </p:nvSpPr>
        <p:spPr>
          <a:xfrm>
            <a:off x="3929556" y="10538"/>
            <a:ext cx="5034932" cy="728371"/>
          </a:xfrm>
        </p:spPr>
        <p:txBody>
          <a:bodyPr rtlCol="1"/>
          <a:lstStyle/>
          <a:p>
            <a:pPr algn="r" rtl="1"/>
            <a:r>
              <a:rPr lang="ar" sz="2400" b="1"/>
              <a:t>أ6: فحص البنية الدقيقة للمواد المعدنية</a:t>
            </a:r>
          </a:p>
        </p:txBody>
      </p:sp>
      <p:pic>
        <p:nvPicPr>
          <p:cNvPr id="2" name="Picture 1" descr="A close up of a microphone&#10;&#10;Description automatically generated">
            <a:extLst>
              <a:ext uri="{FF2B5EF4-FFF2-40B4-BE49-F238E27FC236}">
                <a16:creationId xmlns:a16="http://schemas.microsoft.com/office/drawing/2014/main" id="{A73F769B-2E06-D495-E23A-4B6F59414A5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1687" y="2091822"/>
            <a:ext cx="3071537" cy="3071537"/>
          </a:xfrm>
          <a:prstGeom prst="rect">
            <a:avLst/>
          </a:prstGeom>
        </p:spPr>
      </p:pic>
      <p:sp>
        <p:nvSpPr>
          <p:cNvPr id="3" name="Footer Placeholder 2">
            <a:extLst>
              <a:ext uri="{FF2B5EF4-FFF2-40B4-BE49-F238E27FC236}">
                <a16:creationId xmlns:a16="http://schemas.microsoft.com/office/drawing/2014/main" id="{FB28A130-C61F-4091-AD85-84D263D61B9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236349469"/>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10000"/>
              </a:lnSpc>
              <a:buNone/>
            </a:pPr>
            <a:r>
              <a:rPr lang="ar" sz="1600">
                <a:effectLst/>
              </a:rPr>
              <a:t>في دراسة المواد المعدنية، تؤدي دراسة البنية الدقيقة دورًا مهمًا في فهم السلوك الميكانيكي وخواص المعادن والخلائط. من خلال فحص البُنى الكلية والدقيقة لهذه المواد، يمكننا تحديد البنُى الحبيبية، والأطوار داخل الحبيبات، وفصل الشوائب عند الحدود الحبيبية. إضافة إلى ذلك، فإن استخدام معدات الفحص السطحي والمصادر المرجعية يعزز فهمنا للبنية الدقيقة.</a:t>
            </a:r>
            <a:endParaRPr lang="en-GB" sz="1600"/>
          </a:p>
          <a:p>
            <a:pPr marL="0" indent="0" rtl="1">
              <a:lnSpc>
                <a:spcPct val="110000"/>
              </a:lnSpc>
              <a:buNone/>
            </a:pPr>
            <a:r>
              <a:rPr lang="ar" sz="1600">
                <a:effectLst/>
              </a:rPr>
              <a:t>فحص البنية الدقيقة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2698875248"/>
              </p:ext>
            </p:extLst>
          </p:nvPr>
        </p:nvGraphicFramePr>
        <p:xfrm>
          <a:off x="449274" y="2564904"/>
          <a:ext cx="8245453" cy="3966678"/>
        </p:xfrm>
        <a:graphic>
          <a:graphicData uri="http://schemas.openxmlformats.org/drawingml/2006/table">
            <a:tbl>
              <a:tblPr rtl="1" firstRow="1" bandRow="1">
                <a:tableStyleId>{073A0DAA-6AF3-43AB-8588-CEC1D06C72B9}</a:tableStyleId>
              </a:tblPr>
              <a:tblGrid>
                <a:gridCol w="3565601">
                  <a:extLst>
                    <a:ext uri="{9D8B030D-6E8A-4147-A177-3AD203B41FA5}">
                      <a16:colId xmlns:a16="http://schemas.microsoft.com/office/drawing/2014/main" val="2372866801"/>
                    </a:ext>
                  </a:extLst>
                </a:gridCol>
                <a:gridCol w="4679852">
                  <a:extLst>
                    <a:ext uri="{9D8B030D-6E8A-4147-A177-3AD203B41FA5}">
                      <a16:colId xmlns:a16="http://schemas.microsoft.com/office/drawing/2014/main" val="1342377231"/>
                    </a:ext>
                  </a:extLst>
                </a:gridCol>
              </a:tblGrid>
              <a:tr h="432048">
                <a:tc>
                  <a:txBody>
                    <a:bodyPr/>
                    <a:lstStyle/>
                    <a:p>
                      <a:pPr rtl="1">
                        <a:lnSpc>
                          <a:spcPct val="110000"/>
                        </a:lnSpc>
                      </a:pPr>
                      <a:r>
                        <a:rPr lang="ar" sz="1400">
                          <a:latin typeface="Sakkal Majalla" panose="02000000000000000000" pitchFamily="2" charset="-78"/>
                          <a:cs typeface="Sakkal Majalla" panose="02000000000000000000" pitchFamily="2" charset="-78"/>
                        </a:rPr>
                        <a:t>الوجه</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532041091"/>
                  </a:ext>
                </a:extLst>
              </a:tr>
              <a:tr h="684708">
                <a:tc>
                  <a:txBody>
                    <a:bodyPr/>
                    <a:lstStyle/>
                    <a:p>
                      <a:pPr rtl="1">
                        <a:lnSpc>
                          <a:spcPct val="110000"/>
                        </a:lnSpc>
                      </a:pPr>
                      <a:r>
                        <a:rPr lang="ar" sz="1400">
                          <a:latin typeface="Sakkal Majalla" panose="02000000000000000000" pitchFamily="2" charset="-78"/>
                          <a:cs typeface="Sakkal Majalla" panose="02000000000000000000" pitchFamily="2" charset="-78"/>
                        </a:rPr>
                        <a:t>البنية الكلية</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البنية العامة للمعدن أو الخلائط، المرئية بالعين المجردة أو بتكبير منخفض. تتضمن ميزات مثل حجم الحبيبات وشكلها وتوزيعها.</a:t>
                      </a:r>
                    </a:p>
                  </a:txBody>
                  <a:tcPr/>
                </a:tc>
                <a:extLst>
                  <a:ext uri="{0D108BD9-81ED-4DB2-BD59-A6C34878D82A}">
                    <a16:rowId xmlns:a16="http://schemas.microsoft.com/office/drawing/2014/main" val="507577905"/>
                  </a:ext>
                </a:extLst>
              </a:tr>
              <a:tr h="795798">
                <a:tc>
                  <a:txBody>
                    <a:bodyPr/>
                    <a:lstStyle/>
                    <a:p>
                      <a:pPr rtl="1">
                        <a:lnSpc>
                          <a:spcPct val="110000"/>
                        </a:lnSpc>
                      </a:pPr>
                      <a:r>
                        <a:rPr lang="ar" sz="1400">
                          <a:latin typeface="Sakkal Majalla" panose="02000000000000000000" pitchFamily="2" charset="-78"/>
                          <a:cs typeface="Sakkal Majalla" panose="02000000000000000000" pitchFamily="2" charset="-78"/>
                        </a:rPr>
                        <a:t>البنية الدقيقة</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بنية المعدن أو الخلائط على المستوى المجهري، وعادةً ما تُلاحظ تحت المجهر. تكشف عن ترتيب الحبيبات والأطوار داخل الحبيبات وفصل الشوائب عند الحدود الحبيبية.</a:t>
                      </a:r>
                    </a:p>
                  </a:txBody>
                  <a:tcPr/>
                </a:tc>
                <a:extLst>
                  <a:ext uri="{0D108BD9-81ED-4DB2-BD59-A6C34878D82A}">
                    <a16:rowId xmlns:a16="http://schemas.microsoft.com/office/drawing/2014/main" val="4079852136"/>
                  </a:ext>
                </a:extLst>
              </a:tr>
              <a:tr h="684708">
                <a:tc>
                  <a:txBody>
                    <a:bodyPr/>
                    <a:lstStyle/>
                    <a:p>
                      <a:pPr rtl="1">
                        <a:lnSpc>
                          <a:spcPct val="110000"/>
                        </a:lnSpc>
                      </a:pPr>
                      <a:r>
                        <a:rPr lang="ar" sz="1400">
                          <a:latin typeface="Sakkal Majalla" panose="02000000000000000000" pitchFamily="2" charset="-78"/>
                          <a:cs typeface="Sakkal Majalla" panose="02000000000000000000" pitchFamily="2" charset="-78"/>
                        </a:rPr>
                        <a:t>البنية الحبيبية</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ترتيب الحبيبات داخل المعدن أو الخلائط. تفصل الحدود الحبيبية الحبيبات الفردية، ويؤثر حجمها واتجاهها في خواص المواد.</a:t>
                      </a:r>
                    </a:p>
                  </a:txBody>
                  <a:tcPr/>
                </a:tc>
                <a:extLst>
                  <a:ext uri="{0D108BD9-81ED-4DB2-BD59-A6C34878D82A}">
                    <a16:rowId xmlns:a16="http://schemas.microsoft.com/office/drawing/2014/main" val="201176745"/>
                  </a:ext>
                </a:extLst>
              </a:tr>
              <a:tr h="684708">
                <a:tc>
                  <a:txBody>
                    <a:bodyPr/>
                    <a:lstStyle/>
                    <a:p>
                      <a:pPr rtl="1">
                        <a:lnSpc>
                          <a:spcPct val="110000"/>
                        </a:lnSpc>
                      </a:pPr>
                      <a:r>
                        <a:rPr lang="ar" sz="1400">
                          <a:latin typeface="Sakkal Majalla" panose="02000000000000000000" pitchFamily="2" charset="-78"/>
                          <a:cs typeface="Sakkal Majalla" panose="02000000000000000000" pitchFamily="2" charset="-78"/>
                        </a:rPr>
                        <a:t>الأطوار</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مناطق مميزة داخل الحبيبات ذات ترتيبات وخواص ذرية مختلفة. تشمل الأمثلة الفريت والبيرلايت والمارتينسيت في الفولاذ.</a:t>
                      </a:r>
                    </a:p>
                  </a:txBody>
                  <a:tcPr/>
                </a:tc>
                <a:extLst>
                  <a:ext uri="{0D108BD9-81ED-4DB2-BD59-A6C34878D82A}">
                    <a16:rowId xmlns:a16="http://schemas.microsoft.com/office/drawing/2014/main" val="3914272375"/>
                  </a:ext>
                </a:extLst>
              </a:tr>
              <a:tr h="684708">
                <a:tc>
                  <a:txBody>
                    <a:bodyPr/>
                    <a:lstStyle/>
                    <a:p>
                      <a:pPr rtl="1">
                        <a:lnSpc>
                          <a:spcPct val="110000"/>
                        </a:lnSpc>
                      </a:pPr>
                      <a:r>
                        <a:rPr lang="ar" sz="1400">
                          <a:latin typeface="Sakkal Majalla" panose="02000000000000000000" pitchFamily="2" charset="-78"/>
                          <a:cs typeface="Sakkal Majalla" panose="02000000000000000000" pitchFamily="2" charset="-78"/>
                        </a:rPr>
                        <a:t>فصل الشوائب</a:t>
                      </a:r>
                    </a:p>
                  </a:txBody>
                  <a:tcPr/>
                </a:tc>
                <a:tc>
                  <a:txBody>
                    <a:bodyPr/>
                    <a:lstStyle/>
                    <a:p>
                      <a:pPr rtl="1">
                        <a:lnSpc>
                          <a:spcPct val="110000"/>
                        </a:lnSpc>
                      </a:pPr>
                      <a:r>
                        <a:rPr lang="ar" sz="1400">
                          <a:latin typeface="Sakkal Majalla" panose="02000000000000000000" pitchFamily="2" charset="-78"/>
                          <a:cs typeface="Sakkal Majalla" panose="02000000000000000000" pitchFamily="2" charset="-78"/>
                        </a:rPr>
                        <a:t>تركيز الشوائب أو عناصر التخليط عند الحدود الحبيبية. يمكن أن يؤثر هذا بشكل كبير في السلوك الميكانيكي للمادة وخواصها.</a:t>
                      </a:r>
                    </a:p>
                  </a:txBody>
                  <a:tcPr/>
                </a:tc>
                <a:extLst>
                  <a:ext uri="{0D108BD9-81ED-4DB2-BD59-A6C34878D82A}">
                    <a16:rowId xmlns:a16="http://schemas.microsoft.com/office/drawing/2014/main" val="3112694223"/>
                  </a:ext>
                </a:extLst>
              </a:tr>
            </a:tbl>
          </a:graphicData>
        </a:graphic>
      </p:graphicFrame>
      <p:sp>
        <p:nvSpPr>
          <p:cNvPr id="3" name="Footer Placeholder 2">
            <a:extLst>
              <a:ext uri="{FF2B5EF4-FFF2-40B4-BE49-F238E27FC236}">
                <a16:creationId xmlns:a16="http://schemas.microsoft.com/office/drawing/2014/main" id="{813FB62F-4652-440C-F5EB-417B2E0466D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599673036"/>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معدات فحص السطح</a:t>
            </a:r>
          </a:p>
          <a:p>
            <a:pPr marL="0" indent="0" rtl="1">
              <a:buNone/>
            </a:pPr>
            <a:r>
              <a:rPr lang="ar" sz="1400">
                <a:effectLst/>
              </a:rPr>
              <a:t>في دراسة المواد المعدنية، تؤدي دراسة البنية الدقيقة دورًا مهمًا في فهم السلوك الميكانيكي وخواص المعادن والخلائط. من خلال فحص البُنى الكلية والدقيقة لهذه المواد، يمكننا تحديد البنُى الحبيبية، والأطوار داخل الحبيبات، وفصل الشوائب عند الحدود الحبيبية. إضافة إلى ذلك، فإن استخدام معدات الفحص السطحي والمصادر المرجعية يعزز فهمنا للبنية الدقيقة.</a:t>
            </a:r>
          </a:p>
          <a:p>
            <a:pPr rtl="1"/>
            <a:endParaRPr lang="en-GB" sz="1100" b="1"/>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642811028"/>
              </p:ext>
            </p:extLst>
          </p:nvPr>
        </p:nvGraphicFramePr>
        <p:xfrm>
          <a:off x="449274" y="2420888"/>
          <a:ext cx="8245453" cy="3569810"/>
        </p:xfrm>
        <a:graphic>
          <a:graphicData uri="http://schemas.openxmlformats.org/drawingml/2006/table">
            <a:tbl>
              <a:tblPr rtl="1" firstRow="1" bandRow="1">
                <a:tableStyleId>{073A0DAA-6AF3-43AB-8588-CEC1D06C72B9}</a:tableStyleId>
              </a:tblPr>
              <a:tblGrid>
                <a:gridCol w="3565601">
                  <a:extLst>
                    <a:ext uri="{9D8B030D-6E8A-4147-A177-3AD203B41FA5}">
                      <a16:colId xmlns:a16="http://schemas.microsoft.com/office/drawing/2014/main" val="2372866801"/>
                    </a:ext>
                  </a:extLst>
                </a:gridCol>
                <a:gridCol w="4679852">
                  <a:extLst>
                    <a:ext uri="{9D8B030D-6E8A-4147-A177-3AD203B41FA5}">
                      <a16:colId xmlns:a16="http://schemas.microsoft.com/office/drawing/2014/main" val="1342377231"/>
                    </a:ext>
                  </a:extLst>
                </a:gridCol>
              </a:tblGrid>
              <a:tr h="432048">
                <a:tc>
                  <a:txBody>
                    <a:bodyPr/>
                    <a:lstStyle/>
                    <a:p>
                      <a:pPr rtl="1"/>
                      <a:r>
                        <a:rPr lang="ar" sz="1400">
                          <a:latin typeface="Sakkal Majalla" panose="02000000000000000000" pitchFamily="2" charset="-78"/>
                          <a:cs typeface="Sakkal Majalla" panose="02000000000000000000" pitchFamily="2" charset="-78"/>
                        </a:rPr>
                        <a:t>المعدات</a:t>
                      </a:r>
                    </a:p>
                  </a:txBody>
                  <a:tcPr/>
                </a:tc>
                <a:tc>
                  <a:txBody>
                    <a:bodyPr/>
                    <a:lstStyle/>
                    <a:p>
                      <a:pPr rtl="1"/>
                      <a:r>
                        <a:rPr lang="ar" sz="14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532041091"/>
                  </a:ext>
                </a:extLst>
              </a:tr>
              <a:tr h="750668">
                <a:tc>
                  <a:txBody>
                    <a:bodyPr/>
                    <a:lstStyle/>
                    <a:p>
                      <a:pPr rtl="1"/>
                      <a:r>
                        <a:rPr lang="ar" sz="1400">
                          <a:latin typeface="Sakkal Majalla" panose="02000000000000000000" pitchFamily="2" charset="-78"/>
                          <a:cs typeface="Sakkal Majalla" panose="02000000000000000000" pitchFamily="2" charset="-78"/>
                        </a:rPr>
                        <a:t>مجهر ضوئي</a:t>
                      </a:r>
                    </a:p>
                  </a:txBody>
                  <a:tcPr/>
                </a:tc>
                <a:tc>
                  <a:txBody>
                    <a:bodyPr/>
                    <a:lstStyle/>
                    <a:p>
                      <a:pPr rtl="1"/>
                      <a:r>
                        <a:rPr lang="ar" sz="1400">
                          <a:latin typeface="Sakkal Majalla" panose="02000000000000000000" pitchFamily="2" charset="-78"/>
                          <a:cs typeface="Sakkal Majalla" panose="02000000000000000000" pitchFamily="2" charset="-78"/>
                        </a:rPr>
                        <a:t>مجهر يستخدم الضوء المرئي لملاحظة وتحليل البنية الدقيقة للمواد المعدنية. يوفر عرضًا تفصيليًا للحدود الحبيبية والأطوار وفصل الشوائب.</a:t>
                      </a:r>
                    </a:p>
                  </a:txBody>
                  <a:tcPr/>
                </a:tc>
                <a:extLst>
                  <a:ext uri="{0D108BD9-81ED-4DB2-BD59-A6C34878D82A}">
                    <a16:rowId xmlns:a16="http://schemas.microsoft.com/office/drawing/2014/main" val="507577905"/>
                  </a:ext>
                </a:extLst>
              </a:tr>
              <a:tr h="885758">
                <a:tc>
                  <a:txBody>
                    <a:bodyPr/>
                    <a:lstStyle/>
                    <a:p>
                      <a:pPr rtl="1"/>
                      <a:r>
                        <a:rPr lang="ar" sz="1400">
                          <a:latin typeface="Sakkal Majalla" panose="02000000000000000000" pitchFamily="2" charset="-78"/>
                          <a:cs typeface="Sakkal Majalla" panose="02000000000000000000" pitchFamily="2" charset="-78"/>
                        </a:rPr>
                        <a:t>مجهر المسح الإلكتروني (SEM)</a:t>
                      </a:r>
                    </a:p>
                  </a:txBody>
                  <a:tcPr/>
                </a:tc>
                <a:tc>
                  <a:txBody>
                    <a:bodyPr/>
                    <a:lstStyle/>
                    <a:p>
                      <a:pPr rtl="1"/>
                      <a:r>
                        <a:rPr lang="ar" sz="1400">
                          <a:latin typeface="Sakkal Majalla" panose="02000000000000000000" pitchFamily="2" charset="-78"/>
                          <a:cs typeface="Sakkal Majalla" panose="02000000000000000000" pitchFamily="2" charset="-78"/>
                        </a:rPr>
                        <a:t>مجهر عالي الدقة يستخدم أشعة الإلكترون لتوليد صور لسطح المواد المعدنية. يوفر معلومات مفصلة حول تشكُّل (مورفولوجيا) الحبيبات والوصف السطحي (طوبوغرافيا) وتكوين العناصر.</a:t>
                      </a:r>
                    </a:p>
                  </a:txBody>
                  <a:tcPr/>
                </a:tc>
                <a:extLst>
                  <a:ext uri="{0D108BD9-81ED-4DB2-BD59-A6C34878D82A}">
                    <a16:rowId xmlns:a16="http://schemas.microsoft.com/office/drawing/2014/main" val="4079852136"/>
                  </a:ext>
                </a:extLst>
              </a:tr>
              <a:tr h="750668">
                <a:tc>
                  <a:txBody>
                    <a:bodyPr/>
                    <a:lstStyle/>
                    <a:p>
                      <a:pPr rtl="1"/>
                      <a:r>
                        <a:rPr lang="ar" sz="1400">
                          <a:latin typeface="Sakkal Majalla" panose="02000000000000000000" pitchFamily="2" charset="-78"/>
                          <a:cs typeface="Sakkal Majalla" panose="02000000000000000000" pitchFamily="2" charset="-78"/>
                        </a:rPr>
                        <a:t>مجهر الإرسال الإلكتروني (TEM)</a:t>
                      </a:r>
                    </a:p>
                  </a:txBody>
                  <a:tcPr/>
                </a:tc>
                <a:tc>
                  <a:txBody>
                    <a:bodyPr/>
                    <a:lstStyle/>
                    <a:p>
                      <a:pPr rtl="1"/>
                      <a:r>
                        <a:rPr lang="ar" sz="1400">
                          <a:latin typeface="Sakkal Majalla" panose="02000000000000000000" pitchFamily="2" charset="-78"/>
                          <a:cs typeface="Sakkal Majalla" panose="02000000000000000000" pitchFamily="2" charset="-78"/>
                        </a:rPr>
                        <a:t>مجهر يستخدم شعاعًا مركّزًا من الإلكترونات للإرسال عبر عينة رقيقة من مادة معدنية. يوفر معلومات على المستوى الذري حول البنية البلورية والعيوب والتداخلات.</a:t>
                      </a:r>
                    </a:p>
                  </a:txBody>
                  <a:tcPr/>
                </a:tc>
                <a:extLst>
                  <a:ext uri="{0D108BD9-81ED-4DB2-BD59-A6C34878D82A}">
                    <a16:rowId xmlns:a16="http://schemas.microsoft.com/office/drawing/2014/main" val="201176745"/>
                  </a:ext>
                </a:extLst>
              </a:tr>
              <a:tr h="750668">
                <a:tc>
                  <a:txBody>
                    <a:bodyPr/>
                    <a:lstStyle/>
                    <a:p>
                      <a:pPr rtl="1"/>
                      <a:r>
                        <a:rPr lang="ar" sz="1400">
                          <a:latin typeface="Sakkal Majalla" panose="02000000000000000000" pitchFamily="2" charset="-78"/>
                          <a:cs typeface="Sakkal Majalla" panose="02000000000000000000" pitchFamily="2" charset="-78"/>
                        </a:rPr>
                        <a:t>حيود الأشعة السينية (XRD)</a:t>
                      </a:r>
                    </a:p>
                  </a:txBody>
                  <a:tcPr/>
                </a:tc>
                <a:tc>
                  <a:txBody>
                    <a:bodyPr/>
                    <a:lstStyle/>
                    <a:p>
                      <a:pPr rtl="1"/>
                      <a:r>
                        <a:rPr lang="ar" sz="1400">
                          <a:latin typeface="Sakkal Majalla" panose="02000000000000000000" pitchFamily="2" charset="-78"/>
                          <a:cs typeface="Sakkal Majalla" panose="02000000000000000000" pitchFamily="2" charset="-78"/>
                        </a:rPr>
                        <a:t>تقنية تحلل أنماط حيود الأشعة السينية لتحديد التركيب البلوري والتركيب الطوري للمواد المعدنية.</a:t>
                      </a:r>
                    </a:p>
                  </a:txBody>
                  <a:tcPr/>
                </a:tc>
                <a:extLst>
                  <a:ext uri="{0D108BD9-81ED-4DB2-BD59-A6C34878D82A}">
                    <a16:rowId xmlns:a16="http://schemas.microsoft.com/office/drawing/2014/main" val="3914272375"/>
                  </a:ext>
                </a:extLst>
              </a:tr>
            </a:tbl>
          </a:graphicData>
        </a:graphic>
      </p:graphicFrame>
      <p:sp>
        <p:nvSpPr>
          <p:cNvPr id="3" name="Footer Placeholder 2">
            <a:extLst>
              <a:ext uri="{FF2B5EF4-FFF2-40B4-BE49-F238E27FC236}">
                <a16:creationId xmlns:a16="http://schemas.microsoft.com/office/drawing/2014/main" id="{B89138E9-2021-F7DD-9316-61FBF0419E3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720357384"/>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124744"/>
            <a:ext cx="8861446"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المصادر المرجعية للتحقيق في البنية الدقيقة</a:t>
            </a:r>
          </a:p>
          <a:p>
            <a:pPr marL="0" indent="0" rtl="1">
              <a:buNone/>
            </a:pPr>
            <a:r>
              <a:rPr lang="ar" sz="1400">
                <a:effectLst/>
              </a:rPr>
              <a:t>في دراسة المواد المعدنية، تؤدي دراسة البنية الدقيقة دورًا مهمًا في فهم السلوك الميكانيكي وخواص المعادن والخلائط. من خلال فحص البُنى الكلية والدقيقة لهذه المواد، يمكننا تحديد البنُى الحبيبية، والأطوار داخل الحبيبات، وفصل الشوائب عند الحدود الحبيبية. إضافة إلى ذلك، فإن استخدام معدات الفحص السطحي والمصادر المرجعية يعزز فهمنا للبنية الدقيقة.</a:t>
            </a:r>
          </a:p>
          <a:p>
            <a:pPr rtl="1"/>
            <a:endParaRPr lang="en-GB" sz="1100" b="1"/>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478635718"/>
              </p:ext>
            </p:extLst>
          </p:nvPr>
        </p:nvGraphicFramePr>
        <p:xfrm>
          <a:off x="522975" y="2348880"/>
          <a:ext cx="8245453" cy="3991331"/>
        </p:xfrm>
        <a:graphic>
          <a:graphicData uri="http://schemas.openxmlformats.org/drawingml/2006/table">
            <a:tbl>
              <a:tblPr rtl="1" firstRow="1" bandRow="1">
                <a:tableStyleId>{073A0DAA-6AF3-43AB-8588-CEC1D06C72B9}</a:tableStyleId>
              </a:tblPr>
              <a:tblGrid>
                <a:gridCol w="3565601">
                  <a:extLst>
                    <a:ext uri="{9D8B030D-6E8A-4147-A177-3AD203B41FA5}">
                      <a16:colId xmlns:a16="http://schemas.microsoft.com/office/drawing/2014/main" val="2372866801"/>
                    </a:ext>
                  </a:extLst>
                </a:gridCol>
                <a:gridCol w="4679852">
                  <a:extLst>
                    <a:ext uri="{9D8B030D-6E8A-4147-A177-3AD203B41FA5}">
                      <a16:colId xmlns:a16="http://schemas.microsoft.com/office/drawing/2014/main" val="1342377231"/>
                    </a:ext>
                  </a:extLst>
                </a:gridCol>
              </a:tblGrid>
              <a:tr h="434039">
                <a:tc>
                  <a:txBody>
                    <a:bodyPr/>
                    <a:lstStyle/>
                    <a:p>
                      <a:pPr rtl="1"/>
                      <a:r>
                        <a:rPr lang="ar" sz="1400">
                          <a:latin typeface="Sakkal Majalla" panose="02000000000000000000" pitchFamily="2" charset="-78"/>
                          <a:cs typeface="Sakkal Majalla" panose="02000000000000000000" pitchFamily="2" charset="-78"/>
                        </a:rPr>
                        <a:t>المصدر</a:t>
                      </a:r>
                    </a:p>
                  </a:txBody>
                  <a:tcPr/>
                </a:tc>
                <a:tc>
                  <a:txBody>
                    <a:bodyPr/>
                    <a:lstStyle/>
                    <a:p>
                      <a:pPr rtl="1"/>
                      <a:r>
                        <a:rPr lang="ar" sz="1400">
                          <a:latin typeface="Sakkal Majalla" panose="02000000000000000000" pitchFamily="2" charset="-78"/>
                          <a:cs typeface="Sakkal Majalla" panose="02000000000000000000" pitchFamily="2" charset="-78"/>
                        </a:rPr>
                        <a:t>الوصف</a:t>
                      </a:r>
                    </a:p>
                  </a:txBody>
                  <a:tcPr/>
                </a:tc>
                <a:extLst>
                  <a:ext uri="{0D108BD9-81ED-4DB2-BD59-A6C34878D82A}">
                    <a16:rowId xmlns:a16="http://schemas.microsoft.com/office/drawing/2014/main" val="532041091"/>
                  </a:ext>
                </a:extLst>
              </a:tr>
              <a:tr h="889323">
                <a:tc>
                  <a:txBody>
                    <a:bodyPr/>
                    <a:lstStyle/>
                    <a:p>
                      <a:pPr rtl="1"/>
                      <a:r>
                        <a:rPr lang="ar" sz="1400">
                          <a:latin typeface="Sakkal Majalla" panose="02000000000000000000" pitchFamily="2" charset="-78"/>
                          <a:cs typeface="Sakkal Majalla" panose="02000000000000000000" pitchFamily="2" charset="-78"/>
                        </a:rPr>
                        <a:t>أطلس ميتالوغرافيا</a:t>
                      </a:r>
                    </a:p>
                  </a:txBody>
                  <a:tcPr/>
                </a:tc>
                <a:tc>
                  <a:txBody>
                    <a:bodyPr/>
                    <a:lstStyle/>
                    <a:p>
                      <a:pPr rtl="1"/>
                      <a:r>
                        <a:rPr lang="ar" sz="1400">
                          <a:latin typeface="Sakkal Majalla" panose="02000000000000000000" pitchFamily="2" charset="-78"/>
                          <a:cs typeface="Sakkal Majalla" panose="02000000000000000000" pitchFamily="2" charset="-78"/>
                        </a:rPr>
                        <a:t>كتاب مرجعي شامل يقدم صورًا مجهرية وأوصافًا لمختلف المواد المعدنية وبنيتها الدقيقة والخواص الميكانيكية المرتبطة بها.</a:t>
                      </a:r>
                    </a:p>
                  </a:txBody>
                  <a:tcPr/>
                </a:tc>
                <a:extLst>
                  <a:ext uri="{0D108BD9-81ED-4DB2-BD59-A6C34878D82A}">
                    <a16:rowId xmlns:a16="http://schemas.microsoft.com/office/drawing/2014/main" val="507577905"/>
                  </a:ext>
                </a:extLst>
              </a:tr>
              <a:tr h="889323">
                <a:tc>
                  <a:txBody>
                    <a:bodyPr/>
                    <a:lstStyle/>
                    <a:p>
                      <a:pPr rtl="1"/>
                      <a:r>
                        <a:rPr lang="ar" sz="1400">
                          <a:latin typeface="Sakkal Majalla" panose="02000000000000000000" pitchFamily="2" charset="-78"/>
                          <a:cs typeface="Sakkal Majalla" panose="02000000000000000000" pitchFamily="2" charset="-78"/>
                        </a:rPr>
                        <a:t>مخططات الطور</a:t>
                      </a:r>
                    </a:p>
                  </a:txBody>
                  <a:tcPr/>
                </a:tc>
                <a:tc>
                  <a:txBody>
                    <a:bodyPr/>
                    <a:lstStyle/>
                    <a:p>
                      <a:pPr rtl="1"/>
                      <a:r>
                        <a:rPr lang="ar" sz="1400">
                          <a:latin typeface="Sakkal Majalla" panose="02000000000000000000" pitchFamily="2" charset="-78"/>
                          <a:cs typeface="Sakkal Majalla" panose="02000000000000000000" pitchFamily="2" charset="-78"/>
                        </a:rPr>
                        <a:t>المخططات البيانية التي توضح العلاقات بين درجة الحرارة والتركيب والطور في المواد المعدنية. وتمثل مراجع قيّمة لفهم تحولات الطور والتغيرات المجهرية.</a:t>
                      </a:r>
                    </a:p>
                  </a:txBody>
                  <a:tcPr/>
                </a:tc>
                <a:extLst>
                  <a:ext uri="{0D108BD9-81ED-4DB2-BD59-A6C34878D82A}">
                    <a16:rowId xmlns:a16="http://schemas.microsoft.com/office/drawing/2014/main" val="4079852136"/>
                  </a:ext>
                </a:extLst>
              </a:tr>
              <a:tr h="889323">
                <a:tc>
                  <a:txBody>
                    <a:bodyPr/>
                    <a:lstStyle/>
                    <a:p>
                      <a:pPr rtl="1"/>
                      <a:r>
                        <a:rPr lang="ar" sz="1400">
                          <a:latin typeface="Sakkal Majalla" panose="02000000000000000000" pitchFamily="2" charset="-78"/>
                          <a:cs typeface="Sakkal Majalla" panose="02000000000000000000" pitchFamily="2" charset="-78"/>
                        </a:rPr>
                        <a:t>معايير المواد</a:t>
                      </a:r>
                    </a:p>
                  </a:txBody>
                  <a:tcPr/>
                </a:tc>
                <a:tc>
                  <a:txBody>
                    <a:bodyPr/>
                    <a:lstStyle/>
                    <a:p>
                      <a:pPr rtl="1"/>
                      <a:r>
                        <a:rPr lang="ar" sz="1400">
                          <a:latin typeface="Sakkal Majalla" panose="02000000000000000000" pitchFamily="2" charset="-78"/>
                          <a:cs typeface="Sakkal Majalla" panose="02000000000000000000" pitchFamily="2" charset="-78"/>
                        </a:rPr>
                        <a:t>المواصفات والمبادئ التوجيهية التي وضعتها منظمات مثل ASTM و ISO التي تحدد متطلبات البنية الدقيقة وطرق الاختبار لمواد معدنية محددة.</a:t>
                      </a:r>
                    </a:p>
                  </a:txBody>
                  <a:tcPr/>
                </a:tc>
                <a:extLst>
                  <a:ext uri="{0D108BD9-81ED-4DB2-BD59-A6C34878D82A}">
                    <a16:rowId xmlns:a16="http://schemas.microsoft.com/office/drawing/2014/main" val="201176745"/>
                  </a:ext>
                </a:extLst>
              </a:tr>
              <a:tr h="889323">
                <a:tc>
                  <a:txBody>
                    <a:bodyPr/>
                    <a:lstStyle/>
                    <a:p>
                      <a:pPr rtl="1"/>
                      <a:r>
                        <a:rPr lang="ar" sz="1400">
                          <a:latin typeface="Sakkal Majalla" panose="02000000000000000000" pitchFamily="2" charset="-78"/>
                          <a:cs typeface="Sakkal Majalla" panose="02000000000000000000" pitchFamily="2" charset="-78"/>
                        </a:rPr>
                        <a:t>أوراق بحثية ودوريات</a:t>
                      </a:r>
                    </a:p>
                  </a:txBody>
                  <a:tcPr/>
                </a:tc>
                <a:tc>
                  <a:txBody>
                    <a:bodyPr/>
                    <a:lstStyle/>
                    <a:p>
                      <a:pPr rtl="1"/>
                      <a:r>
                        <a:rPr lang="ar" sz="1400">
                          <a:latin typeface="Sakkal Majalla" panose="02000000000000000000" pitchFamily="2" charset="-78"/>
                          <a:cs typeface="Sakkal Majalla" panose="02000000000000000000" pitchFamily="2" charset="-78"/>
                        </a:rPr>
                        <a:t>المنشورات الأكاديمية التي تقدم أحدث التطورات والنتائج في دراسة البنية الدقيقة للمواد المعدنية. توفر نظرة ثاقبة للتقنيات الجديدة ودراسات الحالة والنماذج النظرية.</a:t>
                      </a:r>
                    </a:p>
                  </a:txBody>
                  <a:tcPr/>
                </a:tc>
                <a:extLst>
                  <a:ext uri="{0D108BD9-81ED-4DB2-BD59-A6C34878D82A}">
                    <a16:rowId xmlns:a16="http://schemas.microsoft.com/office/drawing/2014/main" val="3914272375"/>
                  </a:ext>
                </a:extLst>
              </a:tr>
            </a:tbl>
          </a:graphicData>
        </a:graphic>
      </p:graphicFrame>
      <p:sp>
        <p:nvSpPr>
          <p:cNvPr id="3" name="Footer Placeholder 2">
            <a:extLst>
              <a:ext uri="{FF2B5EF4-FFF2-40B4-BE49-F238E27FC236}">
                <a16:creationId xmlns:a16="http://schemas.microsoft.com/office/drawing/2014/main" id="{DD259F83-2B90-06F6-03E2-03D0D332097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075193005"/>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800"/>
              <a:t>نتاج التعلم ب</a:t>
            </a:r>
            <a:br>
              <a:rPr lang="en-US" altLang="en-US" sz="2800"/>
            </a:br>
            <a:br>
              <a:rPr lang="en-US" altLang="en-US" sz="2800"/>
            </a:br>
            <a:endParaRPr lang="en-GB" altLang="en-US" sz="40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3"/>
            <a:ext cx="79914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4000" b="1">
                <a:latin typeface="Sakkal Majalla" panose="02000000000000000000" pitchFamily="2" charset="-78"/>
                <a:cs typeface="Sakkal Majalla" panose="02000000000000000000" pitchFamily="2" charset="-78"/>
              </a:rPr>
              <a:t>استكشاف الخواص الميكانيكية </a:t>
            </a:r>
            <a:br>
              <a:rPr lang="ar-EG" sz="4000" b="1">
                <a:latin typeface="Sakkal Majalla" panose="02000000000000000000" pitchFamily="2" charset="-78"/>
                <a:cs typeface="Sakkal Majalla" panose="02000000000000000000" pitchFamily="2" charset="-78"/>
              </a:rPr>
            </a:br>
            <a:r>
              <a:rPr lang="ar" sz="4000" b="1">
                <a:latin typeface="Sakkal Majalla" panose="02000000000000000000" pitchFamily="2" charset="-78"/>
                <a:cs typeface="Sakkal Majalla" panose="02000000000000000000" pitchFamily="2" charset="-78"/>
              </a:rPr>
              <a:t>للمواد المعدنية بأمان </a:t>
            </a:r>
            <a:br>
              <a:rPr lang="ar-EG" sz="4000" b="1">
                <a:latin typeface="Sakkal Majalla" panose="02000000000000000000" pitchFamily="2" charset="-78"/>
                <a:cs typeface="Sakkal Majalla" panose="02000000000000000000" pitchFamily="2" charset="-78"/>
              </a:rPr>
            </a:br>
            <a:r>
              <a:rPr lang="ar" sz="4000" b="1">
                <a:latin typeface="Sakkal Majalla" panose="02000000000000000000" pitchFamily="2" charset="-78"/>
                <a:cs typeface="Sakkal Majalla" panose="02000000000000000000" pitchFamily="2" charset="-78"/>
              </a:rPr>
              <a:t>وتأثير هذه الخواص </a:t>
            </a:r>
            <a:br>
              <a:rPr lang="ar-EG" sz="4000" b="1">
                <a:latin typeface="Sakkal Majalla" panose="02000000000000000000" pitchFamily="2" charset="-78"/>
                <a:cs typeface="Sakkal Majalla" panose="02000000000000000000" pitchFamily="2" charset="-78"/>
              </a:rPr>
            </a:br>
            <a:r>
              <a:rPr lang="ar" sz="4000" b="1">
                <a:latin typeface="Sakkal Majalla" panose="02000000000000000000" pitchFamily="2" charset="-78"/>
                <a:cs typeface="Sakkal Majalla" panose="02000000000000000000" pitchFamily="2" charset="-78"/>
              </a:rPr>
              <a:t>في متطلبات استخدامها</a:t>
            </a:r>
          </a:p>
        </p:txBody>
      </p:sp>
      <p:sp>
        <p:nvSpPr>
          <p:cNvPr id="2" name="Footer Placeholder 2">
            <a:extLst>
              <a:ext uri="{FF2B5EF4-FFF2-40B4-BE49-F238E27FC236}">
                <a16:creationId xmlns:a16="http://schemas.microsoft.com/office/drawing/2014/main" id="{ABE9289D-5920-32FD-2AB6-85DE897DD9E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712314028"/>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512168"/>
            <a:ext cx="8564352" cy="44371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a:effectLst/>
              </a:rPr>
              <a:t>الخواص الميكانيكية</a:t>
            </a:r>
            <a:endParaRPr lang="en-GB" sz="1800" b="1"/>
          </a:p>
          <a:p>
            <a:pPr rtl="1">
              <a:buFont typeface="Arial" panose="020B0604020202020204" pitchFamily="34" charset="0"/>
              <a:buChar char="•"/>
            </a:pPr>
            <a:r>
              <a:rPr lang="ar" sz="1800">
                <a:effectLst/>
              </a:rPr>
              <a:t>مقاومة الشد</a:t>
            </a:r>
          </a:p>
          <a:p>
            <a:pPr rtl="1">
              <a:buFont typeface="Arial" panose="020B0604020202020204" pitchFamily="34" charset="0"/>
              <a:buChar char="•"/>
            </a:pPr>
            <a:r>
              <a:rPr lang="ar" sz="1800">
                <a:effectLst/>
              </a:rPr>
              <a:t>مقاومة الخضوع</a:t>
            </a:r>
          </a:p>
          <a:p>
            <a:pPr rtl="1">
              <a:buFont typeface="Arial" panose="020B0604020202020204" pitchFamily="34" charset="0"/>
              <a:buChar char="•"/>
            </a:pPr>
            <a:r>
              <a:rPr lang="ar" sz="1800">
                <a:effectLst/>
              </a:rPr>
              <a:t>الممطولية</a:t>
            </a:r>
          </a:p>
          <a:p>
            <a:pPr rtl="1">
              <a:buFont typeface="Arial" panose="020B0604020202020204" pitchFamily="34" charset="0"/>
              <a:buChar char="•"/>
            </a:pPr>
            <a:r>
              <a:rPr lang="ar" sz="1800">
                <a:effectLst/>
              </a:rPr>
              <a:t>الصلابة</a:t>
            </a:r>
          </a:p>
          <a:p>
            <a:pPr rtl="1">
              <a:buFont typeface="Arial" panose="020B0604020202020204" pitchFamily="34" charset="0"/>
              <a:buChar char="•"/>
            </a:pPr>
            <a:r>
              <a:rPr lang="ar" sz="1800">
                <a:effectLst/>
              </a:rPr>
              <a:t>المتانة</a:t>
            </a:r>
          </a:p>
          <a:p>
            <a:pPr rtl="1"/>
            <a:endParaRPr lang="en-GB" b="1"/>
          </a:p>
          <a:p>
            <a:pPr marL="0" indent="0" rtl="1">
              <a:buNone/>
            </a:pPr>
            <a:r>
              <a:rPr lang="ar" sz="1800" b="1">
                <a:effectLst/>
              </a:rPr>
              <a:t>التأثير في المتطلبات في أثناء الاستخدام</a:t>
            </a:r>
            <a:endParaRPr lang="en-GB" sz="1800" b="1"/>
          </a:p>
          <a:p>
            <a:pPr rtl="1">
              <a:buFont typeface="Arial" panose="020B0604020202020204" pitchFamily="34" charset="0"/>
              <a:buChar char="•"/>
            </a:pPr>
            <a:r>
              <a:rPr lang="ar" sz="1800">
                <a:effectLst/>
              </a:rPr>
              <a:t>السلامة والموثوقية</a:t>
            </a:r>
          </a:p>
          <a:p>
            <a:pPr rtl="1">
              <a:buFont typeface="Arial" panose="020B0604020202020204" pitchFamily="34" charset="0"/>
              <a:buChar char="•"/>
            </a:pPr>
            <a:r>
              <a:rPr lang="ar" sz="1800">
                <a:effectLst/>
              </a:rPr>
              <a:t>الأداء تحت الحمل</a:t>
            </a:r>
          </a:p>
          <a:p>
            <a:pPr rtl="1">
              <a:buFont typeface="Arial" panose="020B0604020202020204" pitchFamily="34" charset="0"/>
              <a:buChar char="•"/>
            </a:pPr>
            <a:r>
              <a:rPr lang="ar" sz="1800">
                <a:effectLst/>
              </a:rPr>
              <a:t>المتانة والعمر التشغيلي</a:t>
            </a:r>
          </a:p>
          <a:p>
            <a:pPr rtl="1">
              <a:buFont typeface="Arial" panose="020B0604020202020204" pitchFamily="34" charset="0"/>
              <a:buChar char="•"/>
            </a:pPr>
            <a:r>
              <a:rPr lang="ar" sz="1800">
                <a:effectLst/>
              </a:rPr>
              <a:t>مقاومة التآكل</a:t>
            </a:r>
          </a:p>
          <a:p>
            <a:pPr rtl="1">
              <a:buFont typeface="Arial" panose="020B0604020202020204" pitchFamily="34" charset="0"/>
              <a:buChar char="•"/>
            </a:pPr>
            <a:r>
              <a:rPr lang="ar" sz="1800">
                <a:effectLst/>
              </a:rPr>
              <a:t>مقاومة الكلال</a:t>
            </a:r>
          </a:p>
          <a:p>
            <a:pPr rtl="1"/>
            <a:endParaRPr lang="en-GB" sz="1100" b="1"/>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sp>
        <p:nvSpPr>
          <p:cNvPr id="7" name="TextBox 6">
            <a:extLst>
              <a:ext uri="{FF2B5EF4-FFF2-40B4-BE49-F238E27FC236}">
                <a16:creationId xmlns:a16="http://schemas.microsoft.com/office/drawing/2014/main" id="{DD3CADF5-F380-4EF6-92C6-EC93DB84B88C}"/>
              </a:ext>
            </a:extLst>
          </p:cNvPr>
          <p:cNvSpPr txBox="1"/>
          <p:nvPr/>
        </p:nvSpPr>
        <p:spPr>
          <a:xfrm>
            <a:off x="1545133" y="4822041"/>
            <a:ext cx="2215729"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اختبار الشد</a:t>
            </a:r>
          </a:p>
        </p:txBody>
      </p:sp>
      <p:pic>
        <p:nvPicPr>
          <p:cNvPr id="2" name="Picture 1" descr="A machine with a metal object&#10;&#10;Description automatically generated">
            <a:extLst>
              <a:ext uri="{FF2B5EF4-FFF2-40B4-BE49-F238E27FC236}">
                <a16:creationId xmlns:a16="http://schemas.microsoft.com/office/drawing/2014/main" id="{6CA5D4F6-B045-D322-7EB2-FA0A716BBC9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997366" y="2046439"/>
            <a:ext cx="3698201" cy="2562117"/>
          </a:xfrm>
          <a:prstGeom prst="rect">
            <a:avLst/>
          </a:prstGeom>
        </p:spPr>
      </p:pic>
      <p:sp>
        <p:nvSpPr>
          <p:cNvPr id="3" name="Footer Placeholder 2">
            <a:extLst>
              <a:ext uri="{FF2B5EF4-FFF2-40B4-BE49-F238E27FC236}">
                <a16:creationId xmlns:a16="http://schemas.microsoft.com/office/drawing/2014/main" id="{737202CE-A2FD-CA76-2958-E69393109F5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376124121"/>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57090" y="133593"/>
            <a:ext cx="371933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400" b="1">
                <a:latin typeface="Sakkal Majalla" panose="02000000000000000000" pitchFamily="2" charset="-78"/>
                <a:cs typeface="Sakkal Majalla" panose="02000000000000000000" pitchFamily="2" charset="-78"/>
              </a:rPr>
              <a:t>ب1: متطلبات المواد المعدنية في أثناء الاستخدام </a:t>
            </a:r>
            <a:br>
              <a:rPr lang="en-GB" altLang="en-US" sz="2400" b="1">
                <a:latin typeface="Sakkal Majalla" panose="02000000000000000000" pitchFamily="2" charset="-78"/>
                <a:cs typeface="Sakkal Majalla" panose="02000000000000000000" pitchFamily="2" charset="-78"/>
              </a:rPr>
            </a:br>
            <a:endParaRPr lang="en-GB" altLang="en-US" sz="2400" b="1">
              <a:latin typeface="Sakkal Majalla" panose="02000000000000000000" pitchFamily="2" charset="-78"/>
              <a:cs typeface="Sakkal Majalla" panose="02000000000000000000" pitchFamily="2" charset="-78"/>
            </a:endParaRPr>
          </a:p>
        </p:txBody>
      </p:sp>
      <p:graphicFrame>
        <p:nvGraphicFramePr>
          <p:cNvPr id="3" name="Table 3">
            <a:extLst>
              <a:ext uri="{FF2B5EF4-FFF2-40B4-BE49-F238E27FC236}">
                <a16:creationId xmlns:a16="http://schemas.microsoft.com/office/drawing/2014/main" id="{56027463-A2F0-4AAD-9938-1CC999C3D36D}"/>
              </a:ext>
            </a:extLst>
          </p:cNvPr>
          <p:cNvGraphicFramePr>
            <a:graphicFrameLocks noGrp="1"/>
          </p:cNvGraphicFramePr>
          <p:nvPr>
            <p:ph sz="half" idx="2"/>
            <p:extLst>
              <p:ext uri="{D42A27DB-BD31-4B8C-83A1-F6EECF244321}">
                <p14:modId xmlns:p14="http://schemas.microsoft.com/office/powerpoint/2010/main" val="286636014"/>
              </p:ext>
            </p:extLst>
          </p:nvPr>
        </p:nvGraphicFramePr>
        <p:xfrm>
          <a:off x="605669" y="1458872"/>
          <a:ext cx="7991475" cy="1777798"/>
        </p:xfrm>
        <a:graphic>
          <a:graphicData uri="http://schemas.openxmlformats.org/drawingml/2006/table">
            <a:tbl>
              <a:tblPr rtl="1" firstRow="1" bandRow="1">
                <a:tableStyleId>{073A0DAA-6AF3-43AB-8588-CEC1D06C72B9}</a:tableStyleId>
              </a:tblPr>
              <a:tblGrid>
                <a:gridCol w="2663825">
                  <a:extLst>
                    <a:ext uri="{9D8B030D-6E8A-4147-A177-3AD203B41FA5}">
                      <a16:colId xmlns:a16="http://schemas.microsoft.com/office/drawing/2014/main" val="3488111147"/>
                    </a:ext>
                  </a:extLst>
                </a:gridCol>
                <a:gridCol w="2663825">
                  <a:extLst>
                    <a:ext uri="{9D8B030D-6E8A-4147-A177-3AD203B41FA5}">
                      <a16:colId xmlns:a16="http://schemas.microsoft.com/office/drawing/2014/main" val="2607883179"/>
                    </a:ext>
                  </a:extLst>
                </a:gridCol>
                <a:gridCol w="2663825">
                  <a:extLst>
                    <a:ext uri="{9D8B030D-6E8A-4147-A177-3AD203B41FA5}">
                      <a16:colId xmlns:a16="http://schemas.microsoft.com/office/drawing/2014/main" val="2813817216"/>
                    </a:ext>
                  </a:extLst>
                </a:gridCol>
              </a:tblGrid>
              <a:tr h="471528">
                <a:tc>
                  <a:txBody>
                    <a:bodyPr/>
                    <a:lstStyle/>
                    <a:p>
                      <a:pPr rtl="1"/>
                      <a:r>
                        <a:rPr lang="ar" sz="2000">
                          <a:latin typeface="Sakkal Majalla" panose="02000000000000000000" pitchFamily="2" charset="-78"/>
                          <a:cs typeface="Sakkal Majalla" panose="02000000000000000000" pitchFamily="2" charset="-78"/>
                        </a:rPr>
                        <a:t>مقاومة عالية</a:t>
                      </a:r>
                    </a:p>
                  </a:txBody>
                  <a:tcPr/>
                </a:tc>
                <a:tc>
                  <a:txBody>
                    <a:bodyPr/>
                    <a:lstStyle/>
                    <a:p>
                      <a:pPr rtl="1"/>
                      <a:r>
                        <a:rPr lang="ar" sz="2000">
                          <a:latin typeface="Sakkal Majalla" panose="02000000000000000000" pitchFamily="2" charset="-78"/>
                          <a:cs typeface="Sakkal Majalla" panose="02000000000000000000" pitchFamily="2" charset="-78"/>
                        </a:rPr>
                        <a:t>نسبة المقاومة للوزن عالية</a:t>
                      </a:r>
                    </a:p>
                  </a:txBody>
                  <a:tcPr/>
                </a:tc>
                <a:tc>
                  <a:txBody>
                    <a:bodyPr/>
                    <a:lstStyle/>
                    <a:p>
                      <a:pPr rtl="1"/>
                      <a:r>
                        <a:rPr lang="ar" sz="2000">
                          <a:latin typeface="Sakkal Majalla" panose="02000000000000000000" pitchFamily="2" charset="-78"/>
                          <a:cs typeface="Sakkal Majalla" panose="02000000000000000000" pitchFamily="2" charset="-78"/>
                        </a:rPr>
                        <a:t>مقاومة التحميل الصدمي</a:t>
                      </a:r>
                    </a:p>
                  </a:txBody>
                  <a:tcPr/>
                </a:tc>
                <a:extLst>
                  <a:ext uri="{0D108BD9-81ED-4DB2-BD59-A6C34878D82A}">
                    <a16:rowId xmlns:a16="http://schemas.microsoft.com/office/drawing/2014/main" val="2265327983"/>
                  </a:ext>
                </a:extLst>
              </a:tr>
              <a:tr h="1306270">
                <a:tc>
                  <a:txBody>
                    <a:bodyPr/>
                    <a:lstStyle/>
                    <a:p>
                      <a:pPr rtl="1"/>
                      <a:r>
                        <a:rPr lang="ar" sz="1800">
                          <a:latin typeface="Sakkal Majalla" panose="02000000000000000000" pitchFamily="2" charset="-78"/>
                          <a:cs typeface="Sakkal Majalla" panose="02000000000000000000" pitchFamily="2" charset="-78"/>
                        </a:rPr>
                        <a:t>تحتاج المواد المعدنية إلى قوة عالية لتحمل الأحمال الثقيلة ومنع التشوه أو الإخفاق.</a:t>
                      </a:r>
                    </a:p>
                  </a:txBody>
                  <a:tcPr/>
                </a:tc>
                <a:tc>
                  <a:txBody>
                    <a:bodyPr/>
                    <a:lstStyle/>
                    <a:p>
                      <a:pPr rtl="1"/>
                      <a:r>
                        <a:rPr lang="ar" sz="1800">
                          <a:latin typeface="Sakkal Majalla" panose="02000000000000000000" pitchFamily="2" charset="-78"/>
                          <a:cs typeface="Sakkal Majalla" panose="02000000000000000000" pitchFamily="2" charset="-78"/>
                        </a:rPr>
                        <a:t>يجب أن تحتوي المواد المعدنية على نسبة مقاومة للوزن عالية لتوفير المقاومة دون إضافة وزن زائد.</a:t>
                      </a:r>
                    </a:p>
                  </a:txBody>
                  <a:tcPr/>
                </a:tc>
                <a:tc>
                  <a:txBody>
                    <a:bodyPr/>
                    <a:lstStyle/>
                    <a:p>
                      <a:pPr rtl="1"/>
                      <a:r>
                        <a:rPr lang="ar" sz="1800">
                          <a:latin typeface="Sakkal Majalla" panose="02000000000000000000" pitchFamily="2" charset="-78"/>
                          <a:cs typeface="Sakkal Majalla" panose="02000000000000000000" pitchFamily="2" charset="-78"/>
                        </a:rPr>
                        <a:t>يجب أن تكون المواد المعدنية قادرة على مقاومة تحميل الصدمات لمنع التلف أو الكسر.</a:t>
                      </a:r>
                    </a:p>
                  </a:txBody>
                  <a:tcPr/>
                </a:tc>
                <a:extLst>
                  <a:ext uri="{0D108BD9-81ED-4DB2-BD59-A6C34878D82A}">
                    <a16:rowId xmlns:a16="http://schemas.microsoft.com/office/drawing/2014/main" val="457259209"/>
                  </a:ext>
                </a:extLst>
              </a:tr>
            </a:tbl>
          </a:graphicData>
        </a:graphic>
      </p:graphicFrame>
      <p:sp>
        <p:nvSpPr>
          <p:cNvPr id="9" name="TextBox 8">
            <a:extLst>
              <a:ext uri="{FF2B5EF4-FFF2-40B4-BE49-F238E27FC236}">
                <a16:creationId xmlns:a16="http://schemas.microsoft.com/office/drawing/2014/main" id="{DF83E823-D9D9-4748-9AC7-512B34FCA35A}"/>
              </a:ext>
            </a:extLst>
          </p:cNvPr>
          <p:cNvSpPr txBox="1"/>
          <p:nvPr/>
        </p:nvSpPr>
        <p:spPr>
          <a:xfrm>
            <a:off x="467544" y="5914334"/>
            <a:ext cx="4104455" cy="400110"/>
          </a:xfrm>
          <a:prstGeom prst="rect">
            <a:avLst/>
          </a:prstGeom>
          <a:noFill/>
        </p:spPr>
        <p:txBody>
          <a:bodyPr wrap="square" rtlCol="1">
            <a:spAutoFit/>
          </a:bodyPr>
          <a:lstStyle/>
          <a:p>
            <a:pPr rtl="1"/>
            <a:r>
              <a:rPr lang="ar" sz="2000" b="1" i="0">
                <a:effectLst/>
                <a:latin typeface="Roboto" panose="02000000000000000000" pitchFamily="2" charset="0"/>
                <a:cs typeface="Sakkal Majalla" panose="02000000000000000000" pitchFamily="2" charset="-78"/>
              </a:rPr>
              <a:t>مهندس</a:t>
            </a:r>
            <a:r>
              <a:rPr lang="ar-EG" sz="2000" b="1" i="0">
                <a:effectLst/>
                <a:latin typeface="Roboto" panose="02000000000000000000" pitchFamily="2" charset="0"/>
                <a:cs typeface="Sakkal Majalla" panose="02000000000000000000" pitchFamily="2" charset="-78"/>
              </a:rPr>
              <a:t>ة</a:t>
            </a:r>
            <a:r>
              <a:rPr lang="ar" sz="2000" b="1" i="0">
                <a:effectLst/>
                <a:latin typeface="Roboto" panose="02000000000000000000" pitchFamily="2" charset="0"/>
                <a:cs typeface="Sakkal Majalla" panose="02000000000000000000" pitchFamily="2" charset="-78"/>
              </a:rPr>
              <a:t> </a:t>
            </a:r>
            <a:r>
              <a:rPr lang="ar-EG" sz="2000" b="1" i="0">
                <a:effectLst/>
                <a:latin typeface="Roboto" panose="02000000000000000000" pitchFamily="2" charset="0"/>
                <a:cs typeface="Sakkal Majalla" panose="02000000000000000000" pitchFamily="2" charset="-78"/>
              </a:rPr>
              <a:t>تُ</a:t>
            </a:r>
            <a:r>
              <a:rPr lang="ar" sz="2000" b="1" i="0">
                <a:effectLst/>
                <a:latin typeface="Roboto" panose="02000000000000000000" pitchFamily="2" charset="0"/>
                <a:cs typeface="Sakkal Majalla" panose="02000000000000000000" pitchFamily="2" charset="-78"/>
              </a:rPr>
              <a:t>عد آلة الاختبار</a:t>
            </a:r>
          </a:p>
        </p:txBody>
      </p:sp>
      <p:pic>
        <p:nvPicPr>
          <p:cNvPr id="2" name="Picture 1" descr="A person in gloves working on a machine&#10;&#10;Description automatically generated">
            <a:extLst>
              <a:ext uri="{FF2B5EF4-FFF2-40B4-BE49-F238E27FC236}">
                <a16:creationId xmlns:a16="http://schemas.microsoft.com/office/drawing/2014/main" id="{DC6B79EC-A560-F625-B643-C53A7C8D116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571999" y="3693935"/>
            <a:ext cx="3742333" cy="2521367"/>
          </a:xfrm>
          <a:prstGeom prst="rect">
            <a:avLst/>
          </a:prstGeom>
        </p:spPr>
      </p:pic>
      <p:sp>
        <p:nvSpPr>
          <p:cNvPr id="4" name="Footer Placeholder 2">
            <a:extLst>
              <a:ext uri="{FF2B5EF4-FFF2-40B4-BE49-F238E27FC236}">
                <a16:creationId xmlns:a16="http://schemas.microsoft.com/office/drawing/2014/main" id="{066BEA32-162C-05CC-5144-CAE7E75A2E1E}"/>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016012986"/>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row of bullets in different sizes&#10;&#10;Description automatically generated">
            <a:extLst>
              <a:ext uri="{FF2B5EF4-FFF2-40B4-BE49-F238E27FC236}">
                <a16:creationId xmlns:a16="http://schemas.microsoft.com/office/drawing/2014/main" id="{1971DA0B-893C-818C-D340-CD565DDA23E2}"/>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912663" y="3699671"/>
            <a:ext cx="3892379" cy="2644935"/>
          </a:xfrm>
          <a:prstGeom prst="rect">
            <a:avLst/>
          </a:prstGeom>
        </p:spPr>
      </p:pic>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47854" y="139090"/>
            <a:ext cx="368864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400" b="1">
                <a:latin typeface="Sakkal Majalla" panose="02000000000000000000" pitchFamily="2" charset="-78"/>
                <a:cs typeface="Sakkal Majalla" panose="02000000000000000000" pitchFamily="2" charset="-78"/>
              </a:rPr>
              <a:t>ب1: متطلبات المواد المعدنية في أثناء الاستخدام </a:t>
            </a:r>
            <a:br>
              <a:rPr lang="en-GB" altLang="en-US" sz="2400" b="1">
                <a:latin typeface="Sakkal Majalla" panose="02000000000000000000" pitchFamily="2" charset="-78"/>
                <a:cs typeface="Sakkal Majalla" panose="02000000000000000000" pitchFamily="2" charset="-78"/>
              </a:rPr>
            </a:br>
            <a:endParaRPr lang="en-GB" altLang="en-US" sz="2400" b="1">
              <a:latin typeface="Sakkal Majalla" panose="02000000000000000000" pitchFamily="2" charset="-78"/>
              <a:cs typeface="Sakkal Majalla" panose="02000000000000000000" pitchFamily="2" charset="-78"/>
            </a:endParaRPr>
          </a:p>
        </p:txBody>
      </p:sp>
      <p:graphicFrame>
        <p:nvGraphicFramePr>
          <p:cNvPr id="6" name="Table 3">
            <a:extLst>
              <a:ext uri="{FF2B5EF4-FFF2-40B4-BE49-F238E27FC236}">
                <a16:creationId xmlns:a16="http://schemas.microsoft.com/office/drawing/2014/main" id="{65442327-5D6C-4AF2-A0FF-DCDB785631B0}"/>
              </a:ext>
            </a:extLst>
          </p:cNvPr>
          <p:cNvGraphicFramePr>
            <a:graphicFrameLocks/>
          </p:cNvGraphicFramePr>
          <p:nvPr>
            <p:extLst>
              <p:ext uri="{D42A27DB-BD31-4B8C-83A1-F6EECF244321}">
                <p14:modId xmlns:p14="http://schemas.microsoft.com/office/powerpoint/2010/main" val="1769679429"/>
              </p:ext>
            </p:extLst>
          </p:nvPr>
        </p:nvGraphicFramePr>
        <p:xfrm>
          <a:off x="576263" y="1196752"/>
          <a:ext cx="7991475" cy="1402080"/>
        </p:xfrm>
        <a:graphic>
          <a:graphicData uri="http://schemas.openxmlformats.org/drawingml/2006/table">
            <a:tbl>
              <a:tblPr rtl="1" firstRow="1" bandRow="1">
                <a:tableStyleId>{073A0DAA-6AF3-43AB-8588-CEC1D06C72B9}</a:tableStyleId>
              </a:tblPr>
              <a:tblGrid>
                <a:gridCol w="2663825">
                  <a:extLst>
                    <a:ext uri="{9D8B030D-6E8A-4147-A177-3AD203B41FA5}">
                      <a16:colId xmlns:a16="http://schemas.microsoft.com/office/drawing/2014/main" val="3488111147"/>
                    </a:ext>
                  </a:extLst>
                </a:gridCol>
                <a:gridCol w="2663825">
                  <a:extLst>
                    <a:ext uri="{9D8B030D-6E8A-4147-A177-3AD203B41FA5}">
                      <a16:colId xmlns:a16="http://schemas.microsoft.com/office/drawing/2014/main" val="2607883179"/>
                    </a:ext>
                  </a:extLst>
                </a:gridCol>
                <a:gridCol w="2663825">
                  <a:extLst>
                    <a:ext uri="{9D8B030D-6E8A-4147-A177-3AD203B41FA5}">
                      <a16:colId xmlns:a16="http://schemas.microsoft.com/office/drawing/2014/main" val="2813817216"/>
                    </a:ext>
                  </a:extLst>
                </a:gridCol>
              </a:tblGrid>
              <a:tr h="370840">
                <a:tc>
                  <a:txBody>
                    <a:bodyPr/>
                    <a:lstStyle/>
                    <a:p>
                      <a:pPr rtl="1"/>
                      <a:r>
                        <a:rPr lang="ar" sz="2000">
                          <a:latin typeface="Sakkal Majalla" panose="02000000000000000000" pitchFamily="2" charset="-78"/>
                          <a:cs typeface="Sakkal Majalla" panose="02000000000000000000" pitchFamily="2" charset="-78"/>
                        </a:rPr>
                        <a:t>الصلابة</a:t>
                      </a:r>
                    </a:p>
                  </a:txBody>
                  <a:tcPr/>
                </a:tc>
                <a:tc>
                  <a:txBody>
                    <a:bodyPr/>
                    <a:lstStyle/>
                    <a:p>
                      <a:pPr rtl="1"/>
                      <a:r>
                        <a:rPr lang="ar" sz="2000">
                          <a:latin typeface="Sakkal Majalla" panose="02000000000000000000" pitchFamily="2" charset="-78"/>
                          <a:cs typeface="Sakkal Majalla" panose="02000000000000000000" pitchFamily="2" charset="-78"/>
                        </a:rPr>
                        <a:t>المتانة</a:t>
                      </a:r>
                    </a:p>
                  </a:txBody>
                  <a:tcPr/>
                </a:tc>
                <a:tc>
                  <a:txBody>
                    <a:bodyPr/>
                    <a:lstStyle/>
                    <a:p>
                      <a:pPr rtl="1"/>
                      <a:r>
                        <a:rPr lang="ar" sz="2000">
                          <a:latin typeface="Sakkal Majalla" panose="02000000000000000000" pitchFamily="2" charset="-78"/>
                          <a:cs typeface="Sakkal Majalla" panose="02000000000000000000" pitchFamily="2" charset="-78"/>
                        </a:rPr>
                        <a:t>الممطولية</a:t>
                      </a:r>
                    </a:p>
                  </a:txBody>
                  <a:tcPr/>
                </a:tc>
                <a:extLst>
                  <a:ext uri="{0D108BD9-81ED-4DB2-BD59-A6C34878D82A}">
                    <a16:rowId xmlns:a16="http://schemas.microsoft.com/office/drawing/2014/main" val="2265327983"/>
                  </a:ext>
                </a:extLst>
              </a:tr>
              <a:tr h="370840">
                <a:tc>
                  <a:txBody>
                    <a:bodyPr/>
                    <a:lstStyle/>
                    <a:p>
                      <a:pPr rtl="1"/>
                      <a:r>
                        <a:rPr lang="ar" sz="2000">
                          <a:latin typeface="Sakkal Majalla" panose="02000000000000000000" pitchFamily="2" charset="-78"/>
                          <a:cs typeface="Sakkal Majalla" panose="02000000000000000000" pitchFamily="2" charset="-78"/>
                        </a:rPr>
                        <a:t>يجب أن تتمتع المواد المعدنية بصلابة كافية لمقاومة الاهتراء والتآكل.</a:t>
                      </a:r>
                    </a:p>
                  </a:txBody>
                  <a:tcPr/>
                </a:tc>
                <a:tc>
                  <a:txBody>
                    <a:bodyPr/>
                    <a:lstStyle/>
                    <a:p>
                      <a:pPr rtl="1"/>
                      <a:r>
                        <a:rPr lang="ar" sz="2000">
                          <a:latin typeface="Sakkal Majalla" panose="02000000000000000000" pitchFamily="2" charset="-78"/>
                          <a:cs typeface="Sakkal Majalla" panose="02000000000000000000" pitchFamily="2" charset="-78"/>
                        </a:rPr>
                        <a:t>ويجب أن تكون المواد المعدنية متينة لامتصاص الطاقة وتبديدها، ما يمنع انتشار التشقق والإخفاق.</a:t>
                      </a:r>
                    </a:p>
                  </a:txBody>
                  <a:tcPr/>
                </a:tc>
                <a:tc>
                  <a:txBody>
                    <a:bodyPr/>
                    <a:lstStyle/>
                    <a:p>
                      <a:pPr rtl="1"/>
                      <a:r>
                        <a:rPr lang="ar" sz="2000">
                          <a:latin typeface="Sakkal Majalla" panose="02000000000000000000" pitchFamily="2" charset="-78"/>
                          <a:cs typeface="Sakkal Majalla" panose="02000000000000000000" pitchFamily="2" charset="-78"/>
                        </a:rPr>
                        <a:t>يجب أن تتمتع المواد المعدنية بالممطولية الكافية للسماح بالتشوه اللدائني دون كسر.</a:t>
                      </a:r>
                    </a:p>
                  </a:txBody>
                  <a:tcPr/>
                </a:tc>
                <a:extLst>
                  <a:ext uri="{0D108BD9-81ED-4DB2-BD59-A6C34878D82A}">
                    <a16:rowId xmlns:a16="http://schemas.microsoft.com/office/drawing/2014/main" val="457259209"/>
                  </a:ext>
                </a:extLst>
              </a:tr>
            </a:tbl>
          </a:graphicData>
        </a:graphic>
      </p:graphicFrame>
      <p:sp>
        <p:nvSpPr>
          <p:cNvPr id="9" name="TextBox 8">
            <a:extLst>
              <a:ext uri="{FF2B5EF4-FFF2-40B4-BE49-F238E27FC236}">
                <a16:creationId xmlns:a16="http://schemas.microsoft.com/office/drawing/2014/main" id="{84425B73-536B-4C72-9F26-949F6D5E66DF}"/>
              </a:ext>
            </a:extLst>
          </p:cNvPr>
          <p:cNvSpPr txBox="1"/>
          <p:nvPr/>
        </p:nvSpPr>
        <p:spPr>
          <a:xfrm>
            <a:off x="3347864" y="5976478"/>
            <a:ext cx="3024336"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المتانة والصلابة</a:t>
            </a:r>
          </a:p>
        </p:txBody>
      </p:sp>
      <p:sp>
        <p:nvSpPr>
          <p:cNvPr id="3" name="Footer Placeholder 2">
            <a:extLst>
              <a:ext uri="{FF2B5EF4-FFF2-40B4-BE49-F238E27FC236}">
                <a16:creationId xmlns:a16="http://schemas.microsoft.com/office/drawing/2014/main" id="{33E76C46-A65B-FB01-AAC3-EC21040BEC2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804035395"/>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53F1-D145-4650-8A4B-C6320CDFE7FF}"/>
              </a:ext>
            </a:extLst>
          </p:cNvPr>
          <p:cNvSpPr>
            <a:spLocks noGrp="1"/>
          </p:cNvSpPr>
          <p:nvPr>
            <p:ph type="title"/>
          </p:nvPr>
        </p:nvSpPr>
        <p:spPr>
          <a:xfrm>
            <a:off x="806896" y="111125"/>
            <a:ext cx="8229600" cy="432048"/>
          </a:xfrm>
        </p:spPr>
        <p:txBody>
          <a:bodyPr rtlCol="1"/>
          <a:lstStyle/>
          <a:p>
            <a:pPr algn="r" rtl="1"/>
            <a:r>
              <a:rPr lang="ar" sz="2600" b="1"/>
              <a:t>ب2: إجراءات الاختبار الإتلافي</a:t>
            </a:r>
            <a:endParaRPr lang="en-GB" sz="2600"/>
          </a:p>
        </p:txBody>
      </p:sp>
      <p:sp>
        <p:nvSpPr>
          <p:cNvPr id="3" name="Content Placeholder 2">
            <a:extLst>
              <a:ext uri="{FF2B5EF4-FFF2-40B4-BE49-F238E27FC236}">
                <a16:creationId xmlns:a16="http://schemas.microsoft.com/office/drawing/2014/main" id="{514B35D3-08B9-41AC-A718-9D971967FDB9}"/>
              </a:ext>
            </a:extLst>
          </p:cNvPr>
          <p:cNvSpPr>
            <a:spLocks noGrp="1"/>
          </p:cNvSpPr>
          <p:nvPr>
            <p:ph sz="half" idx="2"/>
          </p:nvPr>
        </p:nvSpPr>
        <p:spPr>
          <a:xfrm>
            <a:off x="540965" y="1556792"/>
            <a:ext cx="7991475" cy="3609975"/>
          </a:xfrm>
        </p:spPr>
        <p:txBody>
          <a:bodyPr rtlCol="1"/>
          <a:lstStyle/>
          <a:p>
            <a:pPr marL="0" indent="0" rtl="1">
              <a:lnSpc>
                <a:spcPct val="120000"/>
              </a:lnSpc>
              <a:buNone/>
            </a:pPr>
            <a:r>
              <a:rPr lang="ar" sz="2200">
                <a:effectLst/>
              </a:rPr>
              <a:t>سنستكشف في هذا الجزء إجراءات تنفيذ الاختبارات الإتلافية للمواد المعدنية. تُستخدم الاختبارات الإتلافية لتقييم السلوك الميكانيكي للمعادن وخواصها. وتنطوي على تعريض المواد لإجهاد أو صدمات متحكم فيها لتحديد مقاومتها وصلابتها ومقاومتها للصدمات. </a:t>
            </a:r>
          </a:p>
          <a:p>
            <a:pPr marL="0" indent="0" rtl="1">
              <a:lnSpc>
                <a:spcPct val="120000"/>
              </a:lnSpc>
              <a:buNone/>
            </a:pPr>
            <a:r>
              <a:rPr lang="ar" sz="2200">
                <a:effectLst/>
              </a:rPr>
              <a:t>في ما يأتي إجراءات الاختبار الإتلافية الرئيسة الثلاثة للمواد المعدنية:</a:t>
            </a:r>
          </a:p>
          <a:p>
            <a:pPr rtl="1">
              <a:lnSpc>
                <a:spcPct val="120000"/>
              </a:lnSpc>
            </a:pPr>
            <a:r>
              <a:rPr lang="ar" sz="2200">
                <a:effectLst/>
              </a:rPr>
              <a:t>اختبار مقاومة الشد</a:t>
            </a:r>
          </a:p>
          <a:p>
            <a:pPr rtl="1">
              <a:lnSpc>
                <a:spcPct val="120000"/>
              </a:lnSpc>
            </a:pPr>
            <a:r>
              <a:rPr lang="ar" sz="2200">
                <a:effectLst/>
              </a:rPr>
              <a:t>اختبار الصلابة</a:t>
            </a:r>
          </a:p>
          <a:p>
            <a:pPr rtl="1">
              <a:lnSpc>
                <a:spcPct val="120000"/>
              </a:lnSpc>
            </a:pPr>
            <a:r>
              <a:rPr lang="ar" sz="2200">
                <a:effectLst/>
              </a:rPr>
              <a:t>اختبار الصدم</a:t>
            </a:r>
            <a:endParaRPr lang="en-GB" sz="2200"/>
          </a:p>
          <a:p>
            <a:pPr rtl="1">
              <a:lnSpc>
                <a:spcPct val="120000"/>
              </a:lnSpc>
            </a:pPr>
            <a:endParaRPr lang="en-GB" sz="2200"/>
          </a:p>
        </p:txBody>
      </p:sp>
      <p:sp>
        <p:nvSpPr>
          <p:cNvPr id="4" name="Footer Placeholder 2">
            <a:extLst>
              <a:ext uri="{FF2B5EF4-FFF2-40B4-BE49-F238E27FC236}">
                <a16:creationId xmlns:a16="http://schemas.microsoft.com/office/drawing/2014/main" id="{4CEE2E87-61FB-0E1F-EFC9-BD21C257AE5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978815541"/>
      </p:ext>
    </p:extLst>
  </p:cSld>
  <p:clrMapOvr>
    <a:masterClrMapping/>
  </p:clrMapOvr>
  <p:transition>
    <p:sndAc>
      <p:stSnd>
        <p:snd r:embed="rId2"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latin typeface="Sakkal Majalla" panose="02000000000000000000" pitchFamily="2" charset="-78"/>
              <a:cs typeface="Sakkal Majalla" panose="02000000000000000000" pitchFamily="2" charset="-78"/>
            </a:endParaRP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308507052"/>
              </p:ext>
            </p:extLst>
          </p:nvPr>
        </p:nvGraphicFramePr>
        <p:xfrm>
          <a:off x="305257" y="1844825"/>
          <a:ext cx="8533486" cy="3803904"/>
        </p:xfrm>
        <a:graphic>
          <a:graphicData uri="http://schemas.openxmlformats.org/drawingml/2006/table">
            <a:tbl>
              <a:tblPr rtl="1" firstRow="1" bandRow="1">
                <a:tableStyleId>{073A0DAA-6AF3-43AB-8588-CEC1D06C72B9}</a:tableStyleId>
              </a:tblPr>
              <a:tblGrid>
                <a:gridCol w="4367099">
                  <a:extLst>
                    <a:ext uri="{9D8B030D-6E8A-4147-A177-3AD203B41FA5}">
                      <a16:colId xmlns:a16="http://schemas.microsoft.com/office/drawing/2014/main" val="2372866801"/>
                    </a:ext>
                  </a:extLst>
                </a:gridCol>
                <a:gridCol w="4166387">
                  <a:extLst>
                    <a:ext uri="{9D8B030D-6E8A-4147-A177-3AD203B41FA5}">
                      <a16:colId xmlns:a16="http://schemas.microsoft.com/office/drawing/2014/main" val="4027767805"/>
                    </a:ext>
                  </a:extLst>
                </a:gridCol>
              </a:tblGrid>
              <a:tr h="392903">
                <a:tc>
                  <a:txBody>
                    <a:bodyPr/>
                    <a:lstStyle/>
                    <a:p>
                      <a:pPr rtl="1">
                        <a:lnSpc>
                          <a:spcPct val="120000"/>
                        </a:lnSpc>
                      </a:pPr>
                      <a:r>
                        <a:rPr lang="ar" sz="1800">
                          <a:latin typeface="Sakkal Majalla" panose="02000000000000000000" pitchFamily="2" charset="-78"/>
                          <a:cs typeface="Sakkal Majalla" panose="02000000000000000000" pitchFamily="2" charset="-78"/>
                        </a:rPr>
                        <a:t>اختبار مقاومة الشد</a:t>
                      </a:r>
                    </a:p>
                  </a:txBody>
                  <a:tcPr/>
                </a:tc>
                <a:tc>
                  <a:txBody>
                    <a:bodyPr/>
                    <a:lstStyle/>
                    <a:p>
                      <a:pPr rtl="1">
                        <a:lnSpc>
                          <a:spcPct val="120000"/>
                        </a:lnSpc>
                      </a:pPr>
                      <a:r>
                        <a:rPr lang="ar" sz="1800">
                          <a:latin typeface="Sakkal Majalla" panose="02000000000000000000" pitchFamily="2" charset="-78"/>
                          <a:cs typeface="Sakkal Majalla" panose="02000000000000000000" pitchFamily="2" charset="-78"/>
                        </a:rPr>
                        <a:t>اختبار الصلابة</a:t>
                      </a:r>
                    </a:p>
                  </a:txBody>
                  <a:tcPr/>
                </a:tc>
                <a:extLst>
                  <a:ext uri="{0D108BD9-81ED-4DB2-BD59-A6C34878D82A}">
                    <a16:rowId xmlns:a16="http://schemas.microsoft.com/office/drawing/2014/main" val="532041091"/>
                  </a:ext>
                </a:extLst>
              </a:tr>
              <a:tr h="2487417">
                <a:tc>
                  <a:txBody>
                    <a:bodyPr/>
                    <a:lstStyle/>
                    <a:p>
                      <a:pPr rtl="1">
                        <a:lnSpc>
                          <a:spcPct val="120000"/>
                        </a:lnSpc>
                      </a:pPr>
                      <a:r>
                        <a:rPr lang="ar" sz="1800">
                          <a:effectLst/>
                          <a:latin typeface="Sakkal Majalla" panose="02000000000000000000" pitchFamily="2" charset="-78"/>
                          <a:cs typeface="Sakkal Majalla" panose="02000000000000000000" pitchFamily="2" charset="-78"/>
                        </a:rPr>
                        <a:t>يُستخدم اختبار مقاومة الشد لتحديد الحد الأقصى لمقدار إجهاد الشد الذي يمكن أن تتحمله المادة قبل أن تنكسر. يتضمن الإجراء تطبيق قوة شد متزايدة تدريجيًا على العينة حتى تنكسر. وتُقاس قوة العينة واستطالة العينة طوال الاختبار، وتنشأ منحنيات الإجهاد والانفعال لتحليل سلوك المادة تحت التوتر.</a:t>
                      </a:r>
                    </a:p>
                    <a:p>
                      <a:pPr rtl="1">
                        <a:lnSpc>
                          <a:spcPct val="120000"/>
                        </a:lnSpc>
                      </a:pPr>
                      <a:r>
                        <a:rPr lang="ar" sz="1800">
                          <a:effectLst/>
                          <a:latin typeface="Sakkal Majalla" panose="02000000000000000000" pitchFamily="2" charset="-78"/>
                          <a:cs typeface="Sakkal Majalla" panose="02000000000000000000" pitchFamily="2" charset="-78"/>
                        </a:rPr>
                        <a:t>تشمل المعدات المستخدمة لاختبار مقاومة الشد آلة اختبار عالمية ومقياس شدة وخلية حمل. توفر نتائج الاختبار معلومات قيمة حول مقاومة المادة وممطوليتها ومرونتها.</a:t>
                      </a:r>
                      <a:endParaRPr lang="en-GB" sz="1800">
                        <a:latin typeface="Sakkal Majalla" panose="02000000000000000000" pitchFamily="2" charset="-78"/>
                        <a:cs typeface="Sakkal Majalla" panose="02000000000000000000" pitchFamily="2" charset="-78"/>
                      </a:endParaRPr>
                    </a:p>
                    <a:p>
                      <a:pPr rtl="1">
                        <a:lnSpc>
                          <a:spcPct val="120000"/>
                        </a:lnSpc>
                      </a:pPr>
                      <a:endParaRPr lang="en-GB" sz="1800">
                        <a:latin typeface="Sakkal Majalla" panose="02000000000000000000" pitchFamily="2" charset="-78"/>
                        <a:cs typeface="Sakkal Majalla" panose="02000000000000000000" pitchFamily="2" charset="-78"/>
                      </a:endParaRPr>
                    </a:p>
                  </a:txBody>
                  <a:tcPr/>
                </a:tc>
                <a:tc>
                  <a:txBody>
                    <a:bodyPr/>
                    <a:lstStyle/>
                    <a:p>
                      <a:pPr rtl="1">
                        <a:lnSpc>
                          <a:spcPct val="120000"/>
                        </a:lnSpc>
                      </a:pPr>
                      <a:r>
                        <a:rPr lang="ar" sz="1800">
                          <a:effectLst/>
                          <a:latin typeface="Sakkal Majalla" panose="02000000000000000000" pitchFamily="2" charset="-78"/>
                          <a:cs typeface="Sakkal Majalla" panose="02000000000000000000" pitchFamily="2" charset="-78"/>
                        </a:rPr>
                        <a:t>يُستخدم اختبار الصلابة لقياس مقاومة المادة للتنّقُر أو الخدش. ويوفر مؤشرًا على قوة المادة ومقاومة التآكل. توجد العديد من طرق اختبار الصلابة؛ منها اختبارات Rockwell </a:t>
                      </a:r>
                      <a:br>
                        <a:rPr lang="ar-EG" sz="1800">
                          <a:effectLst/>
                          <a:latin typeface="Sakkal Majalla" panose="02000000000000000000" pitchFamily="2" charset="-78"/>
                          <a:cs typeface="Sakkal Majalla" panose="02000000000000000000" pitchFamily="2" charset="-78"/>
                        </a:rPr>
                      </a:br>
                      <a:r>
                        <a:rPr lang="ar" sz="1800">
                          <a:effectLst/>
                          <a:latin typeface="Sakkal Majalla" panose="02000000000000000000" pitchFamily="2" charset="-78"/>
                          <a:cs typeface="Sakkal Majalla" panose="02000000000000000000" pitchFamily="2" charset="-78"/>
                        </a:rPr>
                        <a:t>و Brinell و Vickers، حيث تتضمن كل طريقة تطبيق قوة معروفة على سطح المادة وقياس عمق أو حجم التنقُّر الناتج. وتختلف المعدات المستخدمة لاختبار الصلابة اعتمادًا على الطريقة المستخدمة.</a:t>
                      </a:r>
                      <a:endParaRPr lang="en-GB" sz="1800">
                        <a:latin typeface="Sakkal Majalla" panose="02000000000000000000" pitchFamily="2" charset="-78"/>
                        <a:cs typeface="Sakkal Majalla" panose="02000000000000000000" pitchFamily="2" charset="-78"/>
                      </a:endParaRPr>
                    </a:p>
                    <a:p>
                      <a:pPr rtl="1">
                        <a:lnSpc>
                          <a:spcPct val="120000"/>
                        </a:lnSpc>
                      </a:pPr>
                      <a:r>
                        <a:rPr lang="ar" sz="1800">
                          <a:effectLst/>
                          <a:latin typeface="Sakkal Majalla" panose="02000000000000000000" pitchFamily="2" charset="-78"/>
                          <a:cs typeface="Sakkal Majalla" panose="02000000000000000000" pitchFamily="2" charset="-78"/>
                        </a:rPr>
                        <a:t>ويشيع استخدام اختبار الصلابة في عمليات مراقبة الجودة واختيار المواد.</a:t>
                      </a:r>
                      <a:endParaRPr lang="en-GB" sz="1800">
                        <a:latin typeface="Sakkal Majalla" panose="02000000000000000000" pitchFamily="2" charset="-78"/>
                        <a:cs typeface="Sakkal Majalla" panose="02000000000000000000" pitchFamily="2" charset="-78"/>
                      </a:endParaRPr>
                    </a:p>
                    <a:p>
                      <a:pPr rtl="1">
                        <a:lnSpc>
                          <a:spcPct val="120000"/>
                        </a:lnSpc>
                      </a:pPr>
                      <a:endParaRPr lang="en-GB" sz="180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507577905"/>
                  </a:ext>
                </a:extLst>
              </a:tr>
            </a:tbl>
          </a:graphicData>
        </a:graphic>
      </p:graphicFrame>
      <p:sp>
        <p:nvSpPr>
          <p:cNvPr id="3" name="Footer Placeholder 2">
            <a:extLst>
              <a:ext uri="{FF2B5EF4-FFF2-40B4-BE49-F238E27FC236}">
                <a16:creationId xmlns:a16="http://schemas.microsoft.com/office/drawing/2014/main" id="{5F38172F-DE79-240F-EA9D-10E8CC9F009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763180742"/>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0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2227419570"/>
              </p:ext>
            </p:extLst>
          </p:nvPr>
        </p:nvGraphicFramePr>
        <p:xfrm>
          <a:off x="4589333" y="1772816"/>
          <a:ext cx="4357022" cy="3768979"/>
        </p:xfrm>
        <a:graphic>
          <a:graphicData uri="http://schemas.openxmlformats.org/drawingml/2006/table">
            <a:tbl>
              <a:tblPr firstRow="1" bandRow="1">
                <a:tableStyleId>{073A0DAA-6AF3-43AB-8588-CEC1D06C72B9}</a:tableStyleId>
              </a:tblPr>
              <a:tblGrid>
                <a:gridCol w="4357022">
                  <a:extLst>
                    <a:ext uri="{9D8B030D-6E8A-4147-A177-3AD203B41FA5}">
                      <a16:colId xmlns:a16="http://schemas.microsoft.com/office/drawing/2014/main" val="1342377231"/>
                    </a:ext>
                  </a:extLst>
                </a:gridCol>
              </a:tblGrid>
              <a:tr h="388231">
                <a:tc>
                  <a:txBody>
                    <a:bodyPr/>
                    <a:lstStyle/>
                    <a:p>
                      <a:pPr rtl="1">
                        <a:lnSpc>
                          <a:spcPct val="120000"/>
                        </a:lnSpc>
                      </a:pPr>
                      <a:r>
                        <a:rPr lang="ar" sz="1800">
                          <a:latin typeface="Sakkal Majalla" panose="02000000000000000000" pitchFamily="2" charset="-78"/>
                          <a:cs typeface="Sakkal Majalla" panose="02000000000000000000" pitchFamily="2" charset="-78"/>
                        </a:rPr>
                        <a:t>اختبار الصدم</a:t>
                      </a:r>
                    </a:p>
                  </a:txBody>
                  <a:tcPr/>
                </a:tc>
                <a:extLst>
                  <a:ext uri="{0D108BD9-81ED-4DB2-BD59-A6C34878D82A}">
                    <a16:rowId xmlns:a16="http://schemas.microsoft.com/office/drawing/2014/main" val="532041091"/>
                  </a:ext>
                </a:extLst>
              </a:tr>
              <a:tr h="2457840">
                <a:tc>
                  <a:txBody>
                    <a:bodyPr/>
                    <a:lstStyle/>
                    <a:p>
                      <a:pPr rtl="1">
                        <a:lnSpc>
                          <a:spcPct val="120000"/>
                        </a:lnSpc>
                      </a:pPr>
                      <a:r>
                        <a:rPr lang="ar" sz="1800">
                          <a:effectLst/>
                          <a:latin typeface="Sakkal Majalla" panose="02000000000000000000" pitchFamily="2" charset="-78"/>
                          <a:cs typeface="Sakkal Majalla" panose="02000000000000000000" pitchFamily="2" charset="-78"/>
                        </a:rPr>
                        <a:t>يُستخدم اختبار الصدم لتقييم قدرة المادة على امتصاص الطاقة تحت صدمة عالية السرعة أو تحميل مفاجئ. ويحاكي سيناريوهات العالم الحقيقي حيث قد تتعرض المواد لصدمات أو تأثيرات مفاجئة. تُستخدم اختبارات Charpy و Izod بشكل شائع لاختبار الصدم. وتتضمن هذه الاختبارات ضرب عينة مسننة بالبندول أو المطرقة، وقياس كمية الطاقة التي تمتصها العينة.</a:t>
                      </a:r>
                      <a:endParaRPr lang="en-GB" sz="1800">
                        <a:latin typeface="Sakkal Majalla" panose="02000000000000000000" pitchFamily="2" charset="-78"/>
                        <a:cs typeface="Sakkal Majalla" panose="02000000000000000000" pitchFamily="2" charset="-78"/>
                      </a:endParaRPr>
                    </a:p>
                    <a:p>
                      <a:pPr rtl="1">
                        <a:lnSpc>
                          <a:spcPct val="120000"/>
                        </a:lnSpc>
                      </a:pPr>
                      <a:r>
                        <a:rPr lang="ar" sz="1800">
                          <a:effectLst/>
                          <a:latin typeface="Sakkal Majalla" panose="02000000000000000000" pitchFamily="2" charset="-78"/>
                          <a:cs typeface="Sakkal Majalla" panose="02000000000000000000" pitchFamily="2" charset="-78"/>
                        </a:rPr>
                        <a:t>تشمل المعدات المستخدمة لاختبار الصدم جهاز اختبار الصدم بالبندول أو برج الإسقاط. وتوفر نتائج اختبار الصدم معلومات حول صلابة المادة ومقاومتها للكسر القصيف.</a:t>
                      </a:r>
                      <a:endParaRPr lang="en-GB" sz="1800">
                        <a:latin typeface="Sakkal Majalla" panose="02000000000000000000" pitchFamily="2" charset="-78"/>
                        <a:cs typeface="Sakkal Majalla" panose="02000000000000000000" pitchFamily="2" charset="-78"/>
                      </a:endParaRPr>
                    </a:p>
                    <a:p>
                      <a:pPr rtl="1">
                        <a:lnSpc>
                          <a:spcPct val="120000"/>
                        </a:lnSpc>
                      </a:pPr>
                      <a:endParaRPr lang="en-GB" sz="1800"/>
                    </a:p>
                  </a:txBody>
                  <a:tcPr/>
                </a:tc>
                <a:extLst>
                  <a:ext uri="{0D108BD9-81ED-4DB2-BD59-A6C34878D82A}">
                    <a16:rowId xmlns:a16="http://schemas.microsoft.com/office/drawing/2014/main" val="507577905"/>
                  </a:ext>
                </a:extLst>
              </a:tr>
            </a:tbl>
          </a:graphicData>
        </a:graphic>
      </p:graphicFrame>
      <p:sp>
        <p:nvSpPr>
          <p:cNvPr id="7" name="TextBox 6">
            <a:extLst>
              <a:ext uri="{FF2B5EF4-FFF2-40B4-BE49-F238E27FC236}">
                <a16:creationId xmlns:a16="http://schemas.microsoft.com/office/drawing/2014/main" id="{BBADC961-710B-414E-87FB-7AC6412116EC}"/>
              </a:ext>
            </a:extLst>
          </p:cNvPr>
          <p:cNvSpPr txBox="1"/>
          <p:nvPr/>
        </p:nvSpPr>
        <p:spPr>
          <a:xfrm>
            <a:off x="175050" y="4945587"/>
            <a:ext cx="4579882" cy="369332"/>
          </a:xfrm>
          <a:prstGeom prst="rect">
            <a:avLst/>
          </a:prstGeom>
          <a:noFill/>
        </p:spPr>
        <p:txBody>
          <a:bodyPr wrap="square" rtlCol="1">
            <a:spAutoFit/>
          </a:bodyPr>
          <a:lstStyle/>
          <a:p>
            <a:pPr algn="ctr" rtl="1"/>
            <a:r>
              <a:rPr lang="ar" b="1" i="0">
                <a:effectLst/>
                <a:latin typeface="Roboto" panose="02000000000000000000" pitchFamily="2" charset="0"/>
                <a:cs typeface="Sakkal Majalla" panose="02000000000000000000" pitchFamily="2" charset="-78"/>
              </a:rPr>
              <a:t>اختبار الصدم</a:t>
            </a:r>
          </a:p>
        </p:txBody>
      </p:sp>
      <p:pic>
        <p:nvPicPr>
          <p:cNvPr id="3" name="Picture 2" descr="Two cars crashed into each other&#10;&#10;Description automatically generated">
            <a:extLst>
              <a:ext uri="{FF2B5EF4-FFF2-40B4-BE49-F238E27FC236}">
                <a16:creationId xmlns:a16="http://schemas.microsoft.com/office/drawing/2014/main" id="{625BE328-5FF3-489B-C892-EE0ABB9741E6}"/>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17745" y="2225253"/>
            <a:ext cx="4095382" cy="2716413"/>
          </a:xfrm>
          <a:prstGeom prst="rect">
            <a:avLst/>
          </a:prstGeom>
        </p:spPr>
      </p:pic>
      <p:sp>
        <p:nvSpPr>
          <p:cNvPr id="4" name="Footer Placeholder 2">
            <a:extLst>
              <a:ext uri="{FF2B5EF4-FFF2-40B4-BE49-F238E27FC236}">
                <a16:creationId xmlns:a16="http://schemas.microsoft.com/office/drawing/2014/main" id="{8CF4CDC0-C0DD-30A5-09DA-E14592C5196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725141507"/>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250081"/>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ب3: إجراءات الاختبار غير الإتلافي</a:t>
            </a: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2289363109"/>
              </p:ext>
            </p:extLst>
          </p:nvPr>
        </p:nvGraphicFramePr>
        <p:xfrm>
          <a:off x="107504" y="1240055"/>
          <a:ext cx="8856984" cy="1687729"/>
        </p:xfrm>
        <a:graphic>
          <a:graphicData uri="http://schemas.openxmlformats.org/drawingml/2006/table">
            <a:tbl>
              <a:tblPr rtl="1" firstRow="1" bandRow="1">
                <a:tableStyleId>{073A0DAA-6AF3-43AB-8588-CEC1D06C72B9}</a:tableStyleId>
              </a:tblPr>
              <a:tblGrid>
                <a:gridCol w="4532651">
                  <a:extLst>
                    <a:ext uri="{9D8B030D-6E8A-4147-A177-3AD203B41FA5}">
                      <a16:colId xmlns:a16="http://schemas.microsoft.com/office/drawing/2014/main" val="2372866801"/>
                    </a:ext>
                  </a:extLst>
                </a:gridCol>
                <a:gridCol w="4324333">
                  <a:extLst>
                    <a:ext uri="{9D8B030D-6E8A-4147-A177-3AD203B41FA5}">
                      <a16:colId xmlns:a16="http://schemas.microsoft.com/office/drawing/2014/main" val="4027767805"/>
                    </a:ext>
                  </a:extLst>
                </a:gridCol>
              </a:tblGrid>
              <a:tr h="356483">
                <a:tc>
                  <a:txBody>
                    <a:bodyPr/>
                    <a:lstStyle/>
                    <a:p>
                      <a:pPr rtl="1">
                        <a:lnSpc>
                          <a:spcPct val="120000"/>
                        </a:lnSpc>
                      </a:pPr>
                      <a:r>
                        <a:rPr lang="ar" sz="1600">
                          <a:latin typeface="Sakkal Majalla" panose="02000000000000000000" pitchFamily="2" charset="-78"/>
                          <a:cs typeface="Sakkal Majalla" panose="02000000000000000000" pitchFamily="2" charset="-78"/>
                        </a:rPr>
                        <a:t>الفحص البصري</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السائل المتغلغل</a:t>
                      </a:r>
                    </a:p>
                  </a:txBody>
                  <a:tcPr/>
                </a:tc>
                <a:extLst>
                  <a:ext uri="{0D108BD9-81ED-4DB2-BD59-A6C34878D82A}">
                    <a16:rowId xmlns:a16="http://schemas.microsoft.com/office/drawing/2014/main" val="532041091"/>
                  </a:ext>
                </a:extLst>
              </a:tr>
              <a:tr h="1303681">
                <a:tc>
                  <a:txBody>
                    <a:bodyPr/>
                    <a:lstStyle/>
                    <a:p>
                      <a:pPr rtl="1">
                        <a:lnSpc>
                          <a:spcPct val="120000"/>
                        </a:lnSpc>
                      </a:pPr>
                      <a:r>
                        <a:rPr lang="ar" sz="1600">
                          <a:latin typeface="Sakkal Majalla" panose="02000000000000000000" pitchFamily="2" charset="-78"/>
                          <a:cs typeface="Sakkal Majalla" panose="02000000000000000000" pitchFamily="2" charset="-78"/>
                        </a:rPr>
                        <a:t>الفحص البصري طريقة أساسية تستخدم للكشف عن عيوب السطح في المواد المعدنية. ويتضمن فحصًا شاملًا لسطح المادة بحثًا عن أي علامات مرئية للتشققات أو التآكل أو غيرها من حالات الشذوذ.</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السائل المتغلغل تقنية تُستخدم للكشف عن عيوب السطح غير المرئية بالعين المجردة. ويتضمن رش صبغة ملونة على سطح المادة ثم إزالة الصبغة الزائدة. عند وجود أي عيوب، ستتسرب الصبغة إليها، ما يجعلها مرئية تحت ضوء الأشعة فوق البنفسجية.</a:t>
                      </a:r>
                    </a:p>
                  </a:txBody>
                  <a:tcPr/>
                </a:tc>
                <a:extLst>
                  <a:ext uri="{0D108BD9-81ED-4DB2-BD59-A6C34878D82A}">
                    <a16:rowId xmlns:a16="http://schemas.microsoft.com/office/drawing/2014/main" val="507577905"/>
                  </a:ext>
                </a:extLst>
              </a:tr>
            </a:tbl>
          </a:graphicData>
        </a:graphic>
      </p:graphicFrame>
      <p:sp>
        <p:nvSpPr>
          <p:cNvPr id="7" name="TextBox 6">
            <a:extLst>
              <a:ext uri="{FF2B5EF4-FFF2-40B4-BE49-F238E27FC236}">
                <a16:creationId xmlns:a16="http://schemas.microsoft.com/office/drawing/2014/main" id="{4EAAD676-0F08-4C0E-AACB-E5BA961BD4C1}"/>
              </a:ext>
            </a:extLst>
          </p:cNvPr>
          <p:cNvSpPr txBox="1"/>
          <p:nvPr/>
        </p:nvSpPr>
        <p:spPr>
          <a:xfrm>
            <a:off x="2246055" y="6408542"/>
            <a:ext cx="4579882"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تشقق السطح</a:t>
            </a:r>
          </a:p>
        </p:txBody>
      </p:sp>
      <p:pic>
        <p:nvPicPr>
          <p:cNvPr id="3" name="Picture 2">
            <a:extLst>
              <a:ext uri="{FF2B5EF4-FFF2-40B4-BE49-F238E27FC236}">
                <a16:creationId xmlns:a16="http://schemas.microsoft.com/office/drawing/2014/main" id="{BEE847E1-6945-52CF-654F-B5CA8D20EDF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347783" y="3734977"/>
            <a:ext cx="4068904" cy="2671414"/>
          </a:xfrm>
          <a:prstGeom prst="rect">
            <a:avLst/>
          </a:prstGeom>
        </p:spPr>
      </p:pic>
      <p:sp>
        <p:nvSpPr>
          <p:cNvPr id="4" name="Footer Placeholder 2">
            <a:extLst>
              <a:ext uri="{FF2B5EF4-FFF2-40B4-BE49-F238E27FC236}">
                <a16:creationId xmlns:a16="http://schemas.microsoft.com/office/drawing/2014/main" id="{7A127AEF-049A-AE8C-AF65-F9E144BFD55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474501594"/>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332656"/>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ب3: إجراءات الاختبار غير الإتلافي</a:t>
            </a: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4193767956"/>
              </p:ext>
            </p:extLst>
          </p:nvPr>
        </p:nvGraphicFramePr>
        <p:xfrm>
          <a:off x="230121" y="1155822"/>
          <a:ext cx="8683758" cy="1716381"/>
        </p:xfrm>
        <a:graphic>
          <a:graphicData uri="http://schemas.openxmlformats.org/drawingml/2006/table">
            <a:tbl>
              <a:tblPr rtl="1" firstRow="1" bandRow="1">
                <a:tableStyleId>{073A0DAA-6AF3-43AB-8588-CEC1D06C72B9}</a:tableStyleId>
              </a:tblPr>
              <a:tblGrid>
                <a:gridCol w="4341879">
                  <a:extLst>
                    <a:ext uri="{9D8B030D-6E8A-4147-A177-3AD203B41FA5}">
                      <a16:colId xmlns:a16="http://schemas.microsoft.com/office/drawing/2014/main" val="211301709"/>
                    </a:ext>
                  </a:extLst>
                </a:gridCol>
                <a:gridCol w="4341879">
                  <a:extLst>
                    <a:ext uri="{9D8B030D-6E8A-4147-A177-3AD203B41FA5}">
                      <a16:colId xmlns:a16="http://schemas.microsoft.com/office/drawing/2014/main" val="1342377231"/>
                    </a:ext>
                  </a:extLst>
                </a:gridCol>
              </a:tblGrid>
              <a:tr h="356645">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الجسيمات المغناطيسية</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الموجات فوق الصوتية</a:t>
                      </a:r>
                    </a:p>
                  </a:txBody>
                  <a:tcPr/>
                </a:tc>
                <a:extLst>
                  <a:ext uri="{0D108BD9-81ED-4DB2-BD59-A6C34878D82A}">
                    <a16:rowId xmlns:a16="http://schemas.microsoft.com/office/drawing/2014/main" val="532041091"/>
                  </a:ext>
                </a:extLst>
              </a:tr>
              <a:tr h="1332333">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الجسيمات المغناطيسية طريقة تُستخدم للكشف عن العيوب السطحية والقريبة من السطح في المواد المعدنية. ويتضمن تطبيق مجال مغناطيسي على المادة ثم فرد جزيئات الحديد على السطح. عند وجود أي عيوب، ستنجذب الجسيمات إليها، ما يجعلها مرئية.</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الاختبار بالموجات فوق الصوتية تقنية تُستخدم للكشف عن العيوب السطحية وتحت السطحية في المواد المعدنية. ويتضمن إرسال موجات صوتية عالية التردد عبر المادة وتحليل الموجات المنعكسة. ستؤدي أي عيوب في المادة إلى حدوث تغييرات في الموجات المنعكسة يمكن اكتشافها وتحليلها.</a:t>
                      </a:r>
                    </a:p>
                  </a:txBody>
                  <a:tcPr/>
                </a:tc>
                <a:extLst>
                  <a:ext uri="{0D108BD9-81ED-4DB2-BD59-A6C34878D82A}">
                    <a16:rowId xmlns:a16="http://schemas.microsoft.com/office/drawing/2014/main" val="507577905"/>
                  </a:ext>
                </a:extLst>
              </a:tr>
            </a:tbl>
          </a:graphicData>
        </a:graphic>
      </p:graphicFrame>
      <p:sp>
        <p:nvSpPr>
          <p:cNvPr id="8" name="TextBox 7">
            <a:extLst>
              <a:ext uri="{FF2B5EF4-FFF2-40B4-BE49-F238E27FC236}">
                <a16:creationId xmlns:a16="http://schemas.microsoft.com/office/drawing/2014/main" id="{9599692E-4B82-4951-AD7A-D355464F85A7}"/>
              </a:ext>
            </a:extLst>
          </p:cNvPr>
          <p:cNvSpPr txBox="1"/>
          <p:nvPr/>
        </p:nvSpPr>
        <p:spPr>
          <a:xfrm>
            <a:off x="2282059" y="6074235"/>
            <a:ext cx="4579882"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اختبار الجسيمات المغناطيسية </a:t>
            </a:r>
          </a:p>
        </p:txBody>
      </p:sp>
      <p:pic>
        <p:nvPicPr>
          <p:cNvPr id="3" name="Picture 2" descr="A person wearing a hard hat and gloves using a welding machine&#10;&#10;Description automatically generated">
            <a:extLst>
              <a:ext uri="{FF2B5EF4-FFF2-40B4-BE49-F238E27FC236}">
                <a16:creationId xmlns:a16="http://schemas.microsoft.com/office/drawing/2014/main" id="{1C490FE0-E40E-1F68-B845-D9BDEF718D4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621397" y="3655541"/>
            <a:ext cx="3662896" cy="2415453"/>
          </a:xfrm>
          <a:prstGeom prst="rect">
            <a:avLst/>
          </a:prstGeom>
        </p:spPr>
      </p:pic>
      <p:sp>
        <p:nvSpPr>
          <p:cNvPr id="4" name="Footer Placeholder 2">
            <a:extLst>
              <a:ext uri="{FF2B5EF4-FFF2-40B4-BE49-F238E27FC236}">
                <a16:creationId xmlns:a16="http://schemas.microsoft.com/office/drawing/2014/main" id="{48AA2DD4-1C96-2517-E24D-7B12EF3C4D8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983655430"/>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76161" y="29109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400" b="1">
                <a:latin typeface="Sakkal Majalla" panose="02000000000000000000" pitchFamily="2" charset="-78"/>
                <a:cs typeface="Sakkal Majalla" panose="02000000000000000000" pitchFamily="2" charset="-78"/>
              </a:rPr>
              <a:t>ب3: إجراءات الاختبار غير الإتلافي</a:t>
            </a:r>
          </a:p>
        </p:txBody>
      </p:sp>
      <p:graphicFrame>
        <p:nvGraphicFramePr>
          <p:cNvPr id="2" name="Table 3">
            <a:extLst>
              <a:ext uri="{FF2B5EF4-FFF2-40B4-BE49-F238E27FC236}">
                <a16:creationId xmlns:a16="http://schemas.microsoft.com/office/drawing/2014/main" id="{F52A60D1-56E7-4B56-B460-E1E966AB2ED5}"/>
              </a:ext>
            </a:extLst>
          </p:cNvPr>
          <p:cNvGraphicFramePr>
            <a:graphicFrameLocks noGrp="1"/>
          </p:cNvGraphicFramePr>
          <p:nvPr>
            <p:extLst>
              <p:ext uri="{D42A27DB-BD31-4B8C-83A1-F6EECF244321}">
                <p14:modId xmlns:p14="http://schemas.microsoft.com/office/powerpoint/2010/main" val="2684372104"/>
              </p:ext>
            </p:extLst>
          </p:nvPr>
        </p:nvGraphicFramePr>
        <p:xfrm>
          <a:off x="629294" y="2060848"/>
          <a:ext cx="7759130" cy="3166934"/>
        </p:xfrm>
        <a:graphic>
          <a:graphicData uri="http://schemas.openxmlformats.org/drawingml/2006/table">
            <a:tbl>
              <a:tblPr rtl="1" firstRow="1" bandRow="1">
                <a:tableStyleId>{073A0DAA-6AF3-43AB-8588-CEC1D06C72B9}</a:tableStyleId>
              </a:tblPr>
              <a:tblGrid>
                <a:gridCol w="2448050">
                  <a:extLst>
                    <a:ext uri="{9D8B030D-6E8A-4147-A177-3AD203B41FA5}">
                      <a16:colId xmlns:a16="http://schemas.microsoft.com/office/drawing/2014/main" val="2372866801"/>
                    </a:ext>
                  </a:extLst>
                </a:gridCol>
                <a:gridCol w="2456017">
                  <a:extLst>
                    <a:ext uri="{9D8B030D-6E8A-4147-A177-3AD203B41FA5}">
                      <a16:colId xmlns:a16="http://schemas.microsoft.com/office/drawing/2014/main" val="4027767805"/>
                    </a:ext>
                  </a:extLst>
                </a:gridCol>
                <a:gridCol w="2855063">
                  <a:extLst>
                    <a:ext uri="{9D8B030D-6E8A-4147-A177-3AD203B41FA5}">
                      <a16:colId xmlns:a16="http://schemas.microsoft.com/office/drawing/2014/main" val="211301709"/>
                    </a:ext>
                  </a:extLst>
                </a:gridCol>
              </a:tblGrid>
              <a:tr h="491129">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التصوير الإشعاعي</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التيار الدوامي</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إعداد تقرير الاختبار وعرض النتائج.</a:t>
                      </a:r>
                    </a:p>
                  </a:txBody>
                  <a:tcPr/>
                </a:tc>
                <a:extLst>
                  <a:ext uri="{0D108BD9-81ED-4DB2-BD59-A6C34878D82A}">
                    <a16:rowId xmlns:a16="http://schemas.microsoft.com/office/drawing/2014/main" val="532041091"/>
                  </a:ext>
                </a:extLst>
              </a:tr>
              <a:tr h="2675805">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التصوير الإشعاعي طريقة تُستخدم للكشف عن العيوب الداخلية في المواد المعدنية. ويتضمن تمرير الأشعة السينية أو أشعة جاما عبر المادة والتقاط الصورة الناتجة على فيلم أو كاشف رقمي. ستظهر أي عيوب في المادة في شكل بقع داكنة على الصورة.</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اختبار التيار الدوامي تقنية تُستخدم للكشف عن العيوب السطحية والقريبة من السطح في المواد المعدنية. ويتضمن تمرير تيار متناوب عبر ملف، ما يؤدي إلى إنشاء مجال كهرومغناطيسي. ستؤدي أي عيوب في المادة إلى حدوث تغييرات في المجال الكهرومغناطيسي يمكن اكتشافها وتحليلها.</a:t>
                      </a:r>
                    </a:p>
                  </a:txBody>
                  <a:tcPr/>
                </a:tc>
                <a:tc>
                  <a:txBody>
                    <a:bodyPr/>
                    <a:lstStyle/>
                    <a:p>
                      <a:pPr rtl="1">
                        <a:lnSpc>
                          <a:spcPct val="120000"/>
                        </a:lnSpc>
                      </a:pPr>
                      <a:r>
                        <a:rPr lang="ar" sz="1600">
                          <a:latin typeface="Sakkal Majalla" panose="02000000000000000000" pitchFamily="2" charset="-78"/>
                          <a:cs typeface="Sakkal Majalla" panose="02000000000000000000" pitchFamily="2" charset="-78"/>
                        </a:rPr>
                        <a:t>بعد إجراء الاختبارات غير الإتلافية، يجب إعداد تقرير بالنتائج وعرضها بدقة. يتضمن ذلك توثيق إجراءات الاختبار المستخدمة والمعدات المستخدمة وأي عيوب تبين وجودها وأي قياسات أو ملاحظات ذات صلة. يجب عرض النتائج بطريقة واضحة وموجزة، وذلك باستخدام المخططات أو الرسوم البيانية أو الصور المناسبة لتعزيز الفهم.</a:t>
                      </a:r>
                    </a:p>
                  </a:txBody>
                  <a:tcPr/>
                </a:tc>
                <a:extLst>
                  <a:ext uri="{0D108BD9-81ED-4DB2-BD59-A6C34878D82A}">
                    <a16:rowId xmlns:a16="http://schemas.microsoft.com/office/drawing/2014/main" val="507577905"/>
                  </a:ext>
                </a:extLst>
              </a:tr>
            </a:tbl>
          </a:graphicData>
        </a:graphic>
      </p:graphicFrame>
      <p:sp>
        <p:nvSpPr>
          <p:cNvPr id="3" name="Footer Placeholder 2">
            <a:extLst>
              <a:ext uri="{FF2B5EF4-FFF2-40B4-BE49-F238E27FC236}">
                <a16:creationId xmlns:a16="http://schemas.microsoft.com/office/drawing/2014/main" id="{92B2068E-507A-38CE-DC40-906CE5D7289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790188497"/>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A501D-EF5F-4B64-BCC2-14ECA0558675}"/>
              </a:ext>
            </a:extLst>
          </p:cNvPr>
          <p:cNvSpPr>
            <a:spLocks noGrp="1"/>
          </p:cNvSpPr>
          <p:nvPr>
            <p:ph type="title"/>
          </p:nvPr>
        </p:nvSpPr>
        <p:spPr>
          <a:xfrm>
            <a:off x="457200" y="1195388"/>
            <a:ext cx="8229600" cy="863600"/>
          </a:xfrm>
        </p:spPr>
        <p:txBody>
          <a:bodyPr rtlCol="1"/>
          <a:lstStyle/>
          <a:p>
            <a:pPr rtl="1"/>
            <a:r>
              <a:rPr lang="ar" sz="2800"/>
              <a:t>نتاج التعلم ج</a:t>
            </a:r>
          </a:p>
        </p:txBody>
      </p:sp>
      <p:sp>
        <p:nvSpPr>
          <p:cNvPr id="3" name="Content Placeholder 2">
            <a:extLst>
              <a:ext uri="{FF2B5EF4-FFF2-40B4-BE49-F238E27FC236}">
                <a16:creationId xmlns:a16="http://schemas.microsoft.com/office/drawing/2014/main" id="{D58EEC8B-AA6C-4AC9-AE52-15734DABC848}"/>
              </a:ext>
            </a:extLst>
          </p:cNvPr>
          <p:cNvSpPr>
            <a:spLocks noGrp="1"/>
          </p:cNvSpPr>
          <p:nvPr>
            <p:ph sz="half" idx="2"/>
          </p:nvPr>
        </p:nvSpPr>
        <p:spPr>
          <a:xfrm>
            <a:off x="468312" y="2195513"/>
            <a:ext cx="7991475" cy="3609975"/>
          </a:xfrm>
        </p:spPr>
        <p:txBody>
          <a:bodyPr rtlCol="1"/>
          <a:lstStyle/>
          <a:p>
            <a:pPr marL="0" indent="0" algn="ctr" rtl="1">
              <a:buNone/>
            </a:pPr>
            <a:endParaRPr lang="en-GB" sz="4000" b="1"/>
          </a:p>
          <a:p>
            <a:pPr marL="0" indent="0" algn="ctr" rtl="1">
              <a:buNone/>
            </a:pPr>
            <a:r>
              <a:rPr lang="ar" sz="4000" b="1"/>
              <a:t>استكشاف إخفاق المكونات المعدنية </a:t>
            </a:r>
            <a:br>
              <a:rPr lang="ar-EG" sz="4000" b="1"/>
            </a:br>
            <a:r>
              <a:rPr lang="ar" sz="4000" b="1"/>
              <a:t>في أثناء استخدامها ودراسة إدخال التحسينات على تصميمها</a:t>
            </a:r>
          </a:p>
          <a:p>
            <a:pPr rtl="1"/>
            <a:endParaRPr lang="en-GB" sz="2800"/>
          </a:p>
        </p:txBody>
      </p:sp>
      <p:sp>
        <p:nvSpPr>
          <p:cNvPr id="4" name="Footer Placeholder 2">
            <a:extLst>
              <a:ext uri="{FF2B5EF4-FFF2-40B4-BE49-F238E27FC236}">
                <a16:creationId xmlns:a16="http://schemas.microsoft.com/office/drawing/2014/main" id="{E5E26364-1A67-1F37-AEBB-829EA030B1B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618455539"/>
      </p:ext>
    </p:extLst>
  </p:cSld>
  <p:clrMapOvr>
    <a:masterClrMapping/>
  </p:clrMapOvr>
  <p:transition>
    <p:sndAc>
      <p:stSnd>
        <p:snd r:embed="rId2"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DB1E6-8A44-4D0B-89BC-954E8784F93C}"/>
              </a:ext>
            </a:extLst>
          </p:cNvPr>
          <p:cNvSpPr>
            <a:spLocks noGrp="1"/>
          </p:cNvSpPr>
          <p:nvPr>
            <p:ph type="title"/>
          </p:nvPr>
        </p:nvSpPr>
        <p:spPr>
          <a:xfrm>
            <a:off x="457200" y="1195388"/>
            <a:ext cx="8229600" cy="863600"/>
          </a:xfrm>
        </p:spPr>
        <p:txBody>
          <a:bodyPr rtlCol="1"/>
          <a:lstStyle/>
          <a:p>
            <a:pPr rtl="1"/>
            <a:br>
              <a:rPr lang="en-GB" sz="4000" b="1">
                <a:effectLst/>
              </a:rPr>
            </a:br>
            <a:r>
              <a:rPr lang="ar" sz="4000" b="1">
                <a:effectLst/>
              </a:rPr>
              <a:t>الإخفاق في أثناء الاستخدام</a:t>
            </a:r>
            <a:br>
              <a:rPr lang="en-GB" sz="4800" b="1"/>
            </a:br>
            <a:endParaRPr lang="en-GB" sz="4800"/>
          </a:p>
        </p:txBody>
      </p:sp>
      <p:sp>
        <p:nvSpPr>
          <p:cNvPr id="3" name="Content Placeholder 2">
            <a:extLst>
              <a:ext uri="{FF2B5EF4-FFF2-40B4-BE49-F238E27FC236}">
                <a16:creationId xmlns:a16="http://schemas.microsoft.com/office/drawing/2014/main" id="{AA40EF60-F931-4CF5-97D3-8FAF92F64D26}"/>
              </a:ext>
            </a:extLst>
          </p:cNvPr>
          <p:cNvSpPr>
            <a:spLocks noGrp="1"/>
          </p:cNvSpPr>
          <p:nvPr>
            <p:ph sz="half" idx="2"/>
          </p:nvPr>
        </p:nvSpPr>
        <p:spPr>
          <a:xfrm>
            <a:off x="468312" y="2195513"/>
            <a:ext cx="7991475" cy="3177703"/>
          </a:xfrm>
        </p:spPr>
        <p:txBody>
          <a:bodyPr rtlCol="1"/>
          <a:lstStyle/>
          <a:p>
            <a:pPr rtl="1">
              <a:buFont typeface="Arial" panose="020B0604020202020204" pitchFamily="34" charset="0"/>
              <a:buChar char="•"/>
            </a:pPr>
            <a:r>
              <a:rPr lang="ar" sz="2600">
                <a:effectLst/>
              </a:rPr>
              <a:t>يشير الإخفاق في أثناء الاستخدام إلى فشل المكونات المعدنية في أثناء استخدامها.</a:t>
            </a:r>
          </a:p>
          <a:p>
            <a:pPr rtl="1">
              <a:buFont typeface="Arial" panose="020B0604020202020204" pitchFamily="34" charset="0"/>
              <a:buChar char="•"/>
            </a:pPr>
            <a:r>
              <a:rPr lang="ar" sz="2600">
                <a:effectLst/>
              </a:rPr>
              <a:t>ويمكن حدوث ذلك بسبب عوامل مختلفة مثل الإجهاد الميكانيكي والظروف البيئية وخواص المواد.</a:t>
            </a:r>
          </a:p>
          <a:p>
            <a:pPr rtl="1">
              <a:buFont typeface="Arial" panose="020B0604020202020204" pitchFamily="34" charset="0"/>
              <a:buChar char="•"/>
            </a:pPr>
            <a:r>
              <a:rPr lang="ar" sz="2600">
                <a:effectLst/>
              </a:rPr>
              <a:t>يمكن أن يؤدي الإخفاق في أثناء الاستخدام إلى إصلاحات مكلفة ووقت تعطل ومخاطر محتملة تتعلق بالسلامة.</a:t>
            </a:r>
          </a:p>
          <a:p>
            <a:pPr rtl="1"/>
            <a:endParaRPr lang="en-GB" sz="2600"/>
          </a:p>
        </p:txBody>
      </p:sp>
      <p:sp>
        <p:nvSpPr>
          <p:cNvPr id="4" name="Footer Placeholder 2">
            <a:extLst>
              <a:ext uri="{FF2B5EF4-FFF2-40B4-BE49-F238E27FC236}">
                <a16:creationId xmlns:a16="http://schemas.microsoft.com/office/drawing/2014/main" id="{943C774D-A546-9DA6-FA36-4FF0D6965E6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2462301980"/>
      </p:ext>
    </p:extLst>
  </p:cSld>
  <p:clrMapOvr>
    <a:masterClrMapping/>
  </p:clrMapOvr>
  <p:transition>
    <p:sndAc>
      <p:stSnd>
        <p:snd r:embed="rId2"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F4BE6-F253-47FD-A1C5-B7851EE33C85}"/>
              </a:ext>
            </a:extLst>
          </p:cNvPr>
          <p:cNvSpPr>
            <a:spLocks noGrp="1"/>
          </p:cNvSpPr>
          <p:nvPr>
            <p:ph type="title"/>
          </p:nvPr>
        </p:nvSpPr>
        <p:spPr/>
        <p:txBody>
          <a:bodyPr rtlCol="1"/>
          <a:lstStyle/>
          <a:p>
            <a:pPr rtl="1"/>
            <a:br>
              <a:rPr lang="en-GB" sz="3800" b="1">
                <a:effectLst/>
              </a:rPr>
            </a:br>
            <a:r>
              <a:rPr lang="ar" sz="3800" b="1">
                <a:effectLst/>
              </a:rPr>
              <a:t>إدخال تحسينات على التصميم</a:t>
            </a:r>
            <a:br>
              <a:rPr lang="en-GB" sz="3800" b="1"/>
            </a:br>
            <a:endParaRPr lang="en-GB" sz="3800"/>
          </a:p>
        </p:txBody>
      </p:sp>
      <p:sp>
        <p:nvSpPr>
          <p:cNvPr id="3" name="Content Placeholder 2">
            <a:extLst>
              <a:ext uri="{FF2B5EF4-FFF2-40B4-BE49-F238E27FC236}">
                <a16:creationId xmlns:a16="http://schemas.microsoft.com/office/drawing/2014/main" id="{A27AEE32-FAC6-44B2-870F-0AA83BAD032A}"/>
              </a:ext>
            </a:extLst>
          </p:cNvPr>
          <p:cNvSpPr>
            <a:spLocks noGrp="1"/>
          </p:cNvSpPr>
          <p:nvPr>
            <p:ph sz="half" idx="2"/>
          </p:nvPr>
        </p:nvSpPr>
        <p:spPr/>
        <p:txBody>
          <a:bodyPr rtlCol="1"/>
          <a:lstStyle/>
          <a:p>
            <a:pPr marL="0" indent="0" rtl="1">
              <a:lnSpc>
                <a:spcPct val="110000"/>
              </a:lnSpc>
              <a:buNone/>
            </a:pPr>
            <a:r>
              <a:rPr lang="ar" sz="2000" spc="70">
                <a:effectLst/>
              </a:rPr>
              <a:t>يمكن أن تساعد تحسينات التصميم </a:t>
            </a:r>
            <a:r>
              <a:rPr lang="ar-EG" sz="2000" spc="70"/>
              <a:t>على</a:t>
            </a:r>
            <a:r>
              <a:rPr lang="ar" sz="2000" spc="70">
                <a:effectLst/>
              </a:rPr>
              <a:t> منع الإخفاق في أثناء الاستخدام وتحسين أداء وموثوقية المكونات المعدنية.</a:t>
            </a:r>
          </a:p>
          <a:p>
            <a:pPr marL="0" indent="0" rtl="1">
              <a:lnSpc>
                <a:spcPct val="110000"/>
              </a:lnSpc>
              <a:buNone/>
            </a:pPr>
            <a:endParaRPr lang="en-GB" sz="2000" b="1" spc="70">
              <a:effectLst/>
            </a:endParaRPr>
          </a:p>
          <a:p>
            <a:pPr marL="0" indent="0" rtl="1">
              <a:lnSpc>
                <a:spcPct val="110000"/>
              </a:lnSpc>
              <a:buNone/>
            </a:pPr>
            <a:r>
              <a:rPr lang="ar" sz="2000" b="1" spc="70">
                <a:effectLst/>
              </a:rPr>
              <a:t>وتتضمن بعض الاعتبارات الرئيسة لإدخال تحسينات على التصميم ما يأتي:</a:t>
            </a:r>
          </a:p>
          <a:p>
            <a:pPr rtl="1">
              <a:lnSpc>
                <a:spcPct val="110000"/>
              </a:lnSpc>
            </a:pPr>
            <a:r>
              <a:rPr lang="ar" sz="2000" spc="70">
                <a:effectLst/>
              </a:rPr>
              <a:t>اختيار المواد: اختيار المواد ذات الخواص الميكانيكية المناسبة والمقاومة للظروف البيئية.</a:t>
            </a:r>
          </a:p>
          <a:p>
            <a:pPr rtl="1">
              <a:lnSpc>
                <a:spcPct val="110000"/>
              </a:lnSpc>
            </a:pPr>
            <a:r>
              <a:rPr lang="ar" sz="2000" spc="70">
                <a:effectLst/>
              </a:rPr>
              <a:t>تحليل الإجهاد: إجراء تحليل الإجهاد لتحديد المناطق المحتملة للإجهاد العالي وتنفيذ تدابير للحد من تركيزات الإجهاد.</a:t>
            </a:r>
          </a:p>
          <a:p>
            <a:pPr rtl="1">
              <a:lnSpc>
                <a:spcPct val="110000"/>
              </a:lnSpc>
            </a:pPr>
            <a:r>
              <a:rPr lang="ar" sz="2000" spc="70">
                <a:effectLst/>
              </a:rPr>
              <a:t>معالجة الأسطح: تطبيق المعالجات السطحية مثل الطلاء أو المعالجات الحرارية لتعزيز المتانة ومقاومة التآكل للمكونات.</a:t>
            </a:r>
          </a:p>
          <a:p>
            <a:pPr rtl="1">
              <a:lnSpc>
                <a:spcPct val="110000"/>
              </a:lnSpc>
            </a:pPr>
            <a:endParaRPr lang="en-GB" sz="2000" spc="70"/>
          </a:p>
        </p:txBody>
      </p:sp>
      <p:sp>
        <p:nvSpPr>
          <p:cNvPr id="4" name="Footer Placeholder 2">
            <a:extLst>
              <a:ext uri="{FF2B5EF4-FFF2-40B4-BE49-F238E27FC236}">
                <a16:creationId xmlns:a16="http://schemas.microsoft.com/office/drawing/2014/main" id="{0A0C6344-9213-D664-0427-544F4D430D1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706745010"/>
      </p:ext>
    </p:extLst>
  </p:cSld>
  <p:clrMapOvr>
    <a:masterClrMapping/>
  </p:clrMapOvr>
  <p:transition>
    <p:sndAc>
      <p:stSnd>
        <p:snd r:embed="rId2"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210444"/>
            <a:ext cx="8861446" cy="14264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a:t>ج1 الكسر المطيل والقصيف</a:t>
            </a:r>
          </a:p>
          <a:p>
            <a:pPr marL="0" indent="0" rtl="1">
              <a:buNone/>
            </a:pPr>
            <a:endParaRPr lang="en-GB" sz="1800"/>
          </a:p>
          <a:p>
            <a:pPr marL="0" indent="0" rtl="1">
              <a:buNone/>
            </a:pPr>
            <a:r>
              <a:rPr lang="ar" sz="1800">
                <a:effectLst/>
              </a:rPr>
              <a:t>يعد الكسر المطيل والكسر القصيف نوعين مختلفين من أنماط الإخفاق في المواد المعدنية. يمكن أن يختلف سلوك المادة تحت الحمل اعتمادًا على عوامل مثل معدل التحميل وحجم الحبيبات ومظهر السطح.</a:t>
            </a:r>
          </a:p>
          <a:p>
            <a:pPr rtl="1"/>
            <a:endParaRPr lang="en-GB" sz="1800" b="1"/>
          </a:p>
          <a:p>
            <a:pPr rtl="1"/>
            <a:endParaRPr lang="en-GB" sz="18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38FE235F-3DE4-4596-B5EC-71FE391A0D47}"/>
              </a:ext>
            </a:extLst>
          </p:cNvPr>
          <p:cNvGraphicFramePr>
            <a:graphicFrameLocks noGrp="1"/>
          </p:cNvGraphicFramePr>
          <p:nvPr>
            <p:extLst>
              <p:ext uri="{D42A27DB-BD31-4B8C-83A1-F6EECF244321}">
                <p14:modId xmlns:p14="http://schemas.microsoft.com/office/powerpoint/2010/main" val="1332798230"/>
              </p:ext>
            </p:extLst>
          </p:nvPr>
        </p:nvGraphicFramePr>
        <p:xfrm>
          <a:off x="395536" y="2822271"/>
          <a:ext cx="8352928" cy="2129700"/>
        </p:xfrm>
        <a:graphic>
          <a:graphicData uri="http://schemas.openxmlformats.org/drawingml/2006/table">
            <a:tbl>
              <a:tblPr rtl="1" firstRow="1" bandRow="1">
                <a:tableStyleId>{21E4AEA4-8DFA-4A89-87EB-49C32662AFE0}</a:tableStyleId>
              </a:tblPr>
              <a:tblGrid>
                <a:gridCol w="2088232">
                  <a:extLst>
                    <a:ext uri="{9D8B030D-6E8A-4147-A177-3AD203B41FA5}">
                      <a16:colId xmlns:a16="http://schemas.microsoft.com/office/drawing/2014/main" val="3690284530"/>
                    </a:ext>
                  </a:extLst>
                </a:gridCol>
                <a:gridCol w="2088232">
                  <a:extLst>
                    <a:ext uri="{9D8B030D-6E8A-4147-A177-3AD203B41FA5}">
                      <a16:colId xmlns:a16="http://schemas.microsoft.com/office/drawing/2014/main" val="97956730"/>
                    </a:ext>
                  </a:extLst>
                </a:gridCol>
                <a:gridCol w="2088232">
                  <a:extLst>
                    <a:ext uri="{9D8B030D-6E8A-4147-A177-3AD203B41FA5}">
                      <a16:colId xmlns:a16="http://schemas.microsoft.com/office/drawing/2014/main" val="1179186813"/>
                    </a:ext>
                  </a:extLst>
                </a:gridCol>
                <a:gridCol w="2088232">
                  <a:extLst>
                    <a:ext uri="{9D8B030D-6E8A-4147-A177-3AD203B41FA5}">
                      <a16:colId xmlns:a16="http://schemas.microsoft.com/office/drawing/2014/main" val="4007602805"/>
                    </a:ext>
                  </a:extLst>
                </a:gridCol>
              </a:tblGrid>
              <a:tr h="1064850">
                <a:tc>
                  <a:txBody>
                    <a:bodyPr/>
                    <a:lstStyle/>
                    <a:p>
                      <a:pPr rtl="1"/>
                      <a:r>
                        <a:rPr lang="ar" sz="2000">
                          <a:latin typeface="Sakkal Majalla" panose="02000000000000000000" pitchFamily="2" charset="-78"/>
                          <a:cs typeface="Sakkal Majalla" panose="02000000000000000000" pitchFamily="2" charset="-78"/>
                        </a:rPr>
                        <a:t>1</a:t>
                      </a:r>
                    </a:p>
                  </a:txBody>
                  <a:tcPr/>
                </a:tc>
                <a:tc>
                  <a:txBody>
                    <a:bodyPr/>
                    <a:lstStyle/>
                    <a:p>
                      <a:pPr rtl="1"/>
                      <a:r>
                        <a:rPr lang="ar" sz="2000">
                          <a:latin typeface="Sakkal Majalla" panose="02000000000000000000" pitchFamily="2" charset="-78"/>
                          <a:cs typeface="Sakkal Majalla" panose="02000000000000000000" pitchFamily="2" charset="-78"/>
                        </a:rPr>
                        <a:t>2</a:t>
                      </a:r>
                    </a:p>
                  </a:txBody>
                  <a:tcPr/>
                </a:tc>
                <a:tc>
                  <a:txBody>
                    <a:bodyPr/>
                    <a:lstStyle/>
                    <a:p>
                      <a:pPr rtl="1"/>
                      <a:r>
                        <a:rPr lang="ar" sz="2000">
                          <a:latin typeface="Sakkal Majalla" panose="02000000000000000000" pitchFamily="2" charset="-78"/>
                          <a:cs typeface="Sakkal Majalla" panose="02000000000000000000" pitchFamily="2" charset="-78"/>
                        </a:rPr>
                        <a:t>3</a:t>
                      </a:r>
                    </a:p>
                  </a:txBody>
                  <a:tcPr/>
                </a:tc>
                <a:tc>
                  <a:txBody>
                    <a:bodyPr/>
                    <a:lstStyle/>
                    <a:p>
                      <a:pPr rtl="1"/>
                      <a:r>
                        <a:rPr lang="ar" sz="2000">
                          <a:latin typeface="Sakkal Majalla" panose="02000000000000000000" pitchFamily="2" charset="-78"/>
                          <a:cs typeface="Sakkal Majalla" panose="02000000000000000000" pitchFamily="2" charset="-78"/>
                        </a:rPr>
                        <a:t>4</a:t>
                      </a:r>
                    </a:p>
                  </a:txBody>
                  <a:tcPr/>
                </a:tc>
                <a:extLst>
                  <a:ext uri="{0D108BD9-81ED-4DB2-BD59-A6C34878D82A}">
                    <a16:rowId xmlns:a16="http://schemas.microsoft.com/office/drawing/2014/main" val="1596502439"/>
                  </a:ext>
                </a:extLst>
              </a:tr>
              <a:tr h="1064850">
                <a:tc>
                  <a:txBody>
                    <a:bodyPr/>
                    <a:lstStyle/>
                    <a:p>
                      <a:pPr rtl="1"/>
                      <a:r>
                        <a:rPr lang="ar" sz="2000">
                          <a:latin typeface="Sakkal Majalla" panose="02000000000000000000" pitchFamily="2" charset="-78"/>
                          <a:cs typeface="Sakkal Majalla" panose="02000000000000000000" pitchFamily="2" charset="-78"/>
                        </a:rPr>
                        <a:t>تحميل تدريجي</a:t>
                      </a:r>
                    </a:p>
                  </a:txBody>
                  <a:tcPr/>
                </a:tc>
                <a:tc>
                  <a:txBody>
                    <a:bodyPr/>
                    <a:lstStyle/>
                    <a:p>
                      <a:pPr rtl="1"/>
                      <a:r>
                        <a:rPr lang="ar" sz="2000">
                          <a:latin typeface="Sakkal Majalla" panose="02000000000000000000" pitchFamily="2" charset="-78"/>
                          <a:cs typeface="Sakkal Majalla" panose="02000000000000000000" pitchFamily="2" charset="-78"/>
                        </a:rPr>
                        <a:t>تحميل صدمي</a:t>
                      </a:r>
                    </a:p>
                  </a:txBody>
                  <a:tcPr/>
                </a:tc>
                <a:tc>
                  <a:txBody>
                    <a:bodyPr/>
                    <a:lstStyle/>
                    <a:p>
                      <a:pPr rtl="1"/>
                      <a:r>
                        <a:rPr lang="ar" sz="2000">
                          <a:latin typeface="Sakkal Majalla" panose="02000000000000000000" pitchFamily="2" charset="-78"/>
                          <a:cs typeface="Sakkal Majalla" panose="02000000000000000000" pitchFamily="2" charset="-78"/>
                        </a:rPr>
                        <a:t>حجم الحبيبات</a:t>
                      </a:r>
                    </a:p>
                  </a:txBody>
                  <a:tcPr/>
                </a:tc>
                <a:tc>
                  <a:txBody>
                    <a:bodyPr/>
                    <a:lstStyle/>
                    <a:p>
                      <a:pPr rtl="1"/>
                      <a:r>
                        <a:rPr lang="ar" sz="2000">
                          <a:latin typeface="Sakkal Majalla" panose="02000000000000000000" pitchFamily="2" charset="-78"/>
                          <a:cs typeface="Sakkal Majalla" panose="02000000000000000000" pitchFamily="2" charset="-78"/>
                        </a:rPr>
                        <a:t>مظهر السطح</a:t>
                      </a:r>
                    </a:p>
                  </a:txBody>
                  <a:tcPr/>
                </a:tc>
                <a:extLst>
                  <a:ext uri="{0D108BD9-81ED-4DB2-BD59-A6C34878D82A}">
                    <a16:rowId xmlns:a16="http://schemas.microsoft.com/office/drawing/2014/main" val="590119228"/>
                  </a:ext>
                </a:extLst>
              </a:tr>
            </a:tbl>
          </a:graphicData>
        </a:graphic>
      </p:graphicFrame>
      <p:sp>
        <p:nvSpPr>
          <p:cNvPr id="3" name="Footer Placeholder 2">
            <a:extLst>
              <a:ext uri="{FF2B5EF4-FFF2-40B4-BE49-F238E27FC236}">
                <a16:creationId xmlns:a16="http://schemas.microsoft.com/office/drawing/2014/main" id="{B49EEF82-D02D-374A-0D36-840ABCD1D26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4267187221"/>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210444"/>
            <a:ext cx="8861446" cy="10664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ج1 الكسر المطيل والقصيف</a:t>
            </a:r>
          </a:p>
          <a:p>
            <a:pPr marL="0" indent="0" rtl="1">
              <a:buNone/>
            </a:pPr>
            <a:r>
              <a:rPr lang="ar" sz="1600">
                <a:effectLst/>
              </a:rPr>
              <a:t>يعد الكسر المطيل والكسر القصيف نوعين مختلفين من أنماط الإخفاق في المواد المعدنية. يمكن أن يختلف سلوك المادة تحت الحمل اعتمادًا على عوامل مثل معدل التحميل وحجم الحبيبات ومظهر السطح.</a:t>
            </a:r>
          </a:p>
          <a:p>
            <a:pPr rtl="1"/>
            <a:endParaRPr lang="en-GB" sz="1800" b="1"/>
          </a:p>
          <a:p>
            <a:pPr rtl="1"/>
            <a:endParaRPr lang="en-GB" sz="18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38FE235F-3DE4-4596-B5EC-71FE391A0D47}"/>
              </a:ext>
            </a:extLst>
          </p:cNvPr>
          <p:cNvGraphicFramePr>
            <a:graphicFrameLocks noGrp="1"/>
          </p:cNvGraphicFramePr>
          <p:nvPr>
            <p:extLst>
              <p:ext uri="{D42A27DB-BD31-4B8C-83A1-F6EECF244321}">
                <p14:modId xmlns:p14="http://schemas.microsoft.com/office/powerpoint/2010/main" val="2952582014"/>
              </p:ext>
            </p:extLst>
          </p:nvPr>
        </p:nvGraphicFramePr>
        <p:xfrm>
          <a:off x="4365266" y="2268447"/>
          <a:ext cx="4504424" cy="4320480"/>
        </p:xfrm>
        <a:graphic>
          <a:graphicData uri="http://schemas.openxmlformats.org/drawingml/2006/table">
            <a:tbl>
              <a:tblPr rtl="1" firstRow="1" bandRow="1">
                <a:tableStyleId>{21E4AEA4-8DFA-4A89-87EB-49C32662AFE0}</a:tableStyleId>
              </a:tblPr>
              <a:tblGrid>
                <a:gridCol w="2252212">
                  <a:extLst>
                    <a:ext uri="{9D8B030D-6E8A-4147-A177-3AD203B41FA5}">
                      <a16:colId xmlns:a16="http://schemas.microsoft.com/office/drawing/2014/main" val="3690284530"/>
                    </a:ext>
                  </a:extLst>
                </a:gridCol>
                <a:gridCol w="2252212">
                  <a:extLst>
                    <a:ext uri="{9D8B030D-6E8A-4147-A177-3AD203B41FA5}">
                      <a16:colId xmlns:a16="http://schemas.microsoft.com/office/drawing/2014/main" val="97956730"/>
                    </a:ext>
                  </a:extLst>
                </a:gridCol>
              </a:tblGrid>
              <a:tr h="701209">
                <a:tc>
                  <a:txBody>
                    <a:bodyPr/>
                    <a:lstStyle/>
                    <a:p>
                      <a:pPr rtl="1">
                        <a:lnSpc>
                          <a:spcPct val="120000"/>
                        </a:lnSpc>
                      </a:pPr>
                      <a:r>
                        <a:rPr lang="ar" sz="1800">
                          <a:latin typeface="Sakkal Majalla" panose="02000000000000000000" pitchFamily="2" charset="-78"/>
                          <a:cs typeface="Sakkal Majalla" panose="02000000000000000000" pitchFamily="2" charset="-78"/>
                        </a:rPr>
                        <a:t>تحميل تدريجي</a:t>
                      </a:r>
                    </a:p>
                  </a:txBody>
                  <a:tcPr/>
                </a:tc>
                <a:tc>
                  <a:txBody>
                    <a:bodyPr/>
                    <a:lstStyle/>
                    <a:p>
                      <a:pPr rtl="1">
                        <a:lnSpc>
                          <a:spcPct val="120000"/>
                        </a:lnSpc>
                      </a:pPr>
                      <a:r>
                        <a:rPr lang="ar" sz="1800">
                          <a:latin typeface="Sakkal Majalla" panose="02000000000000000000" pitchFamily="2" charset="-78"/>
                          <a:cs typeface="Sakkal Majalla" panose="02000000000000000000" pitchFamily="2" charset="-78"/>
                        </a:rPr>
                        <a:t>تحميل صدمي</a:t>
                      </a:r>
                    </a:p>
                  </a:txBody>
                  <a:tcPr/>
                </a:tc>
                <a:extLst>
                  <a:ext uri="{0D108BD9-81ED-4DB2-BD59-A6C34878D82A}">
                    <a16:rowId xmlns:a16="http://schemas.microsoft.com/office/drawing/2014/main" val="1596502439"/>
                  </a:ext>
                </a:extLst>
              </a:tr>
              <a:tr h="3619271">
                <a:tc>
                  <a:txBody>
                    <a:bodyPr/>
                    <a:lstStyle/>
                    <a:p>
                      <a:pPr rtl="1">
                        <a:lnSpc>
                          <a:spcPct val="120000"/>
                        </a:lnSpc>
                      </a:pPr>
                      <a:r>
                        <a:rPr lang="ar" sz="1800">
                          <a:latin typeface="Sakkal Majalla" panose="02000000000000000000" pitchFamily="2" charset="-78"/>
                          <a:cs typeface="Sakkal Majalla" panose="02000000000000000000" pitchFamily="2" charset="-78"/>
                        </a:rPr>
                        <a:t>يشير التحميل التدريجي إلى تطبيق قوة أو ضغط متزايد ببطء على مادة ما. ويؤدي هذا النوع من التحميل عادةً إلى الكسر المطيل، حيث تتعرض المادة لتشوه لدائني كبير قبل الإخفاق.</a:t>
                      </a:r>
                    </a:p>
                  </a:txBody>
                  <a:tcPr/>
                </a:tc>
                <a:tc>
                  <a:txBody>
                    <a:bodyPr/>
                    <a:lstStyle/>
                    <a:p>
                      <a:pPr rtl="1">
                        <a:lnSpc>
                          <a:spcPct val="120000"/>
                        </a:lnSpc>
                      </a:pPr>
                      <a:r>
                        <a:rPr lang="ar" sz="1800">
                          <a:latin typeface="Sakkal Majalla" panose="02000000000000000000" pitchFamily="2" charset="-78"/>
                          <a:cs typeface="Sakkal Majalla" panose="02000000000000000000" pitchFamily="2" charset="-78"/>
                        </a:rPr>
                        <a:t>يتضمن التحميل الصدمي التطبيق المفاجئ لقوة عالية أو الضغط على مادة ما. وغالبًا ما يؤدي هذا النوع من التحميل إلى كسر قصيف، حيث تُخفق المادة دون تشوه لدائني كبير.</a:t>
                      </a:r>
                    </a:p>
                  </a:txBody>
                  <a:tcPr/>
                </a:tc>
                <a:extLst>
                  <a:ext uri="{0D108BD9-81ED-4DB2-BD59-A6C34878D82A}">
                    <a16:rowId xmlns:a16="http://schemas.microsoft.com/office/drawing/2014/main" val="590119228"/>
                  </a:ext>
                </a:extLst>
              </a:tr>
            </a:tbl>
          </a:graphicData>
        </a:graphic>
      </p:graphicFrame>
      <p:sp>
        <p:nvSpPr>
          <p:cNvPr id="8" name="TextBox 7">
            <a:extLst>
              <a:ext uri="{FF2B5EF4-FFF2-40B4-BE49-F238E27FC236}">
                <a16:creationId xmlns:a16="http://schemas.microsoft.com/office/drawing/2014/main" id="{D357B86C-90FF-4F46-B7C6-CE1C62004CCB}"/>
              </a:ext>
            </a:extLst>
          </p:cNvPr>
          <p:cNvSpPr txBox="1"/>
          <p:nvPr/>
        </p:nvSpPr>
        <p:spPr>
          <a:xfrm>
            <a:off x="1115616" y="5445224"/>
            <a:ext cx="2358116"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اختبار تحميل الخوازيق</a:t>
            </a:r>
          </a:p>
        </p:txBody>
      </p:sp>
      <p:pic>
        <p:nvPicPr>
          <p:cNvPr id="3" name="Picture 2" descr="A yellow structure in the dirt&#10;&#10;Description automatically generated">
            <a:extLst>
              <a:ext uri="{FF2B5EF4-FFF2-40B4-BE49-F238E27FC236}">
                <a16:creationId xmlns:a16="http://schemas.microsoft.com/office/drawing/2014/main" id="{1B55CB00-126D-5A4D-D92D-826FEED2DC45}"/>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76618" y="2736138"/>
            <a:ext cx="3442241" cy="2577268"/>
          </a:xfrm>
          <a:prstGeom prst="rect">
            <a:avLst/>
          </a:prstGeom>
        </p:spPr>
      </p:pic>
      <p:sp>
        <p:nvSpPr>
          <p:cNvPr id="4" name="Footer Placeholder 2">
            <a:extLst>
              <a:ext uri="{FF2B5EF4-FFF2-40B4-BE49-F238E27FC236}">
                <a16:creationId xmlns:a16="http://schemas.microsoft.com/office/drawing/2014/main" id="{C8D829B7-ED79-7675-C7E5-F74EFFBD4F0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502374636"/>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210444"/>
            <a:ext cx="8861446" cy="10664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a:t>ج1 الكسر المطيل والقصيف</a:t>
            </a:r>
          </a:p>
          <a:p>
            <a:pPr marL="0" indent="0" rtl="1">
              <a:buNone/>
            </a:pPr>
            <a:r>
              <a:rPr lang="ar" sz="1800">
                <a:effectLst/>
              </a:rPr>
              <a:t>يعد الكسر المطيل والكسر القصيف نوعين مختلفين من أنماط الإخفاق في المواد المعدنية. يمكن أن يختلف سلوك المادة تحت الحمل اعتمادًا على عوامل مثل معدل التحميل وحجم الحبيبات ومظهر السطح.</a:t>
            </a:r>
          </a:p>
          <a:p>
            <a:pPr rtl="1"/>
            <a:endParaRPr lang="en-GB" sz="1800" b="1"/>
          </a:p>
          <a:p>
            <a:pPr rtl="1"/>
            <a:endParaRPr lang="en-GB" sz="18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38FE235F-3DE4-4596-B5EC-71FE391A0D47}"/>
              </a:ext>
            </a:extLst>
          </p:cNvPr>
          <p:cNvGraphicFramePr>
            <a:graphicFrameLocks noGrp="1"/>
          </p:cNvGraphicFramePr>
          <p:nvPr>
            <p:extLst>
              <p:ext uri="{D42A27DB-BD31-4B8C-83A1-F6EECF244321}">
                <p14:modId xmlns:p14="http://schemas.microsoft.com/office/powerpoint/2010/main" val="3566894622"/>
              </p:ext>
            </p:extLst>
          </p:nvPr>
        </p:nvGraphicFramePr>
        <p:xfrm>
          <a:off x="4572000" y="2564904"/>
          <a:ext cx="4504424" cy="4032447"/>
        </p:xfrm>
        <a:graphic>
          <a:graphicData uri="http://schemas.openxmlformats.org/drawingml/2006/table">
            <a:tbl>
              <a:tblPr rtl="1" firstRow="1" bandRow="1">
                <a:tableStyleId>{21E4AEA4-8DFA-4A89-87EB-49C32662AFE0}</a:tableStyleId>
              </a:tblPr>
              <a:tblGrid>
                <a:gridCol w="2252212">
                  <a:extLst>
                    <a:ext uri="{9D8B030D-6E8A-4147-A177-3AD203B41FA5}">
                      <a16:colId xmlns:a16="http://schemas.microsoft.com/office/drawing/2014/main" val="1179186813"/>
                    </a:ext>
                  </a:extLst>
                </a:gridCol>
                <a:gridCol w="2252212">
                  <a:extLst>
                    <a:ext uri="{9D8B030D-6E8A-4147-A177-3AD203B41FA5}">
                      <a16:colId xmlns:a16="http://schemas.microsoft.com/office/drawing/2014/main" val="4007602805"/>
                    </a:ext>
                  </a:extLst>
                </a:gridCol>
              </a:tblGrid>
              <a:tr h="654462">
                <a:tc>
                  <a:txBody>
                    <a:bodyPr/>
                    <a:lstStyle/>
                    <a:p>
                      <a:pPr rtl="1"/>
                      <a:r>
                        <a:rPr lang="ar" sz="1800">
                          <a:latin typeface="Sakkal Majalla" panose="02000000000000000000" pitchFamily="2" charset="-78"/>
                          <a:cs typeface="Sakkal Majalla" panose="02000000000000000000" pitchFamily="2" charset="-78"/>
                        </a:rPr>
                        <a:t>حجم الحبيبات</a:t>
                      </a:r>
                    </a:p>
                  </a:txBody>
                  <a:tcPr/>
                </a:tc>
                <a:tc>
                  <a:txBody>
                    <a:bodyPr/>
                    <a:lstStyle/>
                    <a:p>
                      <a:pPr rtl="1"/>
                      <a:r>
                        <a:rPr lang="ar" sz="1800">
                          <a:latin typeface="Sakkal Majalla" panose="02000000000000000000" pitchFamily="2" charset="-78"/>
                          <a:cs typeface="Sakkal Majalla" panose="02000000000000000000" pitchFamily="2" charset="-78"/>
                        </a:rPr>
                        <a:t>مظهر السطح</a:t>
                      </a:r>
                    </a:p>
                  </a:txBody>
                  <a:tcPr/>
                </a:tc>
                <a:extLst>
                  <a:ext uri="{0D108BD9-81ED-4DB2-BD59-A6C34878D82A}">
                    <a16:rowId xmlns:a16="http://schemas.microsoft.com/office/drawing/2014/main" val="1596502439"/>
                  </a:ext>
                </a:extLst>
              </a:tr>
              <a:tr h="3377985">
                <a:tc>
                  <a:txBody>
                    <a:bodyPr/>
                    <a:lstStyle/>
                    <a:p>
                      <a:pPr rtl="1"/>
                      <a:r>
                        <a:rPr lang="ar" sz="1800">
                          <a:latin typeface="Sakkal Majalla" panose="02000000000000000000" pitchFamily="2" charset="-78"/>
                          <a:cs typeface="Sakkal Majalla" panose="02000000000000000000" pitchFamily="2" charset="-78"/>
                        </a:rPr>
                        <a:t>يمكن أن يؤثر حجم حبيبات المادة أيضًا في سلوك الكسر. تُظهر المواد ذات أحجام الحبيبات الصغيرة عمومًا ممطولية محسنة ومقاومة للكسر القصيف.</a:t>
                      </a:r>
                    </a:p>
                  </a:txBody>
                  <a:tcPr/>
                </a:tc>
                <a:tc>
                  <a:txBody>
                    <a:bodyPr/>
                    <a:lstStyle/>
                    <a:p>
                      <a:pPr rtl="1"/>
                      <a:r>
                        <a:rPr lang="ar" sz="1800">
                          <a:latin typeface="Sakkal Majalla" panose="02000000000000000000" pitchFamily="2" charset="-78"/>
                          <a:cs typeface="Sakkal Majalla" panose="02000000000000000000" pitchFamily="2" charset="-78"/>
                        </a:rPr>
                        <a:t>يمكن أن يدل مظهر سطح المادة على سلوك الكسر. وغالبًا ما يُظهر الكسر المطيل مظهرًا ليفيًا أو باهتًا، بينما قد يُظهر الكسر القصيف مظهرًا سلسًا أو بلوريًا.</a:t>
                      </a:r>
                    </a:p>
                  </a:txBody>
                  <a:tcPr/>
                </a:tc>
                <a:extLst>
                  <a:ext uri="{0D108BD9-81ED-4DB2-BD59-A6C34878D82A}">
                    <a16:rowId xmlns:a16="http://schemas.microsoft.com/office/drawing/2014/main" val="590119228"/>
                  </a:ext>
                </a:extLst>
              </a:tr>
            </a:tbl>
          </a:graphicData>
        </a:graphic>
      </p:graphicFrame>
      <p:sp>
        <p:nvSpPr>
          <p:cNvPr id="7" name="TextBox 6">
            <a:extLst>
              <a:ext uri="{FF2B5EF4-FFF2-40B4-BE49-F238E27FC236}">
                <a16:creationId xmlns:a16="http://schemas.microsoft.com/office/drawing/2014/main" id="{A03415D3-399A-4C5E-9E2B-4D99B8CCBDF3}"/>
              </a:ext>
            </a:extLst>
          </p:cNvPr>
          <p:cNvSpPr txBox="1"/>
          <p:nvPr/>
        </p:nvSpPr>
        <p:spPr>
          <a:xfrm>
            <a:off x="1043608" y="5661248"/>
            <a:ext cx="2485879"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ممطولية حجم الحبيبات</a:t>
            </a:r>
          </a:p>
        </p:txBody>
      </p:sp>
      <p:sp>
        <p:nvSpPr>
          <p:cNvPr id="3" name="Footer Placeholder 2">
            <a:extLst>
              <a:ext uri="{FF2B5EF4-FFF2-40B4-BE49-F238E27FC236}">
                <a16:creationId xmlns:a16="http://schemas.microsoft.com/office/drawing/2014/main" id="{A02DD67A-AED8-A44C-7781-1DA626D1332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pic>
        <p:nvPicPr>
          <p:cNvPr id="4" name="Picture 3" descr="A pile of small rocks&#10;&#10;Description automatically generated">
            <a:extLst>
              <a:ext uri="{FF2B5EF4-FFF2-40B4-BE49-F238E27FC236}">
                <a16:creationId xmlns:a16="http://schemas.microsoft.com/office/drawing/2014/main" id="{1FC1150B-E489-A124-0629-5AA9EF3B897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70703" y="3102033"/>
            <a:ext cx="3839422" cy="2551579"/>
          </a:xfrm>
          <a:prstGeom prst="rect">
            <a:avLst/>
          </a:prstGeom>
        </p:spPr>
      </p:pic>
    </p:spTree>
    <p:extLst>
      <p:ext uri="{BB962C8B-B14F-4D97-AF65-F5344CB8AC3E}">
        <p14:creationId xmlns:p14="http://schemas.microsoft.com/office/powerpoint/2010/main" val="3236911344"/>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4978" y="1210444"/>
            <a:ext cx="8861446" cy="106642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800" b="1"/>
              <a:t>ج3 الإخفاق بسبب الكلال</a:t>
            </a:r>
          </a:p>
          <a:p>
            <a:pPr marL="0" indent="0" rtl="1">
              <a:buNone/>
            </a:pPr>
            <a:r>
              <a:rPr lang="ar" sz="1800">
                <a:effectLst/>
              </a:rPr>
              <a:t>يتضمن الإخفاق بسبب الكلال استكشاف انتشار التشقق ونموه، وتركيزات الإجهاد الداخلي والخارجي، وتفاوت الإجهاد، ومنحنيات الإجهاد والتحمل (S/N). ويتضمن تحليل المظهر المميز لأسطح الكسر.</a:t>
            </a:r>
            <a:endParaRPr lang="en-GB" sz="1800" b="1"/>
          </a:p>
          <a:p>
            <a:pPr rtl="1"/>
            <a:endParaRPr lang="en-GB" sz="18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graphicFrame>
        <p:nvGraphicFramePr>
          <p:cNvPr id="2" name="Table 2">
            <a:extLst>
              <a:ext uri="{FF2B5EF4-FFF2-40B4-BE49-F238E27FC236}">
                <a16:creationId xmlns:a16="http://schemas.microsoft.com/office/drawing/2014/main" id="{38FE235F-3DE4-4596-B5EC-71FE391A0D47}"/>
              </a:ext>
            </a:extLst>
          </p:cNvPr>
          <p:cNvGraphicFramePr>
            <a:graphicFrameLocks noGrp="1"/>
          </p:cNvGraphicFramePr>
          <p:nvPr>
            <p:extLst>
              <p:ext uri="{D42A27DB-BD31-4B8C-83A1-F6EECF244321}">
                <p14:modId xmlns:p14="http://schemas.microsoft.com/office/powerpoint/2010/main" val="1034064631"/>
              </p:ext>
            </p:extLst>
          </p:nvPr>
        </p:nvGraphicFramePr>
        <p:xfrm>
          <a:off x="395534" y="2822271"/>
          <a:ext cx="8352930" cy="2129700"/>
        </p:xfrm>
        <a:graphic>
          <a:graphicData uri="http://schemas.openxmlformats.org/drawingml/2006/table">
            <a:tbl>
              <a:tblPr rtl="1" firstRow="1" bandRow="1">
                <a:tableStyleId>{21E4AEA4-8DFA-4A89-87EB-49C32662AFE0}</a:tableStyleId>
              </a:tblPr>
              <a:tblGrid>
                <a:gridCol w="1670586">
                  <a:extLst>
                    <a:ext uri="{9D8B030D-6E8A-4147-A177-3AD203B41FA5}">
                      <a16:colId xmlns:a16="http://schemas.microsoft.com/office/drawing/2014/main" val="3690284530"/>
                    </a:ext>
                  </a:extLst>
                </a:gridCol>
                <a:gridCol w="1785798">
                  <a:extLst>
                    <a:ext uri="{9D8B030D-6E8A-4147-A177-3AD203B41FA5}">
                      <a16:colId xmlns:a16="http://schemas.microsoft.com/office/drawing/2014/main" val="97956730"/>
                    </a:ext>
                  </a:extLst>
                </a:gridCol>
                <a:gridCol w="1555374">
                  <a:extLst>
                    <a:ext uri="{9D8B030D-6E8A-4147-A177-3AD203B41FA5}">
                      <a16:colId xmlns:a16="http://schemas.microsoft.com/office/drawing/2014/main" val="1179186813"/>
                    </a:ext>
                  </a:extLst>
                </a:gridCol>
                <a:gridCol w="1670586">
                  <a:extLst>
                    <a:ext uri="{9D8B030D-6E8A-4147-A177-3AD203B41FA5}">
                      <a16:colId xmlns:a16="http://schemas.microsoft.com/office/drawing/2014/main" val="4007602805"/>
                    </a:ext>
                  </a:extLst>
                </a:gridCol>
                <a:gridCol w="1670586">
                  <a:extLst>
                    <a:ext uri="{9D8B030D-6E8A-4147-A177-3AD203B41FA5}">
                      <a16:colId xmlns:a16="http://schemas.microsoft.com/office/drawing/2014/main" val="3889276366"/>
                    </a:ext>
                  </a:extLst>
                </a:gridCol>
              </a:tblGrid>
              <a:tr h="1064850">
                <a:tc>
                  <a:txBody>
                    <a:bodyPr/>
                    <a:lstStyle/>
                    <a:p>
                      <a:pPr rtl="1"/>
                      <a:r>
                        <a:rPr lang="ar" sz="2000">
                          <a:latin typeface="Sakkal Majalla" panose="02000000000000000000" pitchFamily="2" charset="-78"/>
                          <a:cs typeface="Sakkal Majalla" panose="02000000000000000000" pitchFamily="2" charset="-78"/>
                        </a:rPr>
                        <a:t>1</a:t>
                      </a:r>
                    </a:p>
                  </a:txBody>
                  <a:tcPr/>
                </a:tc>
                <a:tc>
                  <a:txBody>
                    <a:bodyPr/>
                    <a:lstStyle/>
                    <a:p>
                      <a:pPr rtl="1"/>
                      <a:r>
                        <a:rPr lang="ar" sz="2000">
                          <a:latin typeface="Sakkal Majalla" panose="02000000000000000000" pitchFamily="2" charset="-78"/>
                          <a:cs typeface="Sakkal Majalla" panose="02000000000000000000" pitchFamily="2" charset="-78"/>
                        </a:rPr>
                        <a:t>2</a:t>
                      </a:r>
                    </a:p>
                  </a:txBody>
                  <a:tcPr/>
                </a:tc>
                <a:tc>
                  <a:txBody>
                    <a:bodyPr/>
                    <a:lstStyle/>
                    <a:p>
                      <a:pPr rtl="1"/>
                      <a:r>
                        <a:rPr lang="ar" sz="2000">
                          <a:latin typeface="Sakkal Majalla" panose="02000000000000000000" pitchFamily="2" charset="-78"/>
                          <a:cs typeface="Sakkal Majalla" panose="02000000000000000000" pitchFamily="2" charset="-78"/>
                        </a:rPr>
                        <a:t>3</a:t>
                      </a:r>
                    </a:p>
                  </a:txBody>
                  <a:tcPr/>
                </a:tc>
                <a:tc>
                  <a:txBody>
                    <a:bodyPr/>
                    <a:lstStyle/>
                    <a:p>
                      <a:pPr rtl="1"/>
                      <a:r>
                        <a:rPr lang="ar" sz="2000">
                          <a:latin typeface="Sakkal Majalla" panose="02000000000000000000" pitchFamily="2" charset="-78"/>
                          <a:cs typeface="Sakkal Majalla" panose="02000000000000000000" pitchFamily="2" charset="-78"/>
                        </a:rPr>
                        <a:t>4</a:t>
                      </a:r>
                    </a:p>
                  </a:txBody>
                  <a:tcPr/>
                </a:tc>
                <a:tc>
                  <a:txBody>
                    <a:bodyPr/>
                    <a:lstStyle/>
                    <a:p>
                      <a:pPr rtl="1"/>
                      <a:r>
                        <a:rPr lang="ar" sz="2000">
                          <a:latin typeface="Sakkal Majalla" panose="02000000000000000000" pitchFamily="2" charset="-78"/>
                          <a:cs typeface="Sakkal Majalla" panose="02000000000000000000" pitchFamily="2" charset="-78"/>
                        </a:rPr>
                        <a:t>5</a:t>
                      </a:r>
                    </a:p>
                  </a:txBody>
                  <a:tcPr/>
                </a:tc>
                <a:extLst>
                  <a:ext uri="{0D108BD9-81ED-4DB2-BD59-A6C34878D82A}">
                    <a16:rowId xmlns:a16="http://schemas.microsoft.com/office/drawing/2014/main" val="1596502439"/>
                  </a:ext>
                </a:extLst>
              </a:tr>
              <a:tr h="1064850">
                <a:tc>
                  <a:txBody>
                    <a:bodyPr/>
                    <a:lstStyle/>
                    <a:p>
                      <a:pPr rtl="1"/>
                      <a:r>
                        <a:rPr lang="ar" sz="2000">
                          <a:latin typeface="Sakkal Majalla" panose="02000000000000000000" pitchFamily="2" charset="-78"/>
                          <a:cs typeface="Sakkal Majalla" panose="02000000000000000000" pitchFamily="2" charset="-78"/>
                        </a:rPr>
                        <a:t>انتشار التشقق</a:t>
                      </a:r>
                    </a:p>
                  </a:txBody>
                  <a:tcPr/>
                </a:tc>
                <a:tc>
                  <a:txBody>
                    <a:bodyPr/>
                    <a:lstStyle/>
                    <a:p>
                      <a:pPr rtl="1"/>
                      <a:r>
                        <a:rPr lang="ar" sz="2000">
                          <a:latin typeface="Sakkal Majalla" panose="02000000000000000000" pitchFamily="2" charset="-78"/>
                          <a:cs typeface="Sakkal Majalla" panose="02000000000000000000" pitchFamily="2" charset="-78"/>
                        </a:rPr>
                        <a:t>تركيزات الإجهاد الداخلي والخارجي</a:t>
                      </a:r>
                    </a:p>
                  </a:txBody>
                  <a:tcPr/>
                </a:tc>
                <a:tc>
                  <a:txBody>
                    <a:bodyPr/>
                    <a:lstStyle/>
                    <a:p>
                      <a:pPr rtl="1"/>
                      <a:r>
                        <a:rPr lang="ar" sz="2000">
                          <a:latin typeface="Sakkal Majalla" panose="02000000000000000000" pitchFamily="2" charset="-78"/>
                          <a:cs typeface="Sakkal Majalla" panose="02000000000000000000" pitchFamily="2" charset="-78"/>
                        </a:rPr>
                        <a:t>تفاوت الإجهاد</a:t>
                      </a:r>
                    </a:p>
                  </a:txBody>
                  <a:tcPr/>
                </a:tc>
                <a:tc>
                  <a:txBody>
                    <a:bodyPr/>
                    <a:lstStyle/>
                    <a:p>
                      <a:pPr rtl="1"/>
                      <a:r>
                        <a:rPr lang="ar" sz="2000">
                          <a:latin typeface="Sakkal Majalla" panose="02000000000000000000" pitchFamily="2" charset="-78"/>
                          <a:cs typeface="Sakkal Majalla" panose="02000000000000000000" pitchFamily="2" charset="-78"/>
                        </a:rPr>
                        <a:t>منحنيات الإجهاد والتحمل (S/N)</a:t>
                      </a:r>
                    </a:p>
                  </a:txBody>
                  <a:tcPr/>
                </a:tc>
                <a:tc>
                  <a:txBody>
                    <a:bodyPr/>
                    <a:lstStyle/>
                    <a:p>
                      <a:pPr rtl="1"/>
                      <a:r>
                        <a:rPr lang="ar" sz="2000">
                          <a:latin typeface="Sakkal Majalla" panose="02000000000000000000" pitchFamily="2" charset="-78"/>
                          <a:cs typeface="Sakkal Majalla" panose="02000000000000000000" pitchFamily="2" charset="-78"/>
                        </a:rPr>
                        <a:t>سطح الكسر</a:t>
                      </a:r>
                    </a:p>
                  </a:txBody>
                  <a:tcPr/>
                </a:tc>
                <a:extLst>
                  <a:ext uri="{0D108BD9-81ED-4DB2-BD59-A6C34878D82A}">
                    <a16:rowId xmlns:a16="http://schemas.microsoft.com/office/drawing/2014/main" val="590119228"/>
                  </a:ext>
                </a:extLst>
              </a:tr>
            </a:tbl>
          </a:graphicData>
        </a:graphic>
      </p:graphicFrame>
      <p:sp>
        <p:nvSpPr>
          <p:cNvPr id="3" name="Footer Placeholder 2">
            <a:extLst>
              <a:ext uri="{FF2B5EF4-FFF2-40B4-BE49-F238E27FC236}">
                <a16:creationId xmlns:a16="http://schemas.microsoft.com/office/drawing/2014/main" id="{10A49A55-14DF-4100-6623-E302408FFE3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932795327"/>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359564" y="1210444"/>
            <a:ext cx="4460908" cy="5314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10000"/>
              </a:lnSpc>
              <a:buNone/>
            </a:pPr>
            <a:endParaRPr lang="en-GB" sz="1400" b="1"/>
          </a:p>
          <a:p>
            <a:pPr marL="0" indent="0" rtl="1">
              <a:lnSpc>
                <a:spcPct val="110000"/>
              </a:lnSpc>
              <a:buNone/>
            </a:pPr>
            <a:r>
              <a:rPr lang="ar" sz="2800" b="1"/>
              <a:t>ج4 آليات التآكل</a:t>
            </a:r>
          </a:p>
          <a:p>
            <a:pPr marL="0" indent="0" rtl="1">
              <a:lnSpc>
                <a:spcPct val="110000"/>
              </a:lnSpc>
              <a:buNone/>
            </a:pPr>
            <a:endParaRPr lang="en-GB" sz="1400" b="1"/>
          </a:p>
          <a:p>
            <a:pPr marL="0" indent="0" rtl="1">
              <a:lnSpc>
                <a:spcPct val="110000"/>
              </a:lnSpc>
              <a:buNone/>
            </a:pPr>
            <a:endParaRPr lang="en-GB" sz="1400" b="1"/>
          </a:p>
          <a:p>
            <a:pPr marL="0" indent="0" rtl="1">
              <a:lnSpc>
                <a:spcPct val="110000"/>
              </a:lnSpc>
              <a:buNone/>
            </a:pPr>
            <a:r>
              <a:rPr lang="ar" sz="1800" b="1"/>
              <a:t>أساسيات التآكل الكيميائية</a:t>
            </a:r>
          </a:p>
          <a:p>
            <a:pPr rtl="1">
              <a:lnSpc>
                <a:spcPct val="110000"/>
              </a:lnSpc>
              <a:buFont typeface="Arial" panose="020B0604020202020204" pitchFamily="34" charset="0"/>
              <a:buChar char="•"/>
            </a:pPr>
            <a:r>
              <a:rPr lang="ar" sz="1800">
                <a:effectLst/>
              </a:rPr>
              <a:t>التآكل هو عملية كهروكيميائية تنطوي على تدهور المعادن بسبب التفاعلات الكيميائية مع البيئة.</a:t>
            </a:r>
          </a:p>
          <a:p>
            <a:pPr marL="0" indent="0" rtl="1">
              <a:lnSpc>
                <a:spcPct val="110000"/>
              </a:lnSpc>
              <a:buNone/>
            </a:pPr>
            <a:endParaRPr lang="en-GB" sz="1800">
              <a:effectLst/>
            </a:endParaRPr>
          </a:p>
          <a:p>
            <a:pPr marL="0" indent="0" rtl="1">
              <a:lnSpc>
                <a:spcPct val="110000"/>
              </a:lnSpc>
              <a:buNone/>
            </a:pPr>
            <a:r>
              <a:rPr lang="ar" sz="1800" b="1">
                <a:effectLst/>
              </a:rPr>
              <a:t>أنواع التآكل</a:t>
            </a:r>
            <a:endParaRPr lang="en-GB" sz="1800" b="1"/>
          </a:p>
          <a:p>
            <a:pPr rtl="1">
              <a:lnSpc>
                <a:spcPct val="110000"/>
              </a:lnSpc>
              <a:buFont typeface="Arial" panose="020B0604020202020204" pitchFamily="34" charset="0"/>
              <a:buChar char="•"/>
            </a:pPr>
            <a:r>
              <a:rPr lang="ar" sz="1800">
                <a:effectLst/>
              </a:rPr>
              <a:t>تآكل موحد: يحدث بشكل موحد عبر سطح المعدن بالكامل.</a:t>
            </a:r>
          </a:p>
          <a:p>
            <a:pPr rtl="1">
              <a:lnSpc>
                <a:spcPct val="110000"/>
              </a:lnSpc>
              <a:buFont typeface="Arial" panose="020B0604020202020204" pitchFamily="34" charset="0"/>
              <a:buChar char="•"/>
            </a:pPr>
            <a:r>
              <a:rPr lang="ar" sz="1800">
                <a:effectLst/>
              </a:rPr>
              <a:t>التآكل الجلفاني: يحدث عندما يتلامس معدنان مختلفان في وجود إلكتروليت.</a:t>
            </a:r>
          </a:p>
          <a:p>
            <a:pPr rtl="1">
              <a:lnSpc>
                <a:spcPct val="110000"/>
              </a:lnSpc>
              <a:buFont typeface="Arial" panose="020B0604020202020204" pitchFamily="34" charset="0"/>
              <a:buChar char="•"/>
            </a:pPr>
            <a:r>
              <a:rPr lang="ar" sz="1800">
                <a:effectLst/>
              </a:rPr>
              <a:t>تآكل التنقر: يحدث عندما تتعرض مناطق موضعية من السطح المعدني للهجوم، ما يؤدي إلى حدوث تنقر أو ثقوب.</a:t>
            </a:r>
          </a:p>
          <a:p>
            <a:pPr rtl="1">
              <a:lnSpc>
                <a:spcPct val="110000"/>
              </a:lnSpc>
            </a:pPr>
            <a:endParaRPr lang="en-GB" sz="18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1748F88F-3695-4B48-940D-296A7289D51F}"/>
              </a:ext>
            </a:extLst>
          </p:cNvPr>
          <p:cNvSpPr txBox="1"/>
          <p:nvPr/>
        </p:nvSpPr>
        <p:spPr>
          <a:xfrm>
            <a:off x="1227522" y="4581128"/>
            <a:ext cx="2227816"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تآكل المواد</a:t>
            </a:r>
          </a:p>
        </p:txBody>
      </p:sp>
      <p:pic>
        <p:nvPicPr>
          <p:cNvPr id="2" name="Picture 1">
            <a:extLst>
              <a:ext uri="{FF2B5EF4-FFF2-40B4-BE49-F238E27FC236}">
                <a16:creationId xmlns:a16="http://schemas.microsoft.com/office/drawing/2014/main" id="{E4805D7D-84EC-D818-C054-B1C5C27454B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88447" y="2102395"/>
            <a:ext cx="3521677" cy="2370768"/>
          </a:xfrm>
          <a:prstGeom prst="rect">
            <a:avLst/>
          </a:prstGeom>
        </p:spPr>
      </p:pic>
      <p:sp>
        <p:nvSpPr>
          <p:cNvPr id="3" name="Footer Placeholder 2">
            <a:extLst>
              <a:ext uri="{FF2B5EF4-FFF2-40B4-BE49-F238E27FC236}">
                <a16:creationId xmlns:a16="http://schemas.microsoft.com/office/drawing/2014/main" id="{8B949DC2-371D-B9E4-FA3D-E38FC54A651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929371560"/>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8E018-1125-4579-95B3-F2B98E1C4B4D}"/>
              </a:ext>
            </a:extLst>
          </p:cNvPr>
          <p:cNvSpPr>
            <a:spLocks noGrp="1"/>
          </p:cNvSpPr>
          <p:nvPr>
            <p:ph type="title"/>
          </p:nvPr>
        </p:nvSpPr>
        <p:spPr>
          <a:xfrm>
            <a:off x="457200" y="1195388"/>
            <a:ext cx="8229600" cy="863600"/>
          </a:xfrm>
        </p:spPr>
        <p:txBody>
          <a:bodyPr rtlCol="1"/>
          <a:lstStyle/>
          <a:p>
            <a:pPr rtl="1"/>
            <a:br>
              <a:rPr lang="en-GB" altLang="en-US" sz="4000" b="1"/>
            </a:br>
            <a:r>
              <a:rPr lang="ar" sz="4000" b="1"/>
              <a:t>ج4 آليات التآكل</a:t>
            </a:r>
            <a:br>
              <a:rPr lang="en-GB" altLang="en-US" sz="4800" b="1">
                <a:highlight>
                  <a:srgbClr val="FFFF00"/>
                </a:highlight>
              </a:rPr>
            </a:br>
            <a:endParaRPr lang="en-GB" sz="4800"/>
          </a:p>
        </p:txBody>
      </p:sp>
      <p:sp>
        <p:nvSpPr>
          <p:cNvPr id="3" name="Content Placeholder 2">
            <a:extLst>
              <a:ext uri="{FF2B5EF4-FFF2-40B4-BE49-F238E27FC236}">
                <a16:creationId xmlns:a16="http://schemas.microsoft.com/office/drawing/2014/main" id="{E2318E36-61C7-4F08-8140-B30F8382468E}"/>
              </a:ext>
            </a:extLst>
          </p:cNvPr>
          <p:cNvSpPr>
            <a:spLocks noGrp="1"/>
          </p:cNvSpPr>
          <p:nvPr>
            <p:ph sz="half" idx="2"/>
          </p:nvPr>
        </p:nvSpPr>
        <p:spPr>
          <a:xfrm>
            <a:off x="468312" y="2195513"/>
            <a:ext cx="7991475" cy="3609975"/>
          </a:xfrm>
        </p:spPr>
        <p:txBody>
          <a:bodyPr rtlCol="1"/>
          <a:lstStyle/>
          <a:p>
            <a:pPr marL="0" indent="0" rtl="1">
              <a:buNone/>
            </a:pPr>
            <a:r>
              <a:rPr lang="ar" sz="2600" b="1">
                <a:effectLst/>
              </a:rPr>
              <a:t>تعرُّف التآكل وأسبابه</a:t>
            </a:r>
            <a:endParaRPr lang="en-GB" sz="2600" b="1"/>
          </a:p>
          <a:p>
            <a:pPr rtl="1"/>
            <a:r>
              <a:rPr lang="ar" sz="2600">
                <a:effectLst/>
              </a:rPr>
              <a:t>يمكن تعرُّف التآكل من خلال وجود الصدأ أو تغير اللون أو التنقر على السطح المعدني.</a:t>
            </a:r>
          </a:p>
          <a:p>
            <a:pPr rtl="1"/>
            <a:r>
              <a:rPr lang="ar" sz="2600">
                <a:effectLst/>
              </a:rPr>
              <a:t>ويحدث التآكل بسبب عوامل مثل التعرض للرطوبة والأكسجين والأحماض والأملاح والمواد المسببة للتآكل الأخرى.</a:t>
            </a:r>
          </a:p>
          <a:p>
            <a:pPr rtl="1"/>
            <a:r>
              <a:rPr lang="ar" sz="2600">
                <a:effectLst/>
              </a:rPr>
              <a:t>ويمكن أن تؤدي الظروف البيئية ووجود الشوائب أيضًا إلى تسريع التآكل.</a:t>
            </a:r>
          </a:p>
          <a:p>
            <a:pPr rtl="1"/>
            <a:endParaRPr lang="en-GB" sz="2600"/>
          </a:p>
        </p:txBody>
      </p:sp>
      <p:sp>
        <p:nvSpPr>
          <p:cNvPr id="4" name="Footer Placeholder 2">
            <a:extLst>
              <a:ext uri="{FF2B5EF4-FFF2-40B4-BE49-F238E27FC236}">
                <a16:creationId xmlns:a16="http://schemas.microsoft.com/office/drawing/2014/main" id="{61F5AC33-727C-65FC-6342-286E14C57CF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764492078"/>
      </p:ext>
    </p:extLst>
  </p:cSld>
  <p:clrMapOvr>
    <a:masterClrMapping/>
  </p:clrMapOvr>
  <p:transition>
    <p:sndAc>
      <p:stSnd>
        <p:snd r:embed="rId2"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AC8A5-B384-4938-B88C-BAB34E6D4F8E}"/>
              </a:ext>
            </a:extLst>
          </p:cNvPr>
          <p:cNvSpPr>
            <a:spLocks noGrp="1"/>
          </p:cNvSpPr>
          <p:nvPr>
            <p:ph type="title"/>
          </p:nvPr>
        </p:nvSpPr>
        <p:spPr>
          <a:xfrm>
            <a:off x="468312" y="1484784"/>
            <a:ext cx="8229600" cy="863600"/>
          </a:xfrm>
        </p:spPr>
        <p:txBody>
          <a:bodyPr rtlCol="1"/>
          <a:lstStyle/>
          <a:p>
            <a:pPr rtl="1"/>
            <a:br>
              <a:rPr lang="en-GB" altLang="en-US" sz="4000" b="1"/>
            </a:br>
            <a:r>
              <a:rPr lang="ar" sz="4000" b="1"/>
              <a:t>ج5 اعتبارات التصميم للمساعدة </a:t>
            </a:r>
            <a:br>
              <a:rPr lang="ar-EG" sz="4000" b="1"/>
            </a:br>
            <a:r>
              <a:rPr lang="ar-EG" sz="4000" b="1"/>
              <a:t>على</a:t>
            </a:r>
            <a:r>
              <a:rPr lang="ar" sz="4000" b="1"/>
              <a:t> منع إخفاق المكونات</a:t>
            </a:r>
            <a:br>
              <a:rPr lang="en-GB" altLang="en-US" sz="4800" b="1">
                <a:highlight>
                  <a:srgbClr val="FFFF00"/>
                </a:highlight>
              </a:rPr>
            </a:br>
            <a:endParaRPr lang="en-GB" sz="4800"/>
          </a:p>
        </p:txBody>
      </p:sp>
      <p:sp>
        <p:nvSpPr>
          <p:cNvPr id="3" name="Content Placeholder 2">
            <a:extLst>
              <a:ext uri="{FF2B5EF4-FFF2-40B4-BE49-F238E27FC236}">
                <a16:creationId xmlns:a16="http://schemas.microsoft.com/office/drawing/2014/main" id="{0F7827A9-3D76-456F-8C2F-66357C14ED63}"/>
              </a:ext>
            </a:extLst>
          </p:cNvPr>
          <p:cNvSpPr>
            <a:spLocks noGrp="1"/>
          </p:cNvSpPr>
          <p:nvPr>
            <p:ph sz="half" idx="2"/>
          </p:nvPr>
        </p:nvSpPr>
        <p:spPr>
          <a:xfrm>
            <a:off x="468312" y="2924944"/>
            <a:ext cx="7991475" cy="3240360"/>
          </a:xfrm>
        </p:spPr>
        <p:txBody>
          <a:bodyPr rtlCol="1"/>
          <a:lstStyle/>
          <a:p>
            <a:pPr marL="0" indent="0" rtl="1">
              <a:lnSpc>
                <a:spcPct val="110000"/>
              </a:lnSpc>
              <a:buNone/>
            </a:pPr>
            <a:r>
              <a:rPr lang="ar" sz="1800" b="1">
                <a:effectLst/>
              </a:rPr>
              <a:t>بيئة التشغيل</a:t>
            </a:r>
            <a:endParaRPr lang="en-GB" sz="1800" b="1"/>
          </a:p>
          <a:p>
            <a:pPr rtl="1">
              <a:lnSpc>
                <a:spcPct val="110000"/>
              </a:lnSpc>
            </a:pPr>
            <a:r>
              <a:rPr lang="ar" sz="1800">
                <a:effectLst/>
              </a:rPr>
              <a:t>راعي درجة الحرارة والرطوبة ووجود المواد المسببة للتآكل في بيئة التشغيل. اختر المواد والتشطيبات المقاومة للظروف المحددة.</a:t>
            </a:r>
          </a:p>
          <a:p>
            <a:pPr marL="0" indent="0" rtl="1">
              <a:lnSpc>
                <a:spcPct val="110000"/>
              </a:lnSpc>
              <a:buNone/>
            </a:pPr>
            <a:r>
              <a:rPr lang="ar" sz="1800" b="1">
                <a:effectLst/>
              </a:rPr>
              <a:t>اختيار المواد</a:t>
            </a:r>
            <a:endParaRPr lang="en-GB" sz="1800" b="1"/>
          </a:p>
          <a:p>
            <a:pPr rtl="1">
              <a:lnSpc>
                <a:spcPct val="110000"/>
              </a:lnSpc>
            </a:pPr>
            <a:r>
              <a:rPr lang="ar" sz="1800">
                <a:effectLst/>
              </a:rPr>
              <a:t>حدد مادة تتمتع بالقوة والمتانة ومقاومة التآكل اللازمة للتطبيق. راعي توافق المواد مع المكونات الأخرى وقدرتها على تحمل ظروف التشغيل.</a:t>
            </a:r>
          </a:p>
          <a:p>
            <a:pPr marL="0" indent="0" rtl="1">
              <a:lnSpc>
                <a:spcPct val="110000"/>
              </a:lnSpc>
              <a:buNone/>
            </a:pPr>
            <a:r>
              <a:rPr lang="ar" sz="1800" b="1">
                <a:effectLst/>
              </a:rPr>
              <a:t>عناصر التصميم</a:t>
            </a:r>
            <a:endParaRPr lang="en-GB" sz="1800" b="1"/>
          </a:p>
          <a:p>
            <a:pPr rtl="1">
              <a:lnSpc>
                <a:spcPct val="110000"/>
              </a:lnSpc>
            </a:pPr>
            <a:r>
              <a:rPr lang="ar" sz="1800"/>
              <a:t>ادمج عناصر التصميم مثل زوايا الفيليه وأنصاف الأقطار والحواف المشطوفة لتقليل تركيزات الإجهاد. تجنب الزوايا الحادة والتغيرات المفاجئة في الهندسة التي يمكن أن تؤدي إلى تركيز الإجهاد والإخفاق</a:t>
            </a:r>
          </a:p>
          <a:p>
            <a:pPr rtl="1">
              <a:lnSpc>
                <a:spcPct val="110000"/>
              </a:lnSpc>
            </a:pPr>
            <a:endParaRPr lang="en-GB" sz="2800"/>
          </a:p>
        </p:txBody>
      </p:sp>
      <p:sp>
        <p:nvSpPr>
          <p:cNvPr id="4" name="Footer Placeholder 2">
            <a:extLst>
              <a:ext uri="{FF2B5EF4-FFF2-40B4-BE49-F238E27FC236}">
                <a16:creationId xmlns:a16="http://schemas.microsoft.com/office/drawing/2014/main" id="{30A5CFA2-4569-4742-6A19-B57E010B2E2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886452073"/>
      </p:ext>
    </p:extLst>
  </p:cSld>
  <p:clrMapOvr>
    <a:masterClrMapping/>
  </p:clrMapOvr>
  <p:transition>
    <p:sndAc>
      <p:stSnd>
        <p:snd r:embed="rId2"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16016" y="1169101"/>
            <a:ext cx="4155192" cy="528423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endParaRPr lang="en-GB" sz="1200" b="1">
              <a:effectLst/>
            </a:endParaRPr>
          </a:p>
          <a:p>
            <a:pPr marL="0" indent="0" rtl="1">
              <a:lnSpc>
                <a:spcPct val="120000"/>
              </a:lnSpc>
              <a:buNone/>
            </a:pPr>
            <a:r>
              <a:rPr lang="ar" sz="2000" b="1">
                <a:effectLst/>
              </a:rPr>
              <a:t>مواد عالية الجودة</a:t>
            </a:r>
            <a:endParaRPr lang="en-GB" sz="2000" b="1"/>
          </a:p>
          <a:p>
            <a:pPr rtl="1">
              <a:lnSpc>
                <a:spcPct val="120000"/>
              </a:lnSpc>
            </a:pPr>
            <a:r>
              <a:rPr lang="ar" sz="2000">
                <a:effectLst/>
              </a:rPr>
              <a:t>استخدم مواد عالية الجودة مع تفاوتات أكثر إحكامًا لضمان الأداء المتسق وتقليل مخاطر الإخفاق. نفِّذ اختبارًا شاملًا للمواد وراقب الجودة للتحقق من خواص المواد.</a:t>
            </a:r>
          </a:p>
          <a:p>
            <a:pPr rtl="1">
              <a:lnSpc>
                <a:spcPct val="120000"/>
              </a:lnSpc>
              <a:buFont typeface="Arial" panose="020B0604020202020204" pitchFamily="34" charset="0"/>
              <a:buChar char="•"/>
            </a:pPr>
            <a:endParaRPr lang="en-GB" sz="2000">
              <a:effectLst/>
            </a:endParaRPr>
          </a:p>
          <a:p>
            <a:pPr marL="0" indent="0" rtl="1">
              <a:lnSpc>
                <a:spcPct val="120000"/>
              </a:lnSpc>
              <a:buNone/>
            </a:pPr>
            <a:r>
              <a:rPr lang="ar" sz="2000" b="1">
                <a:effectLst/>
              </a:rPr>
              <a:t>المعالجة السطحية والتشطيبات</a:t>
            </a:r>
            <a:endParaRPr lang="en-GB" sz="2000" b="1"/>
          </a:p>
          <a:p>
            <a:pPr rtl="1">
              <a:lnSpc>
                <a:spcPct val="120000"/>
              </a:lnSpc>
            </a:pPr>
            <a:r>
              <a:rPr lang="ar" sz="2000">
                <a:effectLst/>
              </a:rPr>
              <a:t>طبِّق المعالجات والتشطيبات السطحية المناسبة لتعزيز مقاومة التآكل بالمواد. راعي الطلاءات والتصفيح والتدابير الوقائية الأخرى لمنع تدهور السطح والإخفاق.</a:t>
            </a:r>
          </a:p>
          <a:p>
            <a:pPr rtl="1">
              <a:lnSpc>
                <a:spcPct val="120000"/>
              </a:lnSpc>
            </a:pPr>
            <a:endParaRPr lang="en-GB" sz="16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endParaRPr lang="en-GB" altLang="en-US" sz="2400" b="1">
              <a:highlight>
                <a:srgbClr val="FFFF00"/>
              </a:highlight>
              <a:latin typeface="Sakkal Majalla" panose="02000000000000000000" pitchFamily="2" charset="-78"/>
              <a:cs typeface="Sakkal Majalla" panose="02000000000000000000" pitchFamily="2" charset="-78"/>
            </a:endParaRPr>
          </a:p>
        </p:txBody>
      </p:sp>
      <p:sp>
        <p:nvSpPr>
          <p:cNvPr id="6" name="TextBox 5">
            <a:extLst>
              <a:ext uri="{FF2B5EF4-FFF2-40B4-BE49-F238E27FC236}">
                <a16:creationId xmlns:a16="http://schemas.microsoft.com/office/drawing/2014/main" id="{BC64E1E5-6393-43A0-B6F9-8167B03CE938}"/>
              </a:ext>
            </a:extLst>
          </p:cNvPr>
          <p:cNvSpPr txBox="1"/>
          <p:nvPr/>
        </p:nvSpPr>
        <p:spPr>
          <a:xfrm>
            <a:off x="272792" y="5085184"/>
            <a:ext cx="4587240"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معالجة وجلفنة المعادن</a:t>
            </a:r>
          </a:p>
        </p:txBody>
      </p:sp>
      <p:sp>
        <p:nvSpPr>
          <p:cNvPr id="5" name="TextBox 4">
            <a:extLst>
              <a:ext uri="{FF2B5EF4-FFF2-40B4-BE49-F238E27FC236}">
                <a16:creationId xmlns:a16="http://schemas.microsoft.com/office/drawing/2014/main" id="{C2D66BB3-838E-89EA-D528-34585C4FB63D}"/>
              </a:ext>
            </a:extLst>
          </p:cNvPr>
          <p:cNvSpPr txBox="1"/>
          <p:nvPr/>
        </p:nvSpPr>
        <p:spPr>
          <a:xfrm>
            <a:off x="4366886" y="173086"/>
            <a:ext cx="4597602" cy="830997"/>
          </a:xfrm>
          <a:prstGeom prst="rect">
            <a:avLst/>
          </a:prstGeom>
          <a:noFill/>
        </p:spPr>
        <p:txBody>
          <a:bodyPr wrap="square" rtlCol="1">
            <a:spAutoFit/>
          </a:bodyPr>
          <a:lstStyle/>
          <a:p>
            <a:pPr marL="0" indent="0" rtl="1">
              <a:buNone/>
            </a:pPr>
            <a:r>
              <a:rPr lang="ar" sz="2400" b="1">
                <a:latin typeface="Sakkal Majalla" panose="02000000000000000000" pitchFamily="2" charset="-78"/>
                <a:cs typeface="Sakkal Majalla" panose="02000000000000000000" pitchFamily="2" charset="-78"/>
              </a:rPr>
              <a:t>ج5 اعتبارات التصميم للمساعدة </a:t>
            </a:r>
            <a:r>
              <a:rPr lang="ar-EG" sz="2400" b="1">
                <a:latin typeface="Sakkal Majalla" panose="02000000000000000000" pitchFamily="2" charset="-78"/>
                <a:cs typeface="Sakkal Majalla" panose="02000000000000000000" pitchFamily="2" charset="-78"/>
              </a:rPr>
              <a:t>على</a:t>
            </a:r>
            <a:r>
              <a:rPr lang="ar" sz="2400" b="1">
                <a:latin typeface="Sakkal Majalla" panose="02000000000000000000" pitchFamily="2" charset="-78"/>
                <a:cs typeface="Sakkal Majalla" panose="02000000000000000000" pitchFamily="2" charset="-78"/>
              </a:rPr>
              <a:t> منع إخفاق المكونات</a:t>
            </a:r>
            <a:endParaRPr lang="en-GB" sz="2400" b="1">
              <a:latin typeface="Sakkal Majalla" panose="02000000000000000000" pitchFamily="2" charset="-78"/>
              <a:cs typeface="Sakkal Majalla" panose="02000000000000000000" pitchFamily="2" charset="-78"/>
            </a:endParaRPr>
          </a:p>
        </p:txBody>
      </p:sp>
      <p:pic>
        <p:nvPicPr>
          <p:cNvPr id="2" name="Picture 1" descr="A group of metal objects in a room&#10;&#10;Description automatically generated">
            <a:extLst>
              <a:ext uri="{FF2B5EF4-FFF2-40B4-BE49-F238E27FC236}">
                <a16:creationId xmlns:a16="http://schemas.microsoft.com/office/drawing/2014/main" id="{62E532DC-1828-C835-FBCB-6183A32027B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88355" y="2163903"/>
            <a:ext cx="4183645" cy="2803808"/>
          </a:xfrm>
          <a:prstGeom prst="rect">
            <a:avLst/>
          </a:prstGeom>
        </p:spPr>
      </p:pic>
      <p:sp>
        <p:nvSpPr>
          <p:cNvPr id="3" name="Footer Placeholder 2">
            <a:extLst>
              <a:ext uri="{FF2B5EF4-FFF2-40B4-BE49-F238E27FC236}">
                <a16:creationId xmlns:a16="http://schemas.microsoft.com/office/drawing/2014/main" id="{8CE6F54A-13CD-063D-D7FA-C6E0B08F99B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878394071"/>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60748"/>
            <a:ext cx="9058872"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lnSpc>
                <a:spcPct val="120000"/>
              </a:lnSpc>
              <a:buNone/>
            </a:pPr>
            <a:r>
              <a:rPr lang="ar" sz="1600" b="1">
                <a:effectLst/>
              </a:rPr>
              <a:t>الخبرة في القطاع</a:t>
            </a:r>
            <a:endParaRPr lang="en-GB" sz="1600" b="1"/>
          </a:p>
          <a:p>
            <a:pPr rtl="1">
              <a:lnSpc>
                <a:spcPct val="120000"/>
              </a:lnSpc>
            </a:pPr>
            <a:r>
              <a:rPr lang="ar" sz="1600">
                <a:effectLst/>
              </a:rPr>
              <a:t>اكتساب خبرة عملية من خلال التدريب الداخلي أو الوظائف بدوام جزئي في القطاع.</a:t>
            </a:r>
          </a:p>
          <a:p>
            <a:pPr rtl="1">
              <a:lnSpc>
                <a:spcPct val="120000"/>
              </a:lnSpc>
            </a:pPr>
            <a:r>
              <a:rPr lang="ar" sz="1600">
                <a:effectLst/>
              </a:rPr>
              <a:t>تعُّرف الأدوات والمعدات والعمليات شائعة الاستخدام في هذا المجال.</a:t>
            </a:r>
          </a:p>
          <a:p>
            <a:pPr marL="0" indent="0" rtl="1">
              <a:lnSpc>
                <a:spcPct val="120000"/>
              </a:lnSpc>
              <a:buNone/>
            </a:pPr>
            <a:r>
              <a:rPr lang="ar" sz="1600" b="1">
                <a:effectLst/>
              </a:rPr>
              <a:t>المهارات الفنية</a:t>
            </a:r>
            <a:endParaRPr lang="en-GB" sz="1600" b="1"/>
          </a:p>
          <a:p>
            <a:pPr rtl="1">
              <a:lnSpc>
                <a:spcPct val="120000"/>
              </a:lnSpc>
            </a:pPr>
            <a:r>
              <a:rPr lang="ar" sz="1600">
                <a:effectLst/>
              </a:rPr>
              <a:t>اعمل على تطوير أساس قوي في المهارات الفنية مثل قراءة المخططات وإجراء الاختبارات واستكشاف الأخطاء وإصلاحها.</a:t>
            </a:r>
          </a:p>
          <a:p>
            <a:pPr rtl="1">
              <a:lnSpc>
                <a:spcPct val="120000"/>
              </a:lnSpc>
            </a:pPr>
            <a:r>
              <a:rPr lang="ar" sz="1600">
                <a:effectLst/>
              </a:rPr>
              <a:t>ابق على اطلاع بأحدث التطورات في التكنولوجيا وممارسات القطاع.</a:t>
            </a:r>
          </a:p>
          <a:p>
            <a:pPr marL="0" indent="0" rtl="1">
              <a:lnSpc>
                <a:spcPct val="120000"/>
              </a:lnSpc>
              <a:buNone/>
            </a:pPr>
            <a:r>
              <a:rPr lang="ar" sz="1600" b="1">
                <a:effectLst/>
              </a:rPr>
              <a:t>التواصل والعمل الجماعي</a:t>
            </a:r>
            <a:endParaRPr lang="en-GB" sz="1600" b="1"/>
          </a:p>
          <a:p>
            <a:pPr rtl="1">
              <a:lnSpc>
                <a:spcPct val="120000"/>
              </a:lnSpc>
            </a:pPr>
            <a:r>
              <a:rPr lang="ar" sz="1600">
                <a:effectLst/>
              </a:rPr>
              <a:t>عزز مهارات التواصل والعمل الجماعي من خلال المشاركة في المشاريع الجماعية والأنشطة التعاونية.</a:t>
            </a:r>
          </a:p>
          <a:p>
            <a:pPr rtl="1">
              <a:lnSpc>
                <a:spcPct val="120000"/>
              </a:lnSpc>
            </a:pPr>
            <a:r>
              <a:rPr lang="ar" sz="1600">
                <a:effectLst/>
              </a:rPr>
              <a:t>مارس الاستماع الفعال والتواصل الفعال للعمل بفعالية مع الزملاء والعملاء.</a:t>
            </a:r>
          </a:p>
          <a:p>
            <a:pPr rtl="1">
              <a:lnSpc>
                <a:spcPct val="120000"/>
              </a:lnSpc>
            </a:pPr>
            <a:endParaRPr lang="en-GB" sz="1800">
              <a:effectLst/>
            </a:endParaRP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351555" y="174494"/>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400" b="1">
                <a:latin typeface="Sakkal Majalla" panose="02000000000000000000" pitchFamily="2" charset="-78"/>
                <a:cs typeface="Sakkal Majalla" panose="02000000000000000000" pitchFamily="2" charset="-78"/>
              </a:rPr>
              <a:t>التحضير للتدريب/التدريب المهني أو الدور الفني</a:t>
            </a:r>
          </a:p>
        </p:txBody>
      </p:sp>
      <p:sp>
        <p:nvSpPr>
          <p:cNvPr id="6" name="TextBox 5">
            <a:extLst>
              <a:ext uri="{FF2B5EF4-FFF2-40B4-BE49-F238E27FC236}">
                <a16:creationId xmlns:a16="http://schemas.microsoft.com/office/drawing/2014/main" id="{D971AC0B-208B-4EC7-A66B-A70883A2F2C3}"/>
              </a:ext>
            </a:extLst>
          </p:cNvPr>
          <p:cNvSpPr txBox="1"/>
          <p:nvPr/>
        </p:nvSpPr>
        <p:spPr>
          <a:xfrm>
            <a:off x="3125280" y="6060421"/>
            <a:ext cx="2808312" cy="369332"/>
          </a:xfrm>
          <a:prstGeom prst="rect">
            <a:avLst/>
          </a:prstGeom>
          <a:noFill/>
        </p:spPr>
        <p:txBody>
          <a:bodyPr wrap="square" rtlCol="1">
            <a:spAutoFit/>
          </a:bodyPr>
          <a:lstStyle/>
          <a:p>
            <a:pPr algn="ctr" rtl="1"/>
            <a:r>
              <a:rPr lang="ar" b="1" i="0">
                <a:effectLst/>
                <a:latin typeface="Roboto" panose="02000000000000000000" pitchFamily="2" charset="0"/>
                <a:cs typeface="Sakkal Majalla" panose="02000000000000000000" pitchFamily="2" charset="-78"/>
              </a:rPr>
              <a:t>التدريب المهني الهندسي</a:t>
            </a:r>
          </a:p>
        </p:txBody>
      </p:sp>
      <p:pic>
        <p:nvPicPr>
          <p:cNvPr id="2" name="Picture 1">
            <a:extLst>
              <a:ext uri="{FF2B5EF4-FFF2-40B4-BE49-F238E27FC236}">
                <a16:creationId xmlns:a16="http://schemas.microsoft.com/office/drawing/2014/main" id="{ECA5AF1C-25D0-4976-BD8B-A99BDC60E46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336322" y="4395413"/>
            <a:ext cx="2480180" cy="1668288"/>
          </a:xfrm>
          <a:prstGeom prst="rect">
            <a:avLst/>
          </a:prstGeom>
        </p:spPr>
      </p:pic>
      <p:sp>
        <p:nvSpPr>
          <p:cNvPr id="3" name="Footer Placeholder 2">
            <a:extLst>
              <a:ext uri="{FF2B5EF4-FFF2-40B4-BE49-F238E27FC236}">
                <a16:creationId xmlns:a16="http://schemas.microsoft.com/office/drawing/2014/main" id="{817C603A-ADBF-199B-989C-13AB7B14E0A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885341039"/>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400" b="1">
                <a:latin typeface="Sakkal Majalla" panose="02000000000000000000" pitchFamily="2" charset="-78"/>
                <a:cs typeface="Sakkal Majalla" panose="02000000000000000000" pitchFamily="2" charset="-78"/>
              </a:rPr>
              <a:t>التحضير لدورات التعليم العالي</a:t>
            </a:r>
          </a:p>
        </p:txBody>
      </p:sp>
      <p:graphicFrame>
        <p:nvGraphicFramePr>
          <p:cNvPr id="3" name="Table 3">
            <a:extLst>
              <a:ext uri="{FF2B5EF4-FFF2-40B4-BE49-F238E27FC236}">
                <a16:creationId xmlns:a16="http://schemas.microsoft.com/office/drawing/2014/main" id="{7FB757FC-22F4-44E4-B0D0-34249DBE22B5}"/>
              </a:ext>
            </a:extLst>
          </p:cNvPr>
          <p:cNvGraphicFramePr>
            <a:graphicFrameLocks noGrp="1"/>
          </p:cNvGraphicFramePr>
          <p:nvPr>
            <p:extLst>
              <p:ext uri="{D42A27DB-BD31-4B8C-83A1-F6EECF244321}">
                <p14:modId xmlns:p14="http://schemas.microsoft.com/office/powerpoint/2010/main" val="3790260294"/>
              </p:ext>
            </p:extLst>
          </p:nvPr>
        </p:nvGraphicFramePr>
        <p:xfrm>
          <a:off x="4824028" y="2060848"/>
          <a:ext cx="4140460" cy="3515145"/>
        </p:xfrm>
        <a:graphic>
          <a:graphicData uri="http://schemas.openxmlformats.org/drawingml/2006/table">
            <a:tbl>
              <a:tblPr rtl="1" firstRow="1" bandRow="1">
                <a:tableStyleId>{073A0DAA-6AF3-43AB-8588-CEC1D06C72B9}</a:tableStyleId>
              </a:tblPr>
              <a:tblGrid>
                <a:gridCol w="2070230">
                  <a:extLst>
                    <a:ext uri="{9D8B030D-6E8A-4147-A177-3AD203B41FA5}">
                      <a16:colId xmlns:a16="http://schemas.microsoft.com/office/drawing/2014/main" val="2249892121"/>
                    </a:ext>
                  </a:extLst>
                </a:gridCol>
                <a:gridCol w="2070230">
                  <a:extLst>
                    <a:ext uri="{9D8B030D-6E8A-4147-A177-3AD203B41FA5}">
                      <a16:colId xmlns:a16="http://schemas.microsoft.com/office/drawing/2014/main" val="2269118357"/>
                    </a:ext>
                  </a:extLst>
                </a:gridCol>
              </a:tblGrid>
              <a:tr h="497625">
                <a:tc>
                  <a:txBody>
                    <a:bodyPr/>
                    <a:lstStyle/>
                    <a:p>
                      <a:pPr rtl="1">
                        <a:lnSpc>
                          <a:spcPct val="120000"/>
                        </a:lnSpc>
                      </a:pPr>
                      <a:r>
                        <a:rPr lang="ar" sz="2000">
                          <a:latin typeface="Sakkal Majalla" panose="02000000000000000000" pitchFamily="2" charset="-78"/>
                          <a:cs typeface="Sakkal Majalla" panose="02000000000000000000" pitchFamily="2" charset="-78"/>
                        </a:rPr>
                        <a:t>اختيار الدورة</a:t>
                      </a:r>
                    </a:p>
                  </a:txBody>
                  <a:tcPr/>
                </a:tc>
                <a:tc>
                  <a:txBody>
                    <a:bodyPr/>
                    <a:lstStyle/>
                    <a:p>
                      <a:pPr rtl="1">
                        <a:lnSpc>
                          <a:spcPct val="120000"/>
                        </a:lnSpc>
                      </a:pPr>
                      <a:r>
                        <a:rPr lang="ar" sz="2000">
                          <a:latin typeface="Sakkal Majalla" panose="02000000000000000000" pitchFamily="2" charset="-78"/>
                          <a:cs typeface="Sakkal Majalla" panose="02000000000000000000" pitchFamily="2" charset="-78"/>
                        </a:rPr>
                        <a:t>التحضير الأكاديمي</a:t>
                      </a:r>
                    </a:p>
                  </a:txBody>
                  <a:tcPr/>
                </a:tc>
                <a:extLst>
                  <a:ext uri="{0D108BD9-81ED-4DB2-BD59-A6C34878D82A}">
                    <a16:rowId xmlns:a16="http://schemas.microsoft.com/office/drawing/2014/main" val="2489671573"/>
                  </a:ext>
                </a:extLst>
              </a:tr>
              <a:tr h="2672079">
                <a:tc>
                  <a:txBody>
                    <a:bodyPr/>
                    <a:lstStyle/>
                    <a:p>
                      <a:pPr rtl="1">
                        <a:lnSpc>
                          <a:spcPct val="120000"/>
                        </a:lnSpc>
                      </a:pPr>
                      <a:r>
                        <a:rPr lang="ar" sz="2000">
                          <a:effectLst/>
                          <a:latin typeface="Sakkal Majalla" panose="02000000000000000000" pitchFamily="2" charset="-78"/>
                          <a:cs typeface="Sakkal Majalla" panose="02000000000000000000" pitchFamily="2" charset="-78"/>
                        </a:rPr>
                        <a:t>ابحث واستكشف دورات التعليم العالي المختلفة في التخصصات الهندسية.</a:t>
                      </a:r>
                    </a:p>
                    <a:p>
                      <a:pPr rtl="1">
                        <a:lnSpc>
                          <a:spcPct val="120000"/>
                        </a:lnSpc>
                      </a:pPr>
                      <a:r>
                        <a:rPr lang="ar" sz="2000">
                          <a:effectLst/>
                          <a:latin typeface="Sakkal Majalla" panose="02000000000000000000" pitchFamily="2" charset="-78"/>
                          <a:cs typeface="Sakkal Majalla" panose="02000000000000000000" pitchFamily="2" charset="-78"/>
                        </a:rPr>
                        <a:t>راعي المتطلبات المحددة والاشتراطات المسبقة لكل دورة.</a:t>
                      </a:r>
                    </a:p>
                    <a:p>
                      <a:pPr rtl="1">
                        <a:lnSpc>
                          <a:spcPct val="120000"/>
                        </a:lnSpc>
                      </a:pPr>
                      <a:endParaRPr lang="en-GB" sz="2000">
                        <a:latin typeface="Sakkal Majalla" panose="02000000000000000000" pitchFamily="2" charset="-78"/>
                        <a:cs typeface="Sakkal Majalla" panose="02000000000000000000" pitchFamily="2" charset="-78"/>
                      </a:endParaRPr>
                    </a:p>
                  </a:txBody>
                  <a:tcPr/>
                </a:tc>
                <a:tc>
                  <a:txBody>
                    <a:bodyPr/>
                    <a:lstStyle/>
                    <a:p>
                      <a:pPr rtl="1">
                        <a:lnSpc>
                          <a:spcPct val="120000"/>
                        </a:lnSpc>
                      </a:pPr>
                      <a:r>
                        <a:rPr lang="ar" sz="2000">
                          <a:effectLst/>
                          <a:latin typeface="Sakkal Majalla" panose="02000000000000000000" pitchFamily="2" charset="-78"/>
                          <a:cs typeface="Sakkal Majalla" panose="02000000000000000000" pitchFamily="2" charset="-78"/>
                        </a:rPr>
                        <a:t>التحق بدورات العلوم والرياضيات ذات الصلة في المدرسة الثانوية لبناء أساس قوي.</a:t>
                      </a:r>
                    </a:p>
                    <a:p>
                      <a:pPr rtl="1">
                        <a:lnSpc>
                          <a:spcPct val="120000"/>
                        </a:lnSpc>
                      </a:pPr>
                      <a:r>
                        <a:rPr lang="ar" sz="2000">
                          <a:effectLst/>
                          <a:latin typeface="Sakkal Majalla" panose="02000000000000000000" pitchFamily="2" charset="-78"/>
                          <a:cs typeface="Sakkal Majalla" panose="02000000000000000000" pitchFamily="2" charset="-78"/>
                        </a:rPr>
                        <a:t>ابحث عن موارد إضافية ودروس إذا لزم الأمر للتفوق في هذه المواد.</a:t>
                      </a:r>
                    </a:p>
                    <a:p>
                      <a:pPr rtl="1">
                        <a:lnSpc>
                          <a:spcPct val="120000"/>
                        </a:lnSpc>
                      </a:pPr>
                      <a:endParaRPr lang="en-GB" sz="200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674443895"/>
                  </a:ext>
                </a:extLst>
              </a:tr>
            </a:tbl>
          </a:graphicData>
        </a:graphic>
      </p:graphicFrame>
      <p:sp>
        <p:nvSpPr>
          <p:cNvPr id="8" name="TextBox 7">
            <a:extLst>
              <a:ext uri="{FF2B5EF4-FFF2-40B4-BE49-F238E27FC236}">
                <a16:creationId xmlns:a16="http://schemas.microsoft.com/office/drawing/2014/main" id="{F57B1CC4-5EB9-4CAC-B1D7-C030984A7671}"/>
              </a:ext>
            </a:extLst>
          </p:cNvPr>
          <p:cNvSpPr txBox="1"/>
          <p:nvPr/>
        </p:nvSpPr>
        <p:spPr>
          <a:xfrm>
            <a:off x="125760" y="4653136"/>
            <a:ext cx="4572000"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التعليم الجامعي والعالي</a:t>
            </a:r>
          </a:p>
        </p:txBody>
      </p:sp>
      <p:pic>
        <p:nvPicPr>
          <p:cNvPr id="2" name="Picture 1" descr="A graduation cap and diploma on a table&#10;&#10;Description automatically generated">
            <a:extLst>
              <a:ext uri="{FF2B5EF4-FFF2-40B4-BE49-F238E27FC236}">
                <a16:creationId xmlns:a16="http://schemas.microsoft.com/office/drawing/2014/main" id="{D54E9868-8A45-0A24-352C-EE116F724BFC}"/>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8402" y="2305176"/>
            <a:ext cx="3742333" cy="2238821"/>
          </a:xfrm>
          <a:prstGeom prst="rect">
            <a:avLst/>
          </a:prstGeom>
        </p:spPr>
      </p:pic>
      <p:sp>
        <p:nvSpPr>
          <p:cNvPr id="4" name="Footer Placeholder 2">
            <a:extLst>
              <a:ext uri="{FF2B5EF4-FFF2-40B4-BE49-F238E27FC236}">
                <a16:creationId xmlns:a16="http://schemas.microsoft.com/office/drawing/2014/main" id="{F01AADFE-ED4D-0EEB-E0AE-090530B4A71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3843397369"/>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55338" y="17345"/>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400" b="1">
                <a:latin typeface="Sakkal Majalla" panose="02000000000000000000" pitchFamily="2" charset="-78"/>
                <a:cs typeface="Sakkal Majalla" panose="02000000000000000000" pitchFamily="2" charset="-78"/>
              </a:rPr>
              <a:t>التحضير للعمل في القطاع</a:t>
            </a:r>
          </a:p>
        </p:txBody>
      </p:sp>
      <p:graphicFrame>
        <p:nvGraphicFramePr>
          <p:cNvPr id="3" name="Table 3">
            <a:extLst>
              <a:ext uri="{FF2B5EF4-FFF2-40B4-BE49-F238E27FC236}">
                <a16:creationId xmlns:a16="http://schemas.microsoft.com/office/drawing/2014/main" id="{7FB757FC-22F4-44E4-B0D0-34249DBE22B5}"/>
              </a:ext>
            </a:extLst>
          </p:cNvPr>
          <p:cNvGraphicFramePr>
            <a:graphicFrameLocks noGrp="1"/>
          </p:cNvGraphicFramePr>
          <p:nvPr>
            <p:extLst>
              <p:ext uri="{D42A27DB-BD31-4B8C-83A1-F6EECF244321}">
                <p14:modId xmlns:p14="http://schemas.microsoft.com/office/powerpoint/2010/main" val="3417947528"/>
              </p:ext>
            </p:extLst>
          </p:nvPr>
        </p:nvGraphicFramePr>
        <p:xfrm>
          <a:off x="4824028" y="1412776"/>
          <a:ext cx="4140460" cy="4046078"/>
        </p:xfrm>
        <a:graphic>
          <a:graphicData uri="http://schemas.openxmlformats.org/drawingml/2006/table">
            <a:tbl>
              <a:tblPr rtl="1" firstRow="1" bandRow="1">
                <a:tableStyleId>{073A0DAA-6AF3-43AB-8588-CEC1D06C72B9}</a:tableStyleId>
              </a:tblPr>
              <a:tblGrid>
                <a:gridCol w="2070230">
                  <a:extLst>
                    <a:ext uri="{9D8B030D-6E8A-4147-A177-3AD203B41FA5}">
                      <a16:colId xmlns:a16="http://schemas.microsoft.com/office/drawing/2014/main" val="3092643084"/>
                    </a:ext>
                  </a:extLst>
                </a:gridCol>
                <a:gridCol w="2070230">
                  <a:extLst>
                    <a:ext uri="{9D8B030D-6E8A-4147-A177-3AD203B41FA5}">
                      <a16:colId xmlns:a16="http://schemas.microsoft.com/office/drawing/2014/main" val="823222316"/>
                    </a:ext>
                  </a:extLst>
                </a:gridCol>
              </a:tblGrid>
              <a:tr h="573042">
                <a:tc>
                  <a:txBody>
                    <a:bodyPr/>
                    <a:lstStyle/>
                    <a:p>
                      <a:pPr rtl="1">
                        <a:lnSpc>
                          <a:spcPct val="120000"/>
                        </a:lnSpc>
                      </a:pPr>
                      <a:r>
                        <a:rPr lang="ar" sz="2000">
                          <a:latin typeface="Sakkal Majalla" panose="02000000000000000000" pitchFamily="2" charset="-78"/>
                          <a:cs typeface="Sakkal Majalla" panose="02000000000000000000" pitchFamily="2" charset="-78"/>
                        </a:rPr>
                        <a:t>الخبرة العملية</a:t>
                      </a:r>
                    </a:p>
                  </a:txBody>
                  <a:tcPr/>
                </a:tc>
                <a:tc>
                  <a:txBody>
                    <a:bodyPr/>
                    <a:lstStyle/>
                    <a:p>
                      <a:pPr rtl="1">
                        <a:lnSpc>
                          <a:spcPct val="120000"/>
                        </a:lnSpc>
                      </a:pPr>
                      <a:r>
                        <a:rPr lang="ar" sz="2000">
                          <a:latin typeface="Sakkal Majalla" panose="02000000000000000000" pitchFamily="2" charset="-78"/>
                          <a:cs typeface="Sakkal Majalla" panose="02000000000000000000" pitchFamily="2" charset="-78"/>
                        </a:rPr>
                        <a:t>التطوير الشخصي</a:t>
                      </a:r>
                    </a:p>
                  </a:txBody>
                  <a:tcPr/>
                </a:tc>
                <a:extLst>
                  <a:ext uri="{0D108BD9-81ED-4DB2-BD59-A6C34878D82A}">
                    <a16:rowId xmlns:a16="http://schemas.microsoft.com/office/drawing/2014/main" val="2489671573"/>
                  </a:ext>
                </a:extLst>
              </a:tr>
              <a:tr h="3473036">
                <a:tc>
                  <a:txBody>
                    <a:bodyPr/>
                    <a:lstStyle/>
                    <a:p>
                      <a:pPr rtl="1">
                        <a:lnSpc>
                          <a:spcPct val="120000"/>
                        </a:lnSpc>
                      </a:pPr>
                      <a:r>
                        <a:rPr lang="ar" sz="2000">
                          <a:effectLst/>
                          <a:latin typeface="Sakkal Majalla" panose="02000000000000000000" pitchFamily="2" charset="-78"/>
                          <a:cs typeface="Sakkal Majalla" panose="02000000000000000000" pitchFamily="2" charset="-78"/>
                        </a:rPr>
                        <a:t>ابحث عن التدريب الداخلي أو البرامج التعاونية أو التدريب المهني لاكتساب خبرة عملية في الهندسة.</a:t>
                      </a:r>
                    </a:p>
                    <a:p>
                      <a:pPr rtl="1">
                        <a:lnSpc>
                          <a:spcPct val="120000"/>
                        </a:lnSpc>
                      </a:pPr>
                      <a:r>
                        <a:rPr lang="ar" sz="2000">
                          <a:effectLst/>
                          <a:latin typeface="Sakkal Majalla" panose="02000000000000000000" pitchFamily="2" charset="-78"/>
                          <a:cs typeface="Sakkal Majalla" panose="02000000000000000000" pitchFamily="2" charset="-78"/>
                        </a:rPr>
                        <a:t>شارك في الأنشطة أو المشاريع اللامنهجية ذات الصلة لعرض مهاراتك.</a:t>
                      </a:r>
                    </a:p>
                    <a:p>
                      <a:pPr rtl="1">
                        <a:lnSpc>
                          <a:spcPct val="120000"/>
                        </a:lnSpc>
                      </a:pPr>
                      <a:endParaRPr lang="en-GB" sz="2000">
                        <a:latin typeface="Sakkal Majalla" panose="02000000000000000000" pitchFamily="2" charset="-78"/>
                        <a:cs typeface="Sakkal Majalla" panose="02000000000000000000" pitchFamily="2" charset="-78"/>
                      </a:endParaRPr>
                    </a:p>
                  </a:txBody>
                  <a:tcPr/>
                </a:tc>
                <a:tc>
                  <a:txBody>
                    <a:bodyPr/>
                    <a:lstStyle/>
                    <a:p>
                      <a:pPr rtl="1">
                        <a:lnSpc>
                          <a:spcPct val="120000"/>
                        </a:lnSpc>
                      </a:pPr>
                      <a:r>
                        <a:rPr lang="ar" sz="2000">
                          <a:effectLst/>
                          <a:latin typeface="Sakkal Majalla" panose="02000000000000000000" pitchFamily="2" charset="-78"/>
                          <a:cs typeface="Sakkal Majalla" panose="02000000000000000000" pitchFamily="2" charset="-78"/>
                        </a:rPr>
                        <a:t>طور مهارات التواصل والعمل الجماعي القوية من خلال المشاريع الجماعية أو التطوع.</a:t>
                      </a:r>
                    </a:p>
                    <a:p>
                      <a:pPr rtl="1">
                        <a:lnSpc>
                          <a:spcPct val="120000"/>
                        </a:lnSpc>
                      </a:pPr>
                      <a:r>
                        <a:rPr lang="ar" sz="2000">
                          <a:effectLst/>
                          <a:latin typeface="Sakkal Majalla" panose="02000000000000000000" pitchFamily="2" charset="-78"/>
                          <a:cs typeface="Sakkal Majalla" panose="02000000000000000000" pitchFamily="2" charset="-78"/>
                        </a:rPr>
                        <a:t>اعمل على تنمية قدرات حل المشكلات والتفكير الناقد من خلال المهام والمشاريع الصعبة.</a:t>
                      </a:r>
                    </a:p>
                    <a:p>
                      <a:pPr rtl="1">
                        <a:lnSpc>
                          <a:spcPct val="120000"/>
                        </a:lnSpc>
                      </a:pPr>
                      <a:endParaRPr lang="en-GB" sz="2000">
                        <a:latin typeface="Sakkal Majalla" panose="02000000000000000000" pitchFamily="2" charset="-78"/>
                        <a:cs typeface="Sakkal Majalla" panose="02000000000000000000" pitchFamily="2" charset="-78"/>
                      </a:endParaRPr>
                    </a:p>
                  </a:txBody>
                  <a:tcPr/>
                </a:tc>
                <a:extLst>
                  <a:ext uri="{0D108BD9-81ED-4DB2-BD59-A6C34878D82A}">
                    <a16:rowId xmlns:a16="http://schemas.microsoft.com/office/drawing/2014/main" val="3674443895"/>
                  </a:ext>
                </a:extLst>
              </a:tr>
            </a:tbl>
          </a:graphicData>
        </a:graphic>
      </p:graphicFrame>
      <p:sp>
        <p:nvSpPr>
          <p:cNvPr id="6" name="TextBox 5">
            <a:extLst>
              <a:ext uri="{FF2B5EF4-FFF2-40B4-BE49-F238E27FC236}">
                <a16:creationId xmlns:a16="http://schemas.microsoft.com/office/drawing/2014/main" id="{9BCDD52F-871D-4968-A835-47DF832231CB}"/>
              </a:ext>
            </a:extLst>
          </p:cNvPr>
          <p:cNvSpPr txBox="1"/>
          <p:nvPr/>
        </p:nvSpPr>
        <p:spPr>
          <a:xfrm>
            <a:off x="1326578" y="4653136"/>
            <a:ext cx="2309006" cy="400110"/>
          </a:xfrm>
          <a:prstGeom prst="rect">
            <a:avLst/>
          </a:prstGeom>
          <a:noFill/>
        </p:spPr>
        <p:txBody>
          <a:bodyPr wrap="square" rtlCol="1">
            <a:spAutoFit/>
          </a:bodyPr>
          <a:lstStyle/>
          <a:p>
            <a:pPr algn="ctr" rtl="1"/>
            <a:r>
              <a:rPr lang="ar" sz="2000" b="1" i="0">
                <a:effectLst/>
                <a:latin typeface="Roboto" panose="02000000000000000000" pitchFamily="2" charset="0"/>
                <a:cs typeface="Sakkal Majalla" panose="02000000000000000000" pitchFamily="2" charset="-78"/>
              </a:rPr>
              <a:t>الخبرة </a:t>
            </a:r>
            <a:r>
              <a:rPr lang="ar" sz="2000" b="1">
                <a:latin typeface="Roboto" panose="02000000000000000000" pitchFamily="2" charset="0"/>
                <a:cs typeface="Sakkal Majalla" panose="02000000000000000000" pitchFamily="2" charset="-78"/>
              </a:rPr>
              <a:t>في</a:t>
            </a:r>
            <a:r>
              <a:rPr lang="ar" sz="2000" b="1" i="0">
                <a:effectLst/>
                <a:latin typeface="Roboto" panose="02000000000000000000" pitchFamily="2" charset="0"/>
                <a:cs typeface="Sakkal Majalla" panose="02000000000000000000" pitchFamily="2" charset="-78"/>
              </a:rPr>
              <a:t> ال</a:t>
            </a:r>
            <a:r>
              <a:rPr lang="ar-EG" sz="2000" b="1" i="0">
                <a:effectLst/>
                <a:latin typeface="Roboto" panose="02000000000000000000" pitchFamily="2" charset="0"/>
                <a:cs typeface="Sakkal Majalla" panose="02000000000000000000" pitchFamily="2" charset="-78"/>
              </a:rPr>
              <a:t>مجال</a:t>
            </a:r>
            <a:endParaRPr lang="ar" sz="2000" b="1" i="0">
              <a:effectLst/>
              <a:latin typeface="Roboto" panose="02000000000000000000" pitchFamily="2" charset="0"/>
              <a:cs typeface="Sakkal Majalla" panose="02000000000000000000" pitchFamily="2" charset="-78"/>
            </a:endParaRPr>
          </a:p>
        </p:txBody>
      </p:sp>
      <p:pic>
        <p:nvPicPr>
          <p:cNvPr id="2" name="Picture 1">
            <a:extLst>
              <a:ext uri="{FF2B5EF4-FFF2-40B4-BE49-F238E27FC236}">
                <a16:creationId xmlns:a16="http://schemas.microsoft.com/office/drawing/2014/main" id="{D9F356E2-F941-00BB-2485-330EDA5198F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1359" y="2171197"/>
            <a:ext cx="3768811" cy="2480302"/>
          </a:xfrm>
          <a:prstGeom prst="rect">
            <a:avLst/>
          </a:prstGeom>
        </p:spPr>
      </p:pic>
      <p:sp>
        <p:nvSpPr>
          <p:cNvPr id="4" name="Footer Placeholder 2">
            <a:extLst>
              <a:ext uri="{FF2B5EF4-FFF2-40B4-BE49-F238E27FC236}">
                <a16:creationId xmlns:a16="http://schemas.microsoft.com/office/drawing/2014/main" id="{2BAC6C70-8477-B033-7AC0-6518F57039A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288918952"/>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800" kern="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2" y="2060849"/>
            <a:ext cx="7991475" cy="2952328"/>
          </a:xfrm>
          <a:prstGeom prst="rect">
            <a:avLst/>
          </a:prstGeom>
        </p:spPr>
        <p:txBody>
          <a:bodyPr lIns="91440" tIns="45720" rIns="91440" bIns="45720" rtlCol="1" anchor="t"/>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lnSpc>
                <a:spcPct val="107000"/>
              </a:lnSpc>
              <a:spcAft>
                <a:spcPts val="800"/>
              </a:spcAft>
              <a:buNone/>
            </a:pPr>
            <a:r>
              <a:rPr lang="ar" sz="2000" b="1">
                <a:effectLst/>
                <a:latin typeface="Sakkal Majalla" panose="02000000000000000000" pitchFamily="2" charset="-78"/>
                <a:ea typeface="Calibri" panose="020F0502020204030204" pitchFamily="34" charset="0"/>
                <a:cs typeface="Sakkal Majalla" panose="02000000000000000000" pitchFamily="2" charset="-78"/>
              </a:rPr>
              <a:t>الصور:</a:t>
            </a:r>
            <a:endParaRPr lang="en-GB" sz="2000">
              <a:effectLst/>
              <a:latin typeface="Sakkal Majalla" panose="02000000000000000000" pitchFamily="2" charset="-78"/>
              <a:ea typeface="Calibri" panose="020F0502020204030204" pitchFamily="34" charset="0"/>
              <a:cs typeface="Sakkal Majalla" panose="02000000000000000000" pitchFamily="2" charset="-78"/>
            </a:endParaRPr>
          </a:p>
          <a:p>
            <a:pPr rtl="1">
              <a:lnSpc>
                <a:spcPct val="120000"/>
              </a:lnSpc>
              <a:spcAft>
                <a:spcPts val="800"/>
              </a:spcAft>
            </a:pPr>
            <a:r>
              <a:rPr lang="ar" sz="2000" b="1">
                <a:effectLst/>
                <a:latin typeface="Sakkal Majalla" panose="02000000000000000000" pitchFamily="2" charset="-78"/>
                <a:ea typeface="Calibri" panose="020F0502020204030204" pitchFamily="34" charset="0"/>
                <a:cs typeface="Sakkal Majalla" panose="02000000000000000000" pitchFamily="2" charset="-78"/>
              </a:rPr>
              <a:t>123 آر إف: </a:t>
            </a:r>
            <a:r>
              <a:rPr lang="ar" sz="2000">
                <a:effectLst/>
                <a:latin typeface="Sakkal Majalla" panose="02000000000000000000" pitchFamily="2" charset="-78"/>
                <a:ea typeface="Calibri" panose="020F0502020204030204" pitchFamily="34" charset="0"/>
                <a:cs typeface="Sakkal Majalla" panose="02000000000000000000" pitchFamily="2" charset="-78"/>
              </a:rPr>
              <a:t>تشوتيما تشاوكايا (الشريحة 20)، ثاويساك ثيبفامون (شريحة 26)؛ </a:t>
            </a:r>
            <a:r>
              <a:rPr lang="ar" sz="2000" b="1">
                <a:effectLst/>
                <a:latin typeface="Sakkal Majalla" panose="02000000000000000000" pitchFamily="2" charset="-78"/>
                <a:ea typeface="Calibri" panose="020F0502020204030204" pitchFamily="34" charset="0"/>
                <a:cs typeface="Sakkal Majalla" panose="02000000000000000000" pitchFamily="2" charset="-78"/>
              </a:rPr>
              <a:t>شوترستوك: </a:t>
            </a:r>
            <a:r>
              <a:rPr lang="ar" sz="2000">
                <a:effectLst/>
                <a:latin typeface="Sakkal Majalla" panose="02000000000000000000" pitchFamily="2" charset="-78"/>
                <a:ea typeface="Calibri" panose="020F0502020204030204" pitchFamily="34" charset="0"/>
                <a:cs typeface="Sakkal Majalla" panose="02000000000000000000" pitchFamily="2" charset="-78"/>
              </a:rPr>
              <a:t>كيريل_ماكاروف (الشريحة 9)، أوليكسي مارك (الشريحة 11)، سيرج64 (الشريحة 14)، مسز_يا (الشريحة 19)، جوبو (الشريحة 21)، بينويست (الشريحة 24)، باتريك فوتو (الشريحة 25)، حسين وارايش (الشريحة 32)، </a:t>
            </a:r>
            <a:br>
              <a:rPr lang="en-US" sz="2000">
                <a:effectLst/>
                <a:latin typeface="Sakkal Majalla" panose="02000000000000000000" pitchFamily="2" charset="-78"/>
                <a:ea typeface="Calibri" panose="020F0502020204030204" pitchFamily="34" charset="0"/>
                <a:cs typeface="Sakkal Majalla" panose="02000000000000000000" pitchFamily="2" charset="-78"/>
              </a:rPr>
            </a:br>
            <a:r>
              <a:rPr lang="ar" sz="2000">
                <a:effectLst/>
                <a:latin typeface="Sakkal Majalla" panose="02000000000000000000" pitchFamily="2" charset="-78"/>
                <a:ea typeface="Calibri" panose="020F0502020204030204" pitchFamily="34" charset="0"/>
                <a:cs typeface="Sakkal Majalla" panose="02000000000000000000" pitchFamily="2" charset="-78"/>
              </a:rPr>
              <a:t>ماهي (الشريحة 33)، نوايلوب (الشريحة 35)، هوي هوان (الشريحة 38)، ثيراواتانا فارايش (الشريحة 32)، ماهي (الشريحة 33)، نوايلوب (الشريحة 35)، هوي هوان (الشريحة 38)، ثيراواتانا فارايش إيسالراتانا (الشريحة 39)، Rawpixel.com (الشريحة 40)، استوديو بارتي بيبول (الشريحة 41).</a:t>
            </a:r>
            <a:endParaRPr lang="en-GB" sz="2000">
              <a:effectLst/>
              <a:latin typeface="Sakkal Majalla" panose="02000000000000000000" pitchFamily="2" charset="-78"/>
              <a:ea typeface="Calibri" panose="020F0502020204030204" pitchFamily="34" charset="0"/>
              <a:cs typeface="Sakkal Majalla" panose="02000000000000000000" pitchFamily="2" charset="-78"/>
            </a:endParaRPr>
          </a:p>
        </p:txBody>
      </p:sp>
      <p:sp>
        <p:nvSpPr>
          <p:cNvPr id="2" name="Footer Placeholder 2">
            <a:extLst>
              <a:ext uri="{FF2B5EF4-FFF2-40B4-BE49-F238E27FC236}">
                <a16:creationId xmlns:a16="http://schemas.microsoft.com/office/drawing/2014/main" id="{F21CAD6D-4F7C-2177-14F4-B900604BAD9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A103000399239</a:t>
            </a:r>
            <a:endParaRPr lang="ar" sz="1000"/>
          </a:p>
        </p:txBody>
      </p:sp>
    </p:spTree>
    <p:extLst>
      <p:ext uri="{BB962C8B-B14F-4D97-AF65-F5344CB8AC3E}">
        <p14:creationId xmlns:p14="http://schemas.microsoft.com/office/powerpoint/2010/main" val="1784085695"/>
      </p:ext>
    </p:extLst>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700610-39F3-4A35-AAF4-C1E1359C0930}">
  <ds:schemaRefs>
    <ds:schemaRef ds:uri="6125ffc9-2c56-435e-8267-1393444907b2"/>
    <ds:schemaRef ds:uri="7c1bd8dc-4e40-424f-a15f-9ffcd522197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BD9CB8B-EB4B-408A-8C90-BA161E2DDAB3}"/>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42</Slides>
  <Notes>32</Notes>
  <HiddenSlides>0</HiddenSlides>
  <ScaleCrop>false</ScaleCrop>
  <HeadingPairs>
    <vt:vector size="4" baseType="variant">
      <vt:variant>
        <vt:lpstr>Theme</vt:lpstr>
      </vt:variant>
      <vt:variant>
        <vt:i4>10</vt:i4>
      </vt:variant>
      <vt:variant>
        <vt:lpstr>Slide Titles</vt:lpstr>
      </vt:variant>
      <vt:variant>
        <vt:i4>42</vt:i4>
      </vt:variant>
    </vt:vector>
  </HeadingPairs>
  <TitlesOfParts>
    <vt:vector size="52" baseType="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25 السلوك الميكانيكي  للمواد المعدنية</vt:lpstr>
      <vt:lpstr> مقدمة الوحدة </vt:lpstr>
      <vt:lpstr> محور الوحدة </vt:lpstr>
      <vt:lpstr>نتاجات التعلم</vt:lpstr>
      <vt:lpstr>نتاج التعلم أ  </vt:lpstr>
      <vt:lpstr>أ1: أنواع المعادن والخلائط الحديدية  </vt:lpstr>
      <vt:lpstr>أ2: أنواع المعادن والخلائط غير الحديدية  </vt:lpstr>
      <vt:lpstr>PowerPoint Presentation</vt:lpstr>
      <vt:lpstr>أ4: البنية الحبيبية للمواد المعدنية  </vt:lpstr>
      <vt:lpstr>PowerPoint Presentation</vt:lpstr>
      <vt:lpstr>PowerPoint Presentation</vt:lpstr>
      <vt:lpstr>أ5: آثار المعالجة في الخواص الميكانيكية للمواد المعدنية </vt:lpstr>
      <vt:lpstr>أ5: آثار المعالجة في الخواص الميكانيكية  للمواد المعدنية</vt:lpstr>
      <vt:lpstr>أ6: فحص البنية الدقيقة للمواد المعدنية</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ب2: إجراءات الاختبار الإتلافي</vt:lpstr>
      <vt:lpstr>PowerPoint Presentation</vt:lpstr>
      <vt:lpstr>PowerPoint Presentation</vt:lpstr>
      <vt:lpstr>PowerPoint Presentation</vt:lpstr>
      <vt:lpstr>PowerPoint Presentation</vt:lpstr>
      <vt:lpstr>PowerPoint Presentation</vt:lpstr>
      <vt:lpstr>نتاج التعلم ج</vt:lpstr>
      <vt:lpstr> الإخفاق في أثناء الاستخدام </vt:lpstr>
      <vt:lpstr> إدخال تحسينات على التصميم </vt:lpstr>
      <vt:lpstr>PowerPoint Presentation</vt:lpstr>
      <vt:lpstr>PowerPoint Presentation</vt:lpstr>
      <vt:lpstr>PowerPoint Presentation</vt:lpstr>
      <vt:lpstr>PowerPoint Presentation</vt:lpstr>
      <vt:lpstr>PowerPoint Presentation</vt:lpstr>
      <vt:lpstr> ج4 آليات التآكل </vt:lpstr>
      <vt:lpstr> ج5 اعتبارات التصميم للمساعدة  على منع إخفاق المكونات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revision>1</cp:revision>
  <dcterms:created xsi:type="dcterms:W3CDTF">2020-07-15T07:14:47Z</dcterms:created>
  <dcterms:modified xsi:type="dcterms:W3CDTF">2025-01-14T16:08:30Z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