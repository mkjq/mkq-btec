
<file path=[Content_Types].xml><?xml version="1.0" encoding="utf-8"?>
<Types xmlns="http://schemas.openxmlformats.org/package/2006/content-types">
  <Default Extension="bin" ContentType="audio/unknown"/>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6.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7.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8.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9.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0"/>
  </p:notesMasterIdLst>
  <p:sldIdLst>
    <p:sldId id="310" r:id="rId14"/>
    <p:sldId id="352" r:id="rId15"/>
    <p:sldId id="353" r:id="rId16"/>
    <p:sldId id="356" r:id="rId17"/>
    <p:sldId id="357" r:id="rId18"/>
    <p:sldId id="360" r:id="rId19"/>
    <p:sldId id="361" r:id="rId20"/>
    <p:sldId id="366" r:id="rId21"/>
    <p:sldId id="368" r:id="rId22"/>
    <p:sldId id="374" r:id="rId23"/>
    <p:sldId id="375" r:id="rId24"/>
    <p:sldId id="377" r:id="rId25"/>
    <p:sldId id="378" r:id="rId26"/>
    <p:sldId id="370" r:id="rId27"/>
    <p:sldId id="379" r:id="rId28"/>
    <p:sldId id="380" r:id="rId29"/>
    <p:sldId id="387" r:id="rId30"/>
    <p:sldId id="388" r:id="rId31"/>
    <p:sldId id="389" r:id="rId32"/>
    <p:sldId id="406" r:id="rId33"/>
    <p:sldId id="391" r:id="rId34"/>
    <p:sldId id="390" r:id="rId35"/>
    <p:sldId id="392" r:id="rId36"/>
    <p:sldId id="393" r:id="rId37"/>
    <p:sldId id="402" r:id="rId38"/>
    <p:sldId id="403" r:id="rId39"/>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58E3C0-2B8B-7838-2C01-6D5E36E62ED3}" name="Chris Morris" initials="CM" userId="0f7fae17f5f1d3c4"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25" autoAdjust="0"/>
    <p:restoredTop sz="94249" autoAdjust="0"/>
  </p:normalViewPr>
  <p:slideViewPr>
    <p:cSldViewPr>
      <p:cViewPr varScale="1">
        <p:scale>
          <a:sx n="162" d="100"/>
          <a:sy n="162" d="100"/>
        </p:scale>
        <p:origin x="1848" y="14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microsoft.com/office/2018/10/relationships/authors" Target="authors.xml"/><Relationship Id="rId20" Type="http://schemas.openxmlformats.org/officeDocument/2006/relationships/slide" Target="slides/slide7.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sz="1200"/>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image" Target="../media/image4.jpeg"/><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audio" Target="../media/audio1.bin"/></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5.jpe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5.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image" Target="../media/image6.jpeg"/><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theme" Target="../theme/theme6.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image" Target="../media/image7.jpeg"/><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1.xml"/><Relationship Id="rId13" Type="http://schemas.openxmlformats.org/officeDocument/2006/relationships/theme" Target="../theme/theme7.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slideLayout" Target="../slideLayouts/slideLayout85.xml"/><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5" Type="http://schemas.openxmlformats.org/officeDocument/2006/relationships/image" Target="../media/image8.jpeg"/><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theme" Target="../theme/theme8.xml"/><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2" Type="http://schemas.openxmlformats.org/officeDocument/2006/relationships/slideLayout" Target="../slideLayouts/slideLayout87.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5" Type="http://schemas.openxmlformats.org/officeDocument/2006/relationships/image" Target="../media/image9.jpeg"/><Relationship Id="rId10" Type="http://schemas.openxmlformats.org/officeDocument/2006/relationships/slideLayout" Target="../slideLayouts/slideLayout95.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theme" Target="../theme/theme9.xml"/><Relationship Id="rId3" Type="http://schemas.openxmlformats.org/officeDocument/2006/relationships/slideLayout" Target="../slideLayouts/slideLayout100.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2" Type="http://schemas.openxmlformats.org/officeDocument/2006/relationships/slideLayout" Target="../slideLayouts/slideLayout99.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5" Type="http://schemas.openxmlformats.org/officeDocument/2006/relationships/image" Target="../media/image10.jpeg"/><Relationship Id="rId10" Type="http://schemas.openxmlformats.org/officeDocument/2006/relationships/slideLayout" Target="../slideLayouts/slideLayout107.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theme" Target="../theme/theme10.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2" Type="http://schemas.openxmlformats.org/officeDocument/2006/relationships/slideLayout" Target="../slideLayouts/slideLayout111.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image" Target="../media/image11.jpeg"/><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2" name="Picture 8">
            <a:extLst>
              <a:ext uri="{FF2B5EF4-FFF2-40B4-BE49-F238E27FC236}">
                <a16:creationId xmlns:a16="http://schemas.microsoft.com/office/drawing/2014/main" id="{30BB5DA1-C837-EE31-3DDD-F2AF1E58F224}"/>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audio" Target="../media/audio1.bin"/><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bin"/><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audio" Target="../media/audio1.bin"/><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audio" Target="../media/audio1.bin"/><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audio" Target="../media/audio1.bin"/><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audio" Target="../media/audio1.bin"/><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audio" Target="../media/audio1.bin"/><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audio" Target="../media/audio1.bin"/><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audio" Target="../media/audio1.bin"/><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4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1.png"/><Relationship Id="rId4" Type="http://schemas.openxmlformats.org/officeDocument/2006/relationships/audio" Target="../media/audio1.bin"/></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audio" Target="../media/audio1.bin"/><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audio" Target="../media/audio1.bin"/><Relationship Id="rId1" Type="http://schemas.openxmlformats.org/officeDocument/2006/relationships/slideLayout" Target="../slideLayouts/slideLayout44.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44.xml"/></Relationships>
</file>

<file path=ppt/slides/_rels/slide2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44.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audio" Target="../media/audio1.bin"/><Relationship Id="rId1" Type="http://schemas.openxmlformats.org/officeDocument/2006/relationships/slideLayout" Target="../slideLayouts/slideLayout44.xml"/></Relationships>
</file>

<file path=ppt/slides/_rels/slide2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0012F91A-CE7E-F9D0-49A0-525DD2185BAB}"/>
              </a:ext>
            </a:extLst>
          </p:cNvPr>
          <p:cNvSpPr>
            <a:spLocks noGrp="1" noChangeArrowheads="1"/>
          </p:cNvSpPr>
          <p:nvPr>
            <p:ph type="title"/>
          </p:nvPr>
        </p:nvSpPr>
        <p:spPr bwMode="auto">
          <a:xfrm>
            <a:off x="457200" y="1628800"/>
            <a:ext cx="8229600" cy="86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latin typeface="Sakkal Majalla" panose="02000000000000000000" pitchFamily="2" charset="-78"/>
                <a:cs typeface="Sakkal Majalla" panose="02000000000000000000" pitchFamily="2" charset="-78"/>
              </a:rPr>
              <a:t>الوحدة 31</a:t>
            </a:r>
            <a:br>
              <a:rPr lang="en-GB" altLang="en-US" dirty="0">
                <a:latin typeface="Sakkal Majalla" panose="02000000000000000000" pitchFamily="2" charset="-78"/>
                <a:cs typeface="Sakkal Majalla" panose="02000000000000000000" pitchFamily="2" charset="-78"/>
              </a:rPr>
            </a:br>
            <a:br>
              <a:rPr lang="en-GB" altLang="en-US" dirty="0">
                <a:latin typeface="Sakkal Majalla" panose="02000000000000000000" pitchFamily="2" charset="-78"/>
                <a:cs typeface="Sakkal Majalla" panose="02000000000000000000" pitchFamily="2" charset="-78"/>
              </a:rPr>
            </a:br>
            <a:r>
              <a:rPr lang="ar" b="1" dirty="0">
                <a:latin typeface="Sakkal Majalla" panose="02000000000000000000" pitchFamily="2" charset="-78"/>
                <a:cs typeface="Sakkal Majalla" panose="02000000000000000000" pitchFamily="2" charset="-78"/>
              </a:rPr>
              <a:t>تقنيات صيانة المركبات </a:t>
            </a:r>
            <a:br>
              <a:rPr lang="en-US" altLang="en-US" dirty="0">
                <a:latin typeface="Sakkal Majalla" panose="02000000000000000000" pitchFamily="2" charset="-78"/>
                <a:cs typeface="Sakkal Majalla" panose="02000000000000000000" pitchFamily="2" charset="-78"/>
              </a:rPr>
            </a:br>
            <a:endParaRPr lang="en-GB" altLang="en-US"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E01DCC5-21AA-C4B0-6126-B08921D41FE2}"/>
              </a:ext>
            </a:extLst>
          </p:cNvPr>
          <p:cNvSpPr>
            <a:spLocks noGrp="1"/>
          </p:cNvSpPr>
          <p:nvPr>
            <p:ph type="ftr" sz="quarter" idx="10"/>
          </p:nvPr>
        </p:nvSpPr>
        <p:spPr>
          <a:xfrm>
            <a:off x="0" y="6459538"/>
            <a:ext cx="9144000" cy="287337"/>
          </a:xfrm>
        </p:spPr>
        <p:txBody>
          <a:bodyPr wrap="square" rtlCol="1" anchor="t">
            <a:normAutofit lnSpcReduction="10000"/>
          </a:bodyPr>
          <a:lstStyle/>
          <a:p>
            <a:pPr algn="ctr" rtl="1">
              <a:lnSpc>
                <a:spcPct val="90000"/>
              </a:lnSpc>
              <a:spcAft>
                <a:spcPts val="600"/>
              </a:spcAft>
              <a:defRPr/>
            </a:pPr>
            <a:r>
              <a:rPr lang="ar" sz="1400">
                <a:latin typeface="Sakkal Majalla" panose="02000000000000000000" pitchFamily="2" charset="-78"/>
                <a:cs typeface="Sakkal Majalla" panose="02000000000000000000" pitchFamily="2" charset="-78"/>
              </a:rPr>
              <a:t>© حقوق التأليف والنشر لعام 2023 محفوظة لشركة بيرسون إديوكيشن ليمتد </a:t>
            </a:r>
          </a:p>
        </p:txBody>
      </p:sp>
      <p:sp>
        <p:nvSpPr>
          <p:cNvPr id="3" name="Footer Placeholder 2">
            <a:extLst>
              <a:ext uri="{FF2B5EF4-FFF2-40B4-BE49-F238E27FC236}">
                <a16:creationId xmlns:a16="http://schemas.microsoft.com/office/drawing/2014/main" id="{E8B7E5E0-A2B0-E530-292C-BCFD20B94B9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76040-2988-6CA6-BBF4-499FF37898CD}"/>
              </a:ext>
            </a:extLst>
          </p:cNvPr>
          <p:cNvSpPr>
            <a:spLocks noGrp="1"/>
          </p:cNvSpPr>
          <p:nvPr>
            <p:ph type="title"/>
          </p:nvPr>
        </p:nvSpPr>
        <p:spPr>
          <a:xfrm>
            <a:off x="457200" y="1484880"/>
            <a:ext cx="8229600" cy="864000"/>
          </a:xfrm>
        </p:spPr>
        <p:txBody>
          <a:bodyPr rtlCol="1"/>
          <a:lstStyle/>
          <a:p>
            <a:pPr rtl="1"/>
            <a:r>
              <a:rPr lang="ar">
                <a:latin typeface="Sakkal Majalla" panose="02000000000000000000" pitchFamily="2" charset="-78"/>
                <a:cs typeface="Sakkal Majalla" panose="02000000000000000000" pitchFamily="2" charset="-78"/>
              </a:rPr>
              <a:t>تقنيات صيانة المركبات</a:t>
            </a:r>
          </a:p>
        </p:txBody>
      </p:sp>
      <p:sp>
        <p:nvSpPr>
          <p:cNvPr id="3" name="Content Placeholder 2">
            <a:extLst>
              <a:ext uri="{FF2B5EF4-FFF2-40B4-BE49-F238E27FC236}">
                <a16:creationId xmlns:a16="http://schemas.microsoft.com/office/drawing/2014/main" id="{EED39FFE-C7F9-FD1A-7658-812B652AC08D}"/>
              </a:ext>
            </a:extLst>
          </p:cNvPr>
          <p:cNvSpPr>
            <a:spLocks noGrp="1"/>
          </p:cNvSpPr>
          <p:nvPr>
            <p:ph idx="1"/>
          </p:nvPr>
        </p:nvSpPr>
        <p:spPr>
          <a:xfrm>
            <a:off x="514050" y="2701777"/>
            <a:ext cx="8207375" cy="3319511"/>
          </a:xfrm>
        </p:spPr>
        <p:txBody>
          <a:bodyPr rtlCol="1"/>
          <a:lstStyle/>
          <a:p>
            <a:pPr rtl="1"/>
            <a:r>
              <a:rPr lang="ar">
                <a:latin typeface="Sakkal Majalla" panose="02000000000000000000" pitchFamily="2" charset="-78"/>
                <a:cs typeface="Sakkal Majalla" panose="02000000000000000000" pitchFamily="2" charset="-78"/>
              </a:rPr>
              <a:t>ستحقق خلال هذه الوحدة في البيانات والمعلومات المطلوبة لإجراءات فحص المركبات وصيانتها. </a:t>
            </a:r>
          </a:p>
          <a:p>
            <a:pPr rtl="1"/>
            <a:r>
              <a:rPr lang="ar">
                <a:latin typeface="Sakkal Majalla" panose="02000000000000000000" pitchFamily="2" charset="-78"/>
                <a:cs typeface="Sakkal Majalla" panose="02000000000000000000" pitchFamily="2" charset="-78"/>
              </a:rPr>
              <a:t>ستقوم باختيار واستخدام الأدوات والمعدات والمكونات والمواد لفحص المركبات وصيانتها. </a:t>
            </a:r>
          </a:p>
          <a:p>
            <a:pPr rtl="1"/>
            <a:r>
              <a:rPr lang="ar">
                <a:latin typeface="Sakkal Majalla" panose="02000000000000000000" pitchFamily="2" charset="-78"/>
                <a:cs typeface="Sakkal Majalla" panose="02000000000000000000" pitchFamily="2" charset="-78"/>
              </a:rPr>
              <a:t>أخيرًا، ستتعلم المهارات اللازمة لتطبيق إجراءات الفحص والصيانة بأمان واستكمال السجلات المناسبة.   </a:t>
            </a:r>
          </a:p>
        </p:txBody>
      </p:sp>
      <p:sp>
        <p:nvSpPr>
          <p:cNvPr id="5" name="Footer Placeholder 2">
            <a:extLst>
              <a:ext uri="{FF2B5EF4-FFF2-40B4-BE49-F238E27FC236}">
                <a16:creationId xmlns:a16="http://schemas.microsoft.com/office/drawing/2014/main" id="{037FB32A-38E2-9547-782D-B6498F89438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1694229760"/>
      </p:ext>
    </p:extLst>
  </p:cSld>
  <p:clrMapOvr>
    <a:masterClrMapping/>
  </p:clrMapOvr>
  <p:transition>
    <p:sndAc>
      <p:stSnd>
        <p:snd r:embed="rId2"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B6BB5-0EF9-E82F-3EC7-6BBF5B840AA3}"/>
              </a:ext>
            </a:extLst>
          </p:cNvPr>
          <p:cNvSpPr>
            <a:spLocks noGrp="1"/>
          </p:cNvSpPr>
          <p:nvPr>
            <p:ph type="title"/>
          </p:nvPr>
        </p:nvSpPr>
        <p:spPr>
          <a:xfrm>
            <a:off x="457200" y="1195200"/>
            <a:ext cx="8229600" cy="864000"/>
          </a:xfrm>
        </p:spPr>
        <p:txBody>
          <a:bodyPr rtlCol="1"/>
          <a:lstStyle/>
          <a:p>
            <a:pPr rtl="1"/>
            <a:r>
              <a:rPr lang="ar" b="1">
                <a:latin typeface="Sakkal Majalla" panose="02000000000000000000" pitchFamily="2" charset="-78"/>
                <a:cs typeface="Sakkal Majalla" panose="02000000000000000000" pitchFamily="2" charset="-78"/>
              </a:rPr>
              <a:t>أهداف التعلم </a:t>
            </a:r>
          </a:p>
        </p:txBody>
      </p:sp>
      <p:sp>
        <p:nvSpPr>
          <p:cNvPr id="3" name="Content Placeholder 2">
            <a:extLst>
              <a:ext uri="{FF2B5EF4-FFF2-40B4-BE49-F238E27FC236}">
                <a16:creationId xmlns:a16="http://schemas.microsoft.com/office/drawing/2014/main" id="{10D11011-8298-84AF-4BFA-745398F22575}"/>
              </a:ext>
            </a:extLst>
          </p:cNvPr>
          <p:cNvSpPr>
            <a:spLocks noGrp="1"/>
          </p:cNvSpPr>
          <p:nvPr>
            <p:ph idx="1"/>
          </p:nvPr>
        </p:nvSpPr>
        <p:spPr>
          <a:xfrm>
            <a:off x="125760" y="2320151"/>
            <a:ext cx="8406680" cy="3878436"/>
          </a:xfrm>
        </p:spPr>
        <p:txBody>
          <a:bodyPr rtlCol="1"/>
          <a:lstStyle/>
          <a:p>
            <a:pPr marL="358775" indent="-358775" defTabSz="431800" rtl="1">
              <a:buNone/>
            </a:pPr>
            <a:r>
              <a:rPr lang="ar" b="1" dirty="0">
                <a:latin typeface="Sakkal Majalla" panose="02000000000000000000" pitchFamily="2" charset="-78"/>
                <a:cs typeface="Sakkal Majalla" panose="02000000000000000000" pitchFamily="2" charset="-78"/>
              </a:rPr>
              <a:t>(أ)</a:t>
            </a:r>
            <a:r>
              <a:rPr lang="ar" dirty="0">
                <a:latin typeface="Sakkal Majalla" panose="02000000000000000000" pitchFamily="2" charset="-78"/>
                <a:cs typeface="Sakkal Majalla" panose="02000000000000000000" pitchFamily="2" charset="-78"/>
              </a:rPr>
              <a:t> تحديد البيانات والمعلومات الخاصة بإجراءات فحص المركبات وصيانتها </a:t>
            </a:r>
          </a:p>
          <a:p>
            <a:pPr marL="358775" indent="-358775" defTabSz="431800" rtl="1">
              <a:buNone/>
            </a:pPr>
            <a:r>
              <a:rPr lang="ar" b="1" dirty="0">
                <a:latin typeface="Sakkal Majalla" panose="02000000000000000000" pitchFamily="2" charset="-78"/>
                <a:cs typeface="Sakkal Majalla" panose="02000000000000000000" pitchFamily="2" charset="-78"/>
              </a:rPr>
              <a:t>(ب)</a:t>
            </a:r>
            <a:r>
              <a:rPr lang="ar" dirty="0">
                <a:latin typeface="Sakkal Majalla" panose="02000000000000000000" pitchFamily="2" charset="-78"/>
                <a:cs typeface="Sakkal Majalla" panose="02000000000000000000" pitchFamily="2" charset="-78"/>
              </a:rPr>
              <a:t> تحديد المعدات والمكونات والمواد لإجراءات فحص المركبات وصيانتها </a:t>
            </a:r>
          </a:p>
          <a:p>
            <a:pPr marL="269875" indent="-269875" defTabSz="431800" rtl="1">
              <a:buNone/>
            </a:pPr>
            <a:r>
              <a:rPr lang="ar" b="1" dirty="0">
                <a:latin typeface="Sakkal Majalla" panose="02000000000000000000" pitchFamily="2" charset="-78"/>
                <a:cs typeface="Sakkal Majalla" panose="02000000000000000000" pitchFamily="2" charset="-78"/>
              </a:rPr>
              <a:t>(</a:t>
            </a:r>
            <a:r>
              <a:rPr lang="ar-EG" b="1" dirty="0">
                <a:latin typeface="Sakkal Majalla" panose="02000000000000000000" pitchFamily="2" charset="-78"/>
                <a:cs typeface="Sakkal Majalla" panose="02000000000000000000" pitchFamily="2" charset="-78"/>
              </a:rPr>
              <a:t>ج</a:t>
            </a:r>
            <a:r>
              <a:rPr lang="ar" b="1" dirty="0">
                <a:latin typeface="Sakkal Majalla" panose="02000000000000000000" pitchFamily="2" charset="-78"/>
                <a:cs typeface="Sakkal Majalla" panose="02000000000000000000" pitchFamily="2" charset="-78"/>
              </a:rPr>
              <a:t>)</a:t>
            </a:r>
            <a:r>
              <a:rPr lang="ar" dirty="0">
                <a:latin typeface="Sakkal Majalla" panose="02000000000000000000" pitchFamily="2" charset="-78"/>
                <a:cs typeface="Sakkal Majalla" panose="02000000000000000000" pitchFamily="2" charset="-78"/>
              </a:rPr>
              <a:t> تنفيذ إجراءات فحص المركبات وصيانتها بأمان واستكمال السجلات </a:t>
            </a:r>
            <a:br>
              <a:rPr lang="en-US" dirty="0">
                <a:latin typeface="Sakkal Majalla" panose="02000000000000000000" pitchFamily="2" charset="-78"/>
                <a:cs typeface="Sakkal Majalla" panose="02000000000000000000" pitchFamily="2" charset="-78"/>
              </a:rPr>
            </a:br>
            <a:br>
              <a:rPr lang="en-US" dirty="0">
                <a:latin typeface="Sakkal Majalla" panose="02000000000000000000" pitchFamily="2" charset="-78"/>
                <a:cs typeface="Sakkal Majalla" panose="02000000000000000000" pitchFamily="2" charset="-78"/>
              </a:rPr>
            </a:br>
            <a:br>
              <a:rPr lang="en-US" dirty="0">
                <a:latin typeface="Sakkal Majalla" panose="02000000000000000000" pitchFamily="2" charset="-78"/>
                <a:cs typeface="Sakkal Majalla" panose="02000000000000000000" pitchFamily="2" charset="-78"/>
              </a:rPr>
            </a:br>
            <a:endParaRPr lang="en-US"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F6C488C6-2CB2-362A-D737-78811F2D327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966601074"/>
      </p:ext>
    </p:extLst>
  </p:cSld>
  <p:clrMapOvr>
    <a:masterClrMapping/>
  </p:clrMapOvr>
  <p:transition>
    <p:sndAc>
      <p:stSnd>
        <p:snd r:embed="rId2"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A3553AA-5A44-D105-6793-262E09813065}"/>
              </a:ext>
            </a:extLst>
          </p:cNvPr>
          <p:cNvSpPr txBox="1">
            <a:spLocks noChangeArrowheads="1"/>
          </p:cNvSpPr>
          <p:nvPr/>
        </p:nvSpPr>
        <p:spPr bwMode="auto">
          <a:xfrm>
            <a:off x="806896" y="1841724"/>
            <a:ext cx="8229600" cy="506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spcBef>
                <a:spcPts val="1200"/>
              </a:spcBef>
              <a:spcAft>
                <a:spcPts val="1500"/>
              </a:spcAft>
            </a:pPr>
            <a:r>
              <a:rPr lang="ar" sz="2400" b="1" kern="0">
                <a:latin typeface="Sakkal Majalla" panose="02000000000000000000" pitchFamily="2" charset="-78"/>
                <a:cs typeface="Sakkal Majalla" panose="02000000000000000000" pitchFamily="2" charset="-78"/>
              </a:rPr>
              <a:t>هدف التعلم (أ)</a:t>
            </a:r>
            <a:br>
              <a:rPr lang="en-US" altLang="en-US" sz="2400" kern="0" dirty="0">
                <a:latin typeface="Sakkal Majalla" panose="02000000000000000000" pitchFamily="2" charset="-78"/>
                <a:cs typeface="Sakkal Majalla" panose="02000000000000000000" pitchFamily="2" charset="-78"/>
              </a:rPr>
            </a:br>
            <a:br>
              <a:rPr lang="en-US" altLang="en-US" sz="2400" kern="0" dirty="0">
                <a:latin typeface="Sakkal Majalla" panose="02000000000000000000" pitchFamily="2" charset="-78"/>
                <a:cs typeface="Sakkal Majalla" panose="02000000000000000000" pitchFamily="2" charset="-78"/>
              </a:rPr>
            </a:br>
            <a:endParaRPr lang="en-GB" altLang="en-US" sz="3600" kern="0" dirty="0">
              <a:latin typeface="Sakkal Majalla" panose="02000000000000000000" pitchFamily="2" charset="-78"/>
              <a:cs typeface="Sakkal Majalla" panose="02000000000000000000" pitchFamily="2" charset="-78"/>
            </a:endParaRPr>
          </a:p>
        </p:txBody>
      </p:sp>
      <p:sp>
        <p:nvSpPr>
          <p:cNvPr id="6" name="Rectangle 1">
            <a:extLst>
              <a:ext uri="{FF2B5EF4-FFF2-40B4-BE49-F238E27FC236}">
                <a16:creationId xmlns:a16="http://schemas.microsoft.com/office/drawing/2014/main" id="{CF6856AD-FF3B-8586-D2EE-81DC7C5D524A}"/>
              </a:ext>
            </a:extLst>
          </p:cNvPr>
          <p:cNvSpPr>
            <a:spLocks noChangeArrowheads="1"/>
          </p:cNvSpPr>
          <p:nvPr/>
        </p:nvSpPr>
        <p:spPr bwMode="auto">
          <a:xfrm>
            <a:off x="561777" y="2348880"/>
            <a:ext cx="7991475"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تحديد البيانات والمعلومات الخاصة بإجراءات فحص المركبات وصيانتها</a:t>
            </a:r>
            <a:br>
              <a:rPr lang="en-US" altLang="en-US" sz="3600" b="1" dirty="0">
                <a:latin typeface="Sakkal Majalla" panose="02000000000000000000" pitchFamily="2" charset="-78"/>
                <a:cs typeface="Sakkal Majalla" panose="02000000000000000000" pitchFamily="2" charset="-78"/>
              </a:rPr>
            </a:br>
            <a:endParaRPr lang="en-GB" altLang="en-US" sz="3600" b="1" dirty="0">
              <a:latin typeface="Sakkal Majalla" panose="02000000000000000000" pitchFamily="2" charset="-78"/>
              <a:cs typeface="Sakkal Majalla" panose="02000000000000000000" pitchFamily="2" charset="-78"/>
            </a:endParaRPr>
          </a:p>
        </p:txBody>
      </p:sp>
      <p:sp>
        <p:nvSpPr>
          <p:cNvPr id="2" name="Content Placeholder 3">
            <a:extLst>
              <a:ext uri="{FF2B5EF4-FFF2-40B4-BE49-F238E27FC236}">
                <a16:creationId xmlns:a16="http://schemas.microsoft.com/office/drawing/2014/main" id="{ED933464-2280-98C6-0828-14AFB71C3052}"/>
              </a:ext>
            </a:extLst>
          </p:cNvPr>
          <p:cNvSpPr txBox="1">
            <a:spLocks noChangeArrowheads="1"/>
          </p:cNvSpPr>
          <p:nvPr/>
        </p:nvSpPr>
        <p:spPr bwMode="auto">
          <a:xfrm>
            <a:off x="601216" y="4509865"/>
            <a:ext cx="8435280" cy="18716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kern="0">
                <a:latin typeface="Sakkal Majalla" panose="02000000000000000000" pitchFamily="2" charset="-78"/>
                <a:cs typeface="Sakkal Majalla" panose="02000000000000000000" pitchFamily="2" charset="-78"/>
              </a:rPr>
              <a:t>أنواع البيانات والمعلومات </a:t>
            </a:r>
          </a:p>
          <a:p>
            <a:pPr marL="685800" rtl="1"/>
            <a:r>
              <a:rPr lang="ar" kern="0">
                <a:latin typeface="Sakkal Majalla" panose="02000000000000000000" pitchFamily="2" charset="-78"/>
                <a:cs typeface="Sakkal Majalla" panose="02000000000000000000" pitchFamily="2" charset="-78"/>
              </a:rPr>
              <a:t>إجراءات الفحص والصيانة لمركبات معينة</a:t>
            </a:r>
          </a:p>
        </p:txBody>
      </p:sp>
      <p:sp>
        <p:nvSpPr>
          <p:cNvPr id="3" name="Footer Placeholder 2">
            <a:extLst>
              <a:ext uri="{FF2B5EF4-FFF2-40B4-BE49-F238E27FC236}">
                <a16:creationId xmlns:a16="http://schemas.microsoft.com/office/drawing/2014/main" id="{661BE878-73CE-6E62-AEC3-3247730E965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2495166829"/>
      </p:ext>
    </p:extLst>
  </p:cSld>
  <p:clrMapOvr>
    <a:masterClrMapping/>
  </p:clrMapOvr>
  <p:transition>
    <p:sndAc>
      <p:stSnd>
        <p:snd r:embed="rId2"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AA8E71-15C1-DC46-654E-12CF981AB52D}"/>
              </a:ext>
            </a:extLst>
          </p:cNvPr>
          <p:cNvSpPr txBox="1">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spcAft>
                <a:spcPts val="600"/>
              </a:spcAft>
            </a:pPr>
            <a:r>
              <a:rPr lang="ar" b="1" kern="0">
                <a:latin typeface="Sakkal Majalla" panose="02000000000000000000" pitchFamily="2" charset="-78"/>
                <a:cs typeface="Sakkal Majalla" panose="02000000000000000000" pitchFamily="2" charset="-78"/>
              </a:rPr>
              <a:t>أنواع البيانات والمعلومات</a:t>
            </a:r>
          </a:p>
        </p:txBody>
      </p:sp>
      <p:sp>
        <p:nvSpPr>
          <p:cNvPr id="4" name="Content Placeholder 3">
            <a:extLst>
              <a:ext uri="{FF2B5EF4-FFF2-40B4-BE49-F238E27FC236}">
                <a16:creationId xmlns:a16="http://schemas.microsoft.com/office/drawing/2014/main" id="{2A78B7CA-1527-F24A-8F0E-7052DD881839}"/>
              </a:ext>
            </a:extLst>
          </p:cNvPr>
          <p:cNvSpPr txBox="1">
            <a:spLocks noChangeArrowheads="1"/>
          </p:cNvSpPr>
          <p:nvPr/>
        </p:nvSpPr>
        <p:spPr bwMode="auto">
          <a:xfrm>
            <a:off x="468312" y="2196001"/>
            <a:ext cx="4027488" cy="40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lnSpc>
                <a:spcPct val="90000"/>
              </a:lnSpc>
            </a:pPr>
            <a:r>
              <a:rPr lang="ar" sz="2000" b="1" kern="0">
                <a:latin typeface="Sakkal Majalla" panose="02000000000000000000" pitchFamily="2" charset="-78"/>
                <a:cs typeface="Sakkal Majalla" panose="02000000000000000000" pitchFamily="2" charset="-78"/>
              </a:rPr>
              <a:t>البيانات الفنية للمركبة</a:t>
            </a:r>
            <a:r>
              <a:rPr lang="ar" sz="2000" kern="0">
                <a:latin typeface="Sakkal Majalla" panose="02000000000000000000" pitchFamily="2" charset="-78"/>
                <a:cs typeface="Sakkal Majalla" panose="02000000000000000000" pitchFamily="2" charset="-78"/>
              </a:rPr>
              <a:t>، على سبيل المثال (التفاصيل والمواصفات الفنية، رقم تعريف المركبة، البيانات الموجودة على متن المركبة وعزم الدوران المحكم).</a:t>
            </a:r>
            <a:endParaRPr lang="en-GB" altLang="en-US" sz="2000" kern="0" dirty="0">
              <a:latin typeface="Sakkal Majalla" panose="02000000000000000000" pitchFamily="2" charset="-78"/>
              <a:cs typeface="Sakkal Majalla" panose="02000000000000000000" pitchFamily="2" charset="-78"/>
            </a:endParaRPr>
          </a:p>
          <a:p>
            <a:pPr rtl="1">
              <a:lnSpc>
                <a:spcPct val="90000"/>
              </a:lnSpc>
            </a:pPr>
            <a:r>
              <a:rPr lang="ar" sz="2000" b="1" kern="0">
                <a:latin typeface="Sakkal Majalla" panose="02000000000000000000" pitchFamily="2" charset="-78"/>
                <a:cs typeface="Sakkal Majalla" panose="02000000000000000000" pitchFamily="2" charset="-78"/>
              </a:rPr>
              <a:t>سجلات تاريخ المركبة</a:t>
            </a:r>
            <a:r>
              <a:rPr lang="ar" sz="2000" kern="0">
                <a:latin typeface="Sakkal Majalla" panose="02000000000000000000" pitchFamily="2" charset="-78"/>
                <a:cs typeface="Sakkal Majalla" panose="02000000000000000000" pitchFamily="2" charset="-78"/>
              </a:rPr>
              <a:t>: الإصلاحات السابقة المحفوظة على النظام الورقي أو الإلكتروني أو القائم على السحابة.  </a:t>
            </a:r>
          </a:p>
          <a:p>
            <a:pPr rtl="1">
              <a:lnSpc>
                <a:spcPct val="90000"/>
              </a:lnSpc>
            </a:pPr>
            <a:r>
              <a:rPr lang="ar" sz="2000" b="1" kern="0">
                <a:latin typeface="Sakkal Majalla" panose="02000000000000000000" pitchFamily="2" charset="-78"/>
                <a:cs typeface="Sakkal Majalla" panose="02000000000000000000" pitchFamily="2" charset="-78"/>
              </a:rPr>
              <a:t>متطلبات</a:t>
            </a:r>
            <a:r>
              <a:rPr lang="ar" sz="2000" kern="0">
                <a:latin typeface="Sakkal Majalla" panose="02000000000000000000" pitchFamily="2" charset="-78"/>
                <a:cs typeface="Sakkal Majalla" panose="02000000000000000000" pitchFamily="2" charset="-78"/>
              </a:rPr>
              <a:t> </a:t>
            </a:r>
            <a:r>
              <a:rPr lang="en" sz="2000" b="1" kern="0">
                <a:latin typeface="Sakkal Majalla" panose="02000000000000000000" pitchFamily="2" charset="-78"/>
                <a:cs typeface="Sakkal Majalla" panose="02000000000000000000" pitchFamily="2" charset="-78"/>
              </a:rPr>
              <a:t>السلامة والمتطلبات القانونية</a:t>
            </a:r>
            <a:r>
              <a:rPr lang="en" sz="2000" kern="0">
                <a:latin typeface="Sakkal Majalla" panose="02000000000000000000" pitchFamily="2" charset="-78"/>
                <a:cs typeface="Sakkal Majalla" panose="02000000000000000000" pitchFamily="2" charset="-78"/>
              </a:rPr>
              <a:t>: اتباع قواعد السلامة للمركبات التي تعمل بالوقود والمركبات الكهربائية. </a:t>
            </a:r>
          </a:p>
          <a:p>
            <a:pPr marL="0" indent="0" rtl="1">
              <a:lnSpc>
                <a:spcPct val="90000"/>
              </a:lnSpc>
            </a:pPr>
            <a:endParaRPr lang="en-GB" altLang="en-US" sz="2000" b="1" kern="0"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1BECCE94-FFCF-1726-7752-8F273DB2FBB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7" name="Picture 6" descr="A person holding a clipboard&#10;&#10;Description automatically generated">
            <a:extLst>
              <a:ext uri="{FF2B5EF4-FFF2-40B4-BE49-F238E27FC236}">
                <a16:creationId xmlns:a16="http://schemas.microsoft.com/office/drawing/2014/main" id="{024A4F1C-D7DE-098A-3673-1CA71FD9BEC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220072" y="2196001"/>
            <a:ext cx="3239590" cy="3236866"/>
          </a:xfrm>
          <a:prstGeom prst="rect">
            <a:avLst/>
          </a:prstGeom>
          <a:noFill/>
        </p:spPr>
      </p:pic>
    </p:spTree>
    <p:extLst>
      <p:ext uri="{BB962C8B-B14F-4D97-AF65-F5344CB8AC3E}">
        <p14:creationId xmlns:p14="http://schemas.microsoft.com/office/powerpoint/2010/main" val="881997306"/>
      </p:ext>
    </p:extLst>
  </p:cSld>
  <p:clrMapOvr>
    <a:masterClrMapping/>
  </p:clrMapOvr>
  <p:transition>
    <p:sndAc>
      <p:stSnd>
        <p:snd r:embed="rId2"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A78B7CA-1527-F24A-8F0E-7052DD881839}"/>
              </a:ext>
            </a:extLst>
          </p:cNvPr>
          <p:cNvSpPr txBox="1">
            <a:spLocks noChangeArrowheads="1"/>
          </p:cNvSpPr>
          <p:nvPr/>
        </p:nvSpPr>
        <p:spPr bwMode="auto">
          <a:xfrm>
            <a:off x="5812159" y="1879231"/>
            <a:ext cx="3008313" cy="3710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fontScale="92500" lnSpcReduction="10000"/>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800" b="1" kern="0" dirty="0">
                <a:latin typeface="Sakkal Majalla" panose="02000000000000000000" pitchFamily="2" charset="-78"/>
                <a:cs typeface="Sakkal Majalla" panose="02000000000000000000" pitchFamily="2" charset="-78"/>
              </a:rPr>
              <a:t>جداول الصيانة: </a:t>
            </a:r>
            <a:r>
              <a:rPr lang="ar" sz="1800" kern="0" dirty="0">
                <a:latin typeface="Sakkal Majalla" panose="02000000000000000000" pitchFamily="2" charset="-78"/>
                <a:cs typeface="Sakkal Majalla" panose="02000000000000000000" pitchFamily="2" charset="-78"/>
              </a:rPr>
              <a:t>الصيانة الدورية بالأميال و/أو الوقت للحفاظ على المركبة في أفضل ظروف العمل. </a:t>
            </a:r>
          </a:p>
          <a:p>
            <a:pPr marL="0" indent="0" rtl="1">
              <a:buNone/>
            </a:pPr>
            <a:endParaRPr lang="en-US" altLang="en-US" sz="1800" b="1" kern="0" dirty="0">
              <a:latin typeface="Sakkal Majalla" panose="02000000000000000000" pitchFamily="2" charset="-78"/>
              <a:cs typeface="Sakkal Majalla" panose="02000000000000000000" pitchFamily="2" charset="-78"/>
            </a:endParaRPr>
          </a:p>
          <a:p>
            <a:pPr marL="0" indent="0" rtl="1">
              <a:buNone/>
            </a:pPr>
            <a:r>
              <a:rPr lang="ar" sz="1800" b="1" kern="0" dirty="0">
                <a:latin typeface="Sakkal Majalla" panose="02000000000000000000" pitchFamily="2" charset="-78"/>
                <a:cs typeface="Sakkal Majalla" panose="02000000000000000000" pitchFamily="2" charset="-78"/>
              </a:rPr>
              <a:t>بيانات الخدمة: </a:t>
            </a:r>
          </a:p>
          <a:p>
            <a:pPr marL="0" indent="0" rtl="1">
              <a:buNone/>
            </a:pPr>
            <a:r>
              <a:rPr lang="ar" sz="1800" kern="0" dirty="0">
                <a:latin typeface="Sakkal Majalla" panose="02000000000000000000" pitchFamily="2" charset="-78"/>
                <a:cs typeface="Sakkal Majalla" panose="02000000000000000000" pitchFamily="2" charset="-78"/>
              </a:rPr>
              <a:t>أي مصدر للبيانات المطلوبة للفحص/الصيانة، على سبيل المثال، نظام تشخيص الأعطال الذاتي (OBD) وأدلة المركبات ونشرات الخدمة الفنية (TSB) وقوائم الأجزاء والقطع والمصادر الرقمية. </a:t>
            </a:r>
          </a:p>
          <a:p>
            <a:pPr marL="0" indent="0" rtl="1">
              <a:buNone/>
            </a:pPr>
            <a:endParaRPr lang="en-US" altLang="en-US" sz="1800" b="1" kern="0" dirty="0">
              <a:latin typeface="Sakkal Majalla" panose="02000000000000000000" pitchFamily="2" charset="-78"/>
              <a:cs typeface="Sakkal Majalla" panose="02000000000000000000" pitchFamily="2" charset="-78"/>
            </a:endParaRPr>
          </a:p>
          <a:p>
            <a:pPr marL="0" indent="0" rtl="1">
              <a:buNone/>
            </a:pPr>
            <a:r>
              <a:rPr lang="ar" sz="1800" b="1" kern="0" dirty="0">
                <a:latin typeface="Sakkal Majalla" panose="02000000000000000000" pitchFamily="2" charset="-78"/>
                <a:cs typeface="Sakkal Majalla" panose="02000000000000000000" pitchFamily="2" charset="-78"/>
              </a:rPr>
              <a:t>تعليمات العميل: </a:t>
            </a:r>
          </a:p>
          <a:p>
            <a:pPr marL="0" indent="0" rtl="1">
              <a:buNone/>
            </a:pPr>
            <a:r>
              <a:rPr lang="ar" sz="1800" kern="0" dirty="0">
                <a:latin typeface="Sakkal Majalla" panose="02000000000000000000" pitchFamily="2" charset="-78"/>
                <a:cs typeface="Sakkal Majalla" panose="02000000000000000000" pitchFamily="2" charset="-78"/>
              </a:rPr>
              <a:t>تلقي جميع التفاصيل والشكاوى من العميل بطريقة احترافية</a:t>
            </a:r>
            <a:r>
              <a:rPr lang="ar" sz="1800" b="1" kern="0" dirty="0">
                <a:latin typeface="Sakkal Majalla" panose="02000000000000000000" pitchFamily="2" charset="-78"/>
                <a:cs typeface="Sakkal Majalla" panose="02000000000000000000" pitchFamily="2" charset="-78"/>
              </a:rPr>
              <a:t>.</a:t>
            </a:r>
            <a:r>
              <a:rPr lang="ar" sz="1800" kern="0" dirty="0">
                <a:latin typeface="Sakkal Majalla" panose="02000000000000000000" pitchFamily="2" charset="-78"/>
                <a:cs typeface="Sakkal Majalla" panose="02000000000000000000" pitchFamily="2" charset="-78"/>
              </a:rPr>
              <a:t> </a:t>
            </a:r>
          </a:p>
        </p:txBody>
      </p:sp>
      <p:sp>
        <p:nvSpPr>
          <p:cNvPr id="3" name="Footer Placeholder 2">
            <a:extLst>
              <a:ext uri="{FF2B5EF4-FFF2-40B4-BE49-F238E27FC236}">
                <a16:creationId xmlns:a16="http://schemas.microsoft.com/office/drawing/2014/main" id="{7372413E-AF19-61EB-F164-F159DC624D3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2" name="Picture 1" descr="A close up of a dashboard&#10;&#10;Description automatically generated">
            <a:extLst>
              <a:ext uri="{FF2B5EF4-FFF2-40B4-BE49-F238E27FC236}">
                <a16:creationId xmlns:a16="http://schemas.microsoft.com/office/drawing/2014/main" id="{19D38ED1-43AD-B7A2-26A2-1355E908196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15616" y="2204864"/>
            <a:ext cx="3394943" cy="3168352"/>
          </a:xfrm>
          <a:prstGeom prst="rect">
            <a:avLst/>
          </a:prstGeom>
        </p:spPr>
      </p:pic>
    </p:spTree>
    <p:extLst>
      <p:ext uri="{BB962C8B-B14F-4D97-AF65-F5344CB8AC3E}">
        <p14:creationId xmlns:p14="http://schemas.microsoft.com/office/powerpoint/2010/main" val="888707448"/>
      </p:ext>
    </p:extLst>
  </p:cSld>
  <p:clrMapOvr>
    <a:masterClrMapping/>
  </p:clrMapOvr>
  <p:transition>
    <p:sndAc>
      <p:stSnd>
        <p:snd r:embed="rId2"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AA8E71-15C1-DC46-654E-12CF981AB52D}"/>
              </a:ext>
            </a:extLst>
          </p:cNvPr>
          <p:cNvSpPr txBox="1">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lnSpc>
                <a:spcPct val="90000"/>
              </a:lnSpc>
              <a:spcAft>
                <a:spcPts val="600"/>
              </a:spcAft>
            </a:pPr>
            <a:r>
              <a:rPr lang="ar" sz="1800" b="1" kern="0" dirty="0">
                <a:latin typeface="Sakkal Majalla" panose="02000000000000000000" pitchFamily="2" charset="-78"/>
                <a:cs typeface="Sakkal Majalla" panose="02000000000000000000" pitchFamily="2" charset="-78"/>
              </a:rPr>
              <a:t>إجراءات الفحص والصيانة </a:t>
            </a:r>
          </a:p>
        </p:txBody>
      </p:sp>
      <p:sp>
        <p:nvSpPr>
          <p:cNvPr id="4" name="Content Placeholder 3">
            <a:extLst>
              <a:ext uri="{FF2B5EF4-FFF2-40B4-BE49-F238E27FC236}">
                <a16:creationId xmlns:a16="http://schemas.microsoft.com/office/drawing/2014/main" id="{2A78B7CA-1527-F24A-8F0E-7052DD881839}"/>
              </a:ext>
            </a:extLst>
          </p:cNvPr>
          <p:cNvSpPr txBox="1">
            <a:spLocks noChangeArrowheads="1"/>
          </p:cNvSpPr>
          <p:nvPr/>
        </p:nvSpPr>
        <p:spPr bwMode="auto">
          <a:xfrm>
            <a:off x="5364088" y="2132857"/>
            <a:ext cx="3322711" cy="399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800" b="1" kern="0" dirty="0">
                <a:latin typeface="Sakkal Majalla" panose="02000000000000000000" pitchFamily="2" charset="-78"/>
                <a:cs typeface="Sakkal Majalla" panose="02000000000000000000" pitchFamily="2" charset="-78"/>
              </a:rPr>
              <a:t>فحص النظام: </a:t>
            </a:r>
          </a:p>
          <a:p>
            <a:pPr marL="0" indent="0" rtl="1">
              <a:buNone/>
            </a:pPr>
            <a:r>
              <a:rPr lang="ar" sz="1800" kern="0" dirty="0">
                <a:latin typeface="Sakkal Majalla" panose="02000000000000000000" pitchFamily="2" charset="-78"/>
                <a:cs typeface="Sakkal Majalla" panose="02000000000000000000" pitchFamily="2" charset="-78"/>
              </a:rPr>
              <a:t>يجب اتباع الإجراءات المناسبة أثناء صلاحية المكونات للخدمة.</a:t>
            </a:r>
          </a:p>
          <a:p>
            <a:pPr marL="0" indent="0" rtl="1">
              <a:buNone/>
            </a:pPr>
            <a:endParaRPr lang="en-US" altLang="en-US" sz="1800" kern="0" dirty="0">
              <a:latin typeface="Sakkal Majalla" panose="02000000000000000000" pitchFamily="2" charset="-78"/>
              <a:cs typeface="Sakkal Majalla" panose="02000000000000000000" pitchFamily="2" charset="-78"/>
            </a:endParaRPr>
          </a:p>
          <a:p>
            <a:pPr marL="0" indent="0" rtl="1">
              <a:buNone/>
            </a:pPr>
            <a:r>
              <a:rPr lang="ar" sz="1800" b="1" kern="0" dirty="0">
                <a:latin typeface="Sakkal Majalla" panose="02000000000000000000" pitchFamily="2" charset="-78"/>
                <a:cs typeface="Sakkal Majalla" panose="02000000000000000000" pitchFamily="2" charset="-78"/>
              </a:rPr>
              <a:t>الصيانة الروتينية للمركبة:  </a:t>
            </a:r>
          </a:p>
          <a:p>
            <a:pPr marL="0" indent="0" rtl="1">
              <a:buNone/>
            </a:pPr>
            <a:r>
              <a:rPr lang="ar" sz="1800" kern="0" dirty="0">
                <a:latin typeface="Sakkal Majalla" panose="02000000000000000000" pitchFamily="2" charset="-78"/>
                <a:cs typeface="Sakkal Majalla" panose="02000000000000000000" pitchFamily="2" charset="-78"/>
              </a:rPr>
              <a:t>استخدام أدلة الشركات المصنعة  لمعرفة تفاصيل متطلبات الصيانة.</a:t>
            </a:r>
          </a:p>
          <a:p>
            <a:pPr marL="0" indent="0" rtl="1">
              <a:buNone/>
            </a:pPr>
            <a:r>
              <a:rPr lang="ar" sz="1800" kern="0" dirty="0">
                <a:latin typeface="Sakkal Majalla" panose="02000000000000000000" pitchFamily="2" charset="-78"/>
                <a:cs typeface="Sakkal Majalla" panose="02000000000000000000" pitchFamily="2" charset="-78"/>
              </a:rPr>
              <a:t> </a:t>
            </a:r>
          </a:p>
          <a:p>
            <a:pPr marL="0" indent="0" rtl="1">
              <a:buNone/>
            </a:pPr>
            <a:r>
              <a:rPr lang="ar" sz="1800" b="1" kern="0" dirty="0">
                <a:latin typeface="Sakkal Majalla" panose="02000000000000000000" pitchFamily="2" charset="-78"/>
                <a:cs typeface="Sakkal Majalla" panose="02000000000000000000" pitchFamily="2" charset="-78"/>
              </a:rPr>
              <a:t>صيانة الأعطال: </a:t>
            </a:r>
          </a:p>
          <a:p>
            <a:pPr marL="0" indent="0" rtl="1">
              <a:buNone/>
            </a:pPr>
            <a:r>
              <a:rPr lang="ar" sz="1800" kern="0" dirty="0">
                <a:latin typeface="Sakkal Majalla" panose="02000000000000000000" pitchFamily="2" charset="-78"/>
                <a:cs typeface="Sakkal Majalla" panose="02000000000000000000" pitchFamily="2" charset="-78"/>
              </a:rPr>
              <a:t>أعمال الإصلاح بعد تعطل المركبة. </a:t>
            </a:r>
          </a:p>
        </p:txBody>
      </p:sp>
      <p:sp>
        <p:nvSpPr>
          <p:cNvPr id="5" name="Footer Placeholder 2">
            <a:extLst>
              <a:ext uri="{FF2B5EF4-FFF2-40B4-BE49-F238E27FC236}">
                <a16:creationId xmlns:a16="http://schemas.microsoft.com/office/drawing/2014/main" id="{A0440B46-5BB0-C1B3-557A-DC950B4CE0E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7" name="Picture 6" descr="A person working under a car&#10;&#10;Description automatically generated">
            <a:extLst>
              <a:ext uri="{FF2B5EF4-FFF2-40B4-BE49-F238E27FC236}">
                <a16:creationId xmlns:a16="http://schemas.microsoft.com/office/drawing/2014/main" id="{DD9C6638-E873-7439-8AD3-0A643D09308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043608" y="2132857"/>
            <a:ext cx="3396096" cy="3393239"/>
          </a:xfrm>
          <a:prstGeom prst="rect">
            <a:avLst/>
          </a:prstGeom>
          <a:noFill/>
        </p:spPr>
      </p:pic>
    </p:spTree>
    <p:extLst>
      <p:ext uri="{BB962C8B-B14F-4D97-AF65-F5344CB8AC3E}">
        <p14:creationId xmlns:p14="http://schemas.microsoft.com/office/powerpoint/2010/main" val="3952615614"/>
      </p:ext>
    </p:extLst>
  </p:cSld>
  <p:clrMapOvr>
    <a:masterClrMapping/>
  </p:clrMapOvr>
  <p:transition>
    <p:sndAc>
      <p:stSnd>
        <p:snd r:embed="rId2"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A3553AA-5A44-D105-6793-262E09813065}"/>
              </a:ext>
            </a:extLst>
          </p:cNvPr>
          <p:cNvSpPr txBox="1">
            <a:spLocks noChangeArrowheads="1"/>
          </p:cNvSpPr>
          <p:nvPr/>
        </p:nvSpPr>
        <p:spPr bwMode="auto">
          <a:xfrm>
            <a:off x="806896" y="1841724"/>
            <a:ext cx="8229600" cy="506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spcBef>
                <a:spcPts val="1200"/>
              </a:spcBef>
              <a:spcAft>
                <a:spcPts val="1500"/>
              </a:spcAft>
            </a:pPr>
            <a:r>
              <a:rPr lang="ar" sz="2400" b="1" kern="0">
                <a:latin typeface="Sakkal Majalla" panose="02000000000000000000" pitchFamily="2" charset="-78"/>
                <a:cs typeface="Sakkal Majalla" panose="02000000000000000000" pitchFamily="2" charset="-78"/>
              </a:rPr>
              <a:t>هدف التعلم (ب)</a:t>
            </a:r>
            <a:br>
              <a:rPr lang="en-US" altLang="en-US" sz="2400" kern="0" dirty="0">
                <a:latin typeface="Sakkal Majalla" panose="02000000000000000000" pitchFamily="2" charset="-78"/>
                <a:cs typeface="Sakkal Majalla" panose="02000000000000000000" pitchFamily="2" charset="-78"/>
              </a:rPr>
            </a:br>
            <a:br>
              <a:rPr lang="en-US" altLang="en-US" sz="2400" kern="0" dirty="0">
                <a:latin typeface="Sakkal Majalla" panose="02000000000000000000" pitchFamily="2" charset="-78"/>
                <a:cs typeface="Sakkal Majalla" panose="02000000000000000000" pitchFamily="2" charset="-78"/>
              </a:rPr>
            </a:br>
            <a:endParaRPr lang="en-GB" altLang="en-US" sz="3600" kern="0" dirty="0">
              <a:latin typeface="Sakkal Majalla" panose="02000000000000000000" pitchFamily="2" charset="-78"/>
              <a:cs typeface="Sakkal Majalla" panose="02000000000000000000" pitchFamily="2" charset="-78"/>
            </a:endParaRPr>
          </a:p>
        </p:txBody>
      </p:sp>
      <p:sp>
        <p:nvSpPr>
          <p:cNvPr id="6" name="Rectangle 1">
            <a:extLst>
              <a:ext uri="{FF2B5EF4-FFF2-40B4-BE49-F238E27FC236}">
                <a16:creationId xmlns:a16="http://schemas.microsoft.com/office/drawing/2014/main" id="{CF6856AD-FF3B-8586-D2EE-81DC7C5D524A}"/>
              </a:ext>
            </a:extLst>
          </p:cNvPr>
          <p:cNvSpPr>
            <a:spLocks noChangeArrowheads="1"/>
          </p:cNvSpPr>
          <p:nvPr/>
        </p:nvSpPr>
        <p:spPr bwMode="auto">
          <a:xfrm>
            <a:off x="561777" y="2348880"/>
            <a:ext cx="7991475"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dirty="0">
                <a:latin typeface="Sakkal Majalla" panose="02000000000000000000" pitchFamily="2" charset="-78"/>
                <a:cs typeface="Sakkal Majalla" panose="02000000000000000000" pitchFamily="2" charset="-78"/>
              </a:rPr>
              <a:t>تحديد المعدات والمكونات والمواد لإجراءات </a:t>
            </a:r>
            <a:br>
              <a:rPr lang="en-US" sz="3600" b="1" dirty="0">
                <a:latin typeface="Sakkal Majalla" panose="02000000000000000000" pitchFamily="2" charset="-78"/>
                <a:cs typeface="Sakkal Majalla" panose="02000000000000000000" pitchFamily="2" charset="-78"/>
              </a:rPr>
            </a:br>
            <a:r>
              <a:rPr lang="ar" sz="3600" b="1" dirty="0">
                <a:latin typeface="Sakkal Majalla" panose="02000000000000000000" pitchFamily="2" charset="-78"/>
                <a:cs typeface="Sakkal Majalla" panose="02000000000000000000" pitchFamily="2" charset="-78"/>
              </a:rPr>
              <a:t>فحص المركبات وصيانتها</a:t>
            </a:r>
            <a:br>
              <a:rPr lang="en-US" altLang="en-US" sz="3600" b="1" dirty="0">
                <a:latin typeface="Sakkal Majalla" panose="02000000000000000000" pitchFamily="2" charset="-78"/>
                <a:cs typeface="Sakkal Majalla" panose="02000000000000000000" pitchFamily="2" charset="-78"/>
              </a:rPr>
            </a:br>
            <a:endParaRPr lang="en-GB" altLang="en-US" sz="3600" b="1" dirty="0">
              <a:latin typeface="Sakkal Majalla" panose="02000000000000000000" pitchFamily="2" charset="-78"/>
              <a:cs typeface="Sakkal Majalla" panose="02000000000000000000" pitchFamily="2" charset="-78"/>
            </a:endParaRPr>
          </a:p>
        </p:txBody>
      </p:sp>
      <p:sp>
        <p:nvSpPr>
          <p:cNvPr id="2" name="Content Placeholder 3">
            <a:extLst>
              <a:ext uri="{FF2B5EF4-FFF2-40B4-BE49-F238E27FC236}">
                <a16:creationId xmlns:a16="http://schemas.microsoft.com/office/drawing/2014/main" id="{ED933464-2280-98C6-0828-14AFB71C3052}"/>
              </a:ext>
            </a:extLst>
          </p:cNvPr>
          <p:cNvSpPr txBox="1">
            <a:spLocks noChangeArrowheads="1"/>
          </p:cNvSpPr>
          <p:nvPr/>
        </p:nvSpPr>
        <p:spPr bwMode="auto">
          <a:xfrm>
            <a:off x="806896" y="4509120"/>
            <a:ext cx="7787208" cy="18716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kern="0">
                <a:latin typeface="Sakkal Majalla" panose="02000000000000000000" pitchFamily="2" charset="-78"/>
                <a:cs typeface="Sakkal Majalla" panose="02000000000000000000" pitchFamily="2" charset="-78"/>
              </a:rPr>
              <a:t>أنواع المعدات  </a:t>
            </a:r>
          </a:p>
          <a:p>
            <a:pPr marL="685800" rtl="1"/>
            <a:r>
              <a:rPr lang="ar" kern="0">
                <a:latin typeface="Sakkal Majalla" panose="02000000000000000000" pitchFamily="2" charset="-78"/>
                <a:cs typeface="Sakkal Majalla" panose="02000000000000000000" pitchFamily="2" charset="-78"/>
              </a:rPr>
              <a:t>أنواع المكونات والمواد</a:t>
            </a:r>
          </a:p>
        </p:txBody>
      </p:sp>
      <p:sp>
        <p:nvSpPr>
          <p:cNvPr id="3" name="Footer Placeholder 2">
            <a:extLst>
              <a:ext uri="{FF2B5EF4-FFF2-40B4-BE49-F238E27FC236}">
                <a16:creationId xmlns:a16="http://schemas.microsoft.com/office/drawing/2014/main" id="{173AC706-D853-6880-764A-1BDE45F8535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338455450"/>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AA8E71-15C1-DC46-654E-12CF981AB52D}"/>
              </a:ext>
            </a:extLst>
          </p:cNvPr>
          <p:cNvSpPr txBox="1">
            <a:spLocks noChangeArrowheads="1"/>
          </p:cNvSpPr>
          <p:nvPr/>
        </p:nvSpPr>
        <p:spPr bwMode="auto">
          <a:xfrm>
            <a:off x="4572000" y="1556888"/>
            <a:ext cx="4032448"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spcAft>
                <a:spcPts val="600"/>
              </a:spcAft>
            </a:pPr>
            <a:r>
              <a:rPr lang="ar" b="1" kern="0" dirty="0">
                <a:latin typeface="Sakkal Majalla" panose="02000000000000000000" pitchFamily="2" charset="-78"/>
                <a:cs typeface="Sakkal Majalla" panose="02000000000000000000" pitchFamily="2" charset="-78"/>
              </a:rPr>
              <a:t>المعدات </a:t>
            </a:r>
          </a:p>
        </p:txBody>
      </p:sp>
      <p:sp>
        <p:nvSpPr>
          <p:cNvPr id="4" name="Content Placeholder 3">
            <a:extLst>
              <a:ext uri="{FF2B5EF4-FFF2-40B4-BE49-F238E27FC236}">
                <a16:creationId xmlns:a16="http://schemas.microsoft.com/office/drawing/2014/main" id="{2A78B7CA-1527-F24A-8F0E-7052DD881839}"/>
              </a:ext>
            </a:extLst>
          </p:cNvPr>
          <p:cNvSpPr txBox="1">
            <a:spLocks noChangeArrowheads="1"/>
          </p:cNvSpPr>
          <p:nvPr/>
        </p:nvSpPr>
        <p:spPr bwMode="auto">
          <a:xfrm>
            <a:off x="395536" y="3307961"/>
            <a:ext cx="8136904" cy="292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lnSpc>
                <a:spcPct val="90000"/>
              </a:lnSpc>
              <a:buNone/>
            </a:pPr>
            <a:r>
              <a:rPr lang="ar" kern="0" dirty="0">
                <a:latin typeface="Sakkal Majalla" panose="02000000000000000000" pitchFamily="2" charset="-78"/>
                <a:cs typeface="Sakkal Majalla" panose="02000000000000000000" pitchFamily="2" charset="-78"/>
              </a:rPr>
              <a:t>من المهم اختيار الأدوات والأجهزة المناسبة التي ستستخدمها للصيانة المقترحة، وهي:</a:t>
            </a:r>
            <a:endParaRPr lang="en-GB" altLang="en-US" kern="0" dirty="0">
              <a:latin typeface="Sakkal Majalla" panose="02000000000000000000" pitchFamily="2" charset="-78"/>
              <a:cs typeface="Sakkal Majalla" panose="02000000000000000000" pitchFamily="2" charset="-78"/>
            </a:endParaRPr>
          </a:p>
          <a:p>
            <a:pPr rtl="1">
              <a:lnSpc>
                <a:spcPct val="90000"/>
              </a:lnSpc>
            </a:pPr>
            <a:r>
              <a:rPr lang="ar" b="1" kern="0" dirty="0">
                <a:latin typeface="Sakkal Majalla" panose="02000000000000000000" pitchFamily="2" charset="-78"/>
                <a:cs typeface="Sakkal Majalla" panose="02000000000000000000" pitchFamily="2" charset="-78"/>
              </a:rPr>
              <a:t>الأدوات: </a:t>
            </a:r>
            <a:r>
              <a:rPr lang="ar" kern="0" dirty="0">
                <a:latin typeface="Sakkal Majalla" panose="02000000000000000000" pitchFamily="2" charset="-78"/>
                <a:cs typeface="Sakkal Majalla" panose="02000000000000000000" pitchFamily="2" charset="-78"/>
              </a:rPr>
              <a:t>يتم وصف معظم الأدوات الشائعة في دليل الطالب واستخدامها.  </a:t>
            </a:r>
          </a:p>
          <a:p>
            <a:pPr marL="0" indent="0" rtl="1">
              <a:lnSpc>
                <a:spcPct val="90000"/>
              </a:lnSpc>
              <a:buNone/>
            </a:pPr>
            <a:r>
              <a:rPr lang="ar" kern="0" dirty="0">
                <a:latin typeface="Sakkal Majalla" panose="02000000000000000000" pitchFamily="2" charset="-78"/>
                <a:cs typeface="Sakkal Majalla" panose="02000000000000000000" pitchFamily="2" charset="-78"/>
              </a:rPr>
              <a:t>     قوائم الأجزاء والقطع والمصادر الرقمية. </a:t>
            </a:r>
          </a:p>
          <a:p>
            <a:pPr rtl="1">
              <a:lnSpc>
                <a:spcPct val="90000"/>
              </a:lnSpc>
            </a:pPr>
            <a:r>
              <a:rPr lang="ar" b="1" kern="0" dirty="0">
                <a:latin typeface="Sakkal Majalla" panose="02000000000000000000" pitchFamily="2" charset="-78"/>
                <a:cs typeface="Sakkal Majalla" panose="02000000000000000000" pitchFamily="2" charset="-78"/>
              </a:rPr>
              <a:t>جهاز اختبار سائل الفرامل (مقياس معامل الانكسار):</a:t>
            </a:r>
            <a:r>
              <a:rPr lang="ar" kern="0" dirty="0">
                <a:latin typeface="Sakkal Majalla" panose="02000000000000000000" pitchFamily="2" charset="-78"/>
                <a:cs typeface="Sakkal Majalla" panose="02000000000000000000" pitchFamily="2" charset="-78"/>
              </a:rPr>
              <a:t> لتحديد محتويات رطوبة السوائل التي يجب ألا تتجاوز 3%.</a:t>
            </a:r>
          </a:p>
          <a:p>
            <a:pPr rtl="1">
              <a:lnSpc>
                <a:spcPct val="90000"/>
              </a:lnSpc>
            </a:pPr>
            <a:r>
              <a:rPr lang="ar" b="1" kern="0" dirty="0">
                <a:latin typeface="Sakkal Majalla" panose="02000000000000000000" pitchFamily="2" charset="-78"/>
                <a:cs typeface="Sakkal Majalla" panose="02000000000000000000" pitchFamily="2" charset="-78"/>
              </a:rPr>
              <a:t>سائل التبريد المضاد للتجمد: </a:t>
            </a:r>
            <a:r>
              <a:rPr lang="ar" kern="0" dirty="0">
                <a:latin typeface="Sakkal Majalla" panose="02000000000000000000" pitchFamily="2" charset="-78"/>
                <a:cs typeface="Sakkal Majalla" panose="02000000000000000000" pitchFamily="2" charset="-78"/>
              </a:rPr>
              <a:t>مزيج 50/50 من مضاد التجمد والماء هو أفضل حل وسط بين حماية درجة الحرارة ونقل الحرارة الضروري لتشغيل نظام التبريد </a:t>
            </a:r>
            <a:endParaRPr lang="ar-EG" b="1" kern="0" dirty="0">
              <a:latin typeface="Sakkal Majalla" panose="02000000000000000000" pitchFamily="2" charset="-78"/>
              <a:cs typeface="Sakkal Majalla" panose="02000000000000000000" pitchFamily="2" charset="-78"/>
            </a:endParaRPr>
          </a:p>
        </p:txBody>
      </p:sp>
      <p:sp>
        <p:nvSpPr>
          <p:cNvPr id="6" name="Footer Placeholder 2">
            <a:extLst>
              <a:ext uri="{FF2B5EF4-FFF2-40B4-BE49-F238E27FC236}">
                <a16:creationId xmlns:a16="http://schemas.microsoft.com/office/drawing/2014/main" id="{4F601D68-B097-FD57-364C-7C88C4B0C7B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7" name="Content Placeholder 7" descr="Several hands holding tools&#10;&#10;Description automatically generated">
            <a:extLst>
              <a:ext uri="{FF2B5EF4-FFF2-40B4-BE49-F238E27FC236}">
                <a16:creationId xmlns:a16="http://schemas.microsoft.com/office/drawing/2014/main" id="{B62806DC-44EC-AA88-99BA-B8E35D5C08D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auto">
          <a:xfrm>
            <a:off x="755576" y="1412872"/>
            <a:ext cx="3610056" cy="1607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8394519"/>
      </p:ext>
    </p:extLst>
  </p:cSld>
  <p:clrMapOvr>
    <a:masterClrMapping/>
  </p:clrMapOvr>
  <p:transition>
    <p:sndAc>
      <p:stSnd>
        <p:snd r:embed="rId2"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AA8E71-15C1-DC46-654E-12CF981AB52D}"/>
              </a:ext>
            </a:extLst>
          </p:cNvPr>
          <p:cNvSpPr txBox="1">
            <a:spLocks noChangeArrowheads="1"/>
          </p:cNvSpPr>
          <p:nvPr/>
        </p:nvSpPr>
        <p:spPr bwMode="auto">
          <a:xfrm>
            <a:off x="662880" y="1156148"/>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spcAft>
                <a:spcPts val="600"/>
              </a:spcAft>
            </a:pPr>
            <a:r>
              <a:rPr lang="ar" b="1" kern="0">
                <a:latin typeface="Sakkal Majalla" panose="02000000000000000000" pitchFamily="2" charset="-78"/>
                <a:cs typeface="Sakkal Majalla" panose="02000000000000000000" pitchFamily="2" charset="-78"/>
              </a:rPr>
              <a:t>المعدات  </a:t>
            </a:r>
          </a:p>
        </p:txBody>
      </p:sp>
      <p:sp>
        <p:nvSpPr>
          <p:cNvPr id="4" name="Content Placeholder 3">
            <a:extLst>
              <a:ext uri="{FF2B5EF4-FFF2-40B4-BE49-F238E27FC236}">
                <a16:creationId xmlns:a16="http://schemas.microsoft.com/office/drawing/2014/main" id="{2A78B7CA-1527-F24A-8F0E-7052DD881839}"/>
              </a:ext>
            </a:extLst>
          </p:cNvPr>
          <p:cNvSpPr txBox="1">
            <a:spLocks noChangeArrowheads="1"/>
          </p:cNvSpPr>
          <p:nvPr/>
        </p:nvSpPr>
        <p:spPr bwMode="auto">
          <a:xfrm>
            <a:off x="6005" y="1916831"/>
            <a:ext cx="8598443" cy="390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lnSpcReduction="10000"/>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lnSpc>
                <a:spcPct val="90000"/>
              </a:lnSpc>
            </a:pPr>
            <a:endParaRPr lang="en-GB" altLang="en-US" sz="2000" b="1" kern="0" dirty="0">
              <a:latin typeface="Sakkal Majalla" panose="02000000000000000000" pitchFamily="2" charset="-78"/>
              <a:cs typeface="Sakkal Majalla" panose="02000000000000000000" pitchFamily="2" charset="-78"/>
            </a:endParaRPr>
          </a:p>
          <a:p>
            <a:pPr rtl="1">
              <a:lnSpc>
                <a:spcPct val="90000"/>
              </a:lnSpc>
            </a:pPr>
            <a:r>
              <a:rPr lang="ar" sz="2000" b="1" kern="0" dirty="0">
                <a:latin typeface="Sakkal Majalla" panose="02000000000000000000" pitchFamily="2" charset="-78"/>
                <a:cs typeface="Sakkal Majalla" panose="02000000000000000000" pitchFamily="2" charset="-78"/>
              </a:rPr>
              <a:t>قياسات عزم الدوران: </a:t>
            </a:r>
            <a:r>
              <a:rPr lang="ar" sz="2000" kern="0" dirty="0">
                <a:latin typeface="Sakkal Majalla" panose="02000000000000000000" pitchFamily="2" charset="-78"/>
                <a:cs typeface="Sakkal Majalla" panose="02000000000000000000" pitchFamily="2" charset="-78"/>
              </a:rPr>
              <a:t>يجب تطبيق عزم الدوران الموصى به من قبل الشركة المصنعة لضمان عزم الدوران الموصى به للمكونات ويمكن قياسه بواسطة مفتاح عزم الدوران</a:t>
            </a:r>
            <a:r>
              <a:rPr lang="ar" sz="2000" b="1" kern="0" dirty="0">
                <a:latin typeface="Sakkal Majalla" panose="02000000000000000000" pitchFamily="2" charset="-78"/>
                <a:cs typeface="Sakkal Majalla" panose="02000000000000000000" pitchFamily="2" charset="-78"/>
              </a:rPr>
              <a:t>. </a:t>
            </a:r>
          </a:p>
          <a:p>
            <a:pPr rtl="1">
              <a:lnSpc>
                <a:spcPct val="90000"/>
              </a:lnSpc>
            </a:pPr>
            <a:r>
              <a:rPr lang="ar" sz="2000" b="1" kern="0" dirty="0">
                <a:latin typeface="Sakkal Majalla" panose="02000000000000000000" pitchFamily="2" charset="-78"/>
                <a:cs typeface="Sakkal Majalla" panose="02000000000000000000" pitchFamily="2" charset="-78"/>
              </a:rPr>
              <a:t>قياسات الشد: </a:t>
            </a:r>
            <a:r>
              <a:rPr lang="ar" sz="2000" kern="0" dirty="0">
                <a:latin typeface="Sakkal Majalla" panose="02000000000000000000" pitchFamily="2" charset="-78"/>
                <a:cs typeface="Sakkal Majalla" panose="02000000000000000000" pitchFamily="2" charset="-78"/>
              </a:rPr>
              <a:t>من المهم أن</a:t>
            </a:r>
          </a:p>
          <a:p>
            <a:pPr marL="0" indent="0" rtl="1">
              <a:lnSpc>
                <a:spcPct val="90000"/>
              </a:lnSpc>
              <a:buNone/>
            </a:pPr>
            <a:r>
              <a:rPr lang="ar" sz="2000" kern="0" dirty="0">
                <a:latin typeface="Sakkal Majalla" panose="02000000000000000000" pitchFamily="2" charset="-78"/>
                <a:cs typeface="Sakkal Majalla" panose="02000000000000000000" pitchFamily="2" charset="-78"/>
              </a:rPr>
              <a:t>     تحقيق شد معين في السير. وهذا يمكن </a:t>
            </a:r>
          </a:p>
          <a:p>
            <a:pPr marL="0" indent="0" rtl="1">
              <a:lnSpc>
                <a:spcPct val="90000"/>
              </a:lnSpc>
              <a:buNone/>
            </a:pPr>
            <a:r>
              <a:rPr lang="ar" sz="2000" kern="0" dirty="0">
                <a:latin typeface="Sakkal Majalla" panose="02000000000000000000" pitchFamily="2" charset="-78"/>
                <a:cs typeface="Sakkal Majalla" panose="02000000000000000000" pitchFamily="2" charset="-78"/>
              </a:rPr>
              <a:t>     قياسه باستخدام مقياس شد السير.  </a:t>
            </a:r>
          </a:p>
          <a:p>
            <a:pPr rtl="1">
              <a:lnSpc>
                <a:spcPct val="90000"/>
              </a:lnSpc>
            </a:pPr>
            <a:r>
              <a:rPr lang="ar" sz="2000" b="1" kern="0" dirty="0">
                <a:latin typeface="Sakkal Majalla" panose="02000000000000000000" pitchFamily="2" charset="-78"/>
                <a:cs typeface="Sakkal Majalla" panose="02000000000000000000" pitchFamily="2" charset="-78"/>
              </a:rPr>
              <a:t>ضغط الإطارات</a:t>
            </a:r>
            <a:r>
              <a:rPr lang="ar" sz="2000" kern="0" dirty="0">
                <a:latin typeface="Sakkal Majalla" panose="02000000000000000000" pitchFamily="2" charset="-78"/>
                <a:cs typeface="Sakkal Majalla" panose="02000000000000000000" pitchFamily="2" charset="-78"/>
              </a:rPr>
              <a:t>: يمكن استخدام مقياس ضغط الإطارات </a:t>
            </a:r>
          </a:p>
          <a:p>
            <a:pPr marL="0" indent="0" rtl="1">
              <a:lnSpc>
                <a:spcPct val="90000"/>
              </a:lnSpc>
              <a:buNone/>
            </a:pPr>
            <a:r>
              <a:rPr lang="ar" sz="2000" kern="0" dirty="0">
                <a:latin typeface="Sakkal Majalla" panose="02000000000000000000" pitchFamily="2" charset="-78"/>
                <a:cs typeface="Sakkal Majalla" panose="02000000000000000000" pitchFamily="2" charset="-78"/>
              </a:rPr>
              <a:t>     لاختبار ضغط الهواء داخل الإطار. </a:t>
            </a:r>
          </a:p>
          <a:p>
            <a:pPr rtl="1">
              <a:lnSpc>
                <a:spcPct val="90000"/>
              </a:lnSpc>
            </a:pPr>
            <a:r>
              <a:rPr lang="ar" sz="2000" b="1" kern="0" dirty="0">
                <a:latin typeface="Sakkal Majalla" panose="02000000000000000000" pitchFamily="2" charset="-78"/>
                <a:cs typeface="Sakkal Majalla" panose="02000000000000000000" pitchFamily="2" charset="-78"/>
              </a:rPr>
              <a:t>عمق مداس الإطارات: </a:t>
            </a:r>
            <a:r>
              <a:rPr lang="ar" sz="2000" kern="0" dirty="0">
                <a:latin typeface="Sakkal Majalla" panose="02000000000000000000" pitchFamily="2" charset="-78"/>
                <a:cs typeface="Sakkal Majalla" panose="02000000000000000000" pitchFamily="2" charset="-78"/>
              </a:rPr>
              <a:t>يتم استخدام مقياس عمق مداس الإطار </a:t>
            </a:r>
          </a:p>
          <a:p>
            <a:pPr marL="0" indent="0" rtl="1">
              <a:lnSpc>
                <a:spcPct val="90000"/>
              </a:lnSpc>
              <a:buNone/>
            </a:pPr>
            <a:r>
              <a:rPr lang="ar" sz="2000" kern="0" dirty="0">
                <a:latin typeface="Sakkal Majalla" panose="02000000000000000000" pitchFamily="2" charset="-78"/>
                <a:cs typeface="Sakkal Majalla" panose="02000000000000000000" pitchFamily="2" charset="-78"/>
              </a:rPr>
              <a:t>     لقياس عمق المطاط المحزز على الإطار.</a:t>
            </a:r>
          </a:p>
          <a:p>
            <a:pPr rtl="1">
              <a:lnSpc>
                <a:spcPct val="90000"/>
              </a:lnSpc>
            </a:pPr>
            <a:r>
              <a:rPr lang="ar" sz="2000" b="1" kern="0" dirty="0">
                <a:latin typeface="Sakkal Majalla" panose="02000000000000000000" pitchFamily="2" charset="-78"/>
                <a:cs typeface="Sakkal Majalla" panose="02000000000000000000" pitchFamily="2" charset="-78"/>
              </a:rPr>
              <a:t>تحليل الانبعاثات: </a:t>
            </a:r>
            <a:r>
              <a:rPr dirty="0" err="1">
                <a:latin typeface="Sakkal Majalla" panose="02000000000000000000" pitchFamily="2" charset="-78"/>
                <a:cs typeface="Sakkal Majalla" panose="02000000000000000000" pitchFamily="2" charset="-78"/>
              </a:rPr>
              <a:t>يمكن</a:t>
            </a:r>
            <a:r>
              <a:rPr dirty="0">
                <a:latin typeface="Sakkal Majalla" panose="02000000000000000000" pitchFamily="2" charset="-78"/>
                <a:cs typeface="Sakkal Majalla" panose="02000000000000000000" pitchFamily="2" charset="-78"/>
              </a:rPr>
              <a:t> </a:t>
            </a:r>
            <a:r>
              <a:rPr dirty="0" err="1">
                <a:latin typeface="Sakkal Majalla" panose="02000000000000000000" pitchFamily="2" charset="-78"/>
                <a:cs typeface="Sakkal Majalla" panose="02000000000000000000" pitchFamily="2" charset="-78"/>
              </a:rPr>
              <a:t>استخدام</a:t>
            </a:r>
            <a:r>
              <a:rPr dirty="0">
                <a:latin typeface="Sakkal Majalla" panose="02000000000000000000" pitchFamily="2" charset="-78"/>
                <a:cs typeface="Sakkal Majalla" panose="02000000000000000000" pitchFamily="2" charset="-78"/>
              </a:rPr>
              <a:t> </a:t>
            </a:r>
            <a:r>
              <a:rPr dirty="0" err="1">
                <a:latin typeface="Sakkal Majalla" panose="02000000000000000000" pitchFamily="2" charset="-78"/>
                <a:cs typeface="Sakkal Majalla" panose="02000000000000000000" pitchFamily="2" charset="-78"/>
              </a:rPr>
              <a:t>محلل</a:t>
            </a:r>
            <a:r>
              <a:rPr dirty="0">
                <a:latin typeface="Sakkal Majalla" panose="02000000000000000000" pitchFamily="2" charset="-78"/>
                <a:cs typeface="Sakkal Majalla" panose="02000000000000000000" pitchFamily="2" charset="-78"/>
              </a:rPr>
              <a:t> </a:t>
            </a:r>
            <a:r>
              <a:rPr dirty="0" err="1">
                <a:latin typeface="Sakkal Majalla" panose="02000000000000000000" pitchFamily="2" charset="-78"/>
                <a:cs typeface="Sakkal Majalla" panose="02000000000000000000" pitchFamily="2" charset="-78"/>
              </a:rPr>
              <a:t>غاز</a:t>
            </a:r>
            <a:r>
              <a:rPr dirty="0">
                <a:latin typeface="Sakkal Majalla" panose="02000000000000000000" pitchFamily="2" charset="-78"/>
                <a:cs typeface="Sakkal Majalla" panose="02000000000000000000" pitchFamily="2" charset="-78"/>
              </a:rPr>
              <a:t> </a:t>
            </a:r>
            <a:r>
              <a:rPr dirty="0" err="1">
                <a:latin typeface="Sakkal Majalla" panose="02000000000000000000" pitchFamily="2" charset="-78"/>
                <a:cs typeface="Sakkal Majalla" panose="02000000000000000000" pitchFamily="2" charset="-78"/>
              </a:rPr>
              <a:t>العادم</a:t>
            </a:r>
            <a:r>
              <a:rPr dirty="0">
                <a:latin typeface="Sakkal Majalla" panose="02000000000000000000" pitchFamily="2" charset="-78"/>
                <a:cs typeface="Sakkal Majalla" panose="02000000000000000000" pitchFamily="2" charset="-78"/>
              </a:rPr>
              <a:t> </a:t>
            </a:r>
            <a:br>
              <a:rPr lang="en-GB" sz="2000" kern="0" dirty="0">
                <a:latin typeface="Sakkal Majalla" panose="02000000000000000000" pitchFamily="2" charset="-78"/>
                <a:cs typeface="Sakkal Majalla" panose="02000000000000000000" pitchFamily="2" charset="-78"/>
              </a:rPr>
            </a:br>
            <a:r>
              <a:rPr dirty="0" err="1">
                <a:latin typeface="Sakkal Majalla" panose="02000000000000000000" pitchFamily="2" charset="-78"/>
                <a:cs typeface="Sakkal Majalla" panose="02000000000000000000" pitchFamily="2" charset="-78"/>
              </a:rPr>
              <a:t>لقياس</a:t>
            </a:r>
            <a:r>
              <a:rPr dirty="0">
                <a:latin typeface="Sakkal Majalla" panose="02000000000000000000" pitchFamily="2" charset="-78"/>
                <a:cs typeface="Sakkal Majalla" panose="02000000000000000000" pitchFamily="2" charset="-78"/>
              </a:rPr>
              <a:t> </a:t>
            </a:r>
            <a:r>
              <a:rPr dirty="0" err="1">
                <a:latin typeface="Sakkal Majalla" panose="02000000000000000000" pitchFamily="2" charset="-78"/>
                <a:cs typeface="Sakkal Majalla" panose="02000000000000000000" pitchFamily="2" charset="-78"/>
              </a:rPr>
              <a:t>انبعاثات</a:t>
            </a:r>
            <a:r>
              <a:rPr dirty="0">
                <a:latin typeface="Sakkal Majalla" panose="02000000000000000000" pitchFamily="2" charset="-78"/>
                <a:cs typeface="Sakkal Majalla" panose="02000000000000000000" pitchFamily="2" charset="-78"/>
              </a:rPr>
              <a:t> </a:t>
            </a:r>
            <a:r>
              <a:rPr dirty="0" err="1">
                <a:latin typeface="Sakkal Majalla" panose="02000000000000000000" pitchFamily="2" charset="-78"/>
                <a:cs typeface="Sakkal Majalla" panose="02000000000000000000" pitchFamily="2" charset="-78"/>
              </a:rPr>
              <a:t>البنزين</a:t>
            </a:r>
            <a:r>
              <a:rPr dirty="0">
                <a:latin typeface="Sakkal Majalla" panose="02000000000000000000" pitchFamily="2" charset="-78"/>
                <a:cs typeface="Sakkal Majalla" panose="02000000000000000000" pitchFamily="2" charset="-78"/>
              </a:rPr>
              <a:t> </a:t>
            </a:r>
            <a:r>
              <a:rPr dirty="0" err="1">
                <a:latin typeface="Sakkal Majalla" panose="02000000000000000000" pitchFamily="2" charset="-78"/>
                <a:cs typeface="Sakkal Majalla" panose="02000000000000000000" pitchFamily="2" charset="-78"/>
              </a:rPr>
              <a:t>غير</a:t>
            </a:r>
            <a:r>
              <a:rPr dirty="0">
                <a:latin typeface="Sakkal Majalla" panose="02000000000000000000" pitchFamily="2" charset="-78"/>
                <a:cs typeface="Sakkal Majalla" panose="02000000000000000000" pitchFamily="2" charset="-78"/>
              </a:rPr>
              <a:t> </a:t>
            </a:r>
            <a:r>
              <a:rPr dirty="0" err="1">
                <a:latin typeface="Sakkal Majalla" panose="02000000000000000000" pitchFamily="2" charset="-78"/>
                <a:cs typeface="Sakkal Majalla" panose="02000000000000000000" pitchFamily="2" charset="-78"/>
              </a:rPr>
              <a:t>المحترقة</a:t>
            </a:r>
            <a:r>
              <a:rPr dirty="0">
                <a:latin typeface="Sakkal Majalla" panose="02000000000000000000" pitchFamily="2" charset="-78"/>
                <a:cs typeface="Sakkal Majalla" panose="02000000000000000000" pitchFamily="2" charset="-78"/>
              </a:rPr>
              <a:t>. </a:t>
            </a:r>
            <a:endParaRPr lang="en-US" sz="2000" b="1" kern="0" dirty="0">
              <a:latin typeface="Sakkal Majalla" panose="02000000000000000000" pitchFamily="2" charset="-78"/>
              <a:cs typeface="Sakkal Majalla" panose="02000000000000000000" pitchFamily="2" charset="-78"/>
            </a:endParaRPr>
          </a:p>
          <a:p>
            <a:pPr rtl="1">
              <a:lnSpc>
                <a:spcPct val="90000"/>
              </a:lnSpc>
            </a:pPr>
            <a:endParaRPr lang="en-US" sz="2000" kern="0" dirty="0">
              <a:latin typeface="Sakkal Majalla" panose="02000000000000000000" pitchFamily="2" charset="-78"/>
              <a:cs typeface="Sakkal Majalla" panose="02000000000000000000" pitchFamily="2" charset="-78"/>
            </a:endParaRPr>
          </a:p>
          <a:p>
            <a:pPr rtl="1">
              <a:lnSpc>
                <a:spcPct val="90000"/>
              </a:lnSpc>
            </a:pPr>
            <a:endParaRPr lang="en-GB" altLang="en-US" sz="2000" kern="0" dirty="0">
              <a:latin typeface="Sakkal Majalla" panose="02000000000000000000" pitchFamily="2" charset="-78"/>
              <a:cs typeface="Sakkal Majalla" panose="02000000000000000000" pitchFamily="2" charset="-78"/>
            </a:endParaRPr>
          </a:p>
          <a:p>
            <a:pPr rtl="1">
              <a:lnSpc>
                <a:spcPct val="90000"/>
              </a:lnSpc>
            </a:pPr>
            <a:endParaRPr lang="ar-EG" sz="2000" b="1" kern="0" dirty="0">
              <a:latin typeface="Sakkal Majalla" panose="02000000000000000000" pitchFamily="2" charset="-78"/>
              <a:cs typeface="Sakkal Majalla" panose="02000000000000000000" pitchFamily="2" charset="-78"/>
            </a:endParaRPr>
          </a:p>
        </p:txBody>
      </p:sp>
      <p:sp>
        <p:nvSpPr>
          <p:cNvPr id="6" name="Footer Placeholder 2">
            <a:extLst>
              <a:ext uri="{FF2B5EF4-FFF2-40B4-BE49-F238E27FC236}">
                <a16:creationId xmlns:a16="http://schemas.microsoft.com/office/drawing/2014/main" id="{51EAB656-E564-3773-2C7B-AD7A91B15F9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7" name="Picture 6" descr="A person working on a car&#10;&#10;Description automatically generated">
            <a:extLst>
              <a:ext uri="{FF2B5EF4-FFF2-40B4-BE49-F238E27FC236}">
                <a16:creationId xmlns:a16="http://schemas.microsoft.com/office/drawing/2014/main" id="{91DA7367-2A53-77AB-79A0-D34D3BDA29C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5"/>
          <a:stretch/>
        </p:blipFill>
        <p:spPr>
          <a:xfrm>
            <a:off x="755576" y="2996952"/>
            <a:ext cx="2609153" cy="2606959"/>
          </a:xfrm>
          <a:prstGeom prst="rect">
            <a:avLst/>
          </a:prstGeom>
          <a:noFill/>
        </p:spPr>
      </p:pic>
    </p:spTree>
    <p:extLst>
      <p:ext uri="{BB962C8B-B14F-4D97-AF65-F5344CB8AC3E}">
        <p14:creationId xmlns:p14="http://schemas.microsoft.com/office/powerpoint/2010/main" val="2792385904"/>
      </p:ext>
    </p:extLst>
  </p:cSld>
  <p:clrMapOvr>
    <a:masterClrMapping/>
  </p:clrMapOvr>
  <p:transition>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AA8E71-15C1-DC46-654E-12CF981AB52D}"/>
              </a:ext>
            </a:extLst>
          </p:cNvPr>
          <p:cNvSpPr txBox="1">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spcAft>
                <a:spcPts val="600"/>
              </a:spcAft>
            </a:pPr>
            <a:r>
              <a:rPr lang="ar" b="1" kern="0">
                <a:latin typeface="Sakkal Majalla" panose="02000000000000000000" pitchFamily="2" charset="-78"/>
                <a:cs typeface="Sakkal Majalla" panose="02000000000000000000" pitchFamily="2" charset="-78"/>
              </a:rPr>
              <a:t>المعدات  </a:t>
            </a:r>
          </a:p>
        </p:txBody>
      </p:sp>
      <p:sp>
        <p:nvSpPr>
          <p:cNvPr id="4" name="Content Placeholder 3">
            <a:extLst>
              <a:ext uri="{FF2B5EF4-FFF2-40B4-BE49-F238E27FC236}">
                <a16:creationId xmlns:a16="http://schemas.microsoft.com/office/drawing/2014/main" id="{2A78B7CA-1527-F24A-8F0E-7052DD881839}"/>
              </a:ext>
            </a:extLst>
          </p:cNvPr>
          <p:cNvSpPr txBox="1">
            <a:spLocks noChangeArrowheads="1"/>
          </p:cNvSpPr>
          <p:nvPr/>
        </p:nvSpPr>
        <p:spPr bwMode="auto">
          <a:xfrm>
            <a:off x="468312" y="2196001"/>
            <a:ext cx="4027488" cy="40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lnSpc>
                <a:spcPct val="90000"/>
              </a:lnSpc>
            </a:pPr>
            <a:r>
              <a:rPr lang="ar" sz="1700" b="1" kern="0" dirty="0">
                <a:latin typeface="Sakkal Majalla" panose="02000000000000000000" pitchFamily="2" charset="-78"/>
                <a:cs typeface="Sakkal Majalla" panose="02000000000000000000" pitchFamily="2" charset="-78"/>
              </a:rPr>
              <a:t>ترصيص العجلات:</a:t>
            </a:r>
          </a:p>
          <a:p>
            <a:pPr marL="0" indent="0" rtl="1">
              <a:lnSpc>
                <a:spcPct val="90000"/>
              </a:lnSpc>
              <a:buNone/>
            </a:pPr>
            <a:r>
              <a:rPr lang="ar" sz="1700" b="1" kern="0" dirty="0">
                <a:latin typeface="Sakkal Majalla" panose="02000000000000000000" pitchFamily="2" charset="-78"/>
                <a:cs typeface="Sakkal Majalla" panose="02000000000000000000" pitchFamily="2" charset="-78"/>
              </a:rPr>
              <a:t> </a:t>
            </a:r>
          </a:p>
          <a:p>
            <a:pPr marL="0" indent="0" rtl="1">
              <a:lnSpc>
                <a:spcPct val="90000"/>
              </a:lnSpc>
              <a:buNone/>
            </a:pPr>
            <a:r>
              <a:rPr lang="ar" sz="1700" kern="0" dirty="0">
                <a:latin typeface="Sakkal Majalla" panose="02000000000000000000" pitchFamily="2" charset="-78"/>
                <a:cs typeface="Sakkal Majalla" panose="02000000000000000000" pitchFamily="2" charset="-78"/>
              </a:rPr>
              <a:t>يمكن أن تتآكل الإطارات بسرعة إذا لم يتم ترصيصها (محاذاتها) بشكل صحيح. يتم استخدام آلة ترصيص العجلات لضبط زوايا الكامبر والميل واللم.   </a:t>
            </a:r>
            <a:r>
              <a:rPr lang="ar" sz="1700" b="1" kern="0" dirty="0">
                <a:latin typeface="Sakkal Majalla" panose="02000000000000000000" pitchFamily="2" charset="-78"/>
                <a:cs typeface="Sakkal Majalla" panose="02000000000000000000" pitchFamily="2" charset="-78"/>
              </a:rPr>
              <a:t> </a:t>
            </a:r>
          </a:p>
          <a:p>
            <a:pPr marL="0" indent="0" rtl="1">
              <a:lnSpc>
                <a:spcPct val="90000"/>
              </a:lnSpc>
              <a:buNone/>
            </a:pPr>
            <a:endParaRPr lang="en-GB" altLang="en-US" sz="1700" b="1" kern="0" dirty="0">
              <a:latin typeface="Sakkal Majalla" panose="02000000000000000000" pitchFamily="2" charset="-78"/>
              <a:cs typeface="Sakkal Majalla" panose="02000000000000000000" pitchFamily="2" charset="-78"/>
            </a:endParaRPr>
          </a:p>
          <a:p>
            <a:pPr rtl="1">
              <a:lnSpc>
                <a:spcPct val="90000"/>
              </a:lnSpc>
            </a:pPr>
            <a:r>
              <a:rPr lang="ar" sz="1700" b="1" kern="0" dirty="0">
                <a:latin typeface="Sakkal Majalla" panose="02000000000000000000" pitchFamily="2" charset="-78"/>
                <a:cs typeface="Sakkal Majalla" panose="02000000000000000000" pitchFamily="2" charset="-78"/>
              </a:rPr>
              <a:t>الاختيار الأمثل للأدوات والمعدات:</a:t>
            </a:r>
          </a:p>
          <a:p>
            <a:pPr marL="0" indent="0" rtl="1">
              <a:lnSpc>
                <a:spcPct val="90000"/>
              </a:lnSpc>
              <a:buNone/>
            </a:pPr>
            <a:endParaRPr lang="en-GB" altLang="en-US" sz="1700" kern="0" dirty="0">
              <a:latin typeface="Sakkal Majalla" panose="02000000000000000000" pitchFamily="2" charset="-78"/>
              <a:cs typeface="Sakkal Majalla" panose="02000000000000000000" pitchFamily="2" charset="-78"/>
            </a:endParaRPr>
          </a:p>
          <a:p>
            <a:pPr marL="0" indent="0" rtl="1">
              <a:lnSpc>
                <a:spcPct val="90000"/>
              </a:lnSpc>
              <a:buNone/>
            </a:pPr>
            <a:r>
              <a:rPr lang="ar" sz="1700" kern="0" dirty="0">
                <a:latin typeface="Sakkal Majalla" panose="02000000000000000000" pitchFamily="2" charset="-78"/>
                <a:cs typeface="Sakkal Majalla" panose="02000000000000000000" pitchFamily="2" charset="-78"/>
              </a:rPr>
              <a:t>يعتمد اختيار الأدوات والمعدات المناسبة على متطلبات الشركة المصنعة والميزانية المخصصة للأدوات والمعدات. </a:t>
            </a:r>
            <a:endParaRPr lang="en-US" sz="1700" kern="0" dirty="0">
              <a:latin typeface="Sakkal Majalla" panose="02000000000000000000" pitchFamily="2" charset="-78"/>
              <a:cs typeface="Sakkal Majalla" panose="02000000000000000000" pitchFamily="2" charset="-78"/>
            </a:endParaRPr>
          </a:p>
          <a:p>
            <a:pPr rtl="1">
              <a:lnSpc>
                <a:spcPct val="90000"/>
              </a:lnSpc>
            </a:pPr>
            <a:endParaRPr lang="en-US" sz="1700" kern="0" dirty="0">
              <a:latin typeface="Sakkal Majalla" panose="02000000000000000000" pitchFamily="2" charset="-78"/>
              <a:cs typeface="Sakkal Majalla" panose="02000000000000000000" pitchFamily="2" charset="-78"/>
            </a:endParaRPr>
          </a:p>
          <a:p>
            <a:pPr rtl="1">
              <a:lnSpc>
                <a:spcPct val="90000"/>
              </a:lnSpc>
            </a:pPr>
            <a:endParaRPr lang="en-GB" altLang="en-US" sz="1700" kern="0" dirty="0">
              <a:latin typeface="Sakkal Majalla" panose="02000000000000000000" pitchFamily="2" charset="-78"/>
              <a:cs typeface="Sakkal Majalla" panose="02000000000000000000" pitchFamily="2" charset="-78"/>
            </a:endParaRPr>
          </a:p>
          <a:p>
            <a:pPr rtl="1">
              <a:lnSpc>
                <a:spcPct val="90000"/>
              </a:lnSpc>
            </a:pPr>
            <a:endParaRPr lang="ar-EG" sz="1700" b="1" kern="0"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503FDCBE-EF2E-BDF6-BE9E-F253E440F29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7" name="Picture 6" descr="A machine in a garage&#10;&#10;Description automatically generated">
            <a:extLst>
              <a:ext uri="{FF2B5EF4-FFF2-40B4-BE49-F238E27FC236}">
                <a16:creationId xmlns:a16="http://schemas.microsoft.com/office/drawing/2014/main" id="{91698293-57E1-8EBE-8642-46459F1BED7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76056" y="2708920"/>
            <a:ext cx="3427553" cy="2285274"/>
          </a:xfrm>
          <a:prstGeom prst="rect">
            <a:avLst/>
          </a:prstGeom>
        </p:spPr>
      </p:pic>
    </p:spTree>
    <p:extLst>
      <p:ext uri="{BB962C8B-B14F-4D97-AF65-F5344CB8AC3E}">
        <p14:creationId xmlns:p14="http://schemas.microsoft.com/office/powerpoint/2010/main" val="1922336420"/>
      </p:ext>
    </p:extLst>
  </p:cSld>
  <p:clrMapOvr>
    <a:masterClrMapping/>
  </p:clrMapOvr>
  <p:transition>
    <p:sndAc>
      <p:stSnd>
        <p:snd r:embed="rId2"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AA8E71-15C1-DC46-654E-12CF981AB52D}"/>
              </a:ext>
            </a:extLst>
          </p:cNvPr>
          <p:cNvSpPr txBox="1">
            <a:spLocks noChangeArrowheads="1"/>
          </p:cNvSpPr>
          <p:nvPr/>
        </p:nvSpPr>
        <p:spPr bwMode="auto">
          <a:xfrm>
            <a:off x="827584" y="1347600"/>
            <a:ext cx="7935269"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spcAft>
                <a:spcPts val="600"/>
              </a:spcAft>
            </a:pPr>
            <a:r>
              <a:rPr lang="ar" b="1" kern="0" dirty="0">
                <a:latin typeface="Sakkal Majalla" panose="02000000000000000000" pitchFamily="2" charset="-78"/>
                <a:cs typeface="Sakkal Majalla" panose="02000000000000000000" pitchFamily="2" charset="-78"/>
              </a:rPr>
              <a:t>المكونات والمواد اللازمة للصيانة  </a:t>
            </a:r>
            <a:endParaRPr lang="en-GB" altLang="en-US" b="1" kern="0" dirty="0">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2A78B7CA-1527-F24A-8F0E-7052DD881839}"/>
              </a:ext>
            </a:extLst>
          </p:cNvPr>
          <p:cNvSpPr txBox="1">
            <a:spLocks noChangeArrowheads="1"/>
          </p:cNvSpPr>
          <p:nvPr/>
        </p:nvSpPr>
        <p:spPr bwMode="auto">
          <a:xfrm>
            <a:off x="-29197" y="2020148"/>
            <a:ext cx="8792050" cy="40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fontScale="92500" lnSpcReduction="10000"/>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lnSpc>
                <a:spcPct val="90000"/>
              </a:lnSpc>
            </a:pPr>
            <a:endParaRPr lang="en-GB" altLang="en-US" sz="2000" b="1" kern="0" dirty="0">
              <a:latin typeface="Sakkal Majalla" panose="02000000000000000000" pitchFamily="2" charset="-78"/>
              <a:cs typeface="Sakkal Majalla" panose="02000000000000000000" pitchFamily="2" charset="-78"/>
            </a:endParaRPr>
          </a:p>
          <a:p>
            <a:pPr rtl="1">
              <a:lnSpc>
                <a:spcPct val="110000"/>
              </a:lnSpc>
            </a:pPr>
            <a:r>
              <a:rPr lang="ar" sz="2000" b="1" kern="0" dirty="0">
                <a:latin typeface="Sakkal Majalla" panose="02000000000000000000" pitchFamily="2" charset="-78"/>
                <a:cs typeface="Sakkal Majalla" panose="02000000000000000000" pitchFamily="2" charset="-78"/>
              </a:rPr>
              <a:t>الفلاتر: </a:t>
            </a:r>
            <a:r>
              <a:rPr lang="ar" sz="2000" kern="0" dirty="0">
                <a:latin typeface="Sakkal Majalla" panose="02000000000000000000" pitchFamily="2" charset="-78"/>
                <a:cs typeface="Sakkal Majalla" panose="02000000000000000000" pitchFamily="2" charset="-78"/>
              </a:rPr>
              <a:t>مثل فلتر الزيت وفلتر الهواء وفلتر الوقود وفلتر هواء المقصورة.    </a:t>
            </a:r>
            <a:r>
              <a:rPr lang="ar" sz="2000" b="1" kern="0" dirty="0">
                <a:latin typeface="Sakkal Majalla" panose="02000000000000000000" pitchFamily="2" charset="-78"/>
                <a:cs typeface="Sakkal Majalla" panose="02000000000000000000" pitchFamily="2" charset="-78"/>
              </a:rPr>
              <a:t> </a:t>
            </a:r>
          </a:p>
          <a:p>
            <a:pPr rtl="1">
              <a:lnSpc>
                <a:spcPct val="110000"/>
              </a:lnSpc>
            </a:pPr>
            <a:r>
              <a:rPr lang="ar" sz="2000" b="1" kern="0" dirty="0">
                <a:latin typeface="Sakkal Majalla" panose="02000000000000000000" pitchFamily="2" charset="-78"/>
                <a:cs typeface="Sakkal Majalla" panose="02000000000000000000" pitchFamily="2" charset="-78"/>
              </a:rPr>
              <a:t>سيور نقل الحركة: </a:t>
            </a:r>
            <a:r>
              <a:rPr lang="ar" sz="2000" kern="0" dirty="0">
                <a:latin typeface="Sakkal Majalla" panose="02000000000000000000" pitchFamily="2" charset="-78"/>
                <a:cs typeface="Sakkal Majalla" panose="02000000000000000000" pitchFamily="2" charset="-78"/>
              </a:rPr>
              <a:t>إن فائدة استبدال سيور نقل الحركة ستمنع مكونات المحرك من التعطل.  </a:t>
            </a:r>
          </a:p>
          <a:p>
            <a:pPr rtl="1">
              <a:lnSpc>
                <a:spcPct val="110000"/>
              </a:lnSpc>
            </a:pPr>
            <a:r>
              <a:rPr lang="ar" sz="2000" kern="0" dirty="0">
                <a:latin typeface="Sakkal Majalla" panose="02000000000000000000" pitchFamily="2" charset="-78"/>
                <a:cs typeface="Sakkal Majalla" panose="02000000000000000000" pitchFamily="2" charset="-78"/>
              </a:rPr>
              <a:t>شمعات الإشعال ينص دليل الشركة المصنعة على </a:t>
            </a:r>
            <a:br>
              <a:rPr lang="en-GB" sz="2000" kern="0" dirty="0">
                <a:latin typeface="Sakkal Majalla" panose="02000000000000000000" pitchFamily="2" charset="-78"/>
                <a:cs typeface="Sakkal Majalla" panose="02000000000000000000" pitchFamily="2" charset="-78"/>
              </a:rPr>
            </a:br>
            <a:r>
              <a:rPr lang="ar" sz="2000" kern="0" dirty="0">
                <a:latin typeface="Sakkal Majalla" panose="02000000000000000000" pitchFamily="2" charset="-78"/>
                <a:cs typeface="Sakkal Majalla" panose="02000000000000000000" pitchFamily="2" charset="-78"/>
              </a:rPr>
              <a:t>شمعة الإشعال المناسبة لمركبة معينة. </a:t>
            </a:r>
          </a:p>
          <a:p>
            <a:pPr rtl="1">
              <a:lnSpc>
                <a:spcPct val="110000"/>
              </a:lnSpc>
            </a:pPr>
            <a:r>
              <a:rPr lang="ar" sz="2000" b="1" kern="0" dirty="0">
                <a:latin typeface="Sakkal Majalla" panose="02000000000000000000" pitchFamily="2" charset="-78"/>
                <a:cs typeface="Sakkal Majalla" panose="02000000000000000000" pitchFamily="2" charset="-78"/>
              </a:rPr>
              <a:t>مواد التشحيم وسوائل المركبات: </a:t>
            </a:r>
            <a:r>
              <a:rPr lang="ar" sz="2000" kern="0" dirty="0">
                <a:latin typeface="Sakkal Majalla" panose="02000000000000000000" pitchFamily="2" charset="-78"/>
                <a:cs typeface="Sakkal Majalla" panose="02000000000000000000" pitchFamily="2" charset="-78"/>
              </a:rPr>
              <a:t>مثل سائل الفرامل، </a:t>
            </a:r>
            <a:br>
              <a:rPr lang="en-GB" sz="2000" kern="0" dirty="0">
                <a:latin typeface="Sakkal Majalla" panose="02000000000000000000" pitchFamily="2" charset="-78"/>
                <a:cs typeface="Sakkal Majalla" panose="02000000000000000000" pitchFamily="2" charset="-78"/>
              </a:rPr>
            </a:br>
            <a:r>
              <a:rPr lang="ar" sz="2000" kern="0" dirty="0">
                <a:latin typeface="Sakkal Majalla" panose="02000000000000000000" pitchFamily="2" charset="-78"/>
                <a:cs typeface="Sakkal Majalla" panose="02000000000000000000" pitchFamily="2" charset="-78"/>
              </a:rPr>
              <a:t>زيت المحرك، سائل ناقل الحركة الأوتوماتيكي، سائل الترس التفاضلي </a:t>
            </a:r>
            <a:br>
              <a:rPr lang="en-US" sz="2000" kern="0" dirty="0">
                <a:latin typeface="Sakkal Majalla" panose="02000000000000000000" pitchFamily="2" charset="-78"/>
                <a:cs typeface="Sakkal Majalla" panose="02000000000000000000" pitchFamily="2" charset="-78"/>
              </a:rPr>
            </a:br>
            <a:r>
              <a:rPr lang="ar" sz="2000" kern="0" dirty="0">
                <a:latin typeface="Sakkal Majalla" panose="02000000000000000000" pitchFamily="2" charset="-78"/>
                <a:cs typeface="Sakkal Majalla" panose="02000000000000000000" pitchFamily="2" charset="-78"/>
              </a:rPr>
              <a:t>وسائل التبريد/مضاد التجمد. يوصى بالرجوع إلى </a:t>
            </a:r>
            <a:br>
              <a:rPr lang="en-US" sz="2000" kern="0" dirty="0">
                <a:latin typeface="Sakkal Majalla" panose="02000000000000000000" pitchFamily="2" charset="-78"/>
                <a:cs typeface="Sakkal Majalla" panose="02000000000000000000" pitchFamily="2" charset="-78"/>
              </a:rPr>
            </a:br>
            <a:r>
              <a:rPr lang="ar" sz="2000" kern="0" dirty="0">
                <a:latin typeface="Sakkal Majalla" panose="02000000000000000000" pitchFamily="2" charset="-78"/>
                <a:cs typeface="Sakkal Majalla" panose="02000000000000000000" pitchFamily="2" charset="-78"/>
              </a:rPr>
              <a:t>دليل الشركة المصنعة عند استبدال السوائل. </a:t>
            </a:r>
          </a:p>
          <a:p>
            <a:pPr rtl="1">
              <a:lnSpc>
                <a:spcPct val="110000"/>
              </a:lnSpc>
            </a:pPr>
            <a:r>
              <a:rPr lang="ar" sz="2000" b="1" kern="0" dirty="0">
                <a:latin typeface="Sakkal Majalla" panose="02000000000000000000" pitchFamily="2" charset="-78"/>
                <a:cs typeface="Sakkal Majalla" panose="02000000000000000000" pitchFamily="2" charset="-78"/>
              </a:rPr>
              <a:t>الحشية: </a:t>
            </a:r>
            <a:r>
              <a:rPr lang="ar" sz="2000" kern="0" dirty="0">
                <a:latin typeface="Sakkal Majalla" panose="02000000000000000000" pitchFamily="2" charset="-78"/>
                <a:cs typeface="Sakkal Majalla" panose="02000000000000000000" pitchFamily="2" charset="-78"/>
              </a:rPr>
              <a:t>تعمل الحشيات على إحكام غلق مكونين أو حافتين </a:t>
            </a:r>
          </a:p>
          <a:p>
            <a:pPr marL="0" indent="0" rtl="1">
              <a:lnSpc>
                <a:spcPct val="110000"/>
              </a:lnSpc>
              <a:buNone/>
            </a:pPr>
            <a:r>
              <a:rPr lang="ar" sz="2000" kern="0" dirty="0">
                <a:latin typeface="Sakkal Majalla" panose="02000000000000000000" pitchFamily="2" charset="-78"/>
                <a:cs typeface="Sakkal Majalla" panose="02000000000000000000" pitchFamily="2" charset="-78"/>
              </a:rPr>
              <a:t>     ذات سطح مستوٍ. </a:t>
            </a:r>
            <a:endParaRPr lang="en-US" sz="2000" kern="0" dirty="0">
              <a:latin typeface="Sakkal Majalla" panose="02000000000000000000" pitchFamily="2" charset="-78"/>
              <a:cs typeface="Sakkal Majalla" panose="02000000000000000000" pitchFamily="2" charset="-78"/>
            </a:endParaRPr>
          </a:p>
          <a:p>
            <a:pPr rtl="1">
              <a:lnSpc>
                <a:spcPct val="110000"/>
              </a:lnSpc>
            </a:pPr>
            <a:r>
              <a:rPr lang="ar" sz="2000" b="1" kern="0" dirty="0">
                <a:latin typeface="Sakkal Majalla" panose="02000000000000000000" pitchFamily="2" charset="-78"/>
                <a:cs typeface="Sakkal Majalla" panose="02000000000000000000" pitchFamily="2" charset="-78"/>
              </a:rPr>
              <a:t>مانع التسريب: </a:t>
            </a:r>
            <a:r>
              <a:rPr lang="ar" sz="2000" kern="0" dirty="0">
                <a:latin typeface="Sakkal Majalla" panose="02000000000000000000" pitchFamily="2" charset="-78"/>
                <a:cs typeface="Sakkal Majalla" panose="02000000000000000000" pitchFamily="2" charset="-78"/>
              </a:rPr>
              <a:t>يُستخدم لمنع التسرب بين الأجزاء الدوارة، ويُستخدم أحيانًا في الأجزاء الثابتة مثل سدادة الحوض. </a:t>
            </a:r>
          </a:p>
          <a:p>
            <a:pPr rtl="1">
              <a:lnSpc>
                <a:spcPct val="90000"/>
              </a:lnSpc>
            </a:pPr>
            <a:endParaRPr lang="en-GB" altLang="en-US" sz="2000" kern="0" dirty="0">
              <a:latin typeface="Sakkal Majalla" panose="02000000000000000000" pitchFamily="2" charset="-78"/>
              <a:cs typeface="Sakkal Majalla" panose="02000000000000000000" pitchFamily="2" charset="-78"/>
            </a:endParaRPr>
          </a:p>
          <a:p>
            <a:pPr rtl="1">
              <a:lnSpc>
                <a:spcPct val="90000"/>
              </a:lnSpc>
            </a:pPr>
            <a:endParaRPr lang="ar-EG" sz="2000" b="1" kern="0"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ED4F5C26-96AB-7275-198C-75642011268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7" name="Picture 6" descr="A close-up of a spark plug&#10;&#10;Description automatically generated">
            <a:extLst>
              <a:ext uri="{FF2B5EF4-FFF2-40B4-BE49-F238E27FC236}">
                <a16:creationId xmlns:a16="http://schemas.microsoft.com/office/drawing/2014/main" id="{3C2D2327-BB58-0773-B0D2-95F5089E9E5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7544" y="3140968"/>
            <a:ext cx="2991232" cy="2243425"/>
          </a:xfrm>
          <a:prstGeom prst="rect">
            <a:avLst/>
          </a:prstGeom>
          <a:noFill/>
        </p:spPr>
      </p:pic>
    </p:spTree>
    <p:extLst>
      <p:ext uri="{BB962C8B-B14F-4D97-AF65-F5344CB8AC3E}">
        <p14:creationId xmlns:p14="http://schemas.microsoft.com/office/powerpoint/2010/main" val="2839910429"/>
      </p:ext>
    </p:extLst>
  </p:cSld>
  <p:clrMapOvr>
    <a:masterClrMapping/>
  </p:clrMapOvr>
  <p:transition>
    <p:sndAc>
      <p:stSnd>
        <p:snd r:embed="rId2"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AA8E71-15C1-DC46-654E-12CF981AB52D}"/>
              </a:ext>
            </a:extLst>
          </p:cNvPr>
          <p:cNvSpPr txBox="1">
            <a:spLocks noChangeArrowheads="1"/>
          </p:cNvSpPr>
          <p:nvPr/>
        </p:nvSpPr>
        <p:spPr bwMode="auto">
          <a:xfrm>
            <a:off x="1180608" y="1340768"/>
            <a:ext cx="7848872"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fontScale="77500" lnSpcReduction="20000"/>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l" rtl="1">
              <a:spcAft>
                <a:spcPts val="600"/>
              </a:spcAft>
            </a:pPr>
            <a:r>
              <a:rPr lang="ar" b="1" kern="0" dirty="0">
                <a:latin typeface="Sakkal Majalla" panose="02000000000000000000" pitchFamily="2" charset="-78"/>
                <a:cs typeface="Sakkal Majalla" panose="02000000000000000000" pitchFamily="2" charset="-78"/>
              </a:rPr>
              <a:t>المكونات والمواد التي يتم تركيبها حسب الحاجة أثناء الصيانة </a:t>
            </a:r>
            <a:endParaRPr lang="en-GB" altLang="en-US" b="1" kern="0" dirty="0">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2A78B7CA-1527-F24A-8F0E-7052DD881839}"/>
              </a:ext>
            </a:extLst>
          </p:cNvPr>
          <p:cNvSpPr txBox="1">
            <a:spLocks noChangeArrowheads="1"/>
          </p:cNvSpPr>
          <p:nvPr/>
        </p:nvSpPr>
        <p:spPr bwMode="auto">
          <a:xfrm>
            <a:off x="0" y="1978109"/>
            <a:ext cx="8814467" cy="40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lnSpc>
                <a:spcPct val="90000"/>
              </a:lnSpc>
            </a:pPr>
            <a:endParaRPr lang="en-GB" altLang="en-US" sz="2000" b="1" kern="0" dirty="0">
              <a:latin typeface="Sakkal Majalla" panose="02000000000000000000" pitchFamily="2" charset="-78"/>
              <a:cs typeface="Sakkal Majalla" panose="02000000000000000000" pitchFamily="2" charset="-78"/>
            </a:endParaRPr>
          </a:p>
          <a:p>
            <a:pPr rtl="1">
              <a:lnSpc>
                <a:spcPct val="90000"/>
              </a:lnSpc>
            </a:pPr>
            <a:r>
              <a:rPr lang="ar" sz="2000" b="1" kern="0" dirty="0">
                <a:latin typeface="Sakkal Majalla" panose="02000000000000000000" pitchFamily="2" charset="-78"/>
                <a:cs typeface="Sakkal Majalla" panose="02000000000000000000" pitchFamily="2" charset="-78"/>
              </a:rPr>
              <a:t>ريش الماسحات: </a:t>
            </a:r>
            <a:r>
              <a:rPr lang="ar" sz="2000" kern="0" dirty="0">
                <a:latin typeface="Sakkal Majalla" panose="02000000000000000000" pitchFamily="2" charset="-78"/>
                <a:cs typeface="Sakkal Majalla" panose="02000000000000000000" pitchFamily="2" charset="-78"/>
              </a:rPr>
              <a:t>تأتي بأحجام مختلفة، وقد تستوعب نفس السيارة أكثر من حجم واحد. </a:t>
            </a:r>
            <a:endParaRPr lang="en-US" sz="2000" kern="0" dirty="0">
              <a:latin typeface="Sakkal Majalla" panose="02000000000000000000" pitchFamily="2" charset="-78"/>
              <a:cs typeface="Sakkal Majalla" panose="02000000000000000000" pitchFamily="2" charset="-78"/>
            </a:endParaRPr>
          </a:p>
          <a:p>
            <a:pPr rtl="1">
              <a:lnSpc>
                <a:spcPct val="90000"/>
              </a:lnSpc>
            </a:pPr>
            <a:r>
              <a:rPr lang="ar" sz="2000" b="1" kern="0" dirty="0">
                <a:latin typeface="Sakkal Majalla" panose="02000000000000000000" pitchFamily="2" charset="-78"/>
                <a:cs typeface="Sakkal Majalla" panose="02000000000000000000" pitchFamily="2" charset="-78"/>
              </a:rPr>
              <a:t>وسادات الفرامل أو البطانات: </a:t>
            </a:r>
            <a:r>
              <a:rPr lang="ar" sz="2000" dirty="0">
                <a:latin typeface="Sakkal Majalla" panose="02000000000000000000" pitchFamily="2" charset="-78"/>
                <a:cs typeface="Sakkal Majalla" panose="02000000000000000000" pitchFamily="2" charset="-78"/>
              </a:rPr>
              <a:t>يعد اختيار وسادات الفرامل أمرًا صعبًا. ستتمتع الوسادة شبه المعدنية القوية بأداء رائع في التوقف والعمر التشغيلي ولكنها ستكون صاخبة. وتكون الوسادة العضوية أكثر نعومة وهادئة ولكنها ستتآكل بسرعة. يوصى باتباع دليل الشركة المصنعة. </a:t>
            </a:r>
            <a:endParaRPr lang="en-US" sz="2000" kern="0" dirty="0">
              <a:latin typeface="Sakkal Majalla" panose="02000000000000000000" pitchFamily="2" charset="-78"/>
              <a:cs typeface="Sakkal Majalla" panose="02000000000000000000" pitchFamily="2" charset="-78"/>
            </a:endParaRPr>
          </a:p>
          <a:p>
            <a:pPr rtl="1">
              <a:lnSpc>
                <a:spcPct val="90000"/>
              </a:lnSpc>
            </a:pPr>
            <a:r>
              <a:rPr lang="ar" sz="2000" b="1" kern="0" dirty="0">
                <a:latin typeface="Sakkal Majalla" panose="02000000000000000000" pitchFamily="2" charset="-78"/>
                <a:cs typeface="Sakkal Majalla" panose="02000000000000000000" pitchFamily="2" charset="-78"/>
              </a:rPr>
              <a:t>مصابيح الإنارة: </a:t>
            </a:r>
            <a:r>
              <a:rPr lang="ar" sz="2000" kern="0" dirty="0">
                <a:latin typeface="Sakkal Majalla" panose="02000000000000000000" pitchFamily="2" charset="-78"/>
                <a:cs typeface="Sakkal Majalla" panose="02000000000000000000" pitchFamily="2" charset="-78"/>
              </a:rPr>
              <a:t>عادة ما يكون لديك رقم تجاري،  </a:t>
            </a:r>
          </a:p>
          <a:p>
            <a:pPr marL="0" indent="0" rtl="1">
              <a:lnSpc>
                <a:spcPct val="90000"/>
              </a:lnSpc>
              <a:buNone/>
            </a:pPr>
            <a:r>
              <a:rPr lang="ar" sz="2000" kern="0" dirty="0">
                <a:latin typeface="Sakkal Majalla" panose="02000000000000000000" pitchFamily="2" charset="-78"/>
                <a:cs typeface="Sakkal Majalla" panose="02000000000000000000" pitchFamily="2" charset="-78"/>
              </a:rPr>
              <a:t>     وهو يحدد حجم وشكل وعدد الشعيرات</a:t>
            </a:r>
          </a:p>
          <a:p>
            <a:pPr marL="0" indent="0" rtl="1">
              <a:lnSpc>
                <a:spcPct val="90000"/>
              </a:lnSpc>
              <a:buNone/>
            </a:pPr>
            <a:r>
              <a:rPr lang="ar" sz="1800" kern="0" dirty="0">
                <a:latin typeface="Sakkal Majalla" panose="02000000000000000000" pitchFamily="2" charset="-78"/>
                <a:cs typeface="Sakkal Majalla" panose="02000000000000000000" pitchFamily="2" charset="-78"/>
              </a:rPr>
              <a:t>      </a:t>
            </a:r>
            <a:r>
              <a:rPr lang="ar" sz="2000" kern="0" dirty="0">
                <a:latin typeface="Sakkal Majalla" panose="02000000000000000000" pitchFamily="2" charset="-78"/>
                <a:cs typeface="Sakkal Majalla" panose="02000000000000000000" pitchFamily="2" charset="-78"/>
              </a:rPr>
              <a:t>وكمية الضوء المنبعثة.  </a:t>
            </a:r>
            <a:endParaRPr lang="en-US" sz="2000" kern="0" dirty="0">
              <a:latin typeface="Sakkal Majalla" panose="02000000000000000000" pitchFamily="2" charset="-78"/>
              <a:cs typeface="Sakkal Majalla" panose="02000000000000000000" pitchFamily="2" charset="-78"/>
            </a:endParaRPr>
          </a:p>
          <a:p>
            <a:pPr rtl="1">
              <a:lnSpc>
                <a:spcPct val="90000"/>
              </a:lnSpc>
            </a:pPr>
            <a:r>
              <a:rPr lang="ar" sz="2000" b="1" kern="0" dirty="0">
                <a:latin typeface="Sakkal Majalla" panose="02000000000000000000" pitchFamily="2" charset="-78"/>
                <a:cs typeface="Sakkal Majalla" panose="02000000000000000000" pitchFamily="2" charset="-78"/>
              </a:rPr>
              <a:t>الإطارات: </a:t>
            </a:r>
            <a:r>
              <a:rPr lang="ar" sz="2000" kern="0" dirty="0">
                <a:latin typeface="Sakkal Majalla" panose="02000000000000000000" pitchFamily="2" charset="-78"/>
                <a:cs typeface="Sakkal Majalla" panose="02000000000000000000" pitchFamily="2" charset="-78"/>
              </a:rPr>
              <a:t>مواصفات الشركة المصنعة للإطارات </a:t>
            </a:r>
          </a:p>
          <a:p>
            <a:pPr marL="0" indent="0" rtl="1">
              <a:lnSpc>
                <a:spcPct val="90000"/>
              </a:lnSpc>
              <a:buNone/>
            </a:pPr>
            <a:r>
              <a:rPr lang="ar" sz="2000" kern="0" dirty="0">
                <a:latin typeface="Sakkal Majalla" panose="02000000000000000000" pitchFamily="2" charset="-78"/>
                <a:cs typeface="Sakkal Majalla" panose="02000000000000000000" pitchFamily="2" charset="-78"/>
              </a:rPr>
              <a:t>     تحدد قوة تحمل الإطار.</a:t>
            </a:r>
          </a:p>
          <a:p>
            <a:pPr marL="0" indent="0" rtl="1">
              <a:lnSpc>
                <a:spcPct val="90000"/>
              </a:lnSpc>
              <a:buNone/>
            </a:pPr>
            <a:r>
              <a:rPr lang="ar" sz="2000" kern="0" dirty="0">
                <a:latin typeface="Sakkal Majalla" panose="02000000000000000000" pitchFamily="2" charset="-78"/>
                <a:cs typeface="Sakkal Majalla" panose="02000000000000000000" pitchFamily="2" charset="-78"/>
              </a:rPr>
              <a:t>     يمكن العثور عليها على جدار الإطار.   </a:t>
            </a:r>
          </a:p>
          <a:p>
            <a:pPr rtl="1">
              <a:lnSpc>
                <a:spcPct val="90000"/>
              </a:lnSpc>
            </a:pPr>
            <a:endParaRPr lang="en-GB" altLang="en-US" sz="2000" kern="0" dirty="0">
              <a:latin typeface="Sakkal Majalla" panose="02000000000000000000" pitchFamily="2" charset="-78"/>
              <a:cs typeface="Sakkal Majalla" panose="02000000000000000000" pitchFamily="2" charset="-78"/>
            </a:endParaRPr>
          </a:p>
          <a:p>
            <a:pPr rtl="1">
              <a:lnSpc>
                <a:spcPct val="90000"/>
              </a:lnSpc>
            </a:pPr>
            <a:endParaRPr lang="ar-EG" sz="2000" b="1" kern="0" dirty="0">
              <a:latin typeface="Sakkal Majalla" panose="02000000000000000000" pitchFamily="2" charset="-78"/>
              <a:cs typeface="Sakkal Majalla" panose="02000000000000000000" pitchFamily="2" charset="-78"/>
            </a:endParaRPr>
          </a:p>
        </p:txBody>
      </p:sp>
      <p:sp>
        <p:nvSpPr>
          <p:cNvPr id="6" name="Footer Placeholder 2">
            <a:extLst>
              <a:ext uri="{FF2B5EF4-FFF2-40B4-BE49-F238E27FC236}">
                <a16:creationId xmlns:a16="http://schemas.microsoft.com/office/drawing/2014/main" id="{5EFAF1C7-5B9D-EB2B-C94C-14FFC7B61BF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7" name="Picture 6" descr="A group of brake pads&#10;&#10;Description automatically generated">
            <a:extLst>
              <a:ext uri="{FF2B5EF4-FFF2-40B4-BE49-F238E27FC236}">
                <a16:creationId xmlns:a16="http://schemas.microsoft.com/office/drawing/2014/main" id="{AE5FDCF8-199B-A4AD-BA6A-54EE5FCDAC4D}"/>
              </a:ext>
            </a:extLst>
          </p:cNvPr>
          <p:cNvPicPr>
            <a:picLocks noChangeAspect="1"/>
          </p:cNvPicPr>
          <p:nvPr/>
        </p:nvPicPr>
        <p:blipFill>
          <a:blip r:embed="rId3"/>
          <a:stretch>
            <a:fillRect/>
          </a:stretch>
        </p:blipFill>
        <p:spPr>
          <a:xfrm>
            <a:off x="971600" y="3806913"/>
            <a:ext cx="3276364" cy="2186273"/>
          </a:xfrm>
          <a:prstGeom prst="rect">
            <a:avLst/>
          </a:prstGeom>
        </p:spPr>
      </p:pic>
    </p:spTree>
    <p:extLst>
      <p:ext uri="{BB962C8B-B14F-4D97-AF65-F5344CB8AC3E}">
        <p14:creationId xmlns:p14="http://schemas.microsoft.com/office/powerpoint/2010/main" val="2902266052"/>
      </p:ext>
    </p:extLst>
  </p:cSld>
  <p:clrMapOvr>
    <a:masterClrMapping/>
  </p:clrMapOvr>
  <p:transition>
    <p:sndAc>
      <p:stSnd>
        <p:snd r:embed="rId2"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10BD-569C-5DBE-4608-39FAAF7BD7DE}"/>
              </a:ext>
            </a:extLst>
          </p:cNvPr>
          <p:cNvSpPr>
            <a:spLocks noGrp="1"/>
          </p:cNvSpPr>
          <p:nvPr>
            <p:ph type="title"/>
          </p:nvPr>
        </p:nvSpPr>
        <p:spPr>
          <a:xfrm>
            <a:off x="457200" y="1195200"/>
            <a:ext cx="8229600" cy="864000"/>
          </a:xfrm>
        </p:spPr>
        <p:txBody>
          <a:bodyPr wrap="square" rtlCol="1" anchor="ctr">
            <a:normAutofit/>
          </a:bodyPr>
          <a:lstStyle/>
          <a:p>
            <a:pPr rtl="1">
              <a:lnSpc>
                <a:spcPct val="90000"/>
              </a:lnSpc>
            </a:pPr>
            <a:r>
              <a:rPr lang="ar" sz="2800" b="1" kern="0">
                <a:latin typeface="Sakkal Majalla" panose="02000000000000000000" pitchFamily="2" charset="-78"/>
                <a:cs typeface="Sakkal Majalla" panose="02000000000000000000" pitchFamily="2" charset="-78"/>
              </a:rPr>
              <a:t>الاختيار الأمثل للمكونات والمواد </a:t>
            </a:r>
            <a:endParaRPr lang="en-US" sz="2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B868841F-6080-816C-299B-438538941A6B}"/>
              </a:ext>
            </a:extLst>
          </p:cNvPr>
          <p:cNvSpPr>
            <a:spLocks noGrp="1"/>
          </p:cNvSpPr>
          <p:nvPr>
            <p:ph sz="half" idx="2"/>
          </p:nvPr>
        </p:nvSpPr>
        <p:spPr>
          <a:xfrm>
            <a:off x="468312" y="2196001"/>
            <a:ext cx="4027488" cy="4024100"/>
          </a:xfrm>
        </p:spPr>
        <p:txBody>
          <a:bodyPr wrap="square" rtlCol="1" anchor="t">
            <a:normAutofit/>
          </a:bodyPr>
          <a:lstStyle/>
          <a:p>
            <a:pPr marL="0" indent="0" rtl="1">
              <a:buNone/>
            </a:pPr>
            <a:r>
              <a:rPr lang="ar">
                <a:latin typeface="Sakkal Majalla" panose="02000000000000000000" pitchFamily="2" charset="-78"/>
                <a:cs typeface="Sakkal Majalla" panose="02000000000000000000" pitchFamily="2" charset="-78"/>
              </a:rPr>
              <a:t>تتناول توصيات الشركة المصنعة دائمًا أفضل أداء للمركبة. </a:t>
            </a:r>
          </a:p>
          <a:p>
            <a:pPr marL="0" indent="0" rtl="1">
              <a:buNone/>
            </a:pPr>
            <a:endParaRPr lang="en-GB" dirty="0">
              <a:latin typeface="Sakkal Majalla" panose="02000000000000000000" pitchFamily="2" charset="-78"/>
              <a:cs typeface="Sakkal Majalla" panose="02000000000000000000" pitchFamily="2" charset="-78"/>
            </a:endParaRPr>
          </a:p>
          <a:p>
            <a:pPr marL="0" indent="0" rtl="1">
              <a:buNone/>
            </a:pPr>
            <a:r>
              <a:rPr lang="ar">
                <a:latin typeface="Sakkal Majalla" panose="02000000000000000000" pitchFamily="2" charset="-78"/>
                <a:cs typeface="Sakkal Majalla" panose="02000000000000000000" pitchFamily="2" charset="-78"/>
              </a:rPr>
              <a:t>يعتمد الاختيار المناسب للمكونات والمواد أيضًا على التكاليف والأداء (الجودة) والضمان. </a:t>
            </a:r>
          </a:p>
        </p:txBody>
      </p:sp>
      <p:sp>
        <p:nvSpPr>
          <p:cNvPr id="4" name="Footer Placeholder 2">
            <a:extLst>
              <a:ext uri="{FF2B5EF4-FFF2-40B4-BE49-F238E27FC236}">
                <a16:creationId xmlns:a16="http://schemas.microsoft.com/office/drawing/2014/main" id="{C86C0BA1-C6B1-9BB7-68C9-4764E6080EC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8" name="Content Placeholder 7" descr="A flat tire on a car&#10;&#10;Description automatically generated">
            <a:extLst>
              <a:ext uri="{FF2B5EF4-FFF2-40B4-BE49-F238E27FC236}">
                <a16:creationId xmlns:a16="http://schemas.microsoft.com/office/drawing/2014/main" id="{C225B69C-FBE8-34C1-4536-59572240F1E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5205969" y="2851803"/>
            <a:ext cx="3038439" cy="3035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6991156"/>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A3553AA-5A44-D105-6793-262E09813065}"/>
              </a:ext>
            </a:extLst>
          </p:cNvPr>
          <p:cNvSpPr txBox="1">
            <a:spLocks noChangeArrowheads="1"/>
          </p:cNvSpPr>
          <p:nvPr/>
        </p:nvSpPr>
        <p:spPr bwMode="auto">
          <a:xfrm>
            <a:off x="806896" y="1841724"/>
            <a:ext cx="8229600" cy="5064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spcBef>
                <a:spcPts val="1200"/>
              </a:spcBef>
              <a:spcAft>
                <a:spcPts val="1500"/>
              </a:spcAft>
            </a:pPr>
            <a:r>
              <a:rPr lang="ar" sz="2400" b="1" kern="0">
                <a:latin typeface="Sakkal Majalla" panose="02000000000000000000" pitchFamily="2" charset="-78"/>
                <a:cs typeface="Sakkal Majalla" panose="02000000000000000000" pitchFamily="2" charset="-78"/>
              </a:rPr>
              <a:t>هدف التعلم (ج)</a:t>
            </a:r>
            <a:br>
              <a:rPr lang="en-US" altLang="en-US" sz="2400" kern="0" dirty="0">
                <a:latin typeface="Sakkal Majalla" panose="02000000000000000000" pitchFamily="2" charset="-78"/>
                <a:cs typeface="Sakkal Majalla" panose="02000000000000000000" pitchFamily="2" charset="-78"/>
              </a:rPr>
            </a:br>
            <a:br>
              <a:rPr lang="en-US" altLang="en-US" sz="2400" kern="0" dirty="0">
                <a:latin typeface="Sakkal Majalla" panose="02000000000000000000" pitchFamily="2" charset="-78"/>
                <a:cs typeface="Sakkal Majalla" panose="02000000000000000000" pitchFamily="2" charset="-78"/>
              </a:rPr>
            </a:br>
            <a:endParaRPr lang="en-GB" altLang="en-US" sz="3600" kern="0" dirty="0">
              <a:latin typeface="Sakkal Majalla" panose="02000000000000000000" pitchFamily="2" charset="-78"/>
              <a:cs typeface="Sakkal Majalla" panose="02000000000000000000" pitchFamily="2" charset="-78"/>
            </a:endParaRPr>
          </a:p>
        </p:txBody>
      </p:sp>
      <p:sp>
        <p:nvSpPr>
          <p:cNvPr id="6" name="Rectangle 1">
            <a:extLst>
              <a:ext uri="{FF2B5EF4-FFF2-40B4-BE49-F238E27FC236}">
                <a16:creationId xmlns:a16="http://schemas.microsoft.com/office/drawing/2014/main" id="{CF6856AD-FF3B-8586-D2EE-81DC7C5D524A}"/>
              </a:ext>
            </a:extLst>
          </p:cNvPr>
          <p:cNvSpPr>
            <a:spLocks noChangeArrowheads="1"/>
          </p:cNvSpPr>
          <p:nvPr/>
        </p:nvSpPr>
        <p:spPr bwMode="auto">
          <a:xfrm>
            <a:off x="561777" y="2348880"/>
            <a:ext cx="7991475"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إجراء فحص وصيانة المركبات بأمان</a:t>
            </a:r>
            <a:br>
              <a:rPr lang="en-US" sz="3600" b="1" dirty="0">
                <a:latin typeface="Sakkal Majalla" panose="02000000000000000000" pitchFamily="2" charset="-78"/>
                <a:cs typeface="Sakkal Majalla" panose="02000000000000000000" pitchFamily="2" charset="-78"/>
              </a:rPr>
            </a:br>
            <a:r>
              <a:rPr lang="ar" sz="3600" b="1">
                <a:latin typeface="Sakkal Majalla" panose="02000000000000000000" pitchFamily="2" charset="-78"/>
                <a:cs typeface="Sakkal Majalla" panose="02000000000000000000" pitchFamily="2" charset="-78"/>
              </a:rPr>
              <a:t>واستكمال السجلات </a:t>
            </a:r>
            <a:br>
              <a:rPr lang="en-US" altLang="en-US" sz="3600" b="1" dirty="0">
                <a:latin typeface="Sakkal Majalla" panose="02000000000000000000" pitchFamily="2" charset="-78"/>
                <a:cs typeface="Sakkal Majalla" panose="02000000000000000000" pitchFamily="2" charset="-78"/>
              </a:rPr>
            </a:br>
            <a:endParaRPr lang="en-GB" altLang="en-US" sz="3600" b="1" dirty="0">
              <a:latin typeface="Sakkal Majalla" panose="02000000000000000000" pitchFamily="2" charset="-78"/>
              <a:cs typeface="Sakkal Majalla" panose="02000000000000000000" pitchFamily="2" charset="-78"/>
            </a:endParaRPr>
          </a:p>
        </p:txBody>
      </p:sp>
      <p:sp>
        <p:nvSpPr>
          <p:cNvPr id="2" name="Content Placeholder 3">
            <a:extLst>
              <a:ext uri="{FF2B5EF4-FFF2-40B4-BE49-F238E27FC236}">
                <a16:creationId xmlns:a16="http://schemas.microsoft.com/office/drawing/2014/main" id="{ED933464-2280-98C6-0828-14AFB71C3052}"/>
              </a:ext>
            </a:extLst>
          </p:cNvPr>
          <p:cNvSpPr txBox="1">
            <a:spLocks noChangeArrowheads="1"/>
          </p:cNvSpPr>
          <p:nvPr/>
        </p:nvSpPr>
        <p:spPr bwMode="auto">
          <a:xfrm>
            <a:off x="806896" y="3788568"/>
            <a:ext cx="8075240" cy="18716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kern="0" dirty="0">
                <a:latin typeface="Sakkal Majalla" panose="02000000000000000000" pitchFamily="2" charset="-78"/>
                <a:cs typeface="Sakkal Majalla" panose="02000000000000000000" pitchFamily="2" charset="-78"/>
              </a:rPr>
              <a:t>أساليب الفحص   </a:t>
            </a:r>
          </a:p>
          <a:p>
            <a:pPr marL="685800" rtl="1"/>
            <a:r>
              <a:rPr lang="ar" kern="0" dirty="0">
                <a:latin typeface="Sakkal Majalla" panose="02000000000000000000" pitchFamily="2" charset="-78"/>
                <a:cs typeface="Sakkal Majalla" panose="02000000000000000000" pitchFamily="2" charset="-78"/>
              </a:rPr>
              <a:t>مناطق المركبة </a:t>
            </a:r>
          </a:p>
          <a:p>
            <a:pPr marL="685800" rtl="1"/>
            <a:r>
              <a:rPr lang="ar" kern="0" dirty="0">
                <a:latin typeface="Sakkal Majalla" panose="02000000000000000000" pitchFamily="2" charset="-78"/>
                <a:cs typeface="Sakkal Majalla" panose="02000000000000000000" pitchFamily="2" charset="-78"/>
              </a:rPr>
              <a:t>إجراءات الصيانة </a:t>
            </a:r>
          </a:p>
          <a:p>
            <a:pPr marL="685800" rtl="1"/>
            <a:r>
              <a:rPr lang="ar" kern="0" dirty="0">
                <a:latin typeface="Sakkal Majalla" panose="02000000000000000000" pitchFamily="2" charset="-78"/>
                <a:cs typeface="Sakkal Majalla" panose="02000000000000000000" pitchFamily="2" charset="-78"/>
              </a:rPr>
              <a:t>سجلات الفحص والصيانة </a:t>
            </a:r>
          </a:p>
        </p:txBody>
      </p:sp>
      <p:sp>
        <p:nvSpPr>
          <p:cNvPr id="3" name="Footer Placeholder 2">
            <a:extLst>
              <a:ext uri="{FF2B5EF4-FFF2-40B4-BE49-F238E27FC236}">
                <a16:creationId xmlns:a16="http://schemas.microsoft.com/office/drawing/2014/main" id="{6B09C0A6-D3F6-5312-0220-8647DC4C547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1298267623"/>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D1BEC43-5A2B-9551-5777-535CDFC7DAA3}"/>
              </a:ext>
            </a:extLst>
          </p:cNvPr>
          <p:cNvSpPr txBox="1">
            <a:spLocks/>
          </p:cNvSpPr>
          <p:nvPr/>
        </p:nvSpPr>
        <p:spPr>
          <a:xfrm>
            <a:off x="827584" y="1109663"/>
            <a:ext cx="8208912" cy="863600"/>
          </a:xfrm>
          <a:prstGeom prst="rect">
            <a:avLst/>
          </a:prstGeom>
        </p:spPr>
        <p:txBody>
          <a:bodyPr rtlCol="1"/>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l" rtl="1"/>
            <a:r>
              <a:rPr lang="ar" sz="3200" b="1" kern="0">
                <a:latin typeface="Sakkal Majalla" panose="02000000000000000000" pitchFamily="2" charset="-78"/>
                <a:cs typeface="Sakkal Majalla" panose="02000000000000000000" pitchFamily="2" charset="-78"/>
              </a:rPr>
              <a:t>الانتباه إلى علامات التحذير</a:t>
            </a:r>
          </a:p>
        </p:txBody>
      </p:sp>
      <p:sp>
        <p:nvSpPr>
          <p:cNvPr id="4" name="Content Placeholder 2">
            <a:extLst>
              <a:ext uri="{FF2B5EF4-FFF2-40B4-BE49-F238E27FC236}">
                <a16:creationId xmlns:a16="http://schemas.microsoft.com/office/drawing/2014/main" id="{AF0C7B5C-0425-5002-9607-4B53F38E1E15}"/>
              </a:ext>
            </a:extLst>
          </p:cNvPr>
          <p:cNvSpPr txBox="1">
            <a:spLocks/>
          </p:cNvSpPr>
          <p:nvPr/>
        </p:nvSpPr>
        <p:spPr>
          <a:xfrm>
            <a:off x="156505" y="1953016"/>
            <a:ext cx="8663967" cy="4068272"/>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kern="0" dirty="0">
                <a:latin typeface="Sakkal Majalla" panose="02000000000000000000" pitchFamily="2" charset="-78"/>
                <a:cs typeface="Sakkal Majalla" panose="02000000000000000000" pitchFamily="2" charset="-78"/>
              </a:rPr>
              <a:t>تشمل علامات التحذير:   </a:t>
            </a:r>
          </a:p>
          <a:p>
            <a:pPr rtl="1"/>
            <a:r>
              <a:rPr lang="ar" kern="0" dirty="0">
                <a:latin typeface="Sakkal Majalla" panose="02000000000000000000" pitchFamily="2" charset="-78"/>
                <a:cs typeface="Sakkal Majalla" panose="02000000000000000000" pitchFamily="2" charset="-78"/>
              </a:rPr>
              <a:t>محرك قيد التشغيل </a:t>
            </a:r>
          </a:p>
          <a:p>
            <a:pPr marL="0" indent="0" rtl="1">
              <a:buNone/>
            </a:pPr>
            <a:r>
              <a:rPr lang="ar" kern="0" dirty="0">
                <a:latin typeface="Sakkal Majalla" panose="02000000000000000000" pitchFamily="2" charset="-78"/>
                <a:cs typeface="Sakkal Majalla" panose="02000000000000000000" pitchFamily="2" charset="-78"/>
              </a:rPr>
              <a:t>صوت تحذير، على سبيل المثال، قاسي </a:t>
            </a:r>
            <a:br>
              <a:rPr lang="en-US" kern="0" dirty="0">
                <a:latin typeface="Sakkal Majalla" panose="02000000000000000000" pitchFamily="2" charset="-78"/>
                <a:cs typeface="Sakkal Majalla" panose="02000000000000000000" pitchFamily="2" charset="-78"/>
              </a:rPr>
            </a:br>
            <a:r>
              <a:rPr lang="ar" kern="0" dirty="0">
                <a:latin typeface="Sakkal Majalla" panose="02000000000000000000" pitchFamily="2" charset="-78"/>
                <a:cs typeface="Sakkal Majalla" panose="02000000000000000000" pitchFamily="2" charset="-78"/>
              </a:rPr>
              <a:t>أصوات صرير وخششة هدير أو جرش مكابح</a:t>
            </a:r>
          </a:p>
          <a:p>
            <a:pPr rtl="1"/>
            <a:r>
              <a:rPr lang="ar" kern="0" dirty="0">
                <a:latin typeface="Sakkal Majalla" panose="02000000000000000000" pitchFamily="2" charset="-78"/>
                <a:cs typeface="Sakkal Majalla" panose="02000000000000000000" pitchFamily="2" charset="-78"/>
              </a:rPr>
              <a:t>أضواء تحذيرية على متن المركبة توضح </a:t>
            </a:r>
            <a:br>
              <a:rPr lang="en-US" kern="0" dirty="0">
                <a:latin typeface="Sakkal Majalla" panose="02000000000000000000" pitchFamily="2" charset="-78"/>
                <a:cs typeface="Sakkal Majalla" panose="02000000000000000000" pitchFamily="2" charset="-78"/>
              </a:rPr>
            </a:br>
            <a:r>
              <a:rPr lang="ar" kern="0" dirty="0">
                <a:latin typeface="Sakkal Majalla" panose="02000000000000000000" pitchFamily="2" charset="-78"/>
                <a:cs typeface="Sakkal Majalla" panose="02000000000000000000" pitchFamily="2" charset="-78"/>
              </a:rPr>
              <a:t>مصابيح نظام منع انغلاق الفرامل (ABS) </a:t>
            </a:r>
            <a:br>
              <a:rPr lang="en-US" kern="0" dirty="0">
                <a:latin typeface="Sakkal Majalla" panose="02000000000000000000" pitchFamily="2" charset="-78"/>
                <a:cs typeface="Sakkal Majalla" panose="02000000000000000000" pitchFamily="2" charset="-78"/>
              </a:rPr>
            </a:br>
            <a:r>
              <a:rPr lang="ar" kern="0" dirty="0">
                <a:latin typeface="Sakkal Majalla" panose="02000000000000000000" pitchFamily="2" charset="-78"/>
                <a:cs typeface="Sakkal Majalla" panose="02000000000000000000" pitchFamily="2" charset="-78"/>
              </a:rPr>
              <a:t>ومستوى الزيت ودرجة حرارة المحرك وضغط الإطارات وما إلى ذلك.</a:t>
            </a:r>
            <a:br>
              <a:rPr lang="en-US" kern="0" dirty="0">
                <a:latin typeface="Sakkal Majalla" panose="02000000000000000000" pitchFamily="2" charset="-78"/>
                <a:cs typeface="Sakkal Majalla" panose="02000000000000000000" pitchFamily="2" charset="-78"/>
              </a:rPr>
            </a:br>
            <a:r>
              <a:rPr lang="ar" kern="0" dirty="0">
                <a:latin typeface="Sakkal Majalla" panose="02000000000000000000" pitchFamily="2" charset="-78"/>
                <a:cs typeface="Sakkal Majalla" panose="02000000000000000000" pitchFamily="2" charset="-78"/>
              </a:rPr>
              <a:t> </a:t>
            </a:r>
            <a:endParaRPr lang="en-US" kern="0" dirty="0">
              <a:latin typeface="Sakkal Majalla" panose="02000000000000000000" pitchFamily="2" charset="-78"/>
              <a:cs typeface="Sakkal Majalla" panose="02000000000000000000" pitchFamily="2" charset="-78"/>
            </a:endParaRPr>
          </a:p>
          <a:p>
            <a:pPr rtl="1"/>
            <a:r>
              <a:rPr lang="ar" kern="0" dirty="0">
                <a:latin typeface="Sakkal Majalla" panose="02000000000000000000" pitchFamily="2" charset="-78"/>
                <a:cs typeface="Sakkal Majalla" panose="02000000000000000000" pitchFamily="2" charset="-78"/>
              </a:rPr>
              <a:t>الدوران اليدوي للعجلات لفحص الضوضاء والفرامل.  </a:t>
            </a:r>
          </a:p>
        </p:txBody>
      </p:sp>
      <p:sp>
        <p:nvSpPr>
          <p:cNvPr id="5" name="Footer Placeholder 2">
            <a:extLst>
              <a:ext uri="{FF2B5EF4-FFF2-40B4-BE49-F238E27FC236}">
                <a16:creationId xmlns:a16="http://schemas.microsoft.com/office/drawing/2014/main" id="{322AEF9A-061F-F9A7-6923-64F0499A5C2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7" name="ENG_TP_U31_PH010_AL1283271">
            <a:hlinkClick r:id="" action="ppaction://media"/>
            <a:extLst>
              <a:ext uri="{FF2B5EF4-FFF2-40B4-BE49-F238E27FC236}">
                <a16:creationId xmlns:a16="http://schemas.microsoft.com/office/drawing/2014/main" id="{09088BF9-476A-B65F-BAD0-D34A790E9FE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58423" y="2178683"/>
            <a:ext cx="3231526" cy="1808469"/>
          </a:xfrm>
          <a:prstGeom prst="rect">
            <a:avLst/>
          </a:prstGeom>
        </p:spPr>
      </p:pic>
    </p:spTree>
    <p:extLst>
      <p:ext uri="{BB962C8B-B14F-4D97-AF65-F5344CB8AC3E}">
        <p14:creationId xmlns:p14="http://schemas.microsoft.com/office/powerpoint/2010/main" val="22639889"/>
      </p:ext>
    </p:extLst>
  </p:cSld>
  <p:clrMapOvr>
    <a:masterClrMapping/>
  </p:clrMapOvr>
  <p:transition>
    <p:sndAc>
      <p:stSnd>
        <p:snd r:embed="rId4"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12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p:cTn id="12" fill="hold" display="0">
                  <p:stCondLst>
                    <p:cond delay="indefinite"/>
                  </p:stCondLst>
                </p:cTn>
                <p:tgtEl>
                  <p:spTgt spid="7"/>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D1BEC43-5A2B-9551-5777-535CDFC7DAA3}"/>
              </a:ext>
            </a:extLst>
          </p:cNvPr>
          <p:cNvSpPr txBox="1">
            <a:spLocks/>
          </p:cNvSpPr>
          <p:nvPr/>
        </p:nvSpPr>
        <p:spPr>
          <a:xfrm>
            <a:off x="611560" y="1383525"/>
            <a:ext cx="7992888" cy="863600"/>
          </a:xfrm>
          <a:prstGeom prst="rect">
            <a:avLst/>
          </a:prstGeom>
        </p:spPr>
        <p:txBody>
          <a:bodyPr rtlCol="1"/>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r>
              <a:rPr lang="ar" sz="3200" b="1" kern="0" dirty="0">
                <a:latin typeface="Sakkal Majalla" panose="02000000000000000000" pitchFamily="2" charset="-78"/>
                <a:cs typeface="Sakkal Majalla" panose="02000000000000000000" pitchFamily="2" charset="-78"/>
              </a:rPr>
              <a:t>الفحص البصري للمشاكل  </a:t>
            </a:r>
          </a:p>
        </p:txBody>
      </p:sp>
      <p:sp>
        <p:nvSpPr>
          <p:cNvPr id="4" name="Content Placeholder 2">
            <a:extLst>
              <a:ext uri="{FF2B5EF4-FFF2-40B4-BE49-F238E27FC236}">
                <a16:creationId xmlns:a16="http://schemas.microsoft.com/office/drawing/2014/main" id="{AF0C7B5C-0425-5002-9607-4B53F38E1E15}"/>
              </a:ext>
            </a:extLst>
          </p:cNvPr>
          <p:cNvSpPr txBox="1">
            <a:spLocks/>
          </p:cNvSpPr>
          <p:nvPr/>
        </p:nvSpPr>
        <p:spPr>
          <a:xfrm>
            <a:off x="1045021" y="2394627"/>
            <a:ext cx="7487419" cy="3609975"/>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kern="0" dirty="0">
                <a:latin typeface="Sakkal Majalla" panose="02000000000000000000" pitchFamily="2" charset="-78"/>
                <a:cs typeface="Sakkal Majalla" panose="02000000000000000000" pitchFamily="2" charset="-78"/>
              </a:rPr>
              <a:t>ويشمل ذلك:   </a:t>
            </a:r>
          </a:p>
          <a:p>
            <a:pPr rtl="1"/>
            <a:r>
              <a:rPr lang="ar" kern="0" dirty="0">
                <a:latin typeface="Sakkal Majalla" panose="02000000000000000000" pitchFamily="2" charset="-78"/>
                <a:cs typeface="Sakkal Majalla" panose="02000000000000000000" pitchFamily="2" charset="-78"/>
              </a:rPr>
              <a:t>الفحص البصري للأضواء</a:t>
            </a:r>
          </a:p>
          <a:p>
            <a:pPr rtl="1"/>
            <a:r>
              <a:rPr lang="ar" kern="0" dirty="0">
                <a:latin typeface="Sakkal Majalla" panose="02000000000000000000" pitchFamily="2" charset="-78"/>
                <a:cs typeface="Sakkal Majalla" panose="02000000000000000000" pitchFamily="2" charset="-78"/>
              </a:rPr>
              <a:t>الفحص البصري لتسرب الزيت </a:t>
            </a:r>
          </a:p>
          <a:p>
            <a:pPr rtl="1"/>
            <a:r>
              <a:rPr lang="ar" kern="0" dirty="0">
                <a:latin typeface="Sakkal Majalla" panose="02000000000000000000" pitchFamily="2" charset="-78"/>
                <a:cs typeface="Sakkal Majalla" panose="02000000000000000000" pitchFamily="2" charset="-78"/>
              </a:rPr>
              <a:t>علامات التآكل أو الاهتراء</a:t>
            </a:r>
          </a:p>
          <a:p>
            <a:pPr rtl="1"/>
            <a:r>
              <a:rPr lang="ar" kern="0" dirty="0">
                <a:latin typeface="Sakkal Majalla" panose="02000000000000000000" pitchFamily="2" charset="-78"/>
                <a:cs typeface="Sakkal Majalla" panose="02000000000000000000" pitchFamily="2" charset="-78"/>
              </a:rPr>
              <a:t>فحص  </a:t>
            </a:r>
          </a:p>
          <a:p>
            <a:pPr marL="0" indent="0" rtl="1">
              <a:buNone/>
            </a:pPr>
            <a:r>
              <a:rPr lang="ar" kern="0" dirty="0">
                <a:latin typeface="Sakkal Majalla" panose="02000000000000000000" pitchFamily="2" charset="-78"/>
                <a:cs typeface="Sakkal Majalla" panose="02000000000000000000" pitchFamily="2" charset="-78"/>
              </a:rPr>
              <a:t>    التوصيلات والأسلاك الكهربائية</a:t>
            </a:r>
          </a:p>
          <a:p>
            <a:pPr rtl="1"/>
            <a:r>
              <a:rPr lang="ar" kern="0" dirty="0">
                <a:latin typeface="Sakkal Majalla" panose="02000000000000000000" pitchFamily="2" charset="-78"/>
                <a:cs typeface="Sakkal Majalla" panose="02000000000000000000" pitchFamily="2" charset="-78"/>
              </a:rPr>
              <a:t>الفحص البصري لأي  </a:t>
            </a:r>
          </a:p>
          <a:p>
            <a:pPr marL="0" indent="0" rtl="1">
              <a:buNone/>
            </a:pPr>
            <a:r>
              <a:rPr lang="ar" kern="0" dirty="0">
                <a:latin typeface="Sakkal Majalla" panose="02000000000000000000" pitchFamily="2" charset="-78"/>
                <a:cs typeface="Sakkal Majalla" panose="02000000000000000000" pitchFamily="2" charset="-78"/>
              </a:rPr>
              <a:t>   تلف بالمكونات </a:t>
            </a:r>
          </a:p>
          <a:p>
            <a:pPr marL="0" indent="0" rtl="1">
              <a:buNone/>
            </a:pPr>
            <a:endParaRPr lang="en-US" kern="0" dirty="0">
              <a:latin typeface="Sakkal Majalla" panose="02000000000000000000" pitchFamily="2" charset="-78"/>
              <a:cs typeface="Sakkal Majalla" panose="02000000000000000000" pitchFamily="2" charset="-78"/>
            </a:endParaRPr>
          </a:p>
          <a:p>
            <a:pPr rtl="1"/>
            <a:endParaRPr lang="en-US" kern="0"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7BFD7373-EE54-4BF8-EA6C-C6DC855201D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6" name="Picture 5">
            <a:extLst>
              <a:ext uri="{FF2B5EF4-FFF2-40B4-BE49-F238E27FC236}">
                <a16:creationId xmlns:a16="http://schemas.microsoft.com/office/drawing/2014/main" id="{FDCA280B-673B-6DA5-B148-D71591E695A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045021" y="2492896"/>
            <a:ext cx="3179890" cy="3177215"/>
          </a:xfrm>
          <a:prstGeom prst="rect">
            <a:avLst/>
          </a:prstGeom>
          <a:noFill/>
        </p:spPr>
      </p:pic>
    </p:spTree>
    <p:extLst>
      <p:ext uri="{BB962C8B-B14F-4D97-AF65-F5344CB8AC3E}">
        <p14:creationId xmlns:p14="http://schemas.microsoft.com/office/powerpoint/2010/main" val="1980773273"/>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D1BEC43-5A2B-9551-5777-535CDFC7DAA3}"/>
              </a:ext>
            </a:extLst>
          </p:cNvPr>
          <p:cNvSpPr txBox="1">
            <a:spLocks/>
          </p:cNvSpPr>
          <p:nvPr/>
        </p:nvSpPr>
        <p:spPr>
          <a:xfrm>
            <a:off x="5436096" y="1268760"/>
            <a:ext cx="3240360" cy="519137"/>
          </a:xfrm>
          <a:prstGeom prst="rect">
            <a:avLst/>
          </a:prstGeom>
        </p:spPr>
        <p:txBody>
          <a:bodyPr rtlCol="1"/>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r>
              <a:rPr lang="ar" sz="3200" b="1" kern="0" dirty="0">
                <a:latin typeface="Sakkal Majalla" panose="02000000000000000000" pitchFamily="2" charset="-78"/>
                <a:cs typeface="Sakkal Majalla" panose="02000000000000000000" pitchFamily="2" charset="-78"/>
              </a:rPr>
              <a:t>القياس    </a:t>
            </a:r>
          </a:p>
        </p:txBody>
      </p:sp>
      <p:sp>
        <p:nvSpPr>
          <p:cNvPr id="4" name="Content Placeholder 2">
            <a:extLst>
              <a:ext uri="{FF2B5EF4-FFF2-40B4-BE49-F238E27FC236}">
                <a16:creationId xmlns:a16="http://schemas.microsoft.com/office/drawing/2014/main" id="{AF0C7B5C-0425-5002-9607-4B53F38E1E15}"/>
              </a:ext>
            </a:extLst>
          </p:cNvPr>
          <p:cNvSpPr txBox="1">
            <a:spLocks/>
          </p:cNvSpPr>
          <p:nvPr/>
        </p:nvSpPr>
        <p:spPr>
          <a:xfrm>
            <a:off x="440541" y="1988840"/>
            <a:ext cx="8235915" cy="4248472"/>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b="1" kern="0" dirty="0">
                <a:latin typeface="Sakkal Majalla" panose="02000000000000000000" pitchFamily="2" charset="-78"/>
                <a:cs typeface="Sakkal Majalla" panose="02000000000000000000" pitchFamily="2" charset="-78"/>
              </a:rPr>
              <a:t>عمق الإطارات</a:t>
            </a:r>
            <a:endParaRPr lang="en-US" kern="0" dirty="0">
              <a:latin typeface="Sakkal Majalla" panose="02000000000000000000" pitchFamily="2" charset="-78"/>
              <a:cs typeface="Sakkal Majalla" panose="02000000000000000000" pitchFamily="2" charset="-78"/>
            </a:endParaRPr>
          </a:p>
          <a:p>
            <a:pPr marL="0" indent="0" rtl="1">
              <a:buNone/>
            </a:pPr>
            <a:r>
              <a:rPr lang="ar" sz="2000" kern="0" dirty="0">
                <a:latin typeface="Sakkal Majalla" panose="02000000000000000000" pitchFamily="2" charset="-78"/>
                <a:cs typeface="Sakkal Majalla" panose="02000000000000000000" pitchFamily="2" charset="-78"/>
              </a:rPr>
              <a:t>يمكن قياسه بواسطة مقياس عمق المداس على النحو التالي:</a:t>
            </a:r>
          </a:p>
          <a:p>
            <a:pPr marL="0" indent="0" rtl="1">
              <a:buNone/>
            </a:pPr>
            <a:r>
              <a:rPr lang="ar" sz="2000" kern="0" dirty="0">
                <a:latin typeface="Sakkal Majalla" panose="02000000000000000000" pitchFamily="2" charset="-78"/>
                <a:cs typeface="Sakkal Majalla" panose="02000000000000000000" pitchFamily="2" charset="-78"/>
              </a:rPr>
              <a:t>- ادفع المجس لأسفل حتى يصل إلى قاعدة الأخدود.</a:t>
            </a:r>
          </a:p>
          <a:p>
            <a:pPr marL="0" indent="0" rtl="1">
              <a:buNone/>
            </a:pPr>
            <a:r>
              <a:rPr lang="ar" sz="2000" kern="0" dirty="0">
                <a:latin typeface="Sakkal Majalla" panose="02000000000000000000" pitchFamily="2" charset="-78"/>
                <a:cs typeface="Sakkal Majalla" panose="02000000000000000000" pitchFamily="2" charset="-78"/>
              </a:rPr>
              <a:t>- أزِل المقياس واقرأ عمق المداس.</a:t>
            </a:r>
          </a:p>
          <a:p>
            <a:pPr rtl="1"/>
            <a:r>
              <a:rPr lang="ar" b="1" kern="0" dirty="0">
                <a:latin typeface="Sakkal Majalla" panose="02000000000000000000" pitchFamily="2" charset="-78"/>
                <a:cs typeface="Sakkal Majalla" panose="02000000000000000000" pitchFamily="2" charset="-78"/>
              </a:rPr>
              <a:t>ضغط الإطارات  </a:t>
            </a:r>
          </a:p>
          <a:p>
            <a:pPr marL="0" indent="0" rtl="1">
              <a:buNone/>
            </a:pPr>
            <a:r>
              <a:rPr lang="ar" sz="2000" kern="0" dirty="0">
                <a:latin typeface="Sakkal Majalla" panose="02000000000000000000" pitchFamily="2" charset="-78"/>
                <a:cs typeface="Sakkal Majalla" panose="02000000000000000000" pitchFamily="2" charset="-78"/>
              </a:rPr>
              <a:t>- أزِل غطاء الصمام لكل إطار.</a:t>
            </a:r>
          </a:p>
          <a:p>
            <a:pPr marL="0" indent="0" rtl="1">
              <a:buNone/>
            </a:pPr>
            <a:r>
              <a:rPr lang="ar" sz="2000" kern="0" dirty="0">
                <a:latin typeface="Sakkal Majalla" panose="02000000000000000000" pitchFamily="2" charset="-78"/>
                <a:cs typeface="Sakkal Majalla" panose="02000000000000000000" pitchFamily="2" charset="-78"/>
              </a:rPr>
              <a:t>- قم بمحاذاة مقياس ضغط الإطارات حتى الصمام.</a:t>
            </a:r>
          </a:p>
          <a:p>
            <a:pPr marL="0" indent="0" rtl="1">
              <a:buNone/>
            </a:pPr>
            <a:r>
              <a:rPr lang="ar" sz="2000" kern="0" dirty="0">
                <a:latin typeface="Sakkal Majalla" panose="02000000000000000000" pitchFamily="2" charset="-78"/>
                <a:cs typeface="Sakkal Majalla" panose="02000000000000000000" pitchFamily="2" charset="-78"/>
              </a:rPr>
              <a:t>- اضغط المقياس على الصمام بضغط مباشر واقرأ ضغط الإطارات</a:t>
            </a:r>
          </a:p>
          <a:p>
            <a:pPr marL="0" indent="0" rtl="1">
              <a:buNone/>
            </a:pPr>
            <a:r>
              <a:rPr lang="ar" sz="2000" kern="0" dirty="0">
                <a:latin typeface="Sakkal Majalla" panose="02000000000000000000" pitchFamily="2" charset="-78"/>
                <a:cs typeface="Sakkal Majalla" panose="02000000000000000000" pitchFamily="2" charset="-78"/>
              </a:rPr>
              <a:t>إذا كان منخفضًا جدًا، فاملأ الإطار بالهواء. إذا كان مرتفعًا جدًا، فخفف الهواء من الإطار </a:t>
            </a:r>
          </a:p>
          <a:p>
            <a:pPr marL="0" indent="0" rtl="1">
              <a:buNone/>
            </a:pPr>
            <a:r>
              <a:rPr lang="ar" sz="2000" kern="0" dirty="0">
                <a:latin typeface="Sakkal Majalla" panose="02000000000000000000" pitchFamily="2" charset="-78"/>
                <a:cs typeface="Sakkal Majalla" panose="02000000000000000000" pitchFamily="2" charset="-78"/>
              </a:rPr>
              <a:t>- أعِد التحقق م الضغط وإحكام أغطية الصمامات.</a:t>
            </a:r>
          </a:p>
        </p:txBody>
      </p:sp>
      <p:sp>
        <p:nvSpPr>
          <p:cNvPr id="5" name="Footer Placeholder 2">
            <a:extLst>
              <a:ext uri="{FF2B5EF4-FFF2-40B4-BE49-F238E27FC236}">
                <a16:creationId xmlns:a16="http://schemas.microsoft.com/office/drawing/2014/main" id="{1C84C556-0EC2-46E6-7F71-37978D10615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686714927"/>
      </p:ext>
    </p:extLst>
  </p:cSld>
  <p:clrMapOvr>
    <a:masterClrMapping/>
  </p:clrMapOvr>
  <p:transition>
    <p:sndAc>
      <p:stSnd>
        <p:snd r:embed="rId2"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D1BEC43-5A2B-9551-5777-535CDFC7DAA3}"/>
              </a:ext>
            </a:extLst>
          </p:cNvPr>
          <p:cNvSpPr txBox="1">
            <a:spLocks/>
          </p:cNvSpPr>
          <p:nvPr/>
        </p:nvSpPr>
        <p:spPr>
          <a:xfrm>
            <a:off x="-360040" y="1484784"/>
            <a:ext cx="9036496" cy="863600"/>
          </a:xfrm>
          <a:prstGeom prst="rect">
            <a:avLst/>
          </a:prstGeom>
        </p:spPr>
        <p:txBody>
          <a:bodyPr rtlCol="1"/>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r>
              <a:rPr lang="ar" sz="3200" b="1" kern="0" dirty="0">
                <a:latin typeface="Sakkal Majalla" panose="02000000000000000000" pitchFamily="2" charset="-78"/>
                <a:cs typeface="Sakkal Majalla" panose="02000000000000000000" pitchFamily="2" charset="-78"/>
              </a:rPr>
              <a:t>القياس (تتمة)</a:t>
            </a:r>
          </a:p>
        </p:txBody>
      </p:sp>
      <p:sp>
        <p:nvSpPr>
          <p:cNvPr id="4" name="Content Placeholder 2">
            <a:extLst>
              <a:ext uri="{FF2B5EF4-FFF2-40B4-BE49-F238E27FC236}">
                <a16:creationId xmlns:a16="http://schemas.microsoft.com/office/drawing/2014/main" id="{AF0C7B5C-0425-5002-9607-4B53F38E1E15}"/>
              </a:ext>
            </a:extLst>
          </p:cNvPr>
          <p:cNvSpPr txBox="1">
            <a:spLocks/>
          </p:cNvSpPr>
          <p:nvPr/>
        </p:nvSpPr>
        <p:spPr>
          <a:xfrm>
            <a:off x="230034" y="2260600"/>
            <a:ext cx="8446422" cy="4486275"/>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kern="0" dirty="0">
                <a:latin typeface="Sakkal Majalla" panose="02000000000000000000" pitchFamily="2" charset="-78"/>
                <a:cs typeface="Sakkal Majalla" panose="02000000000000000000" pitchFamily="2" charset="-78"/>
              </a:rPr>
              <a:t> </a:t>
            </a:r>
            <a:r>
              <a:rPr lang="ar" b="1" kern="0" dirty="0">
                <a:latin typeface="Sakkal Majalla" panose="02000000000000000000" pitchFamily="2" charset="-78"/>
                <a:cs typeface="Sakkal Majalla" panose="02000000000000000000" pitchFamily="2" charset="-78"/>
              </a:rPr>
              <a:t>مستوى سائل التبريد  </a:t>
            </a:r>
          </a:p>
          <a:p>
            <a:pPr marL="0" indent="0" rtl="1">
              <a:buNone/>
            </a:pPr>
            <a:r>
              <a:rPr lang="ar" kern="0" dirty="0">
                <a:latin typeface="Sakkal Majalla" panose="02000000000000000000" pitchFamily="2" charset="-78"/>
                <a:cs typeface="Sakkal Majalla" panose="02000000000000000000" pitchFamily="2" charset="-78"/>
              </a:rPr>
              <a:t>يمكن التحقق من المستوى المناسب بملاحظة مستوى MIN-MAX من خلال الخزان الشفاف.  </a:t>
            </a:r>
          </a:p>
          <a:p>
            <a:pPr rtl="1"/>
            <a:r>
              <a:rPr lang="ar" b="1" kern="0" dirty="0">
                <a:latin typeface="Sakkal Majalla" panose="02000000000000000000" pitchFamily="2" charset="-78"/>
                <a:cs typeface="Sakkal Majalla" panose="02000000000000000000" pitchFamily="2" charset="-78"/>
              </a:rPr>
              <a:t>فحص مستوى سائل الفرامل </a:t>
            </a:r>
          </a:p>
          <a:p>
            <a:pPr marL="0" indent="0" rtl="1">
              <a:buNone/>
            </a:pPr>
            <a:r>
              <a:rPr lang="ar" kern="0" dirty="0">
                <a:latin typeface="Sakkal Majalla" panose="02000000000000000000" pitchFamily="2" charset="-78"/>
                <a:cs typeface="Sakkal Majalla" panose="02000000000000000000" pitchFamily="2" charset="-78"/>
              </a:rPr>
              <a:t>يمكن التحقق من المستوى المناسب بملاحظة مستوى MIN-MAX من خلال الخزان الشفاف.  </a:t>
            </a:r>
          </a:p>
          <a:p>
            <a:pPr marL="0" indent="0" rtl="1">
              <a:buNone/>
            </a:pPr>
            <a:endParaRPr lang="en-US" kern="0" dirty="0">
              <a:latin typeface="Sakkal Majalla" panose="02000000000000000000" pitchFamily="2" charset="-78"/>
              <a:cs typeface="Sakkal Majalla" panose="02000000000000000000" pitchFamily="2" charset="-78"/>
            </a:endParaRPr>
          </a:p>
          <a:p>
            <a:pPr rtl="1"/>
            <a:endParaRPr lang="en-US" kern="0"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9E99F2E4-9276-7113-8AB0-BF8D05B54E4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701751763"/>
      </p:ext>
    </p:extLst>
  </p:cSld>
  <p:clrMapOvr>
    <a:masterClrMapping/>
  </p:clrMapOvr>
  <p:transition>
    <p:sndAc>
      <p:stSnd>
        <p:snd r:embed="rId2"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516E60-9ACF-E5B4-896F-5B5C81CA879F}"/>
              </a:ext>
            </a:extLst>
          </p:cNvPr>
          <p:cNvPicPr>
            <a:picLocks noChangeAspect="1"/>
          </p:cNvPicPr>
          <p:nvPr/>
        </p:nvPicPr>
        <p:blipFill>
          <a:blip r:embed="rId3"/>
          <a:stretch>
            <a:fillRect/>
          </a:stretch>
        </p:blipFill>
        <p:spPr>
          <a:xfrm>
            <a:off x="755576" y="1628800"/>
            <a:ext cx="3340272" cy="2292468"/>
          </a:xfrm>
          <a:prstGeom prst="rect">
            <a:avLst/>
          </a:prstGeom>
        </p:spPr>
      </p:pic>
      <p:sp>
        <p:nvSpPr>
          <p:cNvPr id="5" name="Title 1">
            <a:extLst>
              <a:ext uri="{FF2B5EF4-FFF2-40B4-BE49-F238E27FC236}">
                <a16:creationId xmlns:a16="http://schemas.microsoft.com/office/drawing/2014/main" id="{AB529051-3028-E7A8-17C3-1A67352CB894}"/>
              </a:ext>
            </a:extLst>
          </p:cNvPr>
          <p:cNvSpPr txBox="1">
            <a:spLocks/>
          </p:cNvSpPr>
          <p:nvPr/>
        </p:nvSpPr>
        <p:spPr>
          <a:xfrm>
            <a:off x="5611165" y="1279533"/>
            <a:ext cx="3240360" cy="519137"/>
          </a:xfrm>
          <a:prstGeom prst="rect">
            <a:avLst/>
          </a:prstGeom>
        </p:spPr>
        <p:txBody>
          <a:bodyPr rtlCol="1"/>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r>
              <a:rPr lang="ar" sz="3200" b="1" kern="0" dirty="0">
                <a:latin typeface="Sakkal Majalla" panose="02000000000000000000" pitchFamily="2" charset="-78"/>
                <a:cs typeface="Sakkal Majalla" panose="02000000000000000000" pitchFamily="2" charset="-78"/>
              </a:rPr>
              <a:t>القياس    </a:t>
            </a:r>
          </a:p>
        </p:txBody>
      </p:sp>
      <p:sp>
        <p:nvSpPr>
          <p:cNvPr id="7" name="TextBox 6">
            <a:extLst>
              <a:ext uri="{FF2B5EF4-FFF2-40B4-BE49-F238E27FC236}">
                <a16:creationId xmlns:a16="http://schemas.microsoft.com/office/drawing/2014/main" id="{72B31307-5B3D-DFFB-C539-0C3F660F5ED3}"/>
              </a:ext>
            </a:extLst>
          </p:cNvPr>
          <p:cNvSpPr txBox="1"/>
          <p:nvPr/>
        </p:nvSpPr>
        <p:spPr>
          <a:xfrm>
            <a:off x="3527884" y="1798670"/>
            <a:ext cx="3888432" cy="369332"/>
          </a:xfrm>
          <a:prstGeom prst="rect">
            <a:avLst/>
          </a:prstGeom>
          <a:noFill/>
        </p:spPr>
        <p:txBody>
          <a:bodyPr wrap="square" rtlCol="1">
            <a:spAutoFit/>
          </a:bodyPr>
          <a:lstStyle/>
          <a:p>
            <a:pPr marL="0" indent="0" rtl="1">
              <a:buFont typeface="Wingdings" panose="05000000000000000000" pitchFamily="2" charset="2"/>
              <a:buNone/>
            </a:pPr>
            <a:r>
              <a:rPr lang="ar" b="1" kern="0" dirty="0">
                <a:latin typeface="Sakkal Majalla" panose="02000000000000000000" pitchFamily="2" charset="-78"/>
                <a:cs typeface="Sakkal Majalla" panose="02000000000000000000" pitchFamily="2" charset="-78"/>
              </a:rPr>
              <a:t>فحص مستوى سائل التبريد </a:t>
            </a:r>
          </a:p>
        </p:txBody>
      </p:sp>
      <p:sp>
        <p:nvSpPr>
          <p:cNvPr id="9" name="TextBox 8">
            <a:extLst>
              <a:ext uri="{FF2B5EF4-FFF2-40B4-BE49-F238E27FC236}">
                <a16:creationId xmlns:a16="http://schemas.microsoft.com/office/drawing/2014/main" id="{A99B6B31-9059-5F43-9870-ED850A45BE01}"/>
              </a:ext>
            </a:extLst>
          </p:cNvPr>
          <p:cNvSpPr txBox="1"/>
          <p:nvPr/>
        </p:nvSpPr>
        <p:spPr>
          <a:xfrm>
            <a:off x="291222" y="5768269"/>
            <a:ext cx="4597166" cy="369332"/>
          </a:xfrm>
          <a:prstGeom prst="rect">
            <a:avLst/>
          </a:prstGeom>
          <a:noFill/>
        </p:spPr>
        <p:txBody>
          <a:bodyPr wrap="square" rtlCol="1">
            <a:spAutoFit/>
          </a:bodyPr>
          <a:lstStyle/>
          <a:p>
            <a:pPr rtl="1"/>
            <a:r>
              <a:rPr lang="ar" b="1" kern="0" dirty="0">
                <a:latin typeface="Sakkal Majalla" panose="02000000000000000000" pitchFamily="2" charset="-78"/>
                <a:cs typeface="Sakkal Majalla" panose="02000000000000000000" pitchFamily="2" charset="-78"/>
              </a:rPr>
              <a:t>فحص مستوى سائل الفرامل </a:t>
            </a:r>
          </a:p>
        </p:txBody>
      </p:sp>
      <p:sp>
        <p:nvSpPr>
          <p:cNvPr id="11" name="TextBox 10">
            <a:extLst>
              <a:ext uri="{FF2B5EF4-FFF2-40B4-BE49-F238E27FC236}">
                <a16:creationId xmlns:a16="http://schemas.microsoft.com/office/drawing/2014/main" id="{C55C97FB-8958-F15F-0D76-DE14C0109BDF}"/>
              </a:ext>
            </a:extLst>
          </p:cNvPr>
          <p:cNvSpPr txBox="1"/>
          <p:nvPr/>
        </p:nvSpPr>
        <p:spPr>
          <a:xfrm>
            <a:off x="4283968" y="3241939"/>
            <a:ext cx="4618138" cy="646331"/>
          </a:xfrm>
          <a:prstGeom prst="rect">
            <a:avLst/>
          </a:prstGeom>
          <a:noFill/>
        </p:spPr>
        <p:txBody>
          <a:bodyPr wrap="square" rtlCol="1">
            <a:spAutoFit/>
          </a:bodyPr>
          <a:lstStyle/>
          <a:p>
            <a:pPr marL="0" indent="0" rtl="1">
              <a:buNone/>
            </a:pPr>
            <a:r>
              <a:rPr lang="ar" kern="0" dirty="0">
                <a:latin typeface="Sakkal Majalla" panose="02000000000000000000" pitchFamily="2" charset="-78"/>
                <a:cs typeface="Sakkal Majalla" panose="02000000000000000000" pitchFamily="2" charset="-78"/>
              </a:rPr>
              <a:t>يمكن فحص مستويات السوائل بملاحظة مستوى MIN-MAX من خلال الخزان الشفاف.  </a:t>
            </a:r>
          </a:p>
        </p:txBody>
      </p:sp>
      <p:sp>
        <p:nvSpPr>
          <p:cNvPr id="6" name="Footer Placeholder 2">
            <a:extLst>
              <a:ext uri="{FF2B5EF4-FFF2-40B4-BE49-F238E27FC236}">
                <a16:creationId xmlns:a16="http://schemas.microsoft.com/office/drawing/2014/main" id="{1DBF29D0-EB12-ED20-9007-12347B52EC3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8" name="Picture 7" descr="A close up of a car engine&#10;&#10;Description automatically generated">
            <a:extLst>
              <a:ext uri="{FF2B5EF4-FFF2-40B4-BE49-F238E27FC236}">
                <a16:creationId xmlns:a16="http://schemas.microsoft.com/office/drawing/2014/main" id="{42AFBE4D-41FE-72C7-FE74-657248F21A5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594507" y="4437112"/>
            <a:ext cx="3024336" cy="2016224"/>
          </a:xfrm>
          <a:prstGeom prst="rect">
            <a:avLst/>
          </a:prstGeom>
        </p:spPr>
      </p:pic>
    </p:spTree>
    <p:extLst>
      <p:ext uri="{BB962C8B-B14F-4D97-AF65-F5344CB8AC3E}">
        <p14:creationId xmlns:p14="http://schemas.microsoft.com/office/powerpoint/2010/main" val="1507093277"/>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D1BEC43-5A2B-9551-5777-535CDFC7DAA3}"/>
              </a:ext>
            </a:extLst>
          </p:cNvPr>
          <p:cNvSpPr txBox="1">
            <a:spLocks/>
          </p:cNvSpPr>
          <p:nvPr/>
        </p:nvSpPr>
        <p:spPr>
          <a:xfrm>
            <a:off x="-371086" y="1541463"/>
            <a:ext cx="9036496" cy="863600"/>
          </a:xfrm>
          <a:prstGeom prst="rect">
            <a:avLst/>
          </a:prstGeom>
        </p:spPr>
        <p:txBody>
          <a:bodyPr rtlCol="1"/>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r>
              <a:rPr lang="ar" sz="3200" b="1" kern="0" dirty="0">
                <a:latin typeface="Sakkal Majalla" panose="02000000000000000000" pitchFamily="2" charset="-78"/>
                <a:cs typeface="Sakkal Majalla" panose="02000000000000000000" pitchFamily="2" charset="-78"/>
              </a:rPr>
              <a:t>صيانة المحرك</a:t>
            </a:r>
          </a:p>
        </p:txBody>
      </p:sp>
      <p:sp>
        <p:nvSpPr>
          <p:cNvPr id="4" name="Content Placeholder 2">
            <a:extLst>
              <a:ext uri="{FF2B5EF4-FFF2-40B4-BE49-F238E27FC236}">
                <a16:creationId xmlns:a16="http://schemas.microsoft.com/office/drawing/2014/main" id="{AF0C7B5C-0425-5002-9607-4B53F38E1E15}"/>
              </a:ext>
            </a:extLst>
          </p:cNvPr>
          <p:cNvSpPr txBox="1">
            <a:spLocks/>
          </p:cNvSpPr>
          <p:nvPr/>
        </p:nvSpPr>
        <p:spPr>
          <a:xfrm>
            <a:off x="1152525" y="1973263"/>
            <a:ext cx="7523931" cy="3183930"/>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kern="0" dirty="0">
                <a:latin typeface="Sakkal Majalla" panose="02000000000000000000" pitchFamily="2" charset="-78"/>
                <a:cs typeface="Sakkal Majalla" panose="02000000000000000000" pitchFamily="2" charset="-78"/>
              </a:rPr>
              <a:t> </a:t>
            </a:r>
          </a:p>
          <a:p>
            <a:pPr rtl="1"/>
            <a:r>
              <a:rPr lang="ar" b="1" kern="0" dirty="0">
                <a:latin typeface="Sakkal Majalla" panose="02000000000000000000" pitchFamily="2" charset="-78"/>
                <a:cs typeface="Sakkal Majalla" panose="02000000000000000000" pitchFamily="2" charset="-78"/>
              </a:rPr>
              <a:t>عمليات إعادة تعبئة زيوت المحرك وتغييرات المكونات</a:t>
            </a:r>
            <a:r>
              <a:rPr lang="ar" kern="0" dirty="0">
                <a:latin typeface="Sakkal Majalla" panose="02000000000000000000" pitchFamily="2" charset="-78"/>
                <a:cs typeface="Sakkal Majalla" panose="02000000000000000000" pitchFamily="2" charset="-78"/>
              </a:rPr>
              <a:t>:</a:t>
            </a:r>
          </a:p>
          <a:p>
            <a:pPr marL="0" indent="0" rtl="1">
              <a:buNone/>
            </a:pPr>
            <a:r>
              <a:rPr lang="ar" kern="0" dirty="0">
                <a:latin typeface="Sakkal Majalla" panose="02000000000000000000" pitchFamily="2" charset="-78"/>
                <a:cs typeface="Sakkal Majalla" panose="02000000000000000000" pitchFamily="2" charset="-78"/>
              </a:rPr>
              <a:t>- نظام تبريد</a:t>
            </a:r>
          </a:p>
          <a:p>
            <a:pPr marL="0" indent="0" rtl="1">
              <a:buNone/>
            </a:pPr>
            <a:r>
              <a:rPr lang="ar" kern="0" dirty="0">
                <a:latin typeface="Sakkal Majalla" panose="02000000000000000000" pitchFamily="2" charset="-78"/>
                <a:cs typeface="Sakkal Majalla" panose="02000000000000000000" pitchFamily="2" charset="-78"/>
              </a:rPr>
              <a:t>- نظام تزويد الهواء والعادم</a:t>
            </a:r>
          </a:p>
          <a:p>
            <a:pPr marL="0" indent="0" rtl="1">
              <a:buNone/>
            </a:pPr>
            <a:r>
              <a:rPr lang="ar" kern="0" dirty="0">
                <a:latin typeface="Sakkal Majalla" panose="02000000000000000000" pitchFamily="2" charset="-78"/>
                <a:cs typeface="Sakkal Majalla" panose="02000000000000000000" pitchFamily="2" charset="-78"/>
              </a:rPr>
              <a:t>- نظام الوقود</a:t>
            </a:r>
          </a:p>
          <a:p>
            <a:pPr marL="0" indent="0" rtl="1">
              <a:buNone/>
            </a:pPr>
            <a:r>
              <a:rPr lang="ar" kern="0" dirty="0">
                <a:latin typeface="Sakkal Majalla" panose="02000000000000000000" pitchFamily="2" charset="-78"/>
                <a:cs typeface="Sakkal Majalla" panose="02000000000000000000" pitchFamily="2" charset="-78"/>
              </a:rPr>
              <a:t>- نظام الإشعال</a:t>
            </a:r>
          </a:p>
          <a:p>
            <a:pPr marL="0" indent="0" rtl="1">
              <a:buNone/>
            </a:pPr>
            <a:endParaRPr lang="en-US" kern="0" dirty="0">
              <a:latin typeface="Sakkal Majalla" panose="02000000000000000000" pitchFamily="2" charset="-78"/>
              <a:cs typeface="Sakkal Majalla" panose="02000000000000000000" pitchFamily="2" charset="-78"/>
            </a:endParaRPr>
          </a:p>
          <a:p>
            <a:pPr marL="0" indent="0" rtl="1">
              <a:buNone/>
            </a:pPr>
            <a:endParaRPr lang="en-US" kern="0" dirty="0">
              <a:latin typeface="Sakkal Majalla" panose="02000000000000000000" pitchFamily="2" charset="-78"/>
              <a:cs typeface="Sakkal Majalla" panose="02000000000000000000" pitchFamily="2" charset="-78"/>
            </a:endParaRPr>
          </a:p>
          <a:p>
            <a:pPr rtl="1"/>
            <a:endParaRPr lang="en-US" kern="0"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0579DE90-9476-70C5-0AEA-B1A5F8FB267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1376994023"/>
      </p:ext>
    </p:extLst>
  </p:cSld>
  <p:clrMapOvr>
    <a:masterClrMapping/>
  </p:clrMapOvr>
  <p:transition>
    <p:sndAc>
      <p:stSnd>
        <p:snd r:embed="rId2"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F0C7B5C-0425-5002-9607-4B53F38E1E15}"/>
              </a:ext>
            </a:extLst>
          </p:cNvPr>
          <p:cNvSpPr txBox="1">
            <a:spLocks/>
          </p:cNvSpPr>
          <p:nvPr/>
        </p:nvSpPr>
        <p:spPr>
          <a:xfrm>
            <a:off x="1045021" y="1916832"/>
            <a:ext cx="7631435" cy="3609975"/>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kern="0" dirty="0">
                <a:latin typeface="Sakkal Majalla" panose="02000000000000000000" pitchFamily="2" charset="-78"/>
                <a:cs typeface="Sakkal Majalla" panose="02000000000000000000" pitchFamily="2" charset="-78"/>
              </a:rPr>
              <a:t> </a:t>
            </a:r>
          </a:p>
          <a:p>
            <a:pPr marL="0" indent="0" rtl="1">
              <a:buNone/>
            </a:pPr>
            <a:r>
              <a:rPr lang="ar" kern="0" dirty="0">
                <a:latin typeface="Sakkal Majalla" panose="02000000000000000000" pitchFamily="2" charset="-78"/>
                <a:cs typeface="Sakkal Majalla" panose="02000000000000000000" pitchFamily="2" charset="-78"/>
              </a:rPr>
              <a:t>- صيانة/تعديل أنظمة تشغيل القابض </a:t>
            </a:r>
          </a:p>
          <a:p>
            <a:pPr marL="0" indent="0" rtl="1">
              <a:buNone/>
            </a:pPr>
            <a:r>
              <a:rPr lang="ar" kern="0" dirty="0">
                <a:latin typeface="Sakkal Majalla" panose="02000000000000000000" pitchFamily="2" charset="-78"/>
                <a:cs typeface="Sakkal Majalla" panose="02000000000000000000" pitchFamily="2" charset="-78"/>
              </a:rPr>
              <a:t>- صيانة/تعديل ناقل الحركة (علبة التروس) اليدوي </a:t>
            </a:r>
          </a:p>
          <a:p>
            <a:pPr marL="0" indent="0" rtl="1">
              <a:buNone/>
            </a:pPr>
            <a:r>
              <a:rPr lang="ar" kern="0" dirty="0">
                <a:latin typeface="Sakkal Majalla" panose="02000000000000000000" pitchFamily="2" charset="-78"/>
                <a:cs typeface="Sakkal Majalla" panose="02000000000000000000" pitchFamily="2" charset="-78"/>
              </a:rPr>
              <a:t>- صيانة/تعديل ناقل الحركة (علبة التروس) الأوتوماتيكي </a:t>
            </a:r>
          </a:p>
          <a:p>
            <a:pPr marL="0" indent="0" rtl="1">
              <a:buNone/>
            </a:pPr>
            <a:r>
              <a:rPr lang="ar" kern="0" dirty="0">
                <a:latin typeface="Sakkal Majalla" panose="02000000000000000000" pitchFamily="2" charset="-78"/>
                <a:cs typeface="Sakkal Majalla" panose="02000000000000000000" pitchFamily="2" charset="-78"/>
              </a:rPr>
              <a:t>- صيانة/تعديل سيور نقل الحركة والمحاور </a:t>
            </a:r>
          </a:p>
          <a:p>
            <a:pPr marL="0" indent="0" rtl="1">
              <a:buNone/>
            </a:pPr>
            <a:r>
              <a:rPr lang="ar" kern="0" dirty="0">
                <a:latin typeface="Sakkal Majalla" panose="02000000000000000000" pitchFamily="2" charset="-78"/>
                <a:cs typeface="Sakkal Majalla" panose="02000000000000000000" pitchFamily="2" charset="-78"/>
              </a:rPr>
              <a:t>- صيانة/تعديل المركبات الهجينة/الكهربائية </a:t>
            </a:r>
          </a:p>
          <a:p>
            <a:pPr marL="0" indent="0" rtl="1">
              <a:buNone/>
            </a:pPr>
            <a:endParaRPr lang="en-US" kern="0" dirty="0">
              <a:latin typeface="Sakkal Majalla" panose="02000000000000000000" pitchFamily="2" charset="-78"/>
              <a:cs typeface="Sakkal Majalla" panose="02000000000000000000" pitchFamily="2" charset="-78"/>
            </a:endParaRPr>
          </a:p>
          <a:p>
            <a:pPr marL="0" indent="0" rtl="1">
              <a:buNone/>
            </a:pPr>
            <a:endParaRPr lang="en-US" kern="0" dirty="0">
              <a:latin typeface="Sakkal Majalla" panose="02000000000000000000" pitchFamily="2" charset="-78"/>
              <a:cs typeface="Sakkal Majalla" panose="02000000000000000000" pitchFamily="2" charset="-78"/>
            </a:endParaRPr>
          </a:p>
          <a:p>
            <a:pPr rtl="1"/>
            <a:endParaRPr lang="en-US" kern="0" dirty="0">
              <a:latin typeface="Sakkal Majalla" panose="02000000000000000000" pitchFamily="2" charset="-78"/>
              <a:cs typeface="Sakkal Majalla" panose="02000000000000000000" pitchFamily="2" charset="-78"/>
            </a:endParaRPr>
          </a:p>
        </p:txBody>
      </p:sp>
      <p:sp>
        <p:nvSpPr>
          <p:cNvPr id="3" name="Title 1">
            <a:extLst>
              <a:ext uri="{FF2B5EF4-FFF2-40B4-BE49-F238E27FC236}">
                <a16:creationId xmlns:a16="http://schemas.microsoft.com/office/drawing/2014/main" id="{04D446AB-7C78-D7F1-1E8F-BB1D1130C227}"/>
              </a:ext>
            </a:extLst>
          </p:cNvPr>
          <p:cNvSpPr txBox="1">
            <a:spLocks/>
          </p:cNvSpPr>
          <p:nvPr/>
        </p:nvSpPr>
        <p:spPr>
          <a:xfrm>
            <a:off x="-252536" y="1485032"/>
            <a:ext cx="9036496" cy="863600"/>
          </a:xfrm>
          <a:prstGeom prst="rect">
            <a:avLst/>
          </a:prstGeom>
        </p:spPr>
        <p:txBody>
          <a:bodyPr rtlCol="1"/>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r>
              <a:rPr lang="ar" sz="3200" b="1" kern="0" dirty="0">
                <a:latin typeface="Sakkal Majalla" panose="02000000000000000000" pitchFamily="2" charset="-78"/>
                <a:cs typeface="Sakkal Majalla" panose="02000000000000000000" pitchFamily="2" charset="-78"/>
              </a:rPr>
              <a:t>صيانة ناقل الحركة</a:t>
            </a:r>
          </a:p>
        </p:txBody>
      </p:sp>
      <p:sp>
        <p:nvSpPr>
          <p:cNvPr id="5" name="Footer Placeholder 2">
            <a:extLst>
              <a:ext uri="{FF2B5EF4-FFF2-40B4-BE49-F238E27FC236}">
                <a16:creationId xmlns:a16="http://schemas.microsoft.com/office/drawing/2014/main" id="{9E39B023-A4BD-01B5-5C34-F7159FCC0AF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1008942373"/>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F0C7B5C-0425-5002-9607-4B53F38E1E15}"/>
              </a:ext>
            </a:extLst>
          </p:cNvPr>
          <p:cNvSpPr txBox="1">
            <a:spLocks/>
          </p:cNvSpPr>
          <p:nvPr/>
        </p:nvSpPr>
        <p:spPr>
          <a:xfrm>
            <a:off x="1045021" y="1340768"/>
            <a:ext cx="7487419" cy="5118770"/>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EG" kern="0" dirty="0">
                <a:latin typeface="Sakkal Majalla" panose="02000000000000000000" pitchFamily="2" charset="-78"/>
                <a:cs typeface="Sakkal Majalla" panose="02000000000000000000" pitchFamily="2" charset="-78"/>
              </a:rPr>
              <a:t> </a:t>
            </a:r>
          </a:p>
          <a:p>
            <a:pPr rtl="1"/>
            <a:r>
              <a:rPr lang="ar-EG" b="1" kern="0" dirty="0">
                <a:latin typeface="Sakkal Majalla" panose="02000000000000000000" pitchFamily="2" charset="-78"/>
                <a:cs typeface="Sakkal Majalla" panose="02000000000000000000" pitchFamily="2" charset="-78"/>
              </a:rPr>
              <a:t>صيانة الشاسيه </a:t>
            </a:r>
          </a:p>
          <a:p>
            <a:pPr marL="0" indent="0" rtl="1">
              <a:buNone/>
            </a:pPr>
            <a:r>
              <a:rPr lang="ar-EG" dirty="0">
                <a:latin typeface="Sakkal Majalla" panose="02000000000000000000" pitchFamily="2" charset="-78"/>
                <a:cs typeface="Sakkal Majalla" panose="02000000000000000000" pitchFamily="2" charset="-78"/>
              </a:rPr>
              <a:t>تشمل:</a:t>
            </a:r>
          </a:p>
          <a:p>
            <a:pPr marL="0" indent="0" rtl="1">
              <a:buNone/>
            </a:pPr>
            <a:r>
              <a:rPr lang="ar-EG" kern="0" dirty="0">
                <a:latin typeface="Sakkal Majalla" panose="02000000000000000000" pitchFamily="2" charset="-78"/>
                <a:cs typeface="Sakkal Majalla" panose="02000000000000000000" pitchFamily="2" charset="-78"/>
              </a:rPr>
              <a:t>- أنظمة التعليق</a:t>
            </a:r>
          </a:p>
          <a:p>
            <a:pPr marL="0" indent="0" rtl="1">
              <a:buNone/>
            </a:pPr>
            <a:r>
              <a:rPr lang="ar-EG" kern="0" dirty="0">
                <a:latin typeface="Sakkal Majalla" panose="02000000000000000000" pitchFamily="2" charset="-78"/>
                <a:cs typeface="Sakkal Majalla" panose="02000000000000000000" pitchFamily="2" charset="-78"/>
              </a:rPr>
              <a:t>- نظام التوجيه</a:t>
            </a:r>
          </a:p>
          <a:p>
            <a:pPr marL="0" indent="0" rtl="1">
              <a:buNone/>
            </a:pPr>
            <a:r>
              <a:rPr lang="ar-EG" kern="0" dirty="0">
                <a:latin typeface="Sakkal Majalla" panose="02000000000000000000" pitchFamily="2" charset="-78"/>
                <a:cs typeface="Sakkal Majalla" panose="02000000000000000000" pitchFamily="2" charset="-78"/>
              </a:rPr>
              <a:t>- أنظمة الفرملة</a:t>
            </a:r>
          </a:p>
          <a:p>
            <a:pPr rtl="1"/>
            <a:r>
              <a:rPr lang="ar-EG" b="1" kern="0" dirty="0">
                <a:latin typeface="Sakkal Majalla" panose="02000000000000000000" pitchFamily="2" charset="-78"/>
                <a:cs typeface="Sakkal Majalla" panose="02000000000000000000" pitchFamily="2" charset="-78"/>
              </a:rPr>
              <a:t>صيانة النظام الكهربائي </a:t>
            </a:r>
          </a:p>
          <a:p>
            <a:pPr marL="0" indent="0" rtl="1">
              <a:buNone/>
            </a:pPr>
            <a:r>
              <a:rPr lang="ar-EG" kern="0" dirty="0">
                <a:latin typeface="Sakkal Majalla" panose="02000000000000000000" pitchFamily="2" charset="-78"/>
                <a:cs typeface="Sakkal Majalla" panose="02000000000000000000" pitchFamily="2" charset="-78"/>
              </a:rPr>
              <a:t>- نظام تخزين الطاقة (البطاريات) </a:t>
            </a:r>
          </a:p>
          <a:p>
            <a:pPr marL="0" indent="0" rtl="1">
              <a:buNone/>
            </a:pPr>
            <a:r>
              <a:rPr lang="ar-EG" kern="0" dirty="0">
                <a:latin typeface="Sakkal Majalla" panose="02000000000000000000" pitchFamily="2" charset="-78"/>
                <a:cs typeface="Sakkal Majalla" panose="02000000000000000000" pitchFamily="2" charset="-78"/>
              </a:rPr>
              <a:t>- نظام توليد الطاقة (أنظمة شحن المركبة)</a:t>
            </a:r>
          </a:p>
          <a:p>
            <a:pPr marL="0" indent="0" rtl="1">
              <a:buNone/>
            </a:pPr>
            <a:r>
              <a:rPr lang="ar-EG" kern="0" dirty="0">
                <a:latin typeface="Sakkal Majalla" panose="02000000000000000000" pitchFamily="2" charset="-78"/>
                <a:cs typeface="Sakkal Majalla" panose="02000000000000000000" pitchFamily="2" charset="-78"/>
              </a:rPr>
              <a:t>- أنظمة بدء التشغيل</a:t>
            </a:r>
          </a:p>
          <a:p>
            <a:pPr marL="0" indent="0" rtl="1">
              <a:buNone/>
            </a:pPr>
            <a:r>
              <a:rPr lang="ar-EG" kern="0" dirty="0">
                <a:latin typeface="Sakkal Majalla" panose="02000000000000000000" pitchFamily="2" charset="-78"/>
                <a:cs typeface="Sakkal Majalla" panose="02000000000000000000" pitchFamily="2" charset="-78"/>
              </a:rPr>
              <a:t>- أنظمة الإضاءة</a:t>
            </a:r>
          </a:p>
          <a:p>
            <a:pPr marL="0" indent="0" rtl="1">
              <a:buNone/>
            </a:pPr>
            <a:endParaRPr lang="ar-EG" kern="0" dirty="0">
              <a:latin typeface="Sakkal Majalla" panose="02000000000000000000" pitchFamily="2" charset="-78"/>
              <a:cs typeface="Sakkal Majalla" panose="02000000000000000000" pitchFamily="2" charset="-78"/>
            </a:endParaRPr>
          </a:p>
          <a:p>
            <a:pPr marL="0" indent="0" rtl="1">
              <a:buNone/>
            </a:pPr>
            <a:r>
              <a:rPr lang="ar-EG" kern="0" dirty="0">
                <a:latin typeface="Sakkal Majalla" panose="02000000000000000000" pitchFamily="2" charset="-78"/>
                <a:cs typeface="Sakkal Majalla" panose="02000000000000000000" pitchFamily="2" charset="-78"/>
              </a:rPr>
              <a:t> </a:t>
            </a:r>
          </a:p>
          <a:p>
            <a:pPr marL="0" indent="0" rtl="1">
              <a:buNone/>
            </a:pPr>
            <a:endParaRPr lang="ar-EG" kern="0" dirty="0">
              <a:latin typeface="Sakkal Majalla" panose="02000000000000000000" pitchFamily="2" charset="-78"/>
              <a:cs typeface="Sakkal Majalla" panose="02000000000000000000" pitchFamily="2" charset="-78"/>
            </a:endParaRPr>
          </a:p>
          <a:p>
            <a:pPr marL="0" indent="0" rtl="1">
              <a:buNone/>
            </a:pPr>
            <a:endParaRPr lang="ar-EG" kern="0" dirty="0">
              <a:latin typeface="Sakkal Majalla" panose="02000000000000000000" pitchFamily="2" charset="-78"/>
              <a:cs typeface="Sakkal Majalla" panose="02000000000000000000" pitchFamily="2" charset="-78"/>
            </a:endParaRPr>
          </a:p>
          <a:p>
            <a:pPr rtl="1"/>
            <a:endParaRPr lang="ar-EG"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E142073D-7C12-2684-4D5F-F229C92FBCE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3929681584"/>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F0C7B5C-0425-5002-9607-4B53F38E1E15}"/>
              </a:ext>
            </a:extLst>
          </p:cNvPr>
          <p:cNvSpPr txBox="1">
            <a:spLocks/>
          </p:cNvSpPr>
          <p:nvPr/>
        </p:nvSpPr>
        <p:spPr>
          <a:xfrm>
            <a:off x="1009387" y="1265659"/>
            <a:ext cx="7811086" cy="4902746"/>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EG" kern="0" dirty="0">
                <a:latin typeface="Sakkal Majalla" panose="02000000000000000000" pitchFamily="2" charset="-78"/>
                <a:cs typeface="Sakkal Majalla" panose="02000000000000000000" pitchFamily="2" charset="-78"/>
              </a:rPr>
              <a:t> </a:t>
            </a:r>
          </a:p>
          <a:p>
            <a:pPr rtl="1"/>
            <a:r>
              <a:rPr lang="ar-EG" b="1" kern="0" dirty="0">
                <a:latin typeface="Sakkal Majalla" panose="02000000000000000000" pitchFamily="2" charset="-78"/>
                <a:cs typeface="Sakkal Majalla" panose="02000000000000000000" pitchFamily="2" charset="-78"/>
              </a:rPr>
              <a:t>الإبلاغ عن الأضرار التجميلية في البدن</a:t>
            </a:r>
          </a:p>
          <a:p>
            <a:pPr marL="0" indent="0" rtl="1">
              <a:buNone/>
            </a:pPr>
            <a:r>
              <a:rPr lang="ar-EG" dirty="0">
                <a:latin typeface="Sakkal Majalla" panose="02000000000000000000" pitchFamily="2" charset="-78"/>
                <a:cs typeface="Sakkal Majalla" panose="02000000000000000000" pitchFamily="2" charset="-78"/>
              </a:rPr>
              <a:t>تشمل:  </a:t>
            </a:r>
          </a:p>
          <a:p>
            <a:pPr marL="0" indent="0" rtl="1">
              <a:buNone/>
            </a:pPr>
            <a:r>
              <a:rPr lang="ar-EG" kern="0" dirty="0">
                <a:latin typeface="Sakkal Majalla" panose="02000000000000000000" pitchFamily="2" charset="-78"/>
                <a:cs typeface="Sakkal Majalla" panose="02000000000000000000" pitchFamily="2" charset="-78"/>
              </a:rPr>
              <a:t>- عدم المحاذاة في المستوى الأفقي و/أو الرأسي.</a:t>
            </a:r>
          </a:p>
          <a:p>
            <a:pPr marL="0" indent="0" rtl="1">
              <a:buNone/>
            </a:pPr>
            <a:r>
              <a:rPr lang="ar-EG" kern="0" dirty="0">
                <a:latin typeface="Sakkal Majalla" panose="02000000000000000000" pitchFamily="2" charset="-78"/>
                <a:cs typeface="Sakkal Majalla" panose="02000000000000000000" pitchFamily="2" charset="-78"/>
              </a:rPr>
              <a:t>- التواء الإطار الرئيسي و/أو الإطارات الفرعية.</a:t>
            </a:r>
          </a:p>
          <a:p>
            <a:pPr marL="0" indent="0" rtl="1">
              <a:buNone/>
            </a:pPr>
            <a:r>
              <a:rPr lang="ar-EG" kern="0" dirty="0">
                <a:latin typeface="Sakkal Majalla" panose="02000000000000000000" pitchFamily="2" charset="-78"/>
                <a:cs typeface="Sakkal Majalla" panose="02000000000000000000" pitchFamily="2" charset="-78"/>
              </a:rPr>
              <a:t>- إطار رئيسي و/أو </a:t>
            </a:r>
          </a:p>
          <a:p>
            <a:pPr marL="0" indent="0" rtl="1">
              <a:buNone/>
            </a:pPr>
            <a:r>
              <a:rPr lang="ar-EG" kern="0" dirty="0">
                <a:latin typeface="Sakkal Majalla" panose="02000000000000000000" pitchFamily="2" charset="-78"/>
                <a:cs typeface="Sakkal Majalla" panose="02000000000000000000" pitchFamily="2" charset="-78"/>
              </a:rPr>
              <a:t>   إطار فرعي مشبك.</a:t>
            </a:r>
          </a:p>
          <a:p>
            <a:pPr marL="0" indent="0" rtl="1">
              <a:buNone/>
            </a:pPr>
            <a:r>
              <a:rPr lang="ar-EG" kern="0" dirty="0">
                <a:latin typeface="Sakkal Majalla" panose="02000000000000000000" pitchFamily="2" charset="-78"/>
                <a:cs typeface="Sakkal Majalla" panose="02000000000000000000" pitchFamily="2" charset="-78"/>
              </a:rPr>
              <a:t>- أعضاء جانبية منحنية و/أو  </a:t>
            </a:r>
          </a:p>
          <a:p>
            <a:pPr marL="0" indent="0" rtl="1">
              <a:buNone/>
            </a:pPr>
            <a:r>
              <a:rPr lang="ar-EG" kern="0" dirty="0">
                <a:latin typeface="Sakkal Majalla" panose="02000000000000000000" pitchFamily="2" charset="-78"/>
                <a:cs typeface="Sakkal Majalla" panose="02000000000000000000" pitchFamily="2" charset="-78"/>
              </a:rPr>
              <a:t>  حديد منحني</a:t>
            </a:r>
          </a:p>
          <a:p>
            <a:pPr marL="0" indent="0" rtl="1">
              <a:buNone/>
            </a:pPr>
            <a:r>
              <a:rPr lang="ar-EG" kern="0" dirty="0">
                <a:latin typeface="Sakkal Majalla" panose="02000000000000000000" pitchFamily="2" charset="-78"/>
                <a:cs typeface="Sakkal Majalla" panose="02000000000000000000" pitchFamily="2" charset="-78"/>
              </a:rPr>
              <a:t>- لوحة التقوية (التجميع) ومسامير مكسورة أو مفكوكة </a:t>
            </a:r>
          </a:p>
          <a:p>
            <a:pPr marL="0" indent="0" rtl="1">
              <a:buNone/>
            </a:pPr>
            <a:r>
              <a:rPr lang="ar-EG" kern="0" dirty="0">
                <a:latin typeface="Sakkal Majalla" panose="02000000000000000000" pitchFamily="2" charset="-78"/>
                <a:cs typeface="Sakkal Majalla" panose="02000000000000000000" pitchFamily="2" charset="-78"/>
              </a:rPr>
              <a:t> .</a:t>
            </a:r>
          </a:p>
        </p:txBody>
      </p:sp>
      <p:sp>
        <p:nvSpPr>
          <p:cNvPr id="3" name="Footer Placeholder 2">
            <a:extLst>
              <a:ext uri="{FF2B5EF4-FFF2-40B4-BE49-F238E27FC236}">
                <a16:creationId xmlns:a16="http://schemas.microsoft.com/office/drawing/2014/main" id="{BB50448F-2988-6BEE-1C69-7369A8D169D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pic>
        <p:nvPicPr>
          <p:cNvPr id="5" name="Picture 4" descr="A person looking at a tablet next to a broken car&#10;&#10;Description automatically generated">
            <a:extLst>
              <a:ext uri="{FF2B5EF4-FFF2-40B4-BE49-F238E27FC236}">
                <a16:creationId xmlns:a16="http://schemas.microsoft.com/office/drawing/2014/main" id="{D7314EA6-E929-58D7-7FDE-DFAC8329B9D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9387" y="2277567"/>
            <a:ext cx="2736304" cy="2560188"/>
          </a:xfrm>
          <a:prstGeom prst="rect">
            <a:avLst/>
          </a:prstGeom>
        </p:spPr>
      </p:pic>
    </p:spTree>
    <p:extLst>
      <p:ext uri="{BB962C8B-B14F-4D97-AF65-F5344CB8AC3E}">
        <p14:creationId xmlns:p14="http://schemas.microsoft.com/office/powerpoint/2010/main" val="3487938640"/>
      </p:ext>
    </p:extLst>
  </p:cSld>
  <p:clrMapOvr>
    <a:masterClrMapping/>
  </p:clrMapOvr>
  <p:transition>
    <p:sndAc>
      <p:stSnd>
        <p:snd r:embed="rId2"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D1BEC43-5A2B-9551-5777-535CDFC7DAA3}"/>
              </a:ext>
            </a:extLst>
          </p:cNvPr>
          <p:cNvSpPr txBox="1">
            <a:spLocks/>
          </p:cNvSpPr>
          <p:nvPr/>
        </p:nvSpPr>
        <p:spPr>
          <a:xfrm>
            <a:off x="-437010" y="1541463"/>
            <a:ext cx="9036496" cy="863600"/>
          </a:xfrm>
          <a:prstGeom prst="rect">
            <a:avLst/>
          </a:prstGeom>
        </p:spPr>
        <p:txBody>
          <a:bodyPr rtlCol="1"/>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rtl="1"/>
            <a:r>
              <a:rPr lang="ar-EG" sz="3200" b="1" kern="0" dirty="0">
                <a:latin typeface="Sakkal Majalla" panose="02000000000000000000" pitchFamily="2" charset="-78"/>
                <a:cs typeface="Sakkal Majalla" panose="02000000000000000000" pitchFamily="2" charset="-78"/>
              </a:rPr>
              <a:t>سجلات الفحص والصيانة </a:t>
            </a:r>
          </a:p>
        </p:txBody>
      </p:sp>
      <p:sp>
        <p:nvSpPr>
          <p:cNvPr id="4" name="Content Placeholder 2">
            <a:extLst>
              <a:ext uri="{FF2B5EF4-FFF2-40B4-BE49-F238E27FC236}">
                <a16:creationId xmlns:a16="http://schemas.microsoft.com/office/drawing/2014/main" id="{AF0C7B5C-0425-5002-9607-4B53F38E1E15}"/>
              </a:ext>
            </a:extLst>
          </p:cNvPr>
          <p:cNvSpPr txBox="1">
            <a:spLocks/>
          </p:cNvSpPr>
          <p:nvPr/>
        </p:nvSpPr>
        <p:spPr>
          <a:xfrm>
            <a:off x="971600" y="2233080"/>
            <a:ext cx="7619112" cy="4032447"/>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EG" kern="0" dirty="0">
                <a:latin typeface="Sakkal Majalla" panose="02000000000000000000" pitchFamily="2" charset="-78"/>
                <a:cs typeface="Sakkal Majalla" panose="02000000000000000000" pitchFamily="2" charset="-78"/>
              </a:rPr>
              <a:t> </a:t>
            </a:r>
            <a:r>
              <a:rPr lang="ar-EG" b="1" kern="0" dirty="0">
                <a:latin typeface="Sakkal Majalla" panose="02000000000000000000" pitchFamily="2" charset="-78"/>
                <a:cs typeface="Sakkal Majalla" panose="02000000000000000000" pitchFamily="2" charset="-78"/>
              </a:rPr>
              <a:t>نموذج فحص المركبة </a:t>
            </a:r>
          </a:p>
          <a:p>
            <a:pPr marL="0" indent="0" rtl="1">
              <a:buNone/>
            </a:pPr>
            <a:r>
              <a:rPr lang="ar-EG" kern="0" dirty="0">
                <a:latin typeface="Sakkal Majalla" panose="02000000000000000000" pitchFamily="2" charset="-78"/>
                <a:cs typeface="Sakkal Majalla" panose="02000000000000000000" pitchFamily="2" charset="-78"/>
              </a:rPr>
              <a:t> يجب أن يحتوي على ما يلي:</a:t>
            </a:r>
          </a:p>
          <a:p>
            <a:pPr marL="0" indent="0" rtl="1">
              <a:buNone/>
            </a:pPr>
            <a:r>
              <a:rPr lang="ar-EG" kern="0" dirty="0">
                <a:latin typeface="Sakkal Majalla" panose="02000000000000000000" pitchFamily="2" charset="-78"/>
                <a:cs typeface="Sakkal Majalla" panose="02000000000000000000" pitchFamily="2" charset="-78"/>
              </a:rPr>
              <a:t>- معلومات الشركة</a:t>
            </a:r>
          </a:p>
          <a:p>
            <a:pPr marL="0" indent="0" rtl="1">
              <a:buNone/>
            </a:pPr>
            <a:r>
              <a:rPr lang="ar-EG" kern="0" dirty="0">
                <a:latin typeface="Sakkal Majalla" panose="02000000000000000000" pitchFamily="2" charset="-78"/>
                <a:cs typeface="Sakkal Majalla" panose="02000000000000000000" pitchFamily="2" charset="-78"/>
              </a:rPr>
              <a:t>- معلومات السيارة</a:t>
            </a:r>
          </a:p>
          <a:p>
            <a:pPr marL="0" indent="0" rtl="1">
              <a:buNone/>
            </a:pPr>
            <a:r>
              <a:rPr lang="ar-EG" kern="0" dirty="0">
                <a:latin typeface="Sakkal Majalla" panose="02000000000000000000" pitchFamily="2" charset="-78"/>
                <a:cs typeface="Sakkal Majalla" panose="02000000000000000000" pitchFamily="2" charset="-78"/>
              </a:rPr>
              <a:t>- جميع العناصر التي سيتم فحصها </a:t>
            </a:r>
          </a:p>
          <a:p>
            <a:pPr marL="0" marR="360045" lvl="0" indent="0" rtl="1">
              <a:lnSpc>
                <a:spcPts val="1200"/>
              </a:lnSpc>
              <a:spcBef>
                <a:spcPts val="600"/>
              </a:spcBef>
              <a:spcAft>
                <a:spcPts val="600"/>
              </a:spcAft>
              <a:buNone/>
            </a:pPr>
            <a:r>
              <a:rPr lang="ar-EG" kern="0" dirty="0">
                <a:latin typeface="Sakkal Majalla" panose="02000000000000000000" pitchFamily="2" charset="-78"/>
                <a:cs typeface="Sakkal Majalla" panose="02000000000000000000" pitchFamily="2" charset="-78"/>
              </a:rPr>
              <a:t>- اسم الفني </a:t>
            </a:r>
          </a:p>
          <a:p>
            <a:pPr marL="0" marR="360045" lvl="0" indent="0" rtl="1">
              <a:lnSpc>
                <a:spcPts val="1200"/>
              </a:lnSpc>
              <a:spcBef>
                <a:spcPts val="600"/>
              </a:spcBef>
              <a:spcAft>
                <a:spcPts val="600"/>
              </a:spcAft>
              <a:buNone/>
            </a:pPr>
            <a:r>
              <a:rPr lang="ar-EG" kern="0" dirty="0">
                <a:latin typeface="Sakkal Majalla" panose="02000000000000000000" pitchFamily="2" charset="-78"/>
                <a:cs typeface="Sakkal Majalla" panose="02000000000000000000" pitchFamily="2" charset="-78"/>
              </a:rPr>
              <a:t>- اسم وتوقيع المشرف</a:t>
            </a:r>
          </a:p>
          <a:p>
            <a:pPr marL="0" marR="360045" lvl="0" indent="0" rtl="1">
              <a:lnSpc>
                <a:spcPts val="1200"/>
              </a:lnSpc>
              <a:spcBef>
                <a:spcPts val="600"/>
              </a:spcBef>
              <a:spcAft>
                <a:spcPts val="600"/>
              </a:spcAft>
              <a:buNone/>
            </a:pPr>
            <a:r>
              <a:rPr lang="ar-EG" kern="0" dirty="0">
                <a:latin typeface="Sakkal Majalla" panose="02000000000000000000" pitchFamily="2" charset="-78"/>
                <a:cs typeface="Sakkal Majalla" panose="02000000000000000000" pitchFamily="2" charset="-78"/>
              </a:rPr>
              <a:t>- تفاصيل العميل </a:t>
            </a:r>
          </a:p>
          <a:p>
            <a:pPr marL="0" marR="360045" lvl="0" indent="0" rtl="1">
              <a:lnSpc>
                <a:spcPts val="1200"/>
              </a:lnSpc>
              <a:spcBef>
                <a:spcPts val="600"/>
              </a:spcBef>
              <a:spcAft>
                <a:spcPts val="600"/>
              </a:spcAft>
              <a:buNone/>
            </a:pPr>
            <a:r>
              <a:rPr lang="ar-EG" kern="0" dirty="0">
                <a:latin typeface="Sakkal Majalla" panose="02000000000000000000" pitchFamily="2" charset="-78"/>
                <a:cs typeface="Sakkal Majalla" panose="02000000000000000000" pitchFamily="2" charset="-78"/>
              </a:rPr>
              <a:t>- توقيع العميل </a:t>
            </a:r>
          </a:p>
          <a:p>
            <a:pPr marL="0" indent="0" rtl="1">
              <a:buNone/>
            </a:pPr>
            <a:endParaRPr lang="ar-EG" kern="0" dirty="0">
              <a:latin typeface="Sakkal Majalla" panose="02000000000000000000" pitchFamily="2" charset="-78"/>
              <a:cs typeface="Sakkal Majalla" panose="02000000000000000000" pitchFamily="2" charset="-78"/>
            </a:endParaRPr>
          </a:p>
          <a:p>
            <a:pPr marL="0" indent="0" rtl="1">
              <a:buNone/>
            </a:pPr>
            <a:endParaRPr lang="ar-EG" kern="0" dirty="0">
              <a:latin typeface="Sakkal Majalla" panose="02000000000000000000" pitchFamily="2" charset="-78"/>
              <a:cs typeface="Sakkal Majalla" panose="02000000000000000000" pitchFamily="2" charset="-78"/>
            </a:endParaRPr>
          </a:p>
          <a:p>
            <a:pPr rtl="1"/>
            <a:endParaRPr lang="ar-EG" kern="0"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5E9723D7-FDEB-418E-182B-B25ED0258A6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3021780206"/>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F0C7B5C-0425-5002-9607-4B53F38E1E15}"/>
              </a:ext>
            </a:extLst>
          </p:cNvPr>
          <p:cNvSpPr txBox="1">
            <a:spLocks/>
          </p:cNvSpPr>
          <p:nvPr/>
        </p:nvSpPr>
        <p:spPr>
          <a:xfrm>
            <a:off x="323528" y="1412776"/>
            <a:ext cx="8280920" cy="5046762"/>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kern="0" dirty="0">
                <a:latin typeface="Sakkal Majalla" panose="02000000000000000000" pitchFamily="2" charset="-78"/>
                <a:cs typeface="Sakkal Majalla" panose="02000000000000000000" pitchFamily="2" charset="-78"/>
              </a:rPr>
              <a:t> </a:t>
            </a:r>
            <a:r>
              <a:rPr lang="ar" b="1" kern="0" dirty="0">
                <a:latin typeface="Sakkal Majalla" panose="02000000000000000000" pitchFamily="2" charset="-78"/>
                <a:cs typeface="Sakkal Majalla" panose="02000000000000000000" pitchFamily="2" charset="-78"/>
              </a:rPr>
              <a:t>بطاقات العمل </a:t>
            </a:r>
          </a:p>
          <a:p>
            <a:pPr marL="0" indent="0" rtl="1">
              <a:buNone/>
            </a:pPr>
            <a:r>
              <a:rPr lang="ar" kern="0" dirty="0">
                <a:latin typeface="Sakkal Majalla" panose="02000000000000000000" pitchFamily="2" charset="-78"/>
                <a:cs typeface="Sakkal Majalla" panose="02000000000000000000" pitchFamily="2" charset="-78"/>
              </a:rPr>
              <a:t>يجب أن تتضمن ما يلي: </a:t>
            </a:r>
          </a:p>
          <a:p>
            <a:pPr marL="0" indent="0" rtl="1">
              <a:buNone/>
            </a:pPr>
            <a:r>
              <a:rPr lang="ar" kern="0" dirty="0">
                <a:latin typeface="Sakkal Majalla" panose="02000000000000000000" pitchFamily="2" charset="-78"/>
                <a:cs typeface="Sakkal Majalla" panose="02000000000000000000" pitchFamily="2" charset="-78"/>
              </a:rPr>
              <a:t>- رقم بطاقة العمل</a:t>
            </a:r>
            <a:endParaRPr lang="en-US" kern="0" dirty="0">
              <a:latin typeface="Sakkal Majalla" panose="02000000000000000000" pitchFamily="2" charset="-78"/>
              <a:cs typeface="Sakkal Majalla" panose="02000000000000000000" pitchFamily="2" charset="-78"/>
            </a:endParaRPr>
          </a:p>
          <a:p>
            <a:pPr marL="0" indent="0" rtl="1">
              <a:buNone/>
            </a:pPr>
            <a:r>
              <a:rPr lang="ar" kern="0" dirty="0">
                <a:latin typeface="Sakkal Majalla" panose="02000000000000000000" pitchFamily="2" charset="-78"/>
                <a:cs typeface="Sakkal Majalla" panose="02000000000000000000" pitchFamily="2" charset="-78"/>
              </a:rPr>
              <a:t>- اسم وعنوان ورقم هاتف مركز الخدمة والعميل  </a:t>
            </a:r>
            <a:endParaRPr lang="en-US" kern="0" dirty="0">
              <a:latin typeface="Sakkal Majalla" panose="02000000000000000000" pitchFamily="2" charset="-78"/>
              <a:cs typeface="Sakkal Majalla" panose="02000000000000000000" pitchFamily="2" charset="-78"/>
            </a:endParaRPr>
          </a:p>
          <a:p>
            <a:pPr marL="0" indent="0" rtl="1">
              <a:buNone/>
            </a:pPr>
            <a:r>
              <a:rPr lang="ar" kern="0" dirty="0">
                <a:latin typeface="Sakkal Majalla" panose="02000000000000000000" pitchFamily="2" charset="-78"/>
                <a:cs typeface="Sakkal Majalla" panose="02000000000000000000" pitchFamily="2" charset="-78"/>
              </a:rPr>
              <a:t>- تفاصيل السيارة</a:t>
            </a:r>
          </a:p>
          <a:p>
            <a:pPr marL="0" indent="0" rtl="1">
              <a:buNone/>
            </a:pPr>
            <a:r>
              <a:rPr lang="ar" kern="0" dirty="0">
                <a:latin typeface="Sakkal Majalla" panose="02000000000000000000" pitchFamily="2" charset="-78"/>
                <a:cs typeface="Sakkal Majalla" panose="02000000000000000000" pitchFamily="2" charset="-78"/>
              </a:rPr>
              <a:t>- قائمة مرجعية قبل التجربة </a:t>
            </a:r>
          </a:p>
          <a:p>
            <a:pPr marL="0" marR="360045" lvl="0" indent="0" rtl="1">
              <a:lnSpc>
                <a:spcPts val="1200"/>
              </a:lnSpc>
              <a:spcBef>
                <a:spcPts val="600"/>
              </a:spcBef>
              <a:spcAft>
                <a:spcPts val="600"/>
              </a:spcAft>
              <a:buNone/>
            </a:pPr>
            <a:r>
              <a:rPr lang="ar" kern="0" dirty="0">
                <a:latin typeface="Sakkal Majalla" panose="02000000000000000000" pitchFamily="2" charset="-78"/>
                <a:cs typeface="Sakkal Majalla" panose="02000000000000000000" pitchFamily="2" charset="-78"/>
              </a:rPr>
              <a:t>- تعليمات العميل</a:t>
            </a:r>
            <a:endParaRPr lang="en-US" kern="0" dirty="0">
              <a:latin typeface="Sakkal Majalla" panose="02000000000000000000" pitchFamily="2" charset="-78"/>
              <a:cs typeface="Sakkal Majalla" panose="02000000000000000000" pitchFamily="2" charset="-78"/>
            </a:endParaRPr>
          </a:p>
          <a:p>
            <a:pPr marL="0" marR="360045" lvl="0" indent="0" rtl="1">
              <a:lnSpc>
                <a:spcPts val="1200"/>
              </a:lnSpc>
              <a:spcBef>
                <a:spcPts val="600"/>
              </a:spcBef>
              <a:spcAft>
                <a:spcPts val="600"/>
              </a:spcAft>
              <a:buNone/>
            </a:pPr>
            <a:r>
              <a:rPr lang="ar" kern="0" dirty="0">
                <a:latin typeface="Sakkal Majalla" panose="02000000000000000000" pitchFamily="2" charset="-78"/>
                <a:cs typeface="Sakkal Majalla" panose="02000000000000000000" pitchFamily="2" charset="-78"/>
              </a:rPr>
              <a:t>- العمل الذي يتعين القيام به </a:t>
            </a:r>
            <a:endParaRPr lang="en-US" kern="0" dirty="0">
              <a:latin typeface="Sakkal Majalla" panose="02000000000000000000" pitchFamily="2" charset="-78"/>
              <a:cs typeface="Sakkal Majalla" panose="02000000000000000000" pitchFamily="2" charset="-78"/>
            </a:endParaRPr>
          </a:p>
          <a:p>
            <a:pPr marL="0" marR="360045" lvl="0" indent="0" rtl="1">
              <a:lnSpc>
                <a:spcPts val="1200"/>
              </a:lnSpc>
              <a:spcBef>
                <a:spcPts val="600"/>
              </a:spcBef>
              <a:spcAft>
                <a:spcPts val="600"/>
              </a:spcAft>
              <a:buNone/>
            </a:pPr>
            <a:r>
              <a:rPr lang="ar" kern="0" dirty="0">
                <a:latin typeface="Sakkal Majalla" panose="02000000000000000000" pitchFamily="2" charset="-78"/>
                <a:cs typeface="Sakkal Majalla" panose="02000000000000000000" pitchFamily="2" charset="-78"/>
              </a:rPr>
              <a:t>- التكلفة المقدرة</a:t>
            </a:r>
            <a:endParaRPr lang="en-US" kern="0" dirty="0">
              <a:latin typeface="Sakkal Majalla" panose="02000000000000000000" pitchFamily="2" charset="-78"/>
              <a:cs typeface="Sakkal Majalla" panose="02000000000000000000" pitchFamily="2" charset="-78"/>
            </a:endParaRPr>
          </a:p>
          <a:p>
            <a:pPr marL="0" marR="360045" lvl="0" indent="0" rtl="1">
              <a:lnSpc>
                <a:spcPts val="1200"/>
              </a:lnSpc>
              <a:spcBef>
                <a:spcPts val="600"/>
              </a:spcBef>
              <a:spcAft>
                <a:spcPts val="600"/>
              </a:spcAft>
              <a:buNone/>
            </a:pPr>
            <a:r>
              <a:rPr lang="ar" kern="0" dirty="0">
                <a:latin typeface="Sakkal Majalla" panose="02000000000000000000" pitchFamily="2" charset="-78"/>
                <a:cs typeface="Sakkal Majalla" panose="02000000000000000000" pitchFamily="2" charset="-78"/>
              </a:rPr>
              <a:t>- الأفراد المطلوبين </a:t>
            </a:r>
            <a:endParaRPr lang="en-US" kern="0" dirty="0">
              <a:latin typeface="Sakkal Majalla" panose="02000000000000000000" pitchFamily="2" charset="-78"/>
              <a:cs typeface="Sakkal Majalla" panose="02000000000000000000" pitchFamily="2" charset="-78"/>
            </a:endParaRPr>
          </a:p>
          <a:p>
            <a:pPr marL="0" marR="360045" lvl="0" indent="0" rtl="1">
              <a:lnSpc>
                <a:spcPts val="1200"/>
              </a:lnSpc>
              <a:spcBef>
                <a:spcPts val="600"/>
              </a:spcBef>
              <a:spcAft>
                <a:spcPts val="600"/>
              </a:spcAft>
              <a:buNone/>
            </a:pPr>
            <a:r>
              <a:rPr lang="ar" kern="0" dirty="0">
                <a:latin typeface="Sakkal Majalla" panose="02000000000000000000" pitchFamily="2" charset="-78"/>
                <a:cs typeface="Sakkal Majalla" panose="02000000000000000000" pitchFamily="2" charset="-78"/>
              </a:rPr>
              <a:t>- اسم الفني </a:t>
            </a:r>
            <a:endParaRPr lang="en-US" kern="0" dirty="0">
              <a:latin typeface="Sakkal Majalla" panose="02000000000000000000" pitchFamily="2" charset="-78"/>
              <a:cs typeface="Sakkal Majalla" panose="02000000000000000000" pitchFamily="2" charset="-78"/>
            </a:endParaRPr>
          </a:p>
          <a:p>
            <a:pPr marL="0" marR="360045" lvl="0" indent="0" rtl="1">
              <a:lnSpc>
                <a:spcPts val="1200"/>
              </a:lnSpc>
              <a:spcBef>
                <a:spcPts val="600"/>
              </a:spcBef>
              <a:spcAft>
                <a:spcPts val="600"/>
              </a:spcAft>
              <a:buNone/>
            </a:pPr>
            <a:r>
              <a:rPr lang="ar" kern="0" dirty="0">
                <a:latin typeface="Sakkal Majalla" panose="02000000000000000000" pitchFamily="2" charset="-78"/>
                <a:cs typeface="Sakkal Majalla" panose="02000000000000000000" pitchFamily="2" charset="-78"/>
              </a:rPr>
              <a:t>- اسم وتوقيع المشرف </a:t>
            </a:r>
            <a:endParaRPr lang="en-US" kern="0" dirty="0">
              <a:latin typeface="Sakkal Majalla" panose="02000000000000000000" pitchFamily="2" charset="-78"/>
              <a:cs typeface="Sakkal Majalla" panose="02000000000000000000" pitchFamily="2" charset="-78"/>
            </a:endParaRPr>
          </a:p>
          <a:p>
            <a:pPr marL="0" marR="360045" lvl="0" indent="0" rtl="1">
              <a:lnSpc>
                <a:spcPts val="1200"/>
              </a:lnSpc>
              <a:spcBef>
                <a:spcPts val="600"/>
              </a:spcBef>
              <a:spcAft>
                <a:spcPts val="600"/>
              </a:spcAft>
              <a:buNone/>
            </a:pPr>
            <a:r>
              <a:rPr lang="ar" kern="0" dirty="0">
                <a:latin typeface="Sakkal Majalla" panose="02000000000000000000" pitchFamily="2" charset="-78"/>
                <a:cs typeface="Sakkal Majalla" panose="02000000000000000000" pitchFamily="2" charset="-78"/>
              </a:rPr>
              <a:t>- توقيع العميل </a:t>
            </a:r>
            <a:endParaRPr lang="en-US" kern="0" dirty="0">
              <a:latin typeface="Sakkal Majalla" panose="02000000000000000000" pitchFamily="2" charset="-78"/>
              <a:cs typeface="Sakkal Majalla" panose="02000000000000000000" pitchFamily="2" charset="-78"/>
            </a:endParaRPr>
          </a:p>
          <a:p>
            <a:pPr marL="0" marR="360045" lvl="0" indent="0" rtl="1">
              <a:lnSpc>
                <a:spcPts val="1200"/>
              </a:lnSpc>
              <a:spcBef>
                <a:spcPts val="600"/>
              </a:spcBef>
              <a:spcAft>
                <a:spcPts val="600"/>
              </a:spcAft>
              <a:buNone/>
            </a:pPr>
            <a:r>
              <a:rPr lang="ar" kern="0" dirty="0">
                <a:latin typeface="Sakkal Majalla" panose="02000000000000000000" pitchFamily="2" charset="-78"/>
                <a:cs typeface="Sakkal Majalla" panose="02000000000000000000" pitchFamily="2" charset="-78"/>
              </a:rPr>
              <a:t>- إقرار.</a:t>
            </a:r>
            <a:endParaRPr lang="en-US" kern="0" dirty="0">
              <a:latin typeface="Sakkal Majalla" panose="02000000000000000000" pitchFamily="2" charset="-78"/>
              <a:cs typeface="Sakkal Majalla" panose="02000000000000000000" pitchFamily="2" charset="-78"/>
            </a:endParaRPr>
          </a:p>
          <a:p>
            <a:pPr rtl="1"/>
            <a:endParaRPr lang="en-US"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8F1FED5A-7CBB-1A78-C9C2-26D733E6E29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A103000360244</a:t>
            </a:r>
            <a:endParaRPr lang="ar" sz="1000" dirty="0"/>
          </a:p>
        </p:txBody>
      </p:sp>
    </p:spTree>
    <p:extLst>
      <p:ext uri="{BB962C8B-B14F-4D97-AF65-F5344CB8AC3E}">
        <p14:creationId xmlns:p14="http://schemas.microsoft.com/office/powerpoint/2010/main" val="3194070583"/>
      </p:ext>
    </p:extLst>
  </p:cSld>
  <p:clrMapOvr>
    <a:masterClrMapping/>
  </p:clrMapOvr>
  <p:transition>
    <p:sndAc>
      <p:stSnd>
        <p:snd r:embed="rId2"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_Flow_SignoffStatus xmlns="f63d1639-2e8e-4dfe-b2d4-ff2deac92409" xsi:nil="true"/>
    <AdditionalInfo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B12D7B-DEAF-47F7-8B2D-E8B4455FA392}"/>
</file>

<file path=customXml/itemProps2.xml><?xml version="1.0" encoding="utf-8"?>
<ds:datastoreItem xmlns:ds="http://schemas.openxmlformats.org/officeDocument/2006/customXml" ds:itemID="{5C1922DD-4FDE-4AA0-BA75-46EBDBC2A39F}">
  <ds:schemaRefs>
    <ds:schemaRef ds:uri="http://schemas.microsoft.com/office/2006/metadata/properties"/>
    <ds:schemaRef ds:uri="http://schemas.microsoft.com/office/infopath/2007/PartnerControls"/>
    <ds:schemaRef ds:uri="a26a0597-d0d1-4250-940c-88e9bf9d5597"/>
    <ds:schemaRef ds:uri="6881431a-e3b2-481e-ba90-fae26e2fa83c"/>
    <ds:schemaRef ds:uri="7c1bd8dc-4e40-424f-a15f-9ffcd522197f"/>
    <ds:schemaRef ds:uri="6125ffc9-2c56-435e-8267-1393444907b2"/>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16002</TotalTime>
  <Words>1352</Words>
  <Application>Microsoft Office PowerPoint</Application>
  <PresentationFormat>On-screen Show (4:3)</PresentationFormat>
  <Paragraphs>222</Paragraphs>
  <Slides>26</Slides>
  <Notes>1</Notes>
  <HiddenSlides>0</HiddenSlides>
  <MMClips>1</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26</vt:i4>
      </vt:variant>
    </vt:vector>
  </HeadingPairs>
  <TitlesOfParts>
    <vt:vector size="41" baseType="lpstr">
      <vt:lpstr>Arial</vt:lpstr>
      <vt:lpstr>Calibri</vt:lpstr>
      <vt:lpstr>Sakkal Majalla</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31  تقنيات صيانة المركبات  </vt:lpstr>
      <vt:lpstr>تقنيات صيانة المركبات</vt:lpstr>
      <vt:lpstr>أهداف التعلم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الاختيار الأمثل للمكونات والمواد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201</cp:revision>
  <dcterms:created xsi:type="dcterms:W3CDTF">2020-07-15T07:14:47Z</dcterms:created>
  <dcterms:modified xsi:type="dcterms:W3CDTF">2023-11-21T20:54:58Z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14357900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MediaServiceImageTags">
    <vt:lpwstr/>
  </property>
</Properties>
</file>