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1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12.xml" ContentType="application/vnd.openxmlformats-officedocument.theme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13.xml" ContentType="application/vnd.openxmlformats-officedocument.theme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  <p:sldMasterId id="2147484932" r:id="rId14"/>
    <p:sldMasterId id="2147484945" r:id="rId15"/>
    <p:sldMasterId id="2147484958" r:id="rId16"/>
    <p:sldMasterId id="2147484971" r:id="rId17"/>
  </p:sldMasterIdLst>
  <p:notesMasterIdLst>
    <p:notesMasterId r:id="rId50"/>
  </p:notesMasterIdLst>
  <p:handoutMasterIdLst>
    <p:handoutMasterId r:id="rId51"/>
  </p:handoutMasterIdLst>
  <p:sldIdLst>
    <p:sldId id="310" r:id="rId18"/>
    <p:sldId id="311" r:id="rId19"/>
    <p:sldId id="312" r:id="rId20"/>
    <p:sldId id="313" r:id="rId21"/>
    <p:sldId id="317" r:id="rId22"/>
    <p:sldId id="389" r:id="rId23"/>
    <p:sldId id="390" r:id="rId24"/>
    <p:sldId id="361" r:id="rId25"/>
    <p:sldId id="360" r:id="rId26"/>
    <p:sldId id="362" r:id="rId27"/>
    <p:sldId id="374" r:id="rId28"/>
    <p:sldId id="364" r:id="rId29"/>
    <p:sldId id="382" r:id="rId30"/>
    <p:sldId id="375" r:id="rId31"/>
    <p:sldId id="388" r:id="rId32"/>
    <p:sldId id="363" r:id="rId33"/>
    <p:sldId id="384" r:id="rId34"/>
    <p:sldId id="366" r:id="rId35"/>
    <p:sldId id="319" r:id="rId36"/>
    <p:sldId id="318" r:id="rId37"/>
    <p:sldId id="369" r:id="rId38"/>
    <p:sldId id="376" r:id="rId39"/>
    <p:sldId id="377" r:id="rId40"/>
    <p:sldId id="378" r:id="rId41"/>
    <p:sldId id="379" r:id="rId42"/>
    <p:sldId id="381" r:id="rId43"/>
    <p:sldId id="380" r:id="rId44"/>
    <p:sldId id="320" r:id="rId45"/>
    <p:sldId id="315" r:id="rId46"/>
    <p:sldId id="385" r:id="rId47"/>
    <p:sldId id="386" r:id="rId48"/>
    <p:sldId id="391" r:id="rId49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307211-4F27-F6A0-542B-665114A99FA1}" name="S Jakubowski" initials="SJ" userId="9b5743bd2697ecf7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FC7BBA-EF0F-4002-BC0B-A9CBE9D814EA}" v="36" dt="2025-09-24T09:05:14.197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781" autoAdjust="0"/>
    <p:restoredTop sz="94291" autoAdjust="0"/>
  </p:normalViewPr>
  <p:slideViewPr>
    <p:cSldViewPr>
      <p:cViewPr varScale="1">
        <p:scale>
          <a:sx n="151" d="100"/>
          <a:sy n="151" d="100"/>
        </p:scale>
        <p:origin x="2508" y="35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2" d="100"/>
        <a:sy n="122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12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59" Type="http://schemas.microsoft.com/office/2018/10/relationships/authors" Target="authors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slide" Target="slides/slide32.xml"/><Relationship Id="rId57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91FC7BBA-EF0F-4002-BC0B-A9CBE9D814EA}"/>
    <pc:docChg chg="custSel modSld">
      <pc:chgData name="Paul Winser" userId="c3146a91-e6bd-4264-bd86-e164e04bc32d" providerId="ADAL" clId="{91FC7BBA-EF0F-4002-BC0B-A9CBE9D814EA}" dt="2025-09-24T09:14:32.552" v="41" actId="14100"/>
      <pc:docMkLst>
        <pc:docMk/>
      </pc:docMkLst>
      <pc:sldChg chg="addSp modSp mod">
        <pc:chgData name="Paul Winser" userId="c3146a91-e6bd-4264-bd86-e164e04bc32d" providerId="ADAL" clId="{91FC7BBA-EF0F-4002-BC0B-A9CBE9D814EA}" dt="2025-09-24T09:04:13.946" v="5"/>
        <pc:sldMkLst>
          <pc:docMk/>
          <pc:sldMk cId="0" sldId="310"/>
        </pc:sldMkLst>
        <pc:spChg chg="add mod">
          <ac:chgData name="Paul Winser" userId="c3146a91-e6bd-4264-bd86-e164e04bc32d" providerId="ADAL" clId="{91FC7BBA-EF0F-4002-BC0B-A9CBE9D814EA}" dt="2025-09-24T09:04:13.946" v="5"/>
          <ac:spMkLst>
            <pc:docMk/>
            <pc:sldMk cId="0" sldId="310"/>
            <ac:spMk id="2" creationId="{0A1B6681-8B79-241C-7073-304A8E592F87}"/>
          </ac:spMkLst>
        </pc:spChg>
        <pc:spChg chg="mod">
          <ac:chgData name="Paul Winser" userId="c3146a91-e6bd-4264-bd86-e164e04bc32d" providerId="ADAL" clId="{91FC7BBA-EF0F-4002-BC0B-A9CBE9D814EA}" dt="2025-09-24T09:03:43.005" v="3" actId="1076"/>
          <ac:spMkLst>
            <pc:docMk/>
            <pc:sldMk cId="0" sldId="310"/>
            <ac:spMk id="4" creationId="{9ADEA0AF-56DE-87FF-BF13-649892315674}"/>
          </ac:spMkLst>
        </pc:spChg>
      </pc:sldChg>
      <pc:sldChg chg="addSp modSp">
        <pc:chgData name="Paul Winser" userId="c3146a91-e6bd-4264-bd86-e164e04bc32d" providerId="ADAL" clId="{91FC7BBA-EF0F-4002-BC0B-A9CBE9D814EA}" dt="2025-09-24T09:04:21.430" v="6"/>
        <pc:sldMkLst>
          <pc:docMk/>
          <pc:sldMk cId="0" sldId="311"/>
        </pc:sldMkLst>
        <pc:spChg chg="add mod">
          <ac:chgData name="Paul Winser" userId="c3146a91-e6bd-4264-bd86-e164e04bc32d" providerId="ADAL" clId="{91FC7BBA-EF0F-4002-BC0B-A9CBE9D814EA}" dt="2025-09-24T09:04:21.430" v="6"/>
          <ac:spMkLst>
            <pc:docMk/>
            <pc:sldMk cId="0" sldId="311"/>
            <ac:spMk id="2" creationId="{0E68C4CC-B6BA-C7EF-7D35-3FF7F07E03A4}"/>
          </ac:spMkLst>
        </pc:spChg>
      </pc:sldChg>
      <pc:sldChg chg="addSp modSp">
        <pc:chgData name="Paul Winser" userId="c3146a91-e6bd-4264-bd86-e164e04bc32d" providerId="ADAL" clId="{91FC7BBA-EF0F-4002-BC0B-A9CBE9D814EA}" dt="2025-09-24T09:04:22.567" v="7"/>
        <pc:sldMkLst>
          <pc:docMk/>
          <pc:sldMk cId="1462100039" sldId="312"/>
        </pc:sldMkLst>
        <pc:spChg chg="add mod">
          <ac:chgData name="Paul Winser" userId="c3146a91-e6bd-4264-bd86-e164e04bc32d" providerId="ADAL" clId="{91FC7BBA-EF0F-4002-BC0B-A9CBE9D814EA}" dt="2025-09-24T09:04:22.567" v="7"/>
          <ac:spMkLst>
            <pc:docMk/>
            <pc:sldMk cId="1462100039" sldId="312"/>
            <ac:spMk id="5" creationId="{50B9AA3D-CAA5-74AF-75F9-CB81D81AD5DF}"/>
          </ac:spMkLst>
        </pc:spChg>
      </pc:sldChg>
      <pc:sldChg chg="addSp modSp">
        <pc:chgData name="Paul Winser" userId="c3146a91-e6bd-4264-bd86-e164e04bc32d" providerId="ADAL" clId="{91FC7BBA-EF0F-4002-BC0B-A9CBE9D814EA}" dt="2025-09-24T09:04:24.527" v="8"/>
        <pc:sldMkLst>
          <pc:docMk/>
          <pc:sldMk cId="0" sldId="313"/>
        </pc:sldMkLst>
        <pc:spChg chg="add mod">
          <ac:chgData name="Paul Winser" userId="c3146a91-e6bd-4264-bd86-e164e04bc32d" providerId="ADAL" clId="{91FC7BBA-EF0F-4002-BC0B-A9CBE9D814EA}" dt="2025-09-24T09:04:24.527" v="8"/>
          <ac:spMkLst>
            <pc:docMk/>
            <pc:sldMk cId="0" sldId="313"/>
            <ac:spMk id="12" creationId="{16B59784-CD93-59EC-6EA3-8B70D7E84537}"/>
          </ac:spMkLst>
        </pc:spChg>
      </pc:sldChg>
      <pc:sldChg chg="addSp modSp">
        <pc:chgData name="Paul Winser" userId="c3146a91-e6bd-4264-bd86-e164e04bc32d" providerId="ADAL" clId="{91FC7BBA-EF0F-4002-BC0B-A9CBE9D814EA}" dt="2025-09-24T09:05:09.430" v="36"/>
        <pc:sldMkLst>
          <pc:docMk/>
          <pc:sldMk cId="3334210411" sldId="315"/>
        </pc:sldMkLst>
        <pc:spChg chg="add mod">
          <ac:chgData name="Paul Winser" userId="c3146a91-e6bd-4264-bd86-e164e04bc32d" providerId="ADAL" clId="{91FC7BBA-EF0F-4002-BC0B-A9CBE9D814EA}" dt="2025-09-24T09:05:09.430" v="36"/>
          <ac:spMkLst>
            <pc:docMk/>
            <pc:sldMk cId="3334210411" sldId="315"/>
            <ac:spMk id="5" creationId="{C571F41D-5207-2769-A3A0-F3C52AEF6559}"/>
          </ac:spMkLst>
        </pc:spChg>
      </pc:sldChg>
      <pc:sldChg chg="addSp modSp">
        <pc:chgData name="Paul Winser" userId="c3146a91-e6bd-4264-bd86-e164e04bc32d" providerId="ADAL" clId="{91FC7BBA-EF0F-4002-BC0B-A9CBE9D814EA}" dt="2025-09-24T09:04:25.719" v="9"/>
        <pc:sldMkLst>
          <pc:docMk/>
          <pc:sldMk cId="3899057632" sldId="317"/>
        </pc:sldMkLst>
        <pc:spChg chg="add mod">
          <ac:chgData name="Paul Winser" userId="c3146a91-e6bd-4264-bd86-e164e04bc32d" providerId="ADAL" clId="{91FC7BBA-EF0F-4002-BC0B-A9CBE9D814EA}" dt="2025-09-24T09:04:25.719" v="9"/>
          <ac:spMkLst>
            <pc:docMk/>
            <pc:sldMk cId="3899057632" sldId="317"/>
            <ac:spMk id="2" creationId="{4E2E32EE-9684-950D-15BF-63ADF0B80C22}"/>
          </ac:spMkLst>
        </pc:spChg>
      </pc:sldChg>
      <pc:sldChg chg="addSp modSp">
        <pc:chgData name="Paul Winser" userId="c3146a91-e6bd-4264-bd86-e164e04bc32d" providerId="ADAL" clId="{91FC7BBA-EF0F-4002-BC0B-A9CBE9D814EA}" dt="2025-09-24T09:04:54.726" v="26"/>
        <pc:sldMkLst>
          <pc:docMk/>
          <pc:sldMk cId="0" sldId="318"/>
        </pc:sldMkLst>
        <pc:spChg chg="add mod">
          <ac:chgData name="Paul Winser" userId="c3146a91-e6bd-4264-bd86-e164e04bc32d" providerId="ADAL" clId="{91FC7BBA-EF0F-4002-BC0B-A9CBE9D814EA}" dt="2025-09-24T09:04:54.726" v="26"/>
          <ac:spMkLst>
            <pc:docMk/>
            <pc:sldMk cId="0" sldId="318"/>
            <ac:spMk id="5" creationId="{2578B3BF-641A-9323-431D-0ACE5E444283}"/>
          </ac:spMkLst>
        </pc:spChg>
      </pc:sldChg>
      <pc:sldChg chg="addSp modSp">
        <pc:chgData name="Paul Winser" userId="c3146a91-e6bd-4264-bd86-e164e04bc32d" providerId="ADAL" clId="{91FC7BBA-EF0F-4002-BC0B-A9CBE9D814EA}" dt="2025-09-24T09:04:53.430" v="25"/>
        <pc:sldMkLst>
          <pc:docMk/>
          <pc:sldMk cId="2738697380" sldId="319"/>
        </pc:sldMkLst>
        <pc:spChg chg="add mod">
          <ac:chgData name="Paul Winser" userId="c3146a91-e6bd-4264-bd86-e164e04bc32d" providerId="ADAL" clId="{91FC7BBA-EF0F-4002-BC0B-A9CBE9D814EA}" dt="2025-09-24T09:04:53.430" v="25"/>
          <ac:spMkLst>
            <pc:docMk/>
            <pc:sldMk cId="2738697380" sldId="319"/>
            <ac:spMk id="2" creationId="{83F6498C-C9C4-EE42-0A87-943463BDE85C}"/>
          </ac:spMkLst>
        </pc:spChg>
      </pc:sldChg>
      <pc:sldChg chg="addSp modSp">
        <pc:chgData name="Paul Winser" userId="c3146a91-e6bd-4264-bd86-e164e04bc32d" providerId="ADAL" clId="{91FC7BBA-EF0F-4002-BC0B-A9CBE9D814EA}" dt="2025-09-24T09:05:07.909" v="35"/>
        <pc:sldMkLst>
          <pc:docMk/>
          <pc:sldMk cId="40756785" sldId="320"/>
        </pc:sldMkLst>
        <pc:spChg chg="add mod">
          <ac:chgData name="Paul Winser" userId="c3146a91-e6bd-4264-bd86-e164e04bc32d" providerId="ADAL" clId="{91FC7BBA-EF0F-4002-BC0B-A9CBE9D814EA}" dt="2025-09-24T09:05:07.909" v="35"/>
          <ac:spMkLst>
            <pc:docMk/>
            <pc:sldMk cId="40756785" sldId="320"/>
            <ac:spMk id="2" creationId="{40ED13D4-7DDC-37A5-7275-A9B84F44CFE3}"/>
          </ac:spMkLst>
        </pc:spChg>
      </pc:sldChg>
      <pc:sldChg chg="addSp modSp">
        <pc:chgData name="Paul Winser" userId="c3146a91-e6bd-4264-bd86-e164e04bc32d" providerId="ADAL" clId="{91FC7BBA-EF0F-4002-BC0B-A9CBE9D814EA}" dt="2025-09-24T09:04:30.743" v="13"/>
        <pc:sldMkLst>
          <pc:docMk/>
          <pc:sldMk cId="3360941110" sldId="360"/>
        </pc:sldMkLst>
        <pc:spChg chg="add mod">
          <ac:chgData name="Paul Winser" userId="c3146a91-e6bd-4264-bd86-e164e04bc32d" providerId="ADAL" clId="{91FC7BBA-EF0F-4002-BC0B-A9CBE9D814EA}" dt="2025-09-24T09:04:30.743" v="13"/>
          <ac:spMkLst>
            <pc:docMk/>
            <pc:sldMk cId="3360941110" sldId="360"/>
            <ac:spMk id="2" creationId="{467DDBE6-CCCD-8BE8-9397-AD8D16AC8A1C}"/>
          </ac:spMkLst>
        </pc:spChg>
      </pc:sldChg>
      <pc:sldChg chg="addSp modSp">
        <pc:chgData name="Paul Winser" userId="c3146a91-e6bd-4264-bd86-e164e04bc32d" providerId="ADAL" clId="{91FC7BBA-EF0F-4002-BC0B-A9CBE9D814EA}" dt="2025-09-24T09:04:29.382" v="12"/>
        <pc:sldMkLst>
          <pc:docMk/>
          <pc:sldMk cId="379386751" sldId="361"/>
        </pc:sldMkLst>
        <pc:spChg chg="add mod">
          <ac:chgData name="Paul Winser" userId="c3146a91-e6bd-4264-bd86-e164e04bc32d" providerId="ADAL" clId="{91FC7BBA-EF0F-4002-BC0B-A9CBE9D814EA}" dt="2025-09-24T09:04:29.382" v="12"/>
          <ac:spMkLst>
            <pc:docMk/>
            <pc:sldMk cId="379386751" sldId="361"/>
            <ac:spMk id="8" creationId="{903E4139-A918-1312-7A8D-E33B16993971}"/>
          </ac:spMkLst>
        </pc:spChg>
      </pc:sldChg>
      <pc:sldChg chg="addSp modSp">
        <pc:chgData name="Paul Winser" userId="c3146a91-e6bd-4264-bd86-e164e04bc32d" providerId="ADAL" clId="{91FC7BBA-EF0F-4002-BC0B-A9CBE9D814EA}" dt="2025-09-24T09:04:34.927" v="15"/>
        <pc:sldMkLst>
          <pc:docMk/>
          <pc:sldMk cId="56046954" sldId="362"/>
        </pc:sldMkLst>
        <pc:spChg chg="add mod">
          <ac:chgData name="Paul Winser" userId="c3146a91-e6bd-4264-bd86-e164e04bc32d" providerId="ADAL" clId="{91FC7BBA-EF0F-4002-BC0B-A9CBE9D814EA}" dt="2025-09-24T09:04:32.501" v="14"/>
          <ac:spMkLst>
            <pc:docMk/>
            <pc:sldMk cId="56046954" sldId="362"/>
            <ac:spMk id="2" creationId="{26C60DB6-C69C-F146-A0C5-A7F05A9A1683}"/>
          </ac:spMkLst>
        </pc:spChg>
        <pc:spChg chg="add mod">
          <ac:chgData name="Paul Winser" userId="c3146a91-e6bd-4264-bd86-e164e04bc32d" providerId="ADAL" clId="{91FC7BBA-EF0F-4002-BC0B-A9CBE9D814EA}" dt="2025-09-24T09:04:34.927" v="15"/>
          <ac:spMkLst>
            <pc:docMk/>
            <pc:sldMk cId="56046954" sldId="362"/>
            <ac:spMk id="6" creationId="{7BD24B15-CBCD-CC84-645F-59E263908E5C}"/>
          </ac:spMkLst>
        </pc:spChg>
      </pc:sldChg>
      <pc:sldChg chg="addSp modSp">
        <pc:chgData name="Paul Winser" userId="c3146a91-e6bd-4264-bd86-e164e04bc32d" providerId="ADAL" clId="{91FC7BBA-EF0F-4002-BC0B-A9CBE9D814EA}" dt="2025-09-24T09:04:48.133" v="22"/>
        <pc:sldMkLst>
          <pc:docMk/>
          <pc:sldMk cId="769271269" sldId="363"/>
        </pc:sldMkLst>
        <pc:spChg chg="add mod">
          <ac:chgData name="Paul Winser" userId="c3146a91-e6bd-4264-bd86-e164e04bc32d" providerId="ADAL" clId="{91FC7BBA-EF0F-4002-BC0B-A9CBE9D814EA}" dt="2025-09-24T09:04:48.133" v="22"/>
          <ac:spMkLst>
            <pc:docMk/>
            <pc:sldMk cId="769271269" sldId="363"/>
            <ac:spMk id="2" creationId="{3E7E17BA-E410-5C79-FC08-6D3DBCC6C936}"/>
          </ac:spMkLst>
        </pc:spChg>
      </pc:sldChg>
      <pc:sldChg chg="addSp modSp">
        <pc:chgData name="Paul Winser" userId="c3146a91-e6bd-4264-bd86-e164e04bc32d" providerId="ADAL" clId="{91FC7BBA-EF0F-4002-BC0B-A9CBE9D814EA}" dt="2025-09-24T09:04:38.789" v="17"/>
        <pc:sldMkLst>
          <pc:docMk/>
          <pc:sldMk cId="3523324725" sldId="364"/>
        </pc:sldMkLst>
        <pc:spChg chg="add mod">
          <ac:chgData name="Paul Winser" userId="c3146a91-e6bd-4264-bd86-e164e04bc32d" providerId="ADAL" clId="{91FC7BBA-EF0F-4002-BC0B-A9CBE9D814EA}" dt="2025-09-24T09:04:38.789" v="17"/>
          <ac:spMkLst>
            <pc:docMk/>
            <pc:sldMk cId="3523324725" sldId="364"/>
            <ac:spMk id="3" creationId="{2B78BCFC-3104-1DDA-40A7-DFE6EC8C74BC}"/>
          </ac:spMkLst>
        </pc:spChg>
      </pc:sldChg>
      <pc:sldChg chg="addSp modSp">
        <pc:chgData name="Paul Winser" userId="c3146a91-e6bd-4264-bd86-e164e04bc32d" providerId="ADAL" clId="{91FC7BBA-EF0F-4002-BC0B-A9CBE9D814EA}" dt="2025-09-24T09:04:51.301" v="24"/>
        <pc:sldMkLst>
          <pc:docMk/>
          <pc:sldMk cId="1964682449" sldId="366"/>
        </pc:sldMkLst>
        <pc:spChg chg="add mod">
          <ac:chgData name="Paul Winser" userId="c3146a91-e6bd-4264-bd86-e164e04bc32d" providerId="ADAL" clId="{91FC7BBA-EF0F-4002-BC0B-A9CBE9D814EA}" dt="2025-09-24T09:04:51.301" v="24"/>
          <ac:spMkLst>
            <pc:docMk/>
            <pc:sldMk cId="1964682449" sldId="366"/>
            <ac:spMk id="2" creationId="{09ABD5BF-5E56-FA35-92E8-DCAE2B61CF47}"/>
          </ac:spMkLst>
        </pc:spChg>
      </pc:sldChg>
      <pc:sldChg chg="addSp modSp">
        <pc:chgData name="Paul Winser" userId="c3146a91-e6bd-4264-bd86-e164e04bc32d" providerId="ADAL" clId="{91FC7BBA-EF0F-4002-BC0B-A9CBE9D814EA}" dt="2025-09-24T09:04:56.150" v="27"/>
        <pc:sldMkLst>
          <pc:docMk/>
          <pc:sldMk cId="1750301306" sldId="369"/>
        </pc:sldMkLst>
        <pc:spChg chg="add mod">
          <ac:chgData name="Paul Winser" userId="c3146a91-e6bd-4264-bd86-e164e04bc32d" providerId="ADAL" clId="{91FC7BBA-EF0F-4002-BC0B-A9CBE9D814EA}" dt="2025-09-24T09:04:56.150" v="27"/>
          <ac:spMkLst>
            <pc:docMk/>
            <pc:sldMk cId="1750301306" sldId="369"/>
            <ac:spMk id="5" creationId="{152BBBCB-AF80-E530-61C3-AD8014B34792}"/>
          </ac:spMkLst>
        </pc:spChg>
      </pc:sldChg>
      <pc:sldChg chg="addSp modSp">
        <pc:chgData name="Paul Winser" userId="c3146a91-e6bd-4264-bd86-e164e04bc32d" providerId="ADAL" clId="{91FC7BBA-EF0F-4002-BC0B-A9CBE9D814EA}" dt="2025-09-24T09:04:37.238" v="16"/>
        <pc:sldMkLst>
          <pc:docMk/>
          <pc:sldMk cId="1654790997" sldId="374"/>
        </pc:sldMkLst>
        <pc:spChg chg="add mod">
          <ac:chgData name="Paul Winser" userId="c3146a91-e6bd-4264-bd86-e164e04bc32d" providerId="ADAL" clId="{91FC7BBA-EF0F-4002-BC0B-A9CBE9D814EA}" dt="2025-09-24T09:04:37.238" v="16"/>
          <ac:spMkLst>
            <pc:docMk/>
            <pc:sldMk cId="1654790997" sldId="374"/>
            <ac:spMk id="2" creationId="{041180D7-0EB1-42B9-2834-8E557AC35262}"/>
          </ac:spMkLst>
        </pc:spChg>
      </pc:sldChg>
      <pc:sldChg chg="addSp modSp">
        <pc:chgData name="Paul Winser" userId="c3146a91-e6bd-4264-bd86-e164e04bc32d" providerId="ADAL" clId="{91FC7BBA-EF0F-4002-BC0B-A9CBE9D814EA}" dt="2025-09-24T09:04:41.558" v="19"/>
        <pc:sldMkLst>
          <pc:docMk/>
          <pc:sldMk cId="3210706133" sldId="375"/>
        </pc:sldMkLst>
        <pc:spChg chg="add mod">
          <ac:chgData name="Paul Winser" userId="c3146a91-e6bd-4264-bd86-e164e04bc32d" providerId="ADAL" clId="{91FC7BBA-EF0F-4002-BC0B-A9CBE9D814EA}" dt="2025-09-24T09:04:41.558" v="19"/>
          <ac:spMkLst>
            <pc:docMk/>
            <pc:sldMk cId="3210706133" sldId="375"/>
            <ac:spMk id="3" creationId="{1748A4BA-1FF3-6054-68FB-A51E4A5C1E12}"/>
          </ac:spMkLst>
        </pc:spChg>
      </pc:sldChg>
      <pc:sldChg chg="addSp modSp">
        <pc:chgData name="Paul Winser" userId="c3146a91-e6bd-4264-bd86-e164e04bc32d" providerId="ADAL" clId="{91FC7BBA-EF0F-4002-BC0B-A9CBE9D814EA}" dt="2025-09-24T09:04:57.556" v="28"/>
        <pc:sldMkLst>
          <pc:docMk/>
          <pc:sldMk cId="35995158" sldId="376"/>
        </pc:sldMkLst>
        <pc:spChg chg="add mod">
          <ac:chgData name="Paul Winser" userId="c3146a91-e6bd-4264-bd86-e164e04bc32d" providerId="ADAL" clId="{91FC7BBA-EF0F-4002-BC0B-A9CBE9D814EA}" dt="2025-09-24T09:04:57.556" v="28"/>
          <ac:spMkLst>
            <pc:docMk/>
            <pc:sldMk cId="35995158" sldId="376"/>
            <ac:spMk id="5" creationId="{E98A52C9-471D-B5B7-C3CD-7CB1BBC254F9}"/>
          </ac:spMkLst>
        </pc:spChg>
      </pc:sldChg>
      <pc:sldChg chg="addSp modSp">
        <pc:chgData name="Paul Winser" userId="c3146a91-e6bd-4264-bd86-e164e04bc32d" providerId="ADAL" clId="{91FC7BBA-EF0F-4002-BC0B-A9CBE9D814EA}" dt="2025-09-24T09:04:59.253" v="29"/>
        <pc:sldMkLst>
          <pc:docMk/>
          <pc:sldMk cId="2774080375" sldId="377"/>
        </pc:sldMkLst>
        <pc:spChg chg="add mod">
          <ac:chgData name="Paul Winser" userId="c3146a91-e6bd-4264-bd86-e164e04bc32d" providerId="ADAL" clId="{91FC7BBA-EF0F-4002-BC0B-A9CBE9D814EA}" dt="2025-09-24T09:04:59.253" v="29"/>
          <ac:spMkLst>
            <pc:docMk/>
            <pc:sldMk cId="2774080375" sldId="377"/>
            <ac:spMk id="5" creationId="{4C993043-F4DF-6E5C-4AE2-4B2CFB880353}"/>
          </ac:spMkLst>
        </pc:spChg>
      </pc:sldChg>
      <pc:sldChg chg="addSp modSp">
        <pc:chgData name="Paul Winser" userId="c3146a91-e6bd-4264-bd86-e164e04bc32d" providerId="ADAL" clId="{91FC7BBA-EF0F-4002-BC0B-A9CBE9D814EA}" dt="2025-09-24T09:05:00.664" v="30"/>
        <pc:sldMkLst>
          <pc:docMk/>
          <pc:sldMk cId="3060894451" sldId="378"/>
        </pc:sldMkLst>
        <pc:spChg chg="add mod">
          <ac:chgData name="Paul Winser" userId="c3146a91-e6bd-4264-bd86-e164e04bc32d" providerId="ADAL" clId="{91FC7BBA-EF0F-4002-BC0B-A9CBE9D814EA}" dt="2025-09-24T09:05:00.664" v="30"/>
          <ac:spMkLst>
            <pc:docMk/>
            <pc:sldMk cId="3060894451" sldId="378"/>
            <ac:spMk id="2" creationId="{62093E57-045B-CE21-B737-89BFAFBB49EE}"/>
          </ac:spMkLst>
        </pc:spChg>
      </pc:sldChg>
      <pc:sldChg chg="addSp modSp">
        <pc:chgData name="Paul Winser" userId="c3146a91-e6bd-4264-bd86-e164e04bc32d" providerId="ADAL" clId="{91FC7BBA-EF0F-4002-BC0B-A9CBE9D814EA}" dt="2025-09-24T09:05:02.101" v="31"/>
        <pc:sldMkLst>
          <pc:docMk/>
          <pc:sldMk cId="2132396871" sldId="379"/>
        </pc:sldMkLst>
        <pc:spChg chg="add mod">
          <ac:chgData name="Paul Winser" userId="c3146a91-e6bd-4264-bd86-e164e04bc32d" providerId="ADAL" clId="{91FC7BBA-EF0F-4002-BC0B-A9CBE9D814EA}" dt="2025-09-24T09:05:02.101" v="31"/>
          <ac:spMkLst>
            <pc:docMk/>
            <pc:sldMk cId="2132396871" sldId="379"/>
            <ac:spMk id="3" creationId="{438EC4F6-4A11-CEFA-01D8-9C646947D1E1}"/>
          </ac:spMkLst>
        </pc:spChg>
      </pc:sldChg>
      <pc:sldChg chg="addSp modSp mod">
        <pc:chgData name="Paul Winser" userId="c3146a91-e6bd-4264-bd86-e164e04bc32d" providerId="ADAL" clId="{91FC7BBA-EF0F-4002-BC0B-A9CBE9D814EA}" dt="2025-09-24T09:05:07.046" v="34" actId="1076"/>
        <pc:sldMkLst>
          <pc:docMk/>
          <pc:sldMk cId="2185016386" sldId="380"/>
        </pc:sldMkLst>
        <pc:spChg chg="add mod">
          <ac:chgData name="Paul Winser" userId="c3146a91-e6bd-4264-bd86-e164e04bc32d" providerId="ADAL" clId="{91FC7BBA-EF0F-4002-BC0B-A9CBE9D814EA}" dt="2025-09-24T09:05:04.838" v="33"/>
          <ac:spMkLst>
            <pc:docMk/>
            <pc:sldMk cId="2185016386" sldId="380"/>
            <ac:spMk id="3" creationId="{A133D61D-5F0C-A629-13A8-532E4ACAB89D}"/>
          </ac:spMkLst>
        </pc:spChg>
        <pc:grpChg chg="mod">
          <ac:chgData name="Paul Winser" userId="c3146a91-e6bd-4264-bd86-e164e04bc32d" providerId="ADAL" clId="{91FC7BBA-EF0F-4002-BC0B-A9CBE9D814EA}" dt="2025-09-24T09:05:07.046" v="34" actId="1076"/>
          <ac:grpSpMkLst>
            <pc:docMk/>
            <pc:sldMk cId="2185016386" sldId="380"/>
            <ac:grpSpMk id="8" creationId="{93744FD6-FD68-4661-E1F5-2A047EA6877E}"/>
          </ac:grpSpMkLst>
        </pc:grpChg>
      </pc:sldChg>
      <pc:sldChg chg="addSp modSp">
        <pc:chgData name="Paul Winser" userId="c3146a91-e6bd-4264-bd86-e164e04bc32d" providerId="ADAL" clId="{91FC7BBA-EF0F-4002-BC0B-A9CBE9D814EA}" dt="2025-09-24T09:05:03.383" v="32"/>
        <pc:sldMkLst>
          <pc:docMk/>
          <pc:sldMk cId="2854797583" sldId="381"/>
        </pc:sldMkLst>
        <pc:spChg chg="add mod">
          <ac:chgData name="Paul Winser" userId="c3146a91-e6bd-4264-bd86-e164e04bc32d" providerId="ADAL" clId="{91FC7BBA-EF0F-4002-BC0B-A9CBE9D814EA}" dt="2025-09-24T09:05:03.383" v="32"/>
          <ac:spMkLst>
            <pc:docMk/>
            <pc:sldMk cId="2854797583" sldId="381"/>
            <ac:spMk id="3" creationId="{6AD017EC-F20E-0159-35C9-7B8775C4D88D}"/>
          </ac:spMkLst>
        </pc:spChg>
      </pc:sldChg>
      <pc:sldChg chg="addSp modSp">
        <pc:chgData name="Paul Winser" userId="c3146a91-e6bd-4264-bd86-e164e04bc32d" providerId="ADAL" clId="{91FC7BBA-EF0F-4002-BC0B-A9CBE9D814EA}" dt="2025-09-24T09:04:40.023" v="18"/>
        <pc:sldMkLst>
          <pc:docMk/>
          <pc:sldMk cId="3437307088" sldId="382"/>
        </pc:sldMkLst>
        <pc:spChg chg="add mod">
          <ac:chgData name="Paul Winser" userId="c3146a91-e6bd-4264-bd86-e164e04bc32d" providerId="ADAL" clId="{91FC7BBA-EF0F-4002-BC0B-A9CBE9D814EA}" dt="2025-09-24T09:04:40.023" v="18"/>
          <ac:spMkLst>
            <pc:docMk/>
            <pc:sldMk cId="3437307088" sldId="382"/>
            <ac:spMk id="3" creationId="{BB581C0E-9E97-D2C8-09A9-50640534619B}"/>
          </ac:spMkLst>
        </pc:spChg>
      </pc:sldChg>
      <pc:sldChg chg="addSp modSp">
        <pc:chgData name="Paul Winser" userId="c3146a91-e6bd-4264-bd86-e164e04bc32d" providerId="ADAL" clId="{91FC7BBA-EF0F-4002-BC0B-A9CBE9D814EA}" dt="2025-09-24T09:04:49.493" v="23"/>
        <pc:sldMkLst>
          <pc:docMk/>
          <pc:sldMk cId="3986934225" sldId="384"/>
        </pc:sldMkLst>
        <pc:spChg chg="add mod">
          <ac:chgData name="Paul Winser" userId="c3146a91-e6bd-4264-bd86-e164e04bc32d" providerId="ADAL" clId="{91FC7BBA-EF0F-4002-BC0B-A9CBE9D814EA}" dt="2025-09-24T09:04:49.493" v="23"/>
          <ac:spMkLst>
            <pc:docMk/>
            <pc:sldMk cId="3986934225" sldId="384"/>
            <ac:spMk id="3" creationId="{833A8219-CF59-127D-8FB1-B07291715394}"/>
          </ac:spMkLst>
        </pc:spChg>
      </pc:sldChg>
      <pc:sldChg chg="addSp modSp">
        <pc:chgData name="Paul Winser" userId="c3146a91-e6bd-4264-bd86-e164e04bc32d" providerId="ADAL" clId="{91FC7BBA-EF0F-4002-BC0B-A9CBE9D814EA}" dt="2025-09-24T09:05:10.933" v="37"/>
        <pc:sldMkLst>
          <pc:docMk/>
          <pc:sldMk cId="3347761477" sldId="385"/>
        </pc:sldMkLst>
        <pc:spChg chg="add mod">
          <ac:chgData name="Paul Winser" userId="c3146a91-e6bd-4264-bd86-e164e04bc32d" providerId="ADAL" clId="{91FC7BBA-EF0F-4002-BC0B-A9CBE9D814EA}" dt="2025-09-24T09:05:10.933" v="37"/>
          <ac:spMkLst>
            <pc:docMk/>
            <pc:sldMk cId="3347761477" sldId="385"/>
            <ac:spMk id="2" creationId="{66136B07-5113-D0A6-8734-D6CA592EF184}"/>
          </ac:spMkLst>
        </pc:spChg>
      </pc:sldChg>
      <pc:sldChg chg="addSp modSp">
        <pc:chgData name="Paul Winser" userId="c3146a91-e6bd-4264-bd86-e164e04bc32d" providerId="ADAL" clId="{91FC7BBA-EF0F-4002-BC0B-A9CBE9D814EA}" dt="2025-09-24T09:05:12.759" v="38"/>
        <pc:sldMkLst>
          <pc:docMk/>
          <pc:sldMk cId="617295155" sldId="386"/>
        </pc:sldMkLst>
        <pc:spChg chg="add mod">
          <ac:chgData name="Paul Winser" userId="c3146a91-e6bd-4264-bd86-e164e04bc32d" providerId="ADAL" clId="{91FC7BBA-EF0F-4002-BC0B-A9CBE9D814EA}" dt="2025-09-24T09:05:12.759" v="38"/>
          <ac:spMkLst>
            <pc:docMk/>
            <pc:sldMk cId="617295155" sldId="386"/>
            <ac:spMk id="2" creationId="{243E28CF-2A81-26FC-79DC-13E602C5F733}"/>
          </ac:spMkLst>
        </pc:spChg>
      </pc:sldChg>
      <pc:sldChg chg="addSp modSp mod">
        <pc:chgData name="Paul Winser" userId="c3146a91-e6bd-4264-bd86-e164e04bc32d" providerId="ADAL" clId="{91FC7BBA-EF0F-4002-BC0B-A9CBE9D814EA}" dt="2025-09-24T09:14:32.552" v="41" actId="14100"/>
        <pc:sldMkLst>
          <pc:docMk/>
          <pc:sldMk cId="2156206577" sldId="388"/>
        </pc:sldMkLst>
        <pc:spChg chg="add mod">
          <ac:chgData name="Paul Winser" userId="c3146a91-e6bd-4264-bd86-e164e04bc32d" providerId="ADAL" clId="{91FC7BBA-EF0F-4002-BC0B-A9CBE9D814EA}" dt="2025-09-24T09:04:43.254" v="20"/>
          <ac:spMkLst>
            <pc:docMk/>
            <pc:sldMk cId="2156206577" sldId="388"/>
            <ac:spMk id="2" creationId="{B3E0BD10-B5B3-1B87-0796-D1F00C910501}"/>
          </ac:spMkLst>
        </pc:spChg>
        <pc:grpChg chg="mod">
          <ac:chgData name="Paul Winser" userId="c3146a91-e6bd-4264-bd86-e164e04bc32d" providerId="ADAL" clId="{91FC7BBA-EF0F-4002-BC0B-A9CBE9D814EA}" dt="2025-09-24T09:04:46.862" v="21" actId="1076"/>
          <ac:grpSpMkLst>
            <pc:docMk/>
            <pc:sldMk cId="2156206577" sldId="388"/>
            <ac:grpSpMk id="8" creationId="{679012F0-3AF6-2DF0-EB1F-A8A5431C3FE4}"/>
          </ac:grpSpMkLst>
        </pc:grpChg>
        <pc:picChg chg="mod">
          <ac:chgData name="Paul Winser" userId="c3146a91-e6bd-4264-bd86-e164e04bc32d" providerId="ADAL" clId="{91FC7BBA-EF0F-4002-BC0B-A9CBE9D814EA}" dt="2025-09-24T09:14:32.552" v="41" actId="14100"/>
          <ac:picMkLst>
            <pc:docMk/>
            <pc:sldMk cId="2156206577" sldId="388"/>
            <ac:picMk id="7" creationId="{F3ED4EBA-FA38-46CB-B59E-7FB6B0822E26}"/>
          </ac:picMkLst>
        </pc:picChg>
      </pc:sldChg>
      <pc:sldChg chg="addSp modSp">
        <pc:chgData name="Paul Winser" userId="c3146a91-e6bd-4264-bd86-e164e04bc32d" providerId="ADAL" clId="{91FC7BBA-EF0F-4002-BC0B-A9CBE9D814EA}" dt="2025-09-24T09:04:26.952" v="10"/>
        <pc:sldMkLst>
          <pc:docMk/>
          <pc:sldMk cId="0" sldId="389"/>
        </pc:sldMkLst>
        <pc:spChg chg="add mod">
          <ac:chgData name="Paul Winser" userId="c3146a91-e6bd-4264-bd86-e164e04bc32d" providerId="ADAL" clId="{91FC7BBA-EF0F-4002-BC0B-A9CBE9D814EA}" dt="2025-09-24T09:04:26.952" v="10"/>
          <ac:spMkLst>
            <pc:docMk/>
            <pc:sldMk cId="0" sldId="389"/>
            <ac:spMk id="5" creationId="{4DEA7C43-BE55-8290-DBF8-7F06665B72E3}"/>
          </ac:spMkLst>
        </pc:spChg>
      </pc:sldChg>
      <pc:sldChg chg="addSp modSp">
        <pc:chgData name="Paul Winser" userId="c3146a91-e6bd-4264-bd86-e164e04bc32d" providerId="ADAL" clId="{91FC7BBA-EF0F-4002-BC0B-A9CBE9D814EA}" dt="2025-09-24T09:04:28.154" v="11"/>
        <pc:sldMkLst>
          <pc:docMk/>
          <pc:sldMk cId="1349089099" sldId="390"/>
        </pc:sldMkLst>
        <pc:spChg chg="add mod">
          <ac:chgData name="Paul Winser" userId="c3146a91-e6bd-4264-bd86-e164e04bc32d" providerId="ADAL" clId="{91FC7BBA-EF0F-4002-BC0B-A9CBE9D814EA}" dt="2025-09-24T09:04:28.154" v="11"/>
          <ac:spMkLst>
            <pc:docMk/>
            <pc:sldMk cId="1349089099" sldId="390"/>
            <ac:spMk id="6" creationId="{BC8CAD83-3F79-CD4F-97B4-6BEBBC452AC0}"/>
          </ac:spMkLst>
        </pc:spChg>
      </pc:sldChg>
      <pc:sldChg chg="addSp delSp modSp mod">
        <pc:chgData name="Paul Winser" userId="c3146a91-e6bd-4264-bd86-e164e04bc32d" providerId="ADAL" clId="{91FC7BBA-EF0F-4002-BC0B-A9CBE9D814EA}" dt="2025-09-24T09:05:16.110" v="40" actId="478"/>
        <pc:sldMkLst>
          <pc:docMk/>
          <pc:sldMk cId="414095307" sldId="391"/>
        </pc:sldMkLst>
        <pc:spChg chg="del">
          <ac:chgData name="Paul Winser" userId="c3146a91-e6bd-4264-bd86-e164e04bc32d" providerId="ADAL" clId="{91FC7BBA-EF0F-4002-BC0B-A9CBE9D814EA}" dt="2025-09-24T09:05:16.110" v="40" actId="478"/>
          <ac:spMkLst>
            <pc:docMk/>
            <pc:sldMk cId="414095307" sldId="391"/>
            <ac:spMk id="4" creationId="{3F0A76CE-08A1-4752-8282-17675CE2062C}"/>
          </ac:spMkLst>
        </pc:spChg>
        <pc:spChg chg="add mod">
          <ac:chgData name="Paul Winser" userId="c3146a91-e6bd-4264-bd86-e164e04bc32d" providerId="ADAL" clId="{91FC7BBA-EF0F-4002-BC0B-A9CBE9D814EA}" dt="2025-09-24T09:05:14.197" v="39"/>
          <ac:spMkLst>
            <pc:docMk/>
            <pc:sldMk cId="414095307" sldId="391"/>
            <ac:spMk id="5" creationId="{D578877F-08FA-F790-D22B-2528B38BA5A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BCE116-A99B-4E37-BA11-7D3892FF983D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687F707C-A7E2-4643-B5F1-43C14BB6D5C2}">
      <dgm:prSet/>
      <dgm:spPr>
        <a:solidFill>
          <a:schemeClr val="accent5"/>
        </a:solidFill>
      </dgm:spPr>
      <dgm:t>
        <a:bodyPr rtlCol="1"/>
        <a:lstStyle/>
        <a:p>
          <a:pPr rtl="1"/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التزام المواعيد</a:t>
          </a:r>
          <a:r>
            <a:rPr lang="ar-E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C4EF72-BD2D-4E77-94B3-2E7FFA1FCFA6}" type="parTrans" cxnId="{FEAB8B59-313B-4150-8052-90686FEA27E0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756FBB-2138-4A36-9E1B-7D18FC978BA7}" type="sibTrans" cxnId="{FEAB8B59-313B-4150-8052-90686FEA27E0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BFB4C-B361-4765-8222-58046AB53686}">
      <dgm:prSet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الحضور المنتظم</a:t>
          </a:r>
          <a:r>
            <a:rPr lang="ar-E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77CEE0-6CDF-4C4A-A101-AEC004532064}" type="parTrans" cxnId="{1F53CF28-9295-40E5-BB32-2FEB3796EE13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65BA6D-E42C-4483-AFCC-111AA10CEA67}" type="sibTrans" cxnId="{1F53CF28-9295-40E5-BB32-2FEB3796EE13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01FDBA-CCED-4B99-B23F-06E62EE699D4}">
      <dgm:prSet/>
      <dgm:spPr>
        <a:solidFill>
          <a:schemeClr val="accent5"/>
        </a:solidFill>
      </dgm:spPr>
      <dgm:t>
        <a:bodyPr rtlCol="1"/>
        <a:lstStyle/>
        <a:p>
          <a:pPr rtl="1"/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الإبلاغ الفوري عن الحوادث والمشكلات</a:t>
          </a:r>
          <a:r>
            <a:rPr lang="ar-E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ar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441144-632B-4EDD-9952-39BFBA7F8325}" type="parTrans" cxnId="{82A43377-5E7C-4B33-9385-B7EA56F0E14F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A1A119-0C04-4566-8D75-87E5E135E4D2}" type="sibTrans" cxnId="{82A43377-5E7C-4B33-9385-B7EA56F0E14F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82170B-1C66-41D1-A187-B16DCE55BF19}">
      <dgm:prSet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القدرة على اتباع التعليمات</a:t>
          </a:r>
          <a:r>
            <a:rPr lang="ar-E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E7C50D-D864-4A72-98F0-40DD664DBA69}" type="parTrans" cxnId="{29D3C0AE-F130-4129-A97D-F9AED2697BA3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E110B3-461B-4DFB-A728-EE9FEAE7BF4D}" type="sibTrans" cxnId="{29D3C0AE-F130-4129-A97D-F9AED2697BA3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AC13D3-D6DF-4B10-9AAB-17A1E5390052}">
      <dgm:prSet/>
      <dgm:spPr>
        <a:solidFill>
          <a:schemeClr val="accent5"/>
        </a:solidFill>
      </dgm:spPr>
      <dgm:t>
        <a:bodyPr rtlCol="1"/>
        <a:lstStyle/>
        <a:p>
          <a:pPr rtl="1"/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الاستجابة للنقد البنّاء</a:t>
          </a:r>
          <a:r>
            <a:rPr lang="ar-E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7B5D15-9EDF-48C3-B224-E067263FA0EA}" type="parTrans" cxnId="{78344B68-1F62-4327-A530-1C458BC956AA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F1F43F-F31C-4BBC-BDAE-E22AE1498F26}" type="sibTrans" cxnId="{78344B68-1F62-4327-A530-1C458BC956AA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624B17-D05B-4EAF-A4D7-637C8332D00F}">
      <dgm:prSet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التعاون مع الآخرين/ مع الزملاء في فرق العمل</a:t>
          </a:r>
          <a:r>
            <a:rPr lang="ar-E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483037-A0C4-4D19-AF4A-98D819A9F1C8}" type="parTrans" cxnId="{BBA37BEF-1A12-488E-BF5D-E143B1D90466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0A9FC0-2498-45ED-846C-9210145233CE}" type="sibTrans" cxnId="{BBA37BEF-1A12-488E-BF5D-E143B1D90466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6AD4F4-5C94-42B2-B524-018B31C16F93}">
      <dgm:prSet/>
      <dgm:spPr>
        <a:solidFill>
          <a:schemeClr val="accent5"/>
        </a:solidFill>
      </dgm:spPr>
      <dgm:t>
        <a:bodyPr rtlCol="1"/>
        <a:lstStyle/>
        <a:p>
          <a:pPr rtl="1"/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إنجاز المهام</a:t>
          </a:r>
          <a:r>
            <a:rPr lang="ar-E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9C0821-2692-4181-8001-F291C032BF93}" type="parTrans" cxnId="{ECF66E0B-6066-4E37-B3EE-52E29E223610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EBBB83-D9AC-4EAF-AF24-5535547173E9}" type="sibTrans" cxnId="{ECF66E0B-6066-4E37-B3EE-52E29E223610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3E48B8-7531-42C9-9FCC-714C78F4A19C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الوعي بسلامتك وسلامة الآخرين</a:t>
          </a:r>
          <a:r>
            <a:rPr lang="ar-EG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7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44544D-BF37-4534-A801-526EC8472E5E}" type="parTrans" cxnId="{5058D293-1E14-430D-9EC6-8803AAC17339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985A1E-C894-4DDB-9FC3-419977223E73}" type="sibTrans" cxnId="{5058D293-1E14-430D-9EC6-8803AAC17339}">
      <dgm:prSet/>
      <dgm:spPr/>
      <dgm:t>
        <a:bodyPr rtlCol="1"/>
        <a:lstStyle/>
        <a:p>
          <a:pPr rtl="1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42592C-E54D-1248-8110-F58233FA36C4}">
      <dgm:prSet/>
      <dgm:spPr>
        <a:solidFill>
          <a:schemeClr val="accent5"/>
        </a:solidFill>
      </dgm:spPr>
      <dgm:t>
        <a:bodyPr rtlCol="1"/>
        <a:lstStyle/>
        <a:p>
          <a:pPr rtl="1">
            <a:buSzPts val="1000"/>
            <a:buFont typeface="Symbol" pitchFamily="2" charset="2"/>
            <a:buChar char=""/>
          </a:pPr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فهم حدود الدور الشخصي</a:t>
          </a:r>
          <a:r>
            <a:rPr lang="ar-E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ar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E4125D-09C7-4B4D-80D7-9B638091D6BD}" type="parTrans" cxnId="{200EC9A4-7FD5-BF4A-B576-88C7486DF7B7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34D745-5AA9-9D43-9277-F03CE6625C0D}" type="sibTrans" cxnId="{200EC9A4-7FD5-BF4A-B576-88C7486DF7B7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4C1753-D7B3-1545-8E64-E4110476ABAB}">
      <dgm:prSet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>
            <a:buNone/>
          </a:pPr>
          <a:r>
            <a:rPr lang="a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التفاعل مع الأفراد مُتلقي الخدمات.</a:t>
          </a:r>
        </a:p>
      </dgm:t>
    </dgm:pt>
    <dgm:pt modelId="{963B1362-3BD6-C147-AE47-7F2CBEB5BE8C}" type="parTrans" cxnId="{E1C7C572-80A3-2045-846B-80897016D152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D01CDF-090C-944C-B77E-48C71FBB039F}" type="sibTrans" cxnId="{E1C7C572-80A3-2045-846B-80897016D152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E8207A-C0CA-6B4B-8C2F-5F927E4CE048}" type="pres">
      <dgm:prSet presAssocID="{9ABCE116-A99B-4E37-BA11-7D3892FF983D}" presName="linear" presStyleCnt="0">
        <dgm:presLayoutVars>
          <dgm:animLvl val="lvl"/>
          <dgm:resizeHandles val="exact"/>
        </dgm:presLayoutVars>
      </dgm:prSet>
      <dgm:spPr/>
    </dgm:pt>
    <dgm:pt modelId="{6819C774-D668-F442-B09B-CF7D96620057}" type="pres">
      <dgm:prSet presAssocID="{687F707C-A7E2-4643-B5F1-43C14BB6D5C2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CFA6477E-0AC5-EE44-8607-B0562D04613A}" type="pres">
      <dgm:prSet presAssocID="{94756FBB-2138-4A36-9E1B-7D18FC978BA7}" presName="spacer" presStyleCnt="0"/>
      <dgm:spPr/>
    </dgm:pt>
    <dgm:pt modelId="{6164F79A-8228-DF4F-8997-C200D2DD1998}" type="pres">
      <dgm:prSet presAssocID="{009BFB4C-B361-4765-8222-58046AB53686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873D5412-2643-8D44-A374-2EC76826B59C}" type="pres">
      <dgm:prSet presAssocID="{1565BA6D-E42C-4483-AFCC-111AA10CEA67}" presName="spacer" presStyleCnt="0"/>
      <dgm:spPr/>
    </dgm:pt>
    <dgm:pt modelId="{5DC6D17F-B18B-804A-B5B5-A620C64FA0C0}" type="pres">
      <dgm:prSet presAssocID="{B901FDBA-CCED-4B99-B23F-06E62EE699D4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4D073295-824B-3C46-8AAB-EA598B786539}" type="pres">
      <dgm:prSet presAssocID="{04A1A119-0C04-4566-8D75-87E5E135E4D2}" presName="spacer" presStyleCnt="0"/>
      <dgm:spPr/>
    </dgm:pt>
    <dgm:pt modelId="{47BA4982-BA04-F64C-B303-B0F5F63D00DC}" type="pres">
      <dgm:prSet presAssocID="{2B82170B-1C66-41D1-A187-B16DCE55BF19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1D37FEBF-CF96-B147-9925-7437844B1CEF}" type="pres">
      <dgm:prSet presAssocID="{07E110B3-461B-4DFB-A728-EE9FEAE7BF4D}" presName="spacer" presStyleCnt="0"/>
      <dgm:spPr/>
    </dgm:pt>
    <dgm:pt modelId="{3F73099A-08C5-004D-A244-AC4AB6282A14}" type="pres">
      <dgm:prSet presAssocID="{79AC13D3-D6DF-4B10-9AAB-17A1E5390052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7E074881-3219-0F46-AF31-F737284AEE09}" type="pres">
      <dgm:prSet presAssocID="{98F1F43F-F31C-4BBC-BDAE-E22AE1498F26}" presName="spacer" presStyleCnt="0"/>
      <dgm:spPr/>
    </dgm:pt>
    <dgm:pt modelId="{3C72BDAA-C2FC-AE4A-A5CF-0A18BADAD124}" type="pres">
      <dgm:prSet presAssocID="{47624B17-D05B-4EAF-A4D7-637C8332D00F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36DF327E-6171-BD42-A417-DD8D04C7635D}" type="pres">
      <dgm:prSet presAssocID="{5E0A9FC0-2498-45ED-846C-9210145233CE}" presName="spacer" presStyleCnt="0"/>
      <dgm:spPr/>
    </dgm:pt>
    <dgm:pt modelId="{B8C2D912-1016-0C4E-B274-58EA5F1D9203}" type="pres">
      <dgm:prSet presAssocID="{1A6AD4F4-5C94-42B2-B524-018B31C16F93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4501F1AF-BBDF-4843-BF6E-23B66C932682}" type="pres">
      <dgm:prSet presAssocID="{0AEBBB83-D9AC-4EAF-AF24-5535547173E9}" presName="spacer" presStyleCnt="0"/>
      <dgm:spPr/>
    </dgm:pt>
    <dgm:pt modelId="{D44CC7E7-791B-1041-A881-AB59254115C7}" type="pres">
      <dgm:prSet presAssocID="{B13E48B8-7531-42C9-9FCC-714C78F4A19C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0CE30A43-8A39-EF4D-8263-FB750B228159}" type="pres">
      <dgm:prSet presAssocID="{DB985A1E-C894-4DDB-9FC3-419977223E73}" presName="spacer" presStyleCnt="0"/>
      <dgm:spPr/>
    </dgm:pt>
    <dgm:pt modelId="{21AB54C5-2A85-524E-9CE4-10DCB9D228EE}" type="pres">
      <dgm:prSet presAssocID="{B142592C-E54D-1248-8110-F58233FA36C4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FB95D5C5-8039-D540-A0C9-7CEAFAE09FBC}" type="pres">
      <dgm:prSet presAssocID="{1F34D745-5AA9-9D43-9277-F03CE6625C0D}" presName="spacer" presStyleCnt="0"/>
      <dgm:spPr/>
    </dgm:pt>
    <dgm:pt modelId="{2FE4BB76-CBC5-0C40-B2FC-93DE28F93D17}" type="pres">
      <dgm:prSet presAssocID="{364C1753-D7B3-1545-8E64-E4110476ABAB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ECF66E0B-6066-4E37-B3EE-52E29E223610}" srcId="{9ABCE116-A99B-4E37-BA11-7D3892FF983D}" destId="{1A6AD4F4-5C94-42B2-B524-018B31C16F93}" srcOrd="6" destOrd="0" parTransId="{FF9C0821-2692-4181-8001-F291C032BF93}" sibTransId="{0AEBBB83-D9AC-4EAF-AF24-5535547173E9}"/>
    <dgm:cxn modelId="{77F5A21C-B5FA-2849-8DFE-2DC55039552D}" type="presOf" srcId="{687F707C-A7E2-4643-B5F1-43C14BB6D5C2}" destId="{6819C774-D668-F442-B09B-CF7D96620057}" srcOrd="0" destOrd="0" presId="urn:microsoft.com/office/officeart/2005/8/layout/vList2"/>
    <dgm:cxn modelId="{1F53CF28-9295-40E5-BB32-2FEB3796EE13}" srcId="{9ABCE116-A99B-4E37-BA11-7D3892FF983D}" destId="{009BFB4C-B361-4765-8222-58046AB53686}" srcOrd="1" destOrd="0" parTransId="{B877CEE0-6CDF-4C4A-A101-AEC004532064}" sibTransId="{1565BA6D-E42C-4483-AFCC-111AA10CEA67}"/>
    <dgm:cxn modelId="{2DBC9741-7F16-5440-80BD-BE649A7BED13}" type="presOf" srcId="{B142592C-E54D-1248-8110-F58233FA36C4}" destId="{21AB54C5-2A85-524E-9CE4-10DCB9D228EE}" srcOrd="0" destOrd="0" presId="urn:microsoft.com/office/officeart/2005/8/layout/vList2"/>
    <dgm:cxn modelId="{78344B68-1F62-4327-A530-1C458BC956AA}" srcId="{9ABCE116-A99B-4E37-BA11-7D3892FF983D}" destId="{79AC13D3-D6DF-4B10-9AAB-17A1E5390052}" srcOrd="4" destOrd="0" parTransId="{1B7B5D15-9EDF-48C3-B224-E067263FA0EA}" sibTransId="{98F1F43F-F31C-4BBC-BDAE-E22AE1498F26}"/>
    <dgm:cxn modelId="{E1C7C572-80A3-2045-846B-80897016D152}" srcId="{9ABCE116-A99B-4E37-BA11-7D3892FF983D}" destId="{364C1753-D7B3-1545-8E64-E4110476ABAB}" srcOrd="9" destOrd="0" parTransId="{963B1362-3BD6-C147-AE47-7F2CBEB5BE8C}" sibTransId="{17D01CDF-090C-944C-B77E-48C71FBB039F}"/>
    <dgm:cxn modelId="{9BFCC775-FC0E-494E-9304-B4A7AEF8B3E5}" type="presOf" srcId="{79AC13D3-D6DF-4B10-9AAB-17A1E5390052}" destId="{3F73099A-08C5-004D-A244-AC4AB6282A14}" srcOrd="0" destOrd="0" presId="urn:microsoft.com/office/officeart/2005/8/layout/vList2"/>
    <dgm:cxn modelId="{82A43377-5E7C-4B33-9385-B7EA56F0E14F}" srcId="{9ABCE116-A99B-4E37-BA11-7D3892FF983D}" destId="{B901FDBA-CCED-4B99-B23F-06E62EE699D4}" srcOrd="2" destOrd="0" parTransId="{37441144-632B-4EDD-9952-39BFBA7F8325}" sibTransId="{04A1A119-0C04-4566-8D75-87E5E135E4D2}"/>
    <dgm:cxn modelId="{BDF4BF77-6779-B642-9D36-73C0A503E298}" type="presOf" srcId="{364C1753-D7B3-1545-8E64-E4110476ABAB}" destId="{2FE4BB76-CBC5-0C40-B2FC-93DE28F93D17}" srcOrd="0" destOrd="0" presId="urn:microsoft.com/office/officeart/2005/8/layout/vList2"/>
    <dgm:cxn modelId="{FEAB8B59-313B-4150-8052-90686FEA27E0}" srcId="{9ABCE116-A99B-4E37-BA11-7D3892FF983D}" destId="{687F707C-A7E2-4643-B5F1-43C14BB6D5C2}" srcOrd="0" destOrd="0" parTransId="{E3C4EF72-BD2D-4E77-94B3-2E7FFA1FCFA6}" sibTransId="{94756FBB-2138-4A36-9E1B-7D18FC978BA7}"/>
    <dgm:cxn modelId="{2946777A-4F8B-7B4B-81C4-04D7AAAC24FC}" type="presOf" srcId="{B13E48B8-7531-42C9-9FCC-714C78F4A19C}" destId="{D44CC7E7-791B-1041-A881-AB59254115C7}" srcOrd="0" destOrd="0" presId="urn:microsoft.com/office/officeart/2005/8/layout/vList2"/>
    <dgm:cxn modelId="{B61FFE5A-0B76-FD4C-A399-3833252AA931}" type="presOf" srcId="{2B82170B-1C66-41D1-A187-B16DCE55BF19}" destId="{47BA4982-BA04-F64C-B303-B0F5F63D00DC}" srcOrd="0" destOrd="0" presId="urn:microsoft.com/office/officeart/2005/8/layout/vList2"/>
    <dgm:cxn modelId="{8507FD8C-3BC8-6B48-8E29-B497F1F46B5A}" type="presOf" srcId="{009BFB4C-B361-4765-8222-58046AB53686}" destId="{6164F79A-8228-DF4F-8997-C200D2DD1998}" srcOrd="0" destOrd="0" presId="urn:microsoft.com/office/officeart/2005/8/layout/vList2"/>
    <dgm:cxn modelId="{5058D293-1E14-430D-9EC6-8803AAC17339}" srcId="{9ABCE116-A99B-4E37-BA11-7D3892FF983D}" destId="{B13E48B8-7531-42C9-9FCC-714C78F4A19C}" srcOrd="7" destOrd="0" parTransId="{F344544D-BF37-4534-A801-526EC8472E5E}" sibTransId="{DB985A1E-C894-4DDB-9FC3-419977223E73}"/>
    <dgm:cxn modelId="{200EC9A4-7FD5-BF4A-B576-88C7486DF7B7}" srcId="{9ABCE116-A99B-4E37-BA11-7D3892FF983D}" destId="{B142592C-E54D-1248-8110-F58233FA36C4}" srcOrd="8" destOrd="0" parTransId="{33E4125D-09C7-4B4D-80D7-9B638091D6BD}" sibTransId="{1F34D745-5AA9-9D43-9277-F03CE6625C0D}"/>
    <dgm:cxn modelId="{29D3C0AE-F130-4129-A97D-F9AED2697BA3}" srcId="{9ABCE116-A99B-4E37-BA11-7D3892FF983D}" destId="{2B82170B-1C66-41D1-A187-B16DCE55BF19}" srcOrd="3" destOrd="0" parTransId="{EAE7C50D-D864-4A72-98F0-40DD664DBA69}" sibTransId="{07E110B3-461B-4DFB-A728-EE9FEAE7BF4D}"/>
    <dgm:cxn modelId="{E3F3BCB6-E582-8E4D-8D41-1C54D02F8E1A}" type="presOf" srcId="{B901FDBA-CCED-4B99-B23F-06E62EE699D4}" destId="{5DC6D17F-B18B-804A-B5B5-A620C64FA0C0}" srcOrd="0" destOrd="0" presId="urn:microsoft.com/office/officeart/2005/8/layout/vList2"/>
    <dgm:cxn modelId="{F8A1E5DF-B069-844B-ABC9-AD91C2D4E9D2}" type="presOf" srcId="{47624B17-D05B-4EAF-A4D7-637C8332D00F}" destId="{3C72BDAA-C2FC-AE4A-A5CF-0A18BADAD124}" srcOrd="0" destOrd="0" presId="urn:microsoft.com/office/officeart/2005/8/layout/vList2"/>
    <dgm:cxn modelId="{2FAEA7E3-969F-5F4C-B2B3-D11BD4267C94}" type="presOf" srcId="{1A6AD4F4-5C94-42B2-B524-018B31C16F93}" destId="{B8C2D912-1016-0C4E-B274-58EA5F1D9203}" srcOrd="0" destOrd="0" presId="urn:microsoft.com/office/officeart/2005/8/layout/vList2"/>
    <dgm:cxn modelId="{B914D7EB-4AF6-0A4E-8DE4-E4A06EC0B293}" type="presOf" srcId="{9ABCE116-A99B-4E37-BA11-7D3892FF983D}" destId="{7FE8207A-C0CA-6B4B-8C2F-5F927E4CE048}" srcOrd="0" destOrd="0" presId="urn:microsoft.com/office/officeart/2005/8/layout/vList2"/>
    <dgm:cxn modelId="{BBA37BEF-1A12-488E-BF5D-E143B1D90466}" srcId="{9ABCE116-A99B-4E37-BA11-7D3892FF983D}" destId="{47624B17-D05B-4EAF-A4D7-637C8332D00F}" srcOrd="5" destOrd="0" parTransId="{43483037-A0C4-4D19-AF4A-98D819A9F1C8}" sibTransId="{5E0A9FC0-2498-45ED-846C-9210145233CE}"/>
    <dgm:cxn modelId="{86B329BC-E217-DA49-950B-8CA941F79E9B}" type="presParOf" srcId="{7FE8207A-C0CA-6B4B-8C2F-5F927E4CE048}" destId="{6819C774-D668-F442-B09B-CF7D96620057}" srcOrd="0" destOrd="0" presId="urn:microsoft.com/office/officeart/2005/8/layout/vList2"/>
    <dgm:cxn modelId="{D84D1F5F-389A-654C-B8C5-E981E8A62881}" type="presParOf" srcId="{7FE8207A-C0CA-6B4B-8C2F-5F927E4CE048}" destId="{CFA6477E-0AC5-EE44-8607-B0562D04613A}" srcOrd="1" destOrd="0" presId="urn:microsoft.com/office/officeart/2005/8/layout/vList2"/>
    <dgm:cxn modelId="{66AD9499-4417-A34B-8362-2AC940478F10}" type="presParOf" srcId="{7FE8207A-C0CA-6B4B-8C2F-5F927E4CE048}" destId="{6164F79A-8228-DF4F-8997-C200D2DD1998}" srcOrd="2" destOrd="0" presId="urn:microsoft.com/office/officeart/2005/8/layout/vList2"/>
    <dgm:cxn modelId="{08F2CD8B-1D4F-714B-B653-DC7870FBCC77}" type="presParOf" srcId="{7FE8207A-C0CA-6B4B-8C2F-5F927E4CE048}" destId="{873D5412-2643-8D44-A374-2EC76826B59C}" srcOrd="3" destOrd="0" presId="urn:microsoft.com/office/officeart/2005/8/layout/vList2"/>
    <dgm:cxn modelId="{76AB4981-0FE2-A042-814D-B3809B61A80A}" type="presParOf" srcId="{7FE8207A-C0CA-6B4B-8C2F-5F927E4CE048}" destId="{5DC6D17F-B18B-804A-B5B5-A620C64FA0C0}" srcOrd="4" destOrd="0" presId="urn:microsoft.com/office/officeart/2005/8/layout/vList2"/>
    <dgm:cxn modelId="{52AE9DCA-EB13-EE4E-916E-E2159CEF31B7}" type="presParOf" srcId="{7FE8207A-C0CA-6B4B-8C2F-5F927E4CE048}" destId="{4D073295-824B-3C46-8AAB-EA598B786539}" srcOrd="5" destOrd="0" presId="urn:microsoft.com/office/officeart/2005/8/layout/vList2"/>
    <dgm:cxn modelId="{EEA66DBD-3038-6446-98BB-10BF56ADD83C}" type="presParOf" srcId="{7FE8207A-C0CA-6B4B-8C2F-5F927E4CE048}" destId="{47BA4982-BA04-F64C-B303-B0F5F63D00DC}" srcOrd="6" destOrd="0" presId="urn:microsoft.com/office/officeart/2005/8/layout/vList2"/>
    <dgm:cxn modelId="{E412E097-57EE-B643-A935-D2709477BBC5}" type="presParOf" srcId="{7FE8207A-C0CA-6B4B-8C2F-5F927E4CE048}" destId="{1D37FEBF-CF96-B147-9925-7437844B1CEF}" srcOrd="7" destOrd="0" presId="urn:microsoft.com/office/officeart/2005/8/layout/vList2"/>
    <dgm:cxn modelId="{3DA44DA9-B36B-9546-8BFC-0CAC2E0A1406}" type="presParOf" srcId="{7FE8207A-C0CA-6B4B-8C2F-5F927E4CE048}" destId="{3F73099A-08C5-004D-A244-AC4AB6282A14}" srcOrd="8" destOrd="0" presId="urn:microsoft.com/office/officeart/2005/8/layout/vList2"/>
    <dgm:cxn modelId="{2CF12EF3-441C-494F-958A-9BCC76D93BA0}" type="presParOf" srcId="{7FE8207A-C0CA-6B4B-8C2F-5F927E4CE048}" destId="{7E074881-3219-0F46-AF31-F737284AEE09}" srcOrd="9" destOrd="0" presId="urn:microsoft.com/office/officeart/2005/8/layout/vList2"/>
    <dgm:cxn modelId="{AFBD5E9D-3292-074D-8F3D-1BE0BDA73D65}" type="presParOf" srcId="{7FE8207A-C0CA-6B4B-8C2F-5F927E4CE048}" destId="{3C72BDAA-C2FC-AE4A-A5CF-0A18BADAD124}" srcOrd="10" destOrd="0" presId="urn:microsoft.com/office/officeart/2005/8/layout/vList2"/>
    <dgm:cxn modelId="{77F49713-67E8-1746-B471-53687E3478DA}" type="presParOf" srcId="{7FE8207A-C0CA-6B4B-8C2F-5F927E4CE048}" destId="{36DF327E-6171-BD42-A417-DD8D04C7635D}" srcOrd="11" destOrd="0" presId="urn:microsoft.com/office/officeart/2005/8/layout/vList2"/>
    <dgm:cxn modelId="{4D7425EF-5156-FC45-AD1F-B60303A51CC5}" type="presParOf" srcId="{7FE8207A-C0CA-6B4B-8C2F-5F927E4CE048}" destId="{B8C2D912-1016-0C4E-B274-58EA5F1D9203}" srcOrd="12" destOrd="0" presId="urn:microsoft.com/office/officeart/2005/8/layout/vList2"/>
    <dgm:cxn modelId="{AB201865-65AF-764C-869C-46E98BE5751D}" type="presParOf" srcId="{7FE8207A-C0CA-6B4B-8C2F-5F927E4CE048}" destId="{4501F1AF-BBDF-4843-BF6E-23B66C932682}" srcOrd="13" destOrd="0" presId="urn:microsoft.com/office/officeart/2005/8/layout/vList2"/>
    <dgm:cxn modelId="{2AF61FB7-D536-7C44-BE45-A371B1214EC8}" type="presParOf" srcId="{7FE8207A-C0CA-6B4B-8C2F-5F927E4CE048}" destId="{D44CC7E7-791B-1041-A881-AB59254115C7}" srcOrd="14" destOrd="0" presId="urn:microsoft.com/office/officeart/2005/8/layout/vList2"/>
    <dgm:cxn modelId="{F97B1229-65A2-EC46-8D26-E8E987537186}" type="presParOf" srcId="{7FE8207A-C0CA-6B4B-8C2F-5F927E4CE048}" destId="{0CE30A43-8A39-EF4D-8263-FB750B228159}" srcOrd="15" destOrd="0" presId="urn:microsoft.com/office/officeart/2005/8/layout/vList2"/>
    <dgm:cxn modelId="{1D9A3704-C7CF-CF4C-B8A7-B2976A3889B1}" type="presParOf" srcId="{7FE8207A-C0CA-6B4B-8C2F-5F927E4CE048}" destId="{21AB54C5-2A85-524E-9CE4-10DCB9D228EE}" srcOrd="16" destOrd="0" presId="urn:microsoft.com/office/officeart/2005/8/layout/vList2"/>
    <dgm:cxn modelId="{3967A712-1AC7-2B4B-8D3B-AECC8EAEE6F2}" type="presParOf" srcId="{7FE8207A-C0CA-6B4B-8C2F-5F927E4CE048}" destId="{FB95D5C5-8039-D540-A0C9-7CEAFAE09FBC}" srcOrd="17" destOrd="0" presId="urn:microsoft.com/office/officeart/2005/8/layout/vList2"/>
    <dgm:cxn modelId="{63BFAFCD-BB5D-C945-90B3-013E4A1A8DF8}" type="presParOf" srcId="{7FE8207A-C0CA-6B4B-8C2F-5F927E4CE048}" destId="{2FE4BB76-CBC5-0C40-B2FC-93DE28F93D17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BCE116-A99B-4E37-BA11-7D3892FF983D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687F707C-A7E2-4643-B5F1-43C14BB6D5C2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algn="ctr" rtl="1"/>
          <a:r>
            <a:rPr lang="ar" sz="1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فئات مختلفة من الأفراد مُتلقي الخدمات</a:t>
          </a:r>
          <a:endParaRPr lang="en-US" sz="19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C4EF72-BD2D-4E77-94B3-2E7FFA1FCFA6}" type="parTrans" cxnId="{FEAB8B59-313B-4150-8052-90686FEA27E0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756FBB-2138-4A36-9E1B-7D18FC978BA7}" type="sibTrans" cxnId="{FEAB8B59-313B-4150-8052-90686FEA27E0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BFB4C-B361-4765-8222-58046AB53686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الأطفال (من 4 إلى 10 سنوات)</a:t>
          </a:r>
          <a:r>
            <a:rPr lang="ar-EG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77CEE0-6CDF-4C4A-A101-AEC004532064}" type="parTrans" cxnId="{1F53CF28-9295-40E5-BB32-2FEB3796EE13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65BA6D-E42C-4483-AFCC-111AA10CEA67}" type="sibTrans" cxnId="{1F53CF28-9295-40E5-BB32-2FEB3796EE13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01FDBA-CCED-4B99-B23F-06E62EE699D4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المراهقون (من 11 إلى 18 سنة)</a:t>
          </a:r>
          <a:r>
            <a:rPr lang="ar-EG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441144-632B-4EDD-9952-39BFBA7F8325}" type="parTrans" cxnId="{82A43377-5E7C-4B33-9385-B7EA56F0E14F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A1A119-0C04-4566-8D75-87E5E135E4D2}" type="sibTrans" cxnId="{82A43377-5E7C-4B33-9385-B7EA56F0E14F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82170B-1C66-41D1-A187-B16DCE55BF19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البالغون (من 19 إلى 64 سنة)</a:t>
          </a:r>
          <a:r>
            <a:rPr lang="ar-EG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E7C50D-D864-4A72-98F0-40DD664DBA69}" type="parTrans" cxnId="{29D3C0AE-F130-4129-A97D-F9AED2697BA3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E110B3-461B-4DFB-A728-EE9FEAE7BF4D}" type="sibTrans" cxnId="{29D3C0AE-F130-4129-A97D-F9AED2697BA3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AC13D3-D6DF-4B10-9AAB-17A1E5390052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19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كبار السن (65 سنة فأكثر).</a:t>
          </a:r>
          <a:endParaRPr lang="en-US" sz="19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7B5D15-9EDF-48C3-B224-E067263FA0EA}" type="parTrans" cxnId="{78344B68-1F62-4327-A530-1C458BC956AA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F1F43F-F31C-4BBC-BDAE-E22AE1498F26}" type="sibTrans" cxnId="{78344B68-1F62-4327-A530-1C458BC956AA}">
      <dgm:prSet/>
      <dgm:spPr/>
      <dgm:t>
        <a:bodyPr rtlCol="1"/>
        <a:lstStyle/>
        <a:p>
          <a:pPr rtl="1"/>
          <a:endParaRPr lang="en-US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1D522B-3C0E-E941-B922-986A9B4BF9A2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الرضع (من 0-3 سنوات)</a:t>
          </a:r>
          <a:r>
            <a:rPr lang="ar-EG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GB" sz="1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B74EF6-0B1A-2C4A-BD78-835DB8BB7D5B}" type="parTrans" cxnId="{C323D6A3-267C-BB41-8C41-01965B462FC8}">
      <dgm:prSet/>
      <dgm:spPr/>
      <dgm:t>
        <a:bodyPr rtlCol="1"/>
        <a:lstStyle/>
        <a:p>
          <a:pPr rtl="1"/>
          <a:endParaRPr lang="en-GB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57A18B-FF9A-EF4D-BC6E-E58E2A8BC91C}" type="sibTrans" cxnId="{C323D6A3-267C-BB41-8C41-01965B462FC8}">
      <dgm:prSet/>
      <dgm:spPr/>
      <dgm:t>
        <a:bodyPr rtlCol="1"/>
        <a:lstStyle/>
        <a:p>
          <a:pPr rtl="1"/>
          <a:endParaRPr lang="en-GB" sz="1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E8207A-C0CA-6B4B-8C2F-5F927E4CE048}" type="pres">
      <dgm:prSet presAssocID="{9ABCE116-A99B-4E37-BA11-7D3892FF983D}" presName="linear" presStyleCnt="0">
        <dgm:presLayoutVars>
          <dgm:animLvl val="lvl"/>
          <dgm:resizeHandles val="exact"/>
        </dgm:presLayoutVars>
      </dgm:prSet>
      <dgm:spPr/>
    </dgm:pt>
    <dgm:pt modelId="{6819C774-D668-F442-B09B-CF7D96620057}" type="pres">
      <dgm:prSet presAssocID="{687F707C-A7E2-4643-B5F1-43C14BB6D5C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FA6477E-0AC5-EE44-8607-B0562D04613A}" type="pres">
      <dgm:prSet presAssocID="{94756FBB-2138-4A36-9E1B-7D18FC978BA7}" presName="spacer" presStyleCnt="0"/>
      <dgm:spPr/>
    </dgm:pt>
    <dgm:pt modelId="{F745530F-1F67-FF40-B0C0-7170B1D0D2B4}" type="pres">
      <dgm:prSet presAssocID="{3E1D522B-3C0E-E941-B922-986A9B4BF9A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A64A424-75FE-6C4C-933F-B04BAB342F85}" type="pres">
      <dgm:prSet presAssocID="{E557A18B-FF9A-EF4D-BC6E-E58E2A8BC91C}" presName="spacer" presStyleCnt="0"/>
      <dgm:spPr/>
    </dgm:pt>
    <dgm:pt modelId="{6164F79A-8228-DF4F-8997-C200D2DD1998}" type="pres">
      <dgm:prSet presAssocID="{009BFB4C-B361-4765-8222-58046AB5368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73D5412-2643-8D44-A374-2EC76826B59C}" type="pres">
      <dgm:prSet presAssocID="{1565BA6D-E42C-4483-AFCC-111AA10CEA67}" presName="spacer" presStyleCnt="0"/>
      <dgm:spPr/>
    </dgm:pt>
    <dgm:pt modelId="{5DC6D17F-B18B-804A-B5B5-A620C64FA0C0}" type="pres">
      <dgm:prSet presAssocID="{B901FDBA-CCED-4B99-B23F-06E62EE699D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D073295-824B-3C46-8AAB-EA598B786539}" type="pres">
      <dgm:prSet presAssocID="{04A1A119-0C04-4566-8D75-87E5E135E4D2}" presName="spacer" presStyleCnt="0"/>
      <dgm:spPr/>
    </dgm:pt>
    <dgm:pt modelId="{47BA4982-BA04-F64C-B303-B0F5F63D00DC}" type="pres">
      <dgm:prSet presAssocID="{2B82170B-1C66-41D1-A187-B16DCE55BF1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D37FEBF-CF96-B147-9925-7437844B1CEF}" type="pres">
      <dgm:prSet presAssocID="{07E110B3-461B-4DFB-A728-EE9FEAE7BF4D}" presName="spacer" presStyleCnt="0"/>
      <dgm:spPr/>
    </dgm:pt>
    <dgm:pt modelId="{3F73099A-08C5-004D-A244-AC4AB6282A14}" type="pres">
      <dgm:prSet presAssocID="{79AC13D3-D6DF-4B10-9AAB-17A1E539005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7F5A21C-B5FA-2849-8DFE-2DC55039552D}" type="presOf" srcId="{687F707C-A7E2-4643-B5F1-43C14BB6D5C2}" destId="{6819C774-D668-F442-B09B-CF7D96620057}" srcOrd="0" destOrd="0" presId="urn:microsoft.com/office/officeart/2005/8/layout/vList2"/>
    <dgm:cxn modelId="{1F53CF28-9295-40E5-BB32-2FEB3796EE13}" srcId="{9ABCE116-A99B-4E37-BA11-7D3892FF983D}" destId="{009BFB4C-B361-4765-8222-58046AB53686}" srcOrd="2" destOrd="0" parTransId="{B877CEE0-6CDF-4C4A-A101-AEC004532064}" sibTransId="{1565BA6D-E42C-4483-AFCC-111AA10CEA67}"/>
    <dgm:cxn modelId="{78344B68-1F62-4327-A530-1C458BC956AA}" srcId="{9ABCE116-A99B-4E37-BA11-7D3892FF983D}" destId="{79AC13D3-D6DF-4B10-9AAB-17A1E5390052}" srcOrd="5" destOrd="0" parTransId="{1B7B5D15-9EDF-48C3-B224-E067263FA0EA}" sibTransId="{98F1F43F-F31C-4BBC-BDAE-E22AE1498F26}"/>
    <dgm:cxn modelId="{9BFCC775-FC0E-494E-9304-B4A7AEF8B3E5}" type="presOf" srcId="{79AC13D3-D6DF-4B10-9AAB-17A1E5390052}" destId="{3F73099A-08C5-004D-A244-AC4AB6282A14}" srcOrd="0" destOrd="0" presId="urn:microsoft.com/office/officeart/2005/8/layout/vList2"/>
    <dgm:cxn modelId="{82A43377-5E7C-4B33-9385-B7EA56F0E14F}" srcId="{9ABCE116-A99B-4E37-BA11-7D3892FF983D}" destId="{B901FDBA-CCED-4B99-B23F-06E62EE699D4}" srcOrd="3" destOrd="0" parTransId="{37441144-632B-4EDD-9952-39BFBA7F8325}" sibTransId="{04A1A119-0C04-4566-8D75-87E5E135E4D2}"/>
    <dgm:cxn modelId="{FEAB8B59-313B-4150-8052-90686FEA27E0}" srcId="{9ABCE116-A99B-4E37-BA11-7D3892FF983D}" destId="{687F707C-A7E2-4643-B5F1-43C14BB6D5C2}" srcOrd="0" destOrd="0" parTransId="{E3C4EF72-BD2D-4E77-94B3-2E7FFA1FCFA6}" sibTransId="{94756FBB-2138-4A36-9E1B-7D18FC978BA7}"/>
    <dgm:cxn modelId="{B61FFE5A-0B76-FD4C-A399-3833252AA931}" type="presOf" srcId="{2B82170B-1C66-41D1-A187-B16DCE55BF19}" destId="{47BA4982-BA04-F64C-B303-B0F5F63D00DC}" srcOrd="0" destOrd="0" presId="urn:microsoft.com/office/officeart/2005/8/layout/vList2"/>
    <dgm:cxn modelId="{8507FD8C-3BC8-6B48-8E29-B497F1F46B5A}" type="presOf" srcId="{009BFB4C-B361-4765-8222-58046AB53686}" destId="{6164F79A-8228-DF4F-8997-C200D2DD1998}" srcOrd="0" destOrd="0" presId="urn:microsoft.com/office/officeart/2005/8/layout/vList2"/>
    <dgm:cxn modelId="{4BDB998F-A65B-024D-9BDC-84178A47B58B}" type="presOf" srcId="{3E1D522B-3C0E-E941-B922-986A9B4BF9A2}" destId="{F745530F-1F67-FF40-B0C0-7170B1D0D2B4}" srcOrd="0" destOrd="0" presId="urn:microsoft.com/office/officeart/2005/8/layout/vList2"/>
    <dgm:cxn modelId="{C323D6A3-267C-BB41-8C41-01965B462FC8}" srcId="{9ABCE116-A99B-4E37-BA11-7D3892FF983D}" destId="{3E1D522B-3C0E-E941-B922-986A9B4BF9A2}" srcOrd="1" destOrd="0" parTransId="{04B74EF6-0B1A-2C4A-BD78-835DB8BB7D5B}" sibTransId="{E557A18B-FF9A-EF4D-BC6E-E58E2A8BC91C}"/>
    <dgm:cxn modelId="{29D3C0AE-F130-4129-A97D-F9AED2697BA3}" srcId="{9ABCE116-A99B-4E37-BA11-7D3892FF983D}" destId="{2B82170B-1C66-41D1-A187-B16DCE55BF19}" srcOrd="4" destOrd="0" parTransId="{EAE7C50D-D864-4A72-98F0-40DD664DBA69}" sibTransId="{07E110B3-461B-4DFB-A728-EE9FEAE7BF4D}"/>
    <dgm:cxn modelId="{E3F3BCB6-E582-8E4D-8D41-1C54D02F8E1A}" type="presOf" srcId="{B901FDBA-CCED-4B99-B23F-06E62EE699D4}" destId="{5DC6D17F-B18B-804A-B5B5-A620C64FA0C0}" srcOrd="0" destOrd="0" presId="urn:microsoft.com/office/officeart/2005/8/layout/vList2"/>
    <dgm:cxn modelId="{B914D7EB-4AF6-0A4E-8DE4-E4A06EC0B293}" type="presOf" srcId="{9ABCE116-A99B-4E37-BA11-7D3892FF983D}" destId="{7FE8207A-C0CA-6B4B-8C2F-5F927E4CE048}" srcOrd="0" destOrd="0" presId="urn:microsoft.com/office/officeart/2005/8/layout/vList2"/>
    <dgm:cxn modelId="{86B329BC-E217-DA49-950B-8CA941F79E9B}" type="presParOf" srcId="{7FE8207A-C0CA-6B4B-8C2F-5F927E4CE048}" destId="{6819C774-D668-F442-B09B-CF7D96620057}" srcOrd="0" destOrd="0" presId="urn:microsoft.com/office/officeart/2005/8/layout/vList2"/>
    <dgm:cxn modelId="{D84D1F5F-389A-654C-B8C5-E981E8A62881}" type="presParOf" srcId="{7FE8207A-C0CA-6B4B-8C2F-5F927E4CE048}" destId="{CFA6477E-0AC5-EE44-8607-B0562D04613A}" srcOrd="1" destOrd="0" presId="urn:microsoft.com/office/officeart/2005/8/layout/vList2"/>
    <dgm:cxn modelId="{9947DED8-D42E-1F46-BCF4-451B4A069AE7}" type="presParOf" srcId="{7FE8207A-C0CA-6B4B-8C2F-5F927E4CE048}" destId="{F745530F-1F67-FF40-B0C0-7170B1D0D2B4}" srcOrd="2" destOrd="0" presId="urn:microsoft.com/office/officeart/2005/8/layout/vList2"/>
    <dgm:cxn modelId="{23D7F749-5476-1640-9204-DD3EF6190524}" type="presParOf" srcId="{7FE8207A-C0CA-6B4B-8C2F-5F927E4CE048}" destId="{6A64A424-75FE-6C4C-933F-B04BAB342F85}" srcOrd="3" destOrd="0" presId="urn:microsoft.com/office/officeart/2005/8/layout/vList2"/>
    <dgm:cxn modelId="{66AD9499-4417-A34B-8362-2AC940478F10}" type="presParOf" srcId="{7FE8207A-C0CA-6B4B-8C2F-5F927E4CE048}" destId="{6164F79A-8228-DF4F-8997-C200D2DD1998}" srcOrd="4" destOrd="0" presId="urn:microsoft.com/office/officeart/2005/8/layout/vList2"/>
    <dgm:cxn modelId="{08F2CD8B-1D4F-714B-B653-DC7870FBCC77}" type="presParOf" srcId="{7FE8207A-C0CA-6B4B-8C2F-5F927E4CE048}" destId="{873D5412-2643-8D44-A374-2EC76826B59C}" srcOrd="5" destOrd="0" presId="urn:microsoft.com/office/officeart/2005/8/layout/vList2"/>
    <dgm:cxn modelId="{76AB4981-0FE2-A042-814D-B3809B61A80A}" type="presParOf" srcId="{7FE8207A-C0CA-6B4B-8C2F-5F927E4CE048}" destId="{5DC6D17F-B18B-804A-B5B5-A620C64FA0C0}" srcOrd="6" destOrd="0" presId="urn:microsoft.com/office/officeart/2005/8/layout/vList2"/>
    <dgm:cxn modelId="{52AE9DCA-EB13-EE4E-916E-E2159CEF31B7}" type="presParOf" srcId="{7FE8207A-C0CA-6B4B-8C2F-5F927E4CE048}" destId="{4D073295-824B-3C46-8AAB-EA598B786539}" srcOrd="7" destOrd="0" presId="urn:microsoft.com/office/officeart/2005/8/layout/vList2"/>
    <dgm:cxn modelId="{EEA66DBD-3038-6446-98BB-10BF56ADD83C}" type="presParOf" srcId="{7FE8207A-C0CA-6B4B-8C2F-5F927E4CE048}" destId="{47BA4982-BA04-F64C-B303-B0F5F63D00DC}" srcOrd="8" destOrd="0" presId="urn:microsoft.com/office/officeart/2005/8/layout/vList2"/>
    <dgm:cxn modelId="{E412E097-57EE-B643-A935-D2709477BBC5}" type="presParOf" srcId="{7FE8207A-C0CA-6B4B-8C2F-5F927E4CE048}" destId="{1D37FEBF-CF96-B147-9925-7437844B1CEF}" srcOrd="9" destOrd="0" presId="urn:microsoft.com/office/officeart/2005/8/layout/vList2"/>
    <dgm:cxn modelId="{3DA44DA9-B36B-9546-8BFC-0CAC2E0A1406}" type="presParOf" srcId="{7FE8207A-C0CA-6B4B-8C2F-5F927E4CE048}" destId="{3F73099A-08C5-004D-A244-AC4AB6282A1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9C774-D668-F442-B09B-CF7D96620057}">
      <dsp:nvSpPr>
        <dsp:cNvPr id="0" name=""/>
        <dsp:cNvSpPr/>
      </dsp:nvSpPr>
      <dsp:spPr>
        <a:xfrm>
          <a:off x="0" y="123810"/>
          <a:ext cx="5111751" cy="421200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التزام المواعيد</a:t>
          </a:r>
          <a:r>
            <a:rPr lang="ar-EG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144371"/>
        <a:ext cx="5070629" cy="380078"/>
      </dsp:txXfrm>
    </dsp:sp>
    <dsp:sp modelId="{6164F79A-8228-DF4F-8997-C200D2DD1998}">
      <dsp:nvSpPr>
        <dsp:cNvPr id="0" name=""/>
        <dsp:cNvSpPr/>
      </dsp:nvSpPr>
      <dsp:spPr>
        <a:xfrm>
          <a:off x="0" y="596850"/>
          <a:ext cx="5111751" cy="42120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الحضور المنتظم</a:t>
          </a:r>
          <a:r>
            <a:rPr lang="ar-EG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617411"/>
        <a:ext cx="5070629" cy="380078"/>
      </dsp:txXfrm>
    </dsp:sp>
    <dsp:sp modelId="{5DC6D17F-B18B-804A-B5B5-A620C64FA0C0}">
      <dsp:nvSpPr>
        <dsp:cNvPr id="0" name=""/>
        <dsp:cNvSpPr/>
      </dsp:nvSpPr>
      <dsp:spPr>
        <a:xfrm>
          <a:off x="0" y="1069890"/>
          <a:ext cx="5111751" cy="421200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الإبلاغ الفوري عن الحوادث والمشكلات</a:t>
          </a:r>
          <a:r>
            <a:rPr lang="ar-EG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a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1090451"/>
        <a:ext cx="5070629" cy="380078"/>
      </dsp:txXfrm>
    </dsp:sp>
    <dsp:sp modelId="{47BA4982-BA04-F64C-B303-B0F5F63D00DC}">
      <dsp:nvSpPr>
        <dsp:cNvPr id="0" name=""/>
        <dsp:cNvSpPr/>
      </dsp:nvSpPr>
      <dsp:spPr>
        <a:xfrm>
          <a:off x="0" y="1542930"/>
          <a:ext cx="5111751" cy="42120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القدرة على اتباع التعليمات</a:t>
          </a:r>
          <a:r>
            <a:rPr lang="ar-EG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1563491"/>
        <a:ext cx="5070629" cy="380078"/>
      </dsp:txXfrm>
    </dsp:sp>
    <dsp:sp modelId="{3F73099A-08C5-004D-A244-AC4AB6282A14}">
      <dsp:nvSpPr>
        <dsp:cNvPr id="0" name=""/>
        <dsp:cNvSpPr/>
      </dsp:nvSpPr>
      <dsp:spPr>
        <a:xfrm>
          <a:off x="0" y="2015970"/>
          <a:ext cx="5111751" cy="421200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الاستجابة للنقد البنّاء</a:t>
          </a:r>
          <a:r>
            <a:rPr lang="ar-EG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2036531"/>
        <a:ext cx="5070629" cy="380078"/>
      </dsp:txXfrm>
    </dsp:sp>
    <dsp:sp modelId="{3C72BDAA-C2FC-AE4A-A5CF-0A18BADAD124}">
      <dsp:nvSpPr>
        <dsp:cNvPr id="0" name=""/>
        <dsp:cNvSpPr/>
      </dsp:nvSpPr>
      <dsp:spPr>
        <a:xfrm>
          <a:off x="0" y="2489010"/>
          <a:ext cx="5111751" cy="42120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التعاون مع الآخرين/ مع الزملاء في فرق العمل</a:t>
          </a:r>
          <a:r>
            <a:rPr lang="ar-EG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2509571"/>
        <a:ext cx="5070629" cy="380078"/>
      </dsp:txXfrm>
    </dsp:sp>
    <dsp:sp modelId="{B8C2D912-1016-0C4E-B274-58EA5F1D9203}">
      <dsp:nvSpPr>
        <dsp:cNvPr id="0" name=""/>
        <dsp:cNvSpPr/>
      </dsp:nvSpPr>
      <dsp:spPr>
        <a:xfrm>
          <a:off x="0" y="2962050"/>
          <a:ext cx="5111751" cy="421200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إنجاز المهام</a:t>
          </a:r>
          <a:r>
            <a:rPr lang="ar-EG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2982611"/>
        <a:ext cx="5070629" cy="380078"/>
      </dsp:txXfrm>
    </dsp:sp>
    <dsp:sp modelId="{D44CC7E7-791B-1041-A881-AB59254115C7}">
      <dsp:nvSpPr>
        <dsp:cNvPr id="0" name=""/>
        <dsp:cNvSpPr/>
      </dsp:nvSpPr>
      <dsp:spPr>
        <a:xfrm>
          <a:off x="0" y="3435090"/>
          <a:ext cx="5111751" cy="42120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rtlCol="1" anchor="ctr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الوعي بسلامتك وسلامة الآخرين</a:t>
          </a:r>
          <a:r>
            <a:rPr lang="ar-EG" sz="1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7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3455651"/>
        <a:ext cx="5070629" cy="380078"/>
      </dsp:txXfrm>
    </dsp:sp>
    <dsp:sp modelId="{21AB54C5-2A85-524E-9CE4-10DCB9D228EE}">
      <dsp:nvSpPr>
        <dsp:cNvPr id="0" name=""/>
        <dsp:cNvSpPr/>
      </dsp:nvSpPr>
      <dsp:spPr>
        <a:xfrm>
          <a:off x="0" y="3908130"/>
          <a:ext cx="5111751" cy="421200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فهم حدود الدور الشخصي</a:t>
          </a:r>
          <a:r>
            <a:rPr lang="ar-EG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ar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61" y="3928691"/>
        <a:ext cx="5070629" cy="380078"/>
      </dsp:txXfrm>
    </dsp:sp>
    <dsp:sp modelId="{2FE4BB76-CBC5-0C40-B2FC-93DE28F93D17}">
      <dsp:nvSpPr>
        <dsp:cNvPr id="0" name=""/>
        <dsp:cNvSpPr/>
      </dsp:nvSpPr>
      <dsp:spPr>
        <a:xfrm>
          <a:off x="0" y="4381170"/>
          <a:ext cx="5111751" cy="42120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التفاعل مع الأفراد مُتلقي الخدمات.</a:t>
          </a:r>
        </a:p>
      </dsp:txBody>
      <dsp:txXfrm>
        <a:off x="20561" y="4401731"/>
        <a:ext cx="5070629" cy="3800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9C774-D668-F442-B09B-CF7D96620057}">
      <dsp:nvSpPr>
        <dsp:cNvPr id="0" name=""/>
        <dsp:cNvSpPr/>
      </dsp:nvSpPr>
      <dsp:spPr>
        <a:xfrm>
          <a:off x="0" y="55410"/>
          <a:ext cx="4334367" cy="71136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1" anchor="ctr" anchorCtr="0">
          <a:noAutofit/>
        </a:bodyPr>
        <a:lstStyle/>
        <a:p>
          <a:pPr marL="0" lvl="0" indent="0" algn="ct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فئات مختلفة من الأفراد مُتلقي الخدمات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26" y="90136"/>
        <a:ext cx="4264915" cy="641908"/>
      </dsp:txXfrm>
    </dsp:sp>
    <dsp:sp modelId="{F745530F-1F67-FF40-B0C0-7170B1D0D2B4}">
      <dsp:nvSpPr>
        <dsp:cNvPr id="0" name=""/>
        <dsp:cNvSpPr/>
      </dsp:nvSpPr>
      <dsp:spPr>
        <a:xfrm>
          <a:off x="0" y="876210"/>
          <a:ext cx="4334367" cy="711360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الرضع (من 0-3 سنوات)</a:t>
          </a:r>
          <a:r>
            <a:rPr lang="ar-EG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GB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26" y="910936"/>
        <a:ext cx="4264915" cy="641908"/>
      </dsp:txXfrm>
    </dsp:sp>
    <dsp:sp modelId="{6164F79A-8228-DF4F-8997-C200D2DD1998}">
      <dsp:nvSpPr>
        <dsp:cNvPr id="0" name=""/>
        <dsp:cNvSpPr/>
      </dsp:nvSpPr>
      <dsp:spPr>
        <a:xfrm>
          <a:off x="0" y="1697010"/>
          <a:ext cx="4334367" cy="71136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الأطفال (من 4 إلى 10 سنوات)</a:t>
          </a:r>
          <a:r>
            <a:rPr lang="ar-EG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26" y="1731736"/>
        <a:ext cx="4264915" cy="641908"/>
      </dsp:txXfrm>
    </dsp:sp>
    <dsp:sp modelId="{5DC6D17F-B18B-804A-B5B5-A620C64FA0C0}">
      <dsp:nvSpPr>
        <dsp:cNvPr id="0" name=""/>
        <dsp:cNvSpPr/>
      </dsp:nvSpPr>
      <dsp:spPr>
        <a:xfrm>
          <a:off x="0" y="2517810"/>
          <a:ext cx="4334367" cy="711360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المراهقون (من 11 إلى 18 سنة)</a:t>
          </a:r>
          <a:r>
            <a:rPr lang="ar-EG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26" y="2552536"/>
        <a:ext cx="4264915" cy="641908"/>
      </dsp:txXfrm>
    </dsp:sp>
    <dsp:sp modelId="{47BA4982-BA04-F64C-B303-B0F5F63D00DC}">
      <dsp:nvSpPr>
        <dsp:cNvPr id="0" name=""/>
        <dsp:cNvSpPr/>
      </dsp:nvSpPr>
      <dsp:spPr>
        <a:xfrm>
          <a:off x="0" y="3338610"/>
          <a:ext cx="4334367" cy="71136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البالغون (من 19 إلى 64 سنة)</a:t>
          </a:r>
          <a:r>
            <a:rPr lang="ar-EG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26" y="3373336"/>
        <a:ext cx="4264915" cy="641908"/>
      </dsp:txXfrm>
    </dsp:sp>
    <dsp:sp modelId="{3F73099A-08C5-004D-A244-AC4AB6282A14}">
      <dsp:nvSpPr>
        <dsp:cNvPr id="0" name=""/>
        <dsp:cNvSpPr/>
      </dsp:nvSpPr>
      <dsp:spPr>
        <a:xfrm>
          <a:off x="0" y="4159410"/>
          <a:ext cx="4334367" cy="711360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كبار السن (65 سنة فأكثر).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26" y="4194136"/>
        <a:ext cx="4264915" cy="641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BAA5BC-A9B8-C36D-8F0A-E2155FFCA3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AE051-C6BA-26BA-CCDA-1D27F9911E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FB7D1C25-2465-4CCC-8AD1-79A088F63130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21011-AFB3-EDC1-EE95-9EBBBC3B0D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C167F-AF8E-52B8-1733-1105F253C0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0D9491DC-8778-4E64-9451-80C0023349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52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algn="l" rtl="1"/>
            <a:r>
              <a:rPr lang="ar" sz="1200" b="1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AL1541612</a:t>
            </a:r>
            <a:endParaRPr lang="en-GB" b="1" i="0" u="none" strike="noStrike" dirty="0">
              <a:solidFill>
                <a:srgbClr val="444444"/>
              </a:solidFill>
              <a:effectLst/>
              <a:latin typeface="var(--s-section-title-text-font-family)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76243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93959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F29C-60F7-E1F0-AE41-5D885457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51B65633-FCED-66C9-3BA4-DE4A782C6F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DF231252-95A1-4000-F22A-64821FD97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6550F044-16E4-EA92-AF18-35300F7D3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68539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25913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830FD-DF59-6A36-6524-2FDA3023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E3672729-1D74-AB1C-7B17-9D8C80EAC9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F7681C9-3662-8EB3-E82B-ED0F5390E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B40B842A-CE0A-1EB2-9632-7FB7E847A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77447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00726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49033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600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58076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01609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04012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FD73-0F13-87A8-F15D-A295D5AF5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5F255C3D-3C20-6778-CD51-BA6709CC1E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B9290F4-6C96-BE3D-3463-7166927E0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0" i="0" u="none" strike="noStrike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AL2022205</a:t>
            </a:r>
            <a:r>
              <a:rPr lang="ar"/>
              <a:t> </a:t>
            </a: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0BA698A5-E5F1-0630-D389-422FE2A32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7381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85879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B2A6-3AC4-4485-5B73-32756249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ED6690FD-CBCA-AA86-8C83-22C4A4EB12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828165B4-619B-132D-455E-1B71058C7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9710451C-E3AA-5FF5-774B-55EDE28F4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38843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9B0E7-1B0E-EC88-27F7-B74D59469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3E445FD-498A-3AE6-8190-9FD3B1C63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C7842985-9436-2C35-101A-6752F4FAA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0" i="0" u="none" strike="noStrike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AL1452738</a:t>
            </a:r>
            <a:r>
              <a:rPr lang="ar"/>
              <a:t> </a:t>
            </a: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9C898923-2994-595B-5AA4-0847D1B00E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9732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6357-BEBC-95EF-11BF-E2D02338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F82759D6-3B3B-17FA-FD0F-018FA58F0A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77813E3D-533B-227C-4297-3E04B9809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0" i="0" u="none" strike="noStrike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AL1452738</a:t>
            </a:r>
            <a:r>
              <a:rPr lang="ar"/>
              <a:t> </a:t>
            </a: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0DB6E8-67B1-5531-046A-B8354B4EF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34315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0" i="0" u="none" strike="noStrike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AL1278803</a:t>
            </a:r>
            <a:r>
              <a:rPr lang="ar"/>
              <a:t> </a:t>
            </a:r>
            <a:endParaRPr lang="en-GB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35473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6C44-D67F-5B24-BA88-7C14CEDA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DDED303C-BCFC-6573-300A-FCC738E8D1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DA49D79E-112C-AD3F-CAB8-29F475DF5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0" i="0" u="none" strike="noStrike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AL1278803</a:t>
            </a:r>
            <a:r>
              <a:rPr lang="ar"/>
              <a:t> </a:t>
            </a:r>
            <a:endParaRPr lang="en-GB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90FC483E-1B84-B72C-9EE5-C74B6B5B2A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16181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957142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98F5-1A52-D61C-A83E-C371FBB7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D57E7D6-BF4E-1E48-1E5D-4267ECF252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88DAEE39-1940-4F9B-CCC7-8F8F7F163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52065479-004C-887B-C15C-D2AAEECCC3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743677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994859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b="1" i="0" u="none" strike="noStrike">
                <a:effectLst/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249613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B3DE-977C-7F82-12E5-D63894A5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B190F3C-DBF6-FAD5-064E-55358C254D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4A08FD0-4FE9-BD09-3FA4-C884C588A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D963FC9A-984A-2E09-034A-5FC662380F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51403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E60BF-E65A-97CF-52D2-D0F30A6C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52102446-D041-E8BE-ED82-23F69AEF54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B27FD588-A984-7B80-E621-489050286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b="1" i="0" u="none" strike="noStrike">
                <a:effectLst/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B589F2D-33D2-A5CF-0C96-CDF64A2CBE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224596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4916B-D912-514B-5D8D-981411BF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4BD50E3-1813-046F-EB61-E8E6988F67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940ADE36-AFEB-6E2F-BABC-A2682C7CE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CB6A0C54-DED5-5FC7-E402-3734F4165E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048508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846C-7F17-170A-2050-80015B23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5A7F032F-31F5-C9B6-1EEE-D073998A3A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7F16BA06-1A38-0274-E853-E50F2561D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2E2DC31B-520B-1CA4-BD33-D6F0739687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5546795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69DC-2191-D229-DBCB-680CD6798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622DAB99-B0A3-6D4D-DBC4-D5CE83050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A250B299-7952-9FF0-2D29-5140BC0B7B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5F3BC6E4-3DA4-5B5E-881A-D2F4B47EBC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83955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2261D-0C4F-DC89-EF06-19057A2A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E3DB636-73F9-03FA-1D3D-D042A966BC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95317689-6C92-6023-A866-0DDA1806A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/>
              <a:t> </a:t>
            </a: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3D820F49-D884-0A94-705A-907D75431A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294143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98F5-1A52-D61C-A83E-C371FBB7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D57E7D6-BF4E-1E48-1E5D-4267ECF252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88DAEE39-1940-4F9B-CCC7-8F8F7F163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52065479-004C-887B-C15C-D2AAEECCC3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743677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88E2-489E-1674-828A-4B0375D5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5C90619-D921-C10C-E4BD-CA488C339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69E2DF8-89CA-9F20-A91F-38D9081C5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523A658-FC93-0217-63E3-198A77E86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850289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3440C-D4CC-A0BF-D6E6-8E131126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823ADEFE-7B99-458F-56F8-556BC5202A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91016581-B40F-F864-8A40-6FEBB1F51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31AE5765-A974-424D-5D2F-F3D97722A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30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502919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CFDF7-A2C7-D1C3-97FD-FD2C892B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4F7E8B56-3140-D6AA-1DBA-64320E8824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B5360BAC-BC1F-E9FC-7C48-CEB50641E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E0643DCC-A09E-7836-FD89-66B68C7F62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31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987656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214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31324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04925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27089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9772700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54089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538709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4077996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60455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494557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240118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696440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084674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583960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1687068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82738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7463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86515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1601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15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150173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88785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494968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04946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5799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23134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502595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641484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05782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348497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634887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7713983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91334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736936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520529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44308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635048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1547283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66328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59867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511092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88982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196636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70722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96624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01142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663959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70731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3131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2894497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562865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pn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5" Type="http://schemas.openxmlformats.org/officeDocument/2006/relationships/image" Target="../media/image12.png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audio" Target="../media/audio1.bin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0.xml"/><Relationship Id="rId15" Type="http://schemas.openxmlformats.org/officeDocument/2006/relationships/image" Target="../media/image13.png"/><Relationship Id="rId10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Relationship Id="rId14" Type="http://schemas.openxmlformats.org/officeDocument/2006/relationships/audio" Target="../media/audio1.bin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49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2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6.xml"/><Relationship Id="rId1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8.xml"/><Relationship Id="rId13" Type="http://schemas.openxmlformats.org/officeDocument/2006/relationships/slideLayout" Target="../slideLayouts/slideLayout173.xml"/><Relationship Id="rId3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7.xml"/><Relationship Id="rId12" Type="http://schemas.openxmlformats.org/officeDocument/2006/relationships/slideLayout" Target="../slideLayouts/slideLayout172.xml"/><Relationship Id="rId2" Type="http://schemas.openxmlformats.org/officeDocument/2006/relationships/slideLayout" Target="../slideLayouts/slideLayout16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6.xml"/><Relationship Id="rId11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65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4.xml"/><Relationship Id="rId9" Type="http://schemas.openxmlformats.org/officeDocument/2006/relationships/slideLayout" Target="../slideLayouts/slideLayout169.xml"/><Relationship Id="rId14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84E05-9E1C-E490-9AFD-934E80BEE90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112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8BF29-9A3B-CF6C-9FC1-DF71046C076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7384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0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  <p:sldLayoutId id="2147484937" r:id="rId5"/>
    <p:sldLayoutId id="2147484938" r:id="rId6"/>
    <p:sldLayoutId id="2147484939" r:id="rId7"/>
    <p:sldLayoutId id="2147484940" r:id="rId8"/>
    <p:sldLayoutId id="2147484941" r:id="rId9"/>
    <p:sldLayoutId id="2147484942" r:id="rId10"/>
    <p:sldLayoutId id="2147484943" r:id="rId11"/>
    <p:sldLayoutId id="2147484944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28300-C9A3-A6C9-BCC9-A9F536AAE61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6" r:id="rId1"/>
    <p:sldLayoutId id="2147484947" r:id="rId2"/>
    <p:sldLayoutId id="2147484948" r:id="rId3"/>
    <p:sldLayoutId id="2147484949" r:id="rId4"/>
    <p:sldLayoutId id="2147484950" r:id="rId5"/>
    <p:sldLayoutId id="2147484951" r:id="rId6"/>
    <p:sldLayoutId id="2147484952" r:id="rId7"/>
    <p:sldLayoutId id="2147484953" r:id="rId8"/>
    <p:sldLayoutId id="2147484954" r:id="rId9"/>
    <p:sldLayoutId id="2147484955" r:id="rId10"/>
    <p:sldLayoutId id="2147484956" r:id="rId11"/>
    <p:sldLayoutId id="2147484957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44E42-22D5-3C44-D060-73B1D9BC95A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9144000" cy="10763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4588F5-7AA0-FB9C-91FA-11498DE40E1A}"/>
              </a:ext>
            </a:extLst>
          </p:cNvPr>
          <p:cNvSpPr txBox="1"/>
          <p:nvPr userDrawn="1"/>
        </p:nvSpPr>
        <p:spPr>
          <a:xfrm>
            <a:off x="57434" y="85568"/>
            <a:ext cx="5437022" cy="857542"/>
          </a:xfrm>
          <a:prstGeom prst="rect">
            <a:avLst/>
          </a:prstGeom>
          <a:solidFill>
            <a:srgbClr val="E0A6CE"/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ar-EG" sz="22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شهادة </a:t>
            </a:r>
            <a:r>
              <a:rPr lang="en-US" sz="22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BTEC International</a:t>
            </a:r>
            <a:r>
              <a:rPr lang="ar-EG" sz="22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للمستوى 2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lang="ar-EG" sz="22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الرعاية الصحيّة والاجتماعية</a:t>
            </a:r>
            <a:endParaRPr lang="en-US" sz="2200" b="1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41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9" r:id="rId1"/>
    <p:sldLayoutId id="2147484960" r:id="rId2"/>
    <p:sldLayoutId id="2147484961" r:id="rId3"/>
    <p:sldLayoutId id="2147484962" r:id="rId4"/>
    <p:sldLayoutId id="2147484963" r:id="rId5"/>
    <p:sldLayoutId id="2147484964" r:id="rId6"/>
    <p:sldLayoutId id="2147484965" r:id="rId7"/>
    <p:sldLayoutId id="2147484966" r:id="rId8"/>
    <p:sldLayoutId id="2147484967" r:id="rId9"/>
    <p:sldLayoutId id="2147484968" r:id="rId10"/>
    <p:sldLayoutId id="2147484969" r:id="rId11"/>
    <p:sldLayoutId id="2147484970" r:id="rId12"/>
    <p:sldLayoutId id="2147484985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84CCC-2836-BEFD-D3FA-58984FD4102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4089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4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2" r:id="rId1"/>
    <p:sldLayoutId id="2147484973" r:id="rId2"/>
    <p:sldLayoutId id="2147484974" r:id="rId3"/>
    <p:sldLayoutId id="2147484975" r:id="rId4"/>
    <p:sldLayoutId id="2147484976" r:id="rId5"/>
    <p:sldLayoutId id="2147484977" r:id="rId6"/>
    <p:sldLayoutId id="2147484978" r:id="rId7"/>
    <p:sldLayoutId id="2147484979" r:id="rId8"/>
    <p:sldLayoutId id="2147484980" r:id="rId9"/>
    <p:sldLayoutId id="2147484981" r:id="rId10"/>
    <p:sldLayoutId id="2147484982" r:id="rId11"/>
    <p:sldLayoutId id="2147484983" r:id="rId12"/>
    <p:sldLayoutId id="214748498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8.xml"/><Relationship Id="rId4" Type="http://schemas.openxmlformats.org/officeDocument/2006/relationships/image" Target="../media/image1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audio" Target="../media/audio1.bin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audio" Target="../media/audio1.bin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9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audio" Target="../media/audio1.bin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5.xml"/><Relationship Id="rId6" Type="http://schemas.openxmlformats.org/officeDocument/2006/relationships/image" Target="../media/image31.png"/><Relationship Id="rId11" Type="http://schemas.openxmlformats.org/officeDocument/2006/relationships/image" Target="../media/image34.svg"/><Relationship Id="rId5" Type="http://schemas.openxmlformats.org/officeDocument/2006/relationships/image" Target="../media/image30.sv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0.xml"/><Relationship Id="rId4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0.xml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0.xml"/><Relationship Id="rId4" Type="http://schemas.openxmlformats.org/officeDocument/2006/relationships/image" Target="../media/image3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audio" Target="../media/audio1.bin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5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0.svg"/><Relationship Id="rId10" Type="http://schemas.openxmlformats.org/officeDocument/2006/relationships/image" Target="../media/image42.png"/><Relationship Id="rId4" Type="http://schemas.openxmlformats.org/officeDocument/2006/relationships/image" Target="../media/image29.png"/><Relationship Id="rId9" Type="http://schemas.openxmlformats.org/officeDocument/2006/relationships/image" Target="../media/image41.sv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audio" Target="../media/audio1.bin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5.xml"/><Relationship Id="rId6" Type="http://schemas.openxmlformats.org/officeDocument/2006/relationships/image" Target="../media/image46.png"/><Relationship Id="rId11" Type="http://schemas.openxmlformats.org/officeDocument/2006/relationships/image" Target="../media/image51.svg"/><Relationship Id="rId5" Type="http://schemas.openxmlformats.org/officeDocument/2006/relationships/image" Target="../media/image45.sv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sv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5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268760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الوحدة 5: الخبرة المهنية في مجال الرعاية الصحيّة والاجتماعية </a:t>
            </a:r>
            <a:b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EA0AF-56DE-87FF-BF13-649892315674}"/>
              </a:ext>
            </a:extLst>
          </p:cNvPr>
          <p:cNvSpPr txBox="1"/>
          <p:nvPr/>
        </p:nvSpPr>
        <p:spPr>
          <a:xfrm>
            <a:off x="-324544" y="6273225"/>
            <a:ext cx="842493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 حقوق التأليف والنشر لعام 2025 محفوظة لشركة بيرسون إديوكيشن ليمتد. يُسمح بالنسخ للمؤسسة المشترية فقط. </a:t>
            </a:r>
          </a:p>
          <a:p>
            <a:pPr rtl="1"/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A12F0-927A-49A5-B43E-65550ED18A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696" y="2996952"/>
            <a:ext cx="5328592" cy="29002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1B6681-8B79-241C-7073-304A8E592F87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1577" y="1484784"/>
            <a:ext cx="8640960" cy="7214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الخبرة المهنية في مجال الرعاية الصحيّة والاجتماعية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2420888"/>
            <a:ext cx="8424935" cy="324036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ستتعلم في هذه الوحدة: </a:t>
            </a: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الاستعداد لإنجاز خبرة مهنية (تدريب عملي) في مجال الرعاية الصحيّة والاجتماعية.</a:t>
            </a: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المشاركة في مقابلة حقيقية أو محاكاة لمقابلة من أجل الحصول على تدريب عملي مناسب</a:t>
            </a:r>
            <a:r>
              <a:rPr lang="ar-E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قضاء حد أدنى مقداره 20 ساعة في مجال الرعاية الصحيّة والاجتماعية الحقيقي، والتعاون مع مُتلقي مختلف الخدمات.</a:t>
            </a: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التفكير في أدائك خلال مدة التدريب العملي.</a:t>
            </a: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تقديم توصيات لتحسين أدائك الذاتي مستقبلًا.</a:t>
            </a: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68C4CC-B6BA-C7EF-7D35-3FF7F07E03A4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15C3-2163-B9EE-9B6E-E9AB2B04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BE43A64-630B-33D8-60B0-723B68362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64962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كيف تُقيَّم الوحدة 5؟</a:t>
            </a:r>
            <a:endParaRPr lang="en-GB" altLang="en-US" sz="20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24C1DE-04C5-EC78-3C03-8F9775630956}"/>
              </a:ext>
            </a:extLst>
          </p:cNvPr>
          <p:cNvGrpSpPr/>
          <p:nvPr/>
        </p:nvGrpSpPr>
        <p:grpSpPr>
          <a:xfrm flipH="1">
            <a:off x="1683450" y="1857993"/>
            <a:ext cx="6548978" cy="4307310"/>
            <a:chOff x="911572" y="1857993"/>
            <a:chExt cx="6548978" cy="430731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11362B4-A57F-ED5F-5198-0EF47EB9BBF2}"/>
                </a:ext>
              </a:extLst>
            </p:cNvPr>
            <p:cNvSpPr/>
            <p:nvPr/>
          </p:nvSpPr>
          <p:spPr>
            <a:xfrm rot="21600000">
              <a:off x="1943751" y="1872632"/>
              <a:ext cx="5411041" cy="1052813"/>
            </a:xfrm>
            <a:custGeom>
              <a:avLst/>
              <a:gdLst>
                <a:gd name="connsiteX0" fmla="*/ 0 w 5411041"/>
                <a:gd name="connsiteY0" fmla="*/ 0 h 1052811"/>
                <a:gd name="connsiteX1" fmla="*/ 4884636 w 5411041"/>
                <a:gd name="connsiteY1" fmla="*/ 0 h 1052811"/>
                <a:gd name="connsiteX2" fmla="*/ 5411041 w 5411041"/>
                <a:gd name="connsiteY2" fmla="*/ 526406 h 1052811"/>
                <a:gd name="connsiteX3" fmla="*/ 4884636 w 5411041"/>
                <a:gd name="connsiteY3" fmla="*/ 1052811 h 1052811"/>
                <a:gd name="connsiteX4" fmla="*/ 0 w 5411041"/>
                <a:gd name="connsiteY4" fmla="*/ 1052811 h 1052811"/>
                <a:gd name="connsiteX5" fmla="*/ 0 w 5411041"/>
                <a:gd name="connsiteY5" fmla="*/ 0 h 105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1041" h="1052811">
                  <a:moveTo>
                    <a:pt x="5411041" y="1052810"/>
                  </a:moveTo>
                  <a:lnTo>
                    <a:pt x="526405" y="1052810"/>
                  </a:lnTo>
                  <a:lnTo>
                    <a:pt x="0" y="526405"/>
                  </a:lnTo>
                  <a:lnTo>
                    <a:pt x="526405" y="1"/>
                  </a:lnTo>
                  <a:lnTo>
                    <a:pt x="5411041" y="1"/>
                  </a:lnTo>
                  <a:lnTo>
                    <a:pt x="5411041" y="105281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8016" tIns="68581" rIns="731520" bIns="68581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تُقيّم هذه الوحدة باستخدام مواجز واجب يقدمها مُعلّمك.</a:t>
              </a:r>
              <a:endParaRPr lang="en-GB" sz="1800" b="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Rectangle 3" descr="Document">
              <a:extLst>
                <a:ext uri="{FF2B5EF4-FFF2-40B4-BE49-F238E27FC236}">
                  <a16:creationId xmlns:a16="http://schemas.microsoft.com/office/drawing/2014/main" id="{9F74806D-1FB4-FFD5-D312-DAB0380C573F}"/>
                </a:ext>
              </a:extLst>
            </p:cNvPr>
            <p:cNvSpPr/>
            <p:nvPr/>
          </p:nvSpPr>
          <p:spPr>
            <a:xfrm flipH="1">
              <a:off x="939411" y="1857993"/>
              <a:ext cx="1052811" cy="1052811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10D1A45-23CB-9F30-D9D8-CF9A5D65F3BB}"/>
                </a:ext>
              </a:extLst>
            </p:cNvPr>
            <p:cNvSpPr/>
            <p:nvPr/>
          </p:nvSpPr>
          <p:spPr>
            <a:xfrm rot="21600000">
              <a:off x="1938150" y="3226145"/>
              <a:ext cx="5522400" cy="1571005"/>
            </a:xfrm>
            <a:custGeom>
              <a:avLst/>
              <a:gdLst>
                <a:gd name="connsiteX0" fmla="*/ 0 w 5522400"/>
                <a:gd name="connsiteY0" fmla="*/ 0 h 1571004"/>
                <a:gd name="connsiteX1" fmla="*/ 4736898 w 5522400"/>
                <a:gd name="connsiteY1" fmla="*/ 0 h 1571004"/>
                <a:gd name="connsiteX2" fmla="*/ 5522400 w 5522400"/>
                <a:gd name="connsiteY2" fmla="*/ 785502 h 1571004"/>
                <a:gd name="connsiteX3" fmla="*/ 4736898 w 5522400"/>
                <a:gd name="connsiteY3" fmla="*/ 1571004 h 1571004"/>
                <a:gd name="connsiteX4" fmla="*/ 0 w 5522400"/>
                <a:gd name="connsiteY4" fmla="*/ 1571004 h 1571004"/>
                <a:gd name="connsiteX5" fmla="*/ 0 w 5522400"/>
                <a:gd name="connsiteY5" fmla="*/ 0 h 157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2400" h="1571004">
                  <a:moveTo>
                    <a:pt x="5522400" y="1571003"/>
                  </a:moveTo>
                  <a:lnTo>
                    <a:pt x="785502" y="1571003"/>
                  </a:lnTo>
                  <a:lnTo>
                    <a:pt x="0" y="785502"/>
                  </a:lnTo>
                  <a:lnTo>
                    <a:pt x="785502" y="1"/>
                  </a:lnTo>
                  <a:lnTo>
                    <a:pt x="5522400" y="1"/>
                  </a:lnTo>
                  <a:lnTo>
                    <a:pt x="5522400" y="1571003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8016" tIns="68581" rIns="859536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أعدّ نفسك لخوض التدريب العملي وممارسة المهارات المهنية والتفكير في أدائك واقتراح سبل لتحسين مستواك.</a:t>
              </a:r>
              <a:endParaRPr lang="en-GB" sz="1800" kern="12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" name="Oval 6" descr="Man with solid fill">
              <a:extLst>
                <a:ext uri="{FF2B5EF4-FFF2-40B4-BE49-F238E27FC236}">
                  <a16:creationId xmlns:a16="http://schemas.microsoft.com/office/drawing/2014/main" id="{E0DB65C6-20D2-2ECB-F922-C19CF9B0B05C}"/>
                </a:ext>
              </a:extLst>
            </p:cNvPr>
            <p:cNvSpPr/>
            <p:nvPr/>
          </p:nvSpPr>
          <p:spPr>
            <a:xfrm flipH="1">
              <a:off x="911572" y="3498992"/>
              <a:ext cx="1052811" cy="1052811"/>
            </a:xfrm>
            <a:prstGeom prst="ellipse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CAAF13A-578A-F6EB-B9A3-CF534E903395}"/>
                </a:ext>
              </a:extLst>
            </p:cNvPr>
            <p:cNvSpPr/>
            <p:nvPr/>
          </p:nvSpPr>
          <p:spPr>
            <a:xfrm rot="21600000">
              <a:off x="2021670" y="5111422"/>
              <a:ext cx="5411041" cy="1052812"/>
            </a:xfrm>
            <a:custGeom>
              <a:avLst/>
              <a:gdLst>
                <a:gd name="connsiteX0" fmla="*/ 0 w 5411041"/>
                <a:gd name="connsiteY0" fmla="*/ 0 h 1052811"/>
                <a:gd name="connsiteX1" fmla="*/ 4884636 w 5411041"/>
                <a:gd name="connsiteY1" fmla="*/ 0 h 1052811"/>
                <a:gd name="connsiteX2" fmla="*/ 5411041 w 5411041"/>
                <a:gd name="connsiteY2" fmla="*/ 526406 h 1052811"/>
                <a:gd name="connsiteX3" fmla="*/ 4884636 w 5411041"/>
                <a:gd name="connsiteY3" fmla="*/ 1052811 h 1052811"/>
                <a:gd name="connsiteX4" fmla="*/ 0 w 5411041"/>
                <a:gd name="connsiteY4" fmla="*/ 1052811 h 1052811"/>
                <a:gd name="connsiteX5" fmla="*/ 0 w 5411041"/>
                <a:gd name="connsiteY5" fmla="*/ 0 h 105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1041" h="1052811">
                  <a:moveTo>
                    <a:pt x="5411041" y="1052810"/>
                  </a:moveTo>
                  <a:lnTo>
                    <a:pt x="526405" y="1052810"/>
                  </a:lnTo>
                  <a:lnTo>
                    <a:pt x="0" y="526405"/>
                  </a:lnTo>
                  <a:lnTo>
                    <a:pt x="526405" y="1"/>
                  </a:lnTo>
                  <a:lnTo>
                    <a:pt x="5411041" y="1"/>
                  </a:lnTo>
                  <a:lnTo>
                    <a:pt x="5411041" y="105281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8016" tIns="68581" rIns="73152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وسيجري معلموك عملية التقييم.</a:t>
              </a:r>
            </a:p>
          </p:txBody>
        </p:sp>
        <p:sp>
          <p:nvSpPr>
            <p:cNvPr id="9" name="Oval 8" descr="Magnifying glass with solid fill">
              <a:extLst>
                <a:ext uri="{FF2B5EF4-FFF2-40B4-BE49-F238E27FC236}">
                  <a16:creationId xmlns:a16="http://schemas.microsoft.com/office/drawing/2014/main" id="{936F8183-86CA-091E-A402-CA0A29749FA1}"/>
                </a:ext>
              </a:extLst>
            </p:cNvPr>
            <p:cNvSpPr/>
            <p:nvPr/>
          </p:nvSpPr>
          <p:spPr>
            <a:xfrm flipH="1">
              <a:off x="1002770" y="5112492"/>
              <a:ext cx="1052811" cy="1052811"/>
            </a:xfrm>
            <a:prstGeom prst="ellipse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0B9AA3D-CAA5-74AF-75F9-CB81D81AD5DF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14621000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نتاجا التعلم أ ج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762B24-9440-96E9-6247-40E8A32DAC62}"/>
              </a:ext>
            </a:extLst>
          </p:cNvPr>
          <p:cNvGrpSpPr/>
          <p:nvPr/>
        </p:nvGrpSpPr>
        <p:grpSpPr>
          <a:xfrm flipH="1">
            <a:off x="468311" y="2196473"/>
            <a:ext cx="8207375" cy="3877489"/>
            <a:chOff x="468311" y="2196473"/>
            <a:chExt cx="8207375" cy="387748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1394CE7-D9B0-B77B-C80F-9BB4AA985517}"/>
                </a:ext>
              </a:extLst>
            </p:cNvPr>
            <p:cNvSpPr/>
            <p:nvPr/>
          </p:nvSpPr>
          <p:spPr>
            <a:xfrm>
              <a:off x="468311" y="2196473"/>
              <a:ext cx="8207375" cy="1107854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Rectangle 3" descr="Handshake">
              <a:extLst>
                <a:ext uri="{FF2B5EF4-FFF2-40B4-BE49-F238E27FC236}">
                  <a16:creationId xmlns:a16="http://schemas.microsoft.com/office/drawing/2014/main" id="{3F26F679-09FB-15A1-18BC-46A0DC3E1A5A}"/>
                </a:ext>
              </a:extLst>
            </p:cNvPr>
            <p:cNvSpPr/>
            <p:nvPr/>
          </p:nvSpPr>
          <p:spPr>
            <a:xfrm flipH="1">
              <a:off x="803436" y="2445740"/>
              <a:ext cx="609319" cy="609319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D07AFD8-220D-283A-9465-D46836A48103}"/>
                </a:ext>
              </a:extLst>
            </p:cNvPr>
            <p:cNvSpPr/>
            <p:nvPr/>
          </p:nvSpPr>
          <p:spPr>
            <a:xfrm>
              <a:off x="1747882" y="2196473"/>
              <a:ext cx="6927803" cy="1107854"/>
            </a:xfrm>
            <a:custGeom>
              <a:avLst/>
              <a:gdLst>
                <a:gd name="connsiteX0" fmla="*/ 0 w 6927803"/>
                <a:gd name="connsiteY0" fmla="*/ 0 h 1107854"/>
                <a:gd name="connsiteX1" fmla="*/ 6927803 w 6927803"/>
                <a:gd name="connsiteY1" fmla="*/ 0 h 1107854"/>
                <a:gd name="connsiteX2" fmla="*/ 6927803 w 6927803"/>
                <a:gd name="connsiteY2" fmla="*/ 1107854 h 1107854"/>
                <a:gd name="connsiteX3" fmla="*/ 0 w 6927803"/>
                <a:gd name="connsiteY3" fmla="*/ 1107854 h 1107854"/>
                <a:gd name="connsiteX4" fmla="*/ 0 w 6927803"/>
                <a:gd name="connsiteY4" fmla="*/ 0 h 110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803" h="1107854">
                  <a:moveTo>
                    <a:pt x="0" y="0"/>
                  </a:moveTo>
                  <a:lnTo>
                    <a:pt x="6927803" y="0"/>
                  </a:lnTo>
                  <a:lnTo>
                    <a:pt x="6927803" y="1107854"/>
                  </a:lnTo>
                  <a:lnTo>
                    <a:pt x="0" y="1107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7248" tIns="117248" rIns="117248" bIns="117248" numCol="1" spcCol="1270" rtlCol="1" anchor="ctr" anchorCtr="0">
              <a:noAutofit/>
            </a:bodyPr>
            <a:lstStyle/>
            <a:p>
              <a:pPr marL="0" lvl="0" indent="0" algn="r" defTabSz="1111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أ: </a:t>
              </a:r>
              <a:r>
                <a:rPr lang="ar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القدرة على تقديم طلب للحصول على مدة خبرة مهنية في </a:t>
              </a:r>
              <a:r>
                <a:rPr lang="ar-EG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بيئة</a:t>
              </a:r>
              <a:r>
                <a:rPr lang="ar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الرعاية الصحيّة والاجتماعية</a:t>
              </a:r>
              <a:r>
                <a:rPr lang="ar-EG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5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C8042B3-B7B5-90CB-465A-4F8122492C66}"/>
                </a:ext>
              </a:extLst>
            </p:cNvPr>
            <p:cNvSpPr/>
            <p:nvPr/>
          </p:nvSpPr>
          <p:spPr>
            <a:xfrm>
              <a:off x="468311" y="3581290"/>
              <a:ext cx="8207375" cy="1107854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 descr="Doctor male with solid fill">
              <a:extLst>
                <a:ext uri="{FF2B5EF4-FFF2-40B4-BE49-F238E27FC236}">
                  <a16:creationId xmlns:a16="http://schemas.microsoft.com/office/drawing/2014/main" id="{386EE8BE-0B8F-E137-B00A-3B0209D09BE8}"/>
                </a:ext>
              </a:extLst>
            </p:cNvPr>
            <p:cNvSpPr/>
            <p:nvPr/>
          </p:nvSpPr>
          <p:spPr>
            <a:xfrm flipH="1">
              <a:off x="803436" y="3830558"/>
              <a:ext cx="609319" cy="609319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7DAF0FF-501F-F76F-134C-D9F99C28720D}"/>
                </a:ext>
              </a:extLst>
            </p:cNvPr>
            <p:cNvSpPr/>
            <p:nvPr/>
          </p:nvSpPr>
          <p:spPr>
            <a:xfrm>
              <a:off x="1747882" y="3581290"/>
              <a:ext cx="6927803" cy="1107854"/>
            </a:xfrm>
            <a:custGeom>
              <a:avLst/>
              <a:gdLst>
                <a:gd name="connsiteX0" fmla="*/ 0 w 6927803"/>
                <a:gd name="connsiteY0" fmla="*/ 0 h 1107854"/>
                <a:gd name="connsiteX1" fmla="*/ 6927803 w 6927803"/>
                <a:gd name="connsiteY1" fmla="*/ 0 h 1107854"/>
                <a:gd name="connsiteX2" fmla="*/ 6927803 w 6927803"/>
                <a:gd name="connsiteY2" fmla="*/ 1107854 h 1107854"/>
                <a:gd name="connsiteX3" fmla="*/ 0 w 6927803"/>
                <a:gd name="connsiteY3" fmla="*/ 1107854 h 1107854"/>
                <a:gd name="connsiteX4" fmla="*/ 0 w 6927803"/>
                <a:gd name="connsiteY4" fmla="*/ 0 h 110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803" h="1107854">
                  <a:moveTo>
                    <a:pt x="0" y="0"/>
                  </a:moveTo>
                  <a:lnTo>
                    <a:pt x="6927803" y="0"/>
                  </a:lnTo>
                  <a:lnTo>
                    <a:pt x="6927803" y="1107854"/>
                  </a:lnTo>
                  <a:lnTo>
                    <a:pt x="0" y="1107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7248" tIns="117248" rIns="117248" bIns="117248" numCol="1" spcCol="1270" rtlCol="1" anchor="ctr" anchorCtr="0">
              <a:noAutofit/>
            </a:bodyPr>
            <a:lstStyle/>
            <a:p>
              <a:pPr marL="0" lvl="0" indent="0" algn="r" defTabSz="1111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ب: </a:t>
              </a:r>
              <a:r>
                <a:rPr lang="ar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القدرة على استعراض مهارات العمل المرتبطة بمجال الرعاية الصحيّة والاجتماعية</a:t>
              </a:r>
              <a:r>
                <a:rPr lang="ar-EG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5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5F29560-3E6E-A282-FB6F-2A6B74B2F837}"/>
                </a:ext>
              </a:extLst>
            </p:cNvPr>
            <p:cNvSpPr/>
            <p:nvPr/>
          </p:nvSpPr>
          <p:spPr>
            <a:xfrm>
              <a:off x="468311" y="4966108"/>
              <a:ext cx="8207375" cy="1107854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 descr="Brainstorm with solid fill">
              <a:extLst>
                <a:ext uri="{FF2B5EF4-FFF2-40B4-BE49-F238E27FC236}">
                  <a16:creationId xmlns:a16="http://schemas.microsoft.com/office/drawing/2014/main" id="{03021EF5-CD66-CA86-1D10-B13D23F03FBA}"/>
                </a:ext>
              </a:extLst>
            </p:cNvPr>
            <p:cNvSpPr/>
            <p:nvPr/>
          </p:nvSpPr>
          <p:spPr>
            <a:xfrm flipH="1">
              <a:off x="803436" y="5215375"/>
              <a:ext cx="609319" cy="609319"/>
            </a:xfrm>
            <a:prstGeom prst="rect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B0FB933-A843-3459-DA28-2752F06051DD}"/>
                </a:ext>
              </a:extLst>
            </p:cNvPr>
            <p:cNvSpPr/>
            <p:nvPr/>
          </p:nvSpPr>
          <p:spPr>
            <a:xfrm>
              <a:off x="1747882" y="4966108"/>
              <a:ext cx="6927803" cy="1107854"/>
            </a:xfrm>
            <a:custGeom>
              <a:avLst/>
              <a:gdLst>
                <a:gd name="connsiteX0" fmla="*/ 0 w 6927803"/>
                <a:gd name="connsiteY0" fmla="*/ 0 h 1107854"/>
                <a:gd name="connsiteX1" fmla="*/ 6927803 w 6927803"/>
                <a:gd name="connsiteY1" fmla="*/ 0 h 1107854"/>
                <a:gd name="connsiteX2" fmla="*/ 6927803 w 6927803"/>
                <a:gd name="connsiteY2" fmla="*/ 1107854 h 1107854"/>
                <a:gd name="connsiteX3" fmla="*/ 0 w 6927803"/>
                <a:gd name="connsiteY3" fmla="*/ 1107854 h 1107854"/>
                <a:gd name="connsiteX4" fmla="*/ 0 w 6927803"/>
                <a:gd name="connsiteY4" fmla="*/ 0 h 110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803" h="1107854">
                  <a:moveTo>
                    <a:pt x="0" y="0"/>
                  </a:moveTo>
                  <a:lnTo>
                    <a:pt x="6927803" y="0"/>
                  </a:lnTo>
                  <a:lnTo>
                    <a:pt x="6927803" y="1107854"/>
                  </a:lnTo>
                  <a:lnTo>
                    <a:pt x="0" y="110785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7248" tIns="117248" rIns="117248" bIns="117248" numCol="1" spcCol="1270" rtlCol="1" anchor="ctr" anchorCtr="0">
              <a:noAutofit/>
            </a:bodyPr>
            <a:lstStyle/>
            <a:p>
              <a:pPr marL="0" lvl="0" indent="0" algn="r" defTabSz="11112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ج: </a:t>
              </a:r>
              <a:r>
                <a:rPr lang="ar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القدرة على مراجعة أدائك وتقييمه في </a:t>
              </a:r>
              <a:r>
                <a:rPr lang="ar-EG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بيئات</a:t>
              </a:r>
              <a:r>
                <a:rPr lang="ar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الرعاية الصحيّة أو الاجتماعية</a:t>
              </a:r>
              <a:r>
                <a:rPr lang="ar-EG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5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6B59784-CD93-59EC-6EA3-8B70D7E84537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C1D2-B9A2-8130-3D5C-36632897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F8F3665B-F043-8C0A-2827-3C6809A2D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نتاج التعلم أ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249AF87B-6108-601B-A544-435D7D592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القدرة على تقديم طلب للحصول على مدة خبرة مهنية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في </a:t>
            </a:r>
            <a:r>
              <a:rPr lang="ar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بيئة</a:t>
            </a:r>
            <a:r>
              <a:rPr lang="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الرعاية الصحيّة والاجتماعية</a:t>
            </a:r>
            <a:r>
              <a:rPr lang="ar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2E32EE-9684-950D-15BF-63ADF0B80C22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89905763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A046072-89F1-313F-A9F5-6C06A79BE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1174F65-4DDD-B67D-6F81-2CDC2253F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8488" y="1452298"/>
            <a:ext cx="3008313" cy="4781422"/>
          </a:xfrm>
          <a:solidFill>
            <a:schemeClr val="accent5"/>
          </a:solidFill>
        </p:spPr>
        <p:txBody>
          <a:bodyPr rtlCol="1"/>
          <a:lstStyle/>
          <a:p>
            <a:pPr rtl="1"/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نتاج التعلم أ:</a:t>
            </a:r>
            <a:endParaRPr lang="en-US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-EG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عليك 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في هذا النتاج بدراسة المستندات المستخدمة في عملية التقديم والتعرّف على كيفية استخدام برامج معالجة النصوص لإعداد هذه المستندات</a:t>
            </a:r>
            <a:r>
              <a:rPr lang="ar-EG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-EG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تعرُّف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المهارات المختلفة المطلوبة في مقابلة العم</a:t>
            </a:r>
            <a:r>
              <a:rPr lang="ar-EG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ل.</a:t>
            </a:r>
            <a:endParaRPr lang="ar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تعرّف أهمية التخطيط المسبق استعدادًا للمقابلة.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552F4C-86F9-3937-7195-8FF6F1702FA7}"/>
              </a:ext>
            </a:extLst>
          </p:cNvPr>
          <p:cNvGrpSpPr/>
          <p:nvPr/>
        </p:nvGrpSpPr>
        <p:grpSpPr>
          <a:xfrm flipH="1">
            <a:off x="457199" y="1452298"/>
            <a:ext cx="5111751" cy="4781422"/>
            <a:chOff x="457199" y="1197187"/>
            <a:chExt cx="5111751" cy="478142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003078B-26CB-91EF-91DC-CF493D7697D9}"/>
                </a:ext>
              </a:extLst>
            </p:cNvPr>
            <p:cNvSpPr/>
            <p:nvPr/>
          </p:nvSpPr>
          <p:spPr>
            <a:xfrm>
              <a:off x="457199" y="1197187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" name="Rectangle 3" descr="Tick">
              <a:extLst>
                <a:ext uri="{FF2B5EF4-FFF2-40B4-BE49-F238E27FC236}">
                  <a16:creationId xmlns:a16="http://schemas.microsoft.com/office/drawing/2014/main" id="{094D7317-8885-61DD-2B20-D5EB832D6C49}"/>
                </a:ext>
              </a:extLst>
            </p:cNvPr>
            <p:cNvSpPr/>
            <p:nvPr/>
          </p:nvSpPr>
          <p:spPr>
            <a:xfrm flipH="1">
              <a:off x="761700" y="1423675"/>
              <a:ext cx="553638" cy="553638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FF2CCE4-5191-B020-FEF4-2BF103D2270D}"/>
                </a:ext>
              </a:extLst>
            </p:cNvPr>
            <p:cNvSpPr/>
            <p:nvPr/>
          </p:nvSpPr>
          <p:spPr>
            <a:xfrm>
              <a:off x="1619839" y="1264620"/>
              <a:ext cx="3949110" cy="871748"/>
            </a:xfrm>
            <a:custGeom>
              <a:avLst/>
              <a:gdLst>
                <a:gd name="connsiteX0" fmla="*/ 0 w 3949110"/>
                <a:gd name="connsiteY0" fmla="*/ 0 h 871748"/>
                <a:gd name="connsiteX1" fmla="*/ 3949110 w 3949110"/>
                <a:gd name="connsiteY1" fmla="*/ 0 h 871748"/>
                <a:gd name="connsiteX2" fmla="*/ 3949110 w 3949110"/>
                <a:gd name="connsiteY2" fmla="*/ 871748 h 871748"/>
                <a:gd name="connsiteX3" fmla="*/ 0 w 3949110"/>
                <a:gd name="connsiteY3" fmla="*/ 871748 h 871748"/>
                <a:gd name="connsiteX4" fmla="*/ 0 w 3949110"/>
                <a:gd name="connsiteY4" fmla="*/ 0 h 87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871748">
                  <a:moveTo>
                    <a:pt x="0" y="0"/>
                  </a:moveTo>
                  <a:lnTo>
                    <a:pt x="3949110" y="0"/>
                  </a:lnTo>
                  <a:lnTo>
                    <a:pt x="3949110" y="871748"/>
                  </a:lnTo>
                  <a:lnTo>
                    <a:pt x="0" y="871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مجالات المحتوى الرئيسة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76D631C-C237-3B15-884D-A3CA00283C93}"/>
                </a:ext>
              </a:extLst>
            </p:cNvPr>
            <p:cNvSpPr/>
            <p:nvPr/>
          </p:nvSpPr>
          <p:spPr>
            <a:xfrm>
              <a:off x="457199" y="2455456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 descr="Chat Bubble">
              <a:extLst>
                <a:ext uri="{FF2B5EF4-FFF2-40B4-BE49-F238E27FC236}">
                  <a16:creationId xmlns:a16="http://schemas.microsoft.com/office/drawing/2014/main" id="{2AB9BE36-377E-BC3F-9992-8730BBE602E2}"/>
                </a:ext>
              </a:extLst>
            </p:cNvPr>
            <p:cNvSpPr/>
            <p:nvPr/>
          </p:nvSpPr>
          <p:spPr>
            <a:xfrm flipH="1">
              <a:off x="761700" y="2681944"/>
              <a:ext cx="553638" cy="553638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D41C436-5C9C-208D-9B4F-5B00C9485BB9}"/>
                </a:ext>
              </a:extLst>
            </p:cNvPr>
            <p:cNvSpPr/>
            <p:nvPr/>
          </p:nvSpPr>
          <p:spPr>
            <a:xfrm>
              <a:off x="1619839" y="2455456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أ1</a:t>
              </a:r>
              <a:r>
                <a:rPr lang="ar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 طرق عرض المعلومات الشخصية</a:t>
              </a:r>
              <a:endParaRPr lang="en-US" sz="20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2DAFAA1-6A8E-5F2A-43EC-6BC5F0D45044}"/>
                </a:ext>
              </a:extLst>
            </p:cNvPr>
            <p:cNvSpPr/>
            <p:nvPr/>
          </p:nvSpPr>
          <p:spPr>
            <a:xfrm>
              <a:off x="457199" y="3713725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 descr="Handshake">
              <a:extLst>
                <a:ext uri="{FF2B5EF4-FFF2-40B4-BE49-F238E27FC236}">
                  <a16:creationId xmlns:a16="http://schemas.microsoft.com/office/drawing/2014/main" id="{55B1D8BF-2926-B05A-D31D-4C054A736140}"/>
                </a:ext>
              </a:extLst>
            </p:cNvPr>
            <p:cNvSpPr/>
            <p:nvPr/>
          </p:nvSpPr>
          <p:spPr>
            <a:xfrm flipH="1">
              <a:off x="761700" y="3940213"/>
              <a:ext cx="553638" cy="553638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0239B50-D61F-3B13-8128-8A91FB32C896}"/>
                </a:ext>
              </a:extLst>
            </p:cNvPr>
            <p:cNvSpPr/>
            <p:nvPr/>
          </p:nvSpPr>
          <p:spPr>
            <a:xfrm>
              <a:off x="1619839" y="3713725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أ2</a:t>
              </a:r>
              <a:r>
                <a:rPr lang="ar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 مهارات مقابلة العمل</a:t>
              </a:r>
              <a:endParaRPr lang="en-US" sz="2000" b="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A53F118-CE73-8FD6-F36A-CA2ACA534B72}"/>
                </a:ext>
              </a:extLst>
            </p:cNvPr>
            <p:cNvSpPr/>
            <p:nvPr/>
          </p:nvSpPr>
          <p:spPr>
            <a:xfrm>
              <a:off x="457199" y="4971994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 descr="Meeting">
              <a:extLst>
                <a:ext uri="{FF2B5EF4-FFF2-40B4-BE49-F238E27FC236}">
                  <a16:creationId xmlns:a16="http://schemas.microsoft.com/office/drawing/2014/main" id="{B86C3993-0E76-AFDD-F454-63DBF793D4E1}"/>
                </a:ext>
              </a:extLst>
            </p:cNvPr>
            <p:cNvSpPr/>
            <p:nvPr/>
          </p:nvSpPr>
          <p:spPr>
            <a:xfrm flipH="1">
              <a:off x="761700" y="5198483"/>
              <a:ext cx="553638" cy="553638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DF48890-1544-9313-9C2D-4F16B487DC9B}"/>
                </a:ext>
              </a:extLst>
            </p:cNvPr>
            <p:cNvSpPr/>
            <p:nvPr/>
          </p:nvSpPr>
          <p:spPr>
            <a:xfrm>
              <a:off x="1619839" y="4971994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أ3</a:t>
              </a:r>
              <a:r>
                <a:rPr lang="ar" sz="2000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الاستعداد لمقابلة العمل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EA7C43-BE55-8290-DBF8-7F06665B72E3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F9A19-A707-E49B-0C6C-314CCEA63548}"/>
              </a:ext>
            </a:extLst>
          </p:cNvPr>
          <p:cNvSpPr txBox="1"/>
          <p:nvPr/>
        </p:nvSpPr>
        <p:spPr>
          <a:xfrm>
            <a:off x="6328904" y="1695232"/>
            <a:ext cx="2347553" cy="2308324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للحصول على تدريب عملي في مجال الرعاية الصحيّة والاجتماعية، يتعين عليك اتباع عملية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تقديم الطلب.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6AA5FB-DD1C-4B8A-3744-87147B2FB46D}"/>
              </a:ext>
            </a:extLst>
          </p:cNvPr>
          <p:cNvGrpSpPr/>
          <p:nvPr/>
        </p:nvGrpSpPr>
        <p:grpSpPr>
          <a:xfrm flipH="1">
            <a:off x="197604" y="1695233"/>
            <a:ext cx="5814556" cy="3132685"/>
            <a:chOff x="2636829" y="1340768"/>
            <a:chExt cx="5814556" cy="3132685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BC8640-60D5-BBA0-E8D5-00A5A4F935CA}"/>
                </a:ext>
              </a:extLst>
            </p:cNvPr>
            <p:cNvSpPr/>
            <p:nvPr/>
          </p:nvSpPr>
          <p:spPr>
            <a:xfrm>
              <a:off x="2636829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rtlCol="1" anchor="ctr" anchorCtr="0">
              <a:noAutofit/>
            </a:bodyPr>
            <a:lstStyle/>
            <a:p>
              <a:pPr marL="0" marR="0" lvl="0" indent="0" algn="ctr" defTabSz="914400" rtl="1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" sz="2000" b="1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عملية تقديم الطلب</a:t>
              </a:r>
              <a:r>
                <a:rPr lang="ar-EG" sz="2000" b="1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.</a:t>
              </a:r>
              <a:endParaRPr lang="ar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C014B71-E33E-C7D5-5C50-3D17FB7ADC31}"/>
                </a:ext>
              </a:extLst>
            </p:cNvPr>
            <p:cNvSpPr/>
            <p:nvPr/>
          </p:nvSpPr>
          <p:spPr>
            <a:xfrm>
              <a:off x="4636716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تعبئة نماذج طلبات التقديم</a:t>
              </a:r>
              <a:r>
                <a:rPr lang="ar-EG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.</a:t>
              </a:r>
              <a:endParaRPr lang="ar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3D0BD80-A720-7218-72F5-0C29DD30486F}"/>
                </a:ext>
              </a:extLst>
            </p:cNvPr>
            <p:cNvSpPr/>
            <p:nvPr/>
          </p:nvSpPr>
          <p:spPr>
            <a:xfrm>
              <a:off x="6636602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كتابة خطابات التقدّم</a:t>
              </a:r>
              <a:r>
                <a:rPr lang="ar-EG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.</a:t>
              </a:r>
              <a:endParaRPr lang="ar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E70CCFA-A02F-04E7-0EB7-7801BF415224}"/>
                </a:ext>
              </a:extLst>
            </p:cNvPr>
            <p:cNvSpPr/>
            <p:nvPr/>
          </p:nvSpPr>
          <p:spPr>
            <a:xfrm>
              <a:off x="2636829" y="3011298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كتابة خطابات القبول أو الرفض</a:t>
              </a:r>
              <a:r>
                <a:rPr lang="ar-EG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.</a:t>
              </a:r>
              <a:endParaRPr lang="ar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3678BF7-E896-1B71-D51A-7187142A2CCD}"/>
                </a:ext>
              </a:extLst>
            </p:cNvPr>
            <p:cNvSpPr/>
            <p:nvPr/>
          </p:nvSpPr>
          <p:spPr>
            <a:xfrm>
              <a:off x="4636716" y="3011298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إعداد السيرة الذاتية أو الملخص المهني</a:t>
              </a:r>
              <a:r>
                <a:rPr lang="ar-EG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.</a:t>
              </a:r>
              <a:endParaRPr lang="ar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465095E-8E68-2793-3B55-91A7AB2702D3}"/>
                </a:ext>
              </a:extLst>
            </p:cNvPr>
            <p:cNvSpPr/>
            <p:nvPr/>
          </p:nvSpPr>
          <p:spPr>
            <a:xfrm>
              <a:off x="6636600" y="2977570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استخدام برامج معالجة النصوص</a:t>
              </a:r>
              <a:r>
                <a:rPr lang="ar-EG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.</a:t>
              </a:r>
              <a:endParaRPr lang="ar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1AC8D61-8DC3-A73A-BCCC-97B58FD734DD}"/>
              </a:ext>
            </a:extLst>
          </p:cNvPr>
          <p:cNvSpPr txBox="1"/>
          <p:nvPr/>
        </p:nvSpPr>
        <p:spPr>
          <a:xfrm>
            <a:off x="655398" y="1157719"/>
            <a:ext cx="783320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أ1 طرق عرض المعلومات الشخصية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6E13A0-53AE-67A2-A934-73C502E6F665}"/>
              </a:ext>
            </a:extLst>
          </p:cNvPr>
          <p:cNvGrpSpPr/>
          <p:nvPr/>
        </p:nvGrpSpPr>
        <p:grpSpPr>
          <a:xfrm flipH="1">
            <a:off x="1491995" y="5216412"/>
            <a:ext cx="6160013" cy="1301205"/>
            <a:chOff x="0" y="340554"/>
            <a:chExt cx="2564804" cy="1643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A306766-A9F0-97A4-E314-754A068E7D0C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042BA0-B2E7-5524-A9FD-32E28B60679E}"/>
                </a:ext>
              </a:extLst>
            </p:cNvPr>
            <p:cNvSpPr txBox="1"/>
            <p:nvPr/>
          </p:nvSpPr>
          <p:spPr>
            <a:xfrm>
              <a:off x="47785" y="340554"/>
              <a:ext cx="2517018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</a:t>
              </a:r>
              <a:r>
                <a:rPr lang="ar" sz="2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لماذا يُعدّ مظهر المستندات التي تقدمها لصاحب العمل المحتمل أمرًا مهمًا؟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C8CAD83-3F79-CD4F-97B4-6BEBBC452AC0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134908909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D55879A-02E8-7CF4-77A8-627CBBF8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078300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أ1 طرق عرض المعلومات الشخصية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1F9A19-A707-E49B-0C6C-314CCEA63548}"/>
              </a:ext>
            </a:extLst>
          </p:cNvPr>
          <p:cNvSpPr txBox="1"/>
          <p:nvPr/>
        </p:nvSpPr>
        <p:spPr>
          <a:xfrm>
            <a:off x="539552" y="1547500"/>
            <a:ext cx="8133130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نماذج طلبات التقديم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E78A60-D396-9B62-9F08-80D3F26D3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2152272"/>
            <a:ext cx="5476378" cy="4365928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 fontAlgn="ctr"/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على المرشحين للوظائف أو التدريبات تعبئة </a:t>
            </a:r>
            <a:r>
              <a:rPr lang="ar" sz="1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نموذج طلب التقديم</a:t>
            </a: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الذي يضعه صاحب العمل.</a:t>
            </a:r>
          </a:p>
          <a:p>
            <a:pPr rtl="1" fontAlgn="ctr"/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وعلى المرشحين تعبئة بياناتهم الشخصية، مثل:</a:t>
            </a:r>
          </a:p>
          <a:p>
            <a:pPr lvl="1" rtl="1" fontAlgn="ctr">
              <a:buFont typeface="Wingdings" pitchFamily="2" charset="2"/>
              <a:buChar char="ü"/>
            </a:pP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بيانات الاتصال</a:t>
            </a:r>
            <a:r>
              <a:rPr lang="ar-EG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rtl="1" fontAlgn="ctr">
              <a:buFont typeface="Wingdings" pitchFamily="2" charset="2"/>
              <a:buChar char="ü"/>
            </a:pP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الإنجازات التعليمية</a:t>
            </a:r>
            <a:r>
              <a:rPr lang="ar-EG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rtl="1" fontAlgn="ctr">
              <a:buFont typeface="Wingdings" pitchFamily="2" charset="2"/>
              <a:buChar char="ü"/>
            </a:pP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التجربة</a:t>
            </a:r>
            <a:r>
              <a:rPr lang="ar-EG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rtl="1" fontAlgn="ctr">
              <a:buFont typeface="Wingdings" pitchFamily="2" charset="2"/>
              <a:buChar char="ü"/>
            </a:pP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المهارات والقدرات.</a:t>
            </a:r>
          </a:p>
          <a:p>
            <a:pPr lvl="1" rtl="1" fontAlgn="ctr">
              <a:buFont typeface="Wingdings" pitchFamily="2" charset="2"/>
              <a:buChar char="ü"/>
            </a:pP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الإنجازات والجوائز.</a:t>
            </a:r>
          </a:p>
          <a:p>
            <a:pPr lvl="1" rtl="1" fontAlgn="ctr">
              <a:buFont typeface="Wingdings" pitchFamily="2" charset="2"/>
              <a:buChar char="ü"/>
            </a:pP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الهوايات والاهتمامات.</a:t>
            </a:r>
          </a:p>
          <a:p>
            <a:pPr lvl="1" rtl="1" fontAlgn="ctr">
              <a:buFont typeface="Wingdings" pitchFamily="2" charset="2"/>
              <a:buChar char="ü"/>
            </a:pP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المراجع من المعلّمين أو أصحاب عمل سابقين أو أعضاء موثوقين في المجتمع.</a:t>
            </a:r>
          </a:p>
          <a:p>
            <a:pPr rtl="1" fontAlgn="ctr"/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ويمكن أن تكون النماذج رقمية أو ورقية.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320447-C864-E98E-8906-8BA4F9F7E194}"/>
              </a:ext>
            </a:extLst>
          </p:cNvPr>
          <p:cNvGrpSpPr/>
          <p:nvPr/>
        </p:nvGrpSpPr>
        <p:grpSpPr>
          <a:xfrm flipH="1">
            <a:off x="539552" y="4900267"/>
            <a:ext cx="2448271" cy="1617933"/>
            <a:chOff x="0" y="215426"/>
            <a:chExt cx="2681582" cy="14402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84EF18-D7DF-55A8-A60F-CAA5EB8D6B49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4B6A04-B2D8-9603-2662-36B4A728DCCD}"/>
                </a:ext>
              </a:extLst>
            </p:cNvPr>
            <p:cNvSpPr txBox="1"/>
            <p:nvPr/>
          </p:nvSpPr>
          <p:spPr>
            <a:xfrm>
              <a:off x="42815" y="286806"/>
              <a:ext cx="2638766" cy="13688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sz="1600" b="1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marL="0" indent="0" rtl="1" fontAlgn="ctr">
                <a:buNone/>
              </a:pPr>
              <a:r>
                <a:rPr lang="ar" sz="1600" b="0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لماذا يجب أن تستكمل نموج طلب التقديم بصدق وأمانة؟</a:t>
              </a:r>
            </a:p>
            <a:p>
              <a:pPr marL="0" indent="0" rtl="1" fontAlgn="ctr">
                <a:buNone/>
              </a:pPr>
              <a:endParaRPr lang="en-GB" sz="1600" b="0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AFDEC44-F3A1-11C6-D887-F4F7C3185A68}"/>
              </a:ext>
            </a:extLst>
          </p:cNvPr>
          <p:cNvSpPr txBox="1"/>
          <p:nvPr/>
        </p:nvSpPr>
        <p:spPr>
          <a:xfrm>
            <a:off x="539552" y="2152272"/>
            <a:ext cx="2448269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rtl="1"/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نماذج طلبات التقديم: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وسيلة تمكّن أصحاب العمل من الحصول على</a:t>
            </a:r>
            <a:r>
              <a:rPr lang="ar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المعلومات الدقيقة المطلوبة من المرشحين</a:t>
            </a:r>
            <a:r>
              <a:rPr lang="ar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كما تمكنهم من مقارنة مهارات وخبرات المتقدمين.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3E4139-A918-1312-7A8D-E33B16993971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7938675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D55879A-02E8-7CF4-77A8-627CBBF8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8471" y="1180880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أ1 طرق عرض المعلومات الشخصية </a:t>
            </a:r>
            <a:endParaRPr lang="en-GB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E78A60-D396-9B62-9F08-80D3F26D3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070408"/>
            <a:ext cx="7776864" cy="3505420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 fontAlgn="ctr"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يمكن أن يُستخدم بدلًا من نموذج طلب التقديم أو بالإضافة إليها،</a:t>
            </a:r>
          </a:p>
          <a:p>
            <a:pPr rtl="1" fontAlgn="ctr"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وتحتوي على المعلومات نفسها تقريبًا مثل</a:t>
            </a:r>
          </a:p>
          <a:p>
            <a:pPr lvl="1" rtl="1" fontAlgn="ctr">
              <a:buFont typeface="Wingdings" pitchFamily="2" charset="2"/>
              <a:buChar char="ü"/>
            </a:pPr>
            <a:r>
              <a:rPr lang="ar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بيانات الاتصال</a:t>
            </a:r>
            <a:r>
              <a:rPr lang="ar-EG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rtl="1" fontAlgn="ctr">
              <a:buFont typeface="Wingdings" pitchFamily="2" charset="2"/>
              <a:buChar char="ü"/>
            </a:pPr>
            <a:r>
              <a:rPr lang="ar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الإنجازات التعليمية</a:t>
            </a:r>
            <a:r>
              <a:rPr lang="ar-EG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rtl="1" fontAlgn="ctr">
              <a:buFont typeface="Wingdings" pitchFamily="2" charset="2"/>
              <a:buChar char="ü"/>
            </a:pPr>
            <a:r>
              <a:rPr lang="ar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الخبرة</a:t>
            </a:r>
            <a:r>
              <a:rPr lang="ar-EG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rtl="1" fontAlgn="ctr">
              <a:buFont typeface="Wingdings" pitchFamily="2" charset="2"/>
              <a:buChar char="ü"/>
            </a:pPr>
            <a:r>
              <a:rPr lang="ar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المهارات والقدرات.</a:t>
            </a:r>
          </a:p>
          <a:p>
            <a:pPr lvl="1" rtl="1" fontAlgn="ctr">
              <a:buFont typeface="Wingdings" pitchFamily="2" charset="2"/>
              <a:buChar char="ü"/>
            </a:pPr>
            <a:r>
              <a:rPr lang="ar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الإنجازات والجوائز.</a:t>
            </a:r>
          </a:p>
          <a:p>
            <a:pPr lvl="1" rtl="1" fontAlgn="ctr">
              <a:buFont typeface="Wingdings" pitchFamily="2" charset="2"/>
              <a:buChar char="ü"/>
            </a:pPr>
            <a:r>
              <a:rPr lang="ar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الهوايات والاهتمامات.</a:t>
            </a:r>
          </a:p>
          <a:p>
            <a:pPr lvl="1" rtl="1" fontAlgn="ctr">
              <a:buFont typeface="Wingdings" pitchFamily="2" charset="2"/>
              <a:buChar char="ü"/>
            </a:pPr>
            <a:r>
              <a:rPr lang="ar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المراجع من المعلّمين أو أصحاب عمل سابقين </a:t>
            </a:r>
            <a:r>
              <a:rPr lang="ar" sz="1800" i="0" u="none" strike="noStrike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أو</a:t>
            </a:r>
            <a:r>
              <a:rPr lang="ar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أعضاء موثوقين في المجتمع.</a:t>
            </a:r>
            <a:endParaRPr lang="en-GB" sz="180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 fontAlgn="ctr">
              <a:buFont typeface="Arial" panose="020B0604020202020204" pitchFamily="34" charset="0"/>
              <a:buChar char="•"/>
            </a:pPr>
            <a:endParaRPr lang="en-GB" sz="160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 fontAlgn="ctr">
              <a:buFont typeface="Wingdings" panose="05000000000000000000" pitchFamily="2" charset="2"/>
              <a:buNone/>
            </a:pPr>
            <a:endParaRPr lang="en-GB" sz="16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 fontAlgn="ctr">
              <a:buFont typeface="Wingdings" panose="05000000000000000000" pitchFamily="2" charset="2"/>
              <a:buNone/>
            </a:pPr>
            <a:endParaRPr lang="en-GB" sz="16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 fontAlgn="ctr">
              <a:buFont typeface="Wingdings" panose="05000000000000000000" pitchFamily="2" charset="2"/>
              <a:buNone/>
            </a:pPr>
            <a:endParaRPr lang="en-GB" sz="16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rt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CF68C8-5BA4-C11C-5656-2BB8A8B8404B}"/>
              </a:ext>
            </a:extLst>
          </p:cNvPr>
          <p:cNvGrpSpPr/>
          <p:nvPr/>
        </p:nvGrpSpPr>
        <p:grpSpPr>
          <a:xfrm flipH="1">
            <a:off x="318471" y="5651586"/>
            <a:ext cx="8141962" cy="1138818"/>
            <a:chOff x="0" y="202043"/>
            <a:chExt cx="2804582" cy="13822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1B22233-540F-D459-E68E-7CF61C6A7EA5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74C843-44CC-3DC6-4BA0-3109D9D67C3C}"/>
                </a:ext>
              </a:extLst>
            </p:cNvPr>
            <p:cNvSpPr txBox="1"/>
            <p:nvPr/>
          </p:nvSpPr>
          <p:spPr>
            <a:xfrm>
              <a:off x="40939" y="202043"/>
              <a:ext cx="2763643" cy="1368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sz="1600" b="1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marL="285750" indent="-285750" rtl="1" fontAlgn="ctr">
                <a:buFont typeface="Arial" panose="020B0604020202020204" pitchFamily="34" charset="0"/>
                <a:buChar char="•"/>
              </a:pPr>
              <a:r>
                <a:rPr lang="ar" sz="1600" b="0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لماذا قد يكون من الأفضل إعداد سيرتك الذاتية باستخدام برامج معالجة النصوص؟</a:t>
              </a:r>
            </a:p>
            <a:p>
              <a:pPr marL="285750" indent="-285750" rtl="1" fontAlgn="ctr">
                <a:buFont typeface="Arial" panose="020B0604020202020204" pitchFamily="34" charset="0"/>
                <a:buChar char="•"/>
              </a:pPr>
              <a:r>
                <a:rPr lang="ar" sz="1600" kern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ولماذا يجب اختيار الخط بعناية؟</a:t>
              </a:r>
              <a:endParaRPr lang="en-GB" sz="1600" b="1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100B6BA-53D9-4A2E-EB3C-4EE5E323FB20}"/>
              </a:ext>
            </a:extLst>
          </p:cNvPr>
          <p:cNvSpPr txBox="1"/>
          <p:nvPr/>
        </p:nvSpPr>
        <p:spPr>
          <a:xfrm>
            <a:off x="675552" y="1614292"/>
            <a:ext cx="7784883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السيرة الذاتية أو الملخص المهني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7DDBE6-CCCD-8BE8-9397-AD8D16AC8A1C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3609411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D55879A-02E8-7CF4-77A8-627CBBF8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أ1 طرق عرض المعلومات الشخصية </a:t>
            </a:r>
            <a:endParaRPr lang="en-GB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E78A60-D396-9B62-9F08-80D3F26D3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621" y="4754116"/>
            <a:ext cx="5598648" cy="1816991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يجب أن يتضمن الخطاب:</a:t>
            </a:r>
          </a:p>
          <a:p>
            <a:pPr rtl="1"/>
            <a:r>
              <a:rPr lang="ar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سبب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تقدّمك</a:t>
            </a:r>
            <a:r>
              <a:rPr lang="ar-E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والمهارات والمعارف التي تجعلك مناسبًا للوظيفة</a:t>
            </a:r>
            <a:r>
              <a:rPr lang="ar-E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والإسهامات التي يمكنك تقديمها للمؤسسة.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EE3D-0BC7-A517-E4B0-06DF33A1343B}"/>
              </a:ext>
            </a:extLst>
          </p:cNvPr>
          <p:cNvSpPr txBox="1"/>
          <p:nvPr/>
        </p:nvSpPr>
        <p:spPr>
          <a:xfrm>
            <a:off x="2928620" y="2238836"/>
            <a:ext cx="5598648" cy="23803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0010" tIns="80010" rIns="80010" bIns="80010" numCol="1" spcCol="1270" rtlCol="1" anchor="ctr" anchorCtr="0">
            <a:noAutofit/>
          </a:bodyPr>
          <a:lstStyle/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قد يطلب صاحب العمل أيضًا </a:t>
            </a:r>
            <a:r>
              <a:rPr lang="ar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خطاب تقدّم، 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ويُستخدم هذا الخطاب لبيان سبب كونك مناسبًا للوظيفة.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ومن الأفضل صياغته بما يتوافق مع الوصف الوظيفي والمواصفات الشخصية التي يحددها صاحب العمل.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53098E-D172-EAB3-9D5C-A6459721F81B}"/>
              </a:ext>
            </a:extLst>
          </p:cNvPr>
          <p:cNvGrpSpPr/>
          <p:nvPr/>
        </p:nvGrpSpPr>
        <p:grpSpPr>
          <a:xfrm flipH="1">
            <a:off x="507810" y="3282284"/>
            <a:ext cx="2263990" cy="2380327"/>
            <a:chOff x="0" y="215426"/>
            <a:chExt cx="2681582" cy="14402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E0B2FA-E8FD-15D2-FF6E-334AA199DC2B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1302B8-1F70-23D8-E4D8-9CFD95F4892C}"/>
                </a:ext>
              </a:extLst>
            </p:cNvPr>
            <p:cNvSpPr txBox="1"/>
            <p:nvPr/>
          </p:nvSpPr>
          <p:spPr>
            <a:xfrm>
              <a:off x="42815" y="286806"/>
              <a:ext cx="2638766" cy="13688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b="1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rtl="1" fontAlgn="ctr"/>
              <a:r>
                <a:rPr lang="ar" b="0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لماذا ينبغي أن تطلب من شخص آخر مراجعة خطابك قبل إرساله إلى صاحب العمل؟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9030BAD-9CA2-1ED8-FC4E-5449F16D5BA0}"/>
              </a:ext>
            </a:extLst>
          </p:cNvPr>
          <p:cNvSpPr txBox="1"/>
          <p:nvPr/>
        </p:nvSpPr>
        <p:spPr>
          <a:xfrm>
            <a:off x="507810" y="1687615"/>
            <a:ext cx="8019458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خطابات طلبات التوظيف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C60DB6-C69C-F146-A0C5-A7F05A9A1683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5604695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751B-2FE9-095F-6AB4-E0E78322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988FB958-62B9-E91C-39F1-BDF8295E6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51625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أ1 طرق عرض المعلومات الشخصية </a:t>
            </a:r>
            <a:endParaRPr lang="en-GB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C6675-C025-5EF6-7C2E-E1A056794535}"/>
              </a:ext>
            </a:extLst>
          </p:cNvPr>
          <p:cNvSpPr txBox="1"/>
          <p:nvPr/>
        </p:nvSpPr>
        <p:spPr>
          <a:xfrm>
            <a:off x="4748973" y="2142326"/>
            <a:ext cx="3927483" cy="43110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0010" tIns="80010" rIns="80010" bIns="80010" numCol="1" spcCol="1270" rtlCol="1" anchor="ctr" anchorCtr="0">
            <a:noAutofit/>
          </a:bodyPr>
          <a:lstStyle/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إذا نالت سيرتك الذاتية ورسالة تقديم الطلب إعجاب المؤسسة، فقد يختارونك لحضور مقابلة ،و من اللباقة أن تقبل الدعوة (أو ترفضها) رسميًا.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ويمكنك القيام بذلك إلكترونيًا أو عبر إرسال رسالة قبول أو رفض مكتوبة.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26673B-6F71-F7BA-D743-C01FCFA7562B}"/>
              </a:ext>
            </a:extLst>
          </p:cNvPr>
          <p:cNvGrpSpPr/>
          <p:nvPr/>
        </p:nvGrpSpPr>
        <p:grpSpPr>
          <a:xfrm flipH="1">
            <a:off x="488460" y="2167049"/>
            <a:ext cx="3939524" cy="1477975"/>
            <a:chOff x="0" y="215426"/>
            <a:chExt cx="2681582" cy="14402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BAA135-B191-0741-BD15-2AAA9B743613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CDF81C-5C1B-83B6-189C-0512BB05125D}"/>
                </a:ext>
              </a:extLst>
            </p:cNvPr>
            <p:cNvSpPr txBox="1"/>
            <p:nvPr/>
          </p:nvSpPr>
          <p:spPr>
            <a:xfrm>
              <a:off x="42815" y="286806"/>
              <a:ext cx="2638766" cy="13688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b="1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marL="0" indent="0" rtl="1" fontAlgn="ctr">
                <a:buNone/>
              </a:pPr>
              <a:r>
                <a:rPr lang="ar" b="0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لماذا قد تحتاج إلى رفض مقابلة؟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A5890B8-D790-07B1-0CA8-FD7E89B63F01}"/>
              </a:ext>
            </a:extLst>
          </p:cNvPr>
          <p:cNvSpPr txBox="1"/>
          <p:nvPr/>
        </p:nvSpPr>
        <p:spPr>
          <a:xfrm>
            <a:off x="488461" y="1621661"/>
            <a:ext cx="8187995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خطابات القبول أو الرفض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FDD20B-40A1-4500-82A1-AA482617D4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20" y="3861048"/>
            <a:ext cx="4320481" cy="23515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1180D7-0EB1-42B9-2834-8E557AC35262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165479099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D55879A-02E8-7CF4-77A8-627CBBF8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أ2 مهارات مقابلة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1F9A19-A707-E49B-0C6C-314CCEA63548}"/>
              </a:ext>
            </a:extLst>
          </p:cNvPr>
          <p:cNvSpPr txBox="1"/>
          <p:nvPr/>
        </p:nvSpPr>
        <p:spPr>
          <a:xfrm>
            <a:off x="953416" y="1683404"/>
            <a:ext cx="7237171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مهارات التواصل اللفظي وغير اللفظي</a:t>
            </a:r>
            <a:r>
              <a:rPr lang="ar" sz="2000" i="0" u="none" strike="noStrike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198285A-EB81-B0F2-EDD7-B352E63DA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415" y="2254341"/>
            <a:ext cx="7237171" cy="21827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 fontAlgn="ctr">
              <a:buNone/>
            </a:pPr>
            <a:r>
              <a:rPr lang="ar" sz="20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التواصل اللفظي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تحدث بوضوح مع نطق صحيح.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تجنب استخدام العامية أو المصطلحات الخاصة أو الاختصارات. 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استخدام لغة رسمية.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انتبه إلى عناصر ما وراء اللغة مثل سرعة الحديث ونبرته وطبقاته.</a:t>
            </a:r>
          </a:p>
          <a:p>
            <a:pPr marL="0" indent="0" rtl="1" fontAlgn="ctr">
              <a:buNone/>
            </a:pPr>
            <a:endParaRPr lang="en-GB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B5C578-850D-0827-0747-DE6DC6E07C92}"/>
              </a:ext>
            </a:extLst>
          </p:cNvPr>
          <p:cNvGrpSpPr/>
          <p:nvPr/>
        </p:nvGrpSpPr>
        <p:grpSpPr>
          <a:xfrm flipH="1">
            <a:off x="452906" y="4735549"/>
            <a:ext cx="8238187" cy="1335741"/>
            <a:chOff x="0" y="340554"/>
            <a:chExt cx="2570647" cy="16432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E6D4C2-14F0-7E8D-1E35-D829170CA29C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5E7BC9-E0CF-135F-E7F5-6583348F2829}"/>
                </a:ext>
              </a:extLst>
            </p:cNvPr>
            <p:cNvSpPr txBox="1"/>
            <p:nvPr/>
          </p:nvSpPr>
          <p:spPr>
            <a:xfrm>
              <a:off x="47787" y="340554"/>
              <a:ext cx="2522860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 جماعية: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فكّر في أمثلة من سياق مقابلة توضّح مهارات التواصل اللفظي المذكورة أعلاه. كيف يمكن أن تساعد مهارات التواصل اللفظي الجيدة في الحصول على وظيفة أو فرصة تدريب عملي؟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B78BCFC-3104-1DDA-40A7-DFE6EC8C74BC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5233247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E8027-D5C3-B016-A526-C231F782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9D2D2023-2377-5446-1A68-9CA00DE2AA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أ2 مهارات مقابلة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039806-209E-1B28-011A-8D1C64F84C1F}"/>
              </a:ext>
            </a:extLst>
          </p:cNvPr>
          <p:cNvSpPr txBox="1"/>
          <p:nvPr/>
        </p:nvSpPr>
        <p:spPr>
          <a:xfrm>
            <a:off x="1547663" y="1735212"/>
            <a:ext cx="6192689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مهارات التواصل اللفظي وغير اللفظي</a:t>
            </a:r>
            <a:r>
              <a:rPr lang="ar" sz="2000" i="0" u="none" strike="noStrike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465D70-2C5B-0143-76E5-38092688BADF}"/>
              </a:ext>
            </a:extLst>
          </p:cNvPr>
          <p:cNvGrpSpPr/>
          <p:nvPr/>
        </p:nvGrpSpPr>
        <p:grpSpPr>
          <a:xfrm flipH="1">
            <a:off x="447868" y="4994741"/>
            <a:ext cx="8248265" cy="1335741"/>
            <a:chOff x="0" y="340554"/>
            <a:chExt cx="2573792" cy="16432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DFBFD2-26F6-8D44-5418-2590BEF9419A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390269-E0A0-5E83-8594-B3DC4BDF68D8}"/>
                </a:ext>
              </a:extLst>
            </p:cNvPr>
            <p:cNvSpPr txBox="1"/>
            <p:nvPr/>
          </p:nvSpPr>
          <p:spPr>
            <a:xfrm>
              <a:off x="47787" y="340554"/>
              <a:ext cx="2526005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 جماعية:</a:t>
              </a:r>
            </a:p>
            <a:p>
              <a:pPr rtl="1"/>
              <a:r>
                <a:rPr lang="ar" sz="16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فكّر في أمثلة من سياق مقابلة توضّح مهارات التواصل غير اللفظي أعلاه. كيف يمكن أن تساعدك مهارات التواصل غير اللفظي الجيدة على الحصول على وظيفة أو تدريب عملي؟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FE3A83D-EFAB-38AF-DD6A-40AEC89FC7B9}"/>
              </a:ext>
            </a:extLst>
          </p:cNvPr>
          <p:cNvSpPr txBox="1"/>
          <p:nvPr/>
        </p:nvSpPr>
        <p:spPr>
          <a:xfrm>
            <a:off x="1547664" y="2231077"/>
            <a:ext cx="6192688" cy="26161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ar" sz="20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التواصل غير اللفظي</a:t>
            </a:r>
          </a:p>
          <a:p>
            <a:pPr marL="342900" indent="-342900" rtl="1" fontAlgn="ctr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استخدم لغة جسد منفتحة</a:t>
            </a:r>
            <a:r>
              <a:rPr lang="ar-EG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indent="-342900" rtl="1" fontAlgn="ctr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اجلس بثبات</a:t>
            </a:r>
            <a:r>
              <a:rPr lang="ar-EG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indent="-342900" rtl="1" fontAlgn="ctr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تجنّب التململ في أثناء جلوسك</a:t>
            </a:r>
            <a:r>
              <a:rPr lang="ar-EG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indent="-342900" rtl="1" fontAlgn="ctr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حافظ على التواصل البصري </a:t>
            </a:r>
            <a:r>
              <a:rPr lang="ar-EG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indent="-342900" rtl="1" fontAlgn="ctr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انتبه لتعبيرات وجهك</a:t>
            </a:r>
            <a:r>
              <a:rPr lang="ar-EG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indent="-342900" rtl="1" fontAlgn="ctr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تذكر أن تبتسم</a:t>
            </a:r>
            <a:r>
              <a:rPr lang="ar-EG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81C0E-9E97-D2C8-09A9-50640534619B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4373070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B06D-FBBF-756E-204E-0D8734959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23251151-0738-E984-6BB5-E5350B353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أ2 مهارات مقابلة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C67E8A-0574-2254-608A-17DF5DB672D2}"/>
              </a:ext>
            </a:extLst>
          </p:cNvPr>
          <p:cNvSpPr txBox="1"/>
          <p:nvPr/>
        </p:nvSpPr>
        <p:spPr>
          <a:xfrm>
            <a:off x="863683" y="1641262"/>
            <a:ext cx="7422602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فوائد الإصغاء للآخرين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66D14E9-1770-2D29-0761-84389CD79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06" y="2129143"/>
            <a:ext cx="7456179" cy="306635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 fontAlgn="ctr">
              <a:buNone/>
            </a:pPr>
            <a:r>
              <a:rPr lang="ar" sz="20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الإصغاء الفعال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اصغِ جيدًا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وركّز على ما يقوله الشخص الذي يُجري مقابلة العمل.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بيّن أنك منصت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اعترف بما يقوله الآخر (على سبيل المثال: أومئ برأسك، ابتسم، قل "نعم، أنا أفهم").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اطلب التوضيح عند الحاجة.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لا تقاطع الشخص الذي يُجري مقابلة العمل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أجب باحترام وشجّع على استمرار الحوار.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تذكر ما قيل.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C960B0-4063-D397-26B7-033940C938F3}"/>
              </a:ext>
            </a:extLst>
          </p:cNvPr>
          <p:cNvGrpSpPr/>
          <p:nvPr/>
        </p:nvGrpSpPr>
        <p:grpSpPr>
          <a:xfrm flipH="1">
            <a:off x="323529" y="5283265"/>
            <a:ext cx="8496943" cy="1335741"/>
            <a:chOff x="0" y="340554"/>
            <a:chExt cx="2564804" cy="164323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DCB53D-B8D3-1BE8-2CC2-31DD12C0C2C9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8DC002-0315-D52E-B4FC-310F43F87C24}"/>
                </a:ext>
              </a:extLst>
            </p:cNvPr>
            <p:cNvSpPr txBox="1"/>
            <p:nvPr/>
          </p:nvSpPr>
          <p:spPr>
            <a:xfrm>
              <a:off x="47787" y="340554"/>
              <a:ext cx="2517017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 </a:t>
              </a:r>
            </a:p>
            <a:p>
              <a:pPr rtl="1"/>
              <a:r>
                <a:rPr lang="ar" sz="16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تخيل أنك تخبر صديقًا عن مشكلة لديك، بينما يتجنب التواصل البصري، ويبتسم، ويلوح لأشخاص آخرين في أثناء مرورهم. كيف سيؤثر ذلك على مشاعرك؟ وكيف قد تكون ردة فعلك؟ 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748A4BA-1FF3-6054-68FB-A51E4A5C1E12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2107061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59C8-9389-FD0B-127B-233607BED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27A69F45-3B07-A3A7-97BD-04288263D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أ2 مهارات مقابلة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9012F0-3AF6-2DF0-EB1F-A8A5431C3FE4}"/>
              </a:ext>
            </a:extLst>
          </p:cNvPr>
          <p:cNvGrpSpPr/>
          <p:nvPr/>
        </p:nvGrpSpPr>
        <p:grpSpPr>
          <a:xfrm flipH="1">
            <a:off x="551814" y="4552565"/>
            <a:ext cx="8148603" cy="1960242"/>
            <a:chOff x="0" y="340555"/>
            <a:chExt cx="2564804" cy="16432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1740FD-D0A3-B03F-DEE7-416184FDB92A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069486-7F63-A1B3-53A6-19CB7C52FCAA}"/>
                </a:ext>
              </a:extLst>
            </p:cNvPr>
            <p:cNvSpPr txBox="1"/>
            <p:nvPr/>
          </p:nvSpPr>
          <p:spPr>
            <a:xfrm>
              <a:off x="47787" y="340555"/>
              <a:ext cx="2517017" cy="16302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وضح الطريقة التي ستجيب بها على الأسئلة الآتية بالتعاون مع أحد زملائك.</a:t>
              </a:r>
            </a:p>
            <a:p>
              <a:pPr marL="342900" indent="-342900" rtl="1" fontAlgn="ctr">
                <a:buFont typeface="+mj-lt"/>
                <a:buAutoNum type="arabicPeriod"/>
              </a:pPr>
              <a:r>
                <a:rPr lang="ar" sz="160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اضرب لي مثالًا على موقف ارتكبت فيه خطأ. ماذا تعلمت منه؟ ماذا تعلمت من مقطع الفيديو التعليمي؟</a:t>
              </a:r>
            </a:p>
            <a:p>
              <a:pPr marL="342900" indent="-342900" rtl="1" fontAlgn="ctr">
                <a:buFont typeface="+mj-lt"/>
                <a:buAutoNum type="arabicPeriod"/>
              </a:pPr>
              <a:r>
                <a:rPr lang="ar" sz="160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اضرب لي مثالًا على موقف تعاملت فيه مع نزاع. ماذا حدث؟</a:t>
              </a:r>
            </a:p>
            <a:p>
              <a:pPr marL="342900" indent="-342900" rtl="1" fontAlgn="ctr">
                <a:buFont typeface="+mj-lt"/>
                <a:buAutoNum type="arabicPeriod"/>
              </a:pPr>
              <a:r>
                <a:rPr lang="ar" sz="160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اضرب لي مثالًا على موقف عملت فيه مع زميل فظ في التعامل. ماذا فعلت؟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E30B981-DFD2-BAFB-2BF6-4749BD5A3BA5}"/>
              </a:ext>
            </a:extLst>
          </p:cNvPr>
          <p:cNvSpPr txBox="1"/>
          <p:nvPr/>
        </p:nvSpPr>
        <p:spPr>
          <a:xfrm>
            <a:off x="551814" y="2500867"/>
            <a:ext cx="399681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a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طرح الأسئلة والإجابة عنها 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اطرح أسئلة مدروسة وذات صلة.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اربط إجاباتك مباشرة بأسئلة الشخص الذي يُجري مقابلة العمل.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DBE74-8A6B-F080-1E94-95F55FF08F16}"/>
              </a:ext>
            </a:extLst>
          </p:cNvPr>
          <p:cNvSpPr txBox="1"/>
          <p:nvPr/>
        </p:nvSpPr>
        <p:spPr>
          <a:xfrm>
            <a:off x="551814" y="1996275"/>
            <a:ext cx="3996812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أسئلة مقابلة العمل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ED4EBA-FA38-46CB-B59E-7FB6B0822E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1719749"/>
            <a:ext cx="3987353" cy="25733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E0BD10-B5B3-1B87-0796-D1F00C910501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21562065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D55879A-02E8-7CF4-77A8-627CBBF8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أ2 مهارات مقابلة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16AAB97-AF25-0E96-0B93-B44FF9685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331293"/>
            <a:ext cx="8496944" cy="2681883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ويجب عليك تنفيذ الآتي:</a:t>
            </a:r>
          </a:p>
          <a:p>
            <a:pPr rtl="1">
              <a:buFont typeface="Wingdings" pitchFamily="2" charset="2"/>
              <a:buChar char="ü"/>
            </a:pPr>
            <a:r>
              <a:rPr lang="a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</a:t>
            </a:r>
            <a:r>
              <a:rPr lang="ar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تتحلى بالأدب وأن تحترم الآخرين وتعاملهم بتقدير.</a:t>
            </a:r>
          </a:p>
          <a:p>
            <a:pPr rtl="1">
              <a:buFont typeface="Wingdings" pitchFamily="2" charset="2"/>
              <a:buChar char="ü"/>
            </a:pPr>
            <a:r>
              <a:rPr lang="a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</a:t>
            </a:r>
            <a:r>
              <a:rPr lang="ar" sz="1700" i="0" u="none" strike="no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تُظهر التعاطف بمحاولة فهم مشاعر الآخرين ومشاركتها.</a:t>
            </a:r>
          </a:p>
          <a:p>
            <a:pPr rtl="1">
              <a:buFont typeface="Wingdings" pitchFamily="2" charset="2"/>
              <a:buChar char="ü"/>
            </a:pPr>
            <a:r>
              <a:rPr lang="a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 تكون مرنًا وقادرًا على التكيف مع المواقف والأشخاص.</a:t>
            </a:r>
          </a:p>
          <a:p>
            <a:pPr rtl="1">
              <a:buFont typeface="Wingdings" pitchFamily="2" charset="2"/>
              <a:buChar char="ü"/>
            </a:pPr>
            <a:r>
              <a:rPr lang="ar" sz="1700" i="0" u="none" strike="no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 تظهر سرعة البديهة مع تقديم أمثلة عملية.</a:t>
            </a:r>
          </a:p>
          <a:p>
            <a:pPr rtl="1">
              <a:buFont typeface="Wingdings" pitchFamily="2" charset="2"/>
              <a:buChar char="ü"/>
            </a:pPr>
            <a:r>
              <a:rPr lang="a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 يلتزم بالتعلم والتحسين الذاتي.</a:t>
            </a:r>
          </a:p>
          <a:p>
            <a:pPr rtl="1">
              <a:buFont typeface="Wingdings" pitchFamily="2" charset="2"/>
              <a:buChar char="ü"/>
            </a:pPr>
            <a:r>
              <a:rPr lang="a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" sz="1700" i="0" u="none" strike="no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يبرهن على الصمود العاطفي بالقدرة على تجاوز الانتكاسات.</a:t>
            </a:r>
          </a:p>
          <a:p>
            <a:pPr rtl="1">
              <a:buFont typeface="Wingdings" pitchFamily="2" charset="2"/>
              <a:buChar char="ü"/>
            </a:pPr>
            <a:r>
              <a:rPr lang="a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 يظهر الحماس باستخدام لغة جسد إيجابية والتفاعل مع الشخص الذي يجري مقابلة العمل.</a:t>
            </a:r>
            <a:endParaRPr lang="en-GB" sz="1700" i="0" u="none" strike="no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2EBC8-9664-01E1-6264-A99E991155B0}"/>
              </a:ext>
            </a:extLst>
          </p:cNvPr>
          <p:cNvSpPr txBox="1"/>
          <p:nvPr/>
        </p:nvSpPr>
        <p:spPr>
          <a:xfrm>
            <a:off x="323528" y="1828089"/>
            <a:ext cx="8496944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المهارات الشخصية والاجتماعية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40EA74-9A33-5DA3-9702-4CF7DAE1DDB4}"/>
              </a:ext>
            </a:extLst>
          </p:cNvPr>
          <p:cNvGrpSpPr/>
          <p:nvPr/>
        </p:nvGrpSpPr>
        <p:grpSpPr>
          <a:xfrm flipH="1">
            <a:off x="323529" y="5263447"/>
            <a:ext cx="8496943" cy="1261898"/>
            <a:chOff x="0" y="215426"/>
            <a:chExt cx="2681582" cy="144026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7CD04-72A7-BA59-D7E5-934873A25469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C0DDEA-EDE5-15E6-F7B2-AAE13CA2EB5C}"/>
                </a:ext>
              </a:extLst>
            </p:cNvPr>
            <p:cNvSpPr txBox="1"/>
            <p:nvPr/>
          </p:nvSpPr>
          <p:spPr>
            <a:xfrm>
              <a:off x="42815" y="286806"/>
              <a:ext cx="2638766" cy="13688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b="1" i="0" u="none" strike="noStrike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marL="0" indent="0" rtl="1" fontAlgn="ctr">
                <a:buNone/>
              </a:pPr>
              <a:r>
                <a:rPr lang="ar" b="0" i="0" u="none" strike="noStrike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لماذا يُعد التفاعل مع صاحب العمل بطريقة صحيحة أمرًا أساسيًا في أثناء مقابلة العمل؟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E7E17BA-E410-5C79-FC08-6D3DBCC6C936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7692712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D7B3D-1407-3312-6E04-03EEA131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638DE7F7-D1EA-0AB0-7912-FE490FE71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أ2 مهارات مقابلة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64B3A-EEC4-1CF0-A354-C2D8EC9B83CB}"/>
              </a:ext>
            </a:extLst>
          </p:cNvPr>
          <p:cNvSpPr txBox="1"/>
          <p:nvPr/>
        </p:nvSpPr>
        <p:spPr>
          <a:xfrm>
            <a:off x="578738" y="1752171"/>
            <a:ext cx="7986522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أهمية التزام المواعيد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C4032-592D-010C-667A-35A28FECB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737" y="2348695"/>
            <a:ext cx="3993261" cy="40803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المقابلات وجهًا لوجه</a:t>
            </a:r>
          </a:p>
          <a:p>
            <a:pPr rtl="1"/>
            <a:r>
              <a:rPr lang="ar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احضر في الوقت المحدد أو قبل الموعد بدقائق.</a:t>
            </a:r>
          </a:p>
          <a:p>
            <a:pPr rtl="1"/>
            <a:r>
              <a:rPr lang="ar" sz="1800" i="0" u="none" strike="no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اعثر على غرفة مقابلة العمل وراجع ملاحظاتك وأسئلتك.</a:t>
            </a:r>
            <a:endParaRPr lang="en-GB" sz="18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endParaRPr lang="en-GB" sz="1400" b="1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المقابلات عبر الإنترنت</a:t>
            </a:r>
          </a:p>
          <a:p>
            <a:pPr rtl="1"/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جهّز نفسك في مكان لن يتعرض فيه أحد لمقاطعتك.</a:t>
            </a:r>
          </a:p>
          <a:p>
            <a:pPr rtl="1"/>
            <a:r>
              <a:rPr lang="ar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استعد بفتح رابط الاجتماع واختبار الاتصال بالإنترنت.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سجّل الدخول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قبل الموعد ببضع دقائق.</a:t>
            </a:r>
            <a:endParaRPr lang="en-GB" sz="18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C1E71A-909B-5FA0-AA95-41858A512335}"/>
              </a:ext>
            </a:extLst>
          </p:cNvPr>
          <p:cNvGrpSpPr/>
          <p:nvPr/>
        </p:nvGrpSpPr>
        <p:grpSpPr>
          <a:xfrm flipH="1">
            <a:off x="794763" y="5013176"/>
            <a:ext cx="3273181" cy="1415895"/>
            <a:chOff x="0" y="204542"/>
            <a:chExt cx="2681582" cy="13797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205013-E567-BAAB-0E09-8F682355C0D8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BA57EB-C50B-9FAC-7F7D-E0C329F2CA92}"/>
                </a:ext>
              </a:extLst>
            </p:cNvPr>
            <p:cNvSpPr txBox="1"/>
            <p:nvPr/>
          </p:nvSpPr>
          <p:spPr>
            <a:xfrm>
              <a:off x="42815" y="204542"/>
              <a:ext cx="2638766" cy="13688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b="1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marL="0" indent="0" rtl="1" fontAlgn="ctr">
                <a:buNone/>
              </a:pPr>
              <a:r>
                <a:rPr lang="ar" b="0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ما الخطوات التي يجب اتخاذها إذا تأخرت عن موعد مقابلة العمل؟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9AF95D5-C321-4A45-9B7A-DDBC26A490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002" y="2396624"/>
            <a:ext cx="3762974" cy="2605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3A8219-CF59-127D-8FB1-B07291715394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9869342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D55879A-02E8-7CF4-77A8-627CBBF8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1800">
                <a:latin typeface="Times New Roman" panose="02020603050405020304" pitchFamily="18" charset="0"/>
                <a:cs typeface="Times New Roman" panose="02020603050405020304" pitchFamily="18" charset="0"/>
              </a:rPr>
              <a:t>أ3 الاستعداد لمقابلة العمل</a:t>
            </a:r>
            <a:endParaRPr lang="en-GB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16AAB97-AF25-0E96-0B93-B44FF9685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041" y="2176783"/>
            <a:ext cx="2184407" cy="4429335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800">
                <a:latin typeface="Times New Roman" panose="02020603050405020304" pitchFamily="18" charset="0"/>
                <a:cs typeface="Times New Roman" panose="02020603050405020304" pitchFamily="18" charset="0"/>
              </a:rPr>
              <a:t>ينبغي للمتعلم أن يعرف:</a:t>
            </a:r>
          </a:p>
          <a:p>
            <a:pPr rtl="1"/>
            <a:r>
              <a:rPr lang="ar" sz="1800">
                <a:latin typeface="Times New Roman" panose="02020603050405020304" pitchFamily="18" charset="0"/>
                <a:cs typeface="Times New Roman" panose="02020603050405020304" pitchFamily="18" charset="0"/>
              </a:rPr>
              <a:t>كيفية الوصول إلى مقابلة العمل.</a:t>
            </a:r>
          </a:p>
          <a:p>
            <a:pPr rtl="1"/>
            <a:r>
              <a:rPr lang="ar" sz="1800">
                <a:latin typeface="Times New Roman" panose="02020603050405020304" pitchFamily="18" charset="0"/>
                <a:cs typeface="Times New Roman" panose="02020603050405020304" pitchFamily="18" charset="0"/>
              </a:rPr>
              <a:t>كيفية ترك انطباع أول جيد.</a:t>
            </a:r>
          </a:p>
          <a:p>
            <a:pPr rtl="1"/>
            <a:r>
              <a:rPr lang="ar" sz="1800">
                <a:latin typeface="Times New Roman" panose="02020603050405020304" pitchFamily="18" charset="0"/>
                <a:cs typeface="Times New Roman" panose="02020603050405020304" pitchFamily="18" charset="0"/>
              </a:rPr>
              <a:t>بعض الحقائق ذات الصلة عن جهة العمل.</a:t>
            </a:r>
          </a:p>
          <a:p>
            <a:pPr rtl="1"/>
            <a:r>
              <a:rPr lang="ar" sz="1800">
                <a:latin typeface="Times New Roman" panose="02020603050405020304" pitchFamily="18" charset="0"/>
                <a:cs typeface="Times New Roman" panose="02020603050405020304" pitchFamily="18" charset="0"/>
              </a:rPr>
              <a:t>الأسئلة التي يمكن طرحها.</a:t>
            </a:r>
          </a:p>
          <a:p>
            <a:pPr rtl="1"/>
            <a:r>
              <a:rPr lang="ar" sz="1800">
                <a:latin typeface="Times New Roman" panose="02020603050405020304" pitchFamily="18" charset="0"/>
                <a:cs typeface="Times New Roman" panose="02020603050405020304" pitchFamily="18" charset="0"/>
              </a:rPr>
              <a:t>ما يمكن توقعه في موقف مقابلة العمل.</a:t>
            </a:r>
          </a:p>
          <a:p>
            <a:pPr marL="0" indent="0" rtl="1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2EBC8-9664-01E1-6264-A99E991155B0}"/>
              </a:ext>
            </a:extLst>
          </p:cNvPr>
          <p:cNvSpPr txBox="1"/>
          <p:nvPr/>
        </p:nvSpPr>
        <p:spPr>
          <a:xfrm>
            <a:off x="413630" y="1718126"/>
            <a:ext cx="8190814" cy="369332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التخطيط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92467C-287B-1892-248B-92ABD995A8A8}"/>
              </a:ext>
            </a:extLst>
          </p:cNvPr>
          <p:cNvGrpSpPr/>
          <p:nvPr/>
        </p:nvGrpSpPr>
        <p:grpSpPr>
          <a:xfrm flipH="1">
            <a:off x="413628" y="2176784"/>
            <a:ext cx="5814556" cy="3132685"/>
            <a:chOff x="2636829" y="1340768"/>
            <a:chExt cx="5814556" cy="3132685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0A51433-A872-DC0E-8093-F6DC4A3CC2DC}"/>
                </a:ext>
              </a:extLst>
            </p:cNvPr>
            <p:cNvSpPr/>
            <p:nvPr/>
          </p:nvSpPr>
          <p:spPr>
            <a:xfrm>
              <a:off x="2636829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rtlCol="1" anchor="ctr" anchorCtr="0">
              <a:noAutofit/>
            </a:bodyPr>
            <a:lstStyle/>
            <a:p>
              <a:pPr marL="0" marR="0" lvl="0" indent="0" algn="ctr" defTabSz="914400" rtl="1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" sz="1600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ابحث عن وسائل المواصلات المناسبة للوصول إلى مكان مقابلة العمل.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60221FA-8735-276D-32D2-DDC228E62BE3}"/>
                </a:ext>
              </a:extLst>
            </p:cNvPr>
            <p:cNvSpPr/>
            <p:nvPr/>
          </p:nvSpPr>
          <p:spPr>
            <a:xfrm>
              <a:off x="4636716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160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احرص على اختيار ملابسك بطريقة تعبّر عن احترامك لثقافة مكان العمل.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73E83C3-9979-303A-74F9-161AAF611533}"/>
                </a:ext>
              </a:extLst>
            </p:cNvPr>
            <p:cNvSpPr/>
            <p:nvPr/>
          </p:nvSpPr>
          <p:spPr>
            <a:xfrm>
              <a:off x="6636602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احرص على أن يكون مظهرك احترافيًا.</a:t>
              </a: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EDFD67C-1568-C889-350A-EE6B8ACF20B8}"/>
                </a:ext>
              </a:extLst>
            </p:cNvPr>
            <p:cNvSpPr/>
            <p:nvPr/>
          </p:nvSpPr>
          <p:spPr>
            <a:xfrm>
              <a:off x="2636829" y="3011298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160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ابحث عن معلومات عن جهة العمل للحصول على معرفة مسبقة بطبيعة العمل. </a:t>
              </a: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4BCD13B-3143-105D-D5F3-4E39E1DFEBF8}"/>
                </a:ext>
              </a:extLst>
            </p:cNvPr>
            <p:cNvSpPr/>
            <p:nvPr/>
          </p:nvSpPr>
          <p:spPr>
            <a:xfrm>
              <a:off x="4636716" y="3011298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جهز أسئلة مناسبة تُظهر اهتمامك بجهة العمل</a:t>
              </a:r>
              <a:r>
                <a:rPr lang="ar-EG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.</a:t>
              </a:r>
              <a:endParaRPr lang="ar" sz="1600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C4128B9-C078-1F4E-32E7-C807B8A73288}"/>
                </a:ext>
              </a:extLst>
            </p:cNvPr>
            <p:cNvSpPr/>
            <p:nvPr/>
          </p:nvSpPr>
          <p:spPr>
            <a:xfrm>
              <a:off x="6636600" y="2977570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160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تعرّف إجراءات المقابلات مسبقًا.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37F844-E718-8988-D30A-043A63231DD5}"/>
              </a:ext>
            </a:extLst>
          </p:cNvPr>
          <p:cNvGrpSpPr/>
          <p:nvPr/>
        </p:nvGrpSpPr>
        <p:grpSpPr>
          <a:xfrm flipH="1">
            <a:off x="413630" y="5393305"/>
            <a:ext cx="5762256" cy="1276056"/>
            <a:chOff x="0" y="215426"/>
            <a:chExt cx="2681582" cy="144026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D6D4C09-4C60-7716-6A20-A9319F1395E9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8C12675-7DEE-1543-2416-9200F909D029}"/>
                </a:ext>
              </a:extLst>
            </p:cNvPr>
            <p:cNvSpPr txBox="1"/>
            <p:nvPr/>
          </p:nvSpPr>
          <p:spPr>
            <a:xfrm>
              <a:off x="9144" y="286806"/>
              <a:ext cx="2638766" cy="13688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sz="1600" b="1" i="0" u="none" strike="noStrike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marL="0" indent="0" rtl="1" fontAlgn="ctr">
                <a:buNone/>
              </a:pPr>
              <a:r>
                <a:rPr lang="ar" sz="1600" b="0" i="0" u="none" strike="noStrike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كيف يمكن أن يسهم اطلاعك على موقع الجهة وصفحاتها على وسائل التواصل الاجتماعي في تعزيز استعدادك للمقابلة؟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ABD5BF-5E56-FA35-92E8-DCAE2B61CF47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19646824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2C30-80D8-A1E1-3E1D-3ABCF711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EA721DC3-FB1F-FF93-2B75-37E21D91E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نتاج التعلم ب</a:t>
            </a: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FAE45F43-5513-6BEB-2253-6A6959ED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القدرة على استعراض مهارات العمل المرتبطة بمجال الرعاية الصحيّة والاجتماعية</a:t>
            </a:r>
            <a:r>
              <a:rPr lang="ar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en-GB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F6498C-C9C4-EE42-0A87-943463BDE85C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273869738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A046072-89F1-313F-A9F5-6C06A79BE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1174F65-4DDD-B67D-6F81-2CDC2253F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84168" y="1412776"/>
            <a:ext cx="2520280" cy="5112567"/>
          </a:xfrm>
          <a:solidFill>
            <a:schemeClr val="accent5"/>
          </a:solidFill>
        </p:spPr>
        <p:txBody>
          <a:bodyPr rtlCol="1"/>
          <a:lstStyle/>
          <a:p>
            <a:pPr rtl="1"/>
            <a:r>
              <a:rPr lang="ar" sz="1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نتاج التعلم ب: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ستتعرف المهارات العملية المستخدمة في مجالات الرعاية الصحيّة والاجتماعية،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وتتعرف أنواعها المختلفة والأفراد الذين يستخدمون هذه الخدمات ومدى ملاءمة هذه المجالات لتدريبك العملي.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كما ستدرس مهارات التواصل اللفظي وغير اللفظي ومهارات الإصغاء والإصغاء والوعي المكاني المطبقة في بيئات العمل.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D19D00-D584-CA01-98FF-3E12DAEC266A}"/>
              </a:ext>
            </a:extLst>
          </p:cNvPr>
          <p:cNvGrpSpPr/>
          <p:nvPr/>
        </p:nvGrpSpPr>
        <p:grpSpPr>
          <a:xfrm flipH="1">
            <a:off x="594070" y="1630009"/>
            <a:ext cx="5111751" cy="4781422"/>
            <a:chOff x="594070" y="1630009"/>
            <a:chExt cx="5111751" cy="478142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E4F3B6C-07A1-9649-4423-F045C04C7DDB}"/>
                </a:ext>
              </a:extLst>
            </p:cNvPr>
            <p:cNvSpPr/>
            <p:nvPr/>
          </p:nvSpPr>
          <p:spPr>
            <a:xfrm>
              <a:off x="594070" y="1630009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Rectangle 3" descr="Tick">
              <a:extLst>
                <a:ext uri="{FF2B5EF4-FFF2-40B4-BE49-F238E27FC236}">
                  <a16:creationId xmlns:a16="http://schemas.microsoft.com/office/drawing/2014/main" id="{32DC8656-9CC7-6C09-1B79-C94AEBF8281E}"/>
                </a:ext>
              </a:extLst>
            </p:cNvPr>
            <p:cNvSpPr/>
            <p:nvPr/>
          </p:nvSpPr>
          <p:spPr>
            <a:xfrm flipH="1">
              <a:off x="898571" y="1856497"/>
              <a:ext cx="553638" cy="553638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41DF518-F8C5-B4FA-C0A3-04581B580F12}"/>
                </a:ext>
              </a:extLst>
            </p:cNvPr>
            <p:cNvSpPr/>
            <p:nvPr/>
          </p:nvSpPr>
          <p:spPr>
            <a:xfrm>
              <a:off x="1756710" y="1630009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مجالات المحتوى الرئيسة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ADBE6A1-7014-DE34-CB5B-107709B752BE}"/>
                </a:ext>
              </a:extLst>
            </p:cNvPr>
            <p:cNvSpPr/>
            <p:nvPr/>
          </p:nvSpPr>
          <p:spPr>
            <a:xfrm>
              <a:off x="594070" y="2888278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 descr="Doctor female with solid fill">
              <a:extLst>
                <a:ext uri="{FF2B5EF4-FFF2-40B4-BE49-F238E27FC236}">
                  <a16:creationId xmlns:a16="http://schemas.microsoft.com/office/drawing/2014/main" id="{DED69037-8D55-B5F5-2A03-A9D7C14A3D9A}"/>
                </a:ext>
              </a:extLst>
            </p:cNvPr>
            <p:cNvSpPr/>
            <p:nvPr/>
          </p:nvSpPr>
          <p:spPr>
            <a:xfrm flipH="1">
              <a:off x="898571" y="3114766"/>
              <a:ext cx="553638" cy="553638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AB4B9A3-DA00-F0E2-EB1F-AB6B0C67EFDF}"/>
                </a:ext>
              </a:extLst>
            </p:cNvPr>
            <p:cNvSpPr/>
            <p:nvPr/>
          </p:nvSpPr>
          <p:spPr>
            <a:xfrm>
              <a:off x="1756710" y="2888278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ب1 مهارات العمل</a:t>
              </a:r>
              <a:endParaRPr lang="en-US" sz="2200" b="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1CF743B-0E23-077A-575A-BEFE141E0F5D}"/>
                </a:ext>
              </a:extLst>
            </p:cNvPr>
            <p:cNvSpPr/>
            <p:nvPr/>
          </p:nvSpPr>
          <p:spPr>
            <a:xfrm>
              <a:off x="594070" y="4146547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 descr="Family with two children with solid fill">
              <a:extLst>
                <a:ext uri="{FF2B5EF4-FFF2-40B4-BE49-F238E27FC236}">
                  <a16:creationId xmlns:a16="http://schemas.microsoft.com/office/drawing/2014/main" id="{9A20EB18-6E03-9EB5-BD81-53ECADFF6AAE}"/>
                </a:ext>
              </a:extLst>
            </p:cNvPr>
            <p:cNvSpPr/>
            <p:nvPr/>
          </p:nvSpPr>
          <p:spPr>
            <a:xfrm flipH="1">
              <a:off x="898571" y="4373035"/>
              <a:ext cx="553638" cy="553638"/>
            </a:xfrm>
            <a:prstGeom prst="rect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6206DF-723D-1B10-189F-F0A3114FD40B}"/>
                </a:ext>
              </a:extLst>
            </p:cNvPr>
            <p:cNvSpPr/>
            <p:nvPr/>
          </p:nvSpPr>
          <p:spPr>
            <a:xfrm>
              <a:off x="1756710" y="4146547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ب2 مجالات الرعاية الصحيّة والاجتماعية</a:t>
              </a:r>
              <a:endParaRPr lang="en-US" sz="2200" b="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BACDEB6-B2F5-D11E-3D0D-7FACE7CA1962}"/>
                </a:ext>
              </a:extLst>
            </p:cNvPr>
            <p:cNvSpPr/>
            <p:nvPr/>
          </p:nvSpPr>
          <p:spPr>
            <a:xfrm>
              <a:off x="594070" y="5404816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 descr="Chat">
              <a:extLst>
                <a:ext uri="{FF2B5EF4-FFF2-40B4-BE49-F238E27FC236}">
                  <a16:creationId xmlns:a16="http://schemas.microsoft.com/office/drawing/2014/main" id="{FB6DCFBA-CBF7-26F1-8140-06A7B6034395}"/>
                </a:ext>
              </a:extLst>
            </p:cNvPr>
            <p:cNvSpPr/>
            <p:nvPr/>
          </p:nvSpPr>
          <p:spPr>
            <a:xfrm flipH="1">
              <a:off x="898571" y="5631305"/>
              <a:ext cx="553638" cy="553638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F1760E4-6381-C336-5686-B8BED138EF43}"/>
                </a:ext>
              </a:extLst>
            </p:cNvPr>
            <p:cNvSpPr/>
            <p:nvPr/>
          </p:nvSpPr>
          <p:spPr>
            <a:xfrm>
              <a:off x="1756710" y="5404816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ب3 المهارات التفاعلية ضمن بيئة العمل</a:t>
              </a:r>
              <a:endParaRPr lang="en-US" sz="2200" b="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578B3BF-641A-9323-431D-0ACE5E444283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0096BA-B5CF-F7E7-8964-98227546B098}"/>
              </a:ext>
            </a:extLst>
          </p:cNvPr>
          <p:cNvSpPr txBox="1"/>
          <p:nvPr/>
        </p:nvSpPr>
        <p:spPr bwMode="auto">
          <a:xfrm>
            <a:off x="5910358" y="1566737"/>
            <a:ext cx="2738263" cy="7117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ب1 مهارات العمل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5A587A99-E55D-9322-4F1B-C0B3C4CA81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5705172"/>
              </p:ext>
            </p:extLst>
          </p:nvPr>
        </p:nvGraphicFramePr>
        <p:xfrm>
          <a:off x="453657" y="1638730"/>
          <a:ext cx="5111751" cy="4926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2EEA949-0F67-7383-A21E-B798CDC48F69}"/>
              </a:ext>
            </a:extLst>
          </p:cNvPr>
          <p:cNvGrpSpPr/>
          <p:nvPr/>
        </p:nvGrpSpPr>
        <p:grpSpPr>
          <a:xfrm>
            <a:off x="5910358" y="2122383"/>
            <a:ext cx="2784613" cy="4186938"/>
            <a:chOff x="0" y="177288"/>
            <a:chExt cx="2686046" cy="14070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2A8C661-BCF2-1B80-6966-071BF4FE6D04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B14946-9951-DD98-D16F-2445973036EF}"/>
                </a:ext>
              </a:extLst>
            </p:cNvPr>
            <p:cNvSpPr txBox="1"/>
            <p:nvPr/>
          </p:nvSpPr>
          <p:spPr>
            <a:xfrm>
              <a:off x="4464" y="209411"/>
              <a:ext cx="2681582" cy="1374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تعاون مع أحد زملائك:</a:t>
              </a:r>
              <a:endParaRPr lang="en-GB" sz="1600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المهارة شيء تستطيع القيام به.</a:t>
              </a:r>
            </a:p>
            <a:p>
              <a:pPr rtl="1"/>
              <a:endParaRPr lang="en-GB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أي من هذه المهارات تُعد الأهم في مجالات الرعاية الصحيّة والاجتماعية؟</a:t>
              </a:r>
            </a:p>
            <a:p>
              <a:pPr rtl="1"/>
              <a:endParaRPr lang="en-GB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rtl="1">
                <a:buFont typeface="+mj-lt"/>
                <a:buAutoNum type="arabicPeriod"/>
              </a:pPr>
              <a:r>
                <a:rPr lang="ar" sz="1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رتّب المهارات من 1 إلى 10 مع تبرير اختياراتك.</a:t>
              </a:r>
            </a:p>
            <a:p>
              <a:pPr marL="342900" indent="-342900" rtl="1">
                <a:buFont typeface="+mj-lt"/>
                <a:buAutoNum type="arabicPeriod"/>
              </a:pPr>
              <a:r>
                <a:rPr lang="ar" sz="1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هل تمتلك جميع هذه المهارات؟ اذكر المهارات التي تحتاج إلى تطوير.</a:t>
              </a:r>
            </a:p>
            <a:p>
              <a:pPr marL="342900" indent="-342900" rtl="1">
                <a:buFont typeface="+mj-lt"/>
                <a:buAutoNum type="arabicPeriod"/>
              </a:pPr>
              <a:r>
                <a:rPr lang="ar" sz="1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شارك النتائج التي توصلت إليها </a:t>
              </a:r>
              <a:br>
                <a:rPr lang="en-US" sz="1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ar" sz="1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مع المجموعة.</a:t>
              </a:r>
              <a:endPara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52BBBCB-AF80-E530-61C3-AD8014B34792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17503013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FEB4-460D-D738-45B9-60EC0F93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D18F967-0820-EBD6-3831-59D960518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2EB166F-0369-0B2D-5376-B1357088B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325" y="1268760"/>
            <a:ext cx="4033155" cy="5330144"/>
          </a:xfrm>
          <a:solidFill>
            <a:schemeClr val="accent5"/>
          </a:solidFill>
        </p:spPr>
        <p:txBody>
          <a:bodyPr rtlCol="1"/>
          <a:lstStyle/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الخدمات القانونية: تُقدمها الحكومة.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للفئات المستضعفة مثل الأطفال والرضع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وكبار السن</a:t>
            </a:r>
            <a:r>
              <a:rPr lang="ar-E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الأشخاص ذوي الإعاقات الجسدية أو الإدراكية.</a:t>
            </a:r>
          </a:p>
          <a:p>
            <a:pPr lvl="1" rtl="1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الخدمات التطوعية: يقدّمها متطوعون لتوفير الرفقة والدعم العاطفي والمساعدة العملية للأفراد المحتاجين.</a:t>
            </a:r>
          </a:p>
          <a:p>
            <a:pPr lvl="1" rtl="1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الخدمات الخاصة: العلاج الطبي الذي يدفع تكلفته الفرد أو التأمين الطبي أو نظام الرعاية الصحية في بيئة العمل.</a:t>
            </a:r>
          </a:p>
          <a:p>
            <a:pPr rtl="1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01B483-787C-9BC2-9ED6-2412E4B38CFC}"/>
              </a:ext>
            </a:extLst>
          </p:cNvPr>
          <p:cNvGrpSpPr/>
          <p:nvPr/>
        </p:nvGrpSpPr>
        <p:grpSpPr>
          <a:xfrm flipH="1">
            <a:off x="457201" y="1658242"/>
            <a:ext cx="4114799" cy="4781422"/>
            <a:chOff x="457201" y="1658242"/>
            <a:chExt cx="4114799" cy="478142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0A8CDC6-D9A0-85C5-7C85-E9FEC2A8DE3B}"/>
                </a:ext>
              </a:extLst>
            </p:cNvPr>
            <p:cNvSpPr/>
            <p:nvPr/>
          </p:nvSpPr>
          <p:spPr>
            <a:xfrm>
              <a:off x="457201" y="1658242"/>
              <a:ext cx="4114799" cy="100661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9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 descr="Hospital with solid fill">
              <a:extLst>
                <a:ext uri="{FF2B5EF4-FFF2-40B4-BE49-F238E27FC236}">
                  <a16:creationId xmlns:a16="http://schemas.microsoft.com/office/drawing/2014/main" id="{E8F010F9-CDBA-9BCF-1A84-8F39A8A59CD3}"/>
                </a:ext>
              </a:extLst>
            </p:cNvPr>
            <p:cNvSpPr/>
            <p:nvPr/>
          </p:nvSpPr>
          <p:spPr>
            <a:xfrm flipH="1">
              <a:off x="761702" y="1884730"/>
              <a:ext cx="553638" cy="553638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8DCC52D-BB1D-9386-1B6C-744F17C602FB}"/>
                </a:ext>
              </a:extLst>
            </p:cNvPr>
            <p:cNvSpPr/>
            <p:nvPr/>
          </p:nvSpPr>
          <p:spPr>
            <a:xfrm>
              <a:off x="1619841" y="1725675"/>
              <a:ext cx="2952158" cy="871748"/>
            </a:xfrm>
            <a:custGeom>
              <a:avLst/>
              <a:gdLst>
                <a:gd name="connsiteX0" fmla="*/ 0 w 2952158"/>
                <a:gd name="connsiteY0" fmla="*/ 0 h 871748"/>
                <a:gd name="connsiteX1" fmla="*/ 2952158 w 2952158"/>
                <a:gd name="connsiteY1" fmla="*/ 0 h 871748"/>
                <a:gd name="connsiteX2" fmla="*/ 2952158 w 2952158"/>
                <a:gd name="connsiteY2" fmla="*/ 871748 h 871748"/>
                <a:gd name="connsiteX3" fmla="*/ 0 w 2952158"/>
                <a:gd name="connsiteY3" fmla="*/ 871748 h 871748"/>
                <a:gd name="connsiteX4" fmla="*/ 0 w 2952158"/>
                <a:gd name="connsiteY4" fmla="*/ 0 h 87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158" h="871748">
                  <a:moveTo>
                    <a:pt x="0" y="0"/>
                  </a:moveTo>
                  <a:lnTo>
                    <a:pt x="2952158" y="0"/>
                  </a:lnTo>
                  <a:lnTo>
                    <a:pt x="2952158" y="871748"/>
                  </a:lnTo>
                  <a:lnTo>
                    <a:pt x="0" y="871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أنواع المجالات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1A48C5A-B506-D7E9-1EDB-9FF8B44651FD}"/>
                </a:ext>
              </a:extLst>
            </p:cNvPr>
            <p:cNvSpPr/>
            <p:nvPr/>
          </p:nvSpPr>
          <p:spPr>
            <a:xfrm>
              <a:off x="457201" y="2883443"/>
              <a:ext cx="4114799" cy="10066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 descr="Warehouse with solid fill">
              <a:extLst>
                <a:ext uri="{FF2B5EF4-FFF2-40B4-BE49-F238E27FC236}">
                  <a16:creationId xmlns:a16="http://schemas.microsoft.com/office/drawing/2014/main" id="{D56AD3FC-4728-9D56-4D19-B744CC2A6E20}"/>
                </a:ext>
              </a:extLst>
            </p:cNvPr>
            <p:cNvSpPr/>
            <p:nvPr/>
          </p:nvSpPr>
          <p:spPr>
            <a:xfrm flipH="1">
              <a:off x="761702" y="3142999"/>
              <a:ext cx="553638" cy="553638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673FF49-7897-4A16-90BB-2CEF7B996BAC}"/>
                </a:ext>
              </a:extLst>
            </p:cNvPr>
            <p:cNvSpPr/>
            <p:nvPr/>
          </p:nvSpPr>
          <p:spPr>
            <a:xfrm>
              <a:off x="1619841" y="2916511"/>
              <a:ext cx="2952158" cy="1006615"/>
            </a:xfrm>
            <a:custGeom>
              <a:avLst/>
              <a:gdLst>
                <a:gd name="connsiteX0" fmla="*/ 0 w 2952158"/>
                <a:gd name="connsiteY0" fmla="*/ 0 h 1006615"/>
                <a:gd name="connsiteX1" fmla="*/ 2952158 w 2952158"/>
                <a:gd name="connsiteY1" fmla="*/ 0 h 1006615"/>
                <a:gd name="connsiteX2" fmla="*/ 2952158 w 2952158"/>
                <a:gd name="connsiteY2" fmla="*/ 1006615 h 1006615"/>
                <a:gd name="connsiteX3" fmla="*/ 0 w 2952158"/>
                <a:gd name="connsiteY3" fmla="*/ 1006615 h 1006615"/>
                <a:gd name="connsiteX4" fmla="*/ 0 w 2952158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158" h="1006615">
                  <a:moveTo>
                    <a:pt x="0" y="0"/>
                  </a:moveTo>
                  <a:lnTo>
                    <a:pt x="2952158" y="0"/>
                  </a:lnTo>
                  <a:lnTo>
                    <a:pt x="2952158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10668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القانوني</a:t>
              </a:r>
              <a:r>
                <a:rPr lang="ar-EG" sz="2400" b="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ة.</a:t>
              </a:r>
              <a:endParaRPr lang="en-US" sz="2000" b="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64096E4-F445-5BB0-FE65-0AC1D45C0DB5}"/>
                </a:ext>
              </a:extLst>
            </p:cNvPr>
            <p:cNvSpPr/>
            <p:nvPr/>
          </p:nvSpPr>
          <p:spPr>
            <a:xfrm>
              <a:off x="457201" y="4174780"/>
              <a:ext cx="4114799" cy="1006615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13" descr="For Sale with solid fill">
              <a:extLst>
                <a:ext uri="{FF2B5EF4-FFF2-40B4-BE49-F238E27FC236}">
                  <a16:creationId xmlns:a16="http://schemas.microsoft.com/office/drawing/2014/main" id="{0354B754-566E-0011-B57E-273E87D89317}"/>
                </a:ext>
              </a:extLst>
            </p:cNvPr>
            <p:cNvSpPr/>
            <p:nvPr/>
          </p:nvSpPr>
          <p:spPr>
            <a:xfrm flipH="1">
              <a:off x="761702" y="4401268"/>
              <a:ext cx="553638" cy="553638"/>
            </a:xfrm>
            <a:prstGeom prst="rect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6493B8E-B7AB-3263-1568-C3C54BE6B7C1}"/>
                </a:ext>
              </a:extLst>
            </p:cNvPr>
            <p:cNvSpPr/>
            <p:nvPr/>
          </p:nvSpPr>
          <p:spPr>
            <a:xfrm>
              <a:off x="1619841" y="4174780"/>
              <a:ext cx="2952158" cy="1006615"/>
            </a:xfrm>
            <a:custGeom>
              <a:avLst/>
              <a:gdLst>
                <a:gd name="connsiteX0" fmla="*/ 0 w 2952158"/>
                <a:gd name="connsiteY0" fmla="*/ 0 h 1006615"/>
                <a:gd name="connsiteX1" fmla="*/ 2952158 w 2952158"/>
                <a:gd name="connsiteY1" fmla="*/ 0 h 1006615"/>
                <a:gd name="connsiteX2" fmla="*/ 2952158 w 2952158"/>
                <a:gd name="connsiteY2" fmla="*/ 1006615 h 1006615"/>
                <a:gd name="connsiteX3" fmla="*/ 0 w 2952158"/>
                <a:gd name="connsiteY3" fmla="*/ 1006615 h 1006615"/>
                <a:gd name="connsiteX4" fmla="*/ 0 w 2952158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158" h="1006615">
                  <a:moveTo>
                    <a:pt x="0" y="0"/>
                  </a:moveTo>
                  <a:lnTo>
                    <a:pt x="2952158" y="0"/>
                  </a:lnTo>
                  <a:lnTo>
                    <a:pt x="2952158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10668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التطوعي</a:t>
              </a:r>
              <a:r>
                <a:rPr lang="ar-EG" sz="2400" b="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ة.</a:t>
              </a:r>
              <a:endParaRPr lang="en-US" sz="2000" b="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B7E706F-58BB-B6E2-DA75-1C922C186E15}"/>
                </a:ext>
              </a:extLst>
            </p:cNvPr>
            <p:cNvSpPr/>
            <p:nvPr/>
          </p:nvSpPr>
          <p:spPr>
            <a:xfrm>
              <a:off x="457201" y="5433049"/>
              <a:ext cx="4114799" cy="10066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 descr="House with solid fill">
              <a:extLst>
                <a:ext uri="{FF2B5EF4-FFF2-40B4-BE49-F238E27FC236}">
                  <a16:creationId xmlns:a16="http://schemas.microsoft.com/office/drawing/2014/main" id="{036ABE79-6ED3-6F4A-ACF8-EBFCA46157B8}"/>
                </a:ext>
              </a:extLst>
            </p:cNvPr>
            <p:cNvSpPr/>
            <p:nvPr/>
          </p:nvSpPr>
          <p:spPr>
            <a:xfrm flipH="1">
              <a:off x="761702" y="5659538"/>
              <a:ext cx="553638" cy="553638"/>
            </a:xfrm>
            <a:prstGeom prst="rect">
              <a:avLst/>
            </a:pr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428B6DE-2E38-1876-BEA4-42F549B44976}"/>
                </a:ext>
              </a:extLst>
            </p:cNvPr>
            <p:cNvSpPr/>
            <p:nvPr/>
          </p:nvSpPr>
          <p:spPr>
            <a:xfrm>
              <a:off x="1619841" y="5433049"/>
              <a:ext cx="2952158" cy="1006615"/>
            </a:xfrm>
            <a:custGeom>
              <a:avLst/>
              <a:gdLst>
                <a:gd name="connsiteX0" fmla="*/ 0 w 2952158"/>
                <a:gd name="connsiteY0" fmla="*/ 0 h 1006615"/>
                <a:gd name="connsiteX1" fmla="*/ 2952158 w 2952158"/>
                <a:gd name="connsiteY1" fmla="*/ 0 h 1006615"/>
                <a:gd name="connsiteX2" fmla="*/ 2952158 w 2952158"/>
                <a:gd name="connsiteY2" fmla="*/ 1006615 h 1006615"/>
                <a:gd name="connsiteX3" fmla="*/ 0 w 2952158"/>
                <a:gd name="connsiteY3" fmla="*/ 1006615 h 1006615"/>
                <a:gd name="connsiteX4" fmla="*/ 0 w 2952158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158" h="1006615">
                  <a:moveTo>
                    <a:pt x="0" y="0"/>
                  </a:moveTo>
                  <a:lnTo>
                    <a:pt x="2952158" y="0"/>
                  </a:lnTo>
                  <a:lnTo>
                    <a:pt x="2952158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10668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الخاص</a:t>
              </a:r>
              <a:r>
                <a:rPr lang="ar-EG" sz="2400" b="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ة.</a:t>
              </a:r>
              <a:endParaRPr lang="en-GB" sz="2000" b="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B32B451-F7D5-B1EC-882F-AD0328629847}"/>
              </a:ext>
            </a:extLst>
          </p:cNvPr>
          <p:cNvSpPr txBox="1"/>
          <p:nvPr/>
        </p:nvSpPr>
        <p:spPr bwMode="auto">
          <a:xfrm>
            <a:off x="457202" y="1195201"/>
            <a:ext cx="4114799" cy="4610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algn="ctr"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ب2 مجالات الرعاية الصحيّة والاجتماعية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A52C9-471D-B5B7-C3CD-7CB1BBC254F9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599515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6F2A4-0568-E118-DC69-D5D69CBE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40ABF65-E941-E0A1-2F7B-8DB242B562B9}"/>
              </a:ext>
            </a:extLst>
          </p:cNvPr>
          <p:cNvSpPr txBox="1"/>
          <p:nvPr/>
        </p:nvSpPr>
        <p:spPr bwMode="auto">
          <a:xfrm>
            <a:off x="4572000" y="1167673"/>
            <a:ext cx="4248472" cy="633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algn="ctr" rtl="1"/>
            <a:r>
              <a:rPr lang="a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ب2 مجالات الرعاية الصحيّة والاجتماعية</a:t>
            </a:r>
          </a:p>
          <a:p>
            <a:pPr algn="ctr" rtl="1"/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4691B26D-9744-37A9-D47E-6EA532EB1B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1754426"/>
              </p:ext>
            </p:extLst>
          </p:nvPr>
        </p:nvGraphicFramePr>
        <p:xfrm>
          <a:off x="4458084" y="1683468"/>
          <a:ext cx="4334367" cy="4926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372A7CB0-4A93-0EC1-EA0F-3CBEE284EDC2}"/>
              </a:ext>
            </a:extLst>
          </p:cNvPr>
          <p:cNvGrpSpPr/>
          <p:nvPr/>
        </p:nvGrpSpPr>
        <p:grpSpPr>
          <a:xfrm flipH="1">
            <a:off x="453656" y="1801626"/>
            <a:ext cx="3614288" cy="4622434"/>
            <a:chOff x="0" y="177288"/>
            <a:chExt cx="2686046" cy="14070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5345762-CD09-55EC-41E1-02BEC15D9316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FC12062-7B25-17CA-624F-DC1CF0BECA8D}"/>
                </a:ext>
              </a:extLst>
            </p:cNvPr>
            <p:cNvSpPr txBox="1"/>
            <p:nvPr/>
          </p:nvSpPr>
          <p:spPr>
            <a:xfrm>
              <a:off x="4464" y="209411"/>
              <a:ext cx="2681582" cy="1374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قد تكون للأفراد احتياجات متنوعة نتيجة:</a:t>
              </a:r>
            </a:p>
            <a:p>
              <a:pPr rtl="1"/>
              <a:endPara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الإعاقات الجسدية</a:t>
              </a:r>
              <a:r>
                <a:rPr lang="ar-EG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a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الإعاقات الإدراكية.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المشكلات الصحيّة المزمنة أو طويلة الأمد.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الأمراض أو الاضطرابات النفسية.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الضعف.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الحمل أو كونهم آباء جددًا.</a:t>
              </a:r>
            </a:p>
            <a:p>
              <a:pPr rtl="1"/>
              <a:endParaRPr lang="en-GB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C993043-F4DF-6E5C-4AE2-4B2CFB880353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27740803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44806-4808-3476-6AB5-BAE29BC6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434BDB91-7006-DFCE-9BD8-8FD014919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231325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ب2 مجالات الرعاية الصحيّة والاجتماعية</a:t>
            </a:r>
            <a:b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873D4DE-F870-94F9-B3E6-853563D01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057" y="2790148"/>
            <a:ext cx="2184407" cy="2676919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أي تدريب عملي ستختار؟</a:t>
            </a:r>
          </a:p>
          <a:p>
            <a:pPr marL="0" indent="0" rtl="1">
              <a:buNone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يجب أن تراعي هذه العوامل قبل اتخاذ قرارك.</a:t>
            </a:r>
          </a:p>
          <a:p>
            <a:pPr marL="0" indent="0" rtl="1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803A3-841A-3857-9019-FF3E574252A9}"/>
              </a:ext>
            </a:extLst>
          </p:cNvPr>
          <p:cNvSpPr txBox="1"/>
          <p:nvPr/>
        </p:nvSpPr>
        <p:spPr>
          <a:xfrm>
            <a:off x="434623" y="1718126"/>
            <a:ext cx="8313841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algn="ctr"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أسباب اختيار مجال التدريب ومدى ملاءمته للمتعلم</a:t>
            </a:r>
            <a:endParaRPr lang="en-GB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588C9F-0EC1-81C6-1B70-87B9BDF40477}"/>
              </a:ext>
            </a:extLst>
          </p:cNvPr>
          <p:cNvGrpSpPr/>
          <p:nvPr/>
        </p:nvGrpSpPr>
        <p:grpSpPr>
          <a:xfrm flipH="1">
            <a:off x="413628" y="2564904"/>
            <a:ext cx="5814556" cy="3509719"/>
            <a:chOff x="2636829" y="1340768"/>
            <a:chExt cx="5814556" cy="3132685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4C005AC-1823-A530-DE4F-C8F51A995EEE}"/>
                </a:ext>
              </a:extLst>
            </p:cNvPr>
            <p:cNvSpPr/>
            <p:nvPr/>
          </p:nvSpPr>
          <p:spPr>
            <a:xfrm>
              <a:off x="2636829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rtlCol="1" anchor="ctr" anchorCtr="0">
              <a:noAutofit/>
            </a:bodyPr>
            <a:lstStyle/>
            <a:p>
              <a:pPr marL="0" marR="0" lvl="0" indent="0" algn="ctr" defTabSz="914400" rtl="1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" sz="2400" b="1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العوامل التي </a:t>
              </a:r>
              <a:br>
                <a:rPr lang="en-US" sz="2400" b="1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</a:br>
              <a:r>
                <a:rPr lang="ar" sz="2400" b="1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يجب مراعاتها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4CE1B5C-F051-B088-5E7B-2894FA568970}"/>
                </a:ext>
              </a:extLst>
            </p:cNvPr>
            <p:cNvSpPr/>
            <p:nvPr/>
          </p:nvSpPr>
          <p:spPr>
            <a:xfrm>
              <a:off x="4636716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أين تقع؟ </a:t>
              </a:r>
            </a:p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هل يسهل الوصول إليها؟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CD10A19-1F08-7536-005F-E9ACB8A69F28}"/>
                </a:ext>
              </a:extLst>
            </p:cNvPr>
            <p:cNvSpPr/>
            <p:nvPr/>
          </p:nvSpPr>
          <p:spPr>
            <a:xfrm>
              <a:off x="6636602" y="1340768"/>
              <a:ext cx="1814783" cy="1395722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ما نوع الرعاية التي تقدمها؟</a:t>
              </a: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B78493A-1927-156F-00CB-CC3C68844F6E}"/>
                </a:ext>
              </a:extLst>
            </p:cNvPr>
            <p:cNvSpPr/>
            <p:nvPr/>
          </p:nvSpPr>
          <p:spPr>
            <a:xfrm>
              <a:off x="2636829" y="3011298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ما الساعات التي عليّ أن أعمل فيها؟</a:t>
              </a: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FCC1440-27EB-4A8E-4CCF-2737E7A6074B}"/>
                </a:ext>
              </a:extLst>
            </p:cNvPr>
            <p:cNvSpPr/>
            <p:nvPr/>
          </p:nvSpPr>
          <p:spPr>
            <a:xfrm>
              <a:off x="4636716" y="3011298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ما نوع الإشراف والدعم الذي ستوفره لي؟</a:t>
              </a: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7D82084-B183-1CDA-7533-DDDD33162414}"/>
                </a:ext>
              </a:extLst>
            </p:cNvPr>
            <p:cNvSpPr/>
            <p:nvPr/>
          </p:nvSpPr>
          <p:spPr>
            <a:xfrm>
              <a:off x="6636600" y="2977570"/>
              <a:ext cx="1814783" cy="1462155"/>
            </a:xfrm>
            <a:custGeom>
              <a:avLst/>
              <a:gdLst>
                <a:gd name="connsiteX0" fmla="*/ 0 w 1814783"/>
                <a:gd name="connsiteY0" fmla="*/ 0 h 373316"/>
                <a:gd name="connsiteX1" fmla="*/ 1814783 w 1814783"/>
                <a:gd name="connsiteY1" fmla="*/ 0 h 373316"/>
                <a:gd name="connsiteX2" fmla="*/ 1814783 w 1814783"/>
                <a:gd name="connsiteY2" fmla="*/ 373316 h 373316"/>
                <a:gd name="connsiteX3" fmla="*/ 0 w 1814783"/>
                <a:gd name="connsiteY3" fmla="*/ 373316 h 373316"/>
                <a:gd name="connsiteX4" fmla="*/ 0 w 1814783"/>
                <a:gd name="connsiteY4" fmla="*/ 0 h 37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4783" h="373316">
                  <a:moveTo>
                    <a:pt x="0" y="0"/>
                  </a:moveTo>
                  <a:lnTo>
                    <a:pt x="1814783" y="0"/>
                  </a:lnTo>
                  <a:lnTo>
                    <a:pt x="1814783" y="373316"/>
                  </a:lnTo>
                  <a:lnTo>
                    <a:pt x="0" y="37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rtlCol="1" anchor="ctr" anchorCtr="0">
              <a:noAutofit/>
            </a:bodyPr>
            <a:lstStyle/>
            <a:p>
              <a:pPr algn="ctr" rtl="1" fontAlgn="ctr">
                <a:defRPr/>
              </a:pPr>
              <a:r>
                <a:rPr lang="ar" sz="2000">
                  <a:solidFill>
                    <a:srgbClr val="000000"/>
                  </a:solidFill>
                  <a:latin typeface="Times New Roman" panose="02020603050405020304" pitchFamily="18" charset="0"/>
                  <a:ea typeface="Open Sans" panose="020B0606030504020204" pitchFamily="34" charset="0"/>
                  <a:cs typeface="Times New Roman" panose="02020603050405020304" pitchFamily="18" charset="0"/>
                </a:rPr>
                <a:t>هل ستساعدني على التقدم في مساري المهني؟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093E57-045B-CE21-B737-89BFAFBB49EE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06089445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E349-F1EB-C679-CB6F-2EA9D61B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A83315FC-6D9A-8899-A65F-DFDDF2F8D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ب3 المهارات التفاعلية ضمن بيئة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4E89DC-48B2-27E8-20A8-7B1E85D857A6}"/>
              </a:ext>
            </a:extLst>
          </p:cNvPr>
          <p:cNvSpPr txBox="1"/>
          <p:nvPr/>
        </p:nvSpPr>
        <p:spPr>
          <a:xfrm>
            <a:off x="611560" y="1842678"/>
            <a:ext cx="7960234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استخدام التواصل اللفظي وغير اللفظي في العمل</a:t>
            </a:r>
            <a:r>
              <a:rPr lang="ar" sz="2000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E41027B-40BC-72D8-8C67-71F5AD853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440538"/>
            <a:ext cx="7960234" cy="4017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 fontAlgn="ctr">
              <a:buNone/>
            </a:pPr>
            <a:r>
              <a:rPr lang="ar" sz="20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التواصل اللفظي</a:t>
            </a:r>
          </a:p>
          <a:p>
            <a:pPr marL="0" indent="0" rtl="1" fontAlgn="ctr">
              <a:buNone/>
            </a:pP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ويجب عليك:</a:t>
            </a:r>
            <a:endParaRPr lang="en-GB" sz="2000" b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أن تتحلى بالأدب وتحترم الآخرين</a:t>
            </a:r>
            <a:r>
              <a:rPr lang="ar-EG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أن تفكر في هوية الشخص الذي تتحدث معه – هل هو زميل أم متلقي خدمة؟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أن تتحدث بوضوح والحرص على سلامة النطق.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أن تتجنب العامية والمصطلحات التقنية والاختصارات التي قد تسبب الالتباس. 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الانتباه لعناصر التواصل غير اللفظي المصاحبة للحديث – كنبرة وسرعة الحديث وأصوات التردد ولغة الجسد وتعبيرات الوجه.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EC4F6-4A11-CEFA-01D8-9C646947D1E1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213239687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1D3E-DD62-7548-2CCB-F3B2B2AB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EF3C049B-282F-8FE5-FB32-B71F92646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3266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ب3 المهارات التفاعلية ضمن بيئة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C89CE5-54AD-6E75-8760-DF2CF9BDBBD4}"/>
              </a:ext>
            </a:extLst>
          </p:cNvPr>
          <p:cNvSpPr txBox="1"/>
          <p:nvPr/>
        </p:nvSpPr>
        <p:spPr>
          <a:xfrm>
            <a:off x="428190" y="1861689"/>
            <a:ext cx="8248266" cy="400110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marL="0" indent="0" algn="ctr" rtl="1" fontAlgn="ctr">
              <a:buNone/>
            </a:pPr>
            <a:r>
              <a:rPr lang="a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استخدام التواصل اللفظي وغير اللفظي في العمل</a:t>
            </a:r>
            <a:r>
              <a:rPr lang="ar" sz="2000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37DE97-61BF-A1AC-238A-EDEC9369FFDA}"/>
              </a:ext>
            </a:extLst>
          </p:cNvPr>
          <p:cNvSpPr txBox="1"/>
          <p:nvPr/>
        </p:nvSpPr>
        <p:spPr>
          <a:xfrm>
            <a:off x="428190" y="2348880"/>
            <a:ext cx="8248266" cy="3216265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algn="ctr" rtl="1">
              <a:spcBef>
                <a:spcPts val="600"/>
              </a:spcBef>
              <a:spcAft>
                <a:spcPts val="600"/>
              </a:spcAft>
            </a:pPr>
            <a:r>
              <a:rPr lang="ar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التواصل غير اللفظي</a:t>
            </a:r>
          </a:p>
          <a:p>
            <a:pPr rtl="1"/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تذكّر أن سلوكك وتعبيراتك تمثل تواصلًا حتى في أثناء الصمت. يجب أن تحرص دائمًا على: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الحفاظ على وضعية جسدية جيدة واستخدام لغة جسد منفتحة.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استخدام الإيماءات بشكل مناسب.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التواصل البصري. 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تأمّل كيف تنقل تعابير وجهك مشاعرك لمن حولك دون كلمة.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الابتسام حين يكون الأمر مناسبًا.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استخدام اللمس عند الحاجة وعلى نحو ملائم.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تجنب اقتحام المساحة الشخصية لشخص آخر.</a:t>
            </a:r>
          </a:p>
          <a:p>
            <a:pPr rtl="1"/>
            <a:endParaRPr lang="en-GB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rtl="1"/>
            <a:r>
              <a:rPr lang="ar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إذا لم تكن متأكدًا من كيفية تفسير الآخرين لتواصلك غير اللفظي، اطلب رأي زميل أو مشرف في مكان العمل.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017EC-F20E-0159-35C9-7B8775C4D88D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28547975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FD28-1772-E3C2-EF11-79E54020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6CA752C5-E287-4DD9-F52B-3A5096D87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ب3 المهارات التفاعلية ضمن بيئة العمل</a:t>
            </a:r>
            <a:endParaRPr lang="en-GB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D83C75-3977-1766-B9AC-83567409A1E4}"/>
              </a:ext>
            </a:extLst>
          </p:cNvPr>
          <p:cNvSpPr txBox="1"/>
          <p:nvPr/>
        </p:nvSpPr>
        <p:spPr>
          <a:xfrm>
            <a:off x="478582" y="1652980"/>
            <a:ext cx="8208911" cy="369332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1">
            <a:spAutoFit/>
          </a:bodyPr>
          <a:lstStyle/>
          <a:p>
            <a:pPr algn="ctr" rtl="1" fontAlgn="ctr"/>
            <a:r>
              <a:rPr lang="ar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مهارات الإصغاء </a:t>
            </a:r>
            <a:r>
              <a:rPr lang="ar" b="1">
                <a:solidFill>
                  <a:srgbClr val="00206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- </a:t>
            </a:r>
            <a:r>
              <a:rPr lang="ar" b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الإصغاء الفعّال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E216889-3405-7B84-2CC8-6E271CA94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5" y="2199431"/>
            <a:ext cx="8208911" cy="29610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الإصغاء بعناية – والانتباه جيدًا لمشرفك أو لمتلقي الخدمة.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بيّن أنك منصت - اعترف بما يقوله الآخر (على سبيل المثال: أومئ برأسك، ابتسم، قل "نعم، </a:t>
            </a:r>
            <a:br>
              <a:rPr lang="en-US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</a:br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أنا أفهم").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اطلب التوضيح عند الحاجة.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لا تقاطع الشخص الذي يُجري مقابلة العمل</a:t>
            </a:r>
            <a:r>
              <a:rPr lang="ar-EG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أجب باحترام وشجّع على استمرار الحوار.</a:t>
            </a:r>
          </a:p>
          <a:p>
            <a:pPr rtl="1" fontAlgn="ctr"/>
            <a:r>
              <a:rPr lang="ar" sz="2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تذكر ما قيل.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744FD6-FD68-4661-E1F5-2A047EA6877E}"/>
              </a:ext>
            </a:extLst>
          </p:cNvPr>
          <p:cNvGrpSpPr/>
          <p:nvPr/>
        </p:nvGrpSpPr>
        <p:grpSpPr>
          <a:xfrm flipH="1">
            <a:off x="323528" y="5205020"/>
            <a:ext cx="8363965" cy="1678555"/>
            <a:chOff x="0" y="353532"/>
            <a:chExt cx="2604109" cy="2077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F07E11-F937-D0CF-9F84-05CEB5723FC6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C9A5E9-72F1-9C32-8D06-6C6D8A320164}"/>
                </a:ext>
              </a:extLst>
            </p:cNvPr>
            <p:cNvSpPr txBox="1"/>
            <p:nvPr/>
          </p:nvSpPr>
          <p:spPr>
            <a:xfrm>
              <a:off x="39305" y="373137"/>
              <a:ext cx="2564804" cy="2057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تعاون مع أحد زملائك: </a:t>
              </a:r>
            </a:p>
            <a:p>
              <a:pPr marL="342900" indent="-342900" rtl="1">
                <a:buFont typeface="+mj-lt"/>
                <a:buAutoNum type="arabicPeriod"/>
              </a:pPr>
              <a:r>
                <a:rPr lang="ar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اذكر ثلاثة فوائد للإصغاء الفعّال.</a:t>
              </a:r>
            </a:p>
            <a:p>
              <a:pPr marL="342900" indent="-342900" rtl="1">
                <a:buFont typeface="+mj-lt"/>
                <a:buAutoNum type="arabicPeriod"/>
              </a:pPr>
              <a:r>
                <a:rPr lang="ar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ناقش الطرق التي قد يعرف من خلالها متلقي الخدمة أن الطرف الآخر لا يُصغي باهتمام ولا يستمع بشكل فعّال.</a:t>
              </a:r>
            </a:p>
            <a:p>
              <a:pPr rtl="1"/>
              <a:r>
                <a:rPr lang="ar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33D61D-5F0C-A629-13A8-532E4ACAB89D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21850163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2C30-80D8-A1E1-3E1D-3ABCF711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EA721DC3-FB1F-FF93-2B75-37E21D91E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نتاج التعلم ج</a:t>
            </a: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FAE45F43-5513-6BEB-2253-6A6959ED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2"/>
            <a:ext cx="7991475" cy="1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algn="ctr" rtl="1"/>
            <a:r>
              <a:rPr lang="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القدرة على مراجعة أدائك وتقييمه في </a:t>
            </a:r>
            <a:r>
              <a:rPr lang="ar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بيئات</a:t>
            </a:r>
            <a:r>
              <a:rPr lang="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الرعاية الصحيّة أو الاجتماعية.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ED13D4-7DDC-37A5-7275-A9B84F44CFE3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407567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3998-1AA9-B13D-5474-31B41063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781821B-B4F5-2319-2831-B18360788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2EBEFE-691C-DF59-3ADE-17013F678D6C}"/>
              </a:ext>
            </a:extLst>
          </p:cNvPr>
          <p:cNvGrpSpPr/>
          <p:nvPr/>
        </p:nvGrpSpPr>
        <p:grpSpPr>
          <a:xfrm flipH="1">
            <a:off x="457199" y="1972827"/>
            <a:ext cx="5111751" cy="3230141"/>
            <a:chOff x="457199" y="1972827"/>
            <a:chExt cx="5111751" cy="323014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96535CA-5C10-6840-809E-7C0132B53840}"/>
                </a:ext>
              </a:extLst>
            </p:cNvPr>
            <p:cNvSpPr/>
            <p:nvPr/>
          </p:nvSpPr>
          <p:spPr>
            <a:xfrm>
              <a:off x="457199" y="1972827"/>
              <a:ext cx="5111751" cy="1435618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Rectangle 3" descr="Checkmark">
              <a:extLst>
                <a:ext uri="{FF2B5EF4-FFF2-40B4-BE49-F238E27FC236}">
                  <a16:creationId xmlns:a16="http://schemas.microsoft.com/office/drawing/2014/main" id="{89B3337B-5313-0958-C19B-640A28CC1B54}"/>
                </a:ext>
              </a:extLst>
            </p:cNvPr>
            <p:cNvSpPr/>
            <p:nvPr/>
          </p:nvSpPr>
          <p:spPr>
            <a:xfrm flipH="1">
              <a:off x="891473" y="2295841"/>
              <a:ext cx="789590" cy="789590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3F366CA-AE7B-F221-3A92-1F125497124B}"/>
                </a:ext>
              </a:extLst>
            </p:cNvPr>
            <p:cNvSpPr/>
            <p:nvPr/>
          </p:nvSpPr>
          <p:spPr>
            <a:xfrm>
              <a:off x="2115338" y="1972827"/>
              <a:ext cx="3453611" cy="1435618"/>
            </a:xfrm>
            <a:custGeom>
              <a:avLst/>
              <a:gdLst>
                <a:gd name="connsiteX0" fmla="*/ 0 w 3453611"/>
                <a:gd name="connsiteY0" fmla="*/ 0 h 1435618"/>
                <a:gd name="connsiteX1" fmla="*/ 3453611 w 3453611"/>
                <a:gd name="connsiteY1" fmla="*/ 0 h 1435618"/>
                <a:gd name="connsiteX2" fmla="*/ 3453611 w 3453611"/>
                <a:gd name="connsiteY2" fmla="*/ 1435618 h 1435618"/>
                <a:gd name="connsiteX3" fmla="*/ 0 w 3453611"/>
                <a:gd name="connsiteY3" fmla="*/ 1435618 h 1435618"/>
                <a:gd name="connsiteX4" fmla="*/ 0 w 3453611"/>
                <a:gd name="connsiteY4" fmla="*/ 0 h 1435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3611" h="1435618">
                  <a:moveTo>
                    <a:pt x="0" y="0"/>
                  </a:moveTo>
                  <a:lnTo>
                    <a:pt x="3453611" y="0"/>
                  </a:lnTo>
                  <a:lnTo>
                    <a:pt x="3453611" y="1435618"/>
                  </a:lnTo>
                  <a:lnTo>
                    <a:pt x="0" y="14356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1936" tIns="151936" rIns="151936" bIns="151936" numCol="1" spcCol="1270" rtlCol="1" anchor="ctr" anchorCtr="0">
              <a:noAutofit/>
            </a:bodyPr>
            <a:lstStyle/>
            <a:p>
              <a:pPr marL="0" lvl="0" indent="0" algn="r" defTabSz="11112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مجال المحتوى الرئيس</a:t>
              </a:r>
              <a:endParaRPr lang="en-US" sz="25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9780C31-2E63-BB4C-8540-6C3537A89C6A}"/>
                </a:ext>
              </a:extLst>
            </p:cNvPr>
            <p:cNvSpPr/>
            <p:nvPr/>
          </p:nvSpPr>
          <p:spPr>
            <a:xfrm>
              <a:off x="457199" y="3767350"/>
              <a:ext cx="5111751" cy="1435618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 descr="Magnifying glass with solid fill">
              <a:extLst>
                <a:ext uri="{FF2B5EF4-FFF2-40B4-BE49-F238E27FC236}">
                  <a16:creationId xmlns:a16="http://schemas.microsoft.com/office/drawing/2014/main" id="{7826B691-032F-7B9A-53BC-6C0B11044D03}"/>
                </a:ext>
              </a:extLst>
            </p:cNvPr>
            <p:cNvSpPr/>
            <p:nvPr/>
          </p:nvSpPr>
          <p:spPr>
            <a:xfrm flipH="1">
              <a:off x="891473" y="4090364"/>
              <a:ext cx="789590" cy="789590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C20BF12-66A8-1BB1-FFCE-04194C149608}"/>
                </a:ext>
              </a:extLst>
            </p:cNvPr>
            <p:cNvSpPr/>
            <p:nvPr/>
          </p:nvSpPr>
          <p:spPr>
            <a:xfrm>
              <a:off x="2115338" y="3767350"/>
              <a:ext cx="3453611" cy="1435618"/>
            </a:xfrm>
            <a:custGeom>
              <a:avLst/>
              <a:gdLst>
                <a:gd name="connsiteX0" fmla="*/ 0 w 3453611"/>
                <a:gd name="connsiteY0" fmla="*/ 0 h 1435618"/>
                <a:gd name="connsiteX1" fmla="*/ 3453611 w 3453611"/>
                <a:gd name="connsiteY1" fmla="*/ 0 h 1435618"/>
                <a:gd name="connsiteX2" fmla="*/ 3453611 w 3453611"/>
                <a:gd name="connsiteY2" fmla="*/ 1435618 h 1435618"/>
                <a:gd name="connsiteX3" fmla="*/ 0 w 3453611"/>
                <a:gd name="connsiteY3" fmla="*/ 1435618 h 1435618"/>
                <a:gd name="connsiteX4" fmla="*/ 0 w 3453611"/>
                <a:gd name="connsiteY4" fmla="*/ 0 h 1435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3611" h="1435618">
                  <a:moveTo>
                    <a:pt x="0" y="0"/>
                  </a:moveTo>
                  <a:lnTo>
                    <a:pt x="3453611" y="0"/>
                  </a:lnTo>
                  <a:lnTo>
                    <a:pt x="3453611" y="1435618"/>
                  </a:lnTo>
                  <a:lnTo>
                    <a:pt x="0" y="1435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1936" tIns="151936" rIns="151936" bIns="151936" numCol="1" spcCol="1270" rtlCol="1" anchor="ctr" anchorCtr="0">
              <a:noAutofit/>
            </a:bodyPr>
            <a:lstStyle/>
            <a:p>
              <a:pPr marL="0" lvl="0" indent="0" algn="r" defTabSz="11112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ج1 الأداء الشخصي</a:t>
              </a:r>
              <a:endParaRPr lang="en-US" sz="2500" b="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2FE1E06-ABC3-56D8-7131-74C942A8B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9536" y="1598780"/>
            <a:ext cx="3008313" cy="3978236"/>
          </a:xfrm>
          <a:solidFill>
            <a:schemeClr val="accent5"/>
          </a:solidFill>
        </p:spPr>
        <p:txBody>
          <a:bodyPr rtlCol="1"/>
          <a:lstStyle/>
          <a:p>
            <a:pPr rtl="1"/>
            <a:r>
              <a:rPr lang="ar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نتاج التعلم ج: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ستحلل بعناية إنجازاتك العملية التي حققتها خلال مدة التدريب العملي.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انظر في نقاط قوتك وضعفك الشخصية، وفي المعرفة والمهارات التي اكتسبتها.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دوّن هذه المراجعات واعتمد عليها.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ضع خطة مهنية وخطة تطوير لمستقبلك.  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1F41D-5207-2769-A3A0-F3C52AEF6559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3342104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2759-8DB7-A0FA-CF8D-AEB2998E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7E8E1150-3F78-158F-9815-E22B2756E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ج1 الأداء الشخصي</a:t>
            </a:r>
            <a:endParaRPr lang="en-GB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92DF67-AEF0-75D9-CF96-A9A50E40F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721" y="4098375"/>
            <a:ext cx="5559570" cy="2314831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المعرفة والمهارات المكتسبة خلال التدريب العملي</a:t>
            </a:r>
          </a:p>
          <a:p>
            <a:pPr marL="285750" indent="-285750" rt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إظهار ثقتك في مجال الرعاية الصحيّة والاجتماعية.</a:t>
            </a:r>
          </a:p>
          <a:p>
            <a:pPr marL="285750" indent="-285750" rt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إثبات معرفة بمجال الرعاية الصحيّة أو الاجتماعية، ومتطلباتها وممارساتها العملية.</a:t>
            </a:r>
          </a:p>
          <a:p>
            <a:pPr marL="285750" indent="-285750" rt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إظهار معرفتك بالحالة الطبية لمتلقي الخدمة.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EB554-FF0E-9812-D870-F47D35A4BC42}"/>
              </a:ext>
            </a:extLst>
          </p:cNvPr>
          <p:cNvSpPr txBox="1"/>
          <p:nvPr/>
        </p:nvSpPr>
        <p:spPr>
          <a:xfrm>
            <a:off x="3181721" y="1698163"/>
            <a:ext cx="5566743" cy="23042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0010" tIns="80010" rIns="80010" bIns="80010" numCol="1" spcCol="1270" rtlCol="1" anchor="ctr" anchorCtr="0">
            <a:noAutofit/>
          </a:bodyPr>
          <a:lstStyle/>
          <a:p>
            <a:pPr rtl="1"/>
            <a:r>
              <a:rPr lang="ar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الإنجازات العملية الشخصية خلال مدة التدريب العملي، مثل: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اعتمادك على قدرتك في اتخاذ المبادرة</a:t>
            </a:r>
            <a:r>
              <a:rPr lang="ar-E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إظهارك القدرة على اتباع التعليمات</a:t>
            </a:r>
            <a:r>
              <a:rPr lang="ar-E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تلقيك نقدًا بنّاءً</a:t>
            </a:r>
            <a:r>
              <a:rPr lang="ar-E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نجاحك في تعديل أداءك فيها اتباعًا لتعليقات الآخرين.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AFDFEE-7105-9947-9658-4F6CC364404D}"/>
              </a:ext>
            </a:extLst>
          </p:cNvPr>
          <p:cNvGrpSpPr/>
          <p:nvPr/>
        </p:nvGrpSpPr>
        <p:grpSpPr>
          <a:xfrm flipH="1">
            <a:off x="507810" y="2132856"/>
            <a:ext cx="2263990" cy="3568606"/>
            <a:chOff x="0" y="215426"/>
            <a:chExt cx="2681582" cy="13688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D07A79-D4E5-867D-D2AB-2F03CF87C955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A8EE11-0B5C-3D70-85DB-4C260D204958}"/>
                </a:ext>
              </a:extLst>
            </p:cNvPr>
            <p:cNvSpPr txBox="1"/>
            <p:nvPr/>
          </p:nvSpPr>
          <p:spPr>
            <a:xfrm>
              <a:off x="42815" y="215426"/>
              <a:ext cx="2638767" cy="13688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b="1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rtl="1" fontAlgn="ctr"/>
              <a:r>
                <a:rPr lang="ar" b="0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ما أفضل طريقة لتسجيل الأنشطة التي تجريها، والمهارات والقدرات التي تستخدمها، وأي إنجازات عملية شخصية تحققها في أثناء التدريب العملي؟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6136B07-5113-D0A6-8734-D6CA592EF184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33477614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731E-9698-10F3-3BF9-37D3207D9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CE2D75-FE1D-DC9C-E50E-8F0A99C7D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ج1 الأداء الشخصي</a:t>
            </a:r>
            <a:endParaRPr lang="en-GB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3B3B276-F4D6-702E-7EE6-F84387284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721" y="3645024"/>
            <a:ext cx="5559570" cy="2592288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خطط التطوير المهني أو فرص التقدم، مثل:</a:t>
            </a:r>
          </a:p>
          <a:p>
            <a:pPr marL="285750" indent="-285750" rt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إجراء تحليل نقاط القوة والضعف والفرص والتهديدات (SWOT) لمهاراتك العملية.</a:t>
            </a:r>
          </a:p>
          <a:p>
            <a:pPr marL="285750" indent="-285750" rt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ar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اختيار فرص التقدّم المناسبة.</a:t>
            </a:r>
          </a:p>
          <a:p>
            <a:pPr marL="285750" indent="-285750" rt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ar" sz="18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تحديد أهداف ذكية (SMART) — محددة </a:t>
            </a:r>
            <a:r>
              <a:rPr lang="ar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وقابلة للقياس وقابلة للتحقيق وذات صلة ومحددة بزمن معين — للوصول إلى أهدافك.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2B06B-3D3C-81AE-F632-5480D897D1CC}"/>
              </a:ext>
            </a:extLst>
          </p:cNvPr>
          <p:cNvSpPr txBox="1"/>
          <p:nvPr/>
        </p:nvSpPr>
        <p:spPr>
          <a:xfrm>
            <a:off x="3181721" y="1736812"/>
            <a:ext cx="5566743" cy="18001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0010" tIns="80010" rIns="80010" bIns="80010" numCol="1" spcCol="1270" rtlCol="1" anchor="ctr" anchorCtr="0">
            <a:noAutofit/>
          </a:bodyPr>
          <a:lstStyle/>
          <a:p>
            <a:pPr rtl="1"/>
            <a:r>
              <a:rPr lang="ar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تسجيل المراجعات والاعتماد عليها، مثل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تحديد المجالات التي تحتاج إلى تحسين.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جمع تعليقات بنّاءة. 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تقديم توصيات لتعزيز الأداء المستقبلي.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F00955-4D5B-7EDA-DCD3-5A3541DA4A14}"/>
              </a:ext>
            </a:extLst>
          </p:cNvPr>
          <p:cNvGrpSpPr/>
          <p:nvPr/>
        </p:nvGrpSpPr>
        <p:grpSpPr>
          <a:xfrm flipH="1">
            <a:off x="597872" y="1988840"/>
            <a:ext cx="2263990" cy="3976614"/>
            <a:chOff x="0" y="215426"/>
            <a:chExt cx="2681582" cy="1420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8EF814-4AEA-3ACD-7F1A-A7AD1BF99025}"/>
                </a:ext>
              </a:extLst>
            </p:cNvPr>
            <p:cNvSpPr/>
            <p:nvPr/>
          </p:nvSpPr>
          <p:spPr>
            <a:xfrm>
              <a:off x="0" y="215426"/>
              <a:ext cx="2681582" cy="136888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A7A20E-DF8C-E983-B7D2-CF5A82CA9A66}"/>
                </a:ext>
              </a:extLst>
            </p:cNvPr>
            <p:cNvSpPr txBox="1"/>
            <p:nvPr/>
          </p:nvSpPr>
          <p:spPr>
            <a:xfrm>
              <a:off x="42815" y="266864"/>
              <a:ext cx="2638767" cy="13688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0" indent="0" rtl="1" fontAlgn="ctr">
                <a:buNone/>
              </a:pPr>
              <a:r>
                <a:rPr lang="ar" b="1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مناقشة:</a:t>
              </a:r>
            </a:p>
            <a:p>
              <a:pPr rtl="1" fontAlgn="ctr"/>
              <a:r>
                <a:rPr lang="ar" b="0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لماذا </a:t>
              </a:r>
              <a:r>
                <a:rPr lang="ar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يُعتبر من الضروري لك:</a:t>
              </a:r>
              <a:endParaRPr lang="en-GB" b="0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rtl="1" fontAlgn="ctr">
                <a:buFont typeface="Arial" panose="020B0604020202020204" pitchFamily="34" charset="0"/>
                <a:buChar char="•"/>
              </a:pPr>
              <a:r>
                <a:rPr lang="ar" b="0" i="0" u="none" strike="noStrike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أن تقيِّم أدائك الشخصي في العمل؟</a:t>
              </a:r>
            </a:p>
            <a:p>
              <a:pPr marL="285750" indent="-285750" rtl="1" fontAlgn="ctr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أن تختار الفرص الملائمة لتطوّرك المستقبلي؟</a:t>
              </a:r>
            </a:p>
            <a:p>
              <a:pPr marL="285750" indent="-285750" rtl="1" fontAlgn="ctr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أن تحدد لنفسك أهدافًا زمنية واضحة؟</a:t>
              </a:r>
            </a:p>
            <a:p>
              <a:pPr marL="285750" indent="-285750" rtl="1" fontAlgn="ctr">
                <a:buFont typeface="Arial" panose="020B0604020202020204" pitchFamily="34" charset="0"/>
                <a:buChar char="•"/>
              </a:pPr>
              <a:endParaRPr lang="en-GB" b="0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3E28CF-2A81-26FC-79DC-13E602C5F733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6172951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EB5E-4A4A-4685-9E36-2D720F124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شكر وتقدير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7CB8D-9AE9-4566-8195-92DB3FAF1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 fontAlgn="base">
              <a:spcBef>
                <a:spcPts val="0"/>
              </a:spcBef>
              <a:spcAft>
                <a:spcPts val="600"/>
              </a:spcAft>
              <a:buNone/>
            </a:pPr>
            <a:r>
              <a:rPr lang="ar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الصور:</a:t>
            </a:r>
          </a:p>
          <a:p>
            <a:pPr marL="0" indent="0" rtl="1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ar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(دليل الاختصارات: l-يسار، r-يمين، c-وسط، t-أعلى، b-أسفل)</a:t>
            </a:r>
            <a:r>
              <a:rPr lang="ar-EG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a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 آر إف: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أندريا دي مارتن (الشريحة 15).</a:t>
            </a:r>
          </a:p>
          <a:p>
            <a:pPr marL="0" indent="0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a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شترستوك: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كزينون (الشريحة 1).</a:t>
            </a:r>
          </a:p>
          <a:p>
            <a:pPr marL="0" indent="0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a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stock.adobe.com: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ياكوبتشوك أولينا (الشريحة 11)، بكسل-شوت (الشريحة 17).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8877F-08FA-F790-D22B-2528B38BA5A9}"/>
              </a:ext>
            </a:extLst>
          </p:cNvPr>
          <p:cNvSpPr txBox="1"/>
          <p:nvPr/>
        </p:nvSpPr>
        <p:spPr>
          <a:xfrm>
            <a:off x="47065" y="6603206"/>
            <a:ext cx="114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dirty="0"/>
              <a:t>A103000424334</a:t>
            </a:r>
          </a:p>
        </p:txBody>
      </p:sp>
    </p:spTree>
    <p:extLst>
      <p:ext uri="{BB962C8B-B14F-4D97-AF65-F5344CB8AC3E}">
        <p14:creationId xmlns:p14="http://schemas.microsoft.com/office/powerpoint/2010/main" val="41409530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1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3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4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a26a0597-d0d1-4250-940c-88e9bf9d5597" xsi:nil="true"/>
    <lcf76f155ced4ddcb4097134ff3c332f xmlns="6881431a-e3b2-481e-ba90-fae26e2fa83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5CA97BB98D954187A61B8775138C0A" ma:contentTypeVersion="18" ma:contentTypeDescription="Create a new document." ma:contentTypeScope="" ma:versionID="698bde0db92f4b6453249da6bd9087ce">
  <xsd:schema xmlns:xsd="http://www.w3.org/2001/XMLSchema" xmlns:xs="http://www.w3.org/2001/XMLSchema" xmlns:p="http://schemas.microsoft.com/office/2006/metadata/properties" xmlns:ns1="http://schemas.microsoft.com/sharepoint/v3" xmlns:ns2="a26a0597-d0d1-4250-940c-88e9bf9d5597" xmlns:ns3="6881431a-e3b2-481e-ba90-fae26e2fa83c" targetNamespace="http://schemas.microsoft.com/office/2006/metadata/properties" ma:root="true" ma:fieldsID="b9339031a639aa78a5deea90689d2a48" ns1:_="" ns2:_="" ns3:_="">
    <xsd:import namespace="http://schemas.microsoft.com/sharepoint/v3"/>
    <xsd:import namespace="a26a0597-d0d1-4250-940c-88e9bf9d5597"/>
    <xsd:import namespace="6881431a-e3b2-481e-ba90-fae26e2fa8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a0597-d0d1-4250-940c-88e9bf9d55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b19cccf-beb9-4e4d-a7ce-d3aacf7fbe52}" ma:internalName="TaxCatchAll" ma:showField="CatchAllData" ma:web="a26a0597-d0d1-4250-940c-88e9bf9d55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1431a-e3b2-481e-ba90-fae26e2f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48C615-482B-4AB5-9FE7-A2F3E6CFF2B1}">
  <ds:schemaRefs>
    <ds:schemaRef ds:uri="http://schemas.microsoft.com/office/2006/documentManagement/types"/>
    <ds:schemaRef ds:uri="http://schemas.openxmlformats.org/package/2006/metadata/core-properties"/>
    <ds:schemaRef ds:uri="7c1bd8dc-4e40-424f-a15f-9ffcd522197f"/>
    <ds:schemaRef ds:uri="http://schemas.microsoft.com/office/infopath/2007/PartnerControls"/>
    <ds:schemaRef ds:uri="http://purl.org/dc/dcmitype/"/>
    <ds:schemaRef ds:uri="http://purl.org/dc/elements/1.1/"/>
    <ds:schemaRef ds:uri="http://www.w3.org/XML/1998/namespace"/>
    <ds:schemaRef ds:uri="http://schemas.microsoft.com/sharepoint/v3"/>
    <ds:schemaRef ds:uri="6125ffc9-2c56-435e-8267-1393444907b2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528024-097A-4115-AA41-D707D94638AF}"/>
</file>

<file path=docMetadata/LabelInfo.xml><?xml version="1.0" encoding="utf-8"?>
<clbl:labelList xmlns:clbl="http://schemas.microsoft.com/office/2020/mipLabelMetadata">
  <clbl:label id="{8cc434d7-97d0-47d3-b5c5-14fe0e33e34b}" enabled="0" method="" siteId="{8cc434d7-97d0-47d3-b5c5-14fe0e33e3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9643</TotalTime>
  <Words>2374</Words>
  <Application>Microsoft Office PowerPoint</Application>
  <PresentationFormat>On-screen Show (4:3)</PresentationFormat>
  <Paragraphs>391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32</vt:i4>
      </vt:variant>
    </vt:vector>
  </HeadingPairs>
  <TitlesOfParts>
    <vt:vector size="53" baseType="lpstr">
      <vt:lpstr>Arial</vt:lpstr>
      <vt:lpstr>Roboto</vt:lpstr>
      <vt:lpstr>Symbol</vt:lpstr>
      <vt:lpstr>Times New Roman</vt:lpstr>
      <vt:lpstr>var(--s-section-title-text-font-family)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11_Beauty Therapy</vt:lpstr>
      <vt:lpstr>12_Beauty Therapy</vt:lpstr>
      <vt:lpstr>13_Beauty Therapy</vt:lpstr>
      <vt:lpstr>14_Beauty Therapy</vt:lpstr>
      <vt:lpstr>الوحدة 5: الخبرة المهنية في مجال الرعاية الصحيّة والاجتماعية   </vt:lpstr>
      <vt:lpstr>الخبرة المهنية في مجال الرعاية الصحيّة والاجتماعية</vt:lpstr>
      <vt:lpstr>كيف تُقيَّم الوحدة 5؟</vt:lpstr>
      <vt:lpstr>نتاجا التعلم أ ج</vt:lpstr>
      <vt:lpstr>نتاج التعلم أ  </vt:lpstr>
      <vt:lpstr>PowerPoint Presentation</vt:lpstr>
      <vt:lpstr>PowerPoint Presentation</vt:lpstr>
      <vt:lpstr>أ1 طرق عرض المعلومات الشخصية </vt:lpstr>
      <vt:lpstr>أ1 طرق عرض المعلومات الشخصية </vt:lpstr>
      <vt:lpstr>أ1 طرق عرض المعلومات الشخصية </vt:lpstr>
      <vt:lpstr>أ1 طرق عرض المعلومات الشخصية </vt:lpstr>
      <vt:lpstr>أ2 مهارات مقابلة العمل</vt:lpstr>
      <vt:lpstr>أ2 مهارات مقابلة العمل</vt:lpstr>
      <vt:lpstr>أ2 مهارات مقابلة العمل</vt:lpstr>
      <vt:lpstr>أ2 مهارات مقابلة العمل</vt:lpstr>
      <vt:lpstr>أ2 مهارات مقابلة العمل</vt:lpstr>
      <vt:lpstr>أ2 مهارات مقابلة العمل</vt:lpstr>
      <vt:lpstr>أ3 الاستعداد لمقابلة العمل</vt:lpstr>
      <vt:lpstr>نتاج التعلم ب  </vt:lpstr>
      <vt:lpstr>PowerPoint Presentation</vt:lpstr>
      <vt:lpstr>PowerPoint Presentation</vt:lpstr>
      <vt:lpstr>PowerPoint Presentation</vt:lpstr>
      <vt:lpstr>PowerPoint Presentation</vt:lpstr>
      <vt:lpstr>ب2 مجالات الرعاية الصحيّة والاجتماعية </vt:lpstr>
      <vt:lpstr>ب3 المهارات التفاعلية ضمن بيئة العمل</vt:lpstr>
      <vt:lpstr>ب3 المهارات التفاعلية ضمن بيئة العمل</vt:lpstr>
      <vt:lpstr>ب3 المهارات التفاعلية ضمن بيئة العمل</vt:lpstr>
      <vt:lpstr>نتاج التعلم ج  </vt:lpstr>
      <vt:lpstr>PowerPoint Presentation</vt:lpstr>
      <vt:lpstr>ج1 الأداء الشخصي</vt:lpstr>
      <vt:lpstr>ج1 الأداء الشخصي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145</cp:revision>
  <dcterms:created xsi:type="dcterms:W3CDTF">2020-07-15T07:14:47Z</dcterms:created>
  <dcterms:modified xsi:type="dcterms:W3CDTF">2025-09-24T09:14:43Z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0x010100105CA97BB98D954187A61B8775138C0A</vt:lpwstr>
  </property>
  <property fmtid="{D5CDD505-2E9C-101B-9397-08002B2CF9AE}" pid="4" name="MediaServiceImageTags">
    <vt:lpwstr/>
  </property>
</Properties>
</file>