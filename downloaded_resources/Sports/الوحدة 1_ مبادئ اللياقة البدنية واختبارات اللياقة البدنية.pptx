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7.xml" ContentType="application/vnd.openxmlformats-officedocument.theme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8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heme/theme9.xml" ContentType="application/vnd.openxmlformats-officedocument.theme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theme/theme10.xml" ContentType="application/vnd.openxmlformats-officedocument.theme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theme/theme11.xml" ContentType="application/vnd.openxmlformats-officedocument.theme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theme/theme12.xml" ContentType="application/vnd.openxmlformats-officedocument.theme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theme/theme13.xml" ContentType="application/vnd.openxmlformats-officedocument.theme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  <p:sldMasterId id="2147484932" r:id="rId14"/>
    <p:sldMasterId id="2147484945" r:id="rId15"/>
    <p:sldMasterId id="2147484958" r:id="rId16"/>
    <p:sldMasterId id="2147484971" r:id="rId17"/>
  </p:sldMasterIdLst>
  <p:notesMasterIdLst>
    <p:notesMasterId r:id="rId41"/>
  </p:notesMasterIdLst>
  <p:handoutMasterIdLst>
    <p:handoutMasterId r:id="rId42"/>
  </p:handoutMasterIdLst>
  <p:sldIdLst>
    <p:sldId id="256" r:id="rId18"/>
    <p:sldId id="257" r:id="rId19"/>
    <p:sldId id="258" r:id="rId20"/>
    <p:sldId id="310" r:id="rId21"/>
    <p:sldId id="324" r:id="rId22"/>
    <p:sldId id="311" r:id="rId23"/>
    <p:sldId id="312" r:id="rId24"/>
    <p:sldId id="313" r:id="rId25"/>
    <p:sldId id="315" r:id="rId26"/>
    <p:sldId id="316" r:id="rId27"/>
    <p:sldId id="320" r:id="rId28"/>
    <p:sldId id="314" r:id="rId29"/>
    <p:sldId id="317" r:id="rId30"/>
    <p:sldId id="318" r:id="rId31"/>
    <p:sldId id="319" r:id="rId32"/>
    <p:sldId id="325" r:id="rId33"/>
    <p:sldId id="307" r:id="rId34"/>
    <p:sldId id="321" r:id="rId35"/>
    <p:sldId id="322" r:id="rId36"/>
    <p:sldId id="326" r:id="rId37"/>
    <p:sldId id="309" r:id="rId38"/>
    <p:sldId id="323" r:id="rId39"/>
    <p:sldId id="327" r:id="rId40"/>
  </p:sldIdLst>
  <p:sldSz cx="9144000" cy="6858000" type="screen4x3"/>
  <p:notesSz cx="6858000" cy="9144000"/>
  <p:defaultTextStyle>
    <a:defPPr algn="r" rtl="1">
      <a:defRPr lang="ar-MA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187A17-64CC-4ABE-AB5B-1C32AD0DD6CD}" v="25" dt="2025-09-24T10:30:19.520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50" autoAdjust="0"/>
    <p:restoredTop sz="87605" autoAdjust="0"/>
  </p:normalViewPr>
  <p:slideViewPr>
    <p:cSldViewPr>
      <p:cViewPr>
        <p:scale>
          <a:sx n="120" d="100"/>
          <a:sy n="120" d="100"/>
        </p:scale>
        <p:origin x="3492" y="528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1.xml"/><Relationship Id="rId26" Type="http://schemas.openxmlformats.org/officeDocument/2006/relationships/slide" Target="slides/slide9.xml"/><Relationship Id="rId39" Type="http://schemas.openxmlformats.org/officeDocument/2006/relationships/slide" Target="slides/slide22.xml"/><Relationship Id="rId21" Type="http://schemas.openxmlformats.org/officeDocument/2006/relationships/slide" Target="slides/slide4.xml"/><Relationship Id="rId34" Type="http://schemas.openxmlformats.org/officeDocument/2006/relationships/slide" Target="slides/slide17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9" Type="http://schemas.openxmlformats.org/officeDocument/2006/relationships/slide" Target="slides/slide12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7.xml"/><Relationship Id="rId32" Type="http://schemas.openxmlformats.org/officeDocument/2006/relationships/slide" Target="slides/slide15.xml"/><Relationship Id="rId37" Type="http://schemas.openxmlformats.org/officeDocument/2006/relationships/slide" Target="slides/slide20.xml"/><Relationship Id="rId40" Type="http://schemas.openxmlformats.org/officeDocument/2006/relationships/slide" Target="slides/slide23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6.xml"/><Relationship Id="rId28" Type="http://schemas.openxmlformats.org/officeDocument/2006/relationships/slide" Target="slides/slide11.xml"/><Relationship Id="rId36" Type="http://schemas.openxmlformats.org/officeDocument/2006/relationships/slide" Target="slides/slide19.xml"/><Relationship Id="rId49" Type="http://schemas.microsoft.com/office/2015/10/relationships/revisionInfo" Target="revisionInfo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2.xml"/><Relationship Id="rId31" Type="http://schemas.openxmlformats.org/officeDocument/2006/relationships/slide" Target="slides/slide14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5.xml"/><Relationship Id="rId27" Type="http://schemas.openxmlformats.org/officeDocument/2006/relationships/slide" Target="slides/slide10.xml"/><Relationship Id="rId30" Type="http://schemas.openxmlformats.org/officeDocument/2006/relationships/slide" Target="slides/slide13.xml"/><Relationship Id="rId35" Type="http://schemas.openxmlformats.org/officeDocument/2006/relationships/slide" Target="slides/slide18.xml"/><Relationship Id="rId43" Type="http://schemas.openxmlformats.org/officeDocument/2006/relationships/commentAuthors" Target="commentAuthors.xml"/><Relationship Id="rId48" Type="http://schemas.microsoft.com/office/2016/11/relationships/changesInfo" Target="changesInfos/changesInfo1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8.xml"/><Relationship Id="rId33" Type="http://schemas.openxmlformats.org/officeDocument/2006/relationships/slide" Target="slides/slide16.xml"/><Relationship Id="rId38" Type="http://schemas.openxmlformats.org/officeDocument/2006/relationships/slide" Target="slides/slide21.xml"/><Relationship Id="rId46" Type="http://schemas.openxmlformats.org/officeDocument/2006/relationships/theme" Target="theme/theme1.xml"/><Relationship Id="rId20" Type="http://schemas.openxmlformats.org/officeDocument/2006/relationships/slide" Target="slides/slide3.xml"/><Relationship Id="rId41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ika Dhokia" userId="S::sonika.dhokia@pearson.com::e3071910-c06c-4ed9-8429-19415f4c99b0" providerId="AD" clId="Web-{E3F767F2-F174-AEDD-9E65-6AFC8B3617CD}"/>
    <pc:docChg chg="modSld">
      <pc:chgData name="Sonika Dhokia" userId="S::sonika.dhokia@pearson.com::e3071910-c06c-4ed9-8429-19415f4c99b0" providerId="AD" clId="Web-{E3F767F2-F174-AEDD-9E65-6AFC8B3617CD}" dt="2025-08-06T07:07:20.852" v="5" actId="1076"/>
      <pc:docMkLst>
        <pc:docMk/>
      </pc:docMkLst>
      <pc:sldChg chg="addSp delSp modSp">
        <pc:chgData name="Sonika Dhokia" userId="S::sonika.dhokia@pearson.com::e3071910-c06c-4ed9-8429-19415f4c99b0" providerId="AD" clId="Web-{E3F767F2-F174-AEDD-9E65-6AFC8B3617CD}" dt="2025-08-06T07:07:20.852" v="5" actId="1076"/>
        <pc:sldMkLst>
          <pc:docMk/>
          <pc:sldMk cId="4187123411" sldId="320"/>
        </pc:sldMkLst>
      </pc:sldChg>
    </pc:docChg>
  </pc:docChgLst>
  <pc:docChgLst>
    <pc:chgData name="Sonika Dhokia" userId="S::sonika.dhokia@pearson.com::e3071910-c06c-4ed9-8429-19415f4c99b0" providerId="AD" clId="Web-{7B3AA2B5-793B-A24B-2975-6B456B6BD61E}"/>
    <pc:docChg chg="modSld">
      <pc:chgData name="Sonika Dhokia" userId="S::sonika.dhokia@pearson.com::e3071910-c06c-4ed9-8429-19415f4c99b0" providerId="AD" clId="Web-{7B3AA2B5-793B-A24B-2975-6B456B6BD61E}" dt="2025-08-05T07:28:40.143" v="8"/>
      <pc:docMkLst>
        <pc:docMk/>
      </pc:docMkLst>
      <pc:sldChg chg="mod setBg">
        <pc:chgData name="Sonika Dhokia" userId="S::sonika.dhokia@pearson.com::e3071910-c06c-4ed9-8429-19415f4c99b0" providerId="AD" clId="Web-{7B3AA2B5-793B-A24B-2975-6B456B6BD61E}" dt="2025-08-05T07:25:10.358" v="0"/>
        <pc:sldMkLst>
          <pc:docMk/>
          <pc:sldMk cId="0" sldId="256"/>
        </pc:sldMkLst>
      </pc:sldChg>
      <pc:sldChg chg="modSp">
        <pc:chgData name="Sonika Dhokia" userId="S::sonika.dhokia@pearson.com::e3071910-c06c-4ed9-8429-19415f4c99b0" providerId="AD" clId="Web-{7B3AA2B5-793B-A24B-2975-6B456B6BD61E}" dt="2025-08-05T07:25:32.483" v="2" actId="14100"/>
        <pc:sldMkLst>
          <pc:docMk/>
          <pc:sldMk cId="2846244486" sldId="310"/>
        </pc:sldMkLst>
      </pc:sldChg>
      <pc:sldChg chg="mod setBg">
        <pc:chgData name="Sonika Dhokia" userId="S::sonika.dhokia@pearson.com::e3071910-c06c-4ed9-8429-19415f4c99b0" providerId="AD" clId="Web-{7B3AA2B5-793B-A24B-2975-6B456B6BD61E}" dt="2025-08-05T07:25:53.218" v="3"/>
        <pc:sldMkLst>
          <pc:docMk/>
          <pc:sldMk cId="983653618" sldId="313"/>
        </pc:sldMkLst>
      </pc:sldChg>
      <pc:sldChg chg="modSp">
        <pc:chgData name="Sonika Dhokia" userId="S::sonika.dhokia@pearson.com::e3071910-c06c-4ed9-8429-19415f4c99b0" providerId="AD" clId="Web-{7B3AA2B5-793B-A24B-2975-6B456B6BD61E}" dt="2025-08-05T07:28:26.706" v="7"/>
        <pc:sldMkLst>
          <pc:docMk/>
          <pc:sldMk cId="578055430" sldId="314"/>
        </pc:sldMkLst>
      </pc:sldChg>
      <pc:sldChg chg="modSp">
        <pc:chgData name="Sonika Dhokia" userId="S::sonika.dhokia@pearson.com::e3071910-c06c-4ed9-8429-19415f4c99b0" providerId="AD" clId="Web-{7B3AA2B5-793B-A24B-2975-6B456B6BD61E}" dt="2025-08-05T07:28:40.143" v="8"/>
        <pc:sldMkLst>
          <pc:docMk/>
          <pc:sldMk cId="2866471372" sldId="319"/>
        </pc:sldMkLst>
      </pc:sldChg>
      <pc:sldChg chg="modSp">
        <pc:chgData name="Sonika Dhokia" userId="S::sonika.dhokia@pearson.com::e3071910-c06c-4ed9-8429-19415f4c99b0" providerId="AD" clId="Web-{7B3AA2B5-793B-A24B-2975-6B456B6BD61E}" dt="2025-08-05T07:28:07.768" v="6"/>
        <pc:sldMkLst>
          <pc:docMk/>
          <pc:sldMk cId="4187123411" sldId="320"/>
        </pc:sldMkLst>
      </pc:sldChg>
    </pc:docChg>
  </pc:docChgLst>
  <pc:docChgLst>
    <pc:chgData name="Paul Winser" userId="c3146a91-e6bd-4264-bd86-e164e04bc32d" providerId="ADAL" clId="{96187A17-64CC-4ABE-AB5B-1C32AD0DD6CD}"/>
    <pc:docChg chg="addSld modSld">
      <pc:chgData name="Paul Winser" userId="c3146a91-e6bd-4264-bd86-e164e04bc32d" providerId="ADAL" clId="{96187A17-64CC-4ABE-AB5B-1C32AD0DD6CD}" dt="2025-09-24T10:30:10.569" v="27"/>
      <pc:docMkLst>
        <pc:docMk/>
      </pc:docMkLst>
      <pc:sldChg chg="addSp modSp mod">
        <pc:chgData name="Paul Winser" userId="c3146a91-e6bd-4264-bd86-e164e04bc32d" providerId="ADAL" clId="{96187A17-64CC-4ABE-AB5B-1C32AD0DD6CD}" dt="2025-09-24T10:28:55.967" v="2" actId="20577"/>
        <pc:sldMkLst>
          <pc:docMk/>
          <pc:sldMk cId="0" sldId="256"/>
        </pc:sldMkLst>
        <pc:spChg chg="add mod">
          <ac:chgData name="Paul Winser" userId="c3146a91-e6bd-4264-bd86-e164e04bc32d" providerId="ADAL" clId="{96187A17-64CC-4ABE-AB5B-1C32AD0DD6CD}" dt="2025-09-24T10:28:55.967" v="2" actId="20577"/>
          <ac:spMkLst>
            <pc:docMk/>
            <pc:sldMk cId="0" sldId="256"/>
            <ac:spMk id="2" creationId="{07667A26-40E6-4FAB-FE7C-7BE6C619346D}"/>
          </ac:spMkLst>
        </pc:spChg>
      </pc:sldChg>
      <pc:sldChg chg="addSp modSp mod">
        <pc:chgData name="Paul Winser" userId="c3146a91-e6bd-4264-bd86-e164e04bc32d" providerId="ADAL" clId="{96187A17-64CC-4ABE-AB5B-1C32AD0DD6CD}" dt="2025-09-24T10:29:09.215" v="5" actId="20577"/>
        <pc:sldMkLst>
          <pc:docMk/>
          <pc:sldMk cId="0" sldId="257"/>
        </pc:sldMkLst>
        <pc:spChg chg="add mod">
          <ac:chgData name="Paul Winser" userId="c3146a91-e6bd-4264-bd86-e164e04bc32d" providerId="ADAL" clId="{96187A17-64CC-4ABE-AB5B-1C32AD0DD6CD}" dt="2025-09-24T10:29:09.215" v="5" actId="20577"/>
          <ac:spMkLst>
            <pc:docMk/>
            <pc:sldMk cId="0" sldId="257"/>
            <ac:spMk id="2" creationId="{E0631EE6-0E1A-A7C3-C574-FA54A859366F}"/>
          </ac:spMkLst>
        </pc:spChg>
      </pc:sldChg>
      <pc:sldChg chg="addSp modSp">
        <pc:chgData name="Paul Winser" userId="c3146a91-e6bd-4264-bd86-e164e04bc32d" providerId="ADAL" clId="{96187A17-64CC-4ABE-AB5B-1C32AD0DD6CD}" dt="2025-09-24T10:29:14.006" v="6"/>
        <pc:sldMkLst>
          <pc:docMk/>
          <pc:sldMk cId="0" sldId="258"/>
        </pc:sldMkLst>
        <pc:spChg chg="add mod">
          <ac:chgData name="Paul Winser" userId="c3146a91-e6bd-4264-bd86-e164e04bc32d" providerId="ADAL" clId="{96187A17-64CC-4ABE-AB5B-1C32AD0DD6CD}" dt="2025-09-24T10:29:14.006" v="6"/>
          <ac:spMkLst>
            <pc:docMk/>
            <pc:sldMk cId="0" sldId="258"/>
            <ac:spMk id="7" creationId="{EBAD8EE4-90E6-40D0-8F14-695E3D86ED69}"/>
          </ac:spMkLst>
        </pc:spChg>
      </pc:sldChg>
      <pc:sldChg chg="addSp modSp">
        <pc:chgData name="Paul Winser" userId="c3146a91-e6bd-4264-bd86-e164e04bc32d" providerId="ADAL" clId="{96187A17-64CC-4ABE-AB5B-1C32AD0DD6CD}" dt="2025-09-24T10:29:36.926" v="20"/>
        <pc:sldMkLst>
          <pc:docMk/>
          <pc:sldMk cId="3621417310" sldId="307"/>
        </pc:sldMkLst>
        <pc:spChg chg="add mod">
          <ac:chgData name="Paul Winser" userId="c3146a91-e6bd-4264-bd86-e164e04bc32d" providerId="ADAL" clId="{96187A17-64CC-4ABE-AB5B-1C32AD0DD6CD}" dt="2025-09-24T10:29:36.926" v="20"/>
          <ac:spMkLst>
            <pc:docMk/>
            <pc:sldMk cId="3621417310" sldId="307"/>
            <ac:spMk id="2" creationId="{0A184646-25FD-ABA1-EB8A-F5CDD3C4EFC7}"/>
          </ac:spMkLst>
        </pc:spChg>
      </pc:sldChg>
      <pc:sldChg chg="addSp modSp">
        <pc:chgData name="Paul Winser" userId="c3146a91-e6bd-4264-bd86-e164e04bc32d" providerId="ADAL" clId="{96187A17-64CC-4ABE-AB5B-1C32AD0DD6CD}" dt="2025-09-24T10:29:43.949" v="24"/>
        <pc:sldMkLst>
          <pc:docMk/>
          <pc:sldMk cId="47175209" sldId="309"/>
        </pc:sldMkLst>
        <pc:spChg chg="add mod">
          <ac:chgData name="Paul Winser" userId="c3146a91-e6bd-4264-bd86-e164e04bc32d" providerId="ADAL" clId="{96187A17-64CC-4ABE-AB5B-1C32AD0DD6CD}" dt="2025-09-24T10:29:43.949" v="24"/>
          <ac:spMkLst>
            <pc:docMk/>
            <pc:sldMk cId="47175209" sldId="309"/>
            <ac:spMk id="3" creationId="{D5D5F196-0AD5-87D3-F69F-D057814AD3B5}"/>
          </ac:spMkLst>
        </pc:spChg>
      </pc:sldChg>
      <pc:sldChg chg="addSp modSp">
        <pc:chgData name="Paul Winser" userId="c3146a91-e6bd-4264-bd86-e164e04bc32d" providerId="ADAL" clId="{96187A17-64CC-4ABE-AB5B-1C32AD0DD6CD}" dt="2025-09-24T10:29:15.808" v="7"/>
        <pc:sldMkLst>
          <pc:docMk/>
          <pc:sldMk cId="2846244486" sldId="310"/>
        </pc:sldMkLst>
        <pc:spChg chg="add mod">
          <ac:chgData name="Paul Winser" userId="c3146a91-e6bd-4264-bd86-e164e04bc32d" providerId="ADAL" clId="{96187A17-64CC-4ABE-AB5B-1C32AD0DD6CD}" dt="2025-09-24T10:29:15.808" v="7"/>
          <ac:spMkLst>
            <pc:docMk/>
            <pc:sldMk cId="2846244486" sldId="310"/>
            <ac:spMk id="5" creationId="{62740F59-4F6B-7E4A-5CED-BBFC3F5E29EF}"/>
          </ac:spMkLst>
        </pc:spChg>
      </pc:sldChg>
      <pc:sldChg chg="addSp modSp">
        <pc:chgData name="Paul Winser" userId="c3146a91-e6bd-4264-bd86-e164e04bc32d" providerId="ADAL" clId="{96187A17-64CC-4ABE-AB5B-1C32AD0DD6CD}" dt="2025-09-24T10:29:18.579" v="9"/>
        <pc:sldMkLst>
          <pc:docMk/>
          <pc:sldMk cId="4162723532" sldId="311"/>
        </pc:sldMkLst>
        <pc:spChg chg="add mod">
          <ac:chgData name="Paul Winser" userId="c3146a91-e6bd-4264-bd86-e164e04bc32d" providerId="ADAL" clId="{96187A17-64CC-4ABE-AB5B-1C32AD0DD6CD}" dt="2025-09-24T10:29:18.579" v="9"/>
          <ac:spMkLst>
            <pc:docMk/>
            <pc:sldMk cId="4162723532" sldId="311"/>
            <ac:spMk id="4" creationId="{8144A8B9-66A9-ED9A-40BB-313306D82753}"/>
          </ac:spMkLst>
        </pc:spChg>
      </pc:sldChg>
      <pc:sldChg chg="addSp modSp">
        <pc:chgData name="Paul Winser" userId="c3146a91-e6bd-4264-bd86-e164e04bc32d" providerId="ADAL" clId="{96187A17-64CC-4ABE-AB5B-1C32AD0DD6CD}" dt="2025-09-24T10:29:20.238" v="10"/>
        <pc:sldMkLst>
          <pc:docMk/>
          <pc:sldMk cId="1344593210" sldId="312"/>
        </pc:sldMkLst>
        <pc:spChg chg="add mod">
          <ac:chgData name="Paul Winser" userId="c3146a91-e6bd-4264-bd86-e164e04bc32d" providerId="ADAL" clId="{96187A17-64CC-4ABE-AB5B-1C32AD0DD6CD}" dt="2025-09-24T10:29:20.238" v="10"/>
          <ac:spMkLst>
            <pc:docMk/>
            <pc:sldMk cId="1344593210" sldId="312"/>
            <ac:spMk id="4" creationId="{F23336C3-C02B-9C08-95EF-66DD85BF29A4}"/>
          </ac:spMkLst>
        </pc:spChg>
      </pc:sldChg>
      <pc:sldChg chg="addSp modSp">
        <pc:chgData name="Paul Winser" userId="c3146a91-e6bd-4264-bd86-e164e04bc32d" providerId="ADAL" clId="{96187A17-64CC-4ABE-AB5B-1C32AD0DD6CD}" dt="2025-09-24T10:29:22.127" v="11"/>
        <pc:sldMkLst>
          <pc:docMk/>
          <pc:sldMk cId="983653618" sldId="313"/>
        </pc:sldMkLst>
        <pc:spChg chg="add mod">
          <ac:chgData name="Paul Winser" userId="c3146a91-e6bd-4264-bd86-e164e04bc32d" providerId="ADAL" clId="{96187A17-64CC-4ABE-AB5B-1C32AD0DD6CD}" dt="2025-09-24T10:29:22.127" v="11"/>
          <ac:spMkLst>
            <pc:docMk/>
            <pc:sldMk cId="983653618" sldId="313"/>
            <ac:spMk id="3" creationId="{E276D7F6-8DFA-2176-01C0-BBF7CCB36220}"/>
          </ac:spMkLst>
        </pc:spChg>
      </pc:sldChg>
      <pc:sldChg chg="addSp modSp">
        <pc:chgData name="Paul Winser" userId="c3146a91-e6bd-4264-bd86-e164e04bc32d" providerId="ADAL" clId="{96187A17-64CC-4ABE-AB5B-1C32AD0DD6CD}" dt="2025-09-24T10:29:28.148" v="15"/>
        <pc:sldMkLst>
          <pc:docMk/>
          <pc:sldMk cId="578055430" sldId="314"/>
        </pc:sldMkLst>
        <pc:spChg chg="add mod">
          <ac:chgData name="Paul Winser" userId="c3146a91-e6bd-4264-bd86-e164e04bc32d" providerId="ADAL" clId="{96187A17-64CC-4ABE-AB5B-1C32AD0DD6CD}" dt="2025-09-24T10:29:28.148" v="15"/>
          <ac:spMkLst>
            <pc:docMk/>
            <pc:sldMk cId="578055430" sldId="314"/>
            <ac:spMk id="5" creationId="{6F8F0125-6A16-BA11-7FFD-73FE10ACBCB7}"/>
          </ac:spMkLst>
        </pc:spChg>
      </pc:sldChg>
      <pc:sldChg chg="addSp modSp">
        <pc:chgData name="Paul Winser" userId="c3146a91-e6bd-4264-bd86-e164e04bc32d" providerId="ADAL" clId="{96187A17-64CC-4ABE-AB5B-1C32AD0DD6CD}" dt="2025-09-24T10:29:23.424" v="12"/>
        <pc:sldMkLst>
          <pc:docMk/>
          <pc:sldMk cId="3963572235" sldId="315"/>
        </pc:sldMkLst>
        <pc:spChg chg="add mod">
          <ac:chgData name="Paul Winser" userId="c3146a91-e6bd-4264-bd86-e164e04bc32d" providerId="ADAL" clId="{96187A17-64CC-4ABE-AB5B-1C32AD0DD6CD}" dt="2025-09-24T10:29:23.424" v="12"/>
          <ac:spMkLst>
            <pc:docMk/>
            <pc:sldMk cId="3963572235" sldId="315"/>
            <ac:spMk id="3" creationId="{10821088-B984-1FA9-C52F-A28E28415777}"/>
          </ac:spMkLst>
        </pc:spChg>
      </pc:sldChg>
      <pc:sldChg chg="addSp modSp">
        <pc:chgData name="Paul Winser" userId="c3146a91-e6bd-4264-bd86-e164e04bc32d" providerId="ADAL" clId="{96187A17-64CC-4ABE-AB5B-1C32AD0DD6CD}" dt="2025-09-24T10:29:24.882" v="13"/>
        <pc:sldMkLst>
          <pc:docMk/>
          <pc:sldMk cId="2862387801" sldId="316"/>
        </pc:sldMkLst>
        <pc:spChg chg="add mod">
          <ac:chgData name="Paul Winser" userId="c3146a91-e6bd-4264-bd86-e164e04bc32d" providerId="ADAL" clId="{96187A17-64CC-4ABE-AB5B-1C32AD0DD6CD}" dt="2025-09-24T10:29:24.882" v="13"/>
          <ac:spMkLst>
            <pc:docMk/>
            <pc:sldMk cId="2862387801" sldId="316"/>
            <ac:spMk id="3" creationId="{9517631A-C745-2BF8-71B8-88A96854F32C}"/>
          </ac:spMkLst>
        </pc:spChg>
      </pc:sldChg>
      <pc:sldChg chg="addSp modSp">
        <pc:chgData name="Paul Winser" userId="c3146a91-e6bd-4264-bd86-e164e04bc32d" providerId="ADAL" clId="{96187A17-64CC-4ABE-AB5B-1C32AD0DD6CD}" dt="2025-09-24T10:29:30.225" v="16"/>
        <pc:sldMkLst>
          <pc:docMk/>
          <pc:sldMk cId="1107085392" sldId="317"/>
        </pc:sldMkLst>
        <pc:spChg chg="add mod">
          <ac:chgData name="Paul Winser" userId="c3146a91-e6bd-4264-bd86-e164e04bc32d" providerId="ADAL" clId="{96187A17-64CC-4ABE-AB5B-1C32AD0DD6CD}" dt="2025-09-24T10:29:30.225" v="16"/>
          <ac:spMkLst>
            <pc:docMk/>
            <pc:sldMk cId="1107085392" sldId="317"/>
            <ac:spMk id="4" creationId="{CB204058-83CE-2276-E33D-846275A58504}"/>
          </ac:spMkLst>
        </pc:spChg>
      </pc:sldChg>
      <pc:sldChg chg="addSp modSp">
        <pc:chgData name="Paul Winser" userId="c3146a91-e6bd-4264-bd86-e164e04bc32d" providerId="ADAL" clId="{96187A17-64CC-4ABE-AB5B-1C32AD0DD6CD}" dt="2025-09-24T10:29:31.496" v="17"/>
        <pc:sldMkLst>
          <pc:docMk/>
          <pc:sldMk cId="2885612540" sldId="318"/>
        </pc:sldMkLst>
        <pc:spChg chg="add mod">
          <ac:chgData name="Paul Winser" userId="c3146a91-e6bd-4264-bd86-e164e04bc32d" providerId="ADAL" clId="{96187A17-64CC-4ABE-AB5B-1C32AD0DD6CD}" dt="2025-09-24T10:29:31.496" v="17"/>
          <ac:spMkLst>
            <pc:docMk/>
            <pc:sldMk cId="2885612540" sldId="318"/>
            <ac:spMk id="3" creationId="{E5E3C90B-DD30-3274-D7F1-6A90A632A3FE}"/>
          </ac:spMkLst>
        </pc:spChg>
      </pc:sldChg>
      <pc:sldChg chg="addSp modSp">
        <pc:chgData name="Paul Winser" userId="c3146a91-e6bd-4264-bd86-e164e04bc32d" providerId="ADAL" clId="{96187A17-64CC-4ABE-AB5B-1C32AD0DD6CD}" dt="2025-09-24T10:29:33.333" v="18"/>
        <pc:sldMkLst>
          <pc:docMk/>
          <pc:sldMk cId="2866471372" sldId="319"/>
        </pc:sldMkLst>
        <pc:spChg chg="add mod">
          <ac:chgData name="Paul Winser" userId="c3146a91-e6bd-4264-bd86-e164e04bc32d" providerId="ADAL" clId="{96187A17-64CC-4ABE-AB5B-1C32AD0DD6CD}" dt="2025-09-24T10:29:33.333" v="18"/>
          <ac:spMkLst>
            <pc:docMk/>
            <pc:sldMk cId="2866471372" sldId="319"/>
            <ac:spMk id="4" creationId="{71462518-1CB8-6A61-7A4C-3C22609DD95E}"/>
          </ac:spMkLst>
        </pc:spChg>
      </pc:sldChg>
      <pc:sldChg chg="addSp modSp">
        <pc:chgData name="Paul Winser" userId="c3146a91-e6bd-4264-bd86-e164e04bc32d" providerId="ADAL" clId="{96187A17-64CC-4ABE-AB5B-1C32AD0DD6CD}" dt="2025-09-24T10:29:26.093" v="14"/>
        <pc:sldMkLst>
          <pc:docMk/>
          <pc:sldMk cId="4187123411" sldId="320"/>
        </pc:sldMkLst>
        <pc:spChg chg="add mod">
          <ac:chgData name="Paul Winser" userId="c3146a91-e6bd-4264-bd86-e164e04bc32d" providerId="ADAL" clId="{96187A17-64CC-4ABE-AB5B-1C32AD0DD6CD}" dt="2025-09-24T10:29:26.093" v="14"/>
          <ac:spMkLst>
            <pc:docMk/>
            <pc:sldMk cId="4187123411" sldId="320"/>
            <ac:spMk id="5" creationId="{B60F3A27-F3C3-E5A7-552F-9BBC778CF503}"/>
          </ac:spMkLst>
        </pc:spChg>
      </pc:sldChg>
      <pc:sldChg chg="addSp modSp">
        <pc:chgData name="Paul Winser" userId="c3146a91-e6bd-4264-bd86-e164e04bc32d" providerId="ADAL" clId="{96187A17-64CC-4ABE-AB5B-1C32AD0DD6CD}" dt="2025-09-24T10:29:38.233" v="21"/>
        <pc:sldMkLst>
          <pc:docMk/>
          <pc:sldMk cId="3322700174" sldId="321"/>
        </pc:sldMkLst>
        <pc:spChg chg="add mod">
          <ac:chgData name="Paul Winser" userId="c3146a91-e6bd-4264-bd86-e164e04bc32d" providerId="ADAL" clId="{96187A17-64CC-4ABE-AB5B-1C32AD0DD6CD}" dt="2025-09-24T10:29:38.233" v="21"/>
          <ac:spMkLst>
            <pc:docMk/>
            <pc:sldMk cId="3322700174" sldId="321"/>
            <ac:spMk id="4" creationId="{E3BCBC1F-0D8A-4883-4C6C-4F47622BE5DD}"/>
          </ac:spMkLst>
        </pc:spChg>
      </pc:sldChg>
      <pc:sldChg chg="addSp modSp">
        <pc:chgData name="Paul Winser" userId="c3146a91-e6bd-4264-bd86-e164e04bc32d" providerId="ADAL" clId="{96187A17-64CC-4ABE-AB5B-1C32AD0DD6CD}" dt="2025-09-24T10:29:39.985" v="22"/>
        <pc:sldMkLst>
          <pc:docMk/>
          <pc:sldMk cId="1784908573" sldId="322"/>
        </pc:sldMkLst>
        <pc:spChg chg="add mod">
          <ac:chgData name="Paul Winser" userId="c3146a91-e6bd-4264-bd86-e164e04bc32d" providerId="ADAL" clId="{96187A17-64CC-4ABE-AB5B-1C32AD0DD6CD}" dt="2025-09-24T10:29:39.985" v="22"/>
          <ac:spMkLst>
            <pc:docMk/>
            <pc:sldMk cId="1784908573" sldId="322"/>
            <ac:spMk id="4" creationId="{191F41C3-59F1-4504-6639-AD5DA48D81E7}"/>
          </ac:spMkLst>
        </pc:spChg>
      </pc:sldChg>
      <pc:sldChg chg="addSp modSp">
        <pc:chgData name="Paul Winser" userId="c3146a91-e6bd-4264-bd86-e164e04bc32d" providerId="ADAL" clId="{96187A17-64CC-4ABE-AB5B-1C32AD0DD6CD}" dt="2025-09-24T10:29:45.861" v="25"/>
        <pc:sldMkLst>
          <pc:docMk/>
          <pc:sldMk cId="1409976596" sldId="323"/>
        </pc:sldMkLst>
        <pc:spChg chg="add mod">
          <ac:chgData name="Paul Winser" userId="c3146a91-e6bd-4264-bd86-e164e04bc32d" providerId="ADAL" clId="{96187A17-64CC-4ABE-AB5B-1C32AD0DD6CD}" dt="2025-09-24T10:29:45.861" v="25"/>
          <ac:spMkLst>
            <pc:docMk/>
            <pc:sldMk cId="1409976596" sldId="323"/>
            <ac:spMk id="4" creationId="{96289B4A-816A-6981-4371-988B933ABD0E}"/>
          </ac:spMkLst>
        </pc:spChg>
      </pc:sldChg>
      <pc:sldChg chg="addSp modSp">
        <pc:chgData name="Paul Winser" userId="c3146a91-e6bd-4264-bd86-e164e04bc32d" providerId="ADAL" clId="{96187A17-64CC-4ABE-AB5B-1C32AD0DD6CD}" dt="2025-09-24T10:29:17.214" v="8"/>
        <pc:sldMkLst>
          <pc:docMk/>
          <pc:sldMk cId="926997894" sldId="324"/>
        </pc:sldMkLst>
        <pc:spChg chg="add mod">
          <ac:chgData name="Paul Winser" userId="c3146a91-e6bd-4264-bd86-e164e04bc32d" providerId="ADAL" clId="{96187A17-64CC-4ABE-AB5B-1C32AD0DD6CD}" dt="2025-09-24T10:29:17.214" v="8"/>
          <ac:spMkLst>
            <pc:docMk/>
            <pc:sldMk cId="926997894" sldId="324"/>
            <ac:spMk id="6" creationId="{684AB3C1-74C3-465C-C391-0A36D9D900BA}"/>
          </ac:spMkLst>
        </pc:spChg>
      </pc:sldChg>
      <pc:sldChg chg="addSp modSp">
        <pc:chgData name="Paul Winser" userId="c3146a91-e6bd-4264-bd86-e164e04bc32d" providerId="ADAL" clId="{96187A17-64CC-4ABE-AB5B-1C32AD0DD6CD}" dt="2025-09-24T10:29:35.106" v="19"/>
        <pc:sldMkLst>
          <pc:docMk/>
          <pc:sldMk cId="3826165436" sldId="325"/>
        </pc:sldMkLst>
        <pc:spChg chg="add mod">
          <ac:chgData name="Paul Winser" userId="c3146a91-e6bd-4264-bd86-e164e04bc32d" providerId="ADAL" clId="{96187A17-64CC-4ABE-AB5B-1C32AD0DD6CD}" dt="2025-09-24T10:29:35.106" v="19"/>
          <ac:spMkLst>
            <pc:docMk/>
            <pc:sldMk cId="3826165436" sldId="325"/>
            <ac:spMk id="6" creationId="{22D7A4C0-F509-2741-58E9-BF526DCCB8B7}"/>
          </ac:spMkLst>
        </pc:spChg>
      </pc:sldChg>
      <pc:sldChg chg="addSp modSp">
        <pc:chgData name="Paul Winser" userId="c3146a91-e6bd-4264-bd86-e164e04bc32d" providerId="ADAL" clId="{96187A17-64CC-4ABE-AB5B-1C32AD0DD6CD}" dt="2025-09-24T10:29:41.234" v="23"/>
        <pc:sldMkLst>
          <pc:docMk/>
          <pc:sldMk cId="3296948106" sldId="326"/>
        </pc:sldMkLst>
        <pc:spChg chg="add mod">
          <ac:chgData name="Paul Winser" userId="c3146a91-e6bd-4264-bd86-e164e04bc32d" providerId="ADAL" clId="{96187A17-64CC-4ABE-AB5B-1C32AD0DD6CD}" dt="2025-09-24T10:29:41.234" v="23"/>
          <ac:spMkLst>
            <pc:docMk/>
            <pc:sldMk cId="3296948106" sldId="326"/>
            <ac:spMk id="6" creationId="{A14C660B-1E46-A8B7-4746-34A9E7D30F83}"/>
          </ac:spMkLst>
        </pc:spChg>
      </pc:sldChg>
      <pc:sldChg chg="addSp modSp add modTransition">
        <pc:chgData name="Paul Winser" userId="c3146a91-e6bd-4264-bd86-e164e04bc32d" providerId="ADAL" clId="{96187A17-64CC-4ABE-AB5B-1C32AD0DD6CD}" dt="2025-09-24T10:30:10.569" v="27"/>
        <pc:sldMkLst>
          <pc:docMk/>
          <pc:sldMk cId="3505912965" sldId="327"/>
        </pc:sldMkLst>
        <pc:spChg chg="add mod">
          <ac:chgData name="Paul Winser" userId="c3146a91-e6bd-4264-bd86-e164e04bc32d" providerId="ADAL" clId="{96187A17-64CC-4ABE-AB5B-1C32AD0DD6CD}" dt="2025-09-24T10:30:10.569" v="27"/>
          <ac:spMkLst>
            <pc:docMk/>
            <pc:sldMk cId="3505912965" sldId="327"/>
            <ac:spMk id="2" creationId="{BC0B346A-6425-93FF-49D7-9BAF88BAAF0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BAA5BC-A9B8-C36D-8F0A-E2155FFCA3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rtl="1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7AE051-C6BA-26BA-CCDA-1D27F9911E3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rtl="1"/>
            <a:fld id="{FB7D1C25-2465-4CCC-8AD1-79A088F63130}" type="datetimeFigureOut">
              <a:rPr lang="en-GB" smtClean="0"/>
              <a:t>24/09/2025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621011-AFB3-EDC1-EE95-9EBBBC3B0D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rtl="1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CC167F-AF8E-52B8-1733-1105F253C0E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rtl="1"/>
            <a:fld id="{0D9491DC-8778-4E64-9451-80C0023349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2527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noProof="0"/>
              <a:t>Click to edit Master text styles</a:t>
            </a:r>
          </a:p>
          <a:p>
            <a:pPr lvl="1" rtl="1"/>
            <a:r>
              <a:rPr lang="ar" noProof="0"/>
              <a:t>Second level</a:t>
            </a:r>
          </a:p>
          <a:p>
            <a:pPr lvl="2" rtl="1"/>
            <a:r>
              <a:rPr lang="ar" noProof="0"/>
              <a:t>Third level</a:t>
            </a:r>
          </a:p>
          <a:p>
            <a:pPr lvl="3" rtl="1"/>
            <a:r>
              <a:rPr lang="ar" noProof="0"/>
              <a:t>Fourth level</a:t>
            </a:r>
          </a:p>
          <a:p>
            <a:pPr lvl="4" rtl="1"/>
            <a:r>
              <a:rPr lang="ar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fld id="{4D3E6F70-5D4D-4B7F-8590-7D87CFB0B67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D6F72BC-0F0F-4CC6-9390-4A76262B3721}" type="slidenum">
              <a:rPr lang="en-GB" altLang="en-US" smtClean="0"/>
              <a:pPr/>
              <a:t>1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>
              <a:defRPr/>
            </a:pPr>
            <a:endParaRPr lang="en-US" dirty="0">
              <a:cs typeface="Arial"/>
            </a:endParaRPr>
          </a:p>
          <a:p>
            <a:pPr rtl="1">
              <a:spcBef>
                <a:spcPct val="0"/>
              </a:spcBef>
            </a:pPr>
            <a:endParaRPr lang="en-GB" dirty="0"/>
          </a:p>
          <a:p>
            <a:pPr rtl="1"/>
            <a:endParaRPr lang="en-US" dirty="0">
              <a:latin typeface="Arial" panose="020B0604020202020204" pitchFamily="34" charset="0"/>
              <a:cs typeface="Arial"/>
            </a:endParaRPr>
          </a:p>
          <a:p>
            <a:pPr rtl="1"/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96034ED-D7F7-483D-8544-ED89FE784A02}" type="slidenum">
              <a:rPr lang="en-GB" altLang="en-US" smtClean="0"/>
              <a:pPr/>
              <a:t>3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marL="404495" indent="-387350" rtl="1">
              <a:spcBef>
                <a:spcPct val="20000"/>
              </a:spcBef>
            </a:pPr>
            <a:endParaRPr lang="en-GB" dirty="0"/>
          </a:p>
          <a:p>
            <a:pPr marL="342900" indent="-342900" rtl="1">
              <a:spcBef>
                <a:spcPct val="20000"/>
              </a:spcBef>
            </a:pPr>
            <a:endParaRPr lang="en-GB" dirty="0"/>
          </a:p>
          <a:p>
            <a:pPr marL="342900" indent="-342900" rtl="1">
              <a:spcBef>
                <a:spcPct val="20000"/>
              </a:spcBef>
            </a:pPr>
            <a:endParaRPr lang="en-GB" dirty="0">
              <a:latin typeface="Arial"/>
              <a:cs typeface="Arial"/>
            </a:endParaRPr>
          </a:p>
          <a:p>
            <a:pPr marL="342900" indent="-342900" rtl="1">
              <a:spcBef>
                <a:spcPct val="20000"/>
              </a:spcBef>
            </a:pPr>
            <a:endParaRPr lang="en-GB" dirty="0"/>
          </a:p>
          <a:p>
            <a:pPr marL="342900" indent="-342900" rtl="1">
              <a:spcBef>
                <a:spcPct val="20000"/>
              </a:spcBef>
            </a:pPr>
            <a:endParaRPr lang="en-GB" dirty="0"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/>
              <a:pPr>
                <a:defRPr/>
              </a:pPr>
              <a:t>16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13092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947746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77EF2-C08B-918A-5319-E7773799B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493E79-2F6A-9DAB-E3C8-3950537A8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5A29AA-83C4-3C42-FA7F-75C189CDD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marL="404495" indent="-387350" rtl="1">
              <a:spcBef>
                <a:spcPct val="20000"/>
              </a:spcBef>
            </a:pPr>
            <a:endParaRPr lang="en-GB" dirty="0"/>
          </a:p>
          <a:p>
            <a:pPr rtl="1"/>
            <a:endParaRPr lang="en-US" dirty="0">
              <a:solidFill>
                <a:srgbClr val="000000"/>
              </a:solidFill>
              <a:cs typeface="Arial"/>
            </a:endParaRPr>
          </a:p>
          <a:p>
            <a:pPr rtl="1">
              <a:spcBef>
                <a:spcPct val="0"/>
              </a:spcBef>
            </a:pPr>
            <a:endParaRPr lang="en-GB" dirty="0">
              <a:solidFill>
                <a:srgbClr val="444444"/>
              </a:solidFill>
            </a:endParaRPr>
          </a:p>
          <a:p>
            <a:pPr rtl="1">
              <a:spcBef>
                <a:spcPct val="0"/>
              </a:spcBef>
            </a:pPr>
            <a:endParaRPr lang="en-GB" dirty="0">
              <a:latin typeface="Arial"/>
              <a:cs typeface="Arial"/>
            </a:endParaRPr>
          </a:p>
          <a:p>
            <a:pPr marL="342900" indent="-342900" rtl="1">
              <a:spcBef>
                <a:spcPct val="20000"/>
              </a:spcBef>
            </a:pPr>
            <a:endParaRPr lang="en-GB" dirty="0">
              <a:latin typeface="Arial"/>
              <a:cs typeface="Arial"/>
            </a:endParaRPr>
          </a:p>
          <a:p>
            <a:pPr marL="342900" indent="-342900" rtl="1">
              <a:spcBef>
                <a:spcPct val="20000"/>
              </a:spcBef>
            </a:pPr>
            <a:endParaRPr lang="en-GB" dirty="0"/>
          </a:p>
          <a:p>
            <a:pPr marL="342900" indent="-342900" rtl="1">
              <a:spcBef>
                <a:spcPct val="20000"/>
              </a:spcBef>
            </a:pPr>
            <a:endParaRPr lang="en-GB" dirty="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E70E2-4F66-087B-1386-242C05DA0C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/>
              <a:pPr>
                <a:defRPr/>
              </a:pPr>
              <a:t>20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803211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01968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Unit X: xxxxxxxxxxxxxxxxxxxxx</a:t>
            </a:r>
            <a:endParaRPr lang="en-GB" alt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</a:lstStyle>
          <a:p>
            <a:pPr rtl="1"/>
            <a:r>
              <a:rPr lang="ar"/>
              <a:t>Learning aim x</a:t>
            </a:r>
            <a:endParaRPr lang="en-US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  <a:endParaRPr lang="en-GB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  <a:p>
            <a:pPr rtl="1"/>
            <a:endParaRPr lang="en-GB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490771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495666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214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18874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0514318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31324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04925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27089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9772700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5408964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538709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4077996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6045543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494557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240118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696440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084674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93973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583960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1687068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382738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7463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86515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1601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315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150173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488785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494968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04946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5799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446139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23134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502595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641484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305782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3484972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634887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7713983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91334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736936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520529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4430843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635048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0" y="6459538"/>
            <a:ext cx="9144000" cy="287337"/>
          </a:xfrm>
        </p:spPr>
        <p:txBody>
          <a:bodyPr rtlCol="1"/>
          <a:lstStyle>
            <a:lvl1pPr algn="r" rtl="1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66328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59867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511092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88982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196636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70722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396624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01142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663959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70731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3131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2894497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8319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audio" Target="../media/audio1.bin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5" Type="http://schemas.openxmlformats.org/officeDocument/2006/relationships/image" Target="../media/image6.jpeg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audio" Target="../media/audio1.bin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5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6" Type="http://schemas.openxmlformats.org/officeDocument/2006/relationships/image" Target="../media/image7.jpeg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8.xml"/><Relationship Id="rId7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0.xml"/><Relationship Id="rId15" Type="http://schemas.openxmlformats.org/officeDocument/2006/relationships/image" Target="../media/image8.jpeg"/><Relationship Id="rId10" Type="http://schemas.openxmlformats.org/officeDocument/2006/relationships/slideLayout" Target="../slideLayouts/slideLayout85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Relationship Id="rId14" Type="http://schemas.openxmlformats.org/officeDocument/2006/relationships/audio" Target="../media/audio1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5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9.xml"/><Relationship Id="rId2" Type="http://schemas.openxmlformats.org/officeDocument/2006/relationships/slideLayout" Target="../slideLayouts/slideLayout89.xml"/><Relationship Id="rId1" Type="http://schemas.openxmlformats.org/officeDocument/2006/relationships/slideLayout" Target="../slideLayouts/slideLayout88.xml"/><Relationship Id="rId6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2.xml"/><Relationship Id="rId15" Type="http://schemas.openxmlformats.org/officeDocument/2006/relationships/image" Target="../media/image9.jpeg"/><Relationship Id="rId10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112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01.xml"/><Relationship Id="rId16" Type="http://schemas.openxmlformats.org/officeDocument/2006/relationships/image" Target="../media/image10.jpeg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0.xml"/><Relationship Id="rId13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15.xml"/><Relationship Id="rId7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14.xm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16.xml"/><Relationship Id="rId9" Type="http://schemas.openxmlformats.org/officeDocument/2006/relationships/slideLayout" Target="../slideLayouts/slideLayout121.xml"/><Relationship Id="rId1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3.xml"/><Relationship Id="rId13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128.xml"/><Relationship Id="rId7" Type="http://schemas.openxmlformats.org/officeDocument/2006/relationships/slideLayout" Target="../slideLayouts/slideLayout132.xml"/><Relationship Id="rId12" Type="http://schemas.openxmlformats.org/officeDocument/2006/relationships/slideLayout" Target="../slideLayouts/slideLayout137.xml"/><Relationship Id="rId2" Type="http://schemas.openxmlformats.org/officeDocument/2006/relationships/slideLayout" Target="../slideLayouts/slideLayout127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26.xml"/><Relationship Id="rId6" Type="http://schemas.openxmlformats.org/officeDocument/2006/relationships/slideLayout" Target="../slideLayouts/slideLayout131.xml"/><Relationship Id="rId11" Type="http://schemas.openxmlformats.org/officeDocument/2006/relationships/slideLayout" Target="../slideLayouts/slideLayout136.xml"/><Relationship Id="rId5" Type="http://schemas.openxmlformats.org/officeDocument/2006/relationships/slideLayout" Target="../slideLayouts/slideLayout1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135.xml"/><Relationship Id="rId4" Type="http://schemas.openxmlformats.org/officeDocument/2006/relationships/slideLayout" Target="../slideLayouts/slideLayout129.xml"/><Relationship Id="rId9" Type="http://schemas.openxmlformats.org/officeDocument/2006/relationships/slideLayout" Target="../slideLayouts/slideLayout134.xml"/><Relationship Id="rId1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6.xml"/><Relationship Id="rId13" Type="http://schemas.openxmlformats.org/officeDocument/2006/relationships/slideLayout" Target="../slideLayouts/slideLayout151.xml"/><Relationship Id="rId3" Type="http://schemas.openxmlformats.org/officeDocument/2006/relationships/slideLayout" Target="../slideLayouts/slideLayout141.xml"/><Relationship Id="rId7" Type="http://schemas.openxmlformats.org/officeDocument/2006/relationships/slideLayout" Target="../slideLayouts/slideLayout145.xml"/><Relationship Id="rId12" Type="http://schemas.openxmlformats.org/officeDocument/2006/relationships/slideLayout" Target="../slideLayouts/slideLayout150.xml"/><Relationship Id="rId2" Type="http://schemas.openxmlformats.org/officeDocument/2006/relationships/slideLayout" Target="../slideLayouts/slideLayout140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39.xml"/><Relationship Id="rId6" Type="http://schemas.openxmlformats.org/officeDocument/2006/relationships/slideLayout" Target="../slideLayouts/slideLayout144.xml"/><Relationship Id="rId11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143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42.xml"/><Relationship Id="rId9" Type="http://schemas.openxmlformats.org/officeDocument/2006/relationships/slideLayout" Target="../slideLayouts/slideLayout147.xml"/><Relationship Id="rId14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9.xml"/><Relationship Id="rId13" Type="http://schemas.openxmlformats.org/officeDocument/2006/relationships/theme" Target="../theme/theme13.xml"/><Relationship Id="rId3" Type="http://schemas.openxmlformats.org/officeDocument/2006/relationships/slideLayout" Target="../slideLayouts/slideLayout154.xml"/><Relationship Id="rId7" Type="http://schemas.openxmlformats.org/officeDocument/2006/relationships/slideLayout" Target="../slideLayouts/slideLayout158.xml"/><Relationship Id="rId12" Type="http://schemas.openxmlformats.org/officeDocument/2006/relationships/slideLayout" Target="../slideLayouts/slideLayout163.xml"/><Relationship Id="rId2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52.xml"/><Relationship Id="rId6" Type="http://schemas.openxmlformats.org/officeDocument/2006/relationships/slideLayout" Target="../slideLayouts/slideLayout157.xml"/><Relationship Id="rId11" Type="http://schemas.openxmlformats.org/officeDocument/2006/relationships/slideLayout" Target="../slideLayouts/slideLayout162.xml"/><Relationship Id="rId5" Type="http://schemas.openxmlformats.org/officeDocument/2006/relationships/slideLayout" Target="../slideLayouts/slideLayout156.xml"/><Relationship Id="rId15" Type="http://schemas.openxmlformats.org/officeDocument/2006/relationships/image" Target="../media/image14.png"/><Relationship Id="rId10" Type="http://schemas.openxmlformats.org/officeDocument/2006/relationships/slideLayout" Target="../slideLayouts/slideLayout161.xml"/><Relationship Id="rId4" Type="http://schemas.openxmlformats.org/officeDocument/2006/relationships/slideLayout" Target="../slideLayouts/slideLayout155.xml"/><Relationship Id="rId9" Type="http://schemas.openxmlformats.org/officeDocument/2006/relationships/slideLayout" Target="../slideLayouts/slideLayout160.xml"/><Relationship Id="rId14" Type="http://schemas.openxmlformats.org/officeDocument/2006/relationships/audio" Target="../media/audio1.bin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1.xml"/><Relationship Id="rId13" Type="http://schemas.openxmlformats.org/officeDocument/2006/relationships/slideLayout" Target="../slideLayouts/slideLayout176.xml"/><Relationship Id="rId3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70.xml"/><Relationship Id="rId12" Type="http://schemas.openxmlformats.org/officeDocument/2006/relationships/slideLayout" Target="../slideLayouts/slideLayout175.xml"/><Relationship Id="rId2" Type="http://schemas.openxmlformats.org/officeDocument/2006/relationships/slideLayout" Target="../slideLayouts/slideLayout165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64.xml"/><Relationship Id="rId6" Type="http://schemas.openxmlformats.org/officeDocument/2006/relationships/slideLayout" Target="../slideLayouts/slideLayout169.xml"/><Relationship Id="rId11" Type="http://schemas.openxmlformats.org/officeDocument/2006/relationships/slideLayout" Target="../slideLayouts/slideLayout174.xml"/><Relationship Id="rId5" Type="http://schemas.openxmlformats.org/officeDocument/2006/relationships/slideLayout" Target="../slideLayouts/slideLayout168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173.xml"/><Relationship Id="rId4" Type="http://schemas.openxmlformats.org/officeDocument/2006/relationships/slideLayout" Target="../slideLayouts/slideLayout167.xml"/><Relationship Id="rId9" Type="http://schemas.openxmlformats.org/officeDocument/2006/relationships/slideLayout" Target="../slideLayouts/slideLayout172.xml"/><Relationship Id="rId14" Type="http://schemas.openxmlformats.org/officeDocument/2006/relationships/theme" Target="../theme/theme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  <p:sldLayoutId id="2147484931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  <p:sldLayoutId id="2147484987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384E05-9E1C-E490-9AFD-934E80BEE906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1112"/>
            <a:ext cx="914400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  <p:sldLayoutId id="2147484986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08BF29-9A3B-CF6C-9FC1-DF71046C0764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27384"/>
            <a:ext cx="914400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902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33" r:id="rId1"/>
    <p:sldLayoutId id="2147484934" r:id="rId2"/>
    <p:sldLayoutId id="2147484935" r:id="rId3"/>
    <p:sldLayoutId id="2147484936" r:id="rId4"/>
    <p:sldLayoutId id="2147484937" r:id="rId5"/>
    <p:sldLayoutId id="2147484938" r:id="rId6"/>
    <p:sldLayoutId id="2147484939" r:id="rId7"/>
    <p:sldLayoutId id="2147484940" r:id="rId8"/>
    <p:sldLayoutId id="2147484941" r:id="rId9"/>
    <p:sldLayoutId id="2147484942" r:id="rId10"/>
    <p:sldLayoutId id="2147484943" r:id="rId11"/>
    <p:sldLayoutId id="2147484944" r:id="rId12"/>
    <p:sldLayoutId id="2147484985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828300-C9A3-A6C9-BCC9-A9F536AAE611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16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46" r:id="rId1"/>
    <p:sldLayoutId id="2147484947" r:id="rId2"/>
    <p:sldLayoutId id="2147484948" r:id="rId3"/>
    <p:sldLayoutId id="2147484949" r:id="rId4"/>
    <p:sldLayoutId id="2147484950" r:id="rId5"/>
    <p:sldLayoutId id="2147484951" r:id="rId6"/>
    <p:sldLayoutId id="2147484952" r:id="rId7"/>
    <p:sldLayoutId id="2147484953" r:id="rId8"/>
    <p:sldLayoutId id="2147484954" r:id="rId9"/>
    <p:sldLayoutId id="2147484955" r:id="rId10"/>
    <p:sldLayoutId id="2147484956" r:id="rId11"/>
    <p:sldLayoutId id="2147484957" r:id="rId12"/>
    <p:sldLayoutId id="2147484984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0CDA4D-4D86-CAEE-E058-62C5DB134B30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4089"/>
            <a:ext cx="9143997" cy="10763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3F2DC1E-6133-4288-3CBC-5DC566D4FEC9}"/>
              </a:ext>
            </a:extLst>
          </p:cNvPr>
          <p:cNvSpPr/>
          <p:nvPr userDrawn="1"/>
        </p:nvSpPr>
        <p:spPr>
          <a:xfrm>
            <a:off x="189038" y="129909"/>
            <a:ext cx="3744415" cy="85081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1">
            <a:noAutofit/>
          </a:bodyPr>
          <a:lstStyle/>
          <a:p>
            <a:pPr indent="0" algn="l" rtl="1">
              <a:lnSpc>
                <a:spcPct val="110000"/>
              </a:lnSpc>
            </a:pPr>
            <a:r>
              <a:rPr lang="ar-MA" sz="25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شهادة </a:t>
            </a:r>
            <a:r>
              <a:rPr lang="en-US" sz="25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BTEC International </a:t>
            </a:r>
            <a:r>
              <a:rPr lang="ar-EG" sz="25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MA" sz="25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للمستوى 2</a:t>
            </a:r>
            <a:br>
              <a:rPr lang="ar-EG" sz="25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-EG" sz="25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الرعاية الصحية والاجتماعية</a:t>
            </a:r>
            <a:endParaRPr lang="ar" sz="25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93419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59" r:id="rId1"/>
    <p:sldLayoutId id="2147484960" r:id="rId2"/>
    <p:sldLayoutId id="2147484961" r:id="rId3"/>
    <p:sldLayoutId id="2147484962" r:id="rId4"/>
    <p:sldLayoutId id="2147484963" r:id="rId5"/>
    <p:sldLayoutId id="2147484964" r:id="rId6"/>
    <p:sldLayoutId id="2147484965" r:id="rId7"/>
    <p:sldLayoutId id="2147484966" r:id="rId8"/>
    <p:sldLayoutId id="2147484967" r:id="rId9"/>
    <p:sldLayoutId id="2147484968" r:id="rId10"/>
    <p:sldLayoutId id="2147484969" r:id="rId11"/>
    <p:sldLayoutId id="2147484970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610673-9435-9DAC-5301-C9763528E689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4089"/>
            <a:ext cx="9143997" cy="10763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F823BE0-C186-1D86-9BA3-35F272BC5D20}"/>
              </a:ext>
            </a:extLst>
          </p:cNvPr>
          <p:cNvSpPr/>
          <p:nvPr userDrawn="1"/>
        </p:nvSpPr>
        <p:spPr>
          <a:xfrm>
            <a:off x="189038" y="129909"/>
            <a:ext cx="3744415" cy="85081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1">
            <a:noAutofit/>
          </a:bodyPr>
          <a:lstStyle/>
          <a:p>
            <a:pPr indent="0" algn="l" rtl="1">
              <a:lnSpc>
                <a:spcPct val="110000"/>
              </a:lnSpc>
            </a:pPr>
            <a:r>
              <a:rPr lang="ar-MA" sz="25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شهادة </a:t>
            </a:r>
            <a:r>
              <a:rPr lang="en-US" sz="25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BTEC International </a:t>
            </a:r>
            <a:r>
              <a:rPr lang="ar-EG" sz="25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MA" sz="25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للمستوى 2</a:t>
            </a:r>
            <a:br>
              <a:rPr lang="ar-EG" sz="25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-EG" sz="25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الرياضة</a:t>
            </a:r>
            <a:endParaRPr lang="ar" sz="25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68742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72" r:id="rId1"/>
    <p:sldLayoutId id="2147484973" r:id="rId2"/>
    <p:sldLayoutId id="2147484974" r:id="rId3"/>
    <p:sldLayoutId id="2147484975" r:id="rId4"/>
    <p:sldLayoutId id="2147484976" r:id="rId5"/>
    <p:sldLayoutId id="2147484977" r:id="rId6"/>
    <p:sldLayoutId id="2147484978" r:id="rId7"/>
    <p:sldLayoutId id="2147484979" r:id="rId8"/>
    <p:sldLayoutId id="2147484980" r:id="rId9"/>
    <p:sldLayoutId id="2147484981" r:id="rId10"/>
    <p:sldLayoutId id="2147484982" r:id="rId11"/>
    <p:sldLayoutId id="2147484983" r:id="rId12"/>
    <p:sldLayoutId id="2147484988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4.xml"/><Relationship Id="rId4" Type="http://schemas.openxmlformats.org/officeDocument/2006/relationships/image" Target="../media/image15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5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58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7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7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7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7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7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76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7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7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7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7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audio" Target="../media/audio1.bin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8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7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7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8.xml"/><Relationship Id="rId6" Type="http://schemas.openxmlformats.org/officeDocument/2006/relationships/image" Target="../media/image21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7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6D29E0-B089-110D-BF1E-B3C37F2C37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4366730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الوحدة 1</a:t>
            </a:r>
            <a:br>
              <a:rPr lang="en-GB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a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مبادئ اللياقة البدنية واختبارات اللياقة البدنية</a:t>
            </a:r>
            <a:br>
              <a:rPr lang="en-GB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80" name="Footer Placeholder 2">
            <a:extLst>
              <a:ext uri="{FF2B5EF4-FFF2-40B4-BE49-F238E27FC236}">
                <a16:creationId xmlns:a16="http://schemas.microsoft.com/office/drawing/2014/main" id="{250B1923-7747-07CF-317E-05CAA217CF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59538"/>
            <a:ext cx="9144000" cy="287337"/>
          </a:xfrm>
        </p:spPr>
        <p:txBody>
          <a:bodyPr wrap="square" rtlCol="1" anchor="t">
            <a:normAutofit/>
          </a:bodyPr>
          <a:lstStyle/>
          <a:p>
            <a:pPr algn="ctr" rtl="1">
              <a:lnSpc>
                <a:spcPct val="90000"/>
              </a:lnSpc>
              <a:spcAft>
                <a:spcPts val="600"/>
              </a:spcAft>
              <a:defRPr/>
            </a:pPr>
            <a:r>
              <a:rPr lang="a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© حقوق التأليف والنشر لعام 2025 محفوظة لشركة بيرسون إديوكيشن ليمتد. لا يُسمح بالنسخ إلا للمؤسسة المُشترية.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667A26-40E6-4FAB-FE7C-7BE6C619346D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A103000424346</a:t>
            </a:r>
            <a:endParaRPr lang="en-GB" sz="14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195388"/>
            <a:ext cx="8640960" cy="22336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/>
              <a:t>الوحدة 1</a:t>
            </a:r>
            <a:br>
              <a:rPr lang="en-GB" dirty="0"/>
            </a:br>
            <a:r>
              <a:rPr lang="ar"/>
              <a:t>مبادئ اللياقة البدنية</a:t>
            </a:r>
            <a:br>
              <a:rPr lang="en-GB" dirty="0"/>
            </a:br>
            <a:r>
              <a:rPr lang="ar"/>
              <a:t>واختبارات اللياقة البدنية</a:t>
            </a:r>
            <a:endParaRPr lang="en-US" dirty="0"/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3C79F714-332C-AB63-03D9-E6D0CAE0623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54282" y="3641522"/>
            <a:ext cx="8424935" cy="246247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algn="ctr" rtl="1">
              <a:lnSpc>
                <a:spcPct val="120000"/>
              </a:lnSpc>
              <a:buNone/>
            </a:pPr>
            <a:r>
              <a:rPr lang="ar" b="1" dirty="0"/>
              <a:t>تقدم هذه الوحدة المبادئ الجوهرية للياقة البدنية وكيفية استخدام اختبارات اللياقة في الرياضة والنشاط البدني. </a:t>
            </a:r>
            <a:r>
              <a:rPr lang="ar" b="1" dirty="0">
                <a:ea typeface="Calibri"/>
              </a:rPr>
              <a:t>وسيستكشف لمتعلم مكونات اللياقة البدنية ويتعلم كيفية دعم اختبارات اللياقة وإدارتها وكيفية تقييم النتائج لإنشاء ملفات اللياقة وتقديم الملاحظات والتعليقات البناءة.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631EE6-0E1A-A7C3-C574-FA54A859366F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A103000424346</a:t>
            </a:r>
            <a:endParaRPr lang="en-GB" sz="14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660232" y="457307"/>
            <a:ext cx="2273699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400" dirty="0"/>
              <a:t>نتاجات التعلم</a:t>
            </a:r>
            <a:endParaRPr lang="en-GB" altLang="en-US" sz="2400" dirty="0"/>
          </a:p>
        </p:txBody>
      </p:sp>
      <p:sp>
        <p:nvSpPr>
          <p:cNvPr id="32771" name="Content Placeholder 3">
            <a:extLst>
              <a:ext uri="{FF2B5EF4-FFF2-40B4-BE49-F238E27FC236}">
                <a16:creationId xmlns:a16="http://schemas.microsoft.com/office/drawing/2014/main" id="{44DFA49F-83B7-E61C-00EB-D6046D571A0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006163" y="1909136"/>
            <a:ext cx="2701897" cy="3408446"/>
          </a:xfr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404495" indent="-387350" defTabSz="431800" rtl="1">
              <a:lnSpc>
                <a:spcPct val="120000"/>
              </a:lnSpc>
              <a:buNone/>
            </a:pPr>
            <a:r>
              <a:rPr lang="ar" sz="2000" b="1" dirty="0">
                <a:ea typeface="Open Sans"/>
              </a:rPr>
              <a:t>أ1</a:t>
            </a:r>
            <a:r>
              <a:rPr lang="ar" sz="2000" dirty="0">
                <a:ea typeface="Open Sans"/>
              </a:rPr>
              <a:t> عناصر اللياقة البدنية المرتبطة بالصحة </a:t>
            </a:r>
            <a:endParaRPr lang="en-US" sz="2000" dirty="0">
              <a:ea typeface="Open Sans"/>
            </a:endParaRPr>
          </a:p>
          <a:p>
            <a:pPr defTabSz="431800" rtl="1">
              <a:lnSpc>
                <a:spcPct val="120000"/>
              </a:lnSpc>
              <a:buNone/>
            </a:pPr>
            <a:r>
              <a:rPr lang="ar" sz="2000" b="1" dirty="0">
                <a:ea typeface="Open Sans"/>
              </a:rPr>
              <a:t>أ2</a:t>
            </a:r>
            <a:r>
              <a:rPr lang="ar" sz="2000" dirty="0">
                <a:ea typeface="Open Sans"/>
              </a:rPr>
              <a:t> عناصر اللياقة البدنية المتعلقة بالمهارات </a:t>
            </a:r>
            <a:endParaRPr lang="en-US" sz="2000" dirty="0">
              <a:ea typeface="Open Sans"/>
            </a:endParaRPr>
          </a:p>
          <a:p>
            <a:pPr defTabSz="431800" rtl="1">
              <a:lnSpc>
                <a:spcPct val="120000"/>
              </a:lnSpc>
              <a:buNone/>
            </a:pPr>
            <a:r>
              <a:rPr lang="ar" sz="2000" b="1" dirty="0">
                <a:ea typeface="Open Sans"/>
              </a:rPr>
              <a:t>أ3</a:t>
            </a:r>
            <a:r>
              <a:rPr lang="ar" sz="2000" dirty="0">
                <a:ea typeface="Open Sans"/>
              </a:rPr>
              <a:t> اختبارات اللياقة البدنية لتقييم عناصر اللياقة البدنية </a:t>
            </a:r>
            <a:endParaRPr lang="en-US" sz="2000" dirty="0">
              <a:ea typeface="Open Sans"/>
            </a:endParaRPr>
          </a:p>
          <a:p>
            <a:pPr defTabSz="431800" rtl="1">
              <a:lnSpc>
                <a:spcPct val="120000"/>
              </a:lnSpc>
              <a:buNone/>
            </a:pPr>
            <a:r>
              <a:rPr lang="ar" sz="2000" b="1" dirty="0">
                <a:ea typeface="Open Sans"/>
              </a:rPr>
              <a:t>أ4 </a:t>
            </a:r>
            <a:r>
              <a:rPr lang="ar" sz="2000" dirty="0">
                <a:ea typeface="Open Sans"/>
              </a:rPr>
              <a:t>تصنيف الرياضة للفريق أو الفرد </a:t>
            </a:r>
            <a:endParaRPr lang="en-GB" dirty="0"/>
          </a:p>
          <a:p>
            <a:pPr marL="404495" indent="-404495" defTabSz="431800" rtl="1">
              <a:lnSpc>
                <a:spcPct val="120000"/>
              </a:lnSpc>
              <a:spcBef>
                <a:spcPts val="1200"/>
              </a:spcBef>
              <a:buNone/>
            </a:pPr>
            <a:endParaRPr lang="en-GB" sz="1800" dirty="0">
              <a:ea typeface="Open Sans"/>
            </a:endParaRPr>
          </a:p>
          <a:p>
            <a:pPr marL="0" indent="0" defTabSz="431800" rtl="1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b="1" dirty="0">
              <a:highlight>
                <a:srgbClr val="FFFF00"/>
              </a:highlight>
            </a:endParaRPr>
          </a:p>
          <a:p>
            <a:pPr defTabSz="431800" rtl="1">
              <a:lnSpc>
                <a:spcPct val="120000"/>
              </a:lnSpc>
              <a:buNone/>
            </a:pPr>
            <a:endParaRPr lang="en-GB" sz="2000" dirty="0">
              <a:highlight>
                <a:srgbClr val="FFFF00"/>
              </a:highlight>
            </a:endParaRPr>
          </a:p>
          <a:p>
            <a:pPr marL="0" indent="0" defTabSz="431800" rtl="1">
              <a:lnSpc>
                <a:spcPct val="120000"/>
              </a:lnSpc>
              <a:spcBef>
                <a:spcPts val="1200"/>
              </a:spcBef>
              <a:buNone/>
            </a:pPr>
            <a:endParaRPr lang="en-GB" altLang="en-US" b="1" dirty="0">
              <a:highlight>
                <a:srgbClr val="FFFF00"/>
              </a:highlight>
            </a:endParaRPr>
          </a:p>
          <a:p>
            <a:pPr marL="0" indent="0" defTabSz="431800" rtl="1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br>
              <a:rPr lang="en-GB" altLang="en-US" dirty="0"/>
            </a:br>
            <a:r>
              <a:rPr lang="ar" dirty="0"/>
              <a:t>	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DFA2AD-64FA-49FC-203C-FFD4A8BC09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3448" y="2658090"/>
            <a:ext cx="2681395" cy="340844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404495" indent="-387350" defTabSz="431800" rtl="1">
              <a:lnSpc>
                <a:spcPct val="120000"/>
              </a:lnSpc>
              <a:buNone/>
            </a:pPr>
            <a:r>
              <a:rPr lang="ar" sz="2000" b="1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ب1</a:t>
            </a:r>
            <a:r>
              <a:rPr lang="ar" sz="2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استكشاف اختبارات محددة للياقة العميل البدنية. </a:t>
            </a:r>
            <a:endParaRPr lang="en-GB" sz="2000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  <a:p>
            <a:pPr defTabSz="431800" rtl="1">
              <a:lnSpc>
                <a:spcPct val="120000"/>
              </a:lnSpc>
              <a:buNone/>
            </a:pPr>
            <a:endParaRPr lang="en-GB" sz="2000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  <a:p>
            <a:pPr defTabSz="431800" rtl="1">
              <a:lnSpc>
                <a:spcPct val="120000"/>
              </a:lnSpc>
              <a:buNone/>
            </a:pPr>
            <a:r>
              <a:rPr lang="ar" sz="2000" b="1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ب2</a:t>
            </a:r>
            <a:r>
              <a:rPr lang="ar" sz="2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التخطيط لاختبارات اللياقة البدنية </a:t>
            </a:r>
          </a:p>
          <a:p>
            <a:pPr defTabSz="431800" rtl="1">
              <a:lnSpc>
                <a:spcPct val="120000"/>
              </a:lnSpc>
              <a:buNone/>
            </a:pPr>
            <a:endParaRPr lang="en-GB" sz="2000" b="1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  <a:p>
            <a:pPr defTabSz="431800" rtl="1">
              <a:lnSpc>
                <a:spcPct val="120000"/>
              </a:lnSpc>
              <a:buNone/>
            </a:pPr>
            <a:r>
              <a:rPr lang="ar" sz="2000" b="1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ب3 </a:t>
            </a:r>
            <a:r>
              <a:rPr lang="ar" sz="2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إجراء اختبارات اللياقة البدنية 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4495" indent="-387350" defTabSz="431800" rtl="1">
              <a:lnSpc>
                <a:spcPct val="120000"/>
              </a:lnSpc>
              <a:buNone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64E6B9-3B11-CF9A-D4E6-6E2060C8BE9C}"/>
              </a:ext>
            </a:extLst>
          </p:cNvPr>
          <p:cNvSpPr txBox="1"/>
          <p:nvPr/>
        </p:nvSpPr>
        <p:spPr>
          <a:xfrm>
            <a:off x="319834" y="2574760"/>
            <a:ext cx="2445918" cy="2981072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>
              <a:lnSpc>
                <a:spcPct val="120000"/>
              </a:lnSpc>
            </a:pPr>
            <a:r>
              <a:rPr lang="ar" sz="2000" b="1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ج1</a:t>
            </a:r>
            <a:r>
              <a:rPr lang="ar" sz="2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بناء ملف تعريفي لللياقة البدنية لرياضي محدد </a:t>
            </a:r>
            <a:endParaRPr lang="en-GB" sz="2000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  <a:p>
            <a:pPr rtl="1">
              <a:lnSpc>
                <a:spcPct val="120000"/>
              </a:lnSpc>
            </a:pPr>
            <a:endParaRPr lang="en-GB" sz="2000" b="1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  <a:p>
            <a:pPr rtl="1">
              <a:lnSpc>
                <a:spcPct val="120000"/>
              </a:lnSpc>
            </a:pPr>
            <a:r>
              <a:rPr lang="ar" sz="2000" b="1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ج2 </a:t>
            </a:r>
            <a:r>
              <a:rPr lang="ar" sz="2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تقديم التعليقات لرياضي محدد </a:t>
            </a:r>
            <a:endParaRPr lang="en-GB" sz="2000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  <a:p>
            <a:pPr rtl="1">
              <a:lnSpc>
                <a:spcPct val="120000"/>
              </a:lnSpc>
            </a:pPr>
            <a:endParaRPr lang="en-GB" sz="2000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  <a:p>
            <a:pPr rtl="1">
              <a:lnSpc>
                <a:spcPct val="120000"/>
              </a:lnSpc>
            </a:pPr>
            <a:endParaRPr lang="en-GB" sz="2000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  <a:p>
            <a:pPr rtl="1">
              <a:lnSpc>
                <a:spcPct val="120000"/>
              </a:lnSpc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41EF7A-09BC-DE30-A5DE-C4F8FC3C0C0A}"/>
              </a:ext>
            </a:extLst>
          </p:cNvPr>
          <p:cNvSpPr txBox="1"/>
          <p:nvPr/>
        </p:nvSpPr>
        <p:spPr>
          <a:xfrm>
            <a:off x="6024563" y="1238250"/>
            <a:ext cx="2667000" cy="429413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>
              <a:lnSpc>
                <a:spcPct val="120000"/>
              </a:lnSpc>
            </a:pPr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أ-</a:t>
            </a: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فهم عناصر اللياقة البدنية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16778D-8B21-DBE6-290A-3DCEB7D9C913}"/>
              </a:ext>
            </a:extLst>
          </p:cNvPr>
          <p:cNvSpPr txBox="1"/>
          <p:nvPr/>
        </p:nvSpPr>
        <p:spPr>
          <a:xfrm>
            <a:off x="3015880" y="1242436"/>
            <a:ext cx="2650940" cy="1168077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>
              <a:lnSpc>
                <a:spcPct val="120000"/>
              </a:lnSpc>
            </a:pPr>
            <a:r>
              <a:rPr lang="a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ب- </a:t>
            </a:r>
            <a:r>
              <a:rPr lang="ar" sz="2000">
                <a:latin typeface="Times New Roman" panose="02020603050405020304" pitchFamily="18" charset="0"/>
                <a:cs typeface="Times New Roman" panose="02020603050405020304" pitchFamily="18" charset="0"/>
              </a:rPr>
              <a:t>دعم تنفيذ اختبارات اللياقة البدنية لمختلف مكونات اللياقة البدنية</a:t>
            </a:r>
            <a:endParaRPr 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61DE72-C9EE-6B8A-521B-3834AD8ADCE4}"/>
              </a:ext>
            </a:extLst>
          </p:cNvPr>
          <p:cNvSpPr txBox="1"/>
          <p:nvPr/>
        </p:nvSpPr>
        <p:spPr>
          <a:xfrm>
            <a:off x="319834" y="1480092"/>
            <a:ext cx="2445918" cy="798745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>
              <a:lnSpc>
                <a:spcPct val="120000"/>
              </a:lnSpc>
            </a:pPr>
            <a:r>
              <a:rPr lang="a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ج-</a:t>
            </a:r>
            <a:r>
              <a:rPr lang="ar" sz="2000">
                <a:latin typeface="Times New Roman" panose="02020603050405020304" pitchFamily="18" charset="0"/>
                <a:cs typeface="Times New Roman" panose="02020603050405020304" pitchFamily="18" charset="0"/>
              </a:rPr>
              <a:t> تقييم بيانات اختبار اللياقة البدنية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AD8EE4-90E6-40D0-8F14-695E3D86ED69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A103000424346</a:t>
            </a:r>
            <a:endParaRPr lang="en-GB" sz="14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0184D-7200-8585-5B7A-6AF3A0AF4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5976" y="236331"/>
            <a:ext cx="4320480" cy="864000"/>
          </a:xfrm>
        </p:spPr>
        <p:txBody>
          <a:bodyPr rtlCol="1"/>
          <a:lstStyle/>
          <a:p>
            <a:pPr rtl="1"/>
            <a:r>
              <a:rPr lang="a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ما هي اللياقة البدنية؟ – فكّر وناقش زميلك ثم شارك أفكارك مع الجميع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6903B-163D-FF3A-414C-28F2B8BC5B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2752" y="1167648"/>
            <a:ext cx="4027487" cy="4024100"/>
          </a:xfrm>
        </p:spPr>
        <p:txBody>
          <a:bodyPr rtlCol="1"/>
          <a:lstStyle/>
          <a:p>
            <a:pPr marL="0" indent="0" rtl="1">
              <a:buNone/>
            </a:pPr>
            <a:r>
              <a:rPr lang="ar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المهمة الفردية (دقيقة واحدة):</a:t>
            </a:r>
            <a:b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يكتب المتعلم كل ما يخطر بباله من كلمات مرتبطة باللياقة البدنية أو اختباراتها.</a:t>
            </a:r>
          </a:p>
          <a:p>
            <a:pPr marL="0" indent="0" rtl="1">
              <a:buNone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1">
              <a:buNone/>
            </a:pPr>
            <a:r>
              <a:rPr lang="ar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مهمة التعلم التشاركي الثنائي (دقيقتين إلى ثلاث دقائق):</a:t>
            </a:r>
            <a:b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يتبادل المتعلم أفكاره ويشاركها مع زميل التعلم – ويضيف أي مفاهيم أو أفكار جديدة.</a:t>
            </a:r>
          </a:p>
          <a:p>
            <a:pPr marL="0" indent="0" rtl="1">
              <a:buNone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1">
              <a:buNone/>
            </a:pPr>
            <a:r>
              <a:rPr lang="ar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المهمة التعاونية الجماعية (5 دقائق):</a:t>
            </a:r>
            <a:b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ينضم المتعلم بفعالية إلى مجموعة عمل صغيرة لإنشاء خريطة ذهنية تفاعلية تجمع أفكاره.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1">
              <a:buNone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1">
              <a:buNone/>
            </a:pP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يستعد المتعلم لعرض ملخص أفكاره أمام الجميع.</a:t>
            </a:r>
          </a:p>
          <a:p>
            <a:pPr rtl="1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 descr="A person squatting on a mat with weights and a bottle of water&#10;&#10;AI-generated content may be incorrect.">
            <a:extLst>
              <a:ext uri="{FF2B5EF4-FFF2-40B4-BE49-F238E27FC236}">
                <a16:creationId xmlns:a16="http://schemas.microsoft.com/office/drawing/2014/main" id="{851385A9-DB01-C0A6-A421-634592506AC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843" y="2152018"/>
            <a:ext cx="4175649" cy="2785956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C77CD3-F6DA-C968-3363-297B93BEDD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59538"/>
            <a:ext cx="9144000" cy="287337"/>
          </a:xfrm>
        </p:spPr>
        <p:txBody>
          <a:bodyPr rtlCol="1"/>
          <a:lstStyle/>
          <a:p>
            <a:pPr algn="ctr" rtl="1">
              <a:defRPr/>
            </a:pPr>
            <a:r>
              <a:rPr lang="a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© حقوق التأليف والنشر لعام 2025 محفوظة لشركة بيرسون إديوكيشن ليمتد. لا يُسمح بالنسخ إلا للمؤسسة المُشترية.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740F59-4F6B-7E4A-5CED-BBFC3F5E29EF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A103000424346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846244486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418A99-D2A6-677A-2B75-85F626F7766A}"/>
              </a:ext>
            </a:extLst>
          </p:cNvPr>
          <p:cNvSpPr txBox="1"/>
          <p:nvPr/>
        </p:nvSpPr>
        <p:spPr>
          <a:xfrm>
            <a:off x="5770375" y="3519872"/>
            <a:ext cx="2743200" cy="10669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>
              <a:lnSpc>
                <a:spcPts val="1875"/>
              </a:lnSpc>
            </a:pPr>
            <a:r>
              <a:rPr lang="ar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rtl="1">
              <a:lnSpc>
                <a:spcPts val="1875"/>
              </a:lnSpc>
            </a:pPr>
            <a:r>
              <a:rPr lang="ar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rtl="1">
              <a:lnSpc>
                <a:spcPts val="1875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>
              <a:lnSpc>
                <a:spcPts val="1875"/>
              </a:lnSpc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B7FE69C-976A-ECEA-DC56-BE38BB1641D0}"/>
              </a:ext>
            </a:extLst>
          </p:cNvPr>
          <p:cNvGrpSpPr/>
          <p:nvPr/>
        </p:nvGrpSpPr>
        <p:grpSpPr>
          <a:xfrm flipH="1">
            <a:off x="457201" y="1435308"/>
            <a:ext cx="5111751" cy="4777917"/>
            <a:chOff x="457201" y="1435308"/>
            <a:chExt cx="5111751" cy="4777917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6296C80-03CE-8B77-C2B1-2B8253589BC6}"/>
                </a:ext>
              </a:extLst>
            </p:cNvPr>
            <p:cNvSpPr/>
            <p:nvPr/>
          </p:nvSpPr>
          <p:spPr>
            <a:xfrm>
              <a:off x="457201" y="1435308"/>
              <a:ext cx="5111751" cy="796319"/>
            </a:xfrm>
            <a:prstGeom prst="roundRect">
              <a:avLst>
                <a:gd name="adj" fmla="val 10000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" name="Rectangle 4" descr="Tick">
              <a:extLst>
                <a:ext uri="{FF2B5EF4-FFF2-40B4-BE49-F238E27FC236}">
                  <a16:creationId xmlns:a16="http://schemas.microsoft.com/office/drawing/2014/main" id="{EF7E4C23-B3E8-B41F-3D6B-205D094116A2}"/>
                </a:ext>
              </a:extLst>
            </p:cNvPr>
            <p:cNvSpPr/>
            <p:nvPr/>
          </p:nvSpPr>
          <p:spPr>
            <a:xfrm flipH="1">
              <a:off x="698087" y="1614480"/>
              <a:ext cx="437975" cy="437975"/>
            </a:xfrm>
            <a:prstGeom prst="rect">
              <a:avLst/>
            </a:prstGeom>
            <a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8BA03F4-DD8D-D6E8-01B3-933C91EC9C59}"/>
                </a:ext>
              </a:extLst>
            </p:cNvPr>
            <p:cNvSpPr/>
            <p:nvPr/>
          </p:nvSpPr>
          <p:spPr>
            <a:xfrm>
              <a:off x="1376950" y="1435308"/>
              <a:ext cx="4192001" cy="796319"/>
            </a:xfrm>
            <a:custGeom>
              <a:avLst/>
              <a:gdLst>
                <a:gd name="connsiteX0" fmla="*/ 0 w 4192001"/>
                <a:gd name="connsiteY0" fmla="*/ 0 h 796319"/>
                <a:gd name="connsiteX1" fmla="*/ 4192001 w 4192001"/>
                <a:gd name="connsiteY1" fmla="*/ 0 h 796319"/>
                <a:gd name="connsiteX2" fmla="*/ 4192001 w 4192001"/>
                <a:gd name="connsiteY2" fmla="*/ 796319 h 796319"/>
                <a:gd name="connsiteX3" fmla="*/ 0 w 4192001"/>
                <a:gd name="connsiteY3" fmla="*/ 796319 h 796319"/>
                <a:gd name="connsiteX4" fmla="*/ 0 w 4192001"/>
                <a:gd name="connsiteY4" fmla="*/ 0 h 79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92001" h="796319">
                  <a:moveTo>
                    <a:pt x="0" y="0"/>
                  </a:moveTo>
                  <a:lnTo>
                    <a:pt x="4192001" y="0"/>
                  </a:lnTo>
                  <a:lnTo>
                    <a:pt x="4192001" y="796319"/>
                  </a:lnTo>
                  <a:lnTo>
                    <a:pt x="0" y="79631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4277" tIns="84277" rIns="84277" bIns="84277" numCol="1" spcCol="1270" rtlCol="1" anchor="ctr" anchorCtr="0">
              <a:noAutofit/>
            </a:bodyPr>
            <a:lstStyle/>
            <a:p>
              <a:pPr marL="0" lvl="0" indent="0" algn="r" defTabSz="84455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900" b="1" kern="1200" dirty="0"/>
                <a:t>مجالات المحتوى الرئيسة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90295FA-90CF-B95E-F9E1-2041A2BC3EAE}"/>
                </a:ext>
              </a:extLst>
            </p:cNvPr>
            <p:cNvSpPr/>
            <p:nvPr/>
          </p:nvSpPr>
          <p:spPr>
            <a:xfrm>
              <a:off x="457201" y="2430708"/>
              <a:ext cx="5111751" cy="796319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8" descr="Tennis">
              <a:extLst>
                <a:ext uri="{FF2B5EF4-FFF2-40B4-BE49-F238E27FC236}">
                  <a16:creationId xmlns:a16="http://schemas.microsoft.com/office/drawing/2014/main" id="{B3099105-608F-4E3D-7776-36EEFC3A3678}"/>
                </a:ext>
              </a:extLst>
            </p:cNvPr>
            <p:cNvSpPr/>
            <p:nvPr/>
          </p:nvSpPr>
          <p:spPr>
            <a:xfrm flipH="1">
              <a:off x="698087" y="2609880"/>
              <a:ext cx="437975" cy="437975"/>
            </a:xfrm>
            <a:prstGeom prst="rect">
              <a:avLst/>
            </a:prstGeom>
            <a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4D29C20-F9A4-53AB-2DA0-DBF938855AE4}"/>
                </a:ext>
              </a:extLst>
            </p:cNvPr>
            <p:cNvSpPr/>
            <p:nvPr/>
          </p:nvSpPr>
          <p:spPr>
            <a:xfrm>
              <a:off x="1376950" y="2430708"/>
              <a:ext cx="4192001" cy="796319"/>
            </a:xfrm>
            <a:custGeom>
              <a:avLst/>
              <a:gdLst>
                <a:gd name="connsiteX0" fmla="*/ 0 w 4192001"/>
                <a:gd name="connsiteY0" fmla="*/ 0 h 796319"/>
                <a:gd name="connsiteX1" fmla="*/ 4192001 w 4192001"/>
                <a:gd name="connsiteY1" fmla="*/ 0 h 796319"/>
                <a:gd name="connsiteX2" fmla="*/ 4192001 w 4192001"/>
                <a:gd name="connsiteY2" fmla="*/ 796319 h 796319"/>
                <a:gd name="connsiteX3" fmla="*/ 0 w 4192001"/>
                <a:gd name="connsiteY3" fmla="*/ 796319 h 796319"/>
                <a:gd name="connsiteX4" fmla="*/ 0 w 4192001"/>
                <a:gd name="connsiteY4" fmla="*/ 0 h 79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92001" h="796319">
                  <a:moveTo>
                    <a:pt x="0" y="0"/>
                  </a:moveTo>
                  <a:lnTo>
                    <a:pt x="4192001" y="0"/>
                  </a:lnTo>
                  <a:lnTo>
                    <a:pt x="4192001" y="796319"/>
                  </a:lnTo>
                  <a:lnTo>
                    <a:pt x="0" y="7963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4277" tIns="84277" rIns="84277" bIns="84277" numCol="1" spcCol="1270" rtlCol="1" anchor="ctr" anchorCtr="0">
              <a:noAutofit/>
            </a:bodyPr>
            <a:lstStyle/>
            <a:p>
              <a:pPr marL="0" lvl="0" indent="0" algn="r" defTabSz="8890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000" b="1" kern="1200">
                  <a:latin typeface="Arial"/>
                  <a:cs typeface="Arial"/>
                </a:rPr>
                <a:t>أ1</a:t>
              </a:r>
              <a:r>
                <a:rPr lang="ar" sz="2000" b="1" kern="120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Arial"/>
                  <a:cs typeface="Arial"/>
                </a:rPr>
                <a:t> </a:t>
              </a:r>
              <a:r>
                <a:rPr lang="ar" sz="2000" kern="120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Arial"/>
                  <a:cs typeface="Arial"/>
                </a:rPr>
                <a:t>مكونات اللياقة البدنية المرتبطة بالصحة </a:t>
              </a:r>
              <a:endParaRPr lang="en-US" sz="20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  <a:ea typeface="+mn-ea"/>
                <a:cs typeface="Arial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6E3C70F8-60CF-C6A9-ABD5-A901B5C3DFAD}"/>
                </a:ext>
              </a:extLst>
            </p:cNvPr>
            <p:cNvSpPr/>
            <p:nvPr/>
          </p:nvSpPr>
          <p:spPr>
            <a:xfrm>
              <a:off x="457201" y="3426107"/>
              <a:ext cx="5111751" cy="796319"/>
            </a:xfrm>
            <a:prstGeom prst="roundRect">
              <a:avLst>
                <a:gd name="adj" fmla="val 10000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Rectangle 11" descr="Bullseye with solid fill">
              <a:extLst>
                <a:ext uri="{FF2B5EF4-FFF2-40B4-BE49-F238E27FC236}">
                  <a16:creationId xmlns:a16="http://schemas.microsoft.com/office/drawing/2014/main" id="{52876650-99FC-A457-C66B-39091F20C7F4}"/>
                </a:ext>
              </a:extLst>
            </p:cNvPr>
            <p:cNvSpPr/>
            <p:nvPr/>
          </p:nvSpPr>
          <p:spPr>
            <a:xfrm flipH="1">
              <a:off x="698087" y="3605279"/>
              <a:ext cx="437975" cy="437975"/>
            </a:xfrm>
            <a:prstGeom prst="rect">
              <a:avLst/>
            </a:pr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A528501-D1AE-27A7-06C7-38943CC68929}"/>
                </a:ext>
              </a:extLst>
            </p:cNvPr>
            <p:cNvSpPr/>
            <p:nvPr/>
          </p:nvSpPr>
          <p:spPr>
            <a:xfrm>
              <a:off x="1376950" y="3426107"/>
              <a:ext cx="4192001" cy="796319"/>
            </a:xfrm>
            <a:custGeom>
              <a:avLst/>
              <a:gdLst>
                <a:gd name="connsiteX0" fmla="*/ 0 w 4192001"/>
                <a:gd name="connsiteY0" fmla="*/ 0 h 796319"/>
                <a:gd name="connsiteX1" fmla="*/ 4192001 w 4192001"/>
                <a:gd name="connsiteY1" fmla="*/ 0 h 796319"/>
                <a:gd name="connsiteX2" fmla="*/ 4192001 w 4192001"/>
                <a:gd name="connsiteY2" fmla="*/ 796319 h 796319"/>
                <a:gd name="connsiteX3" fmla="*/ 0 w 4192001"/>
                <a:gd name="connsiteY3" fmla="*/ 796319 h 796319"/>
                <a:gd name="connsiteX4" fmla="*/ 0 w 4192001"/>
                <a:gd name="connsiteY4" fmla="*/ 0 h 79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92001" h="796319">
                  <a:moveTo>
                    <a:pt x="0" y="0"/>
                  </a:moveTo>
                  <a:lnTo>
                    <a:pt x="4192001" y="0"/>
                  </a:lnTo>
                  <a:lnTo>
                    <a:pt x="4192001" y="796319"/>
                  </a:lnTo>
                  <a:lnTo>
                    <a:pt x="0" y="79631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4277" tIns="84277" rIns="84277" bIns="84277" numCol="1" spcCol="1270" rtlCol="1" anchor="ctr" anchorCtr="0">
              <a:noAutofit/>
            </a:bodyPr>
            <a:lstStyle/>
            <a:p>
              <a:pPr marL="0" lvl="0" indent="0" algn="r" defTabSz="8890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000" b="1" kern="1200" dirty="0">
                  <a:latin typeface="Arial"/>
                  <a:cs typeface="Arial"/>
                </a:rPr>
                <a:t>أ2</a:t>
              </a:r>
              <a:r>
                <a:rPr lang="ar" sz="2000" kern="1200" dirty="0">
                  <a:latin typeface="Arial"/>
                  <a:cs typeface="Arial"/>
                </a:rPr>
                <a:t> عناصر اللياقة البدنية المتعلقة بالمهارات </a:t>
              </a:r>
              <a:endParaRPr lang="en-US" sz="2000" b="0" kern="1200" dirty="0">
                <a:latin typeface="Arial"/>
                <a:cs typeface="Arial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EC69B03-6EBD-9E87-9247-978D183ECB21}"/>
                </a:ext>
              </a:extLst>
            </p:cNvPr>
            <p:cNvSpPr/>
            <p:nvPr/>
          </p:nvSpPr>
          <p:spPr>
            <a:xfrm>
              <a:off x="457201" y="4421507"/>
              <a:ext cx="5111751" cy="796319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14" descr="Bar chart">
              <a:extLst>
                <a:ext uri="{FF2B5EF4-FFF2-40B4-BE49-F238E27FC236}">
                  <a16:creationId xmlns:a16="http://schemas.microsoft.com/office/drawing/2014/main" id="{E07E4339-DDA9-F85D-EE98-9F1A1207027F}"/>
                </a:ext>
              </a:extLst>
            </p:cNvPr>
            <p:cNvSpPr/>
            <p:nvPr/>
          </p:nvSpPr>
          <p:spPr>
            <a:xfrm flipH="1">
              <a:off x="698087" y="4600679"/>
              <a:ext cx="437975" cy="437975"/>
            </a:xfrm>
            <a:prstGeom prst="rect">
              <a:avLst/>
            </a:prstGeom>
            <a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FD7F278-3E47-DAA4-B6A3-5CFAA48337AE}"/>
                </a:ext>
              </a:extLst>
            </p:cNvPr>
            <p:cNvSpPr/>
            <p:nvPr/>
          </p:nvSpPr>
          <p:spPr>
            <a:xfrm>
              <a:off x="1361942" y="4423075"/>
              <a:ext cx="4192001" cy="796319"/>
            </a:xfrm>
            <a:custGeom>
              <a:avLst/>
              <a:gdLst>
                <a:gd name="connsiteX0" fmla="*/ 0 w 4192001"/>
                <a:gd name="connsiteY0" fmla="*/ 0 h 796319"/>
                <a:gd name="connsiteX1" fmla="*/ 4192001 w 4192001"/>
                <a:gd name="connsiteY1" fmla="*/ 0 h 796319"/>
                <a:gd name="connsiteX2" fmla="*/ 4192001 w 4192001"/>
                <a:gd name="connsiteY2" fmla="*/ 796319 h 796319"/>
                <a:gd name="connsiteX3" fmla="*/ 0 w 4192001"/>
                <a:gd name="connsiteY3" fmla="*/ 796319 h 796319"/>
                <a:gd name="connsiteX4" fmla="*/ 0 w 4192001"/>
                <a:gd name="connsiteY4" fmla="*/ 0 h 79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92001" h="796319">
                  <a:moveTo>
                    <a:pt x="0" y="0"/>
                  </a:moveTo>
                  <a:lnTo>
                    <a:pt x="4192001" y="0"/>
                  </a:lnTo>
                  <a:lnTo>
                    <a:pt x="4192001" y="796319"/>
                  </a:lnTo>
                  <a:lnTo>
                    <a:pt x="0" y="79631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4277" tIns="84277" rIns="84277" bIns="84277" numCol="1" spcCol="1270" rtlCol="1" anchor="ctr" anchorCtr="0">
              <a:noAutofit/>
            </a:bodyPr>
            <a:lstStyle/>
            <a:p>
              <a:pPr marL="0" lvl="0" indent="0" algn="r" defTabSz="8890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000" b="1" kern="1200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Arial"/>
                  <a:ea typeface="+mn-ea"/>
                  <a:cs typeface="Arial"/>
                </a:rPr>
                <a:t>أ3 </a:t>
              </a:r>
              <a:r>
                <a:rPr lang="ar" sz="2000" kern="1200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Arial"/>
                  <a:ea typeface="+mn-ea"/>
                  <a:cs typeface="Arial"/>
                </a:rPr>
                <a:t> اختبارات اللياقة البدنية لتقييم عناصر اللياقة البدنية  </a:t>
              </a:r>
              <a:endParaRPr lang="en-GB" sz="2000" kern="1200" dirty="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95D073F2-C85A-8868-3795-C5FA0C5B78B6}"/>
                </a:ext>
              </a:extLst>
            </p:cNvPr>
            <p:cNvSpPr/>
            <p:nvPr/>
          </p:nvSpPr>
          <p:spPr>
            <a:xfrm>
              <a:off x="457201" y="5416906"/>
              <a:ext cx="5111751" cy="796319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69075E9-6855-3485-11C9-FEEB83865197}"/>
                </a:ext>
              </a:extLst>
            </p:cNvPr>
            <p:cNvSpPr/>
            <p:nvPr/>
          </p:nvSpPr>
          <p:spPr>
            <a:xfrm>
              <a:off x="698087" y="5596078"/>
              <a:ext cx="437975" cy="437975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A65B5FD-506D-84D0-A6A5-B3A7867DBD4F}"/>
                </a:ext>
              </a:extLst>
            </p:cNvPr>
            <p:cNvSpPr/>
            <p:nvPr/>
          </p:nvSpPr>
          <p:spPr>
            <a:xfrm>
              <a:off x="1376950" y="5416906"/>
              <a:ext cx="4192001" cy="796319"/>
            </a:xfrm>
            <a:custGeom>
              <a:avLst/>
              <a:gdLst>
                <a:gd name="connsiteX0" fmla="*/ 0 w 4192001"/>
                <a:gd name="connsiteY0" fmla="*/ 0 h 796319"/>
                <a:gd name="connsiteX1" fmla="*/ 4192001 w 4192001"/>
                <a:gd name="connsiteY1" fmla="*/ 0 h 796319"/>
                <a:gd name="connsiteX2" fmla="*/ 4192001 w 4192001"/>
                <a:gd name="connsiteY2" fmla="*/ 796319 h 796319"/>
                <a:gd name="connsiteX3" fmla="*/ 0 w 4192001"/>
                <a:gd name="connsiteY3" fmla="*/ 796319 h 796319"/>
                <a:gd name="connsiteX4" fmla="*/ 0 w 4192001"/>
                <a:gd name="connsiteY4" fmla="*/ 0 h 79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92001" h="796319">
                  <a:moveTo>
                    <a:pt x="0" y="0"/>
                  </a:moveTo>
                  <a:lnTo>
                    <a:pt x="4192001" y="0"/>
                  </a:lnTo>
                  <a:lnTo>
                    <a:pt x="4192001" y="796319"/>
                  </a:lnTo>
                  <a:lnTo>
                    <a:pt x="0" y="79631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4277" tIns="84277" rIns="84277" bIns="84277" numCol="1" spcCol="1270" rtlCol="1" anchor="ctr" anchorCtr="0">
              <a:noAutofit/>
            </a:bodyPr>
            <a:lstStyle/>
            <a:p>
              <a:pPr marL="0" lvl="0" indent="0" algn="r" defTabSz="84455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900" b="1" kern="1200">
                  <a:latin typeface="Arial"/>
                  <a:ea typeface="+mn-ea"/>
                  <a:cs typeface="Arial"/>
                </a:rPr>
                <a:t>أ4</a:t>
              </a:r>
              <a:r>
                <a:rPr lang="en" sz="1900" b="1" kern="1200">
                  <a:latin typeface="Arial"/>
                  <a:ea typeface="+mn-ea"/>
                  <a:cs typeface="Arial"/>
                </a:rPr>
                <a:t> </a:t>
              </a:r>
              <a:r>
                <a:rPr lang="en" sz="1900" kern="1200">
                  <a:latin typeface="Arial"/>
                  <a:ea typeface="+mn-ea"/>
                  <a:cs typeface="Arial"/>
                </a:rPr>
                <a:t>تصنيف الرياضة للفريق أو الفرد </a:t>
              </a:r>
              <a:endParaRPr lang="en-US" sz="1900" kern="1200" dirty="0">
                <a:latin typeface="Arial"/>
                <a:ea typeface="+mn-ea"/>
                <a:cs typeface="Arial"/>
              </a:endParaRPr>
            </a:p>
          </p:txBody>
        </p:sp>
      </p:grp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B19B0D6A-3DF4-DA57-74F9-AF33A7645519}"/>
              </a:ext>
            </a:extLst>
          </p:cNvPr>
          <p:cNvSpPr/>
          <p:nvPr/>
        </p:nvSpPr>
        <p:spPr>
          <a:xfrm>
            <a:off x="5760720" y="1432560"/>
            <a:ext cx="2737104" cy="47670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>
              <a:lnSpc>
                <a:spcPct val="130000"/>
              </a:lnSpc>
            </a:pPr>
            <a:r>
              <a:rPr lang="ar" sz="1400" b="1" dirty="0">
                <a:solidFill>
                  <a:schemeClr val="tx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نتاج التعلم أ - 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</a:endParaRPr>
          </a:p>
          <a:p>
            <a:pPr algn="ctr" rtl="1">
              <a:lnSpc>
                <a:spcPct val="130000"/>
              </a:lnSpc>
            </a:pPr>
            <a:r>
              <a:rPr lang="ar" sz="1400" b="1" dirty="0">
                <a:solidFill>
                  <a:schemeClr val="tx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فهم عناصر اللياقة البدنية</a:t>
            </a:r>
          </a:p>
          <a:p>
            <a:pPr algn="ctr" rtl="1">
              <a:lnSpc>
                <a:spcPct val="130000"/>
              </a:lnSpc>
            </a:pPr>
            <a:endParaRPr lang="en-GB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ctr" rtl="1">
              <a:lnSpc>
                <a:spcPct val="130000"/>
              </a:lnSpc>
              <a:buFont typeface="Arial"/>
              <a:buChar char="•"/>
            </a:pPr>
            <a:r>
              <a:rPr lang="ar" sz="1400" dirty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التعرّف على عناصر اللياقة البدنية المتعلقة بالصحة وبالمهارات وفهم دور كل عنصر في تحسين الأداء الرياضي في مختلف الرياضات والأنشطة.</a:t>
            </a:r>
            <a:endParaRPr lang="en-GB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ctr" rtl="1">
              <a:lnSpc>
                <a:spcPct val="130000"/>
              </a:lnSpc>
              <a:buFont typeface="Arial"/>
              <a:buChar char="•"/>
            </a:pPr>
            <a:endParaRPr lang="en-GB" sz="1400" dirty="0">
              <a:solidFill>
                <a:schemeClr val="tx1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85750" indent="-285750" algn="ctr" rtl="1">
              <a:lnSpc>
                <a:spcPct val="130000"/>
              </a:lnSpc>
              <a:buFont typeface="Arial"/>
              <a:buChar char="•"/>
            </a:pPr>
            <a:r>
              <a:rPr lang="ar" sz="1400" dirty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التعرّف على أنواع مختلفة من اختبارات اللياقة البدنية وتصنيفات الرياضات وكيفية ربط كل اختبار بعنصر اللياقة البدنية المناسب ونوع الرياضة لتقييم الأداء بدقة.</a:t>
            </a:r>
            <a:endParaRPr lang="en-GB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>
              <a:lnSpc>
                <a:spcPct val="130000"/>
              </a:lnSpc>
            </a:pPr>
            <a:endParaRPr lang="en-GB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4AB3C1-74C3-465C-C391-0A36D9D900BA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A103000424346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926997894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68E4A-FE1F-3956-1D04-1DB7A3235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2120" y="117128"/>
            <a:ext cx="3312368" cy="863600"/>
          </a:xfrm>
        </p:spPr>
        <p:txBody>
          <a:bodyPr rtlCol="1"/>
          <a:lstStyle/>
          <a:p>
            <a:pPr algn="r" rtl="1"/>
            <a:r>
              <a:rPr lang="ar" sz="2400" dirty="0"/>
              <a:t>أ1 - عناصر اللياقة البدنية المتعلقة بالصحة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51973-C36A-CE3E-71E3-3394C4266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4294" y="1252410"/>
            <a:ext cx="8586040" cy="4696870"/>
          </a:xfrm>
        </p:spPr>
        <p:txBody>
          <a:bodyPr rtlCol="1"/>
          <a:lstStyle/>
          <a:p>
            <a:pPr marL="0" indent="0" rtl="1">
              <a:buNone/>
            </a:pPr>
            <a:r>
              <a:rPr lang="ar" sz="2000" b="1"/>
              <a:t>تمثل هذه المكونات أساسًا مهمًا للصحة العامة والأداء الفعّال في معظم الأنشطة الرياضية:</a:t>
            </a:r>
            <a:endParaRPr lang="en-GB" sz="2000" dirty="0"/>
          </a:p>
          <a:p>
            <a:pPr marL="0" indent="0" rtl="1">
              <a:buNone/>
            </a:pPr>
            <a:endParaRPr lang="en-GB" sz="2000" dirty="0"/>
          </a:p>
          <a:p>
            <a:pPr marL="0" indent="0" rtl="1">
              <a:buNone/>
            </a:pPr>
            <a:r>
              <a:rPr lang="ar" sz="2000" b="1"/>
              <a:t>التحمّل القلبي الوعائي</a:t>
            </a:r>
            <a:r>
              <a:rPr lang="ar" sz="2000"/>
              <a:t> - كفاءة القلب والرئتين في إمداد الجسم بالأكسجين خلال فترات النشاط المستمر (مثل: العدو لمسافات طويلة).</a:t>
            </a:r>
            <a:endParaRPr lang="en-GB" dirty="0"/>
          </a:p>
          <a:p>
            <a:pPr marL="0" indent="0" rtl="1">
              <a:buNone/>
            </a:pPr>
            <a:endParaRPr lang="en-GB" sz="2000" dirty="0"/>
          </a:p>
          <a:p>
            <a:pPr marL="0" indent="0" rtl="1">
              <a:buNone/>
            </a:pPr>
            <a:r>
              <a:rPr lang="ar" sz="2000" b="1"/>
              <a:t>القوة العضلية</a:t>
            </a:r>
            <a:r>
              <a:rPr lang="ar" sz="2000"/>
              <a:t> - قدرة العضلات على إنتاج قوة بدنية عالية لأداء نشاط محدد (مثل: رفع الأثقال).</a:t>
            </a:r>
          </a:p>
          <a:p>
            <a:pPr marL="0" indent="0" rtl="1">
              <a:buNone/>
            </a:pPr>
            <a:endParaRPr lang="en-GB" sz="2000" dirty="0"/>
          </a:p>
          <a:p>
            <a:pPr marL="0" indent="0" rtl="1">
              <a:buNone/>
            </a:pPr>
            <a:r>
              <a:rPr lang="ar" sz="2000" b="1"/>
              <a:t>التحمّل العضلي - </a:t>
            </a:r>
            <a:r>
              <a:rPr lang="ar" sz="2000"/>
              <a:t>قدرة العضلات على الاستمرار في أداء انقباضات متكررة دون تعب (مثل: التجديف).</a:t>
            </a:r>
          </a:p>
          <a:p>
            <a:pPr marL="0" indent="0" rtl="1">
              <a:buNone/>
            </a:pPr>
            <a:endParaRPr lang="en-GB" sz="2000" dirty="0"/>
          </a:p>
          <a:p>
            <a:pPr marL="0" indent="0" rtl="1">
              <a:buNone/>
            </a:pPr>
            <a:r>
              <a:rPr lang="ar" sz="2000" b="1"/>
              <a:t>المرونة</a:t>
            </a:r>
            <a:r>
              <a:rPr lang="ar" sz="2000"/>
              <a:t> - مدى حركة المفصل أو مجموعة مفاصل (مثل: الجمباز).</a:t>
            </a:r>
          </a:p>
          <a:p>
            <a:pPr marL="0" indent="0" rtl="1">
              <a:buNone/>
            </a:pPr>
            <a:endParaRPr lang="en-GB" sz="2000" dirty="0"/>
          </a:p>
          <a:p>
            <a:pPr marL="0" indent="0" rtl="1">
              <a:buNone/>
            </a:pPr>
            <a:r>
              <a:rPr lang="ar" sz="2000" b="1"/>
              <a:t>تركيبة الجسم -</a:t>
            </a:r>
            <a:r>
              <a:rPr lang="ar" sz="2000"/>
              <a:t> النسبة بين الدهون والعضلات والعظام في الجسم، (والتي تؤثر على الكفاءة الحركية مثل السرعة والقوة).</a:t>
            </a:r>
            <a:endParaRPr lang="en-GB" dirty="0"/>
          </a:p>
          <a:p>
            <a:pPr rtl="1"/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44A8B9-66A9-ED9A-40BB-313306D82753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A103000424346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162723532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F2747-D95A-D124-8FB2-1AF82912E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9907" y="44624"/>
            <a:ext cx="4416184" cy="884102"/>
          </a:xfrm>
        </p:spPr>
        <p:txBody>
          <a:bodyPr rtlCol="1"/>
          <a:lstStyle/>
          <a:p>
            <a:pPr algn="r" rtl="1"/>
            <a:r>
              <a:rPr lang="ar" sz="2400" dirty="0"/>
              <a:t>أ2 - عناصر اللياقة البدنية المتعلقة بالمهارات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78DB9-8988-9FC6-459F-25C90F2318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0528" y="1170401"/>
            <a:ext cx="8791062" cy="5289137"/>
          </a:xfrm>
        </p:spPr>
        <p:txBody>
          <a:bodyPr rtlCol="1"/>
          <a:lstStyle/>
          <a:p>
            <a:pPr marL="0" indent="0" rtl="1">
              <a:buNone/>
            </a:pPr>
            <a:r>
              <a:rPr lang="ar" sz="2000" b="1"/>
              <a:t>تُعد هذه المكونات ضرورية لتحسين الأداء في الرياضات التنافسية التي تتطلب سرعة واستجابة عالية:</a:t>
            </a:r>
            <a:endParaRPr lang="en-GB" sz="2000" dirty="0"/>
          </a:p>
          <a:p>
            <a:pPr marL="0" indent="0" rtl="1">
              <a:buNone/>
            </a:pPr>
            <a:endParaRPr lang="en-GB" sz="2000" dirty="0"/>
          </a:p>
          <a:p>
            <a:pPr marL="0" indent="0" rtl="1">
              <a:buNone/>
            </a:pPr>
            <a:r>
              <a:rPr lang="ar" sz="2000" b="1"/>
              <a:t>الرشاقة </a:t>
            </a:r>
            <a:r>
              <a:rPr lang="ar" sz="2000"/>
              <a:t>- القدرة على تغيير اتجاه الجسم بسرعة وبدقة في أثناء الحركة (مثل: كرة القدم).</a:t>
            </a:r>
          </a:p>
          <a:p>
            <a:pPr marL="0" indent="0" rtl="1">
              <a:buNone/>
            </a:pPr>
            <a:endParaRPr lang="en-GB" sz="2000" b="1" dirty="0"/>
          </a:p>
          <a:p>
            <a:pPr marL="0" indent="0" rtl="1">
              <a:buNone/>
            </a:pPr>
            <a:r>
              <a:rPr lang="ar" sz="2000" b="1"/>
              <a:t>التوازن </a:t>
            </a:r>
            <a:r>
              <a:rPr lang="ar" sz="2000"/>
              <a:t>- الحفاظ على وضعية الجسم بثبات سواء في أثناء الحركة أو السكون (مثل: الرقص).</a:t>
            </a:r>
          </a:p>
          <a:p>
            <a:pPr marL="0" indent="0" rtl="1">
              <a:buNone/>
            </a:pPr>
            <a:endParaRPr lang="en-GB" sz="2000" dirty="0"/>
          </a:p>
          <a:p>
            <a:pPr marL="0" indent="0" rtl="1">
              <a:buNone/>
            </a:pPr>
            <a:r>
              <a:rPr lang="ar" sz="2000" b="1"/>
              <a:t>التوافق الحركي </a:t>
            </a:r>
            <a:r>
              <a:rPr lang="ar" sz="2000"/>
              <a:t>- القدرة على استخدام أجزاء الجسم المختلفة بشكل متكامل وسلس (مثل: التنس).</a:t>
            </a:r>
          </a:p>
          <a:p>
            <a:pPr marL="0" indent="0" rtl="1">
              <a:buNone/>
            </a:pPr>
            <a:endParaRPr lang="en-GB" sz="2000" dirty="0"/>
          </a:p>
          <a:p>
            <a:pPr marL="0" indent="0" rtl="1">
              <a:buNone/>
            </a:pPr>
            <a:r>
              <a:rPr lang="ar" sz="2000" b="1"/>
              <a:t>السرعة - </a:t>
            </a:r>
            <a:r>
              <a:rPr lang="ar" sz="2000"/>
              <a:t>القدرة على الانتقال بسرعة من مكان إلى آخر (مثل: العدو السريع).</a:t>
            </a:r>
          </a:p>
          <a:p>
            <a:pPr marL="0" indent="0" rtl="1">
              <a:buNone/>
            </a:pPr>
            <a:endParaRPr lang="en-GB" sz="2000" dirty="0"/>
          </a:p>
          <a:p>
            <a:pPr marL="0" indent="0" rtl="1">
              <a:buNone/>
            </a:pPr>
            <a:r>
              <a:rPr lang="ar" sz="2000" b="1"/>
              <a:t>زمن الاستجابة -</a:t>
            </a:r>
            <a:r>
              <a:rPr lang="ar" sz="2000"/>
              <a:t> السرعة في التفاعل مع مثير خارجي (مثل: حارس المرمى).</a:t>
            </a:r>
          </a:p>
          <a:p>
            <a:pPr marL="0" indent="0" rtl="1">
              <a:buNone/>
            </a:pPr>
            <a:endParaRPr lang="en-GB" sz="2000" dirty="0"/>
          </a:p>
          <a:p>
            <a:pPr marL="0" indent="0" rtl="1">
              <a:buNone/>
            </a:pPr>
            <a:r>
              <a:rPr lang="ar" sz="2000" b="1"/>
              <a:t>القوة الانفجارية -</a:t>
            </a:r>
            <a:r>
              <a:rPr lang="ar" sz="2000"/>
              <a:t> الدمج بين القوة العضلية والسرعة (مثل: الوثب العالي).</a:t>
            </a:r>
            <a:endParaRPr lang="en-GB" dirty="0"/>
          </a:p>
          <a:p>
            <a:pPr rtl="1"/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3336C3-C02B-9C08-95EF-66DD85BF29A4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A103000424346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344593210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8ABB0-4BD5-CB6E-29C0-39A8D013A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5896" y="222356"/>
            <a:ext cx="5508104" cy="984936"/>
          </a:xfrm>
        </p:spPr>
        <p:txBody>
          <a:bodyPr rtlCol="1"/>
          <a:lstStyle/>
          <a:p>
            <a:pPr algn="r" rtl="1"/>
            <a:r>
              <a:rPr lang="ar" sz="2400" dirty="0"/>
              <a:t>أ1/ أ2 – مهمة: ترتيب مكونات اللياقة البدنية بحسب أهميتها لكل رياضة:</a:t>
            </a:r>
            <a:endParaRPr lang="en-GB" sz="2000" dirty="0"/>
          </a:p>
          <a:p>
            <a:pPr algn="r" rtl="1"/>
            <a:endParaRPr lang="en-GB" sz="20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A5B7AD1-CD09-B897-1725-62EEA4BD7C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51387" y="1775218"/>
            <a:ext cx="1615280" cy="3548468"/>
          </a:xfrm>
          <a:ln>
            <a:solidFill>
              <a:srgbClr val="4472C4"/>
            </a:solidFill>
          </a:ln>
        </p:spPr>
        <p:txBody>
          <a:bodyPr rtlCol="1"/>
          <a:lstStyle/>
          <a:p>
            <a:pPr marL="0" indent="0" algn="ctr" rtl="1">
              <a:spcBef>
                <a:spcPct val="0"/>
              </a:spcBef>
              <a:buNone/>
            </a:pPr>
            <a:r>
              <a:rPr lang="ar" sz="2000">
                <a:solidFill>
                  <a:schemeClr val="bg1"/>
                </a:solidFill>
              </a:rPr>
              <a:t>العدو السريع</a:t>
            </a:r>
            <a:endParaRPr lang="en-US">
              <a:solidFill>
                <a:schemeClr val="bg1"/>
              </a:solidFill>
            </a:endParaRPr>
          </a:p>
          <a:p>
            <a:pPr marL="0" indent="0" algn="ctr" rtl="1">
              <a:spcBef>
                <a:spcPct val="0"/>
              </a:spcBef>
              <a:buNone/>
            </a:pPr>
            <a:endParaRPr lang="en-GB" sz="2000" dirty="0">
              <a:solidFill>
                <a:schemeClr val="bg1"/>
              </a:solidFill>
            </a:endParaRPr>
          </a:p>
          <a:p>
            <a:pPr marL="0" indent="0" algn="ctr" rtl="1">
              <a:spcBef>
                <a:spcPct val="0"/>
              </a:spcBef>
              <a:buNone/>
            </a:pPr>
            <a:endParaRPr lang="en-GB" sz="2000" dirty="0">
              <a:solidFill>
                <a:schemeClr val="bg1"/>
              </a:solidFill>
            </a:endParaRPr>
          </a:p>
          <a:p>
            <a:pPr marL="0" indent="0" algn="ctr" rtl="1">
              <a:spcBef>
                <a:spcPct val="0"/>
              </a:spcBef>
              <a:buNone/>
            </a:pPr>
            <a:r>
              <a:rPr lang="ar" sz="2000">
                <a:solidFill>
                  <a:schemeClr val="bg1"/>
                </a:solidFill>
              </a:rPr>
              <a:t>الجمباز</a:t>
            </a:r>
          </a:p>
          <a:p>
            <a:pPr marL="0" indent="0" algn="ctr" rtl="1">
              <a:spcBef>
                <a:spcPct val="0"/>
              </a:spcBef>
              <a:buNone/>
            </a:pPr>
            <a:endParaRPr lang="en-GB" sz="2000" dirty="0">
              <a:solidFill>
                <a:schemeClr val="bg1"/>
              </a:solidFill>
            </a:endParaRPr>
          </a:p>
          <a:p>
            <a:pPr marL="0" indent="0" algn="ctr" rtl="1">
              <a:spcBef>
                <a:spcPct val="0"/>
              </a:spcBef>
              <a:buNone/>
            </a:pPr>
            <a:endParaRPr lang="en-GB" sz="2000" dirty="0">
              <a:solidFill>
                <a:schemeClr val="bg1"/>
              </a:solidFill>
            </a:endParaRPr>
          </a:p>
          <a:p>
            <a:pPr marL="0" indent="0" algn="ctr" rtl="1">
              <a:spcBef>
                <a:spcPct val="0"/>
              </a:spcBef>
              <a:buNone/>
            </a:pPr>
            <a:r>
              <a:rPr lang="ar" sz="2000">
                <a:solidFill>
                  <a:schemeClr val="bg1"/>
                </a:solidFill>
              </a:rPr>
              <a:t>التجديف</a:t>
            </a:r>
          </a:p>
          <a:p>
            <a:pPr marL="0" indent="0" algn="ctr" rtl="1">
              <a:spcBef>
                <a:spcPct val="0"/>
              </a:spcBef>
              <a:buNone/>
            </a:pPr>
            <a:endParaRPr lang="en-GB" sz="2000" dirty="0">
              <a:solidFill>
                <a:schemeClr val="bg1"/>
              </a:solidFill>
            </a:endParaRPr>
          </a:p>
          <a:p>
            <a:pPr marL="0" indent="0" algn="ctr" rtl="1">
              <a:spcBef>
                <a:spcPct val="0"/>
              </a:spcBef>
              <a:buNone/>
            </a:pPr>
            <a:endParaRPr lang="en-GB" sz="2000" dirty="0">
              <a:solidFill>
                <a:schemeClr val="bg1"/>
              </a:solidFill>
            </a:endParaRPr>
          </a:p>
          <a:p>
            <a:pPr marL="0" indent="0" algn="ctr" rtl="1">
              <a:spcBef>
                <a:spcPct val="0"/>
              </a:spcBef>
              <a:buNone/>
            </a:pPr>
            <a:r>
              <a:rPr lang="ar" sz="2000">
                <a:solidFill>
                  <a:schemeClr val="bg1"/>
                </a:solidFill>
              </a:rPr>
              <a:t>كرة القدم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17FADE-AEAC-A065-8E01-F1F6A366E202}"/>
              </a:ext>
            </a:extLst>
          </p:cNvPr>
          <p:cNvSpPr txBox="1"/>
          <p:nvPr/>
        </p:nvSpPr>
        <p:spPr>
          <a:xfrm>
            <a:off x="5301879" y="1406453"/>
            <a:ext cx="3542788" cy="4278094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/>
            <a:r>
              <a:rPr lang="ar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الرشاقة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القدرة على تغيير اتجاه الجسم بسرعة وبدقة في أثناء </a:t>
            </a:r>
            <a:r>
              <a:rPr lang="ar-EG" sz="1600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الحركة (مثل: كرة القدم).</a:t>
            </a:r>
            <a:endParaRPr lang="e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rtl="1"/>
            <a:r>
              <a:rPr lang="ar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التوازن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الحفاظ على وضعية الجسم بثبات سواء في أثناء الحركة أو </a:t>
            </a:r>
            <a:r>
              <a:rPr lang="ar-EG" sz="1600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السكون (مثل: الرقص).</a:t>
            </a:r>
          </a:p>
          <a:p>
            <a:pPr rtl="1"/>
            <a:r>
              <a:rPr lang="a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rtl="1"/>
            <a:r>
              <a:rPr lang="ar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التوافق الحركي</a:t>
            </a:r>
            <a:r>
              <a:rPr lang="a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القدرة على استخدام أجزاء الجسم المختلفة بشكل متكامل وسلس (مثل: التنس).</a:t>
            </a:r>
          </a:p>
          <a:p>
            <a:pPr rtl="1"/>
            <a:r>
              <a:rPr lang="a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rtl="1"/>
            <a:r>
              <a:rPr lang="ar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السرعة</a:t>
            </a:r>
            <a:r>
              <a:rPr lang="a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القدرة على الانتقال بسرعة من مكان إلى آخر (مثل: العدو السريع).</a:t>
            </a:r>
          </a:p>
          <a:p>
            <a:pPr rtl="1"/>
            <a:r>
              <a:rPr lang="a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rtl="1"/>
            <a:r>
              <a:rPr lang="ar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زمن الاستجابة</a:t>
            </a:r>
            <a:r>
              <a:rPr lang="a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السرعة في التفاعل مع مثير </a:t>
            </a:r>
            <a:r>
              <a:rPr lang="ar-EG" sz="1600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خارجي (مثل: حارس المرمى).</a:t>
            </a:r>
          </a:p>
          <a:p>
            <a:pPr rtl="1"/>
            <a:r>
              <a:rPr lang="a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rtl="1"/>
            <a:r>
              <a:rPr lang="ar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القوة الانفجارية</a:t>
            </a:r>
            <a:r>
              <a:rPr lang="a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الدمج بين القوة العضلية والسرعة (مثل: الوثب العالي).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DF550C-E727-6532-7E6B-D87B6A859FE4}"/>
              </a:ext>
            </a:extLst>
          </p:cNvPr>
          <p:cNvSpPr txBox="1"/>
          <p:nvPr/>
        </p:nvSpPr>
        <p:spPr>
          <a:xfrm>
            <a:off x="155817" y="1406454"/>
            <a:ext cx="3081486" cy="4770537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/>
            <a:r>
              <a:rPr lang="ar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التحمّل القلبي الوعائي</a:t>
            </a:r>
            <a:r>
              <a:rPr lang="a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كفاءة القلب والرئتين في إمداد الجسم بالأكسجين خلال فترات النشاط المستمر (مثل: العدو لمسافات طويلة).</a:t>
            </a:r>
          </a:p>
          <a:p>
            <a:pPr rtl="1"/>
            <a:r>
              <a:rPr lang="a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rtl="1"/>
            <a:r>
              <a:rPr lang="ar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القوة العضلية</a:t>
            </a:r>
            <a:r>
              <a:rPr lang="a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قدرة العضلات على إنتاج قوة بدنية عالية لأداء نشاط محدد (مثل: رفع الأثقال).</a:t>
            </a:r>
          </a:p>
          <a:p>
            <a:pPr rtl="1"/>
            <a:r>
              <a:rPr lang="a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rtl="1"/>
            <a:r>
              <a:rPr lang="ar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التحمّل العضلي</a:t>
            </a:r>
            <a:r>
              <a:rPr lang="a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قدرة العضلات على الاستمرار في أداء انقباضات متكررة دون تعب (مثل: التجديف).</a:t>
            </a:r>
          </a:p>
          <a:p>
            <a:pPr rtl="1"/>
            <a:r>
              <a:rPr lang="a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rtl="1"/>
            <a:r>
              <a:rPr lang="ar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المرونة</a:t>
            </a:r>
            <a:r>
              <a:rPr lang="a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مدى حركة المفصل أو مجموعة مفاصل (مثل: الجمباز).</a:t>
            </a:r>
          </a:p>
          <a:p>
            <a:pPr rtl="1"/>
            <a:r>
              <a:rPr lang="a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rtl="1"/>
            <a:r>
              <a:rPr lang="ar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تركيبة الجسم</a:t>
            </a:r>
            <a:r>
              <a:rPr lang="a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النسبة بين الدهون والعضلات والعظام في الجسم، (والتي تؤثر على الكفاءة الحركية مثل السرعة والقوة).</a:t>
            </a:r>
          </a:p>
          <a:p>
            <a:pPr rtl="1"/>
            <a:endParaRPr lang="en-GB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76D7F6-8DFA-2176-01C0-BBF7CCB36220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A103000424346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983653618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85EC-0254-A7D0-5447-70712F77C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40" y="189350"/>
            <a:ext cx="5113260" cy="925106"/>
          </a:xfrm>
        </p:spPr>
        <p:txBody>
          <a:bodyPr rtlCol="1"/>
          <a:lstStyle/>
          <a:p>
            <a:pPr algn="r" rtl="1"/>
            <a:r>
              <a:rPr lang="ar" sz="2000" b="1" dirty="0"/>
              <a:t>أ3 - المهمة:</a:t>
            </a:r>
            <a:r>
              <a:rPr lang="ar" sz="2000" dirty="0"/>
              <a:t> مطابقة كل مكون من مكوّنات اللياقة البدنية بالاختبار المناسب له. 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7929E50-3200-B443-A3F7-FE0A604D976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52073298"/>
              </p:ext>
            </p:extLst>
          </p:nvPr>
        </p:nvGraphicFramePr>
        <p:xfrm>
          <a:off x="360423" y="1270935"/>
          <a:ext cx="8423666" cy="4592926"/>
        </p:xfrm>
        <a:graphic>
          <a:graphicData uri="http://schemas.openxmlformats.org/drawingml/2006/table">
            <a:tbl>
              <a:tblPr rtl="1" bandRow="1">
                <a:tableStyleId>{5940675A-B579-460E-94D1-54222C63F5DA}</a:tableStyleId>
              </a:tblPr>
              <a:tblGrid>
                <a:gridCol w="2709338">
                  <a:extLst>
                    <a:ext uri="{9D8B030D-6E8A-4147-A177-3AD203B41FA5}">
                      <a16:colId xmlns:a16="http://schemas.microsoft.com/office/drawing/2014/main" val="985959121"/>
                    </a:ext>
                  </a:extLst>
                </a:gridCol>
                <a:gridCol w="638655">
                  <a:extLst>
                    <a:ext uri="{9D8B030D-6E8A-4147-A177-3AD203B41FA5}">
                      <a16:colId xmlns:a16="http://schemas.microsoft.com/office/drawing/2014/main" val="3117435662"/>
                    </a:ext>
                  </a:extLst>
                </a:gridCol>
                <a:gridCol w="5075673">
                  <a:extLst>
                    <a:ext uri="{9D8B030D-6E8A-4147-A177-3AD203B41FA5}">
                      <a16:colId xmlns:a16="http://schemas.microsoft.com/office/drawing/2014/main" val="3697257921"/>
                    </a:ext>
                  </a:extLst>
                </a:gridCol>
              </a:tblGrid>
              <a:tr h="386686"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المكوّن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1">
                        <a:buNone/>
                      </a:pPr>
                      <a:endParaRPr lang="en-GB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مثال على اختبار اللياقة البدنية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4937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التحمّل القلبي الوعائي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800" b="0" i="0" u="none" strike="noStrike" noProof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اختبار الجلوس والتمدد نحو الأمام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106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القوة العضلية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800" b="0" i="0" u="none" strike="noStrike" noProof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اختبار العدو لمسافة 30 متر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6807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التحمّل العضلي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اختبار تمرينات الجلوس والنهوض أو تمرينات الضغط لمدة دقيقة واحدة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5722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المرونة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800" b="0" i="0" u="none" strike="noStrike" noProof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اختبار رمي الكرة نحو الجدار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0226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السرعة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800" b="0" i="0" u="none" strike="noStrike" noProof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اختبار التكرار الأقصى لمرة واحدة أو اختبار مقياس قوة قبضة اليد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0099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الرشاقة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800" b="0" i="0" u="none" strike="noStrike" noProof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اختبار إسقاط المسطرة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675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التوازن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800" b="0" i="0" u="none" strike="noStrike" noProof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اختبار إيلينوي للرشاقة في أثناء الجري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522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التوافق الحركي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800" b="0" i="0" u="none" strike="noStrike" noProof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اختبار اللياقة البدنية متعدد المراحل</a:t>
                      </a:r>
                      <a:br>
                        <a:rPr lang="en-GB" sz="1800" b="0" i="0" u="none" strike="noStrike" noProof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ar" sz="1800" b="0" i="0" u="none" strike="noStrike" noProof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(اختبار الصافرة)، أو اختبار يويو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3436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زمن رد الفعل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800" b="0" i="0" u="none" strike="noStrike" noProof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اختبار اللقلق (الوقوف على ساق واحدة)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9776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القدرة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اختبار الوثب العمودي أو الوثب الطويل من الثبات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874149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0821088-B984-1FA9-C52F-A28E28415777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A103000424346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963572235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5">
            <a:extLst>
              <a:ext uri="{FF2B5EF4-FFF2-40B4-BE49-F238E27FC236}">
                <a16:creationId xmlns:a16="http://schemas.microsoft.com/office/drawing/2014/main" id="{C05A5D90-E508-2EF5-5627-1814B700F51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15070396"/>
              </p:ext>
            </p:extLst>
          </p:nvPr>
        </p:nvGraphicFramePr>
        <p:xfrm>
          <a:off x="361546" y="1235982"/>
          <a:ext cx="8423665" cy="4592926"/>
        </p:xfrm>
        <a:graphic>
          <a:graphicData uri="http://schemas.openxmlformats.org/drawingml/2006/table">
            <a:tbl>
              <a:tblPr rtl="1" bandRow="1">
                <a:tableStyleId>{5940675A-B579-460E-94D1-54222C63F5DA}</a:tableStyleId>
              </a:tblPr>
              <a:tblGrid>
                <a:gridCol w="2709338">
                  <a:extLst>
                    <a:ext uri="{9D8B030D-6E8A-4147-A177-3AD203B41FA5}">
                      <a16:colId xmlns:a16="http://schemas.microsoft.com/office/drawing/2014/main" val="985959121"/>
                    </a:ext>
                  </a:extLst>
                </a:gridCol>
                <a:gridCol w="659641">
                  <a:extLst>
                    <a:ext uri="{9D8B030D-6E8A-4147-A177-3AD203B41FA5}">
                      <a16:colId xmlns:a16="http://schemas.microsoft.com/office/drawing/2014/main" val="3117435662"/>
                    </a:ext>
                  </a:extLst>
                </a:gridCol>
                <a:gridCol w="5054686">
                  <a:extLst>
                    <a:ext uri="{9D8B030D-6E8A-4147-A177-3AD203B41FA5}">
                      <a16:colId xmlns:a16="http://schemas.microsoft.com/office/drawing/2014/main" val="3697257921"/>
                    </a:ext>
                  </a:extLst>
                </a:gridCol>
              </a:tblGrid>
              <a:tr h="386686"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المكوّن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1">
                        <a:buNone/>
                      </a:pPr>
                      <a:endParaRPr lang="en-GB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مثال على اختبار اللياقة البدنية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4937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التحمّل القلبي الوعائي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800" b="0" i="0" u="none" strike="noStrike" noProof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اختبار اللياقة البدنية متعدد المراحل (اختبار الصافرة)</a:t>
                      </a:r>
                      <a:br>
                        <a:rPr lang="en-GB" sz="1800" b="0" i="0" u="none" strike="noStrike" noProof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ar" sz="1800" b="0" i="0" u="none" strike="noStrike" noProof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اختبار يويو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106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القوة العضلية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800" b="0" i="0" u="none" strike="noStrike" noProof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اختبار التكرار الأقصى لمرة واحدة أو اختبار مقياس قوة قبضة اليد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6807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التحمّل العضلي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800" b="0" i="0" u="none" strike="noStrike" noProof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اختبار تمرينات الجلوس والنهوض أو تمرينات الضغط لمدة دقيقة واحدة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5722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المرونة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800" b="0" i="0" u="none" strike="noStrike" noProof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اختبار الجلوس والتمدد نحو الأمام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0226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السرعة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800" b="0" i="0" u="none" strike="noStrike" noProof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اختبار العدو لمسافة 30 متر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0099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الرشاقة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800" b="0" i="0" u="none" strike="noStrike" noProof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اختبار إيلينوي للرشاقة في أثناء الجري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675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التوازن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800" b="0" i="0" u="none" strike="noStrike" noProof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اختبار اللقلق (الوقوف على ساق واحدة)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522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التوافق الحركي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800" b="0" i="0" u="none" strike="noStrike" noProof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اختبار رمي الكرة نحو الجدار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3436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زمن رد الفعل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 sz="1800" b="0" i="0" u="none" strike="noStrike" noProof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اختبار إسقاط المسطرة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9776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القدرة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اختبار الوثب العمودي أو الوثب الطويل من الثبات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874149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C977C02-BA65-7C00-038A-6EA249AB373C}"/>
              </a:ext>
            </a:extLst>
          </p:cNvPr>
          <p:cNvSpPr txBox="1"/>
          <p:nvPr/>
        </p:nvSpPr>
        <p:spPr>
          <a:xfrm>
            <a:off x="4471540" y="248077"/>
            <a:ext cx="431162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/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الإجابات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D73FDC-AF80-A6BA-3216-001C57991F08}"/>
              </a:ext>
            </a:extLst>
          </p:cNvPr>
          <p:cNvSpPr txBox="1"/>
          <p:nvPr/>
        </p:nvSpPr>
        <p:spPr>
          <a:xfrm>
            <a:off x="716846" y="5830711"/>
            <a:ext cx="806591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/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مهمة إضافية – هل يمكنك إضافة مثال لرياضة تعتمد على هذا المكوّن من اللياقة البدنية؟​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17631A-C745-2BF8-71B8-88A96854F32C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A103000424346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862387801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814F-D272-EF47-B368-F3F8A47F1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3848" y="332656"/>
            <a:ext cx="6156176" cy="925106"/>
          </a:xfrm>
        </p:spPr>
        <p:txBody>
          <a:bodyPr rtlCol="1"/>
          <a:lstStyle/>
          <a:p>
            <a:pPr rtl="1"/>
            <a:r>
              <a:rPr lang="ar" sz="3200" dirty="0"/>
              <a:t>أ3 - A3 – ما المقصود ببطارية الاختبارات؟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F12FC-0F91-49A5-1D8C-E9F6CCDE7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7066" y="1378539"/>
            <a:ext cx="7991475" cy="2248103"/>
          </a:xfrm>
        </p:spPr>
        <p:txBody>
          <a:bodyPr rtlCol="1"/>
          <a:lstStyle/>
          <a:p>
            <a:pPr rtl="1"/>
            <a:r>
              <a:rPr lang="ar"/>
              <a:t>بطارية الاختبارات هي مجموعة مخططة من اختبارات اللياقة البدنية، جرى اختيارها بعناية بهدف تقييم مكوّنات محددة من عناصر اللياقة البدنية.</a:t>
            </a:r>
          </a:p>
          <a:p>
            <a:pPr rtl="1"/>
            <a:endParaRPr lang="en-GB" dirty="0"/>
          </a:p>
          <a:p>
            <a:pPr rtl="1"/>
            <a:r>
              <a:rPr lang="ar"/>
              <a:t>ينبغي أن تتناسب بطارية الاختبارات هذه مع احتياجات الفرد أو الفريق وأهدافهم وظروفهم الخاصة.</a:t>
            </a:r>
          </a:p>
          <a:p>
            <a:pPr rtl="1"/>
            <a:endParaRPr lang="en-GB" dirty="0"/>
          </a:p>
        </p:txBody>
      </p:sp>
      <p:pic>
        <p:nvPicPr>
          <p:cNvPr id="6" name="Picture 5" descr="A group of men running on a green indoor court&#10;&#10;AI-generated content may be incorrect.">
            <a:extLst>
              <a:ext uri="{FF2B5EF4-FFF2-40B4-BE49-F238E27FC236}">
                <a16:creationId xmlns:a16="http://schemas.microsoft.com/office/drawing/2014/main" id="{48536ADE-79E2-6A55-4DD6-9C8853C040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67675" y="4117574"/>
            <a:ext cx="2541021" cy="1694014"/>
          </a:xfrm>
          <a:prstGeom prst="rect">
            <a:avLst/>
          </a:prstGeom>
        </p:spPr>
      </p:pic>
      <p:pic>
        <p:nvPicPr>
          <p:cNvPr id="7" name="Picture 6" descr="A person and person running on a track&#10;&#10;AI-generated content may be incorrect.">
            <a:extLst>
              <a:ext uri="{FF2B5EF4-FFF2-40B4-BE49-F238E27FC236}">
                <a16:creationId xmlns:a16="http://schemas.microsoft.com/office/drawing/2014/main" id="{B42D0E91-CD72-3682-2442-E923F4D1D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2400" y="4117837"/>
            <a:ext cx="2519388" cy="1679592"/>
          </a:xfrm>
          <a:prstGeom prst="rect">
            <a:avLst/>
          </a:prstGeom>
        </p:spPr>
      </p:pic>
      <p:pic>
        <p:nvPicPr>
          <p:cNvPr id="4" name="Picture 3" descr="A person lying on a mat with a pole&#10;&#10;AI-generated content may be incorrect.">
            <a:extLst>
              <a:ext uri="{FF2B5EF4-FFF2-40B4-BE49-F238E27FC236}">
                <a16:creationId xmlns:a16="http://schemas.microsoft.com/office/drawing/2014/main" id="{9B8EEC43-24EB-C5C3-C14E-EC375A5D06A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893" y="4121041"/>
            <a:ext cx="2550730" cy="1690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0F3A27-F3C3-E5A7-552F-9BBC778CF503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A103000424346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187123411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81336-799B-A1A7-2EFC-6F21DB69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093" y="-3992"/>
            <a:ext cx="5103008" cy="1027616"/>
          </a:xfrm>
        </p:spPr>
        <p:txBody>
          <a:bodyPr rtlCol="1"/>
          <a:lstStyle/>
          <a:p>
            <a:pPr algn="r" rtl="1"/>
            <a:r>
              <a:rPr lang="ar" sz="2400" dirty="0"/>
              <a:t>أ3 – المهمة: صمّم بطارية اختبارات خاصة بك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7EEFC-8BAF-F495-4000-D396BA0A3A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9344" y="360562"/>
            <a:ext cx="8278506" cy="3568971"/>
          </a:xfrm>
        </p:spPr>
        <p:txBody>
          <a:bodyPr rtlCol="1"/>
          <a:lstStyle/>
          <a:p>
            <a:pPr rtl="1"/>
            <a:endParaRPr lang="en-GB" dirty="0"/>
          </a:p>
          <a:p>
            <a:pPr rtl="1"/>
            <a:endParaRPr lang="en-GB" dirty="0"/>
          </a:p>
          <a:p>
            <a:pPr marL="0" indent="0" rtl="1">
              <a:buNone/>
            </a:pPr>
            <a:br>
              <a:rPr lang="en-US" dirty="0"/>
            </a:b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F4D41EB-1764-B744-8F30-9D4EB212E115}"/>
              </a:ext>
            </a:extLst>
          </p:cNvPr>
          <p:cNvGrpSpPr/>
          <p:nvPr/>
        </p:nvGrpSpPr>
        <p:grpSpPr>
          <a:xfrm flipH="1">
            <a:off x="897929" y="1862060"/>
            <a:ext cx="6907342" cy="2908354"/>
            <a:chOff x="897929" y="1862060"/>
            <a:chExt cx="6907342" cy="2908354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7D1CD93-3EAB-A431-4304-EA7C98A30DB2}"/>
                </a:ext>
              </a:extLst>
            </p:cNvPr>
            <p:cNvSpPr/>
            <p:nvPr/>
          </p:nvSpPr>
          <p:spPr>
            <a:xfrm>
              <a:off x="897929" y="1862060"/>
              <a:ext cx="1817721" cy="1090633"/>
            </a:xfrm>
            <a:custGeom>
              <a:avLst/>
              <a:gdLst>
                <a:gd name="connsiteX0" fmla="*/ 0 w 1817721"/>
                <a:gd name="connsiteY0" fmla="*/ 109063 h 1090633"/>
                <a:gd name="connsiteX1" fmla="*/ 109063 w 1817721"/>
                <a:gd name="connsiteY1" fmla="*/ 0 h 1090633"/>
                <a:gd name="connsiteX2" fmla="*/ 1708658 w 1817721"/>
                <a:gd name="connsiteY2" fmla="*/ 0 h 1090633"/>
                <a:gd name="connsiteX3" fmla="*/ 1817721 w 1817721"/>
                <a:gd name="connsiteY3" fmla="*/ 109063 h 1090633"/>
                <a:gd name="connsiteX4" fmla="*/ 1817721 w 1817721"/>
                <a:gd name="connsiteY4" fmla="*/ 981570 h 1090633"/>
                <a:gd name="connsiteX5" fmla="*/ 1708658 w 1817721"/>
                <a:gd name="connsiteY5" fmla="*/ 1090633 h 1090633"/>
                <a:gd name="connsiteX6" fmla="*/ 109063 w 1817721"/>
                <a:gd name="connsiteY6" fmla="*/ 1090633 h 1090633"/>
                <a:gd name="connsiteX7" fmla="*/ 0 w 1817721"/>
                <a:gd name="connsiteY7" fmla="*/ 981570 h 1090633"/>
                <a:gd name="connsiteX8" fmla="*/ 0 w 1817721"/>
                <a:gd name="connsiteY8" fmla="*/ 109063 h 1090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17721" h="1090633">
                  <a:moveTo>
                    <a:pt x="0" y="109063"/>
                  </a:moveTo>
                  <a:cubicBezTo>
                    <a:pt x="0" y="48829"/>
                    <a:pt x="48829" y="0"/>
                    <a:pt x="109063" y="0"/>
                  </a:cubicBezTo>
                  <a:lnTo>
                    <a:pt x="1708658" y="0"/>
                  </a:lnTo>
                  <a:cubicBezTo>
                    <a:pt x="1768892" y="0"/>
                    <a:pt x="1817721" y="48829"/>
                    <a:pt x="1817721" y="109063"/>
                  </a:cubicBezTo>
                  <a:lnTo>
                    <a:pt x="1817721" y="981570"/>
                  </a:lnTo>
                  <a:cubicBezTo>
                    <a:pt x="1817721" y="1041804"/>
                    <a:pt x="1768892" y="1090633"/>
                    <a:pt x="1708658" y="1090633"/>
                  </a:cubicBezTo>
                  <a:lnTo>
                    <a:pt x="109063" y="1090633"/>
                  </a:lnTo>
                  <a:cubicBezTo>
                    <a:pt x="48829" y="1090633"/>
                    <a:pt x="0" y="1041804"/>
                    <a:pt x="0" y="981570"/>
                  </a:cubicBezTo>
                  <a:lnTo>
                    <a:pt x="0" y="109063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1474" tIns="81474" rIns="81474" bIns="81474" numCol="1" spcCol="1270" rtlCol="1" anchor="ctr" anchorCtr="0">
              <a:noAutofit/>
            </a:bodyPr>
            <a:lstStyle/>
            <a:p>
              <a:pPr marL="0" lvl="0" indent="0" algn="ctr" defTabSz="5778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300" kern="1200" dirty="0">
                  <a:solidFill>
                    <a:srgbClr val="FF0000"/>
                  </a:solidFill>
                  <a:latin typeface="Arial"/>
                  <a:cs typeface="Arial"/>
                </a:rPr>
                <a:t>أنت مدرب شخصي تصمم بطارية (مجموعة) اختبارات لياقة بدنية لرياضي</a:t>
              </a:r>
              <a:endParaRPr lang="en-GB" sz="1300" kern="1200" dirty="0">
                <a:solidFill>
                  <a:srgbClr val="FF0000"/>
                </a:solidFill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ED6E82B-D58A-2A57-E9DF-7F2087BDBBEF}"/>
                </a:ext>
              </a:extLst>
            </p:cNvPr>
            <p:cNvSpPr/>
            <p:nvPr/>
          </p:nvSpPr>
          <p:spPr>
            <a:xfrm>
              <a:off x="2875610" y="2181979"/>
              <a:ext cx="385357" cy="450795"/>
            </a:xfrm>
            <a:custGeom>
              <a:avLst/>
              <a:gdLst>
                <a:gd name="connsiteX0" fmla="*/ 0 w 385357"/>
                <a:gd name="connsiteY0" fmla="*/ 90159 h 450795"/>
                <a:gd name="connsiteX1" fmla="*/ 192679 w 385357"/>
                <a:gd name="connsiteY1" fmla="*/ 90159 h 450795"/>
                <a:gd name="connsiteX2" fmla="*/ 192679 w 385357"/>
                <a:gd name="connsiteY2" fmla="*/ 0 h 450795"/>
                <a:gd name="connsiteX3" fmla="*/ 385357 w 385357"/>
                <a:gd name="connsiteY3" fmla="*/ 225398 h 450795"/>
                <a:gd name="connsiteX4" fmla="*/ 192679 w 385357"/>
                <a:gd name="connsiteY4" fmla="*/ 450795 h 450795"/>
                <a:gd name="connsiteX5" fmla="*/ 192679 w 385357"/>
                <a:gd name="connsiteY5" fmla="*/ 360636 h 450795"/>
                <a:gd name="connsiteX6" fmla="*/ 0 w 385357"/>
                <a:gd name="connsiteY6" fmla="*/ 360636 h 450795"/>
                <a:gd name="connsiteX7" fmla="*/ 0 w 385357"/>
                <a:gd name="connsiteY7" fmla="*/ 90159 h 45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5357" h="450795">
                  <a:moveTo>
                    <a:pt x="0" y="90159"/>
                  </a:moveTo>
                  <a:lnTo>
                    <a:pt x="192679" y="90159"/>
                  </a:lnTo>
                  <a:lnTo>
                    <a:pt x="192679" y="0"/>
                  </a:lnTo>
                  <a:lnTo>
                    <a:pt x="385357" y="225398"/>
                  </a:lnTo>
                  <a:lnTo>
                    <a:pt x="192679" y="450795"/>
                  </a:lnTo>
                  <a:lnTo>
                    <a:pt x="192679" y="360636"/>
                  </a:lnTo>
                  <a:lnTo>
                    <a:pt x="0" y="360636"/>
                  </a:lnTo>
                  <a:lnTo>
                    <a:pt x="0" y="90159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90159" rIns="115607" bIns="90159" numCol="1" spcCol="1270" rtlCol="1" anchor="ctr" anchorCtr="0">
              <a:noAutofit/>
            </a:bodyPr>
            <a:lstStyle/>
            <a:p>
              <a:pPr marL="0" lvl="0" indent="0" algn="ctr" defTabSz="4889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1100" kern="12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21C375F-6B47-F511-956C-A4037FF4F1CB}"/>
                </a:ext>
              </a:extLst>
            </p:cNvPr>
            <p:cNvSpPr/>
            <p:nvPr/>
          </p:nvSpPr>
          <p:spPr>
            <a:xfrm>
              <a:off x="3442740" y="1862060"/>
              <a:ext cx="1817721" cy="1090633"/>
            </a:xfrm>
            <a:custGeom>
              <a:avLst/>
              <a:gdLst>
                <a:gd name="connsiteX0" fmla="*/ 0 w 1817721"/>
                <a:gd name="connsiteY0" fmla="*/ 109063 h 1090633"/>
                <a:gd name="connsiteX1" fmla="*/ 109063 w 1817721"/>
                <a:gd name="connsiteY1" fmla="*/ 0 h 1090633"/>
                <a:gd name="connsiteX2" fmla="*/ 1708658 w 1817721"/>
                <a:gd name="connsiteY2" fmla="*/ 0 h 1090633"/>
                <a:gd name="connsiteX3" fmla="*/ 1817721 w 1817721"/>
                <a:gd name="connsiteY3" fmla="*/ 109063 h 1090633"/>
                <a:gd name="connsiteX4" fmla="*/ 1817721 w 1817721"/>
                <a:gd name="connsiteY4" fmla="*/ 981570 h 1090633"/>
                <a:gd name="connsiteX5" fmla="*/ 1708658 w 1817721"/>
                <a:gd name="connsiteY5" fmla="*/ 1090633 h 1090633"/>
                <a:gd name="connsiteX6" fmla="*/ 109063 w 1817721"/>
                <a:gd name="connsiteY6" fmla="*/ 1090633 h 1090633"/>
                <a:gd name="connsiteX7" fmla="*/ 0 w 1817721"/>
                <a:gd name="connsiteY7" fmla="*/ 981570 h 1090633"/>
                <a:gd name="connsiteX8" fmla="*/ 0 w 1817721"/>
                <a:gd name="connsiteY8" fmla="*/ 109063 h 1090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17721" h="1090633">
                  <a:moveTo>
                    <a:pt x="0" y="109063"/>
                  </a:moveTo>
                  <a:cubicBezTo>
                    <a:pt x="0" y="48829"/>
                    <a:pt x="48829" y="0"/>
                    <a:pt x="109063" y="0"/>
                  </a:cubicBezTo>
                  <a:lnTo>
                    <a:pt x="1708658" y="0"/>
                  </a:lnTo>
                  <a:cubicBezTo>
                    <a:pt x="1768892" y="0"/>
                    <a:pt x="1817721" y="48829"/>
                    <a:pt x="1817721" y="109063"/>
                  </a:cubicBezTo>
                  <a:lnTo>
                    <a:pt x="1817721" y="981570"/>
                  </a:lnTo>
                  <a:cubicBezTo>
                    <a:pt x="1817721" y="1041804"/>
                    <a:pt x="1768892" y="1090633"/>
                    <a:pt x="1708658" y="1090633"/>
                  </a:cubicBezTo>
                  <a:lnTo>
                    <a:pt x="109063" y="1090633"/>
                  </a:lnTo>
                  <a:cubicBezTo>
                    <a:pt x="48829" y="1090633"/>
                    <a:pt x="0" y="1041804"/>
                    <a:pt x="0" y="981570"/>
                  </a:cubicBezTo>
                  <a:lnTo>
                    <a:pt x="0" y="109063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1474" tIns="81474" rIns="81474" bIns="81474" numCol="1" spcCol="1270" rtlCol="1" anchor="ctr" anchorCtr="0">
              <a:noAutofit/>
            </a:bodyPr>
            <a:lstStyle/>
            <a:p>
              <a:pPr marL="0" lvl="0" indent="0" defTabSz="5778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300" kern="1200" dirty="0">
                  <a:solidFill>
                    <a:srgbClr val="FF0000"/>
                  </a:solidFill>
                  <a:latin typeface="Arial"/>
                  <a:cs typeface="Arial"/>
                </a:rPr>
                <a:t>اختر رياضة (مثل: كرة القدم والسباحة والتنس)</a:t>
              </a:r>
              <a:endParaRPr lang="en-US" sz="1300" kern="1200" dirty="0">
                <a:solidFill>
                  <a:srgbClr val="FF0000"/>
                </a:solidFill>
                <a:latin typeface="Arial"/>
                <a:cs typeface="Arial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B970F90-A093-A40E-4769-D92B22935C31}"/>
                </a:ext>
              </a:extLst>
            </p:cNvPr>
            <p:cNvSpPr/>
            <p:nvPr/>
          </p:nvSpPr>
          <p:spPr>
            <a:xfrm>
              <a:off x="5420421" y="2181979"/>
              <a:ext cx="385357" cy="450795"/>
            </a:xfrm>
            <a:custGeom>
              <a:avLst/>
              <a:gdLst>
                <a:gd name="connsiteX0" fmla="*/ 0 w 385357"/>
                <a:gd name="connsiteY0" fmla="*/ 90159 h 450795"/>
                <a:gd name="connsiteX1" fmla="*/ 192679 w 385357"/>
                <a:gd name="connsiteY1" fmla="*/ 90159 h 450795"/>
                <a:gd name="connsiteX2" fmla="*/ 192679 w 385357"/>
                <a:gd name="connsiteY2" fmla="*/ 0 h 450795"/>
                <a:gd name="connsiteX3" fmla="*/ 385357 w 385357"/>
                <a:gd name="connsiteY3" fmla="*/ 225398 h 450795"/>
                <a:gd name="connsiteX4" fmla="*/ 192679 w 385357"/>
                <a:gd name="connsiteY4" fmla="*/ 450795 h 450795"/>
                <a:gd name="connsiteX5" fmla="*/ 192679 w 385357"/>
                <a:gd name="connsiteY5" fmla="*/ 360636 h 450795"/>
                <a:gd name="connsiteX6" fmla="*/ 0 w 385357"/>
                <a:gd name="connsiteY6" fmla="*/ 360636 h 450795"/>
                <a:gd name="connsiteX7" fmla="*/ 0 w 385357"/>
                <a:gd name="connsiteY7" fmla="*/ 90159 h 45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5357" h="450795">
                  <a:moveTo>
                    <a:pt x="0" y="90159"/>
                  </a:moveTo>
                  <a:lnTo>
                    <a:pt x="192679" y="90159"/>
                  </a:lnTo>
                  <a:lnTo>
                    <a:pt x="192679" y="0"/>
                  </a:lnTo>
                  <a:lnTo>
                    <a:pt x="385357" y="225398"/>
                  </a:lnTo>
                  <a:lnTo>
                    <a:pt x="192679" y="450795"/>
                  </a:lnTo>
                  <a:lnTo>
                    <a:pt x="192679" y="360636"/>
                  </a:lnTo>
                  <a:lnTo>
                    <a:pt x="0" y="360636"/>
                  </a:lnTo>
                  <a:lnTo>
                    <a:pt x="0" y="90159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90159" rIns="115607" bIns="90159" numCol="1" spcCol="1270" rtlCol="1" anchor="ctr" anchorCtr="0">
              <a:noAutofit/>
            </a:bodyPr>
            <a:lstStyle/>
            <a:p>
              <a:pPr marL="0" lvl="0" indent="0" algn="ctr" defTabSz="4889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1100" kern="120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FF4B5F0-DF15-3D7E-ACCC-E00A35A50E35}"/>
                </a:ext>
              </a:extLst>
            </p:cNvPr>
            <p:cNvSpPr/>
            <p:nvPr/>
          </p:nvSpPr>
          <p:spPr>
            <a:xfrm flipH="1">
              <a:off x="5987550" y="1862060"/>
              <a:ext cx="1817721" cy="1090633"/>
            </a:xfrm>
            <a:custGeom>
              <a:avLst/>
              <a:gdLst>
                <a:gd name="connsiteX0" fmla="*/ 0 w 1817721"/>
                <a:gd name="connsiteY0" fmla="*/ 109063 h 1090633"/>
                <a:gd name="connsiteX1" fmla="*/ 109063 w 1817721"/>
                <a:gd name="connsiteY1" fmla="*/ 0 h 1090633"/>
                <a:gd name="connsiteX2" fmla="*/ 1708658 w 1817721"/>
                <a:gd name="connsiteY2" fmla="*/ 0 h 1090633"/>
                <a:gd name="connsiteX3" fmla="*/ 1817721 w 1817721"/>
                <a:gd name="connsiteY3" fmla="*/ 109063 h 1090633"/>
                <a:gd name="connsiteX4" fmla="*/ 1817721 w 1817721"/>
                <a:gd name="connsiteY4" fmla="*/ 981570 h 1090633"/>
                <a:gd name="connsiteX5" fmla="*/ 1708658 w 1817721"/>
                <a:gd name="connsiteY5" fmla="*/ 1090633 h 1090633"/>
                <a:gd name="connsiteX6" fmla="*/ 109063 w 1817721"/>
                <a:gd name="connsiteY6" fmla="*/ 1090633 h 1090633"/>
                <a:gd name="connsiteX7" fmla="*/ 0 w 1817721"/>
                <a:gd name="connsiteY7" fmla="*/ 981570 h 1090633"/>
                <a:gd name="connsiteX8" fmla="*/ 0 w 1817721"/>
                <a:gd name="connsiteY8" fmla="*/ 109063 h 1090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17721" h="1090633">
                  <a:moveTo>
                    <a:pt x="0" y="109063"/>
                  </a:moveTo>
                  <a:cubicBezTo>
                    <a:pt x="0" y="48829"/>
                    <a:pt x="48829" y="0"/>
                    <a:pt x="109063" y="0"/>
                  </a:cubicBezTo>
                  <a:lnTo>
                    <a:pt x="1708658" y="0"/>
                  </a:lnTo>
                  <a:cubicBezTo>
                    <a:pt x="1768892" y="0"/>
                    <a:pt x="1817721" y="48829"/>
                    <a:pt x="1817721" y="109063"/>
                  </a:cubicBezTo>
                  <a:lnTo>
                    <a:pt x="1817721" y="981570"/>
                  </a:lnTo>
                  <a:cubicBezTo>
                    <a:pt x="1817721" y="1041804"/>
                    <a:pt x="1768892" y="1090633"/>
                    <a:pt x="1708658" y="1090633"/>
                  </a:cubicBezTo>
                  <a:lnTo>
                    <a:pt x="109063" y="1090633"/>
                  </a:lnTo>
                  <a:cubicBezTo>
                    <a:pt x="48829" y="1090633"/>
                    <a:pt x="0" y="1041804"/>
                    <a:pt x="0" y="981570"/>
                  </a:cubicBezTo>
                  <a:lnTo>
                    <a:pt x="0" y="109063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1474" tIns="81474" rIns="81474" bIns="81474" numCol="1" spcCol="1270" rtlCol="1" anchor="ctr" anchorCtr="0">
              <a:noAutofit/>
            </a:bodyPr>
            <a:lstStyle/>
            <a:p>
              <a:pPr marL="0" lvl="0" indent="0" defTabSz="5778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300" kern="1200" dirty="0">
                  <a:solidFill>
                    <a:srgbClr val="FF0000"/>
                  </a:solidFill>
                  <a:latin typeface="Arial"/>
                  <a:cs typeface="Arial"/>
                </a:rPr>
                <a:t>اختر خمسة اختبارات مناسبة واشرح سبب توافقها مع الرياضة المختارة</a:t>
              </a:r>
              <a:endParaRPr lang="en-US" sz="1300" kern="1200" dirty="0">
                <a:solidFill>
                  <a:srgbClr val="FF0000"/>
                </a:solidFill>
                <a:latin typeface="Arial"/>
                <a:cs typeface="Arial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7E51E26-3956-2C62-4364-1177F4ABA34D}"/>
                </a:ext>
              </a:extLst>
            </p:cNvPr>
            <p:cNvSpPr/>
            <p:nvPr/>
          </p:nvSpPr>
          <p:spPr>
            <a:xfrm>
              <a:off x="6671013" y="3112652"/>
              <a:ext cx="450795" cy="385357"/>
            </a:xfrm>
            <a:custGeom>
              <a:avLst/>
              <a:gdLst>
                <a:gd name="connsiteX0" fmla="*/ 0 w 385357"/>
                <a:gd name="connsiteY0" fmla="*/ 90159 h 450795"/>
                <a:gd name="connsiteX1" fmla="*/ 192679 w 385357"/>
                <a:gd name="connsiteY1" fmla="*/ 90159 h 450795"/>
                <a:gd name="connsiteX2" fmla="*/ 192679 w 385357"/>
                <a:gd name="connsiteY2" fmla="*/ 0 h 450795"/>
                <a:gd name="connsiteX3" fmla="*/ 385357 w 385357"/>
                <a:gd name="connsiteY3" fmla="*/ 225398 h 450795"/>
                <a:gd name="connsiteX4" fmla="*/ 192679 w 385357"/>
                <a:gd name="connsiteY4" fmla="*/ 450795 h 450795"/>
                <a:gd name="connsiteX5" fmla="*/ 192679 w 385357"/>
                <a:gd name="connsiteY5" fmla="*/ 360636 h 450795"/>
                <a:gd name="connsiteX6" fmla="*/ 0 w 385357"/>
                <a:gd name="connsiteY6" fmla="*/ 360636 h 450795"/>
                <a:gd name="connsiteX7" fmla="*/ 0 w 385357"/>
                <a:gd name="connsiteY7" fmla="*/ 90159 h 45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5357" h="450795">
                  <a:moveTo>
                    <a:pt x="308286" y="0"/>
                  </a:moveTo>
                  <a:lnTo>
                    <a:pt x="308286" y="225398"/>
                  </a:lnTo>
                  <a:lnTo>
                    <a:pt x="385357" y="225398"/>
                  </a:lnTo>
                  <a:lnTo>
                    <a:pt x="192678" y="450795"/>
                  </a:lnTo>
                  <a:lnTo>
                    <a:pt x="0" y="225398"/>
                  </a:lnTo>
                  <a:lnTo>
                    <a:pt x="77071" y="225398"/>
                  </a:lnTo>
                  <a:lnTo>
                    <a:pt x="77071" y="0"/>
                  </a:lnTo>
                  <a:lnTo>
                    <a:pt x="308286" y="0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0160" tIns="0" rIns="90158" bIns="115607" numCol="1" spcCol="1270" rtlCol="1" anchor="ctr" anchorCtr="0">
              <a:noAutofit/>
            </a:bodyPr>
            <a:lstStyle/>
            <a:p>
              <a:pPr marL="0" lvl="0" indent="0" algn="ctr" defTabSz="4889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1100" kern="12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A7636C5-4189-9AC1-C973-3200EE527F5B}"/>
                </a:ext>
              </a:extLst>
            </p:cNvPr>
            <p:cNvSpPr/>
            <p:nvPr/>
          </p:nvSpPr>
          <p:spPr>
            <a:xfrm>
              <a:off x="5987550" y="3679781"/>
              <a:ext cx="1817721" cy="1090633"/>
            </a:xfrm>
            <a:custGeom>
              <a:avLst/>
              <a:gdLst>
                <a:gd name="connsiteX0" fmla="*/ 0 w 1817721"/>
                <a:gd name="connsiteY0" fmla="*/ 109063 h 1090633"/>
                <a:gd name="connsiteX1" fmla="*/ 109063 w 1817721"/>
                <a:gd name="connsiteY1" fmla="*/ 0 h 1090633"/>
                <a:gd name="connsiteX2" fmla="*/ 1708658 w 1817721"/>
                <a:gd name="connsiteY2" fmla="*/ 0 h 1090633"/>
                <a:gd name="connsiteX3" fmla="*/ 1817721 w 1817721"/>
                <a:gd name="connsiteY3" fmla="*/ 109063 h 1090633"/>
                <a:gd name="connsiteX4" fmla="*/ 1817721 w 1817721"/>
                <a:gd name="connsiteY4" fmla="*/ 981570 h 1090633"/>
                <a:gd name="connsiteX5" fmla="*/ 1708658 w 1817721"/>
                <a:gd name="connsiteY5" fmla="*/ 1090633 h 1090633"/>
                <a:gd name="connsiteX6" fmla="*/ 109063 w 1817721"/>
                <a:gd name="connsiteY6" fmla="*/ 1090633 h 1090633"/>
                <a:gd name="connsiteX7" fmla="*/ 0 w 1817721"/>
                <a:gd name="connsiteY7" fmla="*/ 981570 h 1090633"/>
                <a:gd name="connsiteX8" fmla="*/ 0 w 1817721"/>
                <a:gd name="connsiteY8" fmla="*/ 109063 h 1090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17721" h="1090633">
                  <a:moveTo>
                    <a:pt x="0" y="109063"/>
                  </a:moveTo>
                  <a:cubicBezTo>
                    <a:pt x="0" y="48829"/>
                    <a:pt x="48829" y="0"/>
                    <a:pt x="109063" y="0"/>
                  </a:cubicBezTo>
                  <a:lnTo>
                    <a:pt x="1708658" y="0"/>
                  </a:lnTo>
                  <a:cubicBezTo>
                    <a:pt x="1768892" y="0"/>
                    <a:pt x="1817721" y="48829"/>
                    <a:pt x="1817721" y="109063"/>
                  </a:cubicBezTo>
                  <a:lnTo>
                    <a:pt x="1817721" y="981570"/>
                  </a:lnTo>
                  <a:cubicBezTo>
                    <a:pt x="1817721" y="1041804"/>
                    <a:pt x="1768892" y="1090633"/>
                    <a:pt x="1708658" y="1090633"/>
                  </a:cubicBezTo>
                  <a:lnTo>
                    <a:pt x="109063" y="1090633"/>
                  </a:lnTo>
                  <a:cubicBezTo>
                    <a:pt x="48829" y="1090633"/>
                    <a:pt x="0" y="1041804"/>
                    <a:pt x="0" y="981570"/>
                  </a:cubicBezTo>
                  <a:lnTo>
                    <a:pt x="0" y="109063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1474" tIns="81474" rIns="81474" bIns="81474" numCol="1" spcCol="1270" rtlCol="1" anchor="ctr" anchorCtr="0">
              <a:noAutofit/>
            </a:bodyPr>
            <a:lstStyle/>
            <a:p>
              <a:pPr marL="0" lvl="0" indent="0" defTabSz="5778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300" kern="1200">
                  <a:solidFill>
                    <a:srgbClr val="FF0000"/>
                  </a:solidFill>
                  <a:latin typeface="Arial"/>
                  <a:cs typeface="Arial"/>
                </a:rPr>
                <a:t>قدّم اختياراتك باستخدام مخطط مرئي أو مخطط واضح</a:t>
              </a:r>
              <a:endParaRPr lang="en-US" sz="1300" kern="1200" dirty="0">
                <a:solidFill>
                  <a:srgbClr val="FF0000"/>
                </a:solidFill>
                <a:latin typeface="Arial"/>
                <a:cs typeface="Arial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67D9C51-3B78-BD31-7D08-E767E298AC71}"/>
                </a:ext>
              </a:extLst>
            </p:cNvPr>
            <p:cNvSpPr/>
            <p:nvPr/>
          </p:nvSpPr>
          <p:spPr>
            <a:xfrm rot="21600000">
              <a:off x="5442234" y="3999699"/>
              <a:ext cx="385357" cy="450796"/>
            </a:xfrm>
            <a:custGeom>
              <a:avLst/>
              <a:gdLst>
                <a:gd name="connsiteX0" fmla="*/ 0 w 385357"/>
                <a:gd name="connsiteY0" fmla="*/ 90159 h 450795"/>
                <a:gd name="connsiteX1" fmla="*/ 192679 w 385357"/>
                <a:gd name="connsiteY1" fmla="*/ 90159 h 450795"/>
                <a:gd name="connsiteX2" fmla="*/ 192679 w 385357"/>
                <a:gd name="connsiteY2" fmla="*/ 0 h 450795"/>
                <a:gd name="connsiteX3" fmla="*/ 385357 w 385357"/>
                <a:gd name="connsiteY3" fmla="*/ 225398 h 450795"/>
                <a:gd name="connsiteX4" fmla="*/ 192679 w 385357"/>
                <a:gd name="connsiteY4" fmla="*/ 450795 h 450795"/>
                <a:gd name="connsiteX5" fmla="*/ 192679 w 385357"/>
                <a:gd name="connsiteY5" fmla="*/ 360636 h 450795"/>
                <a:gd name="connsiteX6" fmla="*/ 0 w 385357"/>
                <a:gd name="connsiteY6" fmla="*/ 360636 h 450795"/>
                <a:gd name="connsiteX7" fmla="*/ 0 w 385357"/>
                <a:gd name="connsiteY7" fmla="*/ 90159 h 45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5357" h="450795">
                  <a:moveTo>
                    <a:pt x="385357" y="360636"/>
                  </a:moveTo>
                  <a:lnTo>
                    <a:pt x="192678" y="360636"/>
                  </a:lnTo>
                  <a:lnTo>
                    <a:pt x="192678" y="450795"/>
                  </a:lnTo>
                  <a:lnTo>
                    <a:pt x="0" y="225397"/>
                  </a:lnTo>
                  <a:lnTo>
                    <a:pt x="192678" y="0"/>
                  </a:lnTo>
                  <a:lnTo>
                    <a:pt x="192678" y="90159"/>
                  </a:lnTo>
                  <a:lnTo>
                    <a:pt x="385357" y="90159"/>
                  </a:lnTo>
                  <a:lnTo>
                    <a:pt x="385357" y="360636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5607" tIns="90160" rIns="0" bIns="90158" numCol="1" spcCol="1270" rtlCol="1" anchor="ctr" anchorCtr="0">
              <a:noAutofit/>
            </a:bodyPr>
            <a:lstStyle/>
            <a:p>
              <a:pPr marL="0" lvl="0" indent="0" algn="ctr" defTabSz="4889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1100" kern="12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86081B8-7E95-A731-5D37-7C7A6A1BD67E}"/>
                </a:ext>
              </a:extLst>
            </p:cNvPr>
            <p:cNvSpPr/>
            <p:nvPr/>
          </p:nvSpPr>
          <p:spPr>
            <a:xfrm>
              <a:off x="3442740" y="3679781"/>
              <a:ext cx="1817721" cy="1090633"/>
            </a:xfrm>
            <a:custGeom>
              <a:avLst/>
              <a:gdLst>
                <a:gd name="connsiteX0" fmla="*/ 0 w 1817721"/>
                <a:gd name="connsiteY0" fmla="*/ 109063 h 1090633"/>
                <a:gd name="connsiteX1" fmla="*/ 109063 w 1817721"/>
                <a:gd name="connsiteY1" fmla="*/ 0 h 1090633"/>
                <a:gd name="connsiteX2" fmla="*/ 1708658 w 1817721"/>
                <a:gd name="connsiteY2" fmla="*/ 0 h 1090633"/>
                <a:gd name="connsiteX3" fmla="*/ 1817721 w 1817721"/>
                <a:gd name="connsiteY3" fmla="*/ 109063 h 1090633"/>
                <a:gd name="connsiteX4" fmla="*/ 1817721 w 1817721"/>
                <a:gd name="connsiteY4" fmla="*/ 981570 h 1090633"/>
                <a:gd name="connsiteX5" fmla="*/ 1708658 w 1817721"/>
                <a:gd name="connsiteY5" fmla="*/ 1090633 h 1090633"/>
                <a:gd name="connsiteX6" fmla="*/ 109063 w 1817721"/>
                <a:gd name="connsiteY6" fmla="*/ 1090633 h 1090633"/>
                <a:gd name="connsiteX7" fmla="*/ 0 w 1817721"/>
                <a:gd name="connsiteY7" fmla="*/ 981570 h 1090633"/>
                <a:gd name="connsiteX8" fmla="*/ 0 w 1817721"/>
                <a:gd name="connsiteY8" fmla="*/ 109063 h 1090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17721" h="1090633">
                  <a:moveTo>
                    <a:pt x="0" y="109063"/>
                  </a:moveTo>
                  <a:cubicBezTo>
                    <a:pt x="0" y="48829"/>
                    <a:pt x="48829" y="0"/>
                    <a:pt x="109063" y="0"/>
                  </a:cubicBezTo>
                  <a:lnTo>
                    <a:pt x="1708658" y="0"/>
                  </a:lnTo>
                  <a:cubicBezTo>
                    <a:pt x="1768892" y="0"/>
                    <a:pt x="1817721" y="48829"/>
                    <a:pt x="1817721" y="109063"/>
                  </a:cubicBezTo>
                  <a:lnTo>
                    <a:pt x="1817721" y="981570"/>
                  </a:lnTo>
                  <a:cubicBezTo>
                    <a:pt x="1817721" y="1041804"/>
                    <a:pt x="1768892" y="1090633"/>
                    <a:pt x="1708658" y="1090633"/>
                  </a:cubicBezTo>
                  <a:lnTo>
                    <a:pt x="109063" y="1090633"/>
                  </a:lnTo>
                  <a:cubicBezTo>
                    <a:pt x="48829" y="1090633"/>
                    <a:pt x="0" y="1041804"/>
                    <a:pt x="0" y="981570"/>
                  </a:cubicBezTo>
                  <a:lnTo>
                    <a:pt x="0" y="109063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1474" tIns="81474" rIns="81474" bIns="81474" numCol="1" spcCol="1270" rtlCol="1" anchor="ctr" anchorCtr="0">
              <a:noAutofit/>
            </a:bodyPr>
            <a:lstStyle/>
            <a:p>
              <a:pPr marL="0" lvl="0" indent="0" defTabSz="5778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300" kern="1200">
                  <a:solidFill>
                    <a:srgbClr val="FF0000"/>
                  </a:solidFill>
                  <a:latin typeface="Arial"/>
                  <a:cs typeface="Arial"/>
                </a:rPr>
                <a:t>مهمة إضافية: يختار المتعلم أحد هذه الاختبارات ويوضح كيفية تنفيذه من حيث: المعدات المطلوبة وخطوات الإجراء واعتبارات السلامة.</a:t>
              </a:r>
              <a:endParaRPr lang="en-US" sz="1300" kern="1200" dirty="0">
                <a:solidFill>
                  <a:srgbClr val="FF0000"/>
                </a:solidFill>
                <a:latin typeface="Arial"/>
                <a:cs typeface="Arial"/>
              </a:endParaRPr>
            </a:p>
          </p:txBody>
        </p:sp>
      </p:grpSp>
      <p:pic>
        <p:nvPicPr>
          <p:cNvPr id="106" name="Picture 105" descr="A red stamp with text&#10;&#10;AI-generated content may be incorrect.">
            <a:extLst>
              <a:ext uri="{FF2B5EF4-FFF2-40B4-BE49-F238E27FC236}">
                <a16:creationId xmlns:a16="http://schemas.microsoft.com/office/drawing/2014/main" id="{3F3D6D97-5662-662C-30D4-009757FB16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2368" y="3429000"/>
            <a:ext cx="3188456" cy="22540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8F0125-6A16-BA11-7FFD-73FE10ACBCB7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A103000424346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578055430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0BB60-2749-4F10-5EE2-5A5D58384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5271" y="221532"/>
            <a:ext cx="3462829" cy="925106"/>
          </a:xfrm>
        </p:spPr>
        <p:txBody>
          <a:bodyPr rtlCol="1"/>
          <a:lstStyle/>
          <a:p>
            <a:pPr rtl="1"/>
            <a:r>
              <a:rPr lang="ar" sz="2400" dirty="0"/>
              <a:t>أ4 – تصنيف الرياضات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BB204-7C2C-8F25-DCA2-F1C9FF741D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48671" y="1406177"/>
            <a:ext cx="5110909" cy="4615111"/>
          </a:xfrm>
          <a:ln>
            <a:solidFill>
              <a:srgbClr val="4472C4"/>
            </a:solidFill>
          </a:ln>
        </p:spPr>
        <p:txBody>
          <a:bodyPr rtlCol="1"/>
          <a:lstStyle/>
          <a:p>
            <a:pPr marL="0" indent="0" rtl="1">
              <a:buNone/>
            </a:pPr>
            <a:r>
              <a:rPr lang="ar" sz="2000" b="1" dirty="0"/>
              <a:t>يمكن تصنيف الرياضات بعدّة طرق، من بينها:</a:t>
            </a:r>
            <a:endParaRPr lang="en-US" dirty="0"/>
          </a:p>
          <a:p>
            <a:pPr rtl="1"/>
            <a:endParaRPr lang="en-GB" sz="2000" b="1" dirty="0"/>
          </a:p>
          <a:p>
            <a:pPr marL="0" indent="0" rtl="1">
              <a:buNone/>
            </a:pPr>
            <a:r>
              <a:rPr lang="ar" sz="2000" b="1" dirty="0"/>
              <a:t>رياضات فردية مقابل جماعية</a:t>
            </a:r>
            <a:r>
              <a:rPr lang="ar" sz="2000" dirty="0"/>
              <a:t> (مثل: التنس مقابل كرة القدم)</a:t>
            </a:r>
          </a:p>
          <a:p>
            <a:pPr marL="0" indent="0" rtl="1">
              <a:buNone/>
            </a:pPr>
            <a:endParaRPr lang="en-GB" sz="2000" dirty="0"/>
          </a:p>
          <a:p>
            <a:pPr marL="0" indent="0" rtl="1">
              <a:buNone/>
            </a:pPr>
            <a:r>
              <a:rPr lang="ar" sz="2000" b="1" dirty="0"/>
              <a:t>رياضات هوائية مقابل لا هوائية</a:t>
            </a:r>
            <a:br>
              <a:rPr lang="en-GB" sz="2000" b="1" dirty="0"/>
            </a:br>
            <a:r>
              <a:rPr lang="ar" sz="2000" dirty="0"/>
              <a:t>(مثل: الجري لمسافات طويلة مقابل العدو السريع)</a:t>
            </a:r>
          </a:p>
          <a:p>
            <a:pPr marL="0" indent="0" rtl="1">
              <a:buNone/>
            </a:pPr>
            <a:endParaRPr lang="en-GB" sz="2000" dirty="0"/>
          </a:p>
          <a:p>
            <a:pPr marL="0" indent="0" rtl="1">
              <a:buNone/>
            </a:pPr>
            <a:r>
              <a:rPr lang="ar" sz="2000" b="1" dirty="0"/>
              <a:t>رياضات تعتمد على القوة الانفجارية مقابل رياضات تعتمد على التحمّل</a:t>
            </a:r>
            <a:br>
              <a:rPr lang="en-GB" sz="2000" b="1" dirty="0"/>
            </a:br>
            <a:r>
              <a:rPr lang="ar" sz="2000" dirty="0"/>
              <a:t>(مثل: دفع الكرة الحديدية (الجلة) مقابل التجديف)</a:t>
            </a:r>
          </a:p>
          <a:p>
            <a:pPr marL="0" indent="0" rtl="1">
              <a:buNone/>
            </a:pPr>
            <a:endParaRPr lang="en-GB" sz="2000" dirty="0"/>
          </a:p>
          <a:p>
            <a:pPr marL="0" indent="0" rtl="1">
              <a:buNone/>
            </a:pPr>
            <a:r>
              <a:rPr lang="ar" sz="2000" dirty="0"/>
              <a:t>فكّر في هذا التصنيف على أنه طريقة لتنظيم الرياضات بناءً على نوع اللياقة البدنية الذي تُركّز عليه بدرجة أكبر.</a:t>
            </a:r>
          </a:p>
          <a:p>
            <a:pPr marL="0" indent="0" rtl="1">
              <a:buNone/>
            </a:pPr>
            <a:endParaRPr lang="en-GB" sz="2000" dirty="0"/>
          </a:p>
          <a:p>
            <a:pPr marL="0" indent="0" rtl="1">
              <a:buNone/>
            </a:pPr>
            <a:endParaRPr lang="en-GB" sz="2000" dirty="0"/>
          </a:p>
          <a:p>
            <a:pPr rtl="1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F61B63-4D7C-FF1A-CF5A-D3E07279DA8F}"/>
              </a:ext>
            </a:extLst>
          </p:cNvPr>
          <p:cNvSpPr txBox="1"/>
          <p:nvPr/>
        </p:nvSpPr>
        <p:spPr>
          <a:xfrm>
            <a:off x="340338" y="1406454"/>
            <a:ext cx="3050733" cy="3785652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/>
            <a:r>
              <a:rPr lang="ar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rtl="1"/>
            <a:r>
              <a:rPr lang="a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أمثلة:</a:t>
            </a:r>
          </a:p>
          <a:p>
            <a:pPr rtl="1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" sz="2000">
                <a:latin typeface="Times New Roman" panose="02020603050405020304" pitchFamily="18" charset="0"/>
                <a:cs typeface="Times New Roman" panose="02020603050405020304" pitchFamily="18" charset="0"/>
              </a:rPr>
              <a:t>العدو في الماراثون – رياضة هواية، فردية، تعتمد على التحمّل</a:t>
            </a:r>
          </a:p>
          <a:p>
            <a:pPr rtl="1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" sz="2000">
                <a:latin typeface="Times New Roman" panose="02020603050405020304" pitchFamily="18" charset="0"/>
                <a:cs typeface="Times New Roman" panose="02020603050405020304" pitchFamily="18" charset="0"/>
              </a:rPr>
              <a:t>الرغبي – رياضة لا هوائية متقطعة، تعتمد على القوة الانفجارية، وتُمارَس ضمن فريق</a:t>
            </a:r>
          </a:p>
          <a:p>
            <a:pPr rtl="1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" sz="2000">
                <a:latin typeface="Times New Roman" panose="02020603050405020304" pitchFamily="18" charset="0"/>
                <a:cs typeface="Times New Roman" panose="02020603050405020304" pitchFamily="18" charset="0"/>
              </a:rPr>
              <a:t>الجمباز – رياضة فردية، تعتمد على التوازن والمرونة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204058-83CE-2276-E33D-846275A58504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A103000424346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107085392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1F185-0CC2-D7D7-08DD-4328278E9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3769" y="332656"/>
            <a:ext cx="6649612" cy="925106"/>
          </a:xfrm>
        </p:spPr>
        <p:txBody>
          <a:bodyPr rtlCol="1"/>
          <a:lstStyle/>
          <a:p>
            <a:pPr algn="r" rtl="1"/>
            <a:r>
              <a:rPr lang="ar" sz="2000" dirty="0"/>
              <a:t>أ4 - المهمة: يختار المتعلم أربع رياضات مختلفة، ويصنّفها وفق المعايير ال</a:t>
            </a:r>
            <a:r>
              <a:rPr lang="ar-EG" sz="2000" dirty="0"/>
              <a:t>آ</a:t>
            </a:r>
            <a:r>
              <a:rPr lang="ar" sz="2000" dirty="0"/>
              <a:t>تية:</a:t>
            </a:r>
            <a:endParaRPr lang="en-US" sz="20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E13D0E5-5744-7D9D-3A7F-F8970225C1B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62621687"/>
              </p:ext>
            </p:extLst>
          </p:nvPr>
        </p:nvGraphicFramePr>
        <p:xfrm>
          <a:off x="581077" y="1713710"/>
          <a:ext cx="7991472" cy="2194560"/>
        </p:xfrm>
        <a:graphic>
          <a:graphicData uri="http://schemas.openxmlformats.org/drawingml/2006/table">
            <a:tbl>
              <a:tblPr rtl="1" bandRow="1">
                <a:tableStyleId>{5940675A-B579-460E-94D1-54222C63F5DA}</a:tableStyleId>
              </a:tblPr>
              <a:tblGrid>
                <a:gridCol w="1997868">
                  <a:extLst>
                    <a:ext uri="{9D8B030D-6E8A-4147-A177-3AD203B41FA5}">
                      <a16:colId xmlns:a16="http://schemas.microsoft.com/office/drawing/2014/main" val="1937731820"/>
                    </a:ext>
                  </a:extLst>
                </a:gridCol>
                <a:gridCol w="1997868">
                  <a:extLst>
                    <a:ext uri="{9D8B030D-6E8A-4147-A177-3AD203B41FA5}">
                      <a16:colId xmlns:a16="http://schemas.microsoft.com/office/drawing/2014/main" val="3943147085"/>
                    </a:ext>
                  </a:extLst>
                </a:gridCol>
                <a:gridCol w="1997868">
                  <a:extLst>
                    <a:ext uri="{9D8B030D-6E8A-4147-A177-3AD203B41FA5}">
                      <a16:colId xmlns:a16="http://schemas.microsoft.com/office/drawing/2014/main" val="2926589233"/>
                    </a:ext>
                  </a:extLst>
                </a:gridCol>
                <a:gridCol w="1997868">
                  <a:extLst>
                    <a:ext uri="{9D8B030D-6E8A-4147-A177-3AD203B41FA5}">
                      <a16:colId xmlns:a16="http://schemas.microsoft.com/office/drawing/2014/main" val="9546772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ar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الرياضة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ar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فردية أم جماعية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ar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هوائية أم لا هوائية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ar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المكونات الرئيسة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1089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ar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مثال:</a:t>
                      </a:r>
                      <a:r>
                        <a:rPr lang="a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التجديف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a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الفريق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a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هوائية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a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التحمّل العضلي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0832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0071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648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990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rtl="1">
                        <a:buNone/>
                      </a:pP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631489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5E3C90B-DD30-3274-D7F1-6A90A632A3FE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A103000424346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885612540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6BC5E-D058-2AD4-376C-B848FDDBD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5126" y="1120609"/>
            <a:ext cx="4816094" cy="3748551"/>
          </a:xfrm>
        </p:spPr>
        <p:txBody>
          <a:bodyPr rtlCol="1"/>
          <a:lstStyle/>
          <a:p>
            <a:pPr marL="0" indent="0" rtl="1">
              <a:buNone/>
            </a:pPr>
            <a:r>
              <a:rPr lang="ar" sz="2100" dirty="0"/>
              <a:t>أ3 – يختار المتعلم أحد اختبارات اللياقة البدنية ويبحث حوله من خلال العناصر ال</a:t>
            </a:r>
            <a:r>
              <a:rPr lang="ar-EG" sz="2100" dirty="0"/>
              <a:t>آ</a:t>
            </a:r>
            <a:r>
              <a:rPr lang="ar" sz="2100" dirty="0"/>
              <a:t>تية:</a:t>
            </a:r>
            <a:endParaRPr lang="en-US" sz="2100" dirty="0"/>
          </a:p>
          <a:p>
            <a:pPr marL="0" indent="0" rtl="1">
              <a:buNone/>
            </a:pPr>
            <a:endParaRPr lang="en-GB" sz="2100" dirty="0"/>
          </a:p>
          <a:p>
            <a:pPr marL="914400" lvl="1" indent="-457200" rtl="1">
              <a:buAutoNum type="arabicPeriod"/>
            </a:pPr>
            <a:r>
              <a:rPr lang="a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بروتوكول الاختبار (الإجراءات المتّبعة خطوة بخطوة)</a:t>
            </a:r>
          </a:p>
          <a:p>
            <a:pPr marL="914400" lvl="1" indent="-457200" rtl="1">
              <a:buAutoNum type="arabicPeriod"/>
            </a:pPr>
            <a:r>
              <a:rPr lang="a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المعدات اللازمة</a:t>
            </a:r>
          </a:p>
          <a:p>
            <a:pPr marL="914400" lvl="1" indent="-457200" rtl="1">
              <a:buAutoNum type="arabicPeriod"/>
            </a:pPr>
            <a:r>
              <a:rPr lang="a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اعتبارات السلامة</a:t>
            </a:r>
            <a:endParaRPr lang="en-GB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rtl="1">
              <a:buAutoNum type="arabicPeriod"/>
            </a:pPr>
            <a:r>
              <a:rPr lang="a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الوحدات المستخدمة (مثل: الوقت والمسافة والنتيجة)</a:t>
            </a:r>
          </a:p>
          <a:p>
            <a:pPr marL="914400" lvl="1" indent="-457200" rtl="1">
              <a:buAutoNum type="arabicPeriod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person touching a wall&#10;&#10;AI-generated content may be incorrect.">
            <a:extLst>
              <a:ext uri="{FF2B5EF4-FFF2-40B4-BE49-F238E27FC236}">
                <a16:creationId xmlns:a16="http://schemas.microsoft.com/office/drawing/2014/main" id="{E0527787-D5EA-40E8-36A6-CF1C1F963D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1714" y="1962111"/>
            <a:ext cx="3636206" cy="24242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6EA09C-4F15-057C-0F9B-3F8B2D081DD5}"/>
              </a:ext>
            </a:extLst>
          </p:cNvPr>
          <p:cNvSpPr txBox="1"/>
          <p:nvPr/>
        </p:nvSpPr>
        <p:spPr>
          <a:xfrm>
            <a:off x="219173" y="5168245"/>
            <a:ext cx="869387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/>
            <a:r>
              <a:rPr lang="ar" sz="2400">
                <a:latin typeface="Times New Roman" panose="02020603050405020304" pitchFamily="18" charset="0"/>
                <a:cs typeface="Times New Roman" panose="02020603050405020304" pitchFamily="18" charset="0"/>
              </a:rPr>
              <a:t>اختياري شاهد مقطع فيديو يوضّح كيفية أداء الاختبار عمليًا لتتعرف على التطبيق الواقعي للبروتوكول.​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462518-1CB8-6A61-7A4C-3C22609DD95E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A103000424346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866471372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6AEE1-0654-2F6A-9E73-07C11FAA3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350F45-E180-69CF-CBE1-30983DD06E31}"/>
              </a:ext>
            </a:extLst>
          </p:cNvPr>
          <p:cNvSpPr txBox="1"/>
          <p:nvPr/>
        </p:nvSpPr>
        <p:spPr>
          <a:xfrm>
            <a:off x="5770375" y="3519872"/>
            <a:ext cx="2743200" cy="10669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>
              <a:lnSpc>
                <a:spcPts val="1875"/>
              </a:lnSpc>
            </a:pPr>
            <a:r>
              <a:rPr lang="ar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rtl="1">
              <a:lnSpc>
                <a:spcPts val="1875"/>
              </a:lnSpc>
            </a:pPr>
            <a:r>
              <a:rPr lang="ar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rtl="1">
              <a:lnSpc>
                <a:spcPts val="1875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>
              <a:lnSpc>
                <a:spcPts val="1875"/>
              </a:lnSpc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9E64802-FEB8-5353-3F8F-101F0E2EFBD4}"/>
              </a:ext>
            </a:extLst>
          </p:cNvPr>
          <p:cNvGrpSpPr/>
          <p:nvPr/>
        </p:nvGrpSpPr>
        <p:grpSpPr>
          <a:xfrm flipH="1">
            <a:off x="457201" y="1433556"/>
            <a:ext cx="5111751" cy="4783405"/>
            <a:chOff x="457201" y="1433556"/>
            <a:chExt cx="5111751" cy="4783405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4AEF31AA-118C-5026-6FB6-D5F46951EA7C}"/>
                </a:ext>
              </a:extLst>
            </p:cNvPr>
            <p:cNvSpPr/>
            <p:nvPr/>
          </p:nvSpPr>
          <p:spPr>
            <a:xfrm>
              <a:off x="457201" y="1433556"/>
              <a:ext cx="5111751" cy="1006615"/>
            </a:xfrm>
            <a:prstGeom prst="roundRect">
              <a:avLst>
                <a:gd name="adj" fmla="val 10000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" name="Rectangle 4" descr="Tick">
              <a:extLst>
                <a:ext uri="{FF2B5EF4-FFF2-40B4-BE49-F238E27FC236}">
                  <a16:creationId xmlns:a16="http://schemas.microsoft.com/office/drawing/2014/main" id="{C877FA81-6FF2-FE15-A854-805765B2FF27}"/>
                </a:ext>
              </a:extLst>
            </p:cNvPr>
            <p:cNvSpPr/>
            <p:nvPr/>
          </p:nvSpPr>
          <p:spPr>
            <a:xfrm flipH="1">
              <a:off x="761702" y="1660044"/>
              <a:ext cx="553638" cy="553638"/>
            </a:xfrm>
            <a:prstGeom prst="rect">
              <a:avLst/>
            </a:prstGeom>
            <a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75763BC-1F70-C913-8EB4-27A931F373DE}"/>
                </a:ext>
              </a:extLst>
            </p:cNvPr>
            <p:cNvSpPr/>
            <p:nvPr/>
          </p:nvSpPr>
          <p:spPr>
            <a:xfrm>
              <a:off x="1619841" y="1433556"/>
              <a:ext cx="3949110" cy="1006615"/>
            </a:xfrm>
            <a:custGeom>
              <a:avLst/>
              <a:gdLst>
                <a:gd name="connsiteX0" fmla="*/ 0 w 3949110"/>
                <a:gd name="connsiteY0" fmla="*/ 0 h 1006615"/>
                <a:gd name="connsiteX1" fmla="*/ 3949110 w 3949110"/>
                <a:gd name="connsiteY1" fmla="*/ 0 h 1006615"/>
                <a:gd name="connsiteX2" fmla="*/ 3949110 w 3949110"/>
                <a:gd name="connsiteY2" fmla="*/ 1006615 h 1006615"/>
                <a:gd name="connsiteX3" fmla="*/ 0 w 3949110"/>
                <a:gd name="connsiteY3" fmla="*/ 1006615 h 1006615"/>
                <a:gd name="connsiteX4" fmla="*/ 0 w 3949110"/>
                <a:gd name="connsiteY4" fmla="*/ 0 h 1006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49110" h="1006615">
                  <a:moveTo>
                    <a:pt x="0" y="0"/>
                  </a:moveTo>
                  <a:lnTo>
                    <a:pt x="3949110" y="0"/>
                  </a:lnTo>
                  <a:lnTo>
                    <a:pt x="3949110" y="1006615"/>
                  </a:lnTo>
                  <a:lnTo>
                    <a:pt x="0" y="100661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533" tIns="106533" rIns="106533" bIns="106533" numCol="1" spcCol="1270" rtlCol="1" anchor="ctr" anchorCtr="0">
              <a:noAutofit/>
            </a:bodyPr>
            <a:lstStyle/>
            <a:p>
              <a:pPr marL="0" lvl="0" indent="0" algn="r" defTabSz="9779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200" b="1" kern="1200"/>
                <a:t>مجالات المحتوى الرئيسة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AADA4D7-019A-6F41-C8F0-E3EF08EFB9B5}"/>
                </a:ext>
              </a:extLst>
            </p:cNvPr>
            <p:cNvSpPr/>
            <p:nvPr/>
          </p:nvSpPr>
          <p:spPr>
            <a:xfrm>
              <a:off x="457201" y="2691825"/>
              <a:ext cx="5111751" cy="1006615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8" descr="Tennis">
              <a:extLst>
                <a:ext uri="{FF2B5EF4-FFF2-40B4-BE49-F238E27FC236}">
                  <a16:creationId xmlns:a16="http://schemas.microsoft.com/office/drawing/2014/main" id="{6897D079-0563-0B29-8ACC-F50E6D1BCA70}"/>
                </a:ext>
              </a:extLst>
            </p:cNvPr>
            <p:cNvSpPr/>
            <p:nvPr/>
          </p:nvSpPr>
          <p:spPr>
            <a:xfrm flipH="1">
              <a:off x="761702" y="2918313"/>
              <a:ext cx="553638" cy="553638"/>
            </a:xfrm>
            <a:prstGeom prst="rect">
              <a:avLst/>
            </a:prstGeom>
            <a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E1E4925-CA0E-8A15-32F9-083817AEEA53}"/>
                </a:ext>
              </a:extLst>
            </p:cNvPr>
            <p:cNvSpPr/>
            <p:nvPr/>
          </p:nvSpPr>
          <p:spPr>
            <a:xfrm>
              <a:off x="1619841" y="2691825"/>
              <a:ext cx="3949110" cy="1006615"/>
            </a:xfrm>
            <a:custGeom>
              <a:avLst/>
              <a:gdLst>
                <a:gd name="connsiteX0" fmla="*/ 0 w 3949110"/>
                <a:gd name="connsiteY0" fmla="*/ 0 h 1006615"/>
                <a:gd name="connsiteX1" fmla="*/ 3949110 w 3949110"/>
                <a:gd name="connsiteY1" fmla="*/ 0 h 1006615"/>
                <a:gd name="connsiteX2" fmla="*/ 3949110 w 3949110"/>
                <a:gd name="connsiteY2" fmla="*/ 1006615 h 1006615"/>
                <a:gd name="connsiteX3" fmla="*/ 0 w 3949110"/>
                <a:gd name="connsiteY3" fmla="*/ 1006615 h 1006615"/>
                <a:gd name="connsiteX4" fmla="*/ 0 w 3949110"/>
                <a:gd name="connsiteY4" fmla="*/ 0 h 1006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49110" h="1006615">
                  <a:moveTo>
                    <a:pt x="0" y="0"/>
                  </a:moveTo>
                  <a:lnTo>
                    <a:pt x="3949110" y="0"/>
                  </a:lnTo>
                  <a:lnTo>
                    <a:pt x="3949110" y="1006615"/>
                  </a:lnTo>
                  <a:lnTo>
                    <a:pt x="0" y="1006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533" tIns="106533" rIns="106533" bIns="106533" numCol="1" spcCol="1270" rtlCol="1" anchor="ctr" anchorCtr="0">
              <a:noAutofit/>
            </a:bodyPr>
            <a:lstStyle/>
            <a:p>
              <a:pPr marL="0" lvl="0" indent="0" algn="r" defTabSz="8890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000" b="1" kern="1200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Arial"/>
                  <a:cs typeface="Arial"/>
                </a:rPr>
                <a:t>ب1 </a:t>
              </a:r>
              <a:r>
                <a:rPr lang="ar" sz="2000" kern="1200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Arial"/>
                  <a:cs typeface="Arial"/>
                </a:rPr>
                <a:t> استكشاف اختبارات محددة للياقة العميل البدنية</a:t>
              </a:r>
              <a:endParaRPr lang="en-US" sz="20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  <a:ea typeface="+mn-ea"/>
                <a:cs typeface="Arial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BC0986A5-7EBF-8F7E-8C34-CC065641F531}"/>
                </a:ext>
              </a:extLst>
            </p:cNvPr>
            <p:cNvSpPr/>
            <p:nvPr/>
          </p:nvSpPr>
          <p:spPr>
            <a:xfrm>
              <a:off x="457201" y="3950094"/>
              <a:ext cx="5111751" cy="1006615"/>
            </a:xfrm>
            <a:prstGeom prst="roundRect">
              <a:avLst>
                <a:gd name="adj" fmla="val 10000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Rectangle 11" descr="Bullseye with solid fill">
              <a:extLst>
                <a:ext uri="{FF2B5EF4-FFF2-40B4-BE49-F238E27FC236}">
                  <a16:creationId xmlns:a16="http://schemas.microsoft.com/office/drawing/2014/main" id="{FFFACFDA-41DC-3652-DA67-8EFDFE2D52A3}"/>
                </a:ext>
              </a:extLst>
            </p:cNvPr>
            <p:cNvSpPr/>
            <p:nvPr/>
          </p:nvSpPr>
          <p:spPr>
            <a:xfrm flipH="1">
              <a:off x="761702" y="4176582"/>
              <a:ext cx="553638" cy="553638"/>
            </a:xfrm>
            <a:prstGeom prst="rect">
              <a:avLst/>
            </a:pr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98C3261-0D01-74D1-4CAA-349AFD282766}"/>
                </a:ext>
              </a:extLst>
            </p:cNvPr>
            <p:cNvSpPr/>
            <p:nvPr/>
          </p:nvSpPr>
          <p:spPr>
            <a:xfrm>
              <a:off x="1619841" y="3950094"/>
              <a:ext cx="3949110" cy="1006615"/>
            </a:xfrm>
            <a:custGeom>
              <a:avLst/>
              <a:gdLst>
                <a:gd name="connsiteX0" fmla="*/ 0 w 3949110"/>
                <a:gd name="connsiteY0" fmla="*/ 0 h 1006615"/>
                <a:gd name="connsiteX1" fmla="*/ 3949110 w 3949110"/>
                <a:gd name="connsiteY1" fmla="*/ 0 h 1006615"/>
                <a:gd name="connsiteX2" fmla="*/ 3949110 w 3949110"/>
                <a:gd name="connsiteY2" fmla="*/ 1006615 h 1006615"/>
                <a:gd name="connsiteX3" fmla="*/ 0 w 3949110"/>
                <a:gd name="connsiteY3" fmla="*/ 1006615 h 1006615"/>
                <a:gd name="connsiteX4" fmla="*/ 0 w 3949110"/>
                <a:gd name="connsiteY4" fmla="*/ 0 h 1006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49110" h="1006615">
                  <a:moveTo>
                    <a:pt x="0" y="0"/>
                  </a:moveTo>
                  <a:lnTo>
                    <a:pt x="3949110" y="0"/>
                  </a:lnTo>
                  <a:lnTo>
                    <a:pt x="3949110" y="1006615"/>
                  </a:lnTo>
                  <a:lnTo>
                    <a:pt x="0" y="100661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533" tIns="106533" rIns="106533" bIns="106533" numCol="1" spcCol="1270" rtlCol="1" anchor="ctr" anchorCtr="0">
              <a:noAutofit/>
            </a:bodyPr>
            <a:lstStyle/>
            <a:p>
              <a:pPr marL="0" lvl="0" indent="0" algn="r" defTabSz="8890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000" b="1" kern="1200" dirty="0">
                  <a:latin typeface="Arial"/>
                  <a:cs typeface="Arial"/>
                </a:rPr>
                <a:t> ب2</a:t>
              </a:r>
              <a:r>
                <a:rPr lang="en" sz="2000" b="1" kern="1200" dirty="0">
                  <a:latin typeface="Arial"/>
                  <a:cs typeface="Arial"/>
                </a:rPr>
                <a:t> </a:t>
              </a:r>
              <a:r>
                <a:rPr lang="en" sz="2000" kern="1200" dirty="0">
                  <a:latin typeface="Arial"/>
                  <a:cs typeface="Arial"/>
                </a:rPr>
                <a:t>التخطيط لاختبارات اللياقة البدنية </a:t>
              </a:r>
              <a:endParaRPr lang="en-US" sz="2000" b="0" kern="1200" dirty="0">
                <a:latin typeface="Arial"/>
                <a:cs typeface="Arial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AD03D99-38FF-0CA3-856A-4C0B07BC722F}"/>
                </a:ext>
              </a:extLst>
            </p:cNvPr>
            <p:cNvSpPr/>
            <p:nvPr/>
          </p:nvSpPr>
          <p:spPr>
            <a:xfrm>
              <a:off x="457201" y="5208363"/>
              <a:ext cx="5111751" cy="1006615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14" descr="Bar chart">
              <a:extLst>
                <a:ext uri="{FF2B5EF4-FFF2-40B4-BE49-F238E27FC236}">
                  <a16:creationId xmlns:a16="http://schemas.microsoft.com/office/drawing/2014/main" id="{213F0CDC-B470-D0A1-6F12-3510677195D7}"/>
                </a:ext>
              </a:extLst>
            </p:cNvPr>
            <p:cNvSpPr/>
            <p:nvPr/>
          </p:nvSpPr>
          <p:spPr>
            <a:xfrm flipH="1">
              <a:off x="761702" y="5434852"/>
              <a:ext cx="553638" cy="553638"/>
            </a:xfrm>
            <a:prstGeom prst="rect">
              <a:avLst/>
            </a:prstGeom>
            <a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DD6C369-0036-8C67-3ED0-68C6A343E6B0}"/>
                </a:ext>
              </a:extLst>
            </p:cNvPr>
            <p:cNvSpPr/>
            <p:nvPr/>
          </p:nvSpPr>
          <p:spPr>
            <a:xfrm>
              <a:off x="1605703" y="5210346"/>
              <a:ext cx="3949110" cy="1006615"/>
            </a:xfrm>
            <a:custGeom>
              <a:avLst/>
              <a:gdLst>
                <a:gd name="connsiteX0" fmla="*/ 0 w 3949110"/>
                <a:gd name="connsiteY0" fmla="*/ 0 h 1006615"/>
                <a:gd name="connsiteX1" fmla="*/ 3949110 w 3949110"/>
                <a:gd name="connsiteY1" fmla="*/ 0 h 1006615"/>
                <a:gd name="connsiteX2" fmla="*/ 3949110 w 3949110"/>
                <a:gd name="connsiteY2" fmla="*/ 1006615 h 1006615"/>
                <a:gd name="connsiteX3" fmla="*/ 0 w 3949110"/>
                <a:gd name="connsiteY3" fmla="*/ 1006615 h 1006615"/>
                <a:gd name="connsiteX4" fmla="*/ 0 w 3949110"/>
                <a:gd name="connsiteY4" fmla="*/ 0 h 1006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49110" h="1006615">
                  <a:moveTo>
                    <a:pt x="0" y="0"/>
                  </a:moveTo>
                  <a:lnTo>
                    <a:pt x="3949110" y="0"/>
                  </a:lnTo>
                  <a:lnTo>
                    <a:pt x="3949110" y="1006615"/>
                  </a:lnTo>
                  <a:lnTo>
                    <a:pt x="0" y="100661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533" tIns="106533" rIns="106533" bIns="106533" numCol="1" spcCol="1270" rtlCol="1" anchor="ctr" anchorCtr="0">
              <a:noAutofit/>
            </a:bodyPr>
            <a:lstStyle/>
            <a:p>
              <a:pPr marL="0" lvl="0" indent="0" algn="r" defTabSz="8890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000" b="1" kern="1200">
                  <a:latin typeface="Arial"/>
                  <a:ea typeface="+mn-ea"/>
                  <a:cs typeface="Arial"/>
                </a:rPr>
                <a:t> ب3</a:t>
              </a:r>
              <a:r>
                <a:rPr lang="ar" sz="2000" b="0" kern="1200">
                  <a:latin typeface="Arial"/>
                  <a:ea typeface="+mn-ea"/>
                  <a:cs typeface="Arial"/>
                </a:rPr>
                <a:t> إجراء اختبارات اللياقة البدنية </a:t>
              </a:r>
              <a:endParaRPr lang="en-GB" sz="2000" b="1" kern="1200" dirty="0">
                <a:latin typeface="Arial"/>
                <a:ea typeface="+mn-ea"/>
                <a:cs typeface="Arial"/>
              </a:endParaRPr>
            </a:p>
          </p:txBody>
        </p:sp>
      </p:grp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14CC93DA-741B-5D45-DC28-E8F922808C8C}"/>
              </a:ext>
            </a:extLst>
          </p:cNvPr>
          <p:cNvSpPr/>
          <p:nvPr/>
        </p:nvSpPr>
        <p:spPr>
          <a:xfrm>
            <a:off x="5760720" y="1432560"/>
            <a:ext cx="2737104" cy="47670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1" anchor="ctr"/>
          <a:lstStyle/>
          <a:p>
            <a:pPr algn="ctr" rtl="1">
              <a:lnSpc>
                <a:spcPct val="130000"/>
              </a:lnSpc>
            </a:pPr>
            <a:r>
              <a:rPr lang="ar" sz="1400" b="1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نتاج التعلم ب</a:t>
            </a:r>
            <a:r>
              <a:rPr lang="ar" sz="140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</a:t>
            </a:r>
            <a:r>
              <a:rPr lang="ar" sz="1400">
                <a:solidFill>
                  <a:schemeClr val="tx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 - دعم تنفيذ</a:t>
            </a:r>
            <a:r>
              <a:rPr lang="ar" sz="140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اختبارات اللياقة البدنية لمختلف مكونات اللياقة البدنية</a:t>
            </a:r>
            <a:endParaRPr lang="en-GB" sz="1400" dirty="0">
              <a:solidFill>
                <a:schemeClr val="tx1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</a:endParaRPr>
          </a:p>
          <a:p>
            <a:pPr algn="ctr" rtl="1">
              <a:lnSpc>
                <a:spcPct val="130000"/>
              </a:lnSpc>
            </a:pPr>
            <a:endParaRPr lang="en-GB" sz="1400" dirty="0">
              <a:solidFill>
                <a:schemeClr val="tx1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</a:endParaRPr>
          </a:p>
          <a:p>
            <a:pPr marL="285750" indent="-285750" algn="ctr" rtl="1">
              <a:lnSpc>
                <a:spcPct val="130000"/>
              </a:lnSpc>
              <a:buFont typeface="Arial"/>
              <a:buChar char="•"/>
            </a:pPr>
            <a:r>
              <a:rPr lang="ar" sz="140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سيتعلم المتعلم كيفية اختيار وتخطيط اختبارات اللياقة البدنية المناسبة، بناءً على احتياجات العملاء وخلفياتهم وأهدافهم.</a:t>
            </a:r>
            <a:endParaRPr lang="en-GB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ctr" rtl="1">
              <a:lnSpc>
                <a:spcPct val="130000"/>
              </a:lnSpc>
              <a:buFont typeface="Arial"/>
              <a:buChar char="•"/>
            </a:pPr>
            <a:endParaRPr lang="en-GB" sz="1400" dirty="0">
              <a:solidFill>
                <a:schemeClr val="tx1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85750" indent="-285750" algn="ctr" rtl="1">
              <a:lnSpc>
                <a:spcPct val="130000"/>
              </a:lnSpc>
              <a:buFont typeface="Arial"/>
              <a:buChar char="•"/>
            </a:pPr>
            <a:r>
              <a:rPr lang="ar" sz="140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سيكتسب المتعلم خبرة في دعم اختبارات اللياقة البدنية وتنفيذها، مع ضمان السلامة والدقة والالتزام ببروتوكولات الاختبار.</a:t>
            </a:r>
            <a:endParaRPr lang="en-GB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>
              <a:lnSpc>
                <a:spcPct val="130000"/>
              </a:lnSpc>
            </a:pPr>
            <a:endParaRPr lang="en-GB" sz="1400" dirty="0">
              <a:solidFill>
                <a:schemeClr val="tx1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</a:endParaRPr>
          </a:p>
          <a:p>
            <a:pPr rtl="1">
              <a:lnSpc>
                <a:spcPct val="130000"/>
              </a:lnSpc>
            </a:pPr>
            <a:endParaRPr lang="en-GB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D7A4C0-F509-2741-58E9-BF526DCCB8B7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A103000424346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82616543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1134" y="2780928"/>
            <a:ext cx="8208712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algn="ctr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685800" rtl="1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3868" y="316520"/>
            <a:ext cx="5041701" cy="504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ب1 – استكشاف اختبارات اللياقة البدنية المخصصة للعملاء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208DA4-8CDD-8CBC-0F81-5A12AC152F44}"/>
              </a:ext>
            </a:extLst>
          </p:cNvPr>
          <p:cNvSpPr txBox="1"/>
          <p:nvPr/>
        </p:nvSpPr>
        <p:spPr>
          <a:xfrm>
            <a:off x="2343151" y="1521619"/>
            <a:ext cx="6291263" cy="1938992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/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لماذا يجب تخصيص اختبارات اللياقة البدنية؟</a:t>
            </a:r>
          </a:p>
          <a:p>
            <a:pPr rtl="1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rtl="1">
              <a:buFont typeface=""/>
              <a:buChar char="•"/>
            </a:pP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لأن كل عميل لديه احتياجات مختلفة تعتمد على:</a:t>
            </a:r>
          </a:p>
          <a:p>
            <a:pPr marL="228600" lvl="1" indent="-228600" rtl="1">
              <a:buFont typeface=""/>
              <a:buChar char="•"/>
            </a:pPr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الرياضة أو النشاط</a:t>
            </a: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الذي يمارسه</a:t>
            </a:r>
          </a:p>
          <a:p>
            <a:pPr marL="228600" lvl="1" indent="-228600" rtl="1">
              <a:buFont typeface=""/>
              <a:buChar char="•"/>
            </a:pPr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أهدافه من التدريب واللياقة البدنية</a:t>
            </a:r>
          </a:p>
          <a:p>
            <a:pPr marL="228600" lvl="1" indent="-228600" rtl="1">
              <a:buFont typeface=""/>
              <a:buChar char="•"/>
            </a:pPr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عمره وقدراته البدنية ومستوى خبرته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9DC944-151E-AC29-AE00-E2D66042B9E0}"/>
              </a:ext>
            </a:extLst>
          </p:cNvPr>
          <p:cNvSpPr txBox="1"/>
          <p:nvPr/>
        </p:nvSpPr>
        <p:spPr>
          <a:xfrm>
            <a:off x="1547664" y="3676649"/>
            <a:ext cx="7086749" cy="1631216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/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ما الذي يجعل اختبار اللياقة البدنية ملائمًا؟</a:t>
            </a:r>
          </a:p>
          <a:p>
            <a:pPr marL="228600" indent="-228600" rtl="1">
              <a:buFont typeface=""/>
              <a:buChar char="•"/>
            </a:pPr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الصلاحية - ه</a:t>
            </a: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ل يقيس الاختبار ما يُفترض أن يقيسه فعلًا؟</a:t>
            </a:r>
          </a:p>
          <a:p>
            <a:pPr marL="228600" indent="-228600" rtl="1">
              <a:buFont typeface=""/>
              <a:buChar char="•"/>
            </a:pPr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الموثوقية</a:t>
            </a: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هل يعطي نتائج ثابتة عند تكراره بالشروط نفسها؟</a:t>
            </a:r>
          </a:p>
          <a:p>
            <a:pPr marL="228600" indent="-228600" rtl="1">
              <a:buFont typeface=""/>
              <a:buChar char="•"/>
            </a:pPr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القابلية للتطبيق </a:t>
            </a: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هل يمكن إجراء الاختبار بسهولة وبتكلفة معقولة في البيئة المتاحة؟</a:t>
            </a:r>
          </a:p>
          <a:p>
            <a:pPr marL="228600" indent="-228600" rtl="1">
              <a:buFont typeface=""/>
              <a:buChar char="•"/>
            </a:pPr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الملاءمة -</a:t>
            </a: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هل يتناسب الاختبار مع حالة هذا الفرد تحديدًا؟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17EAF9-3B2A-8AC9-8AF2-5B6639DEDF3F}"/>
              </a:ext>
            </a:extLst>
          </p:cNvPr>
          <p:cNvSpPr txBox="1"/>
          <p:nvPr/>
        </p:nvSpPr>
        <p:spPr>
          <a:xfrm>
            <a:off x="414340" y="5569744"/>
            <a:ext cx="8220073" cy="646331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 rtl="1"/>
            <a:r>
              <a:rPr lang="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سؤال - هل من المناسب أن يخضع طفل يبلغ من العمر 13 عامًا، ومبتدئ في اللياقة البدنية، لاختبارات اللياقة نفسها التي يخضع لها رياضي محترف بالغ؟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184646-25FD-ABA1-EB8A-F5CDD3C4EFC7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A103000424346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62141731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D74D4-2629-E4E1-4D97-8EBCE0758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1921" y="86345"/>
            <a:ext cx="5292080" cy="925106"/>
          </a:xfrm>
        </p:spPr>
        <p:txBody>
          <a:bodyPr rtlCol="1"/>
          <a:lstStyle/>
          <a:p>
            <a:pPr algn="r" rtl="1"/>
            <a:r>
              <a:rPr lang="ar" sz="2000" b="1" dirty="0"/>
              <a:t>ب2 – ما الذي يجب مراعاته عند تخطيط جلسة لاختبار اللياقة البدنية؟</a:t>
            </a:r>
            <a:endParaRPr lang="en-US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A1B2A-6F0B-6C8E-9B1B-BB6C4D63C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48052" y="1395925"/>
            <a:ext cx="3809017" cy="4841387"/>
          </a:xfrm>
          <a:ln>
            <a:solidFill>
              <a:srgbClr val="4472C4"/>
            </a:solidFill>
          </a:ln>
        </p:spPr>
        <p:txBody>
          <a:bodyPr rtlCol="1"/>
          <a:lstStyle/>
          <a:p>
            <a:pPr marL="0" indent="0" rtl="1">
              <a:lnSpc>
                <a:spcPct val="120000"/>
              </a:lnSpc>
              <a:buNone/>
            </a:pPr>
            <a:r>
              <a:rPr lang="ar" sz="2000" dirty="0"/>
              <a:t>ما هي عناصر اللياقة التي يجب قياسها؟</a:t>
            </a:r>
          </a:p>
          <a:p>
            <a:pPr rtl="1">
              <a:lnSpc>
                <a:spcPct val="120000"/>
              </a:lnSpc>
            </a:pPr>
            <a:endParaRPr lang="en-GB" sz="2000" dirty="0"/>
          </a:p>
          <a:p>
            <a:pPr rtl="1">
              <a:lnSpc>
                <a:spcPct val="120000"/>
              </a:lnSpc>
            </a:pPr>
            <a:r>
              <a:rPr lang="ar" sz="2000" dirty="0"/>
              <a:t>معلومات أساسية عن العميل - العمر والقدرات البدنية والتاريخ التدريبي</a:t>
            </a:r>
          </a:p>
          <a:p>
            <a:pPr rtl="1">
              <a:lnSpc>
                <a:spcPct val="120000"/>
              </a:lnSpc>
            </a:pPr>
            <a:r>
              <a:rPr lang="ar" sz="2000" dirty="0"/>
              <a:t> الوقت المتاح - كم من الوقت تتطلبه الجلسة كاملة؟</a:t>
            </a:r>
          </a:p>
          <a:p>
            <a:pPr rtl="1">
              <a:lnSpc>
                <a:spcPct val="120000"/>
              </a:lnSpc>
            </a:pPr>
            <a:r>
              <a:rPr lang="ar" sz="2000" dirty="0"/>
              <a:t> البيئة - هل المكان مناسب من حيث المساحة والهدوء ودرجة الحرارة؟</a:t>
            </a:r>
          </a:p>
          <a:p>
            <a:pPr rtl="1">
              <a:lnSpc>
                <a:spcPct val="120000"/>
              </a:lnSpc>
            </a:pPr>
            <a:r>
              <a:rPr lang="ar" sz="2000" dirty="0"/>
              <a:t> المعدات - هل الأدوات المطلوبة متوفرة وآمنة وسهلة الاستخدام؟</a:t>
            </a:r>
          </a:p>
          <a:p>
            <a:pPr rtl="1">
              <a:lnSpc>
                <a:spcPct val="120000"/>
              </a:lnSpc>
            </a:pPr>
            <a:r>
              <a:rPr lang="ar" sz="2000" dirty="0"/>
              <a:t> الصحة والسلامة - موافقة مستنيرة من العميل والإحماء وتقييم المخاطر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49A625-6FCE-E270-D877-65B0CBC3C888}"/>
              </a:ext>
            </a:extLst>
          </p:cNvPr>
          <p:cNvSpPr txBox="1"/>
          <p:nvPr/>
        </p:nvSpPr>
        <p:spPr>
          <a:xfrm>
            <a:off x="196823" y="1396204"/>
            <a:ext cx="4506391" cy="2057743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>
              <a:lnSpc>
                <a:spcPct val="120000"/>
              </a:lnSpc>
            </a:pPr>
            <a:r>
              <a:rPr lang="ar" b="1">
                <a:latin typeface="Times New Roman" panose="02020603050405020304" pitchFamily="18" charset="0"/>
                <a:cs typeface="Times New Roman" panose="02020603050405020304" pitchFamily="18" charset="0"/>
              </a:rPr>
              <a:t>مهام أساسية في مرحلة التخطيط:</a:t>
            </a:r>
          </a:p>
          <a:p>
            <a:pPr rtl="1">
              <a:lnSpc>
                <a:spcPct val="120000"/>
              </a:lnSpc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rtl="1">
              <a:lnSpc>
                <a:spcPct val="120000"/>
              </a:lnSpc>
              <a:buFont typeface=""/>
              <a:buAutoNum type="arabicPeriod"/>
            </a:pPr>
            <a:r>
              <a:rPr lang="ar">
                <a:latin typeface="Times New Roman" panose="02020603050405020304" pitchFamily="18" charset="0"/>
                <a:cs typeface="Times New Roman" panose="02020603050405020304" pitchFamily="18" charset="0"/>
              </a:rPr>
              <a:t>اختيار اختبارات مناسبة للياقة البدنية</a:t>
            </a:r>
          </a:p>
          <a:p>
            <a:pPr marL="228600" indent="-228600" rtl="1">
              <a:lnSpc>
                <a:spcPct val="120000"/>
              </a:lnSpc>
              <a:buFont typeface=""/>
              <a:buAutoNum type="arabicPeriod"/>
            </a:pPr>
            <a:r>
              <a:rPr lang="ar">
                <a:latin typeface="Times New Roman" panose="02020603050405020304" pitchFamily="18" charset="0"/>
                <a:cs typeface="Times New Roman" panose="02020603050405020304" pitchFamily="18" charset="0"/>
              </a:rPr>
              <a:t>إعداد تمرين </a:t>
            </a:r>
            <a:r>
              <a:rPr lang="ar" b="1">
                <a:latin typeface="Times New Roman" panose="02020603050405020304" pitchFamily="18" charset="0"/>
                <a:cs typeface="Times New Roman" panose="02020603050405020304" pitchFamily="18" charset="0"/>
              </a:rPr>
              <a:t>إحماء</a:t>
            </a:r>
            <a:r>
              <a:rPr lang="ar">
                <a:latin typeface="Times New Roman" panose="02020603050405020304" pitchFamily="18" charset="0"/>
                <a:cs typeface="Times New Roman" panose="02020603050405020304" pitchFamily="18" charset="0"/>
              </a:rPr>
              <a:t> ملائم لنوع الاختبار</a:t>
            </a:r>
          </a:p>
          <a:p>
            <a:pPr marL="228600" indent="-228600" rtl="1">
              <a:lnSpc>
                <a:spcPct val="120000"/>
              </a:lnSpc>
              <a:buFont typeface=""/>
              <a:buAutoNum type="arabicPeriod"/>
            </a:pPr>
            <a:r>
              <a:rPr lang="ar">
                <a:latin typeface="Times New Roman" panose="02020603050405020304" pitchFamily="18" charset="0"/>
                <a:cs typeface="Times New Roman" panose="02020603050405020304" pitchFamily="18" charset="0"/>
              </a:rPr>
              <a:t>تصميم </a:t>
            </a:r>
            <a:r>
              <a:rPr lang="ar" b="1">
                <a:latin typeface="Times New Roman" panose="02020603050405020304" pitchFamily="18" charset="0"/>
                <a:cs typeface="Times New Roman" panose="02020603050405020304" pitchFamily="18" charset="0"/>
              </a:rPr>
              <a:t>نموذج موافقة مستنيرة</a:t>
            </a:r>
          </a:p>
          <a:p>
            <a:pPr marL="228600" indent="-228600" rtl="1">
              <a:lnSpc>
                <a:spcPct val="120000"/>
              </a:lnSpc>
              <a:buFont typeface=""/>
              <a:buAutoNum type="arabicPeriod"/>
            </a:pPr>
            <a:r>
              <a:rPr lang="ar">
                <a:latin typeface="Times New Roman" panose="02020603050405020304" pitchFamily="18" charset="0"/>
                <a:cs typeface="Times New Roman" panose="02020603050405020304" pitchFamily="18" charset="0"/>
              </a:rPr>
              <a:t>التأكّد من أن </a:t>
            </a:r>
            <a:r>
              <a:rPr lang="ar" b="1">
                <a:latin typeface="Times New Roman" panose="02020603050405020304" pitchFamily="18" charset="0"/>
                <a:cs typeface="Times New Roman" panose="02020603050405020304" pitchFamily="18" charset="0"/>
              </a:rPr>
              <a:t>التعليمات والبروتوكولات</a:t>
            </a:r>
            <a:r>
              <a:rPr lang="ar">
                <a:latin typeface="Times New Roman" panose="02020603050405020304" pitchFamily="18" charset="0"/>
                <a:cs typeface="Times New Roman" panose="02020603050405020304" pitchFamily="18" charset="0"/>
              </a:rPr>
              <a:t> واضحة ومتسقة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F47E89-5CAF-681F-FD7F-08A06A2AE6AA}"/>
              </a:ext>
            </a:extLst>
          </p:cNvPr>
          <p:cNvSpPr txBox="1"/>
          <p:nvPr/>
        </p:nvSpPr>
        <p:spPr>
          <a:xfrm>
            <a:off x="196822" y="4123000"/>
            <a:ext cx="4506392" cy="1688411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>
              <a:lnSpc>
                <a:spcPct val="120000"/>
              </a:lnSpc>
            </a:pPr>
            <a:r>
              <a:rPr lang="a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مهمة جماعية: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>
              <a:lnSpc>
                <a:spcPct val="120000"/>
              </a:lnSpc>
            </a:pPr>
            <a:r>
              <a:rPr lang="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تعتزم التخطيط لجلسة اختبار لياقة بدنية للاعب كرة قدم يبلغ من العمر 17 عامًا. اختر 4 اختبارات لياقة بدنية مناسبة لهذا اللاعب واشرح لمَ تعتبر هذه الاختبارات ملائمة له ووضّح كيف ستضمن أن تكون الجلسة صالحة وموثوقة وآمنة.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BCBC1F-0D8A-4883-4C6C-4F47622BE5DD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A103000424346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322700174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D32E5-A248-1602-994B-CEBDBBEC8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865" y="79427"/>
            <a:ext cx="3350067" cy="925106"/>
          </a:xfrm>
        </p:spPr>
        <p:txBody>
          <a:bodyPr rtlCol="1"/>
          <a:lstStyle/>
          <a:p>
            <a:pPr algn="r" rtl="1"/>
            <a:r>
              <a:rPr lang="ar" sz="2000" b="1" dirty="0"/>
              <a:t>ب 3 - إجراء اختبارات اللياقة البدنية</a:t>
            </a:r>
            <a:endParaRPr lang="en-US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2746B-2357-6C8D-805A-FA541A794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073" y="1252410"/>
            <a:ext cx="3347718" cy="4717094"/>
          </a:xfrm>
          <a:ln>
            <a:solidFill>
              <a:srgbClr val="4472C4"/>
            </a:solidFill>
          </a:ln>
        </p:spPr>
        <p:txBody>
          <a:bodyPr rtlCol="1"/>
          <a:lstStyle/>
          <a:p>
            <a:pPr marL="0" indent="0" rtl="1">
              <a:lnSpc>
                <a:spcPct val="130000"/>
              </a:lnSpc>
              <a:buNone/>
            </a:pPr>
            <a:endParaRPr lang="en-GB" sz="2000" b="1" dirty="0"/>
          </a:p>
          <a:p>
            <a:pPr marL="0" indent="0" rtl="1">
              <a:lnSpc>
                <a:spcPct val="130000"/>
              </a:lnSpc>
              <a:buNone/>
            </a:pPr>
            <a:r>
              <a:rPr lang="ar" sz="2000" b="1" dirty="0"/>
              <a:t>ما الذي يتضمنه تنفيذ اختبار لياقة بدنية؟</a:t>
            </a:r>
            <a:endParaRPr lang="en-US" dirty="0"/>
          </a:p>
          <a:p>
            <a:pPr rtl="1">
              <a:lnSpc>
                <a:spcPct val="130000"/>
              </a:lnSpc>
            </a:pPr>
            <a:r>
              <a:rPr lang="ar" sz="2000" dirty="0"/>
              <a:t>اتباع بروتوكولات الاختبار بدقة</a:t>
            </a:r>
            <a:endParaRPr lang="en-GB" sz="2000" dirty="0"/>
          </a:p>
          <a:p>
            <a:pPr rtl="1">
              <a:lnSpc>
                <a:spcPct val="130000"/>
              </a:lnSpc>
            </a:pPr>
            <a:r>
              <a:rPr lang="ar" sz="2000" dirty="0"/>
              <a:t>التأكّد من أن الاختبارات تُجرى بشكل عادل ومنظم وآمن</a:t>
            </a:r>
          </a:p>
          <a:p>
            <a:pPr rtl="1">
              <a:lnSpc>
                <a:spcPct val="130000"/>
              </a:lnSpc>
            </a:pPr>
            <a:r>
              <a:rPr lang="ar" sz="2000" dirty="0"/>
              <a:t>تسجيل النتائج بشكل واضح ودقيق</a:t>
            </a:r>
          </a:p>
          <a:p>
            <a:pPr rtl="1">
              <a:lnSpc>
                <a:spcPct val="130000"/>
              </a:lnSpc>
            </a:pPr>
            <a:r>
              <a:rPr lang="ar" sz="2000" dirty="0"/>
              <a:t>شرح التعليمات ودعم المشارِك في أثناء تنفيذ الاختبار</a:t>
            </a:r>
          </a:p>
          <a:p>
            <a:pPr rtl="1">
              <a:lnSpc>
                <a:spcPct val="130000"/>
              </a:lnSpc>
            </a:pPr>
            <a:endParaRPr lang="en-GB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73A3C6-6110-51B8-CA78-1C2099F3AF0A}"/>
              </a:ext>
            </a:extLst>
          </p:cNvPr>
          <p:cNvSpPr txBox="1"/>
          <p:nvPr/>
        </p:nvSpPr>
        <p:spPr>
          <a:xfrm>
            <a:off x="4266519" y="1252687"/>
            <a:ext cx="4701161" cy="2554545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/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الأدوار الأساسية في أثناء الاختبار:</a:t>
            </a:r>
          </a:p>
          <a:p>
            <a:pPr marL="228600" indent="-228600" rtl="1">
              <a:buFont typeface=""/>
              <a:buChar char="•"/>
            </a:pP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قائد الاختبار - يقدم التعليمات ويتأكد من سلامة المشاركين في أثناء تنفيذ الاختبار</a:t>
            </a:r>
          </a:p>
          <a:p>
            <a:pPr marL="228600" indent="-228600" rtl="1">
              <a:buFont typeface=""/>
              <a:buChar char="•"/>
            </a:pP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المؤقت/ المُسجّل - يقيس الوقت ويحسب التكرارات ويسجل البيانات بدقة</a:t>
            </a:r>
          </a:p>
          <a:p>
            <a:pPr marL="228600" indent="-228600" rtl="1">
              <a:buFont typeface=""/>
              <a:buChar char="•"/>
            </a:pP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المراقب -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يراجع أسلوب الأداء ويتأكد من عدالة ونزاهة الاختبار</a:t>
            </a:r>
          </a:p>
          <a:p>
            <a:pPr marL="228600" indent="-228600" rtl="1">
              <a:buFont typeface=""/>
              <a:buChar char="•"/>
            </a:pP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المشارك - ينفذ الاختبار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45A7C4-6B53-E5A1-586B-0327432DCB65}"/>
              </a:ext>
            </a:extLst>
          </p:cNvPr>
          <p:cNvSpPr txBox="1"/>
          <p:nvPr/>
        </p:nvSpPr>
        <p:spPr>
          <a:xfrm>
            <a:off x="4276767" y="4030741"/>
            <a:ext cx="4701165" cy="1631216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/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قبل بدء الاختبار، تأكد من التالي:</a:t>
            </a:r>
          </a:p>
          <a:p>
            <a:pPr marL="228600" indent="-228600" rtl="1">
              <a:buFont typeface=""/>
              <a:buChar char="•"/>
            </a:pP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توقيع نموذج الموافقة المستنيرة</a:t>
            </a:r>
          </a:p>
          <a:p>
            <a:pPr marL="228600" indent="-228600" rtl="1">
              <a:buFont typeface=""/>
              <a:buChar char="•"/>
            </a:pP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تنفيذ تمارين الإحماء المناسبة</a:t>
            </a:r>
          </a:p>
          <a:p>
            <a:pPr marL="228600" indent="-228600" rtl="1">
              <a:buFont typeface=""/>
              <a:buChar char="•"/>
            </a:pP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التحقق من أن البيئة والمعدات مناسبة وآمنة</a:t>
            </a:r>
          </a:p>
          <a:p>
            <a:pPr marL="228600" indent="-228600" rtl="1">
              <a:buFont typeface=""/>
              <a:buChar char="•"/>
            </a:pP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أن جميع المتعلمين يعرفون أدوارهم ومسؤولياتهم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1F41C3-59F1-4504-6639-AD5DA48D81E7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A103000424346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784908573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E6CF9-AD01-772E-D62A-53AC1FA3E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0EC229-F290-A0DF-0908-1F4C1868AE4D}"/>
              </a:ext>
            </a:extLst>
          </p:cNvPr>
          <p:cNvSpPr txBox="1"/>
          <p:nvPr/>
        </p:nvSpPr>
        <p:spPr>
          <a:xfrm>
            <a:off x="5770375" y="3519872"/>
            <a:ext cx="2743200" cy="10669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>
              <a:lnSpc>
                <a:spcPts val="1875"/>
              </a:lnSpc>
            </a:pPr>
            <a:r>
              <a:rPr lang="ar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rtl="1">
              <a:lnSpc>
                <a:spcPts val="1875"/>
              </a:lnSpc>
            </a:pPr>
            <a:r>
              <a:rPr lang="ar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rtl="1">
              <a:lnSpc>
                <a:spcPts val="1875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>
              <a:lnSpc>
                <a:spcPts val="1875"/>
              </a:lnSpc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663D327-1C9E-5C49-406A-DEFD2B2AA008}"/>
              </a:ext>
            </a:extLst>
          </p:cNvPr>
          <p:cNvGrpSpPr/>
          <p:nvPr/>
        </p:nvGrpSpPr>
        <p:grpSpPr>
          <a:xfrm flipH="1">
            <a:off x="457201" y="1432154"/>
            <a:ext cx="5111751" cy="4784225"/>
            <a:chOff x="457201" y="1432154"/>
            <a:chExt cx="5111751" cy="4784225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17DEAC3-C36F-6037-CE2B-94F32F0DE406}"/>
                </a:ext>
              </a:extLst>
            </p:cNvPr>
            <p:cNvSpPr/>
            <p:nvPr/>
          </p:nvSpPr>
          <p:spPr>
            <a:xfrm>
              <a:off x="457201" y="1432154"/>
              <a:ext cx="5111751" cy="1366921"/>
            </a:xfrm>
            <a:prstGeom prst="roundRect">
              <a:avLst>
                <a:gd name="adj" fmla="val 10000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" name="Rectangle 4" descr="Tick">
              <a:extLst>
                <a:ext uri="{FF2B5EF4-FFF2-40B4-BE49-F238E27FC236}">
                  <a16:creationId xmlns:a16="http://schemas.microsoft.com/office/drawing/2014/main" id="{E61F953A-137D-590E-2EAB-5FFE8FE3E43A}"/>
                </a:ext>
              </a:extLst>
            </p:cNvPr>
            <p:cNvSpPr/>
            <p:nvPr/>
          </p:nvSpPr>
          <p:spPr>
            <a:xfrm flipH="1">
              <a:off x="870694" y="1739711"/>
              <a:ext cx="751807" cy="751807"/>
            </a:xfrm>
            <a:prstGeom prst="rect">
              <a:avLst/>
            </a:prstGeom>
            <a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75A3989-550F-B71D-FC91-4907389B149C}"/>
                </a:ext>
              </a:extLst>
            </p:cNvPr>
            <p:cNvSpPr/>
            <p:nvPr/>
          </p:nvSpPr>
          <p:spPr>
            <a:xfrm>
              <a:off x="2035995" y="1432154"/>
              <a:ext cx="3532956" cy="1366921"/>
            </a:xfrm>
            <a:custGeom>
              <a:avLst/>
              <a:gdLst>
                <a:gd name="connsiteX0" fmla="*/ 0 w 3532956"/>
                <a:gd name="connsiteY0" fmla="*/ 0 h 1366921"/>
                <a:gd name="connsiteX1" fmla="*/ 3532956 w 3532956"/>
                <a:gd name="connsiteY1" fmla="*/ 0 h 1366921"/>
                <a:gd name="connsiteX2" fmla="*/ 3532956 w 3532956"/>
                <a:gd name="connsiteY2" fmla="*/ 1366921 h 1366921"/>
                <a:gd name="connsiteX3" fmla="*/ 0 w 3532956"/>
                <a:gd name="connsiteY3" fmla="*/ 1366921 h 1366921"/>
                <a:gd name="connsiteX4" fmla="*/ 0 w 3532956"/>
                <a:gd name="connsiteY4" fmla="*/ 0 h 1366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32956" h="1366921">
                  <a:moveTo>
                    <a:pt x="0" y="0"/>
                  </a:moveTo>
                  <a:lnTo>
                    <a:pt x="3532956" y="0"/>
                  </a:lnTo>
                  <a:lnTo>
                    <a:pt x="3532956" y="1366921"/>
                  </a:lnTo>
                  <a:lnTo>
                    <a:pt x="0" y="136692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4666" tIns="144666" rIns="144666" bIns="144666" numCol="1" spcCol="1270" rtlCol="1" anchor="ctr" anchorCtr="0">
              <a:noAutofit/>
            </a:bodyPr>
            <a:lstStyle/>
            <a:p>
              <a:pPr marL="0" lvl="0" indent="0" algn="r" defTabSz="111125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500" b="1" kern="1200"/>
                <a:t>مجالات المحتوى الرئيسة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3DD91CD-4044-5BB4-EE2A-993A28DC0814}"/>
                </a:ext>
              </a:extLst>
            </p:cNvPr>
            <p:cNvSpPr/>
            <p:nvPr/>
          </p:nvSpPr>
          <p:spPr>
            <a:xfrm>
              <a:off x="457201" y="3140806"/>
              <a:ext cx="5111751" cy="1366921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D5149F1-DCF0-BA35-BF33-BCA1E3D5EEF7}"/>
                </a:ext>
              </a:extLst>
            </p:cNvPr>
            <p:cNvSpPr/>
            <p:nvPr/>
          </p:nvSpPr>
          <p:spPr>
            <a:xfrm flipH="1">
              <a:off x="870694" y="3448363"/>
              <a:ext cx="751807" cy="751807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0EEC13C-6216-F455-97B1-1871792DB7BF}"/>
                </a:ext>
              </a:extLst>
            </p:cNvPr>
            <p:cNvSpPr/>
            <p:nvPr/>
          </p:nvSpPr>
          <p:spPr>
            <a:xfrm>
              <a:off x="2035995" y="3140806"/>
              <a:ext cx="3532956" cy="1366921"/>
            </a:xfrm>
            <a:custGeom>
              <a:avLst/>
              <a:gdLst>
                <a:gd name="connsiteX0" fmla="*/ 0 w 3532956"/>
                <a:gd name="connsiteY0" fmla="*/ 0 h 1366921"/>
                <a:gd name="connsiteX1" fmla="*/ 3532956 w 3532956"/>
                <a:gd name="connsiteY1" fmla="*/ 0 h 1366921"/>
                <a:gd name="connsiteX2" fmla="*/ 3532956 w 3532956"/>
                <a:gd name="connsiteY2" fmla="*/ 1366921 h 1366921"/>
                <a:gd name="connsiteX3" fmla="*/ 0 w 3532956"/>
                <a:gd name="connsiteY3" fmla="*/ 1366921 h 1366921"/>
                <a:gd name="connsiteX4" fmla="*/ 0 w 3532956"/>
                <a:gd name="connsiteY4" fmla="*/ 0 h 1366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32956" h="1366921">
                  <a:moveTo>
                    <a:pt x="0" y="0"/>
                  </a:moveTo>
                  <a:lnTo>
                    <a:pt x="3532956" y="0"/>
                  </a:lnTo>
                  <a:lnTo>
                    <a:pt x="3532956" y="1366921"/>
                  </a:lnTo>
                  <a:lnTo>
                    <a:pt x="0" y="136692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4666" tIns="144666" rIns="144666" bIns="144666" numCol="1" spcCol="1270" rtlCol="1" anchor="ctr" anchorCtr="0">
              <a:noAutofit/>
            </a:bodyPr>
            <a:lstStyle/>
            <a:p>
              <a:pPr marL="0" lvl="0" indent="0" algn="r" defTabSz="111125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500" b="1" kern="120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Arial"/>
                  <a:cs typeface="Arial"/>
                </a:rPr>
                <a:t>ج1</a:t>
              </a:r>
              <a:r>
                <a:rPr lang="ar" sz="2500" kern="120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Arial"/>
                  <a:cs typeface="Arial"/>
                </a:rPr>
                <a:t>بناء ملف تعريفي للياقة البدنية لرياضي محدد  </a:t>
              </a:r>
              <a:endParaRPr lang="en-GB" sz="2500" dirty="0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78CEA2AA-6BC0-693A-DA8A-0893D69E8D31}"/>
                </a:ext>
              </a:extLst>
            </p:cNvPr>
            <p:cNvSpPr/>
            <p:nvPr/>
          </p:nvSpPr>
          <p:spPr>
            <a:xfrm>
              <a:off x="457201" y="4849458"/>
              <a:ext cx="5111751" cy="1366921"/>
            </a:xfrm>
            <a:prstGeom prst="roundRect">
              <a:avLst>
                <a:gd name="adj" fmla="val 10000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Rectangle 11" descr="Bullseye with solid fill">
              <a:extLst>
                <a:ext uri="{FF2B5EF4-FFF2-40B4-BE49-F238E27FC236}">
                  <a16:creationId xmlns:a16="http://schemas.microsoft.com/office/drawing/2014/main" id="{56ADE0BC-0D3A-C824-1D98-4E1C56E88399}"/>
                </a:ext>
              </a:extLst>
            </p:cNvPr>
            <p:cNvSpPr/>
            <p:nvPr/>
          </p:nvSpPr>
          <p:spPr>
            <a:xfrm flipH="1">
              <a:off x="870694" y="5157016"/>
              <a:ext cx="751807" cy="751807"/>
            </a:xfrm>
            <a:prstGeom prst="rect">
              <a:avLst/>
            </a:pr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FE3E81B-C09A-0D75-73D9-7E3038ACB7FC}"/>
                </a:ext>
              </a:extLst>
            </p:cNvPr>
            <p:cNvSpPr/>
            <p:nvPr/>
          </p:nvSpPr>
          <p:spPr>
            <a:xfrm>
              <a:off x="2035995" y="4849458"/>
              <a:ext cx="3532956" cy="1366921"/>
            </a:xfrm>
            <a:custGeom>
              <a:avLst/>
              <a:gdLst>
                <a:gd name="connsiteX0" fmla="*/ 0 w 3532956"/>
                <a:gd name="connsiteY0" fmla="*/ 0 h 1366921"/>
                <a:gd name="connsiteX1" fmla="*/ 3532956 w 3532956"/>
                <a:gd name="connsiteY1" fmla="*/ 0 h 1366921"/>
                <a:gd name="connsiteX2" fmla="*/ 3532956 w 3532956"/>
                <a:gd name="connsiteY2" fmla="*/ 1366921 h 1366921"/>
                <a:gd name="connsiteX3" fmla="*/ 0 w 3532956"/>
                <a:gd name="connsiteY3" fmla="*/ 1366921 h 1366921"/>
                <a:gd name="connsiteX4" fmla="*/ 0 w 3532956"/>
                <a:gd name="connsiteY4" fmla="*/ 0 h 1366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32956" h="1366921">
                  <a:moveTo>
                    <a:pt x="0" y="0"/>
                  </a:moveTo>
                  <a:lnTo>
                    <a:pt x="3532956" y="0"/>
                  </a:lnTo>
                  <a:lnTo>
                    <a:pt x="3532956" y="1366921"/>
                  </a:lnTo>
                  <a:lnTo>
                    <a:pt x="0" y="136692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4666" tIns="144666" rIns="144666" bIns="144666" numCol="1" spcCol="1270" rtlCol="1" anchor="ctr" anchorCtr="0">
              <a:noAutofit/>
            </a:bodyPr>
            <a:lstStyle/>
            <a:p>
              <a:pPr marL="0" lvl="0" indent="0" algn="r" defTabSz="8890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000" b="1" kern="1200">
                  <a:latin typeface="Arial"/>
                  <a:cs typeface="Arial"/>
                </a:rPr>
                <a:t> ج2</a:t>
              </a:r>
              <a:r>
                <a:rPr lang="ar" sz="2000" b="0" kern="1200">
                  <a:latin typeface="Arial"/>
                  <a:cs typeface="Arial"/>
                </a:rPr>
                <a:t> تقديم التعليقات لرياضي محدد </a:t>
              </a:r>
            </a:p>
          </p:txBody>
        </p:sp>
      </p:grp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C2C5E8FC-3A7E-B23B-C1B8-40D7D0B9D4EA}"/>
              </a:ext>
            </a:extLst>
          </p:cNvPr>
          <p:cNvSpPr/>
          <p:nvPr/>
        </p:nvSpPr>
        <p:spPr>
          <a:xfrm>
            <a:off x="5760720" y="1432560"/>
            <a:ext cx="2737104" cy="47670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1" anchor="ctr"/>
          <a:lstStyle/>
          <a:p>
            <a:pPr algn="ctr" rtl="1">
              <a:lnSpc>
                <a:spcPct val="130000"/>
              </a:lnSpc>
            </a:pPr>
            <a:r>
              <a:rPr lang="ar" sz="1400" b="1" dirty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نتاج التعلم ج - </a:t>
            </a:r>
            <a:r>
              <a:rPr lang="ar" sz="1400" b="1" dirty="0">
                <a:solidFill>
                  <a:schemeClr val="tx1"/>
                </a:solidFill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تقييم </a:t>
            </a:r>
            <a:r>
              <a:rPr lang="ar" sz="1400" b="1" dirty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بيانات</a:t>
            </a:r>
            <a:r>
              <a:rPr lang="en" sz="1400" b="1" dirty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اختبار اللياقة البدنية </a:t>
            </a: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>
              <a:lnSpc>
                <a:spcPct val="130000"/>
              </a:lnSpc>
            </a:pPr>
            <a:endParaRPr lang="en-GB" sz="1400" dirty="0">
              <a:solidFill>
                <a:schemeClr val="tx1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</a:endParaRPr>
          </a:p>
          <a:p>
            <a:pPr marL="285750" indent="-285750" algn="ctr" rtl="1">
              <a:lnSpc>
                <a:spcPct val="130000"/>
              </a:lnSpc>
              <a:buFont typeface="Arial"/>
              <a:buChar char="•"/>
            </a:pPr>
            <a:r>
              <a:rPr lang="ar" sz="1400" dirty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سيتعلم المتعلم كيفية اختيار وتخطيط اختبارات اللياقة البدنية المناسبة، بناءً على احتياجات العملاء وخلفياتهم وأهدافهم.</a:t>
            </a:r>
            <a:endParaRPr lang="en-GB" sz="1400" dirty="0">
              <a:solidFill>
                <a:schemeClr val="tx1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</a:endParaRPr>
          </a:p>
          <a:p>
            <a:pPr marL="285750" indent="-285750" algn="ctr" rtl="1">
              <a:lnSpc>
                <a:spcPct val="130000"/>
              </a:lnSpc>
              <a:buFont typeface="Arial"/>
              <a:buChar char="•"/>
            </a:pPr>
            <a:endParaRPr lang="en-GB" sz="1400" dirty="0">
              <a:solidFill>
                <a:schemeClr val="tx1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85750" indent="-285750" algn="ctr" rtl="1">
              <a:lnSpc>
                <a:spcPct val="130000"/>
              </a:lnSpc>
              <a:buFont typeface="Arial"/>
              <a:buChar char="•"/>
            </a:pPr>
            <a:r>
              <a:rPr lang="ar" sz="1400" dirty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سيكتسب المتعلم خبرة في دعم اختبارات اللياقة البدنية وتنفيذها، مع ضمان السلامة والدقة والالتزام ببروتوكولات الاختبار.</a:t>
            </a:r>
            <a:endParaRPr lang="en-GB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>
              <a:lnSpc>
                <a:spcPct val="130000"/>
              </a:lnSpc>
            </a:pPr>
            <a:endParaRPr lang="en-GB" sz="1400" dirty="0">
              <a:solidFill>
                <a:schemeClr val="tx1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</a:endParaRPr>
          </a:p>
          <a:p>
            <a:pPr rtl="1">
              <a:lnSpc>
                <a:spcPct val="130000"/>
              </a:lnSpc>
            </a:pPr>
            <a:endParaRPr lang="en-GB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4C660B-1E46-A8B7-4746-34A9E7D30F83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A103000424346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29694810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57312" y="1212507"/>
            <a:ext cx="4579816" cy="3238358"/>
          </a:xfr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algn="ctr" rtl="1">
              <a:lnSpc>
                <a:spcPct val="120000"/>
              </a:lnSpc>
              <a:buNone/>
            </a:pPr>
            <a:r>
              <a:rPr lang="ar" sz="1800" b="1"/>
              <a:t>ما هو ملف اللياقة البدنية؟</a:t>
            </a:r>
            <a:br>
              <a:rPr lang="en-GB" sz="1800" b="1" dirty="0"/>
            </a:br>
            <a:r>
              <a:rPr lang="ar" sz="1800" b="1"/>
              <a:t> ملف اللياقة هو ملخص لنتائج اختبارات اللياقة البدنية الخاصة بفرد معين، يسلط الضوء على ما يلي:</a:t>
            </a:r>
            <a:endParaRPr lang="en-US" sz="1800"/>
          </a:p>
          <a:p>
            <a:pPr algn="ctr" rtl="1">
              <a:lnSpc>
                <a:spcPct val="120000"/>
              </a:lnSpc>
              <a:buNone/>
            </a:pPr>
            <a:endParaRPr lang="en-GB" sz="1800" b="1" dirty="0"/>
          </a:p>
          <a:p>
            <a:pPr algn="ctr" rtl="1">
              <a:lnSpc>
                <a:spcPct val="120000"/>
              </a:lnSpc>
              <a:buFont typeface="Wingdings"/>
              <a:buChar char="§"/>
            </a:pPr>
            <a:r>
              <a:rPr lang="ar" sz="1800"/>
              <a:t>نقاط القوة (حيث الأداء أعلى من المتوسط)</a:t>
            </a:r>
          </a:p>
          <a:p>
            <a:pPr algn="ctr" rtl="1">
              <a:lnSpc>
                <a:spcPct val="120000"/>
              </a:lnSpc>
              <a:buFont typeface="Wingdings"/>
              <a:buChar char="§"/>
            </a:pPr>
            <a:r>
              <a:rPr lang="ar" sz="1800"/>
              <a:t>مجالات التحسين (حيث الأداء أقل من المتوسط)</a:t>
            </a:r>
          </a:p>
          <a:p>
            <a:pPr algn="ctr" rtl="1">
              <a:lnSpc>
                <a:spcPct val="120000"/>
              </a:lnSpc>
              <a:buFont typeface="Wingdings"/>
              <a:buChar char="§"/>
            </a:pPr>
            <a:r>
              <a:rPr lang="ar" sz="1800"/>
              <a:t>مدى توافق اللياقة البدنية مع الرياضة التي يمارسها الفرد أو مع أهدافه الشخصية</a:t>
            </a:r>
          </a:p>
          <a:p>
            <a:pPr indent="0" algn="ctr" rtl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GB" altLang="en-US" sz="1800" dirty="0"/>
          </a:p>
          <a:p>
            <a:pPr marL="685800" rtl="1">
              <a:lnSpc>
                <a:spcPct val="120000"/>
              </a:lnSpc>
            </a:pPr>
            <a:endParaRPr lang="en-GB" altLang="en-US" sz="18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7054" y="296208"/>
            <a:ext cx="4576946" cy="340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ج1 - إعداد ملف لياقة بدنية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E2F625-A5A9-5703-271B-C26C57EFB3DE}"/>
              </a:ext>
            </a:extLst>
          </p:cNvPr>
          <p:cNvSpPr txBox="1"/>
          <p:nvPr/>
        </p:nvSpPr>
        <p:spPr>
          <a:xfrm>
            <a:off x="217324" y="1191180"/>
            <a:ext cx="3819567" cy="272254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>
              <a:lnSpc>
                <a:spcPct val="120000"/>
              </a:lnSpc>
            </a:pPr>
            <a:r>
              <a:rPr lang="ar" b="1">
                <a:latin typeface="Times New Roman" panose="02020603050405020304" pitchFamily="18" charset="0"/>
                <a:cs typeface="Times New Roman" panose="02020603050405020304" pitchFamily="18" charset="0"/>
              </a:rPr>
              <a:t>كيف يُعد المتعلم ملف لياقة بدنية؟</a:t>
            </a:r>
          </a:p>
          <a:p>
            <a:pPr rtl="1">
              <a:lnSpc>
                <a:spcPct val="120000"/>
              </a:lnSpc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rtl="1">
              <a:lnSpc>
                <a:spcPct val="120000"/>
              </a:lnSpc>
              <a:buFont typeface=""/>
              <a:buAutoNum type="arabicPeriod"/>
            </a:pPr>
            <a:r>
              <a:rPr lang="ar">
                <a:latin typeface="Times New Roman" panose="02020603050405020304" pitchFamily="18" charset="0"/>
                <a:cs typeface="Times New Roman" panose="02020603050405020304" pitchFamily="18" charset="0"/>
              </a:rPr>
              <a:t>جمع البيانات من اختبارات اللياقة البدنية</a:t>
            </a:r>
          </a:p>
          <a:p>
            <a:pPr marL="228600" indent="-228600" rtl="1">
              <a:lnSpc>
                <a:spcPct val="120000"/>
              </a:lnSpc>
              <a:buFont typeface=""/>
              <a:buAutoNum type="arabicPeriod"/>
            </a:pPr>
            <a:r>
              <a:rPr lang="ar">
                <a:latin typeface="Times New Roman" panose="02020603050405020304" pitchFamily="18" charset="0"/>
                <a:cs typeface="Times New Roman" panose="02020603050405020304" pitchFamily="18" charset="0"/>
              </a:rPr>
              <a:t>مقارنة النتائج </a:t>
            </a:r>
            <a:r>
              <a:rPr lang="ar" b="1">
                <a:latin typeface="Times New Roman" panose="02020603050405020304" pitchFamily="18" charset="0"/>
                <a:cs typeface="Times New Roman" panose="02020603050405020304" pitchFamily="18" charset="0"/>
              </a:rPr>
              <a:t>بالبيانات المعيارية</a:t>
            </a:r>
            <a:r>
              <a:rPr lang="ar">
                <a:latin typeface="Times New Roman" panose="02020603050405020304" pitchFamily="18" charset="0"/>
                <a:cs typeface="Times New Roman" panose="02020603050405020304" pitchFamily="18" charset="0"/>
              </a:rPr>
              <a:t> (بحسب العمر أو الجنس أو الرياضة المحددة)</a:t>
            </a:r>
          </a:p>
          <a:p>
            <a:pPr marL="228600" indent="-228600" rtl="1">
              <a:lnSpc>
                <a:spcPct val="120000"/>
              </a:lnSpc>
              <a:buFont typeface=""/>
              <a:buAutoNum type="arabicPeriod"/>
            </a:pPr>
            <a:r>
              <a:rPr lang="ar">
                <a:latin typeface="Times New Roman" panose="02020603050405020304" pitchFamily="18" charset="0"/>
                <a:cs typeface="Times New Roman" panose="02020603050405020304" pitchFamily="18" charset="0"/>
              </a:rPr>
              <a:t>عرض البيانات</a:t>
            </a:r>
            <a:r>
              <a:rPr lang="ar" b="1">
                <a:latin typeface="Times New Roman" panose="02020603050405020304" pitchFamily="18" charset="0"/>
                <a:cs typeface="Times New Roman" panose="02020603050405020304" pitchFamily="18" charset="0"/>
              </a:rPr>
              <a:t> باستخدام الجداول أو الرسوم البيانية أو</a:t>
            </a:r>
            <a:r>
              <a:rPr lang="ar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b="1">
                <a:latin typeface="Times New Roman" panose="02020603050405020304" pitchFamily="18" charset="0"/>
                <a:cs typeface="Times New Roman" panose="02020603050405020304" pitchFamily="18" charset="0"/>
              </a:rPr>
              <a:t>المخططات</a:t>
            </a:r>
          </a:p>
          <a:p>
            <a:pPr marL="228600" indent="-228600" rtl="1">
              <a:lnSpc>
                <a:spcPct val="120000"/>
              </a:lnSpc>
              <a:buFont typeface=""/>
              <a:buAutoNum type="arabicPeriod"/>
            </a:pPr>
            <a:r>
              <a:rPr lang="ar">
                <a:latin typeface="Times New Roman" panose="02020603050405020304" pitchFamily="18" charset="0"/>
                <a:cs typeface="Times New Roman" panose="02020603050405020304" pitchFamily="18" charset="0"/>
              </a:rPr>
              <a:t>إضافة تحليل موجز وتفسير للنتائج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5B9CC2-1F7D-3026-6980-AC0CC9F72122}"/>
              </a:ext>
            </a:extLst>
          </p:cNvPr>
          <p:cNvSpPr txBox="1"/>
          <p:nvPr/>
        </p:nvSpPr>
        <p:spPr>
          <a:xfrm>
            <a:off x="514607" y="4574050"/>
            <a:ext cx="8125038" cy="1839350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>
              <a:lnSpc>
                <a:spcPct val="120000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>
              <a:lnSpc>
                <a:spcPct val="120000"/>
              </a:lnSpc>
            </a:pPr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المهمة: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>
              <a:lnSpc>
                <a:spcPct val="120000"/>
              </a:lnSpc>
            </a:pP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ينشئ المتعلم ملفًا مرئيًا للياقة البدنية لشخص محدد باستخدام بيانات اختبار مقدمة يُبرز المتعلم نقاط القوة والمجالات التي تحتاج إلى تحسين يعرض المتعلم الملف </a:t>
            </a:r>
            <a:r>
              <a:rPr lang="ar-E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وكأنه</a:t>
            </a: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يشرحه لمدرب رياضي</a:t>
            </a:r>
            <a:r>
              <a:rPr lang="ar-E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>
              <a:lnSpc>
                <a:spcPct val="120000"/>
              </a:lnSpc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D5F196-0AD5-87D3-F69F-D057814AD3B5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A103000424346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717520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3E9B-CF56-ED9D-80E2-744902439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376" y="48284"/>
            <a:ext cx="4559699" cy="925106"/>
          </a:xfrm>
        </p:spPr>
        <p:txBody>
          <a:bodyPr rtlCol="1"/>
          <a:lstStyle/>
          <a:p>
            <a:pPr algn="r" rtl="1"/>
            <a:r>
              <a:rPr lang="ar" sz="2400" b="1" dirty="0"/>
              <a:t>ج2 - تقديم التعليقات لرياضي محدد</a:t>
            </a:r>
            <a:endParaRPr lang="en-US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2239E-8259-ABBF-FD1A-89F7462727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82349" y="1324168"/>
            <a:ext cx="5756730" cy="2276072"/>
          </a:xfrm>
          <a:ln>
            <a:solidFill>
              <a:srgbClr val="4472C4"/>
            </a:solidFill>
          </a:ln>
        </p:spPr>
        <p:txBody>
          <a:bodyPr rtlCol="1"/>
          <a:lstStyle/>
          <a:p>
            <a:pPr marL="0" indent="0" rtl="1">
              <a:lnSpc>
                <a:spcPct val="120000"/>
              </a:lnSpc>
              <a:buNone/>
            </a:pPr>
            <a:r>
              <a:rPr lang="ar" sz="2000" dirty="0"/>
              <a:t>لماذا تُعد التعليقات مهمة؟</a:t>
            </a:r>
            <a:endParaRPr lang="en-US" dirty="0"/>
          </a:p>
          <a:p>
            <a:pPr marL="457200" indent="-457200" rtl="1">
              <a:lnSpc>
                <a:spcPct val="120000"/>
              </a:lnSpc>
              <a:buAutoNum type="arabicPeriod"/>
            </a:pPr>
            <a:r>
              <a:rPr lang="ar" sz="2000" dirty="0"/>
              <a:t>لأنها تساعد الرياضي على فهم نقاط القوة ونقاط الضعف</a:t>
            </a:r>
            <a:r>
              <a:rPr lang="ar-EG" sz="2000" dirty="0"/>
              <a:t>.</a:t>
            </a:r>
            <a:endParaRPr lang="en-GB" sz="2000" dirty="0"/>
          </a:p>
          <a:p>
            <a:pPr marL="457200" indent="-457200" rtl="1">
              <a:lnSpc>
                <a:spcPct val="120000"/>
              </a:lnSpc>
              <a:buAutoNum type="arabicPeriod"/>
            </a:pPr>
            <a:r>
              <a:rPr lang="ar" sz="2000" dirty="0"/>
              <a:t>لأنها توجهه نحو تحديد أهداف مناسبة وخطط للتحسين</a:t>
            </a:r>
            <a:r>
              <a:rPr lang="ar-EG" sz="2000" dirty="0"/>
              <a:t>.</a:t>
            </a:r>
            <a:endParaRPr lang="en-GB" sz="2000" dirty="0"/>
          </a:p>
          <a:p>
            <a:pPr marL="457200" indent="-457200" rtl="1">
              <a:lnSpc>
                <a:spcPct val="120000"/>
              </a:lnSpc>
              <a:buAutoNum type="arabicPeriod"/>
            </a:pPr>
            <a:r>
              <a:rPr lang="ar" sz="2000" dirty="0"/>
              <a:t>لأنها تحافظ على مستوى مرتفع من الدافعية وتوفر اتجاهًا واضحًا للتطو</a:t>
            </a:r>
            <a:r>
              <a:rPr lang="ar-EG" sz="2000" dirty="0"/>
              <a:t>ّ</a:t>
            </a:r>
            <a:r>
              <a:rPr lang="ar" sz="2000" dirty="0"/>
              <a:t>ر</a:t>
            </a:r>
            <a:r>
              <a:rPr lang="ar-EG" sz="2000" dirty="0"/>
              <a:t>.</a:t>
            </a:r>
            <a:endParaRPr lang="en-GB" sz="2000" dirty="0"/>
          </a:p>
          <a:p>
            <a:pPr rtl="1">
              <a:lnSpc>
                <a:spcPct val="120000"/>
              </a:lnSpc>
              <a:buAutoNum type="arabicPeriod"/>
            </a:pP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A8A165-406A-DA37-234A-16398A53E599}"/>
              </a:ext>
            </a:extLst>
          </p:cNvPr>
          <p:cNvSpPr txBox="1"/>
          <p:nvPr/>
        </p:nvSpPr>
        <p:spPr>
          <a:xfrm>
            <a:off x="3087637" y="3951018"/>
            <a:ext cx="5746778" cy="2276072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>
              <a:lnSpc>
                <a:spcPct val="120000"/>
              </a:lnSpc>
            </a:pPr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طرق تقديم التعليقات:</a:t>
            </a:r>
          </a:p>
          <a:p>
            <a:pPr rtl="1">
              <a:lnSpc>
                <a:spcPct val="120000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rtl="1">
              <a:lnSpc>
                <a:spcPct val="120000"/>
              </a:lnSpc>
              <a:buFont typeface=""/>
              <a:buChar char="•"/>
            </a:pPr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شفوية </a:t>
            </a: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مثل: المناقشة بعد انتهاء الاختبار</a:t>
            </a:r>
          </a:p>
          <a:p>
            <a:pPr marL="228600" indent="-228600" rtl="1">
              <a:lnSpc>
                <a:spcPct val="120000"/>
              </a:lnSpc>
              <a:buFont typeface=""/>
              <a:buChar char="•"/>
            </a:pPr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كتابية</a:t>
            </a: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مثل: تقرير ملف اللياقة أو ورقة تلخيص</a:t>
            </a:r>
          </a:p>
          <a:p>
            <a:pPr marL="228600" indent="-228600" rtl="1">
              <a:lnSpc>
                <a:spcPct val="120000"/>
              </a:lnSpc>
              <a:buFont typeface=""/>
              <a:buChar char="•"/>
            </a:pPr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مرئية </a:t>
            </a: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مثل: الرسوم البيانية أو المخططات أو بطاقات الأداء</a:t>
            </a:r>
          </a:p>
          <a:p>
            <a:pPr marL="228600" indent="-228600" rtl="1">
              <a:lnSpc>
                <a:spcPct val="120000"/>
              </a:lnSpc>
              <a:buFont typeface=""/>
              <a:buChar char="•"/>
            </a:pPr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مسجلة</a:t>
            </a: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مثل: تحليل فيديو أو مراجعة ذاتية مسجلة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A6A8BE-423C-DDBE-9EAF-02431E67A072}"/>
              </a:ext>
            </a:extLst>
          </p:cNvPr>
          <p:cNvSpPr txBox="1"/>
          <p:nvPr/>
        </p:nvSpPr>
        <p:spPr>
          <a:xfrm>
            <a:off x="289081" y="1324444"/>
            <a:ext cx="2456169" cy="492885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>
              <a:lnSpc>
                <a:spcPct val="120000"/>
              </a:lnSpc>
            </a:pPr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ما الذي يجب تضمينه في التعليقات:</a:t>
            </a:r>
          </a:p>
          <a:p>
            <a:pPr rtl="1">
              <a:lnSpc>
                <a:spcPct val="12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rtl="1">
              <a:lnSpc>
                <a:spcPct val="120000"/>
              </a:lnSpc>
              <a:buFont typeface=""/>
              <a:buAutoNum type="arabicPeriod"/>
            </a:pP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ملخص واضح لنتائج اختبارات اللياقة البدنية</a:t>
            </a:r>
          </a:p>
          <a:p>
            <a:pPr marL="228600" indent="-228600" rtl="1">
              <a:lnSpc>
                <a:spcPct val="120000"/>
              </a:lnSpc>
              <a:buFont typeface=""/>
              <a:buAutoNum type="arabicPeriod"/>
            </a:pP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تحديد نقاط القوة (وربطها بالرياضة التي يمارسها الفرد)</a:t>
            </a:r>
          </a:p>
          <a:p>
            <a:pPr marL="228600" indent="-228600" rtl="1">
              <a:lnSpc>
                <a:spcPct val="120000"/>
              </a:lnSpc>
              <a:buFont typeface=""/>
              <a:buAutoNum type="arabicPeriod"/>
            </a:pP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تحديد مجالات التحسين</a:t>
            </a:r>
          </a:p>
          <a:p>
            <a:pPr marL="228600" indent="-228600" rtl="1">
              <a:lnSpc>
                <a:spcPct val="120000"/>
              </a:lnSpc>
              <a:buFont typeface=""/>
              <a:buAutoNum type="arabicPeriod"/>
            </a:pP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تقديم توصيات عملية مثل أفكار للتدريب أو خطوات تالية مقترحة</a:t>
            </a:r>
          </a:p>
          <a:p>
            <a:pPr marL="228600" indent="-228600" rtl="1">
              <a:lnSpc>
                <a:spcPct val="120000"/>
              </a:lnSpc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289B4A-816A-6981-4371-988B933ABD0E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A103000424346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409976596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EB83A-F3FF-7F4A-B0E6-7F69FC475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9EFF56A7-02D6-C771-2571-A10B7B48A0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195388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شكر وتقدير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9FDB783-D7F9-BAE3-873E-F6FB4F79B3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4800" y="2205038"/>
            <a:ext cx="8371656" cy="2657475"/>
          </a:xfrm>
        </p:spPr>
        <p:txBody>
          <a:bodyPr rtlCol="1"/>
          <a:lstStyle/>
          <a:p>
            <a:pPr marL="0" indent="0" rtl="1">
              <a:buNone/>
            </a:pPr>
            <a:r>
              <a:rPr lang="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الصور:</a:t>
            </a:r>
            <a:r>
              <a:rPr lang="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 rtl="1">
              <a:buNone/>
            </a:pPr>
            <a:r>
              <a:rPr lang="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(دليل الاختصارات: l-يسار، r-يمين، c-وسط، t-أعلى، b-أسفل) </a:t>
            </a:r>
          </a:p>
          <a:p>
            <a:pPr marL="0" indent="0" rtl="1">
              <a:buNone/>
            </a:pPr>
            <a:r>
              <a:rPr lang="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صورة ألامي ستوك فوتو: </a:t>
            </a:r>
            <a:r>
              <a:rPr lang="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ديفيد باجنال (الشريحة 1)، جون فيديل/تيترا إيمجز، إل إل سي، (الشريحة 4)، سيمون إيفانز (الشريحة 8)، أكشنبلس/أكشن بلس سبورتس إيمجز (الشريحة 11 على اليمين)، جون بكل/بي إيه إيمجز (الشريحة 11 على اليسار)، إماجو (الشريحة 12)،</a:t>
            </a:r>
            <a:r>
              <a:rPr lang="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شترستوك: </a:t>
            </a:r>
            <a:r>
              <a:rPr lang="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كريسدورني (الشريحة 12)، </a:t>
            </a:r>
            <a:r>
              <a:rPr lang="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Stock.adobe.com:</a:t>
            </a:r>
            <a:r>
              <a:rPr lang="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بريسماستر (الشريحة 11 بالوسط). </a:t>
            </a:r>
          </a:p>
          <a:p>
            <a:pPr rtl="1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0B346A-6425-93FF-49D7-9BAF88BAAF06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A103000424346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505912965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theme/theme1.xml><?xml version="1.0" encoding="utf-8"?>
<a:theme xmlns:a="http://schemas.openxmlformats.org/drawingml/2006/main" name="1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Agriculture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1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2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3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14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5CA97BB98D954187A61B8775138C0A" ma:contentTypeVersion="18" ma:contentTypeDescription="Create a new document." ma:contentTypeScope="" ma:versionID="de24caa4c0e3be310f88c5303a429eda">
  <xsd:schema xmlns:xsd="http://www.w3.org/2001/XMLSchema" xmlns:xs="http://www.w3.org/2001/XMLSchema" xmlns:p="http://schemas.microsoft.com/office/2006/metadata/properties" xmlns:ns1="http://schemas.microsoft.com/sharepoint/v3" xmlns:ns2="a26a0597-d0d1-4250-940c-88e9bf9d5597" xmlns:ns3="6881431a-e3b2-481e-ba90-fae26e2fa83c" targetNamespace="http://schemas.microsoft.com/office/2006/metadata/properties" ma:root="true" ma:fieldsID="13345d94bc33d60197014d8f23048d11" ns1:_="" ns2:_="" ns3:_="">
    <xsd:import namespace="http://schemas.microsoft.com/sharepoint/v3"/>
    <xsd:import namespace="a26a0597-d0d1-4250-940c-88e9bf9d5597"/>
    <xsd:import namespace="6881431a-e3b2-481e-ba90-fae26e2fa83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6a0597-d0d1-4250-940c-88e9bf9d559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3b19cccf-beb9-4e4d-a7ce-d3aacf7fbe52}" ma:internalName="TaxCatchAll" ma:showField="CatchAllData" ma:web="a26a0597-d0d1-4250-940c-88e9bf9d559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81431a-e3b2-481e-ba90-fae26e2fa8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a26a0597-d0d1-4250-940c-88e9bf9d5597" xsi:nil="true"/>
    <lcf76f155ced4ddcb4097134ff3c332f xmlns="6881431a-e3b2-481e-ba90-fae26e2fa83c">
      <Terms xmlns="http://schemas.microsoft.com/office/infopath/2007/PartnerControls"/>
    </lcf76f155ced4ddcb4097134ff3c332f>
    <SharedWithUsers xmlns="a26a0597-d0d1-4250-940c-88e9bf9d5597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5E06FA75-C290-499C-BD1B-F7FA48CAA5F5}"/>
</file>

<file path=customXml/itemProps2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848C615-482B-4AB5-9FE7-A2F3E6CFF2B1}">
  <ds:schemaRefs>
    <ds:schemaRef ds:uri="7c1bd8dc-4e40-424f-a15f-9ffcd522197f"/>
    <ds:schemaRef ds:uri="http://schemas.microsoft.com/sharepoint/v3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purl.org/dc/terms/"/>
    <ds:schemaRef ds:uri="http://www.w3.org/XML/1998/namespace"/>
    <ds:schemaRef ds:uri="6125ffc9-2c56-435e-8267-1393444907b2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9317</TotalTime>
  <Words>2265</Words>
  <Application>Microsoft Office PowerPoint</Application>
  <PresentationFormat>On-screen Show (4:3)</PresentationFormat>
  <Paragraphs>343</Paragraphs>
  <Slides>23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14</vt:i4>
      </vt:variant>
      <vt:variant>
        <vt:lpstr>Slide Titles</vt:lpstr>
      </vt:variant>
      <vt:variant>
        <vt:i4>23</vt:i4>
      </vt:variant>
    </vt:vector>
  </HeadingPairs>
  <TitlesOfParts>
    <vt:vector size="44" baseType="lpstr">
      <vt:lpstr>Arial</vt:lpstr>
      <vt:lpstr>Calibri</vt:lpstr>
      <vt:lpstr>Open Sans</vt:lpstr>
      <vt:lpstr>Sakkal Majalla</vt:lpstr>
      <vt:lpstr>Times New Roman</vt:lpstr>
      <vt:lpstr>Verdana</vt:lpstr>
      <vt:lpstr>Wingdings</vt:lpstr>
      <vt:lpstr>1_Information Technology</vt:lpstr>
      <vt:lpstr>2_Construction</vt:lpstr>
      <vt:lpstr>3_Business</vt:lpstr>
      <vt:lpstr>4_Engineering</vt:lpstr>
      <vt:lpstr>5_Art and Design</vt:lpstr>
      <vt:lpstr>6_Hospitality</vt:lpstr>
      <vt:lpstr>7_Agriculture</vt:lpstr>
      <vt:lpstr>8_Travel and Tourism</vt:lpstr>
      <vt:lpstr>9_Creative Media</vt:lpstr>
      <vt:lpstr>10_Beauty Therapy</vt:lpstr>
      <vt:lpstr>11_Beauty Therapy</vt:lpstr>
      <vt:lpstr>12_Beauty Therapy</vt:lpstr>
      <vt:lpstr>13_Beauty Therapy</vt:lpstr>
      <vt:lpstr>14_Beauty Therapy</vt:lpstr>
      <vt:lpstr>الوحدة 1 مبادئ اللياقة البدنية واختبارات اللياقة البدنية  </vt:lpstr>
      <vt:lpstr>الوحدة 1 مبادئ اللياقة البدنية واختبارات اللياقة البدنية</vt:lpstr>
      <vt:lpstr>نتاجات التعلم</vt:lpstr>
      <vt:lpstr>ما هي اللياقة البدنية؟ – فكّر وناقش زميلك ثم شارك أفكارك مع الجميع</vt:lpstr>
      <vt:lpstr>PowerPoint Presentation</vt:lpstr>
      <vt:lpstr>أ1 - عناصر اللياقة البدنية المتعلقة بالصحة</vt:lpstr>
      <vt:lpstr>أ2 - عناصر اللياقة البدنية المتعلقة بالمهارات</vt:lpstr>
      <vt:lpstr>أ1/ أ2 – مهمة: ترتيب مكونات اللياقة البدنية بحسب أهميتها لكل رياضة: </vt:lpstr>
      <vt:lpstr>أ3 - المهمة: مطابقة كل مكون من مكوّنات اللياقة البدنية بالاختبار المناسب له. </vt:lpstr>
      <vt:lpstr>PowerPoint Presentation</vt:lpstr>
      <vt:lpstr>أ3 - A3 – ما المقصود ببطارية الاختبارات؟</vt:lpstr>
      <vt:lpstr>أ3 – المهمة: صمّم بطارية اختبارات خاصة بك</vt:lpstr>
      <vt:lpstr>أ4 – تصنيف الرياضات</vt:lpstr>
      <vt:lpstr>أ4 - المهمة: يختار المتعلم أربع رياضات مختلفة، ويصنّفها وفق المعايير الآتية:</vt:lpstr>
      <vt:lpstr>PowerPoint Presentation</vt:lpstr>
      <vt:lpstr>PowerPoint Presentation</vt:lpstr>
      <vt:lpstr>PowerPoint Presentation</vt:lpstr>
      <vt:lpstr>ب2 – ما الذي يجب مراعاته عند تخطيط جلسة لاختبار اللياقة البدنية؟</vt:lpstr>
      <vt:lpstr>ب 3 - إجراء اختبارات اللياقة البدنية</vt:lpstr>
      <vt:lpstr>PowerPoint Presentation</vt:lpstr>
      <vt:lpstr>PowerPoint Presentation</vt:lpstr>
      <vt:lpstr>ج2 - تقديم التعليقات لرياضي محدد</vt:lpstr>
      <vt:lpstr>شكر وتقدير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</dc:title>
  <dc:creator>Microsoft Office User</dc:creator>
  <cp:lastModifiedBy>Paul Winser</cp:lastModifiedBy>
  <cp:revision>827</cp:revision>
  <dcterms:created xsi:type="dcterms:W3CDTF">2020-07-15T07:14:47Z</dcterms:created>
  <dcterms:modified xsi:type="dcterms:W3CDTF">2025-09-24T10:30:26Z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0x010100105CA97BB98D954187A61B8775138C0A</vt:lpwstr>
  </property>
  <property fmtid="{D5CDD505-2E9C-101B-9397-08002B2CF9AE}" pid="4" name="MediaServiceImageTags">
    <vt:lpwstr/>
  </property>
  <property fmtid="{D5CDD505-2E9C-101B-9397-08002B2CF9AE}" pid="5" name="Order">
    <vt:r8>17596500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</Properties>
</file>