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9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theme/theme11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2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theme/theme13.xml" ContentType="application/vnd.openxmlformats-officedocument.theme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50"/>
  </p:notesMasterIdLst>
  <p:handoutMasterIdLst>
    <p:handoutMasterId r:id="rId51"/>
  </p:handoutMasterIdLst>
  <p:sldIdLst>
    <p:sldId id="310" r:id="rId18"/>
    <p:sldId id="311" r:id="rId19"/>
    <p:sldId id="312" r:id="rId20"/>
    <p:sldId id="313" r:id="rId21"/>
    <p:sldId id="314" r:id="rId22"/>
    <p:sldId id="389" r:id="rId23"/>
    <p:sldId id="386" r:id="rId24"/>
    <p:sldId id="419" r:id="rId25"/>
    <p:sldId id="416" r:id="rId26"/>
    <p:sldId id="417" r:id="rId27"/>
    <p:sldId id="418" r:id="rId28"/>
    <p:sldId id="405" r:id="rId29"/>
    <p:sldId id="406" r:id="rId30"/>
    <p:sldId id="318" r:id="rId31"/>
    <p:sldId id="415" r:id="rId32"/>
    <p:sldId id="392" r:id="rId33"/>
    <p:sldId id="396" r:id="rId34"/>
    <p:sldId id="394" r:id="rId35"/>
    <p:sldId id="407" r:id="rId36"/>
    <p:sldId id="408" r:id="rId37"/>
    <p:sldId id="414" r:id="rId38"/>
    <p:sldId id="409" r:id="rId39"/>
    <p:sldId id="420" r:id="rId40"/>
    <p:sldId id="410" r:id="rId41"/>
    <p:sldId id="411" r:id="rId42"/>
    <p:sldId id="315" r:id="rId43"/>
    <p:sldId id="368" r:id="rId44"/>
    <p:sldId id="400" r:id="rId45"/>
    <p:sldId id="398" r:id="rId46"/>
    <p:sldId id="412" r:id="rId47"/>
    <p:sldId id="413" r:id="rId48"/>
    <p:sldId id="327" r:id="rId49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D8878-C9E2-4691-B506-57A04F9F74B1}" v="33" dt="2025-09-26T08:14:14.680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9" autoAdjust="0"/>
    <p:restoredTop sz="89545" autoAdjust="0"/>
  </p:normalViewPr>
  <p:slideViewPr>
    <p:cSldViewPr>
      <p:cViewPr varScale="1">
        <p:scale>
          <a:sx n="134" d="100"/>
          <a:sy n="134" d="100"/>
        </p:scale>
        <p:origin x="2970" y="336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9" Type="http://schemas.openxmlformats.org/officeDocument/2006/relationships/slide" Target="slides/slide22.xml"/><Relationship Id="rId21" Type="http://schemas.openxmlformats.org/officeDocument/2006/relationships/slide" Target="slides/slide4.xml"/><Relationship Id="rId34" Type="http://schemas.openxmlformats.org/officeDocument/2006/relationships/slide" Target="slides/slide17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9" Type="http://schemas.openxmlformats.org/officeDocument/2006/relationships/slide" Target="slides/slide12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1EBD8878-C9E2-4691-B506-57A04F9F74B1}"/>
    <pc:docChg chg="custSel addSld modSld sldOrd">
      <pc:chgData name="Paul Winser" userId="c3146a91-e6bd-4264-bd86-e164e04bc32d" providerId="ADAL" clId="{1EBD8878-C9E2-4691-B506-57A04F9F74B1}" dt="2025-09-26T08:14:14.680" v="66"/>
      <pc:docMkLst>
        <pc:docMk/>
      </pc:docMkLst>
      <pc:sldChg chg="addSp modSp mod ord">
        <pc:chgData name="Paul Winser" userId="c3146a91-e6bd-4264-bd86-e164e04bc32d" providerId="ADAL" clId="{1EBD8878-C9E2-4691-B506-57A04F9F74B1}" dt="2025-09-24T11:38:29.912" v="5" actId="1076"/>
        <pc:sldMkLst>
          <pc:docMk/>
          <pc:sldMk cId="3877310269" sldId="310"/>
        </pc:sldMkLst>
        <pc:spChg chg="add mod">
          <ac:chgData name="Paul Winser" userId="c3146a91-e6bd-4264-bd86-e164e04bc32d" providerId="ADAL" clId="{1EBD8878-C9E2-4691-B506-57A04F9F74B1}" dt="2025-09-24T11:38:29.912" v="5" actId="1076"/>
          <ac:spMkLst>
            <pc:docMk/>
            <pc:sldMk cId="3877310269" sldId="310"/>
            <ac:spMk id="2" creationId="{956EB7BC-FA6B-064A-4844-BDE6075EB076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11.769" v="36" actId="478"/>
        <pc:sldMkLst>
          <pc:docMk/>
          <pc:sldMk cId="1039666052" sldId="311"/>
        </pc:sldMkLst>
        <pc:spChg chg="add mod">
          <ac:chgData name="Paul Winser" userId="c3146a91-e6bd-4264-bd86-e164e04bc32d" providerId="ADAL" clId="{1EBD8878-C9E2-4691-B506-57A04F9F74B1}" dt="2025-09-24T11:38:31.742" v="6"/>
          <ac:spMkLst>
            <pc:docMk/>
            <pc:sldMk cId="1039666052" sldId="311"/>
            <ac:spMk id="2" creationId="{C51ACEBC-5E18-8597-0BE2-3DB5BE2F23AA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14.228" v="37" actId="478"/>
        <pc:sldMkLst>
          <pc:docMk/>
          <pc:sldMk cId="1462100039" sldId="312"/>
        </pc:sldMkLst>
        <pc:spChg chg="add mod">
          <ac:chgData name="Paul Winser" userId="c3146a91-e6bd-4264-bd86-e164e04bc32d" providerId="ADAL" clId="{1EBD8878-C9E2-4691-B506-57A04F9F74B1}" dt="2025-09-24T11:38:32.853" v="7"/>
          <ac:spMkLst>
            <pc:docMk/>
            <pc:sldMk cId="1462100039" sldId="312"/>
            <ac:spMk id="2" creationId="{A0A08E8B-FC83-5124-E6B1-1F547B3B5291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16.512" v="38" actId="478"/>
        <pc:sldMkLst>
          <pc:docMk/>
          <pc:sldMk cId="0" sldId="313"/>
        </pc:sldMkLst>
        <pc:spChg chg="add mod">
          <ac:chgData name="Paul Winser" userId="c3146a91-e6bd-4264-bd86-e164e04bc32d" providerId="ADAL" clId="{1EBD8878-C9E2-4691-B506-57A04F9F74B1}" dt="2025-09-24T11:38:34.256" v="8"/>
          <ac:spMkLst>
            <pc:docMk/>
            <pc:sldMk cId="0" sldId="313"/>
            <ac:spMk id="2" creationId="{8B4481B2-C4BD-4809-61EE-ED44CDB1E9DB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18.907" v="39" actId="478"/>
        <pc:sldMkLst>
          <pc:docMk/>
          <pc:sldMk cId="0" sldId="314"/>
        </pc:sldMkLst>
        <pc:spChg chg="add mod">
          <ac:chgData name="Paul Winser" userId="c3146a91-e6bd-4264-bd86-e164e04bc32d" providerId="ADAL" clId="{1EBD8878-C9E2-4691-B506-57A04F9F74B1}" dt="2025-09-24T11:38:35.566" v="9"/>
          <ac:spMkLst>
            <pc:docMk/>
            <pc:sldMk cId="0" sldId="314"/>
            <ac:spMk id="2" creationId="{2D510764-A8FE-38A5-A0B7-472E5C2DDD2B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15.770" v="60" actId="478"/>
        <pc:sldMkLst>
          <pc:docMk/>
          <pc:sldMk cId="3334210411" sldId="315"/>
        </pc:sldMkLst>
        <pc:spChg chg="add mod">
          <ac:chgData name="Paul Winser" userId="c3146a91-e6bd-4264-bd86-e164e04bc32d" providerId="ADAL" clId="{1EBD8878-C9E2-4691-B506-57A04F9F74B1}" dt="2025-09-24T11:39:01.937" v="30"/>
          <ac:spMkLst>
            <pc:docMk/>
            <pc:sldMk cId="3334210411" sldId="315"/>
            <ac:spMk id="2" creationId="{B3D77A3B-2006-A459-17C0-0527983167B0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45.306" v="48" actId="478"/>
        <pc:sldMkLst>
          <pc:docMk/>
          <pc:sldMk cId="0" sldId="318"/>
        </pc:sldMkLst>
        <pc:spChg chg="add mod">
          <ac:chgData name="Paul Winser" userId="c3146a91-e6bd-4264-bd86-e164e04bc32d" providerId="ADAL" clId="{1EBD8878-C9E2-4691-B506-57A04F9F74B1}" dt="2025-09-24T11:38:47.360" v="18"/>
          <ac:spMkLst>
            <pc:docMk/>
            <pc:sldMk cId="0" sldId="318"/>
            <ac:spMk id="2" creationId="{7F0CA6FF-9A30-4F8F-5FDF-BF71843E1A20}"/>
          </ac:spMkLst>
        </pc:spChg>
      </pc:sldChg>
      <pc:sldChg chg="add modTransition">
        <pc:chgData name="Paul Winser" userId="c3146a91-e6bd-4264-bd86-e164e04bc32d" providerId="ADAL" clId="{1EBD8878-C9E2-4691-B506-57A04F9F74B1}" dt="2025-09-26T08:14:14.680" v="66"/>
        <pc:sldMkLst>
          <pc:docMk/>
          <pc:sldMk cId="3505912965" sldId="327"/>
        </pc:sldMkLst>
      </pc:sldChg>
      <pc:sldChg chg="addSp delSp modSp mod">
        <pc:chgData name="Paul Winser" userId="c3146a91-e6bd-4264-bd86-e164e04bc32d" providerId="ADAL" clId="{1EBD8878-C9E2-4691-B506-57A04F9F74B1}" dt="2025-09-24T11:40:17.930" v="61" actId="478"/>
        <pc:sldMkLst>
          <pc:docMk/>
          <pc:sldMk cId="1964682449" sldId="368"/>
        </pc:sldMkLst>
        <pc:spChg chg="add mod">
          <ac:chgData name="Paul Winser" userId="c3146a91-e6bd-4264-bd86-e164e04bc32d" providerId="ADAL" clId="{1EBD8878-C9E2-4691-B506-57A04F9F74B1}" dt="2025-09-24T11:39:03.054" v="31"/>
          <ac:spMkLst>
            <pc:docMk/>
            <pc:sldMk cId="1964682449" sldId="368"/>
            <ac:spMk id="4" creationId="{9549D0AE-BB10-5E8E-F973-091D4C5B7785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25.682" v="41" actId="478"/>
        <pc:sldMkLst>
          <pc:docMk/>
          <pc:sldMk cId="1012658334" sldId="386"/>
        </pc:sldMkLst>
        <pc:spChg chg="add mod">
          <ac:chgData name="Paul Winser" userId="c3146a91-e6bd-4264-bd86-e164e04bc32d" providerId="ADAL" clId="{1EBD8878-C9E2-4691-B506-57A04F9F74B1}" dt="2025-09-24T11:38:38.662" v="11"/>
          <ac:spMkLst>
            <pc:docMk/>
            <pc:sldMk cId="1012658334" sldId="386"/>
            <ac:spMk id="4" creationId="{69A527B9-A456-5783-1BC5-4ECDD15343E7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22.922" v="40" actId="478"/>
        <pc:sldMkLst>
          <pc:docMk/>
          <pc:sldMk cId="3174545517" sldId="389"/>
        </pc:sldMkLst>
        <pc:spChg chg="add mod">
          <ac:chgData name="Paul Winser" userId="c3146a91-e6bd-4264-bd86-e164e04bc32d" providerId="ADAL" clId="{1EBD8878-C9E2-4691-B506-57A04F9F74B1}" dt="2025-09-24T11:38:37.009" v="10"/>
          <ac:spMkLst>
            <pc:docMk/>
            <pc:sldMk cId="3174545517" sldId="389"/>
            <ac:spMk id="2" creationId="{B2E85B03-4B4A-DE6B-D02A-FA6365B09F03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50.279" v="50" actId="478"/>
        <pc:sldMkLst>
          <pc:docMk/>
          <pc:sldMk cId="2808522993" sldId="392"/>
        </pc:sldMkLst>
        <pc:spChg chg="add mod">
          <ac:chgData name="Paul Winser" userId="c3146a91-e6bd-4264-bd86-e164e04bc32d" providerId="ADAL" clId="{1EBD8878-C9E2-4691-B506-57A04F9F74B1}" dt="2025-09-24T11:38:49.758" v="20"/>
          <ac:spMkLst>
            <pc:docMk/>
            <pc:sldMk cId="2808522993" sldId="392"/>
            <ac:spMk id="2" creationId="{AEB105AA-5150-60E9-F6DA-268455C0154C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55.273" v="52" actId="478"/>
        <pc:sldMkLst>
          <pc:docMk/>
          <pc:sldMk cId="3971446057" sldId="394"/>
        </pc:sldMkLst>
        <pc:spChg chg="add mod">
          <ac:chgData name="Paul Winser" userId="c3146a91-e6bd-4264-bd86-e164e04bc32d" providerId="ADAL" clId="{1EBD8878-C9E2-4691-B506-57A04F9F74B1}" dt="2025-09-24T11:38:52.048" v="22"/>
          <ac:spMkLst>
            <pc:docMk/>
            <pc:sldMk cId="3971446057" sldId="394"/>
            <ac:spMk id="2" creationId="{EF85AA57-E6D7-3A98-78A3-5B01CAB4B6D7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52.632" v="51" actId="478"/>
        <pc:sldMkLst>
          <pc:docMk/>
          <pc:sldMk cId="1390131937" sldId="396"/>
        </pc:sldMkLst>
        <pc:spChg chg="add mod">
          <ac:chgData name="Paul Winser" userId="c3146a91-e6bd-4264-bd86-e164e04bc32d" providerId="ADAL" clId="{1EBD8878-C9E2-4691-B506-57A04F9F74B1}" dt="2025-09-24T11:38:50.897" v="21"/>
          <ac:spMkLst>
            <pc:docMk/>
            <pc:sldMk cId="1390131937" sldId="396"/>
            <ac:spMk id="2" creationId="{0C01371A-E994-44A6-BCD8-79F1E9D93916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22.427" v="63" actId="478"/>
        <pc:sldMkLst>
          <pc:docMk/>
          <pc:sldMk cId="2597595156" sldId="398"/>
        </pc:sldMkLst>
        <pc:spChg chg="add mod">
          <ac:chgData name="Paul Winser" userId="c3146a91-e6bd-4264-bd86-e164e04bc32d" providerId="ADAL" clId="{1EBD8878-C9E2-4691-B506-57A04F9F74B1}" dt="2025-09-24T11:39:05.503" v="33"/>
          <ac:spMkLst>
            <pc:docMk/>
            <pc:sldMk cId="2597595156" sldId="398"/>
            <ac:spMk id="2" creationId="{C307808D-3E84-D3D0-C142-B0543C736342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20.092" v="62" actId="478"/>
        <pc:sldMkLst>
          <pc:docMk/>
          <pc:sldMk cId="2810678467" sldId="400"/>
        </pc:sldMkLst>
        <pc:spChg chg="add mod">
          <ac:chgData name="Paul Winser" userId="c3146a91-e6bd-4264-bd86-e164e04bc32d" providerId="ADAL" clId="{1EBD8878-C9E2-4691-B506-57A04F9F74B1}" dt="2025-09-24T11:39:04.209" v="32"/>
          <ac:spMkLst>
            <pc:docMk/>
            <pc:sldMk cId="2810678467" sldId="400"/>
            <ac:spMk id="2" creationId="{E2BE2D0A-17F4-722E-BBE2-BFC0BE74A0E6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39.448" v="46" actId="478"/>
        <pc:sldMkLst>
          <pc:docMk/>
          <pc:sldMk cId="1633058306" sldId="405"/>
        </pc:sldMkLst>
        <pc:spChg chg="add mod">
          <ac:chgData name="Paul Winser" userId="c3146a91-e6bd-4264-bd86-e164e04bc32d" providerId="ADAL" clId="{1EBD8878-C9E2-4691-B506-57A04F9F74B1}" dt="2025-09-24T11:38:44.665" v="16"/>
          <ac:spMkLst>
            <pc:docMk/>
            <pc:sldMk cId="1633058306" sldId="405"/>
            <ac:spMk id="2" creationId="{8BF7106A-40E7-4C93-AB54-025870185B75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42.473" v="47" actId="478"/>
        <pc:sldMkLst>
          <pc:docMk/>
          <pc:sldMk cId="944149687" sldId="406"/>
        </pc:sldMkLst>
        <pc:spChg chg="add mod">
          <ac:chgData name="Paul Winser" userId="c3146a91-e6bd-4264-bd86-e164e04bc32d" providerId="ADAL" clId="{1EBD8878-C9E2-4691-B506-57A04F9F74B1}" dt="2025-09-24T11:38:45.802" v="17"/>
          <ac:spMkLst>
            <pc:docMk/>
            <pc:sldMk cId="944149687" sldId="406"/>
            <ac:spMk id="3" creationId="{4AD66453-6E9F-5DC8-F228-1B1E07BAA89D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57.512" v="53" actId="478"/>
        <pc:sldMkLst>
          <pc:docMk/>
          <pc:sldMk cId="3669190882" sldId="407"/>
        </pc:sldMkLst>
        <pc:spChg chg="add mod">
          <ac:chgData name="Paul Winser" userId="c3146a91-e6bd-4264-bd86-e164e04bc32d" providerId="ADAL" clId="{1EBD8878-C9E2-4691-B506-57A04F9F74B1}" dt="2025-09-24T11:38:53.502" v="23"/>
          <ac:spMkLst>
            <pc:docMk/>
            <pc:sldMk cId="3669190882" sldId="407"/>
            <ac:spMk id="2" creationId="{A27B819E-3500-3935-7D97-199CCDF16A9B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00.120" v="54" actId="478"/>
        <pc:sldMkLst>
          <pc:docMk/>
          <pc:sldMk cId="2955612771" sldId="408"/>
        </pc:sldMkLst>
        <pc:spChg chg="add mod">
          <ac:chgData name="Paul Winser" userId="c3146a91-e6bd-4264-bd86-e164e04bc32d" providerId="ADAL" clId="{1EBD8878-C9E2-4691-B506-57A04F9F74B1}" dt="2025-09-24T11:38:54.632" v="24"/>
          <ac:spMkLst>
            <pc:docMk/>
            <pc:sldMk cId="2955612771" sldId="408"/>
            <ac:spMk id="2" creationId="{C794B44D-2D1A-2CD4-A053-92D41DD9127A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05.646" v="56" actId="478"/>
        <pc:sldMkLst>
          <pc:docMk/>
          <pc:sldMk cId="3090561668" sldId="409"/>
        </pc:sldMkLst>
        <pc:spChg chg="add mod">
          <ac:chgData name="Paul Winser" userId="c3146a91-e6bd-4264-bd86-e164e04bc32d" providerId="ADAL" clId="{1EBD8878-C9E2-4691-B506-57A04F9F74B1}" dt="2025-09-24T11:38:56.816" v="26"/>
          <ac:spMkLst>
            <pc:docMk/>
            <pc:sldMk cId="3090561668" sldId="409"/>
            <ac:spMk id="2" creationId="{E369C8B0-F478-71F3-2DCD-0E2876406D7C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10.595" v="58" actId="478"/>
        <pc:sldMkLst>
          <pc:docMk/>
          <pc:sldMk cId="2324275517" sldId="410"/>
        </pc:sldMkLst>
        <pc:spChg chg="add mod">
          <ac:chgData name="Paul Winser" userId="c3146a91-e6bd-4264-bd86-e164e04bc32d" providerId="ADAL" clId="{1EBD8878-C9E2-4691-B506-57A04F9F74B1}" dt="2025-09-24T11:38:59.214" v="28"/>
          <ac:spMkLst>
            <pc:docMk/>
            <pc:sldMk cId="2324275517" sldId="410"/>
            <ac:spMk id="2" creationId="{5026D65E-05CB-1B81-12DA-BEACA7B76678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13.486" v="59" actId="478"/>
        <pc:sldMkLst>
          <pc:docMk/>
          <pc:sldMk cId="1372153897" sldId="411"/>
        </pc:sldMkLst>
        <pc:spChg chg="add mod">
          <ac:chgData name="Paul Winser" userId="c3146a91-e6bd-4264-bd86-e164e04bc32d" providerId="ADAL" clId="{1EBD8878-C9E2-4691-B506-57A04F9F74B1}" dt="2025-09-24T11:39:00.652" v="29"/>
          <ac:spMkLst>
            <pc:docMk/>
            <pc:sldMk cId="1372153897" sldId="411"/>
            <ac:spMk id="5" creationId="{4F7CCAA6-D740-2CAE-D9CB-95EBEEEA9BD1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25.148" v="64" actId="478"/>
        <pc:sldMkLst>
          <pc:docMk/>
          <pc:sldMk cId="1613158698" sldId="412"/>
        </pc:sldMkLst>
        <pc:spChg chg="add mod">
          <ac:chgData name="Paul Winser" userId="c3146a91-e6bd-4264-bd86-e164e04bc32d" providerId="ADAL" clId="{1EBD8878-C9E2-4691-B506-57A04F9F74B1}" dt="2025-09-24T11:39:06.535" v="34"/>
          <ac:spMkLst>
            <pc:docMk/>
            <pc:sldMk cId="1613158698" sldId="412"/>
            <ac:spMk id="2" creationId="{7EEA78EA-3B4A-946B-DD86-38B1B9690BDF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27.762" v="65" actId="478"/>
        <pc:sldMkLst>
          <pc:docMk/>
          <pc:sldMk cId="160871711" sldId="413"/>
        </pc:sldMkLst>
        <pc:spChg chg="add mod">
          <ac:chgData name="Paul Winser" userId="c3146a91-e6bd-4264-bd86-e164e04bc32d" providerId="ADAL" clId="{1EBD8878-C9E2-4691-B506-57A04F9F74B1}" dt="2025-09-24T11:39:07.439" v="35"/>
          <ac:spMkLst>
            <pc:docMk/>
            <pc:sldMk cId="160871711" sldId="413"/>
            <ac:spMk id="2" creationId="{B62ED0B6-22E4-812A-9374-78A23A517EB0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02.824" v="55" actId="478"/>
        <pc:sldMkLst>
          <pc:docMk/>
          <pc:sldMk cId="3858898588" sldId="414"/>
        </pc:sldMkLst>
        <pc:spChg chg="add mod">
          <ac:chgData name="Paul Winser" userId="c3146a91-e6bd-4264-bd86-e164e04bc32d" providerId="ADAL" clId="{1EBD8878-C9E2-4691-B506-57A04F9F74B1}" dt="2025-09-24T11:38:55.725" v="25"/>
          <ac:spMkLst>
            <pc:docMk/>
            <pc:sldMk cId="3858898588" sldId="414"/>
            <ac:spMk id="2" creationId="{989D6F17-B9F4-F5C4-F9ED-667EFF0B42A7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47.777" v="49" actId="478"/>
        <pc:sldMkLst>
          <pc:docMk/>
          <pc:sldMk cId="183447153" sldId="415"/>
        </pc:sldMkLst>
        <pc:spChg chg="add mod">
          <ac:chgData name="Paul Winser" userId="c3146a91-e6bd-4264-bd86-e164e04bc32d" providerId="ADAL" clId="{1EBD8878-C9E2-4691-B506-57A04F9F74B1}" dt="2025-09-24T11:38:48.475" v="19"/>
          <ac:spMkLst>
            <pc:docMk/>
            <pc:sldMk cId="183447153" sldId="415"/>
            <ac:spMk id="2" creationId="{02C681EC-1417-03C9-E782-93C222519188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30.802" v="43" actId="478"/>
        <pc:sldMkLst>
          <pc:docMk/>
          <pc:sldMk cId="42711481" sldId="416"/>
        </pc:sldMkLst>
        <pc:spChg chg="add mod">
          <ac:chgData name="Paul Winser" userId="c3146a91-e6bd-4264-bd86-e164e04bc32d" providerId="ADAL" clId="{1EBD8878-C9E2-4691-B506-57A04F9F74B1}" dt="2025-09-24T11:38:40.999" v="13"/>
          <ac:spMkLst>
            <pc:docMk/>
            <pc:sldMk cId="42711481" sldId="416"/>
            <ac:spMk id="3" creationId="{A99D081C-EE62-2050-FF13-A3A4E195B6FC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33.455" v="44" actId="478"/>
        <pc:sldMkLst>
          <pc:docMk/>
          <pc:sldMk cId="183267587" sldId="417"/>
        </pc:sldMkLst>
        <pc:spChg chg="add mod">
          <ac:chgData name="Paul Winser" userId="c3146a91-e6bd-4264-bd86-e164e04bc32d" providerId="ADAL" clId="{1EBD8878-C9E2-4691-B506-57A04F9F74B1}" dt="2025-09-24T11:38:42.332" v="14"/>
          <ac:spMkLst>
            <pc:docMk/>
            <pc:sldMk cId="183267587" sldId="417"/>
            <ac:spMk id="3" creationId="{43A6AB6E-E491-D735-37D0-D9FEE89DFE25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36.290" v="45" actId="478"/>
        <pc:sldMkLst>
          <pc:docMk/>
          <pc:sldMk cId="72626727" sldId="418"/>
        </pc:sldMkLst>
        <pc:spChg chg="add mod">
          <ac:chgData name="Paul Winser" userId="c3146a91-e6bd-4264-bd86-e164e04bc32d" providerId="ADAL" clId="{1EBD8878-C9E2-4691-B506-57A04F9F74B1}" dt="2025-09-24T11:38:43.504" v="15"/>
          <ac:spMkLst>
            <pc:docMk/>
            <pc:sldMk cId="72626727" sldId="418"/>
            <ac:spMk id="2" creationId="{7E4349BA-2D9A-7B5D-A4E1-59B5F96551C3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39:27.779" v="42" actId="478"/>
        <pc:sldMkLst>
          <pc:docMk/>
          <pc:sldMk cId="1874517233" sldId="419"/>
        </pc:sldMkLst>
        <pc:spChg chg="add mod">
          <ac:chgData name="Paul Winser" userId="c3146a91-e6bd-4264-bd86-e164e04bc32d" providerId="ADAL" clId="{1EBD8878-C9E2-4691-B506-57A04F9F74B1}" dt="2025-09-24T11:38:39.808" v="12"/>
          <ac:spMkLst>
            <pc:docMk/>
            <pc:sldMk cId="1874517233" sldId="419"/>
            <ac:spMk id="3" creationId="{4625122D-FDF5-928D-F851-FE8A13E27D8A}"/>
          </ac:spMkLst>
        </pc:spChg>
      </pc:sldChg>
      <pc:sldChg chg="addSp delSp modSp mod">
        <pc:chgData name="Paul Winser" userId="c3146a91-e6bd-4264-bd86-e164e04bc32d" providerId="ADAL" clId="{1EBD8878-C9E2-4691-B506-57A04F9F74B1}" dt="2025-09-24T11:40:08.105" v="57" actId="478"/>
        <pc:sldMkLst>
          <pc:docMk/>
          <pc:sldMk cId="4245421003" sldId="420"/>
        </pc:sldMkLst>
        <pc:spChg chg="add mod">
          <ac:chgData name="Paul Winser" userId="c3146a91-e6bd-4264-bd86-e164e04bc32d" providerId="ADAL" clId="{1EBD8878-C9E2-4691-B506-57A04F9F74B1}" dt="2025-09-24T11:38:57.902" v="27"/>
          <ac:spMkLst>
            <pc:docMk/>
            <pc:sldMk cId="4245421003" sldId="420"/>
            <ac:spMk id="2" creationId="{073CA845-3577-7CB5-520E-9F1C0C2384D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C1924-855A-DE4F-BF8F-85CB9CA1AB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3CB8E061-2E8D-CD44-B4A5-3A5E783C7652}">
      <dgm:prSet custT="1"/>
      <dgm:spPr>
        <a:solidFill>
          <a:schemeClr val="accent5">
            <a:lumMod val="75000"/>
          </a:schemeClr>
        </a:soli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يمكن أن تتخذ القيادة الرياضية العديد من الأشكال المختلفة:</a:t>
          </a:r>
        </a:p>
      </dgm:t>
    </dgm:pt>
    <dgm:pt modelId="{60DE437F-5271-EB4B-B532-4CF70ABC6533}" type="parTrans" cxnId="{E9D4A9F4-0649-7B42-9F5A-E132295F0067}">
      <dgm:prSet/>
      <dgm:spPr/>
      <dgm:t>
        <a:bodyPr rtlCol="1"/>
        <a:lstStyle/>
        <a:p>
          <a:pPr rtl="1"/>
          <a:endParaRPr lang="en-GB"/>
        </a:p>
      </dgm:t>
    </dgm:pt>
    <dgm:pt modelId="{B895ABC1-CB1F-834F-858D-AF0401C4AEC2}" type="sibTrans" cxnId="{E9D4A9F4-0649-7B42-9F5A-E132295F0067}">
      <dgm:prSet/>
      <dgm:spPr/>
      <dgm:t>
        <a:bodyPr rtlCol="1"/>
        <a:lstStyle/>
        <a:p>
          <a:pPr rtl="1"/>
          <a:endParaRPr lang="en-GB"/>
        </a:p>
      </dgm:t>
    </dgm:pt>
    <dgm:pt modelId="{E6A13A45-986D-0649-99F7-AEACB2569460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قادة النشاطات</a:t>
          </a:r>
          <a:endParaRPr lang="en-GB" sz="1600" kern="1200" dirty="0">
            <a:solidFill>
              <a:schemeClr val="tx1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5D673E95-F33B-9244-B4B9-775D6AFF5BEB}" type="parTrans" cxnId="{C40F28B6-E847-DB41-AC09-20B516DF2F03}">
      <dgm:prSet/>
      <dgm:spPr/>
      <dgm:t>
        <a:bodyPr rtlCol="1"/>
        <a:lstStyle/>
        <a:p>
          <a:pPr rtl="1"/>
          <a:endParaRPr lang="en-GB"/>
        </a:p>
      </dgm:t>
    </dgm:pt>
    <dgm:pt modelId="{35681846-C935-0947-B75B-E4B141867DC9}" type="sibTrans" cxnId="{C40F28B6-E847-DB41-AC09-20B516DF2F03}">
      <dgm:prSet/>
      <dgm:spPr/>
      <dgm:t>
        <a:bodyPr rtlCol="1"/>
        <a:lstStyle/>
        <a:p>
          <a:pPr rtl="1"/>
          <a:endParaRPr lang="en-GB"/>
        </a:p>
      </dgm:t>
    </dgm:pt>
    <dgm:pt modelId="{7AEE8A34-03E1-C848-B18A-767C02008C12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معلمو الرياضة</a:t>
          </a:r>
        </a:p>
      </dgm:t>
    </dgm:pt>
    <dgm:pt modelId="{B5DF048F-EDA6-5A4E-9E62-940953650F34}" type="parTrans" cxnId="{C1C30C89-0DA2-C64C-A45F-035B921F5E86}">
      <dgm:prSet/>
      <dgm:spPr/>
      <dgm:t>
        <a:bodyPr rtlCol="1"/>
        <a:lstStyle/>
        <a:p>
          <a:pPr rtl="1"/>
          <a:endParaRPr lang="en-GB"/>
        </a:p>
      </dgm:t>
    </dgm:pt>
    <dgm:pt modelId="{F39F979F-8714-1B4F-AEEC-3352E17B27D3}" type="sibTrans" cxnId="{C1C30C89-0DA2-C64C-A45F-035B921F5E86}">
      <dgm:prSet/>
      <dgm:spPr/>
      <dgm:t>
        <a:bodyPr rtlCol="1"/>
        <a:lstStyle/>
        <a:p>
          <a:pPr rtl="1"/>
          <a:endParaRPr lang="en-GB"/>
        </a:p>
      </dgm:t>
    </dgm:pt>
    <dgm:pt modelId="{0F940151-9AC7-0848-8D20-1245113269B1}">
      <dgm:prSet custT="1"/>
      <dgm:spPr>
        <a:solidFill>
          <a:schemeClr val="accent5">
            <a:lumMod val="90000"/>
          </a:schemeClr>
        </a:solidFill>
      </dgm:spPr>
      <dgm:t>
        <a:bodyPr rtlCol="1"/>
        <a:lstStyle/>
        <a:p>
          <a:pPr rtl="1"/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مدربو اللياقة البدنية</a:t>
          </a:r>
        </a:p>
      </dgm:t>
    </dgm:pt>
    <dgm:pt modelId="{25C0F816-4B0A-884B-B791-489C2E64A257}" type="parTrans" cxnId="{7F94BFBF-7822-164B-9D7A-C11A5518FDCE}">
      <dgm:prSet/>
      <dgm:spPr/>
      <dgm:t>
        <a:bodyPr rtlCol="1"/>
        <a:lstStyle/>
        <a:p>
          <a:pPr rtl="1"/>
          <a:endParaRPr lang="en-GB"/>
        </a:p>
      </dgm:t>
    </dgm:pt>
    <dgm:pt modelId="{D676217C-B247-814C-A3DD-B9A3C5C93EA7}" type="sibTrans" cxnId="{7F94BFBF-7822-164B-9D7A-C11A5518FDCE}">
      <dgm:prSet/>
      <dgm:spPr/>
      <dgm:t>
        <a:bodyPr rtlCol="1"/>
        <a:lstStyle/>
        <a:p>
          <a:pPr rtl="1"/>
          <a:endParaRPr lang="en-GB"/>
        </a:p>
      </dgm:t>
    </dgm:pt>
    <dgm:pt modelId="{FEFA850F-9821-2B4C-8A1F-71DED340471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مدربو الأندية – المحليون والوطنيون</a:t>
          </a:r>
        </a:p>
      </dgm:t>
    </dgm:pt>
    <dgm:pt modelId="{FFCA96D7-BBC5-9C48-A2B9-4AA60C3805D2}" type="parTrans" cxnId="{8A7D0444-1E16-D644-9F63-7A6B9C5DE954}">
      <dgm:prSet/>
      <dgm:spPr/>
      <dgm:t>
        <a:bodyPr rtlCol="1"/>
        <a:lstStyle/>
        <a:p>
          <a:pPr rtl="1"/>
          <a:endParaRPr lang="en-GB"/>
        </a:p>
      </dgm:t>
    </dgm:pt>
    <dgm:pt modelId="{6AB38072-4EF3-9F4D-87AA-42A838F7A419}" type="sibTrans" cxnId="{8A7D0444-1E16-D644-9F63-7A6B9C5DE954}">
      <dgm:prSet/>
      <dgm:spPr/>
      <dgm:t>
        <a:bodyPr rtlCol="1"/>
        <a:lstStyle/>
        <a:p>
          <a:pPr rtl="1"/>
          <a:endParaRPr lang="en-GB"/>
        </a:p>
      </dgm:t>
    </dgm:pt>
    <dgm:pt modelId="{944BD08E-E177-FD44-93BA-376AA66DBF34}">
      <dgm:prSet custT="1"/>
      <dgm:spPr/>
      <dgm:t>
        <a:bodyPr rtlCol="1"/>
        <a:lstStyle/>
        <a:p>
          <a:pPr rtl="1"/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المدربون الهواة</a:t>
          </a:r>
        </a:p>
      </dgm:t>
    </dgm:pt>
    <dgm:pt modelId="{8153F4CB-B6BF-4442-9A94-AE473E39E78E}" type="parTrans" cxnId="{018D6CF4-19CB-8942-A2F3-772259A46F08}">
      <dgm:prSet/>
      <dgm:spPr/>
      <dgm:t>
        <a:bodyPr rtlCol="1"/>
        <a:lstStyle/>
        <a:p>
          <a:pPr rtl="1"/>
          <a:endParaRPr lang="en-GB"/>
        </a:p>
      </dgm:t>
    </dgm:pt>
    <dgm:pt modelId="{EB74A1AA-752C-734D-B892-6718E701DAF1}" type="sibTrans" cxnId="{018D6CF4-19CB-8942-A2F3-772259A46F08}">
      <dgm:prSet/>
      <dgm:spPr/>
      <dgm:t>
        <a:bodyPr rtlCol="1"/>
        <a:lstStyle/>
        <a:p>
          <a:pPr rtl="1"/>
          <a:endParaRPr lang="en-GB"/>
        </a:p>
      </dgm:t>
    </dgm:pt>
    <dgm:pt modelId="{AD77ABD5-6ADE-604D-A60F-1670E990020A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قادة الفرق</a:t>
          </a:r>
        </a:p>
      </dgm:t>
    </dgm:pt>
    <dgm:pt modelId="{312940F8-4956-B841-84EC-800A83189954}" type="parTrans" cxnId="{20DCCFD7-73BE-4941-AA1A-7E6C54E02895}">
      <dgm:prSet/>
      <dgm:spPr/>
      <dgm:t>
        <a:bodyPr rtlCol="1"/>
        <a:lstStyle/>
        <a:p>
          <a:pPr rtl="1"/>
          <a:endParaRPr lang="en-GB"/>
        </a:p>
      </dgm:t>
    </dgm:pt>
    <dgm:pt modelId="{F2154522-A188-7440-B38F-1D1081AF6FA7}" type="sibTrans" cxnId="{20DCCFD7-73BE-4941-AA1A-7E6C54E02895}">
      <dgm:prSet/>
      <dgm:spPr/>
      <dgm:t>
        <a:bodyPr rtlCol="1"/>
        <a:lstStyle/>
        <a:p>
          <a:pPr rtl="1"/>
          <a:endParaRPr lang="en-GB"/>
        </a:p>
      </dgm:t>
    </dgm:pt>
    <dgm:pt modelId="{33CE6A62-E9FA-164A-80E8-E57E7648D641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1800" b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المدربون في المدارس أو الكليات</a:t>
          </a:r>
        </a:p>
      </dgm:t>
    </dgm:pt>
    <dgm:pt modelId="{1B2FE364-F873-EC4F-BD22-F91C0AC90593}" type="parTrans" cxnId="{FCC10AAC-97A1-A140-A1EF-AAB4247C2FAD}">
      <dgm:prSet/>
      <dgm:spPr/>
      <dgm:t>
        <a:bodyPr rtlCol="1"/>
        <a:lstStyle/>
        <a:p>
          <a:pPr rtl="1"/>
          <a:endParaRPr lang="en-GB"/>
        </a:p>
      </dgm:t>
    </dgm:pt>
    <dgm:pt modelId="{DB379D10-BB38-1D4D-8286-1D3AA6E8434A}" type="sibTrans" cxnId="{FCC10AAC-97A1-A140-A1EF-AAB4247C2FAD}">
      <dgm:prSet/>
      <dgm:spPr/>
      <dgm:t>
        <a:bodyPr rtlCol="1"/>
        <a:lstStyle/>
        <a:p>
          <a:pPr rtl="1"/>
          <a:endParaRPr lang="en-GB"/>
        </a:p>
      </dgm:t>
    </dgm:pt>
    <dgm:pt modelId="{52606F1B-D6EA-2B4A-862F-14D55DEC2DA1}" type="pres">
      <dgm:prSet presAssocID="{EA8C1924-855A-DE4F-BF8F-85CB9CA1AB5A}" presName="linear" presStyleCnt="0">
        <dgm:presLayoutVars>
          <dgm:animLvl val="lvl"/>
          <dgm:resizeHandles val="exact"/>
        </dgm:presLayoutVars>
      </dgm:prSet>
      <dgm:spPr/>
    </dgm:pt>
    <dgm:pt modelId="{61941304-1D74-0E4C-B93D-79A902EE3188}" type="pres">
      <dgm:prSet presAssocID="{3CB8E061-2E8D-CD44-B4A5-3A5E783C7652}" presName="parentText" presStyleLbl="node1" presStyleIdx="0" presStyleCnt="8" custScaleY="201368" custLinFactY="-24485" custLinFactNeighborX="-489" custLinFactNeighborY="-100000">
        <dgm:presLayoutVars>
          <dgm:chMax val="0"/>
          <dgm:bulletEnabled val="1"/>
        </dgm:presLayoutVars>
      </dgm:prSet>
      <dgm:spPr/>
    </dgm:pt>
    <dgm:pt modelId="{65153B17-440F-B54C-9E1A-24E9215F872B}" type="pres">
      <dgm:prSet presAssocID="{B895ABC1-CB1F-834F-858D-AF0401C4AEC2}" presName="spacer" presStyleCnt="0"/>
      <dgm:spPr/>
    </dgm:pt>
    <dgm:pt modelId="{6E391D56-652F-224D-B7D1-6C244CC31D50}" type="pres">
      <dgm:prSet presAssocID="{33CE6A62-E9FA-164A-80E8-E57E7648D64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E2F7A274-D98C-534A-938E-FB90871F105C}" type="pres">
      <dgm:prSet presAssocID="{DB379D10-BB38-1D4D-8286-1D3AA6E8434A}" presName="spacer" presStyleCnt="0"/>
      <dgm:spPr/>
    </dgm:pt>
    <dgm:pt modelId="{BFE099FF-7A32-7D4F-A214-E3D13DA232E9}" type="pres">
      <dgm:prSet presAssocID="{E6A13A45-986D-0649-99F7-AEACB2569460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9AE1FE0-1D78-6846-A358-1977A1B90431}" type="pres">
      <dgm:prSet presAssocID="{35681846-C935-0947-B75B-E4B141867DC9}" presName="spacer" presStyleCnt="0"/>
      <dgm:spPr/>
    </dgm:pt>
    <dgm:pt modelId="{27FD5942-A9B3-2340-9337-728CD9B67E4A}" type="pres">
      <dgm:prSet presAssocID="{7AEE8A34-03E1-C848-B18A-767C02008C12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4919E60-BAB8-394D-87EF-3E1D92E604D7}" type="pres">
      <dgm:prSet presAssocID="{F39F979F-8714-1B4F-AEEC-3352E17B27D3}" presName="spacer" presStyleCnt="0"/>
      <dgm:spPr/>
    </dgm:pt>
    <dgm:pt modelId="{D1309920-5EE4-2F42-AE1B-82B931D36A63}" type="pres">
      <dgm:prSet presAssocID="{0F940151-9AC7-0848-8D20-1245113269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482BB61B-B4CB-DA4C-9152-06AD9CCD934A}" type="pres">
      <dgm:prSet presAssocID="{D676217C-B247-814C-A3DD-B9A3C5C93EA7}" presName="spacer" presStyleCnt="0"/>
      <dgm:spPr/>
    </dgm:pt>
    <dgm:pt modelId="{2A71939E-C668-0247-AC34-8881608DF37F}" type="pres">
      <dgm:prSet presAssocID="{FEFA850F-9821-2B4C-8A1F-71DED3404713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52A845C-B831-7B4D-97C2-CC1D49531E28}" type="pres">
      <dgm:prSet presAssocID="{6AB38072-4EF3-9F4D-87AA-42A838F7A419}" presName="spacer" presStyleCnt="0"/>
      <dgm:spPr/>
    </dgm:pt>
    <dgm:pt modelId="{B882BCA1-CE5F-AA4F-919D-DA133E4C972E}" type="pres">
      <dgm:prSet presAssocID="{944BD08E-E177-FD44-93BA-376AA66DBF34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B7B15690-8AB5-6444-86F3-B090C12D083D}" type="pres">
      <dgm:prSet presAssocID="{EB74A1AA-752C-734D-B892-6718E701DAF1}" presName="spacer" presStyleCnt="0"/>
      <dgm:spPr/>
    </dgm:pt>
    <dgm:pt modelId="{95C713CA-9AEE-3E4A-87D7-F214033380F4}" type="pres">
      <dgm:prSet presAssocID="{AD77ABD5-6ADE-604D-A60F-1670E990020A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E8D7E812-D8A9-714D-AEAE-EAFDED425D2F}" type="presOf" srcId="{33CE6A62-E9FA-164A-80E8-E57E7648D641}" destId="{6E391D56-652F-224D-B7D1-6C244CC31D50}" srcOrd="0" destOrd="0" presId="urn:microsoft.com/office/officeart/2005/8/layout/vList2"/>
    <dgm:cxn modelId="{8A7D0444-1E16-D644-9F63-7A6B9C5DE954}" srcId="{EA8C1924-855A-DE4F-BF8F-85CB9CA1AB5A}" destId="{FEFA850F-9821-2B4C-8A1F-71DED3404713}" srcOrd="5" destOrd="0" parTransId="{FFCA96D7-BBC5-9C48-A2B9-4AA60C3805D2}" sibTransId="{6AB38072-4EF3-9F4D-87AA-42A838F7A419}"/>
    <dgm:cxn modelId="{43E1C978-743E-EF46-B025-10EFAD89DFCE}" type="presOf" srcId="{944BD08E-E177-FD44-93BA-376AA66DBF34}" destId="{B882BCA1-CE5F-AA4F-919D-DA133E4C972E}" srcOrd="0" destOrd="0" presId="urn:microsoft.com/office/officeart/2005/8/layout/vList2"/>
    <dgm:cxn modelId="{C1C30C89-0DA2-C64C-A45F-035B921F5E86}" srcId="{EA8C1924-855A-DE4F-BF8F-85CB9CA1AB5A}" destId="{7AEE8A34-03E1-C848-B18A-767C02008C12}" srcOrd="3" destOrd="0" parTransId="{B5DF048F-EDA6-5A4E-9E62-940953650F34}" sibTransId="{F39F979F-8714-1B4F-AEEC-3352E17B27D3}"/>
    <dgm:cxn modelId="{C8DDA394-22BC-BE4F-BB59-4F9337800DBE}" type="presOf" srcId="{E6A13A45-986D-0649-99F7-AEACB2569460}" destId="{BFE099FF-7A32-7D4F-A214-E3D13DA232E9}" srcOrd="0" destOrd="0" presId="urn:microsoft.com/office/officeart/2005/8/layout/vList2"/>
    <dgm:cxn modelId="{D4B37598-9D32-4047-A34F-14D953B0AC84}" type="presOf" srcId="{3CB8E061-2E8D-CD44-B4A5-3A5E783C7652}" destId="{61941304-1D74-0E4C-B93D-79A902EE3188}" srcOrd="0" destOrd="0" presId="urn:microsoft.com/office/officeart/2005/8/layout/vList2"/>
    <dgm:cxn modelId="{9246129A-A308-0D4C-BA68-BCB264AF8DC1}" type="presOf" srcId="{EA8C1924-855A-DE4F-BF8F-85CB9CA1AB5A}" destId="{52606F1B-D6EA-2B4A-862F-14D55DEC2DA1}" srcOrd="0" destOrd="0" presId="urn:microsoft.com/office/officeart/2005/8/layout/vList2"/>
    <dgm:cxn modelId="{FCC10AAC-97A1-A140-A1EF-AAB4247C2FAD}" srcId="{EA8C1924-855A-DE4F-BF8F-85CB9CA1AB5A}" destId="{33CE6A62-E9FA-164A-80E8-E57E7648D641}" srcOrd="1" destOrd="0" parTransId="{1B2FE364-F873-EC4F-BD22-F91C0AC90593}" sibTransId="{DB379D10-BB38-1D4D-8286-1D3AA6E8434A}"/>
    <dgm:cxn modelId="{0A0623B3-9A9D-3E4B-A33B-EFB1BC28800C}" type="presOf" srcId="{7AEE8A34-03E1-C848-B18A-767C02008C12}" destId="{27FD5942-A9B3-2340-9337-728CD9B67E4A}" srcOrd="0" destOrd="0" presId="urn:microsoft.com/office/officeart/2005/8/layout/vList2"/>
    <dgm:cxn modelId="{C40F28B6-E847-DB41-AC09-20B516DF2F03}" srcId="{EA8C1924-855A-DE4F-BF8F-85CB9CA1AB5A}" destId="{E6A13A45-986D-0649-99F7-AEACB2569460}" srcOrd="2" destOrd="0" parTransId="{5D673E95-F33B-9244-B4B9-775D6AFF5BEB}" sibTransId="{35681846-C935-0947-B75B-E4B141867DC9}"/>
    <dgm:cxn modelId="{278F5CBA-D43E-9D4B-A8ED-D591C883920D}" type="presOf" srcId="{0F940151-9AC7-0848-8D20-1245113269B1}" destId="{D1309920-5EE4-2F42-AE1B-82B931D36A63}" srcOrd="0" destOrd="0" presId="urn:microsoft.com/office/officeart/2005/8/layout/vList2"/>
    <dgm:cxn modelId="{7F94BFBF-7822-164B-9D7A-C11A5518FDCE}" srcId="{EA8C1924-855A-DE4F-BF8F-85CB9CA1AB5A}" destId="{0F940151-9AC7-0848-8D20-1245113269B1}" srcOrd="4" destOrd="0" parTransId="{25C0F816-4B0A-884B-B791-489C2E64A257}" sibTransId="{D676217C-B247-814C-A3DD-B9A3C5C93EA7}"/>
    <dgm:cxn modelId="{4CD562C4-383C-D34E-AB37-60988FD4969E}" type="presOf" srcId="{FEFA850F-9821-2B4C-8A1F-71DED3404713}" destId="{2A71939E-C668-0247-AC34-8881608DF37F}" srcOrd="0" destOrd="0" presId="urn:microsoft.com/office/officeart/2005/8/layout/vList2"/>
    <dgm:cxn modelId="{20DCCFD7-73BE-4941-AA1A-7E6C54E02895}" srcId="{EA8C1924-855A-DE4F-BF8F-85CB9CA1AB5A}" destId="{AD77ABD5-6ADE-604D-A60F-1670E990020A}" srcOrd="7" destOrd="0" parTransId="{312940F8-4956-B841-84EC-800A83189954}" sibTransId="{F2154522-A188-7440-B38F-1D1081AF6FA7}"/>
    <dgm:cxn modelId="{018D6CF4-19CB-8942-A2F3-772259A46F08}" srcId="{EA8C1924-855A-DE4F-BF8F-85CB9CA1AB5A}" destId="{944BD08E-E177-FD44-93BA-376AA66DBF34}" srcOrd="6" destOrd="0" parTransId="{8153F4CB-B6BF-4442-9A94-AE473E39E78E}" sibTransId="{EB74A1AA-752C-734D-B892-6718E701DAF1}"/>
    <dgm:cxn modelId="{E9D4A9F4-0649-7B42-9F5A-E132295F0067}" srcId="{EA8C1924-855A-DE4F-BF8F-85CB9CA1AB5A}" destId="{3CB8E061-2E8D-CD44-B4A5-3A5E783C7652}" srcOrd="0" destOrd="0" parTransId="{60DE437F-5271-EB4B-B532-4CF70ABC6533}" sibTransId="{B895ABC1-CB1F-834F-858D-AF0401C4AEC2}"/>
    <dgm:cxn modelId="{1A3535F9-87FF-D344-A5EF-ECE4483244E4}" type="presOf" srcId="{AD77ABD5-6ADE-604D-A60F-1670E990020A}" destId="{95C713CA-9AEE-3E4A-87D7-F214033380F4}" srcOrd="0" destOrd="0" presId="urn:microsoft.com/office/officeart/2005/8/layout/vList2"/>
    <dgm:cxn modelId="{D3D90EE8-9846-E043-B0D7-5FCE6CEDB279}" type="presParOf" srcId="{52606F1B-D6EA-2B4A-862F-14D55DEC2DA1}" destId="{61941304-1D74-0E4C-B93D-79A902EE3188}" srcOrd="0" destOrd="0" presId="urn:microsoft.com/office/officeart/2005/8/layout/vList2"/>
    <dgm:cxn modelId="{6D454921-A140-2945-8712-B417D1616F83}" type="presParOf" srcId="{52606F1B-D6EA-2B4A-862F-14D55DEC2DA1}" destId="{65153B17-440F-B54C-9E1A-24E9215F872B}" srcOrd="1" destOrd="0" presId="urn:microsoft.com/office/officeart/2005/8/layout/vList2"/>
    <dgm:cxn modelId="{8A200B13-8C3A-7449-A7C5-AD175DE702A8}" type="presParOf" srcId="{52606F1B-D6EA-2B4A-862F-14D55DEC2DA1}" destId="{6E391D56-652F-224D-B7D1-6C244CC31D50}" srcOrd="2" destOrd="0" presId="urn:microsoft.com/office/officeart/2005/8/layout/vList2"/>
    <dgm:cxn modelId="{5FEC6AA4-E6D0-874B-B732-E3C3B148DE61}" type="presParOf" srcId="{52606F1B-D6EA-2B4A-862F-14D55DEC2DA1}" destId="{E2F7A274-D98C-534A-938E-FB90871F105C}" srcOrd="3" destOrd="0" presId="urn:microsoft.com/office/officeart/2005/8/layout/vList2"/>
    <dgm:cxn modelId="{F3F4CFF4-9905-D049-99A0-AB5C097D283B}" type="presParOf" srcId="{52606F1B-D6EA-2B4A-862F-14D55DEC2DA1}" destId="{BFE099FF-7A32-7D4F-A214-E3D13DA232E9}" srcOrd="4" destOrd="0" presId="urn:microsoft.com/office/officeart/2005/8/layout/vList2"/>
    <dgm:cxn modelId="{C0F389BB-33A2-A841-B7A3-5D06E8E0E40C}" type="presParOf" srcId="{52606F1B-D6EA-2B4A-862F-14D55DEC2DA1}" destId="{89AE1FE0-1D78-6846-A358-1977A1B90431}" srcOrd="5" destOrd="0" presId="urn:microsoft.com/office/officeart/2005/8/layout/vList2"/>
    <dgm:cxn modelId="{E6F036B5-0D90-BD4E-8C79-164F87720906}" type="presParOf" srcId="{52606F1B-D6EA-2B4A-862F-14D55DEC2DA1}" destId="{27FD5942-A9B3-2340-9337-728CD9B67E4A}" srcOrd="6" destOrd="0" presId="urn:microsoft.com/office/officeart/2005/8/layout/vList2"/>
    <dgm:cxn modelId="{B6FCFA11-24DB-0F48-8127-B3E824DE1C55}" type="presParOf" srcId="{52606F1B-D6EA-2B4A-862F-14D55DEC2DA1}" destId="{54919E60-BAB8-394D-87EF-3E1D92E604D7}" srcOrd="7" destOrd="0" presId="urn:microsoft.com/office/officeart/2005/8/layout/vList2"/>
    <dgm:cxn modelId="{BE6025B6-56CC-ED4A-BA32-E33F5C52C1AC}" type="presParOf" srcId="{52606F1B-D6EA-2B4A-862F-14D55DEC2DA1}" destId="{D1309920-5EE4-2F42-AE1B-82B931D36A63}" srcOrd="8" destOrd="0" presId="urn:microsoft.com/office/officeart/2005/8/layout/vList2"/>
    <dgm:cxn modelId="{DC1E4E9A-82F0-7147-9C9C-CD136C6BD9D6}" type="presParOf" srcId="{52606F1B-D6EA-2B4A-862F-14D55DEC2DA1}" destId="{482BB61B-B4CB-DA4C-9152-06AD9CCD934A}" srcOrd="9" destOrd="0" presId="urn:microsoft.com/office/officeart/2005/8/layout/vList2"/>
    <dgm:cxn modelId="{21378DAC-3C48-7242-9A90-613BDEE37377}" type="presParOf" srcId="{52606F1B-D6EA-2B4A-862F-14D55DEC2DA1}" destId="{2A71939E-C668-0247-AC34-8881608DF37F}" srcOrd="10" destOrd="0" presId="urn:microsoft.com/office/officeart/2005/8/layout/vList2"/>
    <dgm:cxn modelId="{8669AC8D-E806-AF42-9795-98891A3205D3}" type="presParOf" srcId="{52606F1B-D6EA-2B4A-862F-14D55DEC2DA1}" destId="{552A845C-B831-7B4D-97C2-CC1D49531E28}" srcOrd="11" destOrd="0" presId="urn:microsoft.com/office/officeart/2005/8/layout/vList2"/>
    <dgm:cxn modelId="{60901641-E376-7342-A029-19CC3B473428}" type="presParOf" srcId="{52606F1B-D6EA-2B4A-862F-14D55DEC2DA1}" destId="{B882BCA1-CE5F-AA4F-919D-DA133E4C972E}" srcOrd="12" destOrd="0" presId="urn:microsoft.com/office/officeart/2005/8/layout/vList2"/>
    <dgm:cxn modelId="{2FE70596-30F0-A845-944A-3378468EE3DD}" type="presParOf" srcId="{52606F1B-D6EA-2B4A-862F-14D55DEC2DA1}" destId="{B7B15690-8AB5-6444-86F3-B090C12D083D}" srcOrd="13" destOrd="0" presId="urn:microsoft.com/office/officeart/2005/8/layout/vList2"/>
    <dgm:cxn modelId="{3BC64B79-3D7A-C44C-B096-F39ACE699479}" type="presParOf" srcId="{52606F1B-D6EA-2B4A-862F-14D55DEC2DA1}" destId="{95C713CA-9AEE-3E4A-87D7-F214033380F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3891A-DCED-674F-B24D-E206E66D90BD}" type="doc">
      <dgm:prSet loTypeId="urn:microsoft.com/office/officeart/2005/8/layout/radial4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GB"/>
        </a:p>
      </dgm:t>
    </dgm:pt>
    <dgm:pt modelId="{7B2A2015-4EF4-4542-9FC4-482DB6A51B6F}">
      <dgm:prSet custT="1"/>
      <dgm:spPr>
        <a:solidFill>
          <a:schemeClr val="accent1">
            <a:lumMod val="90000"/>
          </a:schemeClr>
        </a:solidFill>
      </dgm:spPr>
      <dgm:t>
        <a:bodyPr rtlCol="1"/>
        <a:lstStyle/>
        <a:p>
          <a:pPr rtl="1"/>
          <a:r>
            <a:rPr lang="ar" sz="2300" b="1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أساليب القيادة</a:t>
          </a:r>
          <a:endParaRPr lang="en-GB" sz="2300" b="1" dirty="0">
            <a:solidFill>
              <a:srgbClr val="7030A0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7268EA9C-ADFE-5443-B71F-4DB5945387F0}" type="parTrans" cxnId="{5A64B782-4145-FA4F-B56E-79F6411F6143}">
      <dgm:prSet/>
      <dgm:spPr/>
      <dgm:t>
        <a:bodyPr rtlCol="1"/>
        <a:lstStyle/>
        <a:p>
          <a:pPr rtl="1"/>
          <a:endParaRPr lang="en-GB"/>
        </a:p>
      </dgm:t>
    </dgm:pt>
    <dgm:pt modelId="{4FCBC08A-243A-E64E-9212-A11B25F7B416}" type="sibTrans" cxnId="{5A64B782-4145-FA4F-B56E-79F6411F6143}">
      <dgm:prSet/>
      <dgm:spPr/>
      <dgm:t>
        <a:bodyPr rtlCol="1"/>
        <a:lstStyle/>
        <a:p>
          <a:pPr rtl="1"/>
          <a:endParaRPr lang="en-GB"/>
        </a:p>
      </dgm:t>
    </dgm:pt>
    <dgm:pt modelId="{0C6D0DD8-5166-EE43-AB15-3F10EA8A07B9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2000" b="1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الاستبدادية</a:t>
          </a:r>
          <a:endParaRPr lang="en-GB" sz="2200" dirty="0">
            <a:solidFill>
              <a:schemeClr val="accent6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077844BC-0D04-8C4B-8CE0-6865C2B0F7F9}" type="parTrans" cxnId="{1B0368D8-65AB-9849-9836-5E1C2FD3739B}">
      <dgm:prSet/>
      <dgm:spPr/>
      <dgm:t>
        <a:bodyPr rtlCol="1"/>
        <a:lstStyle/>
        <a:p>
          <a:pPr rtl="1"/>
          <a:endParaRPr lang="en-GB"/>
        </a:p>
      </dgm:t>
    </dgm:pt>
    <dgm:pt modelId="{50891CDF-A77B-2940-93BC-9CDFA5400748}" type="sibTrans" cxnId="{1B0368D8-65AB-9849-9836-5E1C2FD3739B}">
      <dgm:prSet/>
      <dgm:spPr/>
      <dgm:t>
        <a:bodyPr rtlCol="1"/>
        <a:lstStyle/>
        <a:p>
          <a:pPr rtl="1"/>
          <a:endParaRPr lang="en-GB"/>
        </a:p>
      </dgm:t>
    </dgm:pt>
    <dgm:pt modelId="{171254D0-1DF7-A340-8A7C-478B12CABA2C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2000" b="1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التشاركية</a:t>
          </a:r>
          <a:endParaRPr lang="en-GB" sz="2000" dirty="0">
            <a:solidFill>
              <a:schemeClr val="accent6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gm:t>
    </dgm:pt>
    <dgm:pt modelId="{C4F2E5C1-3158-7347-9FD8-F83239059493}" type="parTrans" cxnId="{5288E05D-5A67-B04A-8993-40726D08D5E3}">
      <dgm:prSet/>
      <dgm:spPr/>
      <dgm:t>
        <a:bodyPr rtlCol="1"/>
        <a:lstStyle/>
        <a:p>
          <a:pPr rtl="1"/>
          <a:endParaRPr lang="en-GB"/>
        </a:p>
      </dgm:t>
    </dgm:pt>
    <dgm:pt modelId="{7D908EED-C357-784F-855A-3184438BE8D3}" type="sibTrans" cxnId="{5288E05D-5A67-B04A-8993-40726D08D5E3}">
      <dgm:prSet/>
      <dgm:spPr/>
      <dgm:t>
        <a:bodyPr rtlCol="1"/>
        <a:lstStyle/>
        <a:p>
          <a:pPr rtl="1"/>
          <a:endParaRPr lang="en-GB"/>
        </a:p>
      </dgm:t>
    </dgm:pt>
    <dgm:pt modelId="{0E61ECFD-8E17-644A-A110-F1914A3AEAF3}">
      <dgm:prSet custT="1"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b="1" kern="1200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المتساهلة</a:t>
          </a:r>
          <a:endParaRPr lang="en-GB" sz="2000" kern="1200" dirty="0">
            <a:solidFill>
              <a:schemeClr val="accent6"/>
            </a:solidFill>
            <a:latin typeface="Sakkal Majalla" panose="02000000000000000000" pitchFamily="2" charset="-78"/>
            <a:ea typeface="+mn-ea"/>
            <a:cs typeface="Sakkal Majalla" panose="02000000000000000000" pitchFamily="2" charset="-78"/>
          </a:endParaRPr>
        </a:p>
      </dgm:t>
    </dgm:pt>
    <dgm:pt modelId="{3E38DCF4-D35A-2C4A-B5B8-11CBF22167C8}" type="parTrans" cxnId="{B876F17A-2C86-3745-AA51-81025F83DFE1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endParaRPr lang="en-GB"/>
        </a:p>
      </dgm:t>
    </dgm:pt>
    <dgm:pt modelId="{16CC3968-AEEB-2942-85BE-316347862DE2}" type="sibTrans" cxnId="{B876F17A-2C86-3745-AA51-81025F83DFE1}">
      <dgm:prSet/>
      <dgm:spPr/>
      <dgm:t>
        <a:bodyPr rtlCol="1"/>
        <a:lstStyle/>
        <a:p>
          <a:pPr rtl="1"/>
          <a:endParaRPr lang="en-GB"/>
        </a:p>
      </dgm:t>
    </dgm:pt>
    <dgm:pt modelId="{F327E64C-D835-7A44-A58C-1E884D2BA0B1}" type="pres">
      <dgm:prSet presAssocID="{12A3891A-DCED-674F-B24D-E206E66D90B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15873AC-EC9E-3044-B700-EAAA876D7FD5}" type="pres">
      <dgm:prSet presAssocID="{7B2A2015-4EF4-4542-9FC4-482DB6A51B6F}" presName="centerShape" presStyleLbl="node0" presStyleIdx="0" presStyleCnt="1" custScaleX="136167" custScaleY="103804"/>
      <dgm:spPr/>
    </dgm:pt>
    <dgm:pt modelId="{1B2C454D-E40A-2344-9F71-56125A47EBF3}" type="pres">
      <dgm:prSet presAssocID="{077844BC-0D04-8C4B-8CE0-6865C2B0F7F9}" presName="parTrans" presStyleLbl="bgSibTrans2D1" presStyleIdx="0" presStyleCnt="3"/>
      <dgm:spPr/>
    </dgm:pt>
    <dgm:pt modelId="{C8CD8B18-90D1-8146-9137-53BD1BFB1450}" type="pres">
      <dgm:prSet presAssocID="{0C6D0DD8-5166-EE43-AB15-3F10EA8A07B9}" presName="node" presStyleLbl="node1" presStyleIdx="0" presStyleCnt="3" custRadScaleRad="114548" custRadScaleInc="4828">
        <dgm:presLayoutVars>
          <dgm:bulletEnabled val="1"/>
        </dgm:presLayoutVars>
      </dgm:prSet>
      <dgm:spPr/>
    </dgm:pt>
    <dgm:pt modelId="{C2D80D29-EEDA-A840-A938-1A92883EE3A3}" type="pres">
      <dgm:prSet presAssocID="{3E38DCF4-D35A-2C4A-B5B8-11CBF22167C8}" presName="parTrans" presStyleLbl="bgSibTrans2D1" presStyleIdx="1" presStyleCnt="3"/>
      <dgm:spPr/>
    </dgm:pt>
    <dgm:pt modelId="{401B8E8A-BDEF-6942-91EF-2519ECF2D4B2}" type="pres">
      <dgm:prSet presAssocID="{0E61ECFD-8E17-644A-A110-F1914A3AEAF3}" presName="node" presStyleLbl="node1" presStyleIdx="1" presStyleCnt="3">
        <dgm:presLayoutVars>
          <dgm:bulletEnabled val="1"/>
        </dgm:presLayoutVars>
      </dgm:prSet>
      <dgm:spPr/>
    </dgm:pt>
    <dgm:pt modelId="{90D24250-2564-6F4C-B019-540CAEB8D2D7}" type="pres">
      <dgm:prSet presAssocID="{C4F2E5C1-3158-7347-9FD8-F83239059493}" presName="parTrans" presStyleLbl="bgSibTrans2D1" presStyleIdx="2" presStyleCnt="3"/>
      <dgm:spPr/>
    </dgm:pt>
    <dgm:pt modelId="{D800DD07-9EC0-B44C-AC30-AAD4C1142756}" type="pres">
      <dgm:prSet presAssocID="{171254D0-1DF7-A340-8A7C-478B12CABA2C}" presName="node" presStyleLbl="node1" presStyleIdx="2" presStyleCnt="3" custRadScaleRad="118157" custRadScaleInc="-2579">
        <dgm:presLayoutVars>
          <dgm:bulletEnabled val="1"/>
        </dgm:presLayoutVars>
      </dgm:prSet>
      <dgm:spPr/>
    </dgm:pt>
  </dgm:ptLst>
  <dgm:cxnLst>
    <dgm:cxn modelId="{5C965419-2EDF-C84E-880C-D73AD22B8922}" type="presOf" srcId="{C4F2E5C1-3158-7347-9FD8-F83239059493}" destId="{90D24250-2564-6F4C-B019-540CAEB8D2D7}" srcOrd="0" destOrd="0" presId="urn:microsoft.com/office/officeart/2005/8/layout/radial4"/>
    <dgm:cxn modelId="{E5E24A30-976C-F945-B5EB-F5C2B0F6AC8F}" type="presOf" srcId="{171254D0-1DF7-A340-8A7C-478B12CABA2C}" destId="{D800DD07-9EC0-B44C-AC30-AAD4C1142756}" srcOrd="0" destOrd="0" presId="urn:microsoft.com/office/officeart/2005/8/layout/radial4"/>
    <dgm:cxn modelId="{D4AFA333-D97F-C748-A547-0C31E65019DC}" type="presOf" srcId="{0C6D0DD8-5166-EE43-AB15-3F10EA8A07B9}" destId="{C8CD8B18-90D1-8146-9137-53BD1BFB1450}" srcOrd="0" destOrd="0" presId="urn:microsoft.com/office/officeart/2005/8/layout/radial4"/>
    <dgm:cxn modelId="{5288E05D-5A67-B04A-8993-40726D08D5E3}" srcId="{7B2A2015-4EF4-4542-9FC4-482DB6A51B6F}" destId="{171254D0-1DF7-A340-8A7C-478B12CABA2C}" srcOrd="2" destOrd="0" parTransId="{C4F2E5C1-3158-7347-9FD8-F83239059493}" sibTransId="{7D908EED-C357-784F-855A-3184438BE8D3}"/>
    <dgm:cxn modelId="{40C8AC5E-0EF3-704F-8010-343992896845}" type="presOf" srcId="{7B2A2015-4EF4-4542-9FC4-482DB6A51B6F}" destId="{915873AC-EC9E-3044-B700-EAAA876D7FD5}" srcOrd="0" destOrd="0" presId="urn:microsoft.com/office/officeart/2005/8/layout/radial4"/>
    <dgm:cxn modelId="{B75E3F43-E842-F94F-9593-137915A5E9EE}" type="presOf" srcId="{3E38DCF4-D35A-2C4A-B5B8-11CBF22167C8}" destId="{C2D80D29-EEDA-A840-A938-1A92883EE3A3}" srcOrd="0" destOrd="0" presId="urn:microsoft.com/office/officeart/2005/8/layout/radial4"/>
    <dgm:cxn modelId="{25208F6D-F0E1-374B-832B-426841CF9656}" type="presOf" srcId="{12A3891A-DCED-674F-B24D-E206E66D90BD}" destId="{F327E64C-D835-7A44-A58C-1E884D2BA0B1}" srcOrd="0" destOrd="0" presId="urn:microsoft.com/office/officeart/2005/8/layout/radial4"/>
    <dgm:cxn modelId="{8595397A-5197-664F-AB9F-5A161524FDD4}" type="presOf" srcId="{0E61ECFD-8E17-644A-A110-F1914A3AEAF3}" destId="{401B8E8A-BDEF-6942-91EF-2519ECF2D4B2}" srcOrd="0" destOrd="0" presId="urn:microsoft.com/office/officeart/2005/8/layout/radial4"/>
    <dgm:cxn modelId="{B876F17A-2C86-3745-AA51-81025F83DFE1}" srcId="{7B2A2015-4EF4-4542-9FC4-482DB6A51B6F}" destId="{0E61ECFD-8E17-644A-A110-F1914A3AEAF3}" srcOrd="1" destOrd="0" parTransId="{3E38DCF4-D35A-2C4A-B5B8-11CBF22167C8}" sibTransId="{16CC3968-AEEB-2942-85BE-316347862DE2}"/>
    <dgm:cxn modelId="{9E702A80-A65A-0246-9D4C-841B7063EF6C}" type="presOf" srcId="{077844BC-0D04-8C4B-8CE0-6865C2B0F7F9}" destId="{1B2C454D-E40A-2344-9F71-56125A47EBF3}" srcOrd="0" destOrd="0" presId="urn:microsoft.com/office/officeart/2005/8/layout/radial4"/>
    <dgm:cxn modelId="{5A64B782-4145-FA4F-B56E-79F6411F6143}" srcId="{12A3891A-DCED-674F-B24D-E206E66D90BD}" destId="{7B2A2015-4EF4-4542-9FC4-482DB6A51B6F}" srcOrd="0" destOrd="0" parTransId="{7268EA9C-ADFE-5443-B71F-4DB5945387F0}" sibTransId="{4FCBC08A-243A-E64E-9212-A11B25F7B416}"/>
    <dgm:cxn modelId="{1B0368D8-65AB-9849-9836-5E1C2FD3739B}" srcId="{7B2A2015-4EF4-4542-9FC4-482DB6A51B6F}" destId="{0C6D0DD8-5166-EE43-AB15-3F10EA8A07B9}" srcOrd="0" destOrd="0" parTransId="{077844BC-0D04-8C4B-8CE0-6865C2B0F7F9}" sibTransId="{50891CDF-A77B-2940-93BC-9CDFA5400748}"/>
    <dgm:cxn modelId="{04EFF176-2DF3-7E4D-81B0-A6D1701D00B8}" type="presParOf" srcId="{F327E64C-D835-7A44-A58C-1E884D2BA0B1}" destId="{915873AC-EC9E-3044-B700-EAAA876D7FD5}" srcOrd="0" destOrd="0" presId="urn:microsoft.com/office/officeart/2005/8/layout/radial4"/>
    <dgm:cxn modelId="{7B0BB47C-E7AF-4C4E-A5AE-DFD8C6A68395}" type="presParOf" srcId="{F327E64C-D835-7A44-A58C-1E884D2BA0B1}" destId="{1B2C454D-E40A-2344-9F71-56125A47EBF3}" srcOrd="1" destOrd="0" presId="urn:microsoft.com/office/officeart/2005/8/layout/radial4"/>
    <dgm:cxn modelId="{CE83D859-12A1-D34F-9C99-C48FE46DBCD9}" type="presParOf" srcId="{F327E64C-D835-7A44-A58C-1E884D2BA0B1}" destId="{C8CD8B18-90D1-8146-9137-53BD1BFB1450}" srcOrd="2" destOrd="0" presId="urn:microsoft.com/office/officeart/2005/8/layout/radial4"/>
    <dgm:cxn modelId="{B452B087-C56C-A448-8C4C-43ED0F9A80DB}" type="presParOf" srcId="{F327E64C-D835-7A44-A58C-1E884D2BA0B1}" destId="{C2D80D29-EEDA-A840-A938-1A92883EE3A3}" srcOrd="3" destOrd="0" presId="urn:microsoft.com/office/officeart/2005/8/layout/radial4"/>
    <dgm:cxn modelId="{7A6329A4-2FE5-6640-8404-1033C68AC1B3}" type="presParOf" srcId="{F327E64C-D835-7A44-A58C-1E884D2BA0B1}" destId="{401B8E8A-BDEF-6942-91EF-2519ECF2D4B2}" srcOrd="4" destOrd="0" presId="urn:microsoft.com/office/officeart/2005/8/layout/radial4"/>
    <dgm:cxn modelId="{8E88691A-682E-2C4E-86DF-B080336FC7FC}" type="presParOf" srcId="{F327E64C-D835-7A44-A58C-1E884D2BA0B1}" destId="{90D24250-2564-6F4C-B019-540CAEB8D2D7}" srcOrd="5" destOrd="0" presId="urn:microsoft.com/office/officeart/2005/8/layout/radial4"/>
    <dgm:cxn modelId="{96D927C4-25EA-4A40-BADF-2D1A2AA693F8}" type="presParOf" srcId="{F327E64C-D835-7A44-A58C-1E884D2BA0B1}" destId="{D800DD07-9EC0-B44C-AC30-AAD4C1142756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E17DB0-32C4-4C35-A412-41A89C6CA745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476FCCDF-AF6B-4F1B-A45C-904F435A0176}">
      <dgm:prSet custT="1"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مكونات الوحدة التدريبية</a:t>
          </a:r>
        </a:p>
        <a:p>
          <a:pPr rtl="1"/>
          <a:r>
            <a:rPr lang="ar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الإحماء، والمكون الرئيس، والتهدئة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E4D2A9-CD89-42B8-B031-130F3AE46703}" type="parTrans" cxnId="{6EBED475-0F04-421D-9CC6-F80D48192CF9}">
      <dgm:prSet/>
      <dgm:spPr/>
      <dgm:t>
        <a:bodyPr rtlCol="1"/>
        <a:lstStyle/>
        <a:p>
          <a:pPr rtl="1"/>
          <a:endParaRPr lang="en-US"/>
        </a:p>
      </dgm:t>
    </dgm:pt>
    <dgm:pt modelId="{ACFEE717-7DCF-4749-9371-2A7FDD8BE886}" type="sibTrans" cxnId="{6EBED475-0F04-421D-9CC6-F80D48192CF9}">
      <dgm:prSet/>
      <dgm:spPr/>
      <dgm:t>
        <a:bodyPr rtlCol="1"/>
        <a:lstStyle/>
        <a:p>
          <a:pPr rtl="1"/>
          <a:endParaRPr lang="en-US"/>
        </a:p>
      </dgm:t>
    </dgm:pt>
    <dgm:pt modelId="{BF6085E4-CA27-4605-9431-DF733248DBE8}">
      <dgm:prSet custT="1"/>
      <dgm:spPr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احتياجات المشاركين</a:t>
          </a:r>
        </a:p>
        <a:p>
          <a:pPr rtl="1"/>
          <a:r>
            <a:rPr lang="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السن والقدرة والجنس والأعداد والاحتياجات الطبية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724843-70E9-4655-A077-92EFF2D7EA81}" type="parTrans" cxnId="{B269DD4B-642D-4E84-99C4-19065FF48DBC}">
      <dgm:prSet/>
      <dgm:spPr/>
      <dgm:t>
        <a:bodyPr rtlCol="1"/>
        <a:lstStyle/>
        <a:p>
          <a:pPr rtl="1"/>
          <a:endParaRPr lang="en-US"/>
        </a:p>
      </dgm:t>
    </dgm:pt>
    <dgm:pt modelId="{E8962595-67A2-4C0B-BBAF-9080F8DE03B7}" type="sibTrans" cxnId="{B269DD4B-642D-4E84-99C4-19065FF48DBC}">
      <dgm:prSet/>
      <dgm:spPr/>
      <dgm:t>
        <a:bodyPr rtlCol="1"/>
        <a:lstStyle/>
        <a:p>
          <a:pPr rtl="1"/>
          <a:endParaRPr lang="en-US"/>
        </a:p>
      </dgm:t>
    </dgm:pt>
    <dgm:pt modelId="{785D0741-9971-4DBA-B37B-7ECF0B77D21C}">
      <dgm:prSet custT="1"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الأهداف العامة والأهداف المحددة</a:t>
          </a:r>
        </a:p>
        <a:p>
          <a:pPr rtl="1"/>
          <a:r>
            <a:rPr lang="a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تحديد الأهداف والمُخرجات المتوقعة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6416B4-9CE6-4156-BCEC-9401D3B25E7E}" type="parTrans" cxnId="{47819441-D887-45FD-90C5-5E06FD1F2D9A}">
      <dgm:prSet/>
      <dgm:spPr/>
      <dgm:t>
        <a:bodyPr rtlCol="1"/>
        <a:lstStyle/>
        <a:p>
          <a:pPr rtl="1"/>
          <a:endParaRPr lang="en-US"/>
        </a:p>
      </dgm:t>
    </dgm:pt>
    <dgm:pt modelId="{98959A42-4D08-4548-8C9F-30DA5DB50393}" type="sibTrans" cxnId="{47819441-D887-45FD-90C5-5E06FD1F2D9A}">
      <dgm:prSet/>
      <dgm:spPr/>
      <dgm:t>
        <a:bodyPr rtlCol="1"/>
        <a:lstStyle/>
        <a:p>
          <a:pPr rtl="1"/>
          <a:endParaRPr lang="en-US"/>
        </a:p>
      </dgm:t>
    </dgm:pt>
    <dgm:pt modelId="{5D2FD0B7-24AE-4A4A-835A-9A561FCA582E}">
      <dgm:prSet custT="1"/>
      <dgm:spPr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الموارد</a:t>
          </a:r>
        </a:p>
        <a:p>
          <a:pPr rtl="1"/>
          <a:r>
            <a:rPr lang="ar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المنشآت والمعدات والوقت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1BAE84-091D-480F-A0FA-DE5507D39D76}" type="parTrans" cxnId="{2FB6A82A-40D9-47B3-BCB9-46E2566E0A77}">
      <dgm:prSet/>
      <dgm:spPr/>
      <dgm:t>
        <a:bodyPr rtlCol="1"/>
        <a:lstStyle/>
        <a:p>
          <a:pPr rtl="1"/>
          <a:endParaRPr lang="en-US"/>
        </a:p>
      </dgm:t>
    </dgm:pt>
    <dgm:pt modelId="{62C7748E-38D9-466A-89A7-DF28AD146E00}" type="sibTrans" cxnId="{2FB6A82A-40D9-47B3-BCB9-46E2566E0A77}">
      <dgm:prSet/>
      <dgm:spPr/>
      <dgm:t>
        <a:bodyPr rtlCol="1"/>
        <a:lstStyle/>
        <a:p>
          <a:pPr rtl="1"/>
          <a:endParaRPr lang="en-US"/>
        </a:p>
      </dgm:t>
    </dgm:pt>
    <dgm:pt modelId="{585C2C77-CDAC-4E20-8A48-6556902A65AC}">
      <dgm:prSet custT="1"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1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عوامل الصحة والسلامة </a:t>
          </a:r>
        </a:p>
        <a:p>
          <a:pPr rtl="1"/>
          <a:r>
            <a:rPr lang="ar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مثل تقييم المخاطر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4729574-BB01-45F4-B6ED-8C1E394060A9}" type="parTrans" cxnId="{736AC1F1-1817-46F9-9DE2-2687CEAA6752}">
      <dgm:prSet/>
      <dgm:spPr/>
      <dgm:t>
        <a:bodyPr rtlCol="1"/>
        <a:lstStyle/>
        <a:p>
          <a:pPr rtl="1"/>
          <a:endParaRPr lang="en-US"/>
        </a:p>
      </dgm:t>
    </dgm:pt>
    <dgm:pt modelId="{D40C2997-7456-4066-9529-2F3DFB59B595}" type="sibTrans" cxnId="{736AC1F1-1817-46F9-9DE2-2687CEAA6752}">
      <dgm:prSet/>
      <dgm:spPr/>
      <dgm:t>
        <a:bodyPr rtlCol="1"/>
        <a:lstStyle/>
        <a:p>
          <a:pPr rtl="1"/>
          <a:endParaRPr lang="en-US"/>
        </a:p>
      </dgm:t>
    </dgm:pt>
    <dgm:pt modelId="{8A654DDD-1A55-AD40-A130-4E49AF792017}" type="pres">
      <dgm:prSet presAssocID="{6DE17DB0-32C4-4C35-A412-41A89C6CA745}" presName="linear" presStyleCnt="0">
        <dgm:presLayoutVars>
          <dgm:animLvl val="lvl"/>
          <dgm:resizeHandles val="exact"/>
        </dgm:presLayoutVars>
      </dgm:prSet>
      <dgm:spPr/>
    </dgm:pt>
    <dgm:pt modelId="{C6D17163-2C39-7847-87B5-943614FECDCB}" type="pres">
      <dgm:prSet presAssocID="{476FCCDF-AF6B-4F1B-A45C-904F435A017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FB5A4D6-1695-E44C-9EAE-C388A06BAE30}" type="pres">
      <dgm:prSet presAssocID="{ACFEE717-7DCF-4749-9371-2A7FDD8BE886}" presName="spacer" presStyleCnt="0"/>
      <dgm:spPr/>
    </dgm:pt>
    <dgm:pt modelId="{9B9200D7-232D-D848-AB4B-F7B09D87724B}" type="pres">
      <dgm:prSet presAssocID="{BF6085E4-CA27-4605-9431-DF733248DBE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E4D28CB-5888-944C-B32A-A43427C449C5}" type="pres">
      <dgm:prSet presAssocID="{E8962595-67A2-4C0B-BBAF-9080F8DE03B7}" presName="spacer" presStyleCnt="0"/>
      <dgm:spPr/>
    </dgm:pt>
    <dgm:pt modelId="{BB0612E7-001A-F74D-9A89-0A8F718BA476}" type="pres">
      <dgm:prSet presAssocID="{785D0741-9971-4DBA-B37B-7ECF0B77D21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7159A6A-3E26-D640-9376-AA159C4A9B5A}" type="pres">
      <dgm:prSet presAssocID="{98959A42-4D08-4548-8C9F-30DA5DB50393}" presName="spacer" presStyleCnt="0"/>
      <dgm:spPr/>
    </dgm:pt>
    <dgm:pt modelId="{D50DFB1F-3021-A94A-B072-70BD08DF05C9}" type="pres">
      <dgm:prSet presAssocID="{5D2FD0B7-24AE-4A4A-835A-9A561FCA582E}" presName="parentText" presStyleLbl="node1" presStyleIdx="3" presStyleCnt="5" custScaleY="128241">
        <dgm:presLayoutVars>
          <dgm:chMax val="0"/>
          <dgm:bulletEnabled val="1"/>
        </dgm:presLayoutVars>
      </dgm:prSet>
      <dgm:spPr/>
    </dgm:pt>
    <dgm:pt modelId="{7CCE0759-DEBB-8147-94E8-315C59F38258}" type="pres">
      <dgm:prSet presAssocID="{62C7748E-38D9-466A-89A7-DF28AD146E00}" presName="spacer" presStyleCnt="0"/>
      <dgm:spPr/>
    </dgm:pt>
    <dgm:pt modelId="{361588F0-37D8-FB4E-9314-2B2C1A1BFCE5}" type="pres">
      <dgm:prSet presAssocID="{585C2C77-CDAC-4E20-8A48-6556902A65AC}" presName="parentText" presStyleLbl="node1" presStyleIdx="4" presStyleCnt="5" custScaleY="160900">
        <dgm:presLayoutVars>
          <dgm:chMax val="0"/>
          <dgm:bulletEnabled val="1"/>
        </dgm:presLayoutVars>
      </dgm:prSet>
      <dgm:spPr/>
    </dgm:pt>
  </dgm:ptLst>
  <dgm:cxnLst>
    <dgm:cxn modelId="{E71AB522-A031-AF4C-8863-BA2FA22B82C9}" type="presOf" srcId="{476FCCDF-AF6B-4F1B-A45C-904F435A0176}" destId="{C6D17163-2C39-7847-87B5-943614FECDCB}" srcOrd="0" destOrd="0" presId="urn:microsoft.com/office/officeart/2005/8/layout/vList2"/>
    <dgm:cxn modelId="{2FB6A82A-40D9-47B3-BCB9-46E2566E0A77}" srcId="{6DE17DB0-32C4-4C35-A412-41A89C6CA745}" destId="{5D2FD0B7-24AE-4A4A-835A-9A561FCA582E}" srcOrd="3" destOrd="0" parTransId="{071BAE84-091D-480F-A0FA-DE5507D39D76}" sibTransId="{62C7748E-38D9-466A-89A7-DF28AD146E00}"/>
    <dgm:cxn modelId="{47819441-D887-45FD-90C5-5E06FD1F2D9A}" srcId="{6DE17DB0-32C4-4C35-A412-41A89C6CA745}" destId="{785D0741-9971-4DBA-B37B-7ECF0B77D21C}" srcOrd="2" destOrd="0" parTransId="{8F6416B4-9CE6-4156-BCEC-9401D3B25E7E}" sibTransId="{98959A42-4D08-4548-8C9F-30DA5DB50393}"/>
    <dgm:cxn modelId="{D61CA445-26B8-F947-A086-6DEADEFB4965}" type="presOf" srcId="{5D2FD0B7-24AE-4A4A-835A-9A561FCA582E}" destId="{D50DFB1F-3021-A94A-B072-70BD08DF05C9}" srcOrd="0" destOrd="0" presId="urn:microsoft.com/office/officeart/2005/8/layout/vList2"/>
    <dgm:cxn modelId="{6EB10066-0302-974C-8461-A22580DCDF54}" type="presOf" srcId="{BF6085E4-CA27-4605-9431-DF733248DBE8}" destId="{9B9200D7-232D-D848-AB4B-F7B09D87724B}" srcOrd="0" destOrd="0" presId="urn:microsoft.com/office/officeart/2005/8/layout/vList2"/>
    <dgm:cxn modelId="{B269DD4B-642D-4E84-99C4-19065FF48DBC}" srcId="{6DE17DB0-32C4-4C35-A412-41A89C6CA745}" destId="{BF6085E4-CA27-4605-9431-DF733248DBE8}" srcOrd="1" destOrd="0" parTransId="{3C724843-70E9-4655-A077-92EFF2D7EA81}" sibTransId="{E8962595-67A2-4C0B-BBAF-9080F8DE03B7}"/>
    <dgm:cxn modelId="{6EBED475-0F04-421D-9CC6-F80D48192CF9}" srcId="{6DE17DB0-32C4-4C35-A412-41A89C6CA745}" destId="{476FCCDF-AF6B-4F1B-A45C-904F435A0176}" srcOrd="0" destOrd="0" parTransId="{D4E4D2A9-CD89-42B8-B031-130F3AE46703}" sibTransId="{ACFEE717-7DCF-4749-9371-2A7FDD8BE886}"/>
    <dgm:cxn modelId="{0A4E9098-E696-B148-A00D-6B90051EEE03}" type="presOf" srcId="{585C2C77-CDAC-4E20-8A48-6556902A65AC}" destId="{361588F0-37D8-FB4E-9314-2B2C1A1BFCE5}" srcOrd="0" destOrd="0" presId="urn:microsoft.com/office/officeart/2005/8/layout/vList2"/>
    <dgm:cxn modelId="{69A011A9-38F0-A445-B532-943D5F789C5E}" type="presOf" srcId="{6DE17DB0-32C4-4C35-A412-41A89C6CA745}" destId="{8A654DDD-1A55-AD40-A130-4E49AF792017}" srcOrd="0" destOrd="0" presId="urn:microsoft.com/office/officeart/2005/8/layout/vList2"/>
    <dgm:cxn modelId="{EFE442DC-7DC1-8041-A638-E4CA8636D762}" type="presOf" srcId="{785D0741-9971-4DBA-B37B-7ECF0B77D21C}" destId="{BB0612E7-001A-F74D-9A89-0A8F718BA476}" srcOrd="0" destOrd="0" presId="urn:microsoft.com/office/officeart/2005/8/layout/vList2"/>
    <dgm:cxn modelId="{736AC1F1-1817-46F9-9DE2-2687CEAA6752}" srcId="{6DE17DB0-32C4-4C35-A412-41A89C6CA745}" destId="{585C2C77-CDAC-4E20-8A48-6556902A65AC}" srcOrd="4" destOrd="0" parTransId="{A4729574-BB01-45F4-B6ED-8C1E394060A9}" sibTransId="{D40C2997-7456-4066-9529-2F3DFB59B595}"/>
    <dgm:cxn modelId="{3F63F1F5-C6A8-114C-BCEA-529927B2E18D}" type="presParOf" srcId="{8A654DDD-1A55-AD40-A130-4E49AF792017}" destId="{C6D17163-2C39-7847-87B5-943614FECDCB}" srcOrd="0" destOrd="0" presId="urn:microsoft.com/office/officeart/2005/8/layout/vList2"/>
    <dgm:cxn modelId="{37DFF652-17A6-EC48-98D3-7764CADA30AD}" type="presParOf" srcId="{8A654DDD-1A55-AD40-A130-4E49AF792017}" destId="{EFB5A4D6-1695-E44C-9EAE-C388A06BAE30}" srcOrd="1" destOrd="0" presId="urn:microsoft.com/office/officeart/2005/8/layout/vList2"/>
    <dgm:cxn modelId="{0547A9F5-5D36-7C47-8977-0A2A3FF54A0B}" type="presParOf" srcId="{8A654DDD-1A55-AD40-A130-4E49AF792017}" destId="{9B9200D7-232D-D848-AB4B-F7B09D87724B}" srcOrd="2" destOrd="0" presId="urn:microsoft.com/office/officeart/2005/8/layout/vList2"/>
    <dgm:cxn modelId="{A5BCF1A0-1B86-2841-96E9-1AAA704A354B}" type="presParOf" srcId="{8A654DDD-1A55-AD40-A130-4E49AF792017}" destId="{7E4D28CB-5888-944C-B32A-A43427C449C5}" srcOrd="3" destOrd="0" presId="urn:microsoft.com/office/officeart/2005/8/layout/vList2"/>
    <dgm:cxn modelId="{205A0791-A818-6B47-BF7F-B7A483DCBAEF}" type="presParOf" srcId="{8A654DDD-1A55-AD40-A130-4E49AF792017}" destId="{BB0612E7-001A-F74D-9A89-0A8F718BA476}" srcOrd="4" destOrd="0" presId="urn:microsoft.com/office/officeart/2005/8/layout/vList2"/>
    <dgm:cxn modelId="{C48A2DA8-90F4-3E4D-AF4A-91D96DBA2112}" type="presParOf" srcId="{8A654DDD-1A55-AD40-A130-4E49AF792017}" destId="{A7159A6A-3E26-D640-9376-AA159C4A9B5A}" srcOrd="5" destOrd="0" presId="urn:microsoft.com/office/officeart/2005/8/layout/vList2"/>
    <dgm:cxn modelId="{92D152E5-6DEF-6D46-B628-5A11417C9D24}" type="presParOf" srcId="{8A654DDD-1A55-AD40-A130-4E49AF792017}" destId="{D50DFB1F-3021-A94A-B072-70BD08DF05C9}" srcOrd="6" destOrd="0" presId="urn:microsoft.com/office/officeart/2005/8/layout/vList2"/>
    <dgm:cxn modelId="{87F9FE40-1B41-054B-9408-2647A48CD92E}" type="presParOf" srcId="{8A654DDD-1A55-AD40-A130-4E49AF792017}" destId="{7CCE0759-DEBB-8147-94E8-315C59F38258}" srcOrd="7" destOrd="0" presId="urn:microsoft.com/office/officeart/2005/8/layout/vList2"/>
    <dgm:cxn modelId="{F3259399-FB2E-F949-A70C-32F00B9E065E}" type="presParOf" srcId="{8A654DDD-1A55-AD40-A130-4E49AF792017}" destId="{361588F0-37D8-FB4E-9314-2B2C1A1BFCE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41304-1D74-0E4C-B93D-79A902EE3188}">
      <dsp:nvSpPr>
        <dsp:cNvPr id="0" name=""/>
        <dsp:cNvSpPr/>
      </dsp:nvSpPr>
      <dsp:spPr>
        <a:xfrm>
          <a:off x="0" y="0"/>
          <a:ext cx="4153464" cy="1060892"/>
        </a:xfrm>
        <a:prstGeom prst="roundRect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يمكن أن تتخذ القيادة الرياضية العديد من الأشكال المختلفة:</a:t>
          </a:r>
        </a:p>
      </dsp:txBody>
      <dsp:txXfrm>
        <a:off x="51788" y="51788"/>
        <a:ext cx="4049888" cy="957316"/>
      </dsp:txXfrm>
    </dsp:sp>
    <dsp:sp modelId="{6E391D56-652F-224D-B7D1-6C244CC31D50}">
      <dsp:nvSpPr>
        <dsp:cNvPr id="0" name=""/>
        <dsp:cNvSpPr/>
      </dsp:nvSpPr>
      <dsp:spPr>
        <a:xfrm>
          <a:off x="0" y="1074202"/>
          <a:ext cx="4153464" cy="52684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المدربون في المدارس أو الكليات</a:t>
          </a:r>
        </a:p>
      </dsp:txBody>
      <dsp:txXfrm>
        <a:off x="25718" y="1099920"/>
        <a:ext cx="4102028" cy="475406"/>
      </dsp:txXfrm>
    </dsp:sp>
    <dsp:sp modelId="{BFE099FF-7A32-7D4F-A214-E3D13DA232E9}">
      <dsp:nvSpPr>
        <dsp:cNvPr id="0" name=""/>
        <dsp:cNvSpPr/>
      </dsp:nvSpPr>
      <dsp:spPr>
        <a:xfrm>
          <a:off x="0" y="1612224"/>
          <a:ext cx="4153464" cy="526842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قادة النشاطات</a:t>
          </a:r>
          <a:endParaRPr lang="en-GB" sz="1600" kern="1200" dirty="0">
            <a:solidFill>
              <a:schemeClr val="tx1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25718" y="1637942"/>
        <a:ext cx="4102028" cy="475406"/>
      </dsp:txXfrm>
    </dsp:sp>
    <dsp:sp modelId="{27FD5942-A9B3-2340-9337-728CD9B67E4A}">
      <dsp:nvSpPr>
        <dsp:cNvPr id="0" name=""/>
        <dsp:cNvSpPr/>
      </dsp:nvSpPr>
      <dsp:spPr>
        <a:xfrm>
          <a:off x="0" y="2150247"/>
          <a:ext cx="4153464" cy="52684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معلمو الرياضة</a:t>
          </a:r>
        </a:p>
      </dsp:txBody>
      <dsp:txXfrm>
        <a:off x="25718" y="2175965"/>
        <a:ext cx="4102028" cy="475406"/>
      </dsp:txXfrm>
    </dsp:sp>
    <dsp:sp modelId="{D1309920-5EE4-2F42-AE1B-82B931D36A63}">
      <dsp:nvSpPr>
        <dsp:cNvPr id="0" name=""/>
        <dsp:cNvSpPr/>
      </dsp:nvSpPr>
      <dsp:spPr>
        <a:xfrm>
          <a:off x="0" y="2688269"/>
          <a:ext cx="4153464" cy="526842"/>
        </a:xfrm>
        <a:prstGeom prst="roundRect">
          <a:avLst/>
        </a:prstGeom>
        <a:solidFill>
          <a:schemeClr val="accent5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مدربو اللياقة البدنية</a:t>
          </a:r>
        </a:p>
      </dsp:txBody>
      <dsp:txXfrm>
        <a:off x="25718" y="2713987"/>
        <a:ext cx="4102028" cy="475406"/>
      </dsp:txXfrm>
    </dsp:sp>
    <dsp:sp modelId="{2A71939E-C668-0247-AC34-8881608DF37F}">
      <dsp:nvSpPr>
        <dsp:cNvPr id="0" name=""/>
        <dsp:cNvSpPr/>
      </dsp:nvSpPr>
      <dsp:spPr>
        <a:xfrm>
          <a:off x="0" y="3226292"/>
          <a:ext cx="4153464" cy="52684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مدربو الأندية – المحليون والوطنيون</a:t>
          </a:r>
        </a:p>
      </dsp:txBody>
      <dsp:txXfrm>
        <a:off x="25718" y="3252010"/>
        <a:ext cx="4102028" cy="475406"/>
      </dsp:txXfrm>
    </dsp:sp>
    <dsp:sp modelId="{B882BCA1-CE5F-AA4F-919D-DA133E4C972E}">
      <dsp:nvSpPr>
        <dsp:cNvPr id="0" name=""/>
        <dsp:cNvSpPr/>
      </dsp:nvSpPr>
      <dsp:spPr>
        <a:xfrm>
          <a:off x="0" y="3764314"/>
          <a:ext cx="4153464" cy="5268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المدربون الهواة</a:t>
          </a:r>
        </a:p>
      </dsp:txBody>
      <dsp:txXfrm>
        <a:off x="25718" y="3790032"/>
        <a:ext cx="4102028" cy="475406"/>
      </dsp:txXfrm>
    </dsp:sp>
    <dsp:sp modelId="{95C713CA-9AEE-3E4A-87D7-F214033380F4}">
      <dsp:nvSpPr>
        <dsp:cNvPr id="0" name=""/>
        <dsp:cNvSpPr/>
      </dsp:nvSpPr>
      <dsp:spPr>
        <a:xfrm>
          <a:off x="0" y="4302337"/>
          <a:ext cx="4153464" cy="526842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قادة الفرق</a:t>
          </a:r>
        </a:p>
      </dsp:txBody>
      <dsp:txXfrm>
        <a:off x="25718" y="4328055"/>
        <a:ext cx="4102028" cy="475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873AC-EC9E-3044-B700-EAAA876D7FD5}">
      <dsp:nvSpPr>
        <dsp:cNvPr id="0" name=""/>
        <dsp:cNvSpPr/>
      </dsp:nvSpPr>
      <dsp:spPr>
        <a:xfrm>
          <a:off x="2641608" y="2004531"/>
          <a:ext cx="2348094" cy="1790019"/>
        </a:xfrm>
        <a:prstGeom prst="ellipse">
          <a:avLst/>
        </a:prstGeom>
        <a:solidFill>
          <a:schemeClr val="accent1">
            <a:lumMod val="9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rtlCol="1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300" b="1" kern="1200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أساليب القيادة</a:t>
          </a:r>
          <a:endParaRPr lang="en-GB" sz="2300" b="1" kern="1200" dirty="0">
            <a:solidFill>
              <a:srgbClr val="7030A0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2985478" y="2266673"/>
        <a:ext cx="1660354" cy="1265735"/>
      </dsp:txXfrm>
    </dsp:sp>
    <dsp:sp modelId="{1B2C454D-E40A-2344-9F71-56125A47EBF3}">
      <dsp:nvSpPr>
        <dsp:cNvPr id="0" name=""/>
        <dsp:cNvSpPr/>
      </dsp:nvSpPr>
      <dsp:spPr>
        <a:xfrm rot="13073808">
          <a:off x="1618598" y="1512891"/>
          <a:ext cx="1462623" cy="49146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D8B18-90D1-8146-9137-53BD1BFB1450}">
      <dsp:nvSpPr>
        <dsp:cNvPr id="0" name=""/>
        <dsp:cNvSpPr/>
      </dsp:nvSpPr>
      <dsp:spPr>
        <a:xfrm>
          <a:off x="953718" y="654139"/>
          <a:ext cx="1638201" cy="131056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الاستبدادية</a:t>
          </a:r>
          <a:endParaRPr lang="en-GB" sz="2200" kern="1200" dirty="0">
            <a:solidFill>
              <a:schemeClr val="accent6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992103" y="692524"/>
        <a:ext cx="1561431" cy="1233791"/>
      </dsp:txXfrm>
    </dsp:sp>
    <dsp:sp modelId="{C2D80D29-EEDA-A840-A938-1A92883EE3A3}">
      <dsp:nvSpPr>
        <dsp:cNvPr id="0" name=""/>
        <dsp:cNvSpPr/>
      </dsp:nvSpPr>
      <dsp:spPr>
        <a:xfrm rot="16200000">
          <a:off x="3170708" y="1038781"/>
          <a:ext cx="1289893" cy="491460"/>
        </a:xfrm>
        <a:prstGeom prst="leftArrow">
          <a:avLst>
            <a:gd name="adj1" fmla="val 60000"/>
            <a:gd name="adj2" fmla="val 50000"/>
          </a:avLst>
        </a:prstGeom>
        <a:solidFill>
          <a:schemeClr val="accent6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B8E8A-BDEF-6942-91EF-2519ECF2D4B2}">
      <dsp:nvSpPr>
        <dsp:cNvPr id="0" name=""/>
        <dsp:cNvSpPr/>
      </dsp:nvSpPr>
      <dsp:spPr>
        <a:xfrm>
          <a:off x="2996554" y="-15715"/>
          <a:ext cx="1638201" cy="1310561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المتساهلة</a:t>
          </a:r>
          <a:endParaRPr lang="en-GB" sz="2000" kern="1200" dirty="0">
            <a:solidFill>
              <a:schemeClr val="accent6"/>
            </a:solidFill>
            <a:latin typeface="Sakkal Majalla" panose="02000000000000000000" pitchFamily="2" charset="-78"/>
            <a:ea typeface="+mn-ea"/>
            <a:cs typeface="Sakkal Majalla" panose="02000000000000000000" pitchFamily="2" charset="-78"/>
          </a:endParaRPr>
        </a:p>
      </dsp:txBody>
      <dsp:txXfrm>
        <a:off x="3034939" y="22670"/>
        <a:ext cx="1561431" cy="1233791"/>
      </dsp:txXfrm>
    </dsp:sp>
    <dsp:sp modelId="{90D24250-2564-6F4C-B019-540CAEB8D2D7}">
      <dsp:nvSpPr>
        <dsp:cNvPr id="0" name=""/>
        <dsp:cNvSpPr/>
      </dsp:nvSpPr>
      <dsp:spPr>
        <a:xfrm rot="19407156">
          <a:off x="4578332" y="1520203"/>
          <a:ext cx="1533315" cy="49146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0DD07-9EC0-B44C-AC30-AAD4C1142756}">
      <dsp:nvSpPr>
        <dsp:cNvPr id="0" name=""/>
        <dsp:cNvSpPr/>
      </dsp:nvSpPr>
      <dsp:spPr>
        <a:xfrm>
          <a:off x="5141795" y="654118"/>
          <a:ext cx="1638201" cy="131056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b="1" kern="1200" dirty="0">
              <a:solidFill>
                <a:srgbClr val="7030A0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rPr>
            <a:t>القيادة التشاركية</a:t>
          </a:r>
          <a:endParaRPr lang="en-GB" sz="2000" kern="1200" dirty="0">
            <a:solidFill>
              <a:schemeClr val="accent6"/>
            </a:solidFill>
            <a:latin typeface="Sakkal Majalla" panose="02000000000000000000" pitchFamily="2" charset="-78"/>
            <a:cs typeface="Sakkal Majalla" panose="02000000000000000000" pitchFamily="2" charset="-78"/>
          </a:endParaRPr>
        </a:p>
      </dsp:txBody>
      <dsp:txXfrm>
        <a:off x="5180180" y="692503"/>
        <a:ext cx="1561431" cy="12337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17163-2C39-7847-87B5-943614FECDCB}">
      <dsp:nvSpPr>
        <dsp:cNvPr id="0" name=""/>
        <dsp:cNvSpPr/>
      </dsp:nvSpPr>
      <dsp:spPr>
        <a:xfrm>
          <a:off x="0" y="30883"/>
          <a:ext cx="4463728" cy="754649"/>
        </a:xfrm>
        <a:prstGeom prst="round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مكونات الوحدة التدريبية</a:t>
          </a:r>
        </a:p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الإحماء، والمكون الرئيس، والتهدئة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39" y="67722"/>
        <a:ext cx="4390050" cy="680971"/>
      </dsp:txXfrm>
    </dsp:sp>
    <dsp:sp modelId="{9B9200D7-232D-D848-AB4B-F7B09D87724B}">
      <dsp:nvSpPr>
        <dsp:cNvPr id="0" name=""/>
        <dsp:cNvSpPr/>
      </dsp:nvSpPr>
      <dsp:spPr>
        <a:xfrm>
          <a:off x="0" y="828733"/>
          <a:ext cx="4463728" cy="754649"/>
        </a:xfrm>
        <a:prstGeom prst="roundRect">
          <a:avLst/>
        </a:prstGeom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احتياجات المشاركين</a:t>
          </a:r>
        </a:p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السن والقدرة والجنس والأعداد والاحتياجات الطبية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39" y="865572"/>
        <a:ext cx="4390050" cy="680971"/>
      </dsp:txXfrm>
    </dsp:sp>
    <dsp:sp modelId="{BB0612E7-001A-F74D-9A89-0A8F718BA476}">
      <dsp:nvSpPr>
        <dsp:cNvPr id="0" name=""/>
        <dsp:cNvSpPr/>
      </dsp:nvSpPr>
      <dsp:spPr>
        <a:xfrm>
          <a:off x="0" y="1626583"/>
          <a:ext cx="4463728" cy="754649"/>
        </a:xfrm>
        <a:prstGeom prst="round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الأهداف العامة والأهداف المحددة</a:t>
          </a:r>
        </a:p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تحديد الأهداف والمُخرجات المتوقعة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839" y="1663422"/>
        <a:ext cx="4390050" cy="680971"/>
      </dsp:txXfrm>
    </dsp:sp>
    <dsp:sp modelId="{D50DFB1F-3021-A94A-B072-70BD08DF05C9}">
      <dsp:nvSpPr>
        <dsp:cNvPr id="0" name=""/>
        <dsp:cNvSpPr/>
      </dsp:nvSpPr>
      <dsp:spPr>
        <a:xfrm>
          <a:off x="0" y="2424433"/>
          <a:ext cx="4463728" cy="967770"/>
        </a:xfrm>
        <a:prstGeom prst="roundRect">
          <a:avLst/>
        </a:prstGeom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الموارد</a:t>
          </a:r>
        </a:p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المنشآت والمعدات والوقت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243" y="2471676"/>
        <a:ext cx="4369242" cy="873284"/>
      </dsp:txXfrm>
    </dsp:sp>
    <dsp:sp modelId="{361588F0-37D8-FB4E-9314-2B2C1A1BFCE5}">
      <dsp:nvSpPr>
        <dsp:cNvPr id="0" name=""/>
        <dsp:cNvSpPr/>
      </dsp:nvSpPr>
      <dsp:spPr>
        <a:xfrm>
          <a:off x="0" y="3435404"/>
          <a:ext cx="4463728" cy="1214231"/>
        </a:xfrm>
        <a:prstGeom prst="round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عوامل الصحة والسلامة </a:t>
          </a:r>
        </a:p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مثل تقييم المخاطر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274" y="3494678"/>
        <a:ext cx="4345180" cy="10956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FB7D1C25-2465-4CCC-8AD1-79A088F63130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0D9491DC-8778-4E64-9451-80C002334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u="none" strike="noStrike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AL2033320</a:t>
            </a:r>
          </a:p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59395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F29C-60F7-E1F0-AE41-5D885457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1B65633-FCED-66C9-3BA4-DE4A782C6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F231252-95A1-4000-F22A-64821FD97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550F044-16E4-EA92-AF18-35300F7D3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6853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25913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700726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9407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7CD6-41EC-CD62-5F9C-D87C2623C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C3216F0E-EAFC-A4AB-4224-6C7547F70B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23268F1-BF6C-9D7E-A7B1-97BACA523C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AL2056842</a:t>
            </a:r>
          </a:p>
          <a:p>
            <a:pPr rtl="1"/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00C0A613-8B34-488B-0B38-20F74FAF44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0988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5443-C531-534B-56B5-95BD283E5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580DED4-F5AC-877A-135F-799660A9A6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6101F39-8A9D-3193-B70A-365590B0C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AL2077467</a:t>
            </a:r>
          </a:p>
          <a:p>
            <a:pPr rtl="1"/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15989BD4-F09D-5DE9-99A0-056989F54F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47634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0C7D9-2FC5-FD84-E9AC-55BD9AA42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6398EB1-AC0B-99E6-CDFF-6352EE480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7FCF5C2-1004-945A-6653-0A0BA0336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AL1299923</a:t>
            </a:r>
          </a:p>
          <a:p>
            <a:pPr rtl="1"/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16287A66-3ACD-DA59-1909-F491DEF67E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7963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890AB-D0B4-ABE4-B2EF-2EE02D151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CD01309D-6F17-52E3-96B5-47105A760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C4B2238-18FD-3B26-8C9A-635F4FCC1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87D884A5-75E1-E5A2-C4E9-EB882AC67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4610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B3D8-CC7A-6EF4-C09F-E780499F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E2D0D334-0ADA-BF56-4375-13194E3712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5D85FB14-2E9C-87C8-5F6E-85BD73D3D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sz="1200" b="1" i="0" u="none" strike="noStrike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AL1541940</a:t>
            </a:r>
          </a:p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C3EF8B8D-8F8D-3B0B-2252-5BFAB6186A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10269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23CF-C05F-D55E-7B86-D4754AC6A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7609FE51-4F44-1104-2220-76DFD8A0AC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3E5527A9-66D2-1C79-9D43-791BF7B8F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2360263F-674B-8F2E-CF7F-FDCA41FEF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98955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37896-720E-856E-B63A-CD1E2FE1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DFD01CB5-5665-CC94-CB80-88850FC83B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0082AFF7-AE61-E6BE-AFA5-588B747D6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lang="en-GB" dirty="0"/>
            </a:br>
            <a:endParaRPr lang="en-GB" b="1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58C87184-56F1-96A3-508B-CB244654B5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87159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399485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64522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7462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479569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ar" b="1">
                <a:effectLst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57546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A90A-6969-86DF-DAB9-3AD5EC777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7880A-CAF5-C4A9-AA49-E132C222F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1489D-8361-AC24-919C-F4E86C7C7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007E6-5512-B5E0-FB95-0780F1137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6557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80999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B43A-45DB-E585-B5E2-37546F28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33CD1-7681-6483-2BEF-41D7F7597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99F56-74B1-0026-D6F8-782FF4D03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7803D-F864-A199-BC3C-D601A2EAA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30883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b="1" i="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15183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B18F-9C5D-1A68-130C-93CAC93F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EF135D-FDB2-2B5E-63A6-53DDB0CA4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016A7-D8D5-594F-BEE9-F9A027C23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AL1097105</a:t>
            </a:r>
          </a:p>
          <a:p>
            <a:pPr rtl="1"/>
            <a:endParaRPr lang="en-US" dirty="0"/>
          </a:p>
          <a:p>
            <a:pPr rtl="1"/>
            <a:endParaRPr lang="en-US" dirty="0"/>
          </a:p>
          <a:p>
            <a:pPr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C54F7-AF75-2EFD-C973-92C4DD3A7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91975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AL1513478</a:t>
            </a:r>
            <a:endParaRPr lang="en-US" dirty="0"/>
          </a:p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195523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C512-B823-DCEB-2C1E-895DD45E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25124-11B3-2E45-F719-67B629722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A775E-7153-934D-6B61-4E50CB46C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1" i="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AL2074816</a:t>
            </a:r>
          </a:p>
          <a:p>
            <a:pPr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A5594-0E75-B725-D99B-D962681147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049063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E88E2-489E-1674-828A-4B0375D5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5C90619-D921-C10C-E4BD-CA488C3391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69E2DF8-89CA-9F20-A91F-38D9081C54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523A658-FC93-0217-63E3-198A77E86F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9850289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EEA3-BAAB-A6E3-9A57-B6895B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DDFB43D-2A6B-02B3-FF68-46FBC295B6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697D398C-1B30-B293-20E3-569AAB24B5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AA81F460-3DB2-0FDF-6DB9-99C1A6F8F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57142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32AB-25E3-AD0F-5E5F-1EF137798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03682576-D601-B951-E806-7F4D9628D6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4523E22D-A045-968E-DE6D-9C4A65BD6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F1ADCC05-4E4C-F54A-D644-F4B388D826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3885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3239-E4CB-1634-B8C2-59C0FAA7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264B63E6-A7C5-96B4-51FB-66A28746C8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5C931C68-FBB5-AE95-CD2F-274A39658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531A3ED-1A82-C69D-5C8E-5AAA128051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3352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5733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209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188745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0514318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939732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4461393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  <p:hf sldNum="0" hdr="0" ftr="0" dt="0"/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831941"/>
      </p:ext>
    </p:extLst>
  </p:cSld>
  <p:clrMapOvr>
    <a:masterClrMapping/>
  </p:clrMapOvr>
  <p:transition>
    <p:sndAc>
      <p:stSnd>
        <p:snd r:embed="rId1" name="click.wav"/>
      </p:stSnd>
    </p:sndAc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27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6.xml"/><Relationship Id="rId13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145.xml"/><Relationship Id="rId12" Type="http://schemas.openxmlformats.org/officeDocument/2006/relationships/slideLayout" Target="../slideLayouts/slideLayout150.xml"/><Relationship Id="rId2" Type="http://schemas.openxmlformats.org/officeDocument/2006/relationships/slideLayout" Target="../slideLayouts/slideLayout140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2.xml"/><Relationship Id="rId9" Type="http://schemas.openxmlformats.org/officeDocument/2006/relationships/slideLayout" Target="../slideLayouts/slideLayout147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theme" Target="../theme/theme13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audio" Target="../media/audio1.bin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75.xml"/><Relationship Id="rId2" Type="http://schemas.openxmlformats.org/officeDocument/2006/relationships/slideLayout" Target="../slideLayouts/slideLayout16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68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72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  <p:sldLayoutId id="2147484987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86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44E42-22D5-3C44-D060-73B1D9BC95A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2025. Copying permitted for purchasing institution only.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46C985-B4C5-451B-9C34-993E5588B8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4089"/>
            <a:ext cx="9144000" cy="1076325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CC216089-BEB3-44DE-A852-F0F9950BFC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3408" y="111067"/>
            <a:ext cx="5187829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l"/>
            <a:r>
              <a:rPr lang="ar-EG" sz="2600" b="1" kern="0" noProof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شهادات BTEC International للمستوى 2 </a:t>
            </a:r>
            <a:br>
              <a:rPr lang="ar-EG" sz="2600" b="1" kern="0" noProof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-EG" sz="2600" b="1" kern="0" noProof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الرياضة</a:t>
            </a:r>
            <a:endParaRPr lang="ar-EG" altLang="en-US" sz="2600" b="1" kern="0" noProof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8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4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audio" Target="../media/audio1.bin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audio" Target="../media/audio1.bin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5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audio" Target="../media/audio1.bin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sv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6.xml"/><Relationship Id="rId4" Type="http://schemas.openxmlformats.org/officeDocument/2006/relationships/image" Target="../media/image40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audio" Target="../media/audio1.bin"/><Relationship Id="rId7" Type="http://schemas.openxmlformats.org/officeDocument/2006/relationships/image" Target="../media/image42.sv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6.xml"/><Relationship Id="rId6" Type="http://schemas.openxmlformats.org/officeDocument/2006/relationships/image" Target="../media/image41.png"/><Relationship Id="rId11" Type="http://schemas.openxmlformats.org/officeDocument/2006/relationships/image" Target="../media/image46.svg"/><Relationship Id="rId5" Type="http://schemas.openxmlformats.org/officeDocument/2006/relationships/image" Target="../media/image30.svg"/><Relationship Id="rId15" Type="http://schemas.openxmlformats.org/officeDocument/2006/relationships/image" Target="../media/image50.svg"/><Relationship Id="rId10" Type="http://schemas.openxmlformats.org/officeDocument/2006/relationships/image" Target="../media/image45.png"/><Relationship Id="rId4" Type="http://schemas.openxmlformats.org/officeDocument/2006/relationships/image" Target="../media/image29.png"/><Relationship Id="rId9" Type="http://schemas.openxmlformats.org/officeDocument/2006/relationships/image" Target="../media/image44.svg"/><Relationship Id="rId1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audio" Target="../media/audio1.bin"/><Relationship Id="rId7" Type="http://schemas.openxmlformats.org/officeDocument/2006/relationships/image" Target="../media/image5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35.png"/><Relationship Id="rId11" Type="http://schemas.openxmlformats.org/officeDocument/2006/relationships/image" Target="../media/image55.svg"/><Relationship Id="rId5" Type="http://schemas.openxmlformats.org/officeDocument/2006/relationships/image" Target="../media/image30.svg"/><Relationship Id="rId10" Type="http://schemas.openxmlformats.org/officeDocument/2006/relationships/image" Target="../media/image54.png"/><Relationship Id="rId4" Type="http://schemas.openxmlformats.org/officeDocument/2006/relationships/image" Target="../media/image29.png"/><Relationship Id="rId9" Type="http://schemas.openxmlformats.org/officeDocument/2006/relationships/image" Target="../media/image5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0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svg"/><Relationship Id="rId3" Type="http://schemas.openxmlformats.org/officeDocument/2006/relationships/audio" Target="../media/audio1.bin"/><Relationship Id="rId7" Type="http://schemas.openxmlformats.org/officeDocument/2006/relationships/image" Target="../media/image59.sv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57.sv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44.svg"/><Relationship Id="rId3" Type="http://schemas.openxmlformats.org/officeDocument/2006/relationships/audio" Target="../media/audio1.bin"/><Relationship Id="rId7" Type="http://schemas.openxmlformats.org/officeDocument/2006/relationships/image" Target="../media/image68.sv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67.png"/><Relationship Id="rId11" Type="http://schemas.openxmlformats.org/officeDocument/2006/relationships/image" Target="../media/image72.svg"/><Relationship Id="rId5" Type="http://schemas.openxmlformats.org/officeDocument/2006/relationships/image" Target="../media/image66.sv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7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1.xml"/><Relationship Id="rId4" Type="http://schemas.openxmlformats.org/officeDocument/2006/relationships/image" Target="../media/image7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76.jpeg"/><Relationship Id="rId5" Type="http://schemas.openxmlformats.org/officeDocument/2006/relationships/image" Target="../media/image75.svg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79.jpeg"/><Relationship Id="rId5" Type="http://schemas.openxmlformats.org/officeDocument/2006/relationships/image" Target="../media/image78.svg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audio" Target="../media/audio1.bin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27.png"/><Relationship Id="rId11" Type="http://schemas.openxmlformats.org/officeDocument/2006/relationships/image" Target="../media/image84.svg"/><Relationship Id="rId5" Type="http://schemas.openxmlformats.org/officeDocument/2006/relationships/image" Target="../media/image80.svg"/><Relationship Id="rId10" Type="http://schemas.openxmlformats.org/officeDocument/2006/relationships/image" Target="../media/image83.png"/><Relationship Id="rId4" Type="http://schemas.openxmlformats.org/officeDocument/2006/relationships/image" Target="../media/image29.png"/><Relationship Id="rId9" Type="http://schemas.openxmlformats.org/officeDocument/2006/relationships/image" Target="../media/image8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87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1.xml"/><Relationship Id="rId6" Type="http://schemas.openxmlformats.org/officeDocument/2006/relationships/image" Target="../media/image74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93.svg"/><Relationship Id="rId3" Type="http://schemas.openxmlformats.org/officeDocument/2006/relationships/audio" Target="../media/audio1.bin"/><Relationship Id="rId7" Type="http://schemas.openxmlformats.org/officeDocument/2006/relationships/image" Target="../media/image80.svg"/><Relationship Id="rId12" Type="http://schemas.openxmlformats.org/officeDocument/2006/relationships/image" Target="../media/image9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0.xml"/><Relationship Id="rId6" Type="http://schemas.openxmlformats.org/officeDocument/2006/relationships/image" Target="../media/image29.png"/><Relationship Id="rId11" Type="http://schemas.openxmlformats.org/officeDocument/2006/relationships/image" Target="../media/image91.svg"/><Relationship Id="rId5" Type="http://schemas.openxmlformats.org/officeDocument/2006/relationships/image" Target="../media/image89.svg"/><Relationship Id="rId10" Type="http://schemas.openxmlformats.org/officeDocument/2006/relationships/image" Target="../media/image90.png"/><Relationship Id="rId4" Type="http://schemas.openxmlformats.org/officeDocument/2006/relationships/image" Target="../media/image88.png"/><Relationship Id="rId9" Type="http://schemas.openxmlformats.org/officeDocument/2006/relationships/image" Target="../media/image82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695357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6</a:t>
            </a:r>
            <a:br>
              <a:rPr lang="en-GB" altLang="en-US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القيادة في مجال الرياضة</a:t>
            </a:r>
            <a:br>
              <a:rPr lang="en-GB" altLang="en-US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EC435638-4091-53D6-DF49-6CC5A83591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70663"/>
            <a:ext cx="9144000" cy="287337"/>
          </a:xfrm>
        </p:spPr>
        <p:txBody>
          <a:bodyPr rtlCol="1"/>
          <a:lstStyle/>
          <a:p>
            <a:pPr algn="ctr" rtl="1"/>
            <a:r>
              <a:rPr lang="ar" sz="1200" dirty="0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2025 محفوظة لشركة بيرسون إديوكيشن ليمتد. يُسمح بالنسخ للمؤسسة المشترية فقط. </a:t>
            </a:r>
            <a:endParaRPr lang="en-GB" sz="1200" dirty="0">
              <a:solidFill>
                <a:srgbClr val="FFFFFF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6EB7BC-FA6B-064A-4844-BDE6075EB076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773102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7214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القيادة في مجال الرياضة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03578" y="1988840"/>
            <a:ext cx="8424935" cy="4032448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ستتعلم في هذه الوحدة:</a:t>
            </a:r>
            <a:r>
              <a:rPr lang="ar" sz="2000" kern="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Aptos" panose="020B0004020202020204" pitchFamily="34" charset="0"/>
                <a:cs typeface="Sakkal Majalla" panose="02000000000000000000" pitchFamily="2" charset="-78"/>
              </a:rPr>
              <a:t> القيادة في قطاع الرياضة. 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ستعمل على ما يأتي: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استكشاف الأدوار القيادية المتنوعة في قطاع الرياضة، مثل دور المعلمين والمدربين ومدربي اللياقة البدنية.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اكتساب فهم أعمق للسمات الأساسية والمسؤوليات التي يتحلى بها قادة الرياضة، وكيف تسهم هذه السمات والمسؤوليات في تحقيق نتائج ناجحة في البيئات الرياضية.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تعرّف أساليب القيادة المختلفة في المجال الرياضي، وتأثير كل أسلوب منها في المشاركين.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تعلّم طرق القيادة الفعالة لوحدات رياضية ونشاطات بدنية.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1ACEBC-5E18-8597-0BE2-3DB5BE2F23AA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3966605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15C3-2163-B9EE-9B6E-E9AB2B0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BE43A64-630B-33D8-60B0-723B68362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1510" y="1063821"/>
            <a:ext cx="8229600" cy="6496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كيف يتم تقييم الوحدة 6؟</a:t>
            </a:r>
            <a:endParaRPr lang="en-GB" altLang="en-US" sz="24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731C666-CDA8-01C4-F59B-437CA2BF869D}"/>
              </a:ext>
            </a:extLst>
          </p:cNvPr>
          <p:cNvSpPr/>
          <p:nvPr/>
        </p:nvSpPr>
        <p:spPr>
          <a:xfrm flipH="1">
            <a:off x="1789208" y="1872632"/>
            <a:ext cx="5411041" cy="1052813"/>
          </a:xfrm>
          <a:custGeom>
            <a:avLst/>
            <a:gdLst>
              <a:gd name="connsiteX0" fmla="*/ 0 w 5411041"/>
              <a:gd name="connsiteY0" fmla="*/ 0 h 1052811"/>
              <a:gd name="connsiteX1" fmla="*/ 4884636 w 5411041"/>
              <a:gd name="connsiteY1" fmla="*/ 0 h 1052811"/>
              <a:gd name="connsiteX2" fmla="*/ 5411041 w 5411041"/>
              <a:gd name="connsiteY2" fmla="*/ 526406 h 1052811"/>
              <a:gd name="connsiteX3" fmla="*/ 4884636 w 5411041"/>
              <a:gd name="connsiteY3" fmla="*/ 1052811 h 1052811"/>
              <a:gd name="connsiteX4" fmla="*/ 0 w 5411041"/>
              <a:gd name="connsiteY4" fmla="*/ 1052811 h 1052811"/>
              <a:gd name="connsiteX5" fmla="*/ 0 w 5411041"/>
              <a:gd name="connsiteY5" fmla="*/ 0 h 1052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1041" h="1052811">
                <a:moveTo>
                  <a:pt x="5411041" y="1052810"/>
                </a:moveTo>
                <a:lnTo>
                  <a:pt x="526405" y="1052810"/>
                </a:lnTo>
                <a:lnTo>
                  <a:pt x="0" y="526405"/>
                </a:lnTo>
                <a:lnTo>
                  <a:pt x="526405" y="1"/>
                </a:lnTo>
                <a:lnTo>
                  <a:pt x="5411041" y="1"/>
                </a:lnTo>
                <a:lnTo>
                  <a:pt x="5411041" y="105281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016" tIns="68581" rIns="731520" bIns="68581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0" kern="1200" dirty="0">
                <a:solidFill>
                  <a:schemeClr val="tx1"/>
                </a:solidFill>
              </a:rPr>
              <a:t>تُقيّم هذه الوحدة باستخدام موجزي واجب يقدمهما مُعلّمك.</a:t>
            </a:r>
            <a:endParaRPr lang="en-GB" sz="1800" b="0" kern="1200" dirty="0"/>
          </a:p>
        </p:txBody>
      </p:sp>
      <p:sp>
        <p:nvSpPr>
          <p:cNvPr id="4" name="Rectangle 3" descr="Document">
            <a:extLst>
              <a:ext uri="{FF2B5EF4-FFF2-40B4-BE49-F238E27FC236}">
                <a16:creationId xmlns:a16="http://schemas.microsoft.com/office/drawing/2014/main" id="{BA290B54-F06D-1BB1-669B-DBD324ADE4B3}"/>
              </a:ext>
            </a:extLst>
          </p:cNvPr>
          <p:cNvSpPr/>
          <p:nvPr/>
        </p:nvSpPr>
        <p:spPr>
          <a:xfrm>
            <a:off x="7151778" y="1857993"/>
            <a:ext cx="1052811" cy="1052811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44336F3-A97E-BC04-191F-1798E983E2F7}"/>
              </a:ext>
            </a:extLst>
          </p:cNvPr>
          <p:cNvSpPr/>
          <p:nvPr/>
        </p:nvSpPr>
        <p:spPr>
          <a:xfrm flipH="1">
            <a:off x="1683450" y="3226145"/>
            <a:ext cx="5522400" cy="1571005"/>
          </a:xfrm>
          <a:custGeom>
            <a:avLst/>
            <a:gdLst>
              <a:gd name="connsiteX0" fmla="*/ 0 w 5522400"/>
              <a:gd name="connsiteY0" fmla="*/ 0 h 1571004"/>
              <a:gd name="connsiteX1" fmla="*/ 4736898 w 5522400"/>
              <a:gd name="connsiteY1" fmla="*/ 0 h 1571004"/>
              <a:gd name="connsiteX2" fmla="*/ 5522400 w 5522400"/>
              <a:gd name="connsiteY2" fmla="*/ 785502 h 1571004"/>
              <a:gd name="connsiteX3" fmla="*/ 4736898 w 5522400"/>
              <a:gd name="connsiteY3" fmla="*/ 1571004 h 1571004"/>
              <a:gd name="connsiteX4" fmla="*/ 0 w 5522400"/>
              <a:gd name="connsiteY4" fmla="*/ 1571004 h 1571004"/>
              <a:gd name="connsiteX5" fmla="*/ 0 w 5522400"/>
              <a:gd name="connsiteY5" fmla="*/ 0 h 1571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22400" h="1571004">
                <a:moveTo>
                  <a:pt x="5522400" y="1571003"/>
                </a:moveTo>
                <a:lnTo>
                  <a:pt x="785502" y="1571003"/>
                </a:lnTo>
                <a:lnTo>
                  <a:pt x="0" y="785502"/>
                </a:lnTo>
                <a:lnTo>
                  <a:pt x="785502" y="1"/>
                </a:lnTo>
                <a:lnTo>
                  <a:pt x="5522400" y="1"/>
                </a:lnTo>
                <a:lnTo>
                  <a:pt x="5522400" y="157100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016" tIns="68581" rIns="859536" bIns="6858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solidFill>
                  <a:schemeClr val="tx1"/>
                </a:solidFill>
              </a:rPr>
              <a:t>ستستكشف مهارات القيادة وأساليبها في المؤسسات الرياضية وستضع تقريرًا عن نتائج استكشافك. وستُظِهر ممارستك للقيادة في وحدة رياضية وستفكر بعمق في أدائك.</a:t>
            </a:r>
            <a:endParaRPr lang="en-GB" sz="1800" kern="1200" dirty="0">
              <a:solidFill>
                <a:schemeClr val="tx1"/>
              </a:solidFill>
              <a:latin typeface="Verdana"/>
              <a:ea typeface="+mn-ea"/>
              <a:cs typeface="+mn-cs"/>
            </a:endParaRPr>
          </a:p>
        </p:txBody>
      </p:sp>
      <p:sp>
        <p:nvSpPr>
          <p:cNvPr id="7" name="Oval 6" descr="Man with solid fill">
            <a:extLst>
              <a:ext uri="{FF2B5EF4-FFF2-40B4-BE49-F238E27FC236}">
                <a16:creationId xmlns:a16="http://schemas.microsoft.com/office/drawing/2014/main" id="{0A5524AE-219A-8363-3D42-F20371BC0E86}"/>
              </a:ext>
            </a:extLst>
          </p:cNvPr>
          <p:cNvSpPr/>
          <p:nvPr/>
        </p:nvSpPr>
        <p:spPr>
          <a:xfrm>
            <a:off x="7179617" y="3498992"/>
            <a:ext cx="1052811" cy="1052811"/>
          </a:xfrm>
          <a:prstGeom prst="ellipse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F7985CF-7338-D164-34F4-8F2D41573188}"/>
              </a:ext>
            </a:extLst>
          </p:cNvPr>
          <p:cNvSpPr/>
          <p:nvPr/>
        </p:nvSpPr>
        <p:spPr>
          <a:xfrm flipH="1">
            <a:off x="1711289" y="5111422"/>
            <a:ext cx="5411041" cy="1052812"/>
          </a:xfrm>
          <a:custGeom>
            <a:avLst/>
            <a:gdLst>
              <a:gd name="connsiteX0" fmla="*/ 0 w 5411041"/>
              <a:gd name="connsiteY0" fmla="*/ 0 h 1052811"/>
              <a:gd name="connsiteX1" fmla="*/ 4884636 w 5411041"/>
              <a:gd name="connsiteY1" fmla="*/ 0 h 1052811"/>
              <a:gd name="connsiteX2" fmla="*/ 5411041 w 5411041"/>
              <a:gd name="connsiteY2" fmla="*/ 526406 h 1052811"/>
              <a:gd name="connsiteX3" fmla="*/ 4884636 w 5411041"/>
              <a:gd name="connsiteY3" fmla="*/ 1052811 h 1052811"/>
              <a:gd name="connsiteX4" fmla="*/ 0 w 5411041"/>
              <a:gd name="connsiteY4" fmla="*/ 1052811 h 1052811"/>
              <a:gd name="connsiteX5" fmla="*/ 0 w 5411041"/>
              <a:gd name="connsiteY5" fmla="*/ 0 h 1052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11041" h="1052811">
                <a:moveTo>
                  <a:pt x="5411041" y="1052810"/>
                </a:moveTo>
                <a:lnTo>
                  <a:pt x="526405" y="1052810"/>
                </a:lnTo>
                <a:lnTo>
                  <a:pt x="0" y="526405"/>
                </a:lnTo>
                <a:lnTo>
                  <a:pt x="526405" y="1"/>
                </a:lnTo>
                <a:lnTo>
                  <a:pt x="5411041" y="1"/>
                </a:lnTo>
                <a:lnTo>
                  <a:pt x="5411041" y="105281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8016" tIns="68581" rIns="731520" bIns="68580" numCol="1" spcCol="1270" rtlCol="1" anchor="ctr" anchorCtr="0">
            <a:noAutofit/>
          </a:bodyPr>
          <a:lstStyle/>
          <a:p>
            <a:pPr marL="0" lvl="0" indent="0" algn="ct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solidFill>
                  <a:schemeClr val="tx1"/>
                </a:solidFill>
              </a:rPr>
              <a:t>ستخضع للتقييم الداخلي على يد معلمك</a:t>
            </a:r>
          </a:p>
        </p:txBody>
      </p:sp>
      <p:sp>
        <p:nvSpPr>
          <p:cNvPr id="9" name="Oval 8" descr="Magnifying glass with solid fill">
            <a:extLst>
              <a:ext uri="{FF2B5EF4-FFF2-40B4-BE49-F238E27FC236}">
                <a16:creationId xmlns:a16="http://schemas.microsoft.com/office/drawing/2014/main" id="{023175C1-00D8-A3BE-6B88-1A693780CB8E}"/>
              </a:ext>
            </a:extLst>
          </p:cNvPr>
          <p:cNvSpPr/>
          <p:nvPr/>
        </p:nvSpPr>
        <p:spPr>
          <a:xfrm>
            <a:off x="7088419" y="5112492"/>
            <a:ext cx="1052811" cy="1052811"/>
          </a:xfrm>
          <a:prstGeom prst="ellipse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08E8B-FC83-5124-E6B1-1F547B3B5291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621000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نتاجا التعلُّم أ - ج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AB3931-C8A4-217E-0B4D-61A36C3008FB}"/>
              </a:ext>
            </a:extLst>
          </p:cNvPr>
          <p:cNvSpPr/>
          <p:nvPr/>
        </p:nvSpPr>
        <p:spPr>
          <a:xfrm>
            <a:off x="468311" y="2196473"/>
            <a:ext cx="8207375" cy="1107854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Rectangle 3" descr="Sport Balls">
            <a:extLst>
              <a:ext uri="{FF2B5EF4-FFF2-40B4-BE49-F238E27FC236}">
                <a16:creationId xmlns:a16="http://schemas.microsoft.com/office/drawing/2014/main" id="{428A03A8-000A-A11B-3D39-5B5581BA0147}"/>
              </a:ext>
            </a:extLst>
          </p:cNvPr>
          <p:cNvSpPr/>
          <p:nvPr/>
        </p:nvSpPr>
        <p:spPr>
          <a:xfrm>
            <a:off x="7731242" y="2445740"/>
            <a:ext cx="609319" cy="609319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C0203FB-FB52-59D3-4F27-9DA1FF050CFA}"/>
              </a:ext>
            </a:extLst>
          </p:cNvPr>
          <p:cNvSpPr/>
          <p:nvPr/>
        </p:nvSpPr>
        <p:spPr>
          <a:xfrm>
            <a:off x="468312" y="2196473"/>
            <a:ext cx="6927803" cy="1107854"/>
          </a:xfrm>
          <a:custGeom>
            <a:avLst/>
            <a:gdLst>
              <a:gd name="connsiteX0" fmla="*/ 0 w 6927803"/>
              <a:gd name="connsiteY0" fmla="*/ 0 h 1107854"/>
              <a:gd name="connsiteX1" fmla="*/ 6927803 w 6927803"/>
              <a:gd name="connsiteY1" fmla="*/ 0 h 1107854"/>
              <a:gd name="connsiteX2" fmla="*/ 6927803 w 6927803"/>
              <a:gd name="connsiteY2" fmla="*/ 1107854 h 1107854"/>
              <a:gd name="connsiteX3" fmla="*/ 0 w 6927803"/>
              <a:gd name="connsiteY3" fmla="*/ 1107854 h 1107854"/>
              <a:gd name="connsiteX4" fmla="*/ 0 w 6927803"/>
              <a:gd name="connsiteY4" fmla="*/ 0 h 110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03" h="1107854">
                <a:moveTo>
                  <a:pt x="0" y="0"/>
                </a:moveTo>
                <a:lnTo>
                  <a:pt x="6927803" y="0"/>
                </a:lnTo>
                <a:lnTo>
                  <a:pt x="6927803" y="1107854"/>
                </a:lnTo>
                <a:lnTo>
                  <a:pt x="0" y="11078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8" tIns="117248" rIns="117248" bIns="117248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أ: </a:t>
            </a:r>
            <a:r>
              <a:rPr lang="ar" sz="2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فهم السمات والمسؤوليات اللازمة للقيادة الرياضية الناجحة.</a:t>
            </a:r>
            <a:endParaRPr lang="en-US" sz="25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8F54DA-4500-6789-55A4-B7CCA1AE680E}"/>
              </a:ext>
            </a:extLst>
          </p:cNvPr>
          <p:cNvSpPr/>
          <p:nvPr/>
        </p:nvSpPr>
        <p:spPr>
          <a:xfrm>
            <a:off x="468311" y="3581290"/>
            <a:ext cx="8207375" cy="110785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Rectangle 6" descr="Customer review with solid fill">
            <a:extLst>
              <a:ext uri="{FF2B5EF4-FFF2-40B4-BE49-F238E27FC236}">
                <a16:creationId xmlns:a16="http://schemas.microsoft.com/office/drawing/2014/main" id="{771FDB2E-9C91-D85B-E650-CA7D84E09800}"/>
              </a:ext>
            </a:extLst>
          </p:cNvPr>
          <p:cNvSpPr/>
          <p:nvPr/>
        </p:nvSpPr>
        <p:spPr>
          <a:xfrm>
            <a:off x="7731242" y="3830558"/>
            <a:ext cx="609319" cy="609319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CCA4D6-5A16-BA9F-7C1B-D9F1D9EA8AFD}"/>
              </a:ext>
            </a:extLst>
          </p:cNvPr>
          <p:cNvSpPr/>
          <p:nvPr/>
        </p:nvSpPr>
        <p:spPr>
          <a:xfrm>
            <a:off x="468312" y="3581290"/>
            <a:ext cx="6927803" cy="1107854"/>
          </a:xfrm>
          <a:custGeom>
            <a:avLst/>
            <a:gdLst>
              <a:gd name="connsiteX0" fmla="*/ 0 w 6927803"/>
              <a:gd name="connsiteY0" fmla="*/ 0 h 1107854"/>
              <a:gd name="connsiteX1" fmla="*/ 6927803 w 6927803"/>
              <a:gd name="connsiteY1" fmla="*/ 0 h 1107854"/>
              <a:gd name="connsiteX2" fmla="*/ 6927803 w 6927803"/>
              <a:gd name="connsiteY2" fmla="*/ 1107854 h 1107854"/>
              <a:gd name="connsiteX3" fmla="*/ 0 w 6927803"/>
              <a:gd name="connsiteY3" fmla="*/ 1107854 h 1107854"/>
              <a:gd name="connsiteX4" fmla="*/ 0 w 6927803"/>
              <a:gd name="connsiteY4" fmla="*/ 0 h 110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03" h="1107854">
                <a:moveTo>
                  <a:pt x="0" y="0"/>
                </a:moveTo>
                <a:lnTo>
                  <a:pt x="6927803" y="0"/>
                </a:lnTo>
                <a:lnTo>
                  <a:pt x="6927803" y="1107854"/>
                </a:lnTo>
                <a:lnTo>
                  <a:pt x="0" y="11078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8" tIns="117248" rIns="117248" bIns="117248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ب: </a:t>
            </a:r>
            <a:r>
              <a:rPr lang="ar" sz="25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مختلف أساليب القيادة المُستخدمة لقيادة الأنشطة الرياضية</a:t>
            </a:r>
            <a:endParaRPr lang="en-US" sz="25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FC38646-3996-D912-08CE-1F8F37A8F1E3}"/>
              </a:ext>
            </a:extLst>
          </p:cNvPr>
          <p:cNvSpPr/>
          <p:nvPr/>
        </p:nvSpPr>
        <p:spPr>
          <a:xfrm>
            <a:off x="468311" y="4966108"/>
            <a:ext cx="8207375" cy="1107854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 descr="Whistle outline">
            <a:extLst>
              <a:ext uri="{FF2B5EF4-FFF2-40B4-BE49-F238E27FC236}">
                <a16:creationId xmlns:a16="http://schemas.microsoft.com/office/drawing/2014/main" id="{34EBBF2C-EC07-4267-1E32-4E2909EA8C6A}"/>
              </a:ext>
            </a:extLst>
          </p:cNvPr>
          <p:cNvSpPr/>
          <p:nvPr/>
        </p:nvSpPr>
        <p:spPr>
          <a:xfrm>
            <a:off x="7731242" y="5215375"/>
            <a:ext cx="609319" cy="609319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F6C29A-60A3-D923-D16A-674A2BEAC1C2}"/>
              </a:ext>
            </a:extLst>
          </p:cNvPr>
          <p:cNvSpPr/>
          <p:nvPr/>
        </p:nvSpPr>
        <p:spPr>
          <a:xfrm>
            <a:off x="468312" y="4966108"/>
            <a:ext cx="6927803" cy="1107854"/>
          </a:xfrm>
          <a:custGeom>
            <a:avLst/>
            <a:gdLst>
              <a:gd name="connsiteX0" fmla="*/ 0 w 6927803"/>
              <a:gd name="connsiteY0" fmla="*/ 0 h 1107854"/>
              <a:gd name="connsiteX1" fmla="*/ 6927803 w 6927803"/>
              <a:gd name="connsiteY1" fmla="*/ 0 h 1107854"/>
              <a:gd name="connsiteX2" fmla="*/ 6927803 w 6927803"/>
              <a:gd name="connsiteY2" fmla="*/ 1107854 h 1107854"/>
              <a:gd name="connsiteX3" fmla="*/ 0 w 6927803"/>
              <a:gd name="connsiteY3" fmla="*/ 1107854 h 1107854"/>
              <a:gd name="connsiteX4" fmla="*/ 0 w 6927803"/>
              <a:gd name="connsiteY4" fmla="*/ 0 h 1107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803" h="1107854">
                <a:moveTo>
                  <a:pt x="0" y="0"/>
                </a:moveTo>
                <a:lnTo>
                  <a:pt x="6927803" y="0"/>
                </a:lnTo>
                <a:lnTo>
                  <a:pt x="6927803" y="1107854"/>
                </a:lnTo>
                <a:lnTo>
                  <a:pt x="0" y="11078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48" tIns="117248" rIns="117248" bIns="117248" numCol="1" spcCol="1270" rtlCol="1" anchor="ctr" anchorCtr="0">
            <a:noAutofit/>
          </a:bodyPr>
          <a:lstStyle/>
          <a:p>
            <a:pPr marL="0" lvl="0" indent="0" algn="r" defTabSz="11112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5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ج: </a:t>
            </a:r>
            <a:r>
              <a:rPr lang="ar" sz="25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ممارسة دور قيادي بفاعلية في الأنشطة الرياضية</a:t>
            </a:r>
            <a:endParaRPr lang="en-US" sz="25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481B2-C4BD-4809-61EE-ED44CDB1E9DB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7" y="1195200"/>
            <a:ext cx="3213992" cy="5258136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4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التعلّم أ</a:t>
            </a:r>
          </a:p>
          <a:p>
            <a:pPr lvl="0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فهم السمات والمسؤوليات اللازمة للقيادة الرياضية الناجحة.</a:t>
            </a:r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ستستكشف مختلف أنواع القيادة الرياضية والسمات والمسؤوليات التي يتحلى بها قادة الرياضة.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ستحلل طريقة إسهام السمات والمسؤوليات في تحقيق نجاح القيادة الرياضية.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0D2F51-EA5D-CC91-AD09-3EAA040C0D66}"/>
              </a:ext>
            </a:extLst>
          </p:cNvPr>
          <p:cNvSpPr/>
          <p:nvPr/>
        </p:nvSpPr>
        <p:spPr>
          <a:xfrm>
            <a:off x="457201" y="1433556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Rectangle 3" descr="Tick">
            <a:extLst>
              <a:ext uri="{FF2B5EF4-FFF2-40B4-BE49-F238E27FC236}">
                <a16:creationId xmlns:a16="http://schemas.microsoft.com/office/drawing/2014/main" id="{B9214352-9895-68E0-E2B7-7CB97149E16C}"/>
              </a:ext>
            </a:extLst>
          </p:cNvPr>
          <p:cNvSpPr/>
          <p:nvPr/>
        </p:nvSpPr>
        <p:spPr>
          <a:xfrm>
            <a:off x="4710813" y="1660044"/>
            <a:ext cx="553638" cy="55363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5E3B25-F196-B61B-9A73-F243CC49EE52}"/>
              </a:ext>
            </a:extLst>
          </p:cNvPr>
          <p:cNvSpPr/>
          <p:nvPr/>
        </p:nvSpPr>
        <p:spPr>
          <a:xfrm>
            <a:off x="457202" y="143355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مجالات المحتوى الرئيسة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FD16C4-5A45-A113-3F93-6BC1A70FDB64}"/>
              </a:ext>
            </a:extLst>
          </p:cNvPr>
          <p:cNvSpPr/>
          <p:nvPr/>
        </p:nvSpPr>
        <p:spPr>
          <a:xfrm>
            <a:off x="457201" y="2691825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 descr="Tennis">
            <a:extLst>
              <a:ext uri="{FF2B5EF4-FFF2-40B4-BE49-F238E27FC236}">
                <a16:creationId xmlns:a16="http://schemas.microsoft.com/office/drawing/2014/main" id="{6C563C17-F4A4-F82F-F624-3ED8D870B7AC}"/>
              </a:ext>
            </a:extLst>
          </p:cNvPr>
          <p:cNvSpPr/>
          <p:nvPr/>
        </p:nvSpPr>
        <p:spPr>
          <a:xfrm>
            <a:off x="4710813" y="2918313"/>
            <a:ext cx="553638" cy="553638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23856E6-AC54-1202-C416-42C8250B11E8}"/>
              </a:ext>
            </a:extLst>
          </p:cNvPr>
          <p:cNvSpPr/>
          <p:nvPr/>
        </p:nvSpPr>
        <p:spPr>
          <a:xfrm>
            <a:off x="457202" y="2691825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أ1 القادة الرياضيين</a:t>
            </a:r>
            <a:endPara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A87858-CE4C-7AA7-DE46-425D4B77A610}"/>
              </a:ext>
            </a:extLst>
          </p:cNvPr>
          <p:cNvSpPr/>
          <p:nvPr/>
        </p:nvSpPr>
        <p:spPr>
          <a:xfrm>
            <a:off x="457201" y="3950094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 descr="Bullseye with solid fill">
            <a:extLst>
              <a:ext uri="{FF2B5EF4-FFF2-40B4-BE49-F238E27FC236}">
                <a16:creationId xmlns:a16="http://schemas.microsoft.com/office/drawing/2014/main" id="{A7418108-DB09-9276-A2BB-BA648EC3116D}"/>
              </a:ext>
            </a:extLst>
          </p:cNvPr>
          <p:cNvSpPr/>
          <p:nvPr/>
        </p:nvSpPr>
        <p:spPr>
          <a:xfrm>
            <a:off x="4710813" y="4176582"/>
            <a:ext cx="553638" cy="553638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D0E9C62-25A6-CDCD-EB8B-80B577234245}"/>
              </a:ext>
            </a:extLst>
          </p:cNvPr>
          <p:cNvSpPr/>
          <p:nvPr/>
        </p:nvSpPr>
        <p:spPr>
          <a:xfrm>
            <a:off x="457202" y="3950094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endParaRPr lang="en-US" sz="20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D16785-AC62-EB64-8763-5DF901B288AB}"/>
              </a:ext>
            </a:extLst>
          </p:cNvPr>
          <p:cNvSpPr/>
          <p:nvPr/>
        </p:nvSpPr>
        <p:spPr>
          <a:xfrm>
            <a:off x="457201" y="5208363"/>
            <a:ext cx="5111751" cy="1006615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Handshake with solid fill">
            <a:extLst>
              <a:ext uri="{FF2B5EF4-FFF2-40B4-BE49-F238E27FC236}">
                <a16:creationId xmlns:a16="http://schemas.microsoft.com/office/drawing/2014/main" id="{BCCFC1F6-25F6-9ABA-1AA4-5534B55AC6AD}"/>
              </a:ext>
            </a:extLst>
          </p:cNvPr>
          <p:cNvSpPr/>
          <p:nvPr/>
        </p:nvSpPr>
        <p:spPr>
          <a:xfrm>
            <a:off x="4710813" y="5434852"/>
            <a:ext cx="553638" cy="55363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5A3E9ED-4A3C-9789-2A8E-7FADCCF52899}"/>
              </a:ext>
            </a:extLst>
          </p:cNvPr>
          <p:cNvSpPr/>
          <p:nvPr/>
        </p:nvSpPr>
        <p:spPr>
          <a:xfrm>
            <a:off x="471340" y="5210346"/>
            <a:ext cx="3949110" cy="1006615"/>
          </a:xfrm>
          <a:custGeom>
            <a:avLst/>
            <a:gdLst>
              <a:gd name="connsiteX0" fmla="*/ 0 w 3949110"/>
              <a:gd name="connsiteY0" fmla="*/ 0 h 1006615"/>
              <a:gd name="connsiteX1" fmla="*/ 3949110 w 3949110"/>
              <a:gd name="connsiteY1" fmla="*/ 0 h 1006615"/>
              <a:gd name="connsiteX2" fmla="*/ 3949110 w 3949110"/>
              <a:gd name="connsiteY2" fmla="*/ 1006615 h 1006615"/>
              <a:gd name="connsiteX3" fmla="*/ 0 w 3949110"/>
              <a:gd name="connsiteY3" fmla="*/ 1006615 h 1006615"/>
              <a:gd name="connsiteX4" fmla="*/ 0 w 3949110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9110" h="1006615">
                <a:moveTo>
                  <a:pt x="0" y="0"/>
                </a:moveTo>
                <a:lnTo>
                  <a:pt x="3949110" y="0"/>
                </a:lnTo>
                <a:lnTo>
                  <a:pt x="3949110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أ3 مسؤوليات القائد الرياضي.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10764-A8FE-38A5-A0B7-472E5C2DDD2B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47576D-6489-0002-26BA-53669E463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24757"/>
            <a:ext cx="8640960" cy="4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أ1 القادة الرياضيين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0D257AA-A5E5-4833-F624-2760DEDAB0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929423"/>
              </p:ext>
            </p:extLst>
          </p:nvPr>
        </p:nvGraphicFramePr>
        <p:xfrm>
          <a:off x="4067943" y="1656887"/>
          <a:ext cx="4153464" cy="4831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20B46709-D8BE-0F33-8300-A4798CB5D117}"/>
              </a:ext>
            </a:extLst>
          </p:cNvPr>
          <p:cNvGrpSpPr/>
          <p:nvPr/>
        </p:nvGrpSpPr>
        <p:grpSpPr>
          <a:xfrm flipH="1">
            <a:off x="111672" y="4293096"/>
            <a:ext cx="3660818" cy="1963997"/>
            <a:chOff x="0" y="177287"/>
            <a:chExt cx="2686187" cy="15665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28E959-3858-3C62-2FDF-7A86704B0EAA}"/>
                </a:ext>
              </a:extLst>
            </p:cNvPr>
            <p:cNvSpPr/>
            <p:nvPr/>
          </p:nvSpPr>
          <p:spPr>
            <a:xfrm>
              <a:off x="0" y="177287"/>
              <a:ext cx="2681582" cy="156656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240C56-0371-D139-617B-6013E85DBD53}"/>
                </a:ext>
              </a:extLst>
            </p:cNvPr>
            <p:cNvSpPr txBox="1"/>
            <p:nvPr/>
          </p:nvSpPr>
          <p:spPr>
            <a:xfrm>
              <a:off x="47421" y="322983"/>
              <a:ext cx="2638766" cy="12751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  <a:r>
                <a:rPr lang="ar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</a:p>
            <a:p>
              <a:pPr rtl="1"/>
              <a:r>
                <a:rPr lang="ar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ستحتاج إلى امتلاك مجموعة كبيرة من السمات إذا كنت تخطط للانتقال بين أدوار قيادية مختلفة في مسيرتك المهنية.</a:t>
              </a:r>
              <a:endParaRPr lang="en-GB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62D3F64-D91E-1568-46B2-40C1B7042F9D}"/>
              </a:ext>
            </a:extLst>
          </p:cNvPr>
          <p:cNvGrpSpPr/>
          <p:nvPr/>
        </p:nvGrpSpPr>
        <p:grpSpPr>
          <a:xfrm flipH="1">
            <a:off x="111672" y="1844824"/>
            <a:ext cx="3660818" cy="1963997"/>
            <a:chOff x="0" y="177287"/>
            <a:chExt cx="2686187" cy="15665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4354A-B9C5-36FB-2B5C-80B4D9A2EDE9}"/>
                </a:ext>
              </a:extLst>
            </p:cNvPr>
            <p:cNvSpPr/>
            <p:nvPr/>
          </p:nvSpPr>
          <p:spPr>
            <a:xfrm>
              <a:off x="0" y="177287"/>
              <a:ext cx="2681582" cy="156656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132859-7AFB-7D3E-F095-686816B49565}"/>
                </a:ext>
              </a:extLst>
            </p:cNvPr>
            <p:cNvSpPr txBox="1"/>
            <p:nvPr/>
          </p:nvSpPr>
          <p:spPr>
            <a:xfrm>
              <a:off x="47421" y="322983"/>
              <a:ext cx="2638766" cy="12751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</a:t>
              </a:r>
              <a:r>
                <a:rPr lang="ar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</a:p>
            <a:p>
              <a:pPr rtl="1"/>
              <a:r>
                <a:rPr lang="ar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اذكر </a:t>
              </a: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مثالًا رياضيًا لكل من الأدوار القيادية الموضّحة</a:t>
              </a:r>
              <a:endParaRPr lang="en-GB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2E85B03-4B4A-DE6B-D02A-FA6365B09F03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745455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7A52-B932-BE8A-ACB5-3794161B0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87D5EAD7-2487-20E7-2472-A73DB195B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168517"/>
            <a:ext cx="8640960" cy="544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0BB285E-AE94-9411-105A-CCC4C63C2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928" y="1712261"/>
            <a:ext cx="5760640" cy="793524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المهارات التي يحتاج إليها القائد الرياضي؟</a:t>
            </a:r>
            <a:endParaRPr lang="en-GB" sz="2000" dirty="0">
              <a:latin typeface="Sakkal Majalla" panose="02000000000000000000" pitchFamily="2" charset="-78"/>
              <a:ea typeface="Open Sans" panose="020B0606030504020204" pitchFamily="34" charset="0"/>
              <a:cs typeface="Sakkal Majalla" panose="02000000000000000000" pitchFamily="2" charset="-78"/>
            </a:endParaRPr>
          </a:p>
          <a:p>
            <a:pPr marL="0" indent="0" algn="ctr" rtl="1" fontAlgn="ctr">
              <a:buNone/>
            </a:pPr>
            <a:r>
              <a:rPr lang="ar" sz="2000" b="1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مهارات تواصل لفظي ممتازة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54A0D4A-2EB2-3B33-BCC0-88DE61717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104" y="2852936"/>
            <a:ext cx="4072245" cy="16312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التواصل اللفظي</a:t>
            </a:r>
          </a:p>
          <a:p>
            <a:pPr marL="0" indent="0" algn="ctr" rtl="1" fontAlgn="ctr">
              <a:buNone/>
            </a:pPr>
            <a:r>
              <a:rPr lang="ar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الكلام الواضح</a:t>
            </a:r>
          </a:p>
          <a:p>
            <a:pPr marL="0" indent="0" algn="ctr" rtl="1" fontAlgn="ctr">
              <a:buNone/>
            </a:pPr>
            <a:r>
              <a:rPr lang="ar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استخدام لغة مناسبة</a:t>
            </a:r>
          </a:p>
          <a:p>
            <a:pPr marL="0" indent="0" algn="ctr" rtl="1" fontAlgn="ctr">
              <a:buNone/>
            </a:pPr>
            <a:r>
              <a:rPr lang="ar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استخدام نبرة الصوت المناسبة</a:t>
            </a:r>
          </a:p>
          <a:p>
            <a:pPr marL="0" indent="0" rtl="1" fontAlgn="ctr">
              <a:buNone/>
            </a:pPr>
            <a:endParaRPr lang="en-GB" sz="2000" dirty="0">
              <a:latin typeface="Sakkal Majalla" panose="02000000000000000000" pitchFamily="2" charset="-78"/>
              <a:ea typeface="Open Sans" panose="020B0606030504020204" pitchFamily="34" charset="0"/>
              <a:cs typeface="Sakkal Majalla" panose="020000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E6D780-0305-C553-91AA-34EDB2979398}"/>
              </a:ext>
            </a:extLst>
          </p:cNvPr>
          <p:cNvGrpSpPr/>
          <p:nvPr/>
        </p:nvGrpSpPr>
        <p:grpSpPr>
          <a:xfrm flipH="1">
            <a:off x="4716517" y="4619607"/>
            <a:ext cx="4032832" cy="1631216"/>
            <a:chOff x="0" y="340554"/>
            <a:chExt cx="2587305" cy="1643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6D6BA5-D594-3508-2690-DC0AA61E38E1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F4A4FB-E871-30F9-B423-4955D5067F50}"/>
                </a:ext>
              </a:extLst>
            </p:cNvPr>
            <p:cNvSpPr txBox="1"/>
            <p:nvPr/>
          </p:nvSpPr>
          <p:spPr>
            <a:xfrm>
              <a:off x="22501" y="340554"/>
              <a:ext cx="2564804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فكِّر في بعض الأمثلة في سياق رياضي تتعلق بمهارات التواصل اللفظي الموضحة أعلاه.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وناقش معهم كيف يمكن أن تساعد هذه المهارات قادة الرياضة على تحقيق النجاح؟</a:t>
              </a:r>
            </a:p>
          </p:txBody>
        </p:sp>
      </p:grpSp>
      <p:pic>
        <p:nvPicPr>
          <p:cNvPr id="5" name="Picture 4" descr="A person talking to a child on a football field&#10;&#10;AI-generated content may be incorrect.">
            <a:extLst>
              <a:ext uri="{FF2B5EF4-FFF2-40B4-BE49-F238E27FC236}">
                <a16:creationId xmlns:a16="http://schemas.microsoft.com/office/drawing/2014/main" id="{FF3A4C18-18B4-3188-EECB-7BDC8E7112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310" y="3166242"/>
            <a:ext cx="4191001" cy="27852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A527B9-A456-5783-1BC5-4ECDD15343E7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126583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BA425-15B2-4AAE-5685-41F7D65F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8E2DA05-EE0F-234B-5E37-BC39DF26F9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089689"/>
            <a:ext cx="8640960" cy="544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83B00F7-B4C4-46B9-8867-4338238B3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1626865"/>
            <a:ext cx="5760640" cy="8660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 fontAlgn="ctr">
              <a:buNone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المهارات التي يحتاج إليها القائد الرياضي؟</a:t>
            </a:r>
            <a:endParaRPr lang="en-GB" sz="2000" dirty="0">
              <a:latin typeface="Sakkal Majalla" panose="02000000000000000000" pitchFamily="2" charset="-78"/>
              <a:ea typeface="Open Sans" panose="020B0606030504020204" pitchFamily="34" charset="0"/>
              <a:cs typeface="Sakkal Majalla" panose="02000000000000000000" pitchFamily="2" charset="-78"/>
            </a:endParaRPr>
          </a:p>
          <a:p>
            <a:pPr marL="0" indent="0" algn="ctr" rtl="1" fontAlgn="ctr">
              <a:buNone/>
            </a:pPr>
            <a:r>
              <a:rPr lang="ar" sz="2000" b="1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مهارات تواصل غير لفظي ممتازة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655A8C-376B-3AAE-F58E-2D8D5887B884}"/>
              </a:ext>
            </a:extLst>
          </p:cNvPr>
          <p:cNvSpPr txBox="1"/>
          <p:nvPr/>
        </p:nvSpPr>
        <p:spPr>
          <a:xfrm>
            <a:off x="788921" y="2675411"/>
            <a:ext cx="4320481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ar" sz="2000" b="1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التواصل غير اللفظي</a:t>
            </a:r>
          </a:p>
          <a:p>
            <a:pPr algn="ctr" rtl="1"/>
            <a:r>
              <a:rPr lang="ar" sz="200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الإيماءات</a:t>
            </a:r>
          </a:p>
          <a:p>
            <a:pPr algn="ctr" rtl="1"/>
            <a:r>
              <a:rPr lang="ar" sz="200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تعبيرات الوجه</a:t>
            </a:r>
          </a:p>
          <a:p>
            <a:pPr algn="ctr" rtl="1"/>
            <a:r>
              <a:rPr lang="ar" sz="200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العروض التوضيحية</a:t>
            </a:r>
          </a:p>
          <a:p>
            <a:pPr algn="ctr" rtl="1"/>
            <a:r>
              <a:rPr lang="ar" sz="200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التواصل البصري 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55CD69-75A8-A9BF-3ED4-CF840B557067}"/>
              </a:ext>
            </a:extLst>
          </p:cNvPr>
          <p:cNvGrpSpPr/>
          <p:nvPr/>
        </p:nvGrpSpPr>
        <p:grpSpPr>
          <a:xfrm>
            <a:off x="726566" y="4525720"/>
            <a:ext cx="4382836" cy="1631216"/>
            <a:chOff x="0" y="340554"/>
            <a:chExt cx="2564804" cy="1643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4D6337-6ACB-1816-D696-EA5B1D904A9D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71D36F-2658-625E-4A02-1397948F5A4E}"/>
                </a:ext>
              </a:extLst>
            </p:cNvPr>
            <p:cNvSpPr txBox="1"/>
            <p:nvPr/>
          </p:nvSpPr>
          <p:spPr>
            <a:xfrm>
              <a:off x="0" y="340554"/>
              <a:ext cx="2564804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فكِّر في بعض الأمثلة في سياق رياضي تتعلق بمهارات التواصل غير اللفظي الموضحة أعلاه.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وناقش معهم كيف يمكن أن تساعد هذه المهارات قادة الرياضة على تحقيق النجاح؟</a:t>
              </a:r>
            </a:p>
          </p:txBody>
        </p:sp>
      </p:grpSp>
      <p:pic>
        <p:nvPicPr>
          <p:cNvPr id="11" name="Picture 10" descr="A person in a gym giving a thumbs up&#10;&#10;AI-generated content may be incorrect.">
            <a:extLst>
              <a:ext uri="{FF2B5EF4-FFF2-40B4-BE49-F238E27FC236}">
                <a16:creationId xmlns:a16="http://schemas.microsoft.com/office/drawing/2014/main" id="{835B7CC5-8376-A2AD-0BFD-B61CA9CE45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0102" y="2621017"/>
            <a:ext cx="2489639" cy="36983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25122D-FDF5-928D-F851-FE8A13E27D8A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745172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76B2C-7F26-C9AC-666A-2D4965DA7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122DEBBA-BB37-6DFF-A572-B8E3390F3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089689"/>
            <a:ext cx="8640960" cy="8271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المهارات التي يحتاج إليها القائد الرياضي؟</a:t>
            </a:r>
            <a:br>
              <a:rPr lang="en-GB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</a:b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981B76A-40E4-A579-3CC0-976217941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525" y="1962279"/>
            <a:ext cx="4261599" cy="2271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 fontAlgn="ctr">
              <a:buNone/>
            </a:pPr>
            <a:r>
              <a:rPr lang="ar" sz="2000" b="1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القدرة على تنظيم المعدات</a:t>
            </a:r>
          </a:p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توفير المعدات الصحيحة للنشاط وعدد المشاركين.</a:t>
            </a:r>
          </a:p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معرفة ما ينبغي تنفيذه والوقت المناسب لتنفيذه.</a:t>
            </a:r>
          </a:p>
          <a:p>
            <a:pPr rtl="1" fontAlgn="ctr"/>
            <a:r>
              <a:rPr lang="ar" sz="1800" kern="0" dirty="0">
                <a:solidFill>
                  <a:srgbClr val="000000"/>
                </a:solidFill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التأكّد من إشراك المشاركين في مجموعات مناسبة.</a:t>
            </a:r>
            <a:endParaRPr lang="en-GB" sz="1600" kern="0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B73090B-0F04-3B75-F641-B98746A1185C}"/>
              </a:ext>
            </a:extLst>
          </p:cNvPr>
          <p:cNvGrpSpPr/>
          <p:nvPr/>
        </p:nvGrpSpPr>
        <p:grpSpPr>
          <a:xfrm flipH="1">
            <a:off x="479876" y="1916832"/>
            <a:ext cx="3516060" cy="2402745"/>
            <a:chOff x="0" y="340554"/>
            <a:chExt cx="2612591" cy="16432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526251F-8CF3-F48E-2515-B78544769440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365416-C62A-928A-AF00-94CBE95AA913}"/>
                </a:ext>
              </a:extLst>
            </p:cNvPr>
            <p:cNvSpPr txBox="1"/>
            <p:nvPr/>
          </p:nvSpPr>
          <p:spPr>
            <a:xfrm>
              <a:off x="47787" y="340554"/>
              <a:ext cx="2564804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طُلب منك قيادة نشاطين رياضيين هما: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مباراة كرة قدم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دورة تدريبية دائريّة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المعدات التي ستحتاج إليها في كل نشاط؟ وكيف يمكنك تنظيمها؟</a:t>
              </a:r>
            </a:p>
          </p:txBody>
        </p:sp>
      </p:grpSp>
      <p:pic>
        <p:nvPicPr>
          <p:cNvPr id="6" name="Picture 5" descr="A group of sports equipment&#10;&#10;AI-generated content may be incorrect.">
            <a:extLst>
              <a:ext uri="{FF2B5EF4-FFF2-40B4-BE49-F238E27FC236}">
                <a16:creationId xmlns:a16="http://schemas.microsoft.com/office/drawing/2014/main" id="{B3D5514C-F933-CBE2-4D38-ABA055647F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74"/>
          <a:stretch>
            <a:fillRect/>
          </a:stretch>
        </p:blipFill>
        <p:spPr>
          <a:xfrm>
            <a:off x="4204136" y="4318076"/>
            <a:ext cx="4795346" cy="2203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9D081C-EE62-2050-FF13-A3A4E195B6FC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71148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6A256-7E23-457B-49CB-200E596D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F2C277-83F6-7A10-1219-1AECB353F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089689"/>
            <a:ext cx="8640960" cy="544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5B34228-C7A8-7F02-E9DF-00D3A1150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404" y="1788593"/>
            <a:ext cx="4072245" cy="39954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 fontAlgn="ctr">
              <a:buNone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المهارات التي يحتاج إليها القائد الرياضي؟</a:t>
            </a:r>
          </a:p>
          <a:p>
            <a:pPr marL="0" indent="0" rtl="1" fontAlgn="ctr">
              <a:buNone/>
            </a:pPr>
            <a:endParaRPr lang="en-GB" sz="1600" dirty="0">
              <a:latin typeface="Sakkal Majalla" panose="02000000000000000000" pitchFamily="2" charset="-78"/>
              <a:ea typeface="Open Sans" panose="020B0606030504020204" pitchFamily="34" charset="0"/>
              <a:cs typeface="Sakkal Majalla" panose="02000000000000000000" pitchFamily="2" charset="-78"/>
            </a:endParaRPr>
          </a:p>
          <a:p>
            <a:pPr rtl="1" fontAlgn="ctr"/>
            <a:r>
              <a:rPr lang="ar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معرفة الرياضة التي يقودها؛ أي فهم قواعدها ومهاراتها وخططها التكتيكية.</a:t>
            </a:r>
          </a:p>
          <a:p>
            <a:pPr marL="0" indent="0" rtl="1" fontAlgn="ctr">
              <a:buNone/>
            </a:pPr>
            <a:endParaRPr lang="en-GB" sz="2000" dirty="0">
              <a:latin typeface="Sakkal Majalla" panose="02000000000000000000" pitchFamily="2" charset="-78"/>
              <a:ea typeface="Open Sans" panose="020B0606030504020204" pitchFamily="34" charset="0"/>
              <a:cs typeface="Sakkal Majalla" panose="02000000000000000000" pitchFamily="2" charset="-78"/>
            </a:endParaRPr>
          </a:p>
          <a:p>
            <a:pPr rtl="1" fontAlgn="ctr"/>
            <a:r>
              <a:rPr lang="ar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معرفة بنية النشاط؛ أي تنظيم النشاطات بحيث يُخطط للإحماء، والتدريبات التكرارية والتهدئة وفق ترتيب منطقي.</a:t>
            </a:r>
          </a:p>
          <a:p>
            <a:pPr marL="0" indent="0" rtl="1">
              <a:buFont typeface="Wingdings" panose="05000000000000000000" pitchFamily="2" charset="2"/>
              <a:buNone/>
            </a:pPr>
            <a:endParaRPr lang="en-GB" altLang="en-US" kern="0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450A75-FBCA-FDFC-4095-DD57D5C76793}"/>
              </a:ext>
            </a:extLst>
          </p:cNvPr>
          <p:cNvGrpSpPr/>
          <p:nvPr/>
        </p:nvGrpSpPr>
        <p:grpSpPr>
          <a:xfrm flipH="1">
            <a:off x="237284" y="1772816"/>
            <a:ext cx="4331595" cy="3995495"/>
            <a:chOff x="0" y="340554"/>
            <a:chExt cx="2612591" cy="16432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D43F9A3-49C6-898E-69E6-37C7456DEFF6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69044D-A74D-6B25-4C18-AF2EFDEBEA53}"/>
                </a:ext>
              </a:extLst>
            </p:cNvPr>
            <p:cNvSpPr txBox="1"/>
            <p:nvPr/>
          </p:nvSpPr>
          <p:spPr>
            <a:xfrm>
              <a:off x="47787" y="340554"/>
              <a:ext cx="2564804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rtl="1"/>
              <a:endParaRPr lang="en-US" sz="20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200" indent="-457200" rtl="1">
                <a:buFont typeface="+mj-lt"/>
                <a:buAutoNum type="arabicPeriod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تخيّل أنك تدرّب فريقًا للرجبي. ما القواعد التي قد تحتاج إلى مشاركتها مع اللاعبين؟</a:t>
              </a:r>
            </a:p>
            <a:p>
              <a:pPr marL="457200" indent="-457200" rtl="1">
                <a:buFont typeface="+mj-lt"/>
                <a:buAutoNum type="arabicPeriod"/>
              </a:pPr>
              <a:endParaRPr lang="en-US" sz="20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457200" indent="-457200" rtl="1">
                <a:buFont typeface="+mj-lt"/>
                <a:buAutoNum type="arabicPeriod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تخيّل أنك مطالب بقيادة وحدة نشاط لمجموعة من لاعبي التنس الصغار. كيف يمكنك تنظيم هيكل الوحدة؟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A6AB6E-E491-D735-37D0-D9FEE89DFE25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32675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BEE0-ECFA-6765-B015-5D1B00CE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A379B77E-8BA1-7CCC-73B2-828CEBDCC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29986"/>
            <a:ext cx="8229600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altLang="en-US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المهارات التي يحتاج إليها القائد الرياضي؟</a:t>
            </a:r>
            <a:br>
              <a:rPr lang="en-GB" sz="20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</a:br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23864BD-B54E-5DC0-84A2-98D2A8355B09}"/>
              </a:ext>
            </a:extLst>
          </p:cNvPr>
          <p:cNvSpPr/>
          <p:nvPr/>
        </p:nvSpPr>
        <p:spPr>
          <a:xfrm>
            <a:off x="3475617" y="2199805"/>
            <a:ext cx="2255406" cy="1353243"/>
          </a:xfrm>
          <a:custGeom>
            <a:avLst/>
            <a:gdLst>
              <a:gd name="connsiteX0" fmla="*/ 0 w 2255406"/>
              <a:gd name="connsiteY0" fmla="*/ 135324 h 1353243"/>
              <a:gd name="connsiteX1" fmla="*/ 135324 w 2255406"/>
              <a:gd name="connsiteY1" fmla="*/ 0 h 1353243"/>
              <a:gd name="connsiteX2" fmla="*/ 2120082 w 2255406"/>
              <a:gd name="connsiteY2" fmla="*/ 0 h 1353243"/>
              <a:gd name="connsiteX3" fmla="*/ 2255406 w 2255406"/>
              <a:gd name="connsiteY3" fmla="*/ 135324 h 1353243"/>
              <a:gd name="connsiteX4" fmla="*/ 2255406 w 2255406"/>
              <a:gd name="connsiteY4" fmla="*/ 1217919 h 1353243"/>
              <a:gd name="connsiteX5" fmla="*/ 2120082 w 2255406"/>
              <a:gd name="connsiteY5" fmla="*/ 1353243 h 1353243"/>
              <a:gd name="connsiteX6" fmla="*/ 135324 w 2255406"/>
              <a:gd name="connsiteY6" fmla="*/ 1353243 h 1353243"/>
              <a:gd name="connsiteX7" fmla="*/ 0 w 2255406"/>
              <a:gd name="connsiteY7" fmla="*/ 1217919 h 1353243"/>
              <a:gd name="connsiteX8" fmla="*/ 0 w 2255406"/>
              <a:gd name="connsiteY8" fmla="*/ 135324 h 13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5406" h="1353243">
                <a:moveTo>
                  <a:pt x="0" y="135324"/>
                </a:moveTo>
                <a:cubicBezTo>
                  <a:pt x="0" y="60587"/>
                  <a:pt x="60587" y="0"/>
                  <a:pt x="135324" y="0"/>
                </a:cubicBezTo>
                <a:lnTo>
                  <a:pt x="2120082" y="0"/>
                </a:lnTo>
                <a:cubicBezTo>
                  <a:pt x="2194819" y="0"/>
                  <a:pt x="2255406" y="60587"/>
                  <a:pt x="2255406" y="135324"/>
                </a:cubicBezTo>
                <a:lnTo>
                  <a:pt x="2255406" y="1217919"/>
                </a:lnTo>
                <a:cubicBezTo>
                  <a:pt x="2255406" y="1292656"/>
                  <a:pt x="2194819" y="1353243"/>
                  <a:pt x="2120082" y="1353243"/>
                </a:cubicBezTo>
                <a:lnTo>
                  <a:pt x="135324" y="1353243"/>
                </a:lnTo>
                <a:cubicBezTo>
                  <a:pt x="60587" y="1353243"/>
                  <a:pt x="0" y="1292656"/>
                  <a:pt x="0" y="1217919"/>
                </a:cubicBezTo>
                <a:lnTo>
                  <a:pt x="0" y="135324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95" tIns="100595" rIns="100595" bIns="100595" numCol="1" spcCol="1270" rtlCol="1" anchor="ctr" anchorCtr="0">
            <a:noAutofit/>
          </a:bodyPr>
          <a:lstStyle/>
          <a:p>
            <a:pPr marL="0" lvl="0" indent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b="1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تحديد أهداف للمشاركين</a:t>
            </a:r>
            <a:r>
              <a:rPr lang="ar" sz="16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– يضع أهدافًا واضحة وواقعية.</a:t>
            </a:r>
            <a:endParaRPr lang="en-US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0B605D9-4217-13B4-6B9E-82583BE64E7E}"/>
              </a:ext>
            </a:extLst>
          </p:cNvPr>
          <p:cNvSpPr/>
          <p:nvPr/>
        </p:nvSpPr>
        <p:spPr>
          <a:xfrm flipH="1">
            <a:off x="2798995" y="2596756"/>
            <a:ext cx="478146" cy="559340"/>
          </a:xfrm>
          <a:custGeom>
            <a:avLst/>
            <a:gdLst>
              <a:gd name="connsiteX0" fmla="*/ 0 w 478146"/>
              <a:gd name="connsiteY0" fmla="*/ 111868 h 559340"/>
              <a:gd name="connsiteX1" fmla="*/ 239073 w 478146"/>
              <a:gd name="connsiteY1" fmla="*/ 111868 h 559340"/>
              <a:gd name="connsiteX2" fmla="*/ 239073 w 478146"/>
              <a:gd name="connsiteY2" fmla="*/ 0 h 559340"/>
              <a:gd name="connsiteX3" fmla="*/ 478146 w 478146"/>
              <a:gd name="connsiteY3" fmla="*/ 279670 h 559340"/>
              <a:gd name="connsiteX4" fmla="*/ 239073 w 478146"/>
              <a:gd name="connsiteY4" fmla="*/ 559340 h 559340"/>
              <a:gd name="connsiteX5" fmla="*/ 239073 w 478146"/>
              <a:gd name="connsiteY5" fmla="*/ 447472 h 559340"/>
              <a:gd name="connsiteX6" fmla="*/ 0 w 478146"/>
              <a:gd name="connsiteY6" fmla="*/ 447472 h 559340"/>
              <a:gd name="connsiteX7" fmla="*/ 0 w 478146"/>
              <a:gd name="connsiteY7" fmla="*/ 111868 h 55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146" h="559340">
                <a:moveTo>
                  <a:pt x="0" y="111868"/>
                </a:moveTo>
                <a:lnTo>
                  <a:pt x="239073" y="111868"/>
                </a:lnTo>
                <a:lnTo>
                  <a:pt x="239073" y="0"/>
                </a:lnTo>
                <a:lnTo>
                  <a:pt x="478146" y="279670"/>
                </a:lnTo>
                <a:lnTo>
                  <a:pt x="239073" y="559340"/>
                </a:lnTo>
                <a:lnTo>
                  <a:pt x="239073" y="447472"/>
                </a:lnTo>
                <a:lnTo>
                  <a:pt x="0" y="447472"/>
                </a:lnTo>
                <a:lnTo>
                  <a:pt x="0" y="111868"/>
                </a:lnTo>
                <a:close/>
              </a:path>
            </a:pathLst>
          </a:custGeom>
        </p:spPr>
        <p:style>
          <a:lnRef idx="0">
            <a:schemeClr val="accent2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111868" rIns="143444" bIns="111868" numCol="1" spcCol="1270" rtlCol="1" anchor="ctr" anchorCtr="0">
            <a:noAutofit/>
          </a:bodyPr>
          <a:lstStyle/>
          <a:p>
            <a:pPr marL="0" lvl="0" indent="0" algn="ct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2F86A3C-2E1C-F685-0517-9D3F67897503}"/>
              </a:ext>
            </a:extLst>
          </p:cNvPr>
          <p:cNvSpPr/>
          <p:nvPr/>
        </p:nvSpPr>
        <p:spPr>
          <a:xfrm>
            <a:off x="318048" y="2199805"/>
            <a:ext cx="2255406" cy="1353243"/>
          </a:xfrm>
          <a:custGeom>
            <a:avLst/>
            <a:gdLst>
              <a:gd name="connsiteX0" fmla="*/ 0 w 2255406"/>
              <a:gd name="connsiteY0" fmla="*/ 135324 h 1353243"/>
              <a:gd name="connsiteX1" fmla="*/ 135324 w 2255406"/>
              <a:gd name="connsiteY1" fmla="*/ 0 h 1353243"/>
              <a:gd name="connsiteX2" fmla="*/ 2120082 w 2255406"/>
              <a:gd name="connsiteY2" fmla="*/ 0 h 1353243"/>
              <a:gd name="connsiteX3" fmla="*/ 2255406 w 2255406"/>
              <a:gd name="connsiteY3" fmla="*/ 135324 h 1353243"/>
              <a:gd name="connsiteX4" fmla="*/ 2255406 w 2255406"/>
              <a:gd name="connsiteY4" fmla="*/ 1217919 h 1353243"/>
              <a:gd name="connsiteX5" fmla="*/ 2120082 w 2255406"/>
              <a:gd name="connsiteY5" fmla="*/ 1353243 h 1353243"/>
              <a:gd name="connsiteX6" fmla="*/ 135324 w 2255406"/>
              <a:gd name="connsiteY6" fmla="*/ 1353243 h 1353243"/>
              <a:gd name="connsiteX7" fmla="*/ 0 w 2255406"/>
              <a:gd name="connsiteY7" fmla="*/ 1217919 h 1353243"/>
              <a:gd name="connsiteX8" fmla="*/ 0 w 2255406"/>
              <a:gd name="connsiteY8" fmla="*/ 135324 h 13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5406" h="1353243">
                <a:moveTo>
                  <a:pt x="0" y="135324"/>
                </a:moveTo>
                <a:cubicBezTo>
                  <a:pt x="0" y="60587"/>
                  <a:pt x="60587" y="0"/>
                  <a:pt x="135324" y="0"/>
                </a:cubicBezTo>
                <a:lnTo>
                  <a:pt x="2120082" y="0"/>
                </a:lnTo>
                <a:cubicBezTo>
                  <a:pt x="2194819" y="0"/>
                  <a:pt x="2255406" y="60587"/>
                  <a:pt x="2255406" y="135324"/>
                </a:cubicBezTo>
                <a:lnTo>
                  <a:pt x="2255406" y="1217919"/>
                </a:lnTo>
                <a:cubicBezTo>
                  <a:pt x="2255406" y="1292656"/>
                  <a:pt x="2194819" y="1353243"/>
                  <a:pt x="2120082" y="1353243"/>
                </a:cubicBezTo>
                <a:lnTo>
                  <a:pt x="135324" y="1353243"/>
                </a:lnTo>
                <a:cubicBezTo>
                  <a:pt x="60587" y="1353243"/>
                  <a:pt x="0" y="1292656"/>
                  <a:pt x="0" y="1217919"/>
                </a:cubicBezTo>
                <a:lnTo>
                  <a:pt x="0" y="13532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95" tIns="100595" rIns="100595" bIns="100595" numCol="1" spcCol="1270" rtlCol="1" anchor="ctr" anchorCtr="0">
            <a:noAutofit/>
          </a:bodyPr>
          <a:lstStyle/>
          <a:p>
            <a:pPr marL="0" lvl="0" indent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b="1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حسن إدارة الوقت</a:t>
            </a:r>
            <a:r>
              <a:rPr lang="ar" sz="16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– يبدأ الوحدات وينهيها في الوقت المحدد.</a:t>
            </a:r>
            <a:endParaRPr lang="en-US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C323D73-C0B8-4095-E87E-CD10DF16C63F}"/>
              </a:ext>
            </a:extLst>
          </p:cNvPr>
          <p:cNvSpPr/>
          <p:nvPr/>
        </p:nvSpPr>
        <p:spPr>
          <a:xfrm>
            <a:off x="1166081" y="3751524"/>
            <a:ext cx="559340" cy="478146"/>
          </a:xfrm>
          <a:custGeom>
            <a:avLst/>
            <a:gdLst>
              <a:gd name="connsiteX0" fmla="*/ 0 w 478146"/>
              <a:gd name="connsiteY0" fmla="*/ 111868 h 559340"/>
              <a:gd name="connsiteX1" fmla="*/ 239073 w 478146"/>
              <a:gd name="connsiteY1" fmla="*/ 111868 h 559340"/>
              <a:gd name="connsiteX2" fmla="*/ 239073 w 478146"/>
              <a:gd name="connsiteY2" fmla="*/ 0 h 559340"/>
              <a:gd name="connsiteX3" fmla="*/ 478146 w 478146"/>
              <a:gd name="connsiteY3" fmla="*/ 279670 h 559340"/>
              <a:gd name="connsiteX4" fmla="*/ 239073 w 478146"/>
              <a:gd name="connsiteY4" fmla="*/ 559340 h 559340"/>
              <a:gd name="connsiteX5" fmla="*/ 239073 w 478146"/>
              <a:gd name="connsiteY5" fmla="*/ 447472 h 559340"/>
              <a:gd name="connsiteX6" fmla="*/ 0 w 478146"/>
              <a:gd name="connsiteY6" fmla="*/ 447472 h 559340"/>
              <a:gd name="connsiteX7" fmla="*/ 0 w 478146"/>
              <a:gd name="connsiteY7" fmla="*/ 111868 h 55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146" h="559340">
                <a:moveTo>
                  <a:pt x="382517" y="1"/>
                </a:moveTo>
                <a:lnTo>
                  <a:pt x="382517" y="279670"/>
                </a:lnTo>
                <a:lnTo>
                  <a:pt x="478146" y="279670"/>
                </a:lnTo>
                <a:lnTo>
                  <a:pt x="239073" y="559339"/>
                </a:lnTo>
                <a:lnTo>
                  <a:pt x="0" y="279670"/>
                </a:lnTo>
                <a:lnTo>
                  <a:pt x="95629" y="279670"/>
                </a:lnTo>
                <a:lnTo>
                  <a:pt x="95629" y="1"/>
                </a:lnTo>
                <a:lnTo>
                  <a:pt x="382517" y="1"/>
                </a:lnTo>
                <a:close/>
              </a:path>
            </a:pathLst>
          </a:custGeom>
        </p:spPr>
        <p:style>
          <a:lnRef idx="0">
            <a:schemeClr val="accent2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1868" tIns="0" rIns="111868" bIns="143444" numCol="1" spcCol="1270" rtlCol="1" anchor="ctr" anchorCtr="0">
            <a:noAutofit/>
          </a:bodyPr>
          <a:lstStyle/>
          <a:p>
            <a:pPr marL="0" lvl="0" indent="0" algn="ct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8F27CDD-3044-3F3A-28AD-BA59114487F0}"/>
              </a:ext>
            </a:extLst>
          </p:cNvPr>
          <p:cNvSpPr/>
          <p:nvPr/>
        </p:nvSpPr>
        <p:spPr>
          <a:xfrm>
            <a:off x="318048" y="4455211"/>
            <a:ext cx="2255406" cy="1353243"/>
          </a:xfrm>
          <a:custGeom>
            <a:avLst/>
            <a:gdLst>
              <a:gd name="connsiteX0" fmla="*/ 0 w 2255406"/>
              <a:gd name="connsiteY0" fmla="*/ 135324 h 1353243"/>
              <a:gd name="connsiteX1" fmla="*/ 135324 w 2255406"/>
              <a:gd name="connsiteY1" fmla="*/ 0 h 1353243"/>
              <a:gd name="connsiteX2" fmla="*/ 2120082 w 2255406"/>
              <a:gd name="connsiteY2" fmla="*/ 0 h 1353243"/>
              <a:gd name="connsiteX3" fmla="*/ 2255406 w 2255406"/>
              <a:gd name="connsiteY3" fmla="*/ 135324 h 1353243"/>
              <a:gd name="connsiteX4" fmla="*/ 2255406 w 2255406"/>
              <a:gd name="connsiteY4" fmla="*/ 1217919 h 1353243"/>
              <a:gd name="connsiteX5" fmla="*/ 2120082 w 2255406"/>
              <a:gd name="connsiteY5" fmla="*/ 1353243 h 1353243"/>
              <a:gd name="connsiteX6" fmla="*/ 135324 w 2255406"/>
              <a:gd name="connsiteY6" fmla="*/ 1353243 h 1353243"/>
              <a:gd name="connsiteX7" fmla="*/ 0 w 2255406"/>
              <a:gd name="connsiteY7" fmla="*/ 1217919 h 1353243"/>
              <a:gd name="connsiteX8" fmla="*/ 0 w 2255406"/>
              <a:gd name="connsiteY8" fmla="*/ 135324 h 13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5406" h="1353243">
                <a:moveTo>
                  <a:pt x="0" y="135324"/>
                </a:moveTo>
                <a:cubicBezTo>
                  <a:pt x="0" y="60587"/>
                  <a:pt x="60587" y="0"/>
                  <a:pt x="135324" y="0"/>
                </a:cubicBezTo>
                <a:lnTo>
                  <a:pt x="2120082" y="0"/>
                </a:lnTo>
                <a:cubicBezTo>
                  <a:pt x="2194819" y="0"/>
                  <a:pt x="2255406" y="60587"/>
                  <a:pt x="2255406" y="135324"/>
                </a:cubicBezTo>
                <a:lnTo>
                  <a:pt x="2255406" y="1217919"/>
                </a:lnTo>
                <a:cubicBezTo>
                  <a:pt x="2255406" y="1292656"/>
                  <a:pt x="2194819" y="1353243"/>
                  <a:pt x="2120082" y="1353243"/>
                </a:cubicBezTo>
                <a:lnTo>
                  <a:pt x="135324" y="1353243"/>
                </a:lnTo>
                <a:cubicBezTo>
                  <a:pt x="60587" y="1353243"/>
                  <a:pt x="0" y="1292656"/>
                  <a:pt x="0" y="1217919"/>
                </a:cubicBezTo>
                <a:lnTo>
                  <a:pt x="0" y="135324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95" tIns="100595" rIns="100595" bIns="100595" numCol="1" spcCol="1270" rtlCol="1" anchor="ctr" anchorCtr="0">
            <a:noAutofit/>
          </a:bodyPr>
          <a:lstStyle/>
          <a:p>
            <a:pPr marL="0" lvl="0" indent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b="1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حسن استخدام اللغة </a:t>
            </a:r>
            <a:r>
              <a:rPr lang="ar" sz="16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– يستخدم لغة إيجابية مناسبة لسن المشاركين وقدرتهم</a:t>
            </a:r>
            <a:endParaRPr lang="en-US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AAC363-25A9-4A91-1726-51ED84EAD184}"/>
              </a:ext>
            </a:extLst>
          </p:cNvPr>
          <p:cNvSpPr/>
          <p:nvPr/>
        </p:nvSpPr>
        <p:spPr>
          <a:xfrm flipH="1">
            <a:off x="2771930" y="4852162"/>
            <a:ext cx="478146" cy="559341"/>
          </a:xfrm>
          <a:custGeom>
            <a:avLst/>
            <a:gdLst>
              <a:gd name="connsiteX0" fmla="*/ 0 w 478146"/>
              <a:gd name="connsiteY0" fmla="*/ 111868 h 559340"/>
              <a:gd name="connsiteX1" fmla="*/ 239073 w 478146"/>
              <a:gd name="connsiteY1" fmla="*/ 111868 h 559340"/>
              <a:gd name="connsiteX2" fmla="*/ 239073 w 478146"/>
              <a:gd name="connsiteY2" fmla="*/ 0 h 559340"/>
              <a:gd name="connsiteX3" fmla="*/ 478146 w 478146"/>
              <a:gd name="connsiteY3" fmla="*/ 279670 h 559340"/>
              <a:gd name="connsiteX4" fmla="*/ 239073 w 478146"/>
              <a:gd name="connsiteY4" fmla="*/ 559340 h 559340"/>
              <a:gd name="connsiteX5" fmla="*/ 239073 w 478146"/>
              <a:gd name="connsiteY5" fmla="*/ 447472 h 559340"/>
              <a:gd name="connsiteX6" fmla="*/ 0 w 478146"/>
              <a:gd name="connsiteY6" fmla="*/ 447472 h 559340"/>
              <a:gd name="connsiteX7" fmla="*/ 0 w 478146"/>
              <a:gd name="connsiteY7" fmla="*/ 111868 h 55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146" h="559340">
                <a:moveTo>
                  <a:pt x="478146" y="447472"/>
                </a:moveTo>
                <a:lnTo>
                  <a:pt x="239073" y="447472"/>
                </a:lnTo>
                <a:lnTo>
                  <a:pt x="239073" y="559340"/>
                </a:lnTo>
                <a:lnTo>
                  <a:pt x="0" y="279670"/>
                </a:lnTo>
                <a:lnTo>
                  <a:pt x="239073" y="0"/>
                </a:lnTo>
                <a:lnTo>
                  <a:pt x="239073" y="111868"/>
                </a:lnTo>
                <a:lnTo>
                  <a:pt x="478146" y="111868"/>
                </a:lnTo>
                <a:lnTo>
                  <a:pt x="478146" y="447472"/>
                </a:lnTo>
                <a:close/>
              </a:path>
            </a:pathLst>
          </a:custGeom>
        </p:spPr>
        <p:style>
          <a:lnRef idx="0">
            <a:schemeClr val="accent2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60000"/>
              <a:hueOff val="0"/>
              <a:satOff val="0"/>
              <a:lumOff val="0"/>
              <a:alphaOff val="0"/>
            </a:schemeClr>
          </a:fillRef>
          <a:effectRef idx="1">
            <a:schemeClr val="accent2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3444" tIns="111869" rIns="0" bIns="111868" numCol="1" spcCol="1270" rtlCol="1" anchor="ctr" anchorCtr="0">
            <a:noAutofit/>
          </a:bodyPr>
          <a:lstStyle/>
          <a:p>
            <a:pPr marL="0" lvl="0" indent="0" algn="ctr" defTabSz="10668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4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61A98C-6D11-4882-C4EC-BE7CD4317843}"/>
              </a:ext>
            </a:extLst>
          </p:cNvPr>
          <p:cNvSpPr/>
          <p:nvPr/>
        </p:nvSpPr>
        <p:spPr>
          <a:xfrm>
            <a:off x="3475617" y="4455211"/>
            <a:ext cx="2255406" cy="1353243"/>
          </a:xfrm>
          <a:custGeom>
            <a:avLst/>
            <a:gdLst>
              <a:gd name="connsiteX0" fmla="*/ 0 w 2255406"/>
              <a:gd name="connsiteY0" fmla="*/ 135324 h 1353243"/>
              <a:gd name="connsiteX1" fmla="*/ 135324 w 2255406"/>
              <a:gd name="connsiteY1" fmla="*/ 0 h 1353243"/>
              <a:gd name="connsiteX2" fmla="*/ 2120082 w 2255406"/>
              <a:gd name="connsiteY2" fmla="*/ 0 h 1353243"/>
              <a:gd name="connsiteX3" fmla="*/ 2255406 w 2255406"/>
              <a:gd name="connsiteY3" fmla="*/ 135324 h 1353243"/>
              <a:gd name="connsiteX4" fmla="*/ 2255406 w 2255406"/>
              <a:gd name="connsiteY4" fmla="*/ 1217919 h 1353243"/>
              <a:gd name="connsiteX5" fmla="*/ 2120082 w 2255406"/>
              <a:gd name="connsiteY5" fmla="*/ 1353243 h 1353243"/>
              <a:gd name="connsiteX6" fmla="*/ 135324 w 2255406"/>
              <a:gd name="connsiteY6" fmla="*/ 1353243 h 1353243"/>
              <a:gd name="connsiteX7" fmla="*/ 0 w 2255406"/>
              <a:gd name="connsiteY7" fmla="*/ 1217919 h 1353243"/>
              <a:gd name="connsiteX8" fmla="*/ 0 w 2255406"/>
              <a:gd name="connsiteY8" fmla="*/ 135324 h 135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5406" h="1353243">
                <a:moveTo>
                  <a:pt x="0" y="135324"/>
                </a:moveTo>
                <a:cubicBezTo>
                  <a:pt x="0" y="60587"/>
                  <a:pt x="60587" y="0"/>
                  <a:pt x="135324" y="0"/>
                </a:cubicBezTo>
                <a:lnTo>
                  <a:pt x="2120082" y="0"/>
                </a:lnTo>
                <a:cubicBezTo>
                  <a:pt x="2194819" y="0"/>
                  <a:pt x="2255406" y="60587"/>
                  <a:pt x="2255406" y="135324"/>
                </a:cubicBezTo>
                <a:lnTo>
                  <a:pt x="2255406" y="1217919"/>
                </a:lnTo>
                <a:cubicBezTo>
                  <a:pt x="2255406" y="1292656"/>
                  <a:pt x="2194819" y="1353243"/>
                  <a:pt x="2120082" y="1353243"/>
                </a:cubicBezTo>
                <a:lnTo>
                  <a:pt x="135324" y="1353243"/>
                </a:lnTo>
                <a:cubicBezTo>
                  <a:pt x="60587" y="1353243"/>
                  <a:pt x="0" y="1292656"/>
                  <a:pt x="0" y="1217919"/>
                </a:cubicBezTo>
                <a:lnTo>
                  <a:pt x="0" y="135324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595" tIns="100595" rIns="100595" bIns="100595" numCol="1" spcCol="1270" rtlCol="1" anchor="ctr" anchorCtr="0">
            <a:noAutofit/>
          </a:bodyPr>
          <a:lstStyle/>
          <a:p>
            <a:pPr marL="0" lvl="0" indent="0" algn="ctr" defTabSz="7112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على التفكير بعمق</a:t>
            </a:r>
            <a:r>
              <a:rPr lang="ar" sz="16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– يستطيع مراجعة ما نُفِّذ جيدًا والنقاط التي تحتاج إلى التحسين</a:t>
            </a:r>
            <a:endParaRPr lang="en-US" sz="1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CE6EF58-0999-5185-943B-B02EC34D4321}"/>
              </a:ext>
            </a:extLst>
          </p:cNvPr>
          <p:cNvGrpSpPr/>
          <p:nvPr/>
        </p:nvGrpSpPr>
        <p:grpSpPr>
          <a:xfrm flipH="1">
            <a:off x="5992837" y="4365104"/>
            <a:ext cx="2827635" cy="1583203"/>
            <a:chOff x="0" y="340554"/>
            <a:chExt cx="2564804" cy="164323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0A4514-8589-8483-721A-A201FB1E93F0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7A66BB-4277-6F04-3E42-DE9B4A6AA4EE}"/>
                </a:ext>
              </a:extLst>
            </p:cNvPr>
            <p:cNvSpPr txBox="1"/>
            <p:nvPr/>
          </p:nvSpPr>
          <p:spPr>
            <a:xfrm>
              <a:off x="47788" y="340554"/>
              <a:ext cx="2368861" cy="16432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أهمية امتلاك القائد الرياضي لكل مهارة من هذه المهارات؟</a:t>
              </a:r>
            </a:p>
          </p:txBody>
        </p:sp>
      </p:grpSp>
      <p:pic>
        <p:nvPicPr>
          <p:cNvPr id="17" name="Picture 16" descr="A group of girls in a field&#10;&#10;AI-generated content may be incorrect.">
            <a:extLst>
              <a:ext uri="{FF2B5EF4-FFF2-40B4-BE49-F238E27FC236}">
                <a16:creationId xmlns:a16="http://schemas.microsoft.com/office/drawing/2014/main" id="{BE49C2E7-F93F-3825-0448-F2CC06D9B2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9723" y="2197513"/>
            <a:ext cx="2752398" cy="2062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4349BA-2D9A-7B5D-A4E1-59B5F96551C3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726267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0EC04-4169-86C9-46C2-59D961B6A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4FE6BBE-5BD4-5874-DD48-CEEC763D6632}"/>
              </a:ext>
            </a:extLst>
          </p:cNvPr>
          <p:cNvGrpSpPr/>
          <p:nvPr/>
        </p:nvGrpSpPr>
        <p:grpSpPr>
          <a:xfrm flipH="1">
            <a:off x="5580111" y="2486747"/>
            <a:ext cx="3384376" cy="3750565"/>
            <a:chOff x="0" y="353531"/>
            <a:chExt cx="2612591" cy="16302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7C28B44-1B7F-C8E7-B177-E8080C30665E}"/>
                </a:ext>
              </a:extLst>
            </p:cNvPr>
            <p:cNvSpPr/>
            <p:nvPr/>
          </p:nvSpPr>
          <p:spPr>
            <a:xfrm>
              <a:off x="0" y="353532"/>
              <a:ext cx="2564804" cy="1630255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962EE3-CDE2-EDE2-FF72-764C4243967A}"/>
                </a:ext>
              </a:extLst>
            </p:cNvPr>
            <p:cNvSpPr txBox="1"/>
            <p:nvPr/>
          </p:nvSpPr>
          <p:spPr>
            <a:xfrm>
              <a:off x="0" y="353531"/>
              <a:ext cx="2612591" cy="163025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نشاط في مجموعات: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فكِّر في بعض القادة الرياضيين الناجحين.</a:t>
              </a:r>
            </a:p>
            <a:p>
              <a:pPr marL="457200" indent="-457200" rtl="1">
                <a:buFont typeface="+mj-lt"/>
                <a:buAutoNum type="arabicPeriod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اذكر ثلاثة من القادة الرياضيين الناجحين.</a:t>
              </a:r>
            </a:p>
            <a:p>
              <a:pPr marL="457200" indent="-457200" rtl="1">
                <a:buFont typeface="+mj-lt"/>
                <a:buAutoNum type="arabicPeriod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تساعدهم 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الصفات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الواردة في هذه القائمة على النجاح؟</a:t>
              </a:r>
            </a:p>
            <a:p>
              <a:pPr marL="457200" indent="-457200" rtl="1">
                <a:buFont typeface="+mj-lt"/>
                <a:buAutoNum type="arabicPeriod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اذكر أمثلة على كيفية إظهارهم لكل صفة من هذه الصفات.</a:t>
              </a: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F69BE8-D147-8F23-357F-A9ABCDDC2194}"/>
              </a:ext>
            </a:extLst>
          </p:cNvPr>
          <p:cNvSpPr/>
          <p:nvPr/>
        </p:nvSpPr>
        <p:spPr>
          <a:xfrm>
            <a:off x="398181" y="1629571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Rectangle 6" descr="Tick">
            <a:extLst>
              <a:ext uri="{FF2B5EF4-FFF2-40B4-BE49-F238E27FC236}">
                <a16:creationId xmlns:a16="http://schemas.microsoft.com/office/drawing/2014/main" id="{FAD40A13-8315-CF5F-A182-C67E4C1D00F9}"/>
              </a:ext>
            </a:extLst>
          </p:cNvPr>
          <p:cNvSpPr/>
          <p:nvPr/>
        </p:nvSpPr>
        <p:spPr>
          <a:xfrm>
            <a:off x="4749883" y="1777987"/>
            <a:ext cx="362795" cy="362795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6FBD1A-4001-47B8-CB15-2B4D19BB8245}"/>
              </a:ext>
            </a:extLst>
          </p:cNvPr>
          <p:cNvSpPr/>
          <p:nvPr/>
        </p:nvSpPr>
        <p:spPr>
          <a:xfrm>
            <a:off x="398182" y="1629571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 dirty="0">
                <a:latin typeface="Arial" panose="020B0604020202020204" pitchFamily="34" charset="0"/>
                <a:cs typeface="Arial" panose="020B0604020202020204" pitchFamily="34" charset="0"/>
              </a:rPr>
              <a:t>ما الصفات التي يجب أن يتسم بها القائد الرياضي؟</a:t>
            </a:r>
            <a:endParaRPr lang="en-US" altLang="en-US" sz="1900" b="1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C86143-EC4F-4236-988C-64E3E3906998}"/>
              </a:ext>
            </a:extLst>
          </p:cNvPr>
          <p:cNvSpPr/>
          <p:nvPr/>
        </p:nvSpPr>
        <p:spPr>
          <a:xfrm>
            <a:off x="398181" y="2454105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 descr="Suit">
            <a:extLst>
              <a:ext uri="{FF2B5EF4-FFF2-40B4-BE49-F238E27FC236}">
                <a16:creationId xmlns:a16="http://schemas.microsoft.com/office/drawing/2014/main" id="{A1C09381-548F-6923-DC9A-DCF8AD029F84}"/>
              </a:ext>
            </a:extLst>
          </p:cNvPr>
          <p:cNvSpPr/>
          <p:nvPr/>
        </p:nvSpPr>
        <p:spPr>
          <a:xfrm>
            <a:off x="4749883" y="2602521"/>
            <a:ext cx="362795" cy="362795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C732030-DC5A-73F2-406E-9854B767636A}"/>
              </a:ext>
            </a:extLst>
          </p:cNvPr>
          <p:cNvSpPr/>
          <p:nvPr/>
        </p:nvSpPr>
        <p:spPr>
          <a:xfrm>
            <a:off x="398182" y="2454105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المظهر</a:t>
            </a:r>
            <a:r>
              <a:rPr lang="ar" sz="1800" kern="120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ar" sz="20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الملائم</a:t>
            </a:r>
            <a:endPara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1192832-F6B3-B86A-7E49-69B7B685D0AE}"/>
              </a:ext>
            </a:extLst>
          </p:cNvPr>
          <p:cNvSpPr/>
          <p:nvPr/>
        </p:nvSpPr>
        <p:spPr>
          <a:xfrm>
            <a:off x="398181" y="3278639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Rectangle 14" descr="Podium">
            <a:extLst>
              <a:ext uri="{FF2B5EF4-FFF2-40B4-BE49-F238E27FC236}">
                <a16:creationId xmlns:a16="http://schemas.microsoft.com/office/drawing/2014/main" id="{9B84B82C-EDB8-71DE-3A0D-AF78146D382A}"/>
              </a:ext>
            </a:extLst>
          </p:cNvPr>
          <p:cNvSpPr/>
          <p:nvPr/>
        </p:nvSpPr>
        <p:spPr>
          <a:xfrm>
            <a:off x="4749883" y="3427055"/>
            <a:ext cx="362795" cy="362795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D86152-BB96-7C38-6537-CD6FEFF73C5E}"/>
              </a:ext>
            </a:extLst>
          </p:cNvPr>
          <p:cNvSpPr/>
          <p:nvPr/>
        </p:nvSpPr>
        <p:spPr>
          <a:xfrm>
            <a:off x="398182" y="3278639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الحماسة للرياضة</a:t>
            </a:r>
            <a:endParaRPr lang="en-US" sz="2000" b="0" kern="12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0266A30-E110-A06D-679D-AD045E443645}"/>
              </a:ext>
            </a:extLst>
          </p:cNvPr>
          <p:cNvSpPr/>
          <p:nvPr/>
        </p:nvSpPr>
        <p:spPr>
          <a:xfrm>
            <a:off x="398181" y="4103173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8" name="Rectangle 17" descr="Head with Gears">
            <a:extLst>
              <a:ext uri="{FF2B5EF4-FFF2-40B4-BE49-F238E27FC236}">
                <a16:creationId xmlns:a16="http://schemas.microsoft.com/office/drawing/2014/main" id="{185AE761-ECB1-33DE-C0E3-469175C88D67}"/>
              </a:ext>
            </a:extLst>
          </p:cNvPr>
          <p:cNvSpPr/>
          <p:nvPr/>
        </p:nvSpPr>
        <p:spPr>
          <a:xfrm>
            <a:off x="4749883" y="4251590"/>
            <a:ext cx="362795" cy="36279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B40C88-C614-864A-4729-3AED06E84FC4}"/>
              </a:ext>
            </a:extLst>
          </p:cNvPr>
          <p:cNvSpPr/>
          <p:nvPr/>
        </p:nvSpPr>
        <p:spPr>
          <a:xfrm>
            <a:off x="398182" y="4103173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الثقة</a:t>
            </a:r>
            <a:endParaRPr lang="en-US" sz="2000" b="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799CF5-B9C6-1263-E8A2-69C93A16CD17}"/>
              </a:ext>
            </a:extLst>
          </p:cNvPr>
          <p:cNvSpPr/>
          <p:nvPr/>
        </p:nvSpPr>
        <p:spPr>
          <a:xfrm>
            <a:off x="398181" y="4927708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 descr="Aspiration with solid fill">
            <a:extLst>
              <a:ext uri="{FF2B5EF4-FFF2-40B4-BE49-F238E27FC236}">
                <a16:creationId xmlns:a16="http://schemas.microsoft.com/office/drawing/2014/main" id="{6AB7331A-ED3E-3D1C-854D-7792C447AA51}"/>
              </a:ext>
            </a:extLst>
          </p:cNvPr>
          <p:cNvSpPr/>
          <p:nvPr/>
        </p:nvSpPr>
        <p:spPr>
          <a:xfrm>
            <a:off x="4749883" y="5076124"/>
            <a:ext cx="362795" cy="362795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6D61B3E-5176-7119-420C-D15178ADE829}"/>
              </a:ext>
            </a:extLst>
          </p:cNvPr>
          <p:cNvSpPr/>
          <p:nvPr/>
        </p:nvSpPr>
        <p:spPr>
          <a:xfrm>
            <a:off x="398182" y="4927708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التحفيز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163F0CB-9737-482E-45A4-B90C80BCDB69}"/>
              </a:ext>
            </a:extLst>
          </p:cNvPr>
          <p:cNvSpPr/>
          <p:nvPr/>
        </p:nvSpPr>
        <p:spPr>
          <a:xfrm>
            <a:off x="398181" y="5752242"/>
            <a:ext cx="4914034" cy="659627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4" name="Rectangle 23" descr="Grinning face outline with solid fill">
            <a:extLst>
              <a:ext uri="{FF2B5EF4-FFF2-40B4-BE49-F238E27FC236}">
                <a16:creationId xmlns:a16="http://schemas.microsoft.com/office/drawing/2014/main" id="{DCC92428-8BB5-FEDD-6DD4-5247E619DBEF}"/>
              </a:ext>
            </a:extLst>
          </p:cNvPr>
          <p:cNvSpPr/>
          <p:nvPr/>
        </p:nvSpPr>
        <p:spPr>
          <a:xfrm>
            <a:off x="4749883" y="5900658"/>
            <a:ext cx="362795" cy="362795"/>
          </a:xfrm>
          <a:prstGeom prst="rect">
            <a:avLst/>
          </a:pr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83C5277-27AB-C6FC-ECCA-0666A7A3A6FE}"/>
              </a:ext>
            </a:extLst>
          </p:cNvPr>
          <p:cNvSpPr/>
          <p:nvPr/>
        </p:nvSpPr>
        <p:spPr>
          <a:xfrm>
            <a:off x="398182" y="5752242"/>
            <a:ext cx="4152164" cy="659627"/>
          </a:xfrm>
          <a:custGeom>
            <a:avLst/>
            <a:gdLst>
              <a:gd name="connsiteX0" fmla="*/ 0 w 4152164"/>
              <a:gd name="connsiteY0" fmla="*/ 0 h 659627"/>
              <a:gd name="connsiteX1" fmla="*/ 4152164 w 4152164"/>
              <a:gd name="connsiteY1" fmla="*/ 0 h 659627"/>
              <a:gd name="connsiteX2" fmla="*/ 4152164 w 4152164"/>
              <a:gd name="connsiteY2" fmla="*/ 659627 h 659627"/>
              <a:gd name="connsiteX3" fmla="*/ 0 w 4152164"/>
              <a:gd name="connsiteY3" fmla="*/ 659627 h 659627"/>
              <a:gd name="connsiteX4" fmla="*/ 0 w 4152164"/>
              <a:gd name="connsiteY4" fmla="*/ 0 h 65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2164" h="659627">
                <a:moveTo>
                  <a:pt x="0" y="0"/>
                </a:moveTo>
                <a:lnTo>
                  <a:pt x="4152164" y="0"/>
                </a:lnTo>
                <a:lnTo>
                  <a:pt x="4152164" y="659627"/>
                </a:lnTo>
                <a:lnTo>
                  <a:pt x="0" y="65962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9811" tIns="69811" rIns="69811" bIns="69811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سمات الشخصية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8C354B1-0E56-5D60-C795-F8F6793F5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8003" y="1340768"/>
            <a:ext cx="2602632" cy="86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0000"/>
          </a:bodyPr>
          <a:lstStyle/>
          <a:p>
            <a:pPr rtl="1">
              <a:lnSpc>
                <a:spcPct val="90000"/>
              </a:lnSpc>
            </a:pPr>
            <a:r>
              <a:rPr lang="ar" sz="2700" b="1">
                <a:latin typeface="Sakkal Majalla" panose="02000000000000000000" pitchFamily="2" charset="-78"/>
                <a:cs typeface="Sakkal Majalla" panose="02000000000000000000" pitchFamily="2" charset="-78"/>
              </a:rPr>
              <a:t>أ2 سمات القائد الرياضي</a:t>
            </a:r>
            <a:br>
              <a:rPr lang="en-GB" sz="24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</a:br>
            <a:endParaRPr lang="en-GB" altLang="en-US" sz="2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F7106A-40E7-4C93-AB54-025870185B75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330583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6672-60AC-B656-24A8-143C10E2A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211A3E28-2D9F-B88B-CEE4-A7CDABCAD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089689"/>
            <a:ext cx="8640960" cy="5441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أ3 مسؤوليات القائد الرياضي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تحمّل المسؤولية عما يقع ضمن نطاق واجباتك</a:t>
            </a:r>
            <a:br>
              <a:rPr lang="en-GB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E8F458A-106E-EE90-AEDC-A8C316393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0188" y="2027752"/>
            <a:ext cx="4238012" cy="4545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 fontAlgn="ctr">
              <a:buNone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على سبيل المثال: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إظهار السلوك المهني.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ضمان صحة المشاركين والجمهور والشخص نفسه والآخرين وسلامتهم.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ضمان المساواة للجميع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الحرص على الوفاء بالالتزامات القانونية، مثل واجب الرعاية وحماية اليافعين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الالتزام بالقيم والأخلاقيات المناسبة.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التمسّك بالقواعد واللوائح الخاصة بالرياضات المحددة</a:t>
            </a:r>
          </a:p>
          <a:p>
            <a:pPr rtl="1" fontAlgn="ctr">
              <a:buFont typeface="+mj-lt"/>
              <a:buAutoNum type="arabicPeriod"/>
            </a:pPr>
            <a:r>
              <a:rPr lang="ar" sz="1800" dirty="0">
                <a:latin typeface="Sakkal Majalla" panose="02000000000000000000" pitchFamily="2" charset="-78"/>
                <a:ea typeface="Open Sans" panose="020B0606030504020204" pitchFamily="34" charset="0"/>
                <a:cs typeface="Sakkal Majalla" panose="02000000000000000000" pitchFamily="2" charset="-78"/>
              </a:rPr>
              <a:t>المعرفة بالبيئة التدريبية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5C41C-7EBB-3D31-DEB4-420C11CAD4E9}"/>
              </a:ext>
            </a:extLst>
          </p:cNvPr>
          <p:cNvSpPr txBox="1"/>
          <p:nvPr/>
        </p:nvSpPr>
        <p:spPr>
          <a:xfrm>
            <a:off x="396037" y="2027752"/>
            <a:ext cx="3875240" cy="4545449"/>
          </a:xfrm>
          <a:prstGeom prst="rect">
            <a:avLst/>
          </a:prstGeom>
          <a:solidFill>
            <a:schemeClr val="accent5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rtl="1"/>
            <a:r>
              <a:rPr lang="ar" b="1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نشاط في مجموعات:</a:t>
            </a:r>
          </a:p>
          <a:p>
            <a:pPr rtl="1"/>
            <a:endParaRPr lang="en-US" b="1" dirty="0">
              <a:solidFill>
                <a:schemeClr val="accent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هل يمكنك مطابقة كل من هذه العبارات مع المسؤولية المناسبة في القائمة؟</a:t>
            </a:r>
          </a:p>
          <a:p>
            <a:pPr rtl="1"/>
            <a:endParaRPr lang="en-US" dirty="0">
              <a:solidFill>
                <a:schemeClr val="accent4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الالتزام بالقانون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معرفة مكان التدريب والأفراد الذين تدربهم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معاملة الجميع بإنصاف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الحرص على الوعي التام بالمخاطر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ترسيخ بيئة إيجابية وشاملة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تشجيع العمل الجماعي </a:t>
            </a:r>
          </a:p>
          <a:p>
            <a:pPr marL="342900" indent="-342900" rtl="1">
              <a:buFont typeface="+mj-lt"/>
              <a:buAutoNum type="alphaUcPeriod"/>
            </a:pPr>
            <a:r>
              <a:rPr lang="ar" dirty="0">
                <a:solidFill>
                  <a:schemeClr val="accent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تطبيق قواعد الرياضة</a:t>
            </a:r>
            <a:endParaRPr lang="en-US" sz="1600" dirty="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66453-6E9F-5DC8-F228-1B1E07BAA89D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441496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1174F65-4DDD-B67D-6F81-2CDC2253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12796" y="1196000"/>
            <a:ext cx="3286002" cy="5256584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8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التعلّم ب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مختلف أساليب القيادة المُستخدمة لقيادة الأنشطة الرياضية</a:t>
            </a:r>
          </a:p>
          <a:p>
            <a:pPr rtl="1"/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يستكشف نتاج التعلُّم ب ما يأتي:</a:t>
            </a:r>
            <a:endParaRPr lang="en-US" alt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مختلف أساليب القيادة التي يستخدمها قادة الرياضة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كيفية تطوير أسلوب ومهارات قيادة مناسبة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طريقة كتابة خطط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الوحدات الرياضية </a:t>
            </a:r>
            <a:endParaRPr lang="en-GB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59379A-1C0C-3DB2-732D-9F90FE365F77}"/>
              </a:ext>
            </a:extLst>
          </p:cNvPr>
          <p:cNvSpPr/>
          <p:nvPr/>
        </p:nvSpPr>
        <p:spPr>
          <a:xfrm>
            <a:off x="452067" y="1630989"/>
            <a:ext cx="4914034" cy="949134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Rectangle 3" descr="Tick">
            <a:extLst>
              <a:ext uri="{FF2B5EF4-FFF2-40B4-BE49-F238E27FC236}">
                <a16:creationId xmlns:a16="http://schemas.microsoft.com/office/drawing/2014/main" id="{B5490BAA-5219-C800-E0EE-C0678C131518}"/>
              </a:ext>
            </a:extLst>
          </p:cNvPr>
          <p:cNvSpPr/>
          <p:nvPr/>
        </p:nvSpPr>
        <p:spPr>
          <a:xfrm>
            <a:off x="4556965" y="1844544"/>
            <a:ext cx="522023" cy="522023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875BF9E-B196-EA5B-5E64-399200184A8F}"/>
              </a:ext>
            </a:extLst>
          </p:cNvPr>
          <p:cNvSpPr/>
          <p:nvPr/>
        </p:nvSpPr>
        <p:spPr>
          <a:xfrm>
            <a:off x="452068" y="1630989"/>
            <a:ext cx="3817783" cy="949134"/>
          </a:xfrm>
          <a:custGeom>
            <a:avLst/>
            <a:gdLst>
              <a:gd name="connsiteX0" fmla="*/ 0 w 3817783"/>
              <a:gd name="connsiteY0" fmla="*/ 0 h 949134"/>
              <a:gd name="connsiteX1" fmla="*/ 3817783 w 3817783"/>
              <a:gd name="connsiteY1" fmla="*/ 0 h 949134"/>
              <a:gd name="connsiteX2" fmla="*/ 3817783 w 3817783"/>
              <a:gd name="connsiteY2" fmla="*/ 949134 h 949134"/>
              <a:gd name="connsiteX3" fmla="*/ 0 w 3817783"/>
              <a:gd name="connsiteY3" fmla="*/ 949134 h 949134"/>
              <a:gd name="connsiteX4" fmla="*/ 0 w 3817783"/>
              <a:gd name="connsiteY4" fmla="*/ 0 h 9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7783" h="949134">
                <a:moveTo>
                  <a:pt x="0" y="0"/>
                </a:moveTo>
                <a:lnTo>
                  <a:pt x="3817783" y="0"/>
                </a:lnTo>
                <a:lnTo>
                  <a:pt x="3817783" y="949134"/>
                </a:lnTo>
                <a:lnTo>
                  <a:pt x="0" y="94913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450" tIns="100450" rIns="100450" bIns="100450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مجالات المحتوى الرئيسة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D292D6-185F-2408-87C7-3154DBB4185F}"/>
              </a:ext>
            </a:extLst>
          </p:cNvPr>
          <p:cNvSpPr/>
          <p:nvPr/>
        </p:nvSpPr>
        <p:spPr>
          <a:xfrm>
            <a:off x="452067" y="2817407"/>
            <a:ext cx="4914034" cy="1220207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 descr="Handshake">
            <a:extLst>
              <a:ext uri="{FF2B5EF4-FFF2-40B4-BE49-F238E27FC236}">
                <a16:creationId xmlns:a16="http://schemas.microsoft.com/office/drawing/2014/main" id="{3A0EFE9B-B64C-75AF-16D5-B1C152571925}"/>
              </a:ext>
            </a:extLst>
          </p:cNvPr>
          <p:cNvSpPr/>
          <p:nvPr/>
        </p:nvSpPr>
        <p:spPr>
          <a:xfrm>
            <a:off x="4556965" y="3166499"/>
            <a:ext cx="522023" cy="522023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3C5EB6-5041-9036-2119-9C2295B30E36}"/>
              </a:ext>
            </a:extLst>
          </p:cNvPr>
          <p:cNvSpPr/>
          <p:nvPr/>
        </p:nvSpPr>
        <p:spPr>
          <a:xfrm>
            <a:off x="452068" y="2952944"/>
            <a:ext cx="3817783" cy="949134"/>
          </a:xfrm>
          <a:custGeom>
            <a:avLst/>
            <a:gdLst>
              <a:gd name="connsiteX0" fmla="*/ 0 w 3817783"/>
              <a:gd name="connsiteY0" fmla="*/ 0 h 949134"/>
              <a:gd name="connsiteX1" fmla="*/ 3817783 w 3817783"/>
              <a:gd name="connsiteY1" fmla="*/ 0 h 949134"/>
              <a:gd name="connsiteX2" fmla="*/ 3817783 w 3817783"/>
              <a:gd name="connsiteY2" fmla="*/ 949134 h 949134"/>
              <a:gd name="connsiteX3" fmla="*/ 0 w 3817783"/>
              <a:gd name="connsiteY3" fmla="*/ 949134 h 949134"/>
              <a:gd name="connsiteX4" fmla="*/ 0 w 3817783"/>
              <a:gd name="connsiteY4" fmla="*/ 0 h 9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7783" h="949134">
                <a:moveTo>
                  <a:pt x="0" y="0"/>
                </a:moveTo>
                <a:lnTo>
                  <a:pt x="3817783" y="0"/>
                </a:lnTo>
                <a:lnTo>
                  <a:pt x="3817783" y="949134"/>
                </a:lnTo>
                <a:lnTo>
                  <a:pt x="0" y="94913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450" tIns="100450" rIns="100450" bIns="100450" numCol="1" spcCol="1270" rtlCol="1" anchor="ctr" anchorCtr="0">
            <a:noAutofit/>
          </a:bodyPr>
          <a:lstStyle/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ب1</a:t>
            </a: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أسلوب القيادة وملاءمتها مع قيادة الأنشطة الرياضية</a:t>
            </a:r>
            <a:endParaRPr lang="en-US" sz="18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808DAE-975F-9CE2-F9C1-85A6EFFF8BEB}"/>
              </a:ext>
            </a:extLst>
          </p:cNvPr>
          <p:cNvSpPr/>
          <p:nvPr/>
        </p:nvSpPr>
        <p:spPr>
          <a:xfrm>
            <a:off x="452067" y="4274898"/>
            <a:ext cx="4914034" cy="949134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 descr="Money">
            <a:extLst>
              <a:ext uri="{FF2B5EF4-FFF2-40B4-BE49-F238E27FC236}">
                <a16:creationId xmlns:a16="http://schemas.microsoft.com/office/drawing/2014/main" id="{006D7C63-22EA-5882-B083-F9EFB7035941}"/>
              </a:ext>
            </a:extLst>
          </p:cNvPr>
          <p:cNvSpPr/>
          <p:nvPr/>
        </p:nvSpPr>
        <p:spPr>
          <a:xfrm>
            <a:off x="4556965" y="4488453"/>
            <a:ext cx="522023" cy="522023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F72C416-C5AE-A92A-2FF4-13CDF1DC589B}"/>
              </a:ext>
            </a:extLst>
          </p:cNvPr>
          <p:cNvSpPr/>
          <p:nvPr/>
        </p:nvSpPr>
        <p:spPr>
          <a:xfrm>
            <a:off x="452068" y="4274898"/>
            <a:ext cx="3817783" cy="949134"/>
          </a:xfrm>
          <a:custGeom>
            <a:avLst/>
            <a:gdLst>
              <a:gd name="connsiteX0" fmla="*/ 0 w 3817783"/>
              <a:gd name="connsiteY0" fmla="*/ 0 h 949134"/>
              <a:gd name="connsiteX1" fmla="*/ 3817783 w 3817783"/>
              <a:gd name="connsiteY1" fmla="*/ 0 h 949134"/>
              <a:gd name="connsiteX2" fmla="*/ 3817783 w 3817783"/>
              <a:gd name="connsiteY2" fmla="*/ 949134 h 949134"/>
              <a:gd name="connsiteX3" fmla="*/ 0 w 3817783"/>
              <a:gd name="connsiteY3" fmla="*/ 949134 h 949134"/>
              <a:gd name="connsiteX4" fmla="*/ 0 w 3817783"/>
              <a:gd name="connsiteY4" fmla="*/ 0 h 9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7783" h="949134">
                <a:moveTo>
                  <a:pt x="0" y="0"/>
                </a:moveTo>
                <a:lnTo>
                  <a:pt x="3817783" y="0"/>
                </a:lnTo>
                <a:lnTo>
                  <a:pt x="3817783" y="949134"/>
                </a:lnTo>
                <a:lnTo>
                  <a:pt x="0" y="94913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450" tIns="100450" rIns="100450" bIns="100450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ب2</a:t>
            </a:r>
            <a:r>
              <a:rPr lang="ar" sz="2000" b="0" kern="1200">
                <a:solidFill>
                  <a:schemeClr val="accent6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8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أسلوب قيادة فعّال</a:t>
            </a:r>
            <a:endParaRPr lang="en-US" sz="2000" b="0" kern="1200" dirty="0">
              <a:solidFill>
                <a:schemeClr val="accent6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08F1FB-CB57-B559-8F17-9EFD04639658}"/>
              </a:ext>
            </a:extLst>
          </p:cNvPr>
          <p:cNvSpPr/>
          <p:nvPr/>
        </p:nvSpPr>
        <p:spPr>
          <a:xfrm>
            <a:off x="452067" y="5461316"/>
            <a:ext cx="4914034" cy="949134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Comment Heart with solid fill">
            <a:extLst>
              <a:ext uri="{FF2B5EF4-FFF2-40B4-BE49-F238E27FC236}">
                <a16:creationId xmlns:a16="http://schemas.microsoft.com/office/drawing/2014/main" id="{6EE216AF-7181-E493-D6D4-70DBD017DA73}"/>
              </a:ext>
            </a:extLst>
          </p:cNvPr>
          <p:cNvSpPr/>
          <p:nvPr/>
        </p:nvSpPr>
        <p:spPr>
          <a:xfrm>
            <a:off x="4556965" y="5674872"/>
            <a:ext cx="522023" cy="522023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E9ECD5D-95D8-1906-BA08-2E26F7B0AE03}"/>
              </a:ext>
            </a:extLst>
          </p:cNvPr>
          <p:cNvSpPr/>
          <p:nvPr/>
        </p:nvSpPr>
        <p:spPr>
          <a:xfrm>
            <a:off x="452068" y="5461316"/>
            <a:ext cx="3817783" cy="949134"/>
          </a:xfrm>
          <a:custGeom>
            <a:avLst/>
            <a:gdLst>
              <a:gd name="connsiteX0" fmla="*/ 0 w 3817783"/>
              <a:gd name="connsiteY0" fmla="*/ 0 h 949134"/>
              <a:gd name="connsiteX1" fmla="*/ 3817783 w 3817783"/>
              <a:gd name="connsiteY1" fmla="*/ 0 h 949134"/>
              <a:gd name="connsiteX2" fmla="*/ 3817783 w 3817783"/>
              <a:gd name="connsiteY2" fmla="*/ 949134 h 949134"/>
              <a:gd name="connsiteX3" fmla="*/ 0 w 3817783"/>
              <a:gd name="connsiteY3" fmla="*/ 949134 h 949134"/>
              <a:gd name="connsiteX4" fmla="*/ 0 w 3817783"/>
              <a:gd name="connsiteY4" fmla="*/ 0 h 949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17783" h="949134">
                <a:moveTo>
                  <a:pt x="0" y="0"/>
                </a:moveTo>
                <a:lnTo>
                  <a:pt x="3817783" y="0"/>
                </a:lnTo>
                <a:lnTo>
                  <a:pt x="3817783" y="949134"/>
                </a:lnTo>
                <a:lnTo>
                  <a:pt x="0" y="94913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0450" tIns="100450" rIns="100450" bIns="100450" numCol="1" spcCol="1270" rtlCol="1" anchor="ctr" anchorCtr="0">
            <a:noAutofit/>
          </a:bodyPr>
          <a:lstStyle/>
          <a:p>
            <a:pPr marL="0" lvl="0" indent="0" algn="r" defTabSz="8890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0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ب3</a:t>
            </a:r>
            <a:r>
              <a:rPr lang="ar" sz="18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تخطيط الوحدة</a:t>
            </a:r>
            <a:endParaRPr lang="en-US" sz="20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CA6FF-9A30-4F8F-5FDF-BF71843E1A20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7B90DD-70A0-5271-AA07-001839EF38C5}"/>
              </a:ext>
            </a:extLst>
          </p:cNvPr>
          <p:cNvSpPr txBox="1"/>
          <p:nvPr/>
        </p:nvSpPr>
        <p:spPr>
          <a:xfrm>
            <a:off x="179512" y="1196752"/>
            <a:ext cx="8784976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ب1 أسلوب القيادة وملاءمتها مع قيادة الأنشطة الرياضية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071A457-4E42-7DD1-F865-A222BDF66277}"/>
              </a:ext>
            </a:extLst>
          </p:cNvPr>
          <p:cNvGrpSpPr/>
          <p:nvPr/>
        </p:nvGrpSpPr>
        <p:grpSpPr>
          <a:xfrm>
            <a:off x="6849424" y="1740504"/>
            <a:ext cx="1752894" cy="1402315"/>
            <a:chOff x="752342" y="700950"/>
            <a:chExt cx="1752894" cy="1402315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8AEF5C5-6170-D287-20F2-C523BE252871}"/>
                </a:ext>
              </a:extLst>
            </p:cNvPr>
            <p:cNvSpPr/>
            <p:nvPr/>
          </p:nvSpPr>
          <p:spPr>
            <a:xfrm>
              <a:off x="752342" y="700950"/>
              <a:ext cx="1752894" cy="1402315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1FD65864-FE0E-4F36-4808-D7DC830EE0EC}"/>
                </a:ext>
              </a:extLst>
            </p:cNvPr>
            <p:cNvSpPr txBox="1"/>
            <p:nvPr/>
          </p:nvSpPr>
          <p:spPr>
            <a:xfrm>
              <a:off x="793414" y="742022"/>
              <a:ext cx="1670750" cy="1320171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القيادة الاستبدادية</a:t>
              </a:r>
              <a:endParaRPr lang="en-GB" sz="2200" kern="1200" dirty="0">
                <a:solidFill>
                  <a:schemeClr val="accent6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ED3B5F1-0878-CED8-D02D-00FCFB248CE1}"/>
              </a:ext>
            </a:extLst>
          </p:cNvPr>
          <p:cNvSpPr txBox="1"/>
          <p:nvPr/>
        </p:nvSpPr>
        <p:spPr>
          <a:xfrm>
            <a:off x="327633" y="2012241"/>
            <a:ext cx="6394589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يتمتع القائد بالسيطرة الكاملة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يتخذ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القرارات بمفرده، دون طلب رأي الآخرين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يُستحسن تطبيقها في المواقف التي تقتضي اتخاذ قرارات سريعة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85638A8-32AA-D85A-E57E-436E9D0EC984}"/>
              </a:ext>
            </a:extLst>
          </p:cNvPr>
          <p:cNvGrpSpPr/>
          <p:nvPr/>
        </p:nvGrpSpPr>
        <p:grpSpPr>
          <a:xfrm>
            <a:off x="6849424" y="3363071"/>
            <a:ext cx="1752894" cy="1402315"/>
            <a:chOff x="5235697" y="700927"/>
            <a:chExt cx="1752894" cy="140231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B13E36B-FF3F-5D24-E8C2-F24EDA7D80D4}"/>
                </a:ext>
              </a:extLst>
            </p:cNvPr>
            <p:cNvSpPr/>
            <p:nvPr/>
          </p:nvSpPr>
          <p:spPr>
            <a:xfrm>
              <a:off x="5235697" y="700927"/>
              <a:ext cx="1752894" cy="1402315"/>
            </a:xfrm>
            <a:prstGeom prst="roundRect">
              <a:avLst>
                <a:gd name="adj" fmla="val 10000"/>
              </a:avLst>
            </a:prstGeom>
            <a:solidFill>
              <a:schemeClr val="accent5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85BC914D-37F8-E698-23A3-A9E8E0E4EDD0}"/>
                </a:ext>
              </a:extLst>
            </p:cNvPr>
            <p:cNvSpPr txBox="1"/>
            <p:nvPr/>
          </p:nvSpPr>
          <p:spPr>
            <a:xfrm>
              <a:off x="5276769" y="741999"/>
              <a:ext cx="1670750" cy="1320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القيادة التشاركية</a:t>
              </a:r>
              <a:endParaRPr lang="en-GB" sz="2000" kern="1200" dirty="0">
                <a:solidFill>
                  <a:schemeClr val="accent6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107903-0181-A902-6465-2D2CD1437BFB}"/>
              </a:ext>
            </a:extLst>
          </p:cNvPr>
          <p:cNvGrpSpPr/>
          <p:nvPr/>
        </p:nvGrpSpPr>
        <p:grpSpPr>
          <a:xfrm>
            <a:off x="6842653" y="5039094"/>
            <a:ext cx="1757805" cy="1402315"/>
            <a:chOff x="2958915" y="-252615"/>
            <a:chExt cx="1757805" cy="1402315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BC89E45-0953-DF07-8C61-725CA18C7DE9}"/>
                </a:ext>
              </a:extLst>
            </p:cNvPr>
            <p:cNvSpPr/>
            <p:nvPr/>
          </p:nvSpPr>
          <p:spPr>
            <a:xfrm>
              <a:off x="2958915" y="-252615"/>
              <a:ext cx="1752894" cy="1402315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Rounded Rectangle 4">
              <a:extLst>
                <a:ext uri="{FF2B5EF4-FFF2-40B4-BE49-F238E27FC236}">
                  <a16:creationId xmlns:a16="http://schemas.microsoft.com/office/drawing/2014/main" id="{928A1180-935F-288E-E03D-CB4C0950A6DE}"/>
                </a:ext>
              </a:extLst>
            </p:cNvPr>
            <p:cNvSpPr txBox="1"/>
            <p:nvPr/>
          </p:nvSpPr>
          <p:spPr>
            <a:xfrm>
              <a:off x="3045970" y="-250957"/>
              <a:ext cx="1670750" cy="13201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8100" tIns="38100" rIns="38100" bIns="38100" numCol="1" spcCol="1270" rtlCol="1" anchor="ctr" anchorCtr="0">
              <a:noAutofit/>
            </a:bodyPr>
            <a:lstStyle/>
            <a:p>
              <a:pPr marL="0" lvl="0" indent="0" algn="ctr" defTabSz="8890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000" b="1" kern="1200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القيادة المتساهلة</a:t>
              </a:r>
              <a:endParaRPr lang="en-GB" sz="2000" kern="1200" dirty="0">
                <a:solidFill>
                  <a:schemeClr val="accent6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9B7662D-6979-7E51-94D4-3DE4E60C8FA9}"/>
              </a:ext>
            </a:extLst>
          </p:cNvPr>
          <p:cNvSpPr txBox="1"/>
          <p:nvPr/>
        </p:nvSpPr>
        <p:spPr>
          <a:xfrm>
            <a:off x="328368" y="3599412"/>
            <a:ext cx="6393853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يُشرِك القائد جميع أعضاء المجموعة في عملية اتخاذ القرار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يعزز إحساسًا قويًا بروح الفريق والتضامن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يبطئ عملية اتخاذ القرار بسبب قضاء الوقت في مناقشة الخيارات.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E28BA3-48DB-6143-516D-F8CA1D5272DF}"/>
              </a:ext>
            </a:extLst>
          </p:cNvPr>
          <p:cNvSpPr txBox="1"/>
          <p:nvPr/>
        </p:nvSpPr>
        <p:spPr>
          <a:xfrm>
            <a:off x="327481" y="5160594"/>
            <a:ext cx="6391872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تتخذ المجموعة جميع القرارات بنفسها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يُستحسن استخدامها إذا كان أعضاء الفريق واثقين، ولديهم معرفة جيدة، ويمكنهم ضبط وإدارة أنفسهم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دون توجيه قد تستغرق المجموعة وقتًا أطول لتحقيق هدفها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C681EC-1417-03C9-E782-93C222519188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34471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BE97E98-DCF2-86D7-BEF2-BE6445E43623}"/>
              </a:ext>
            </a:extLst>
          </p:cNvPr>
          <p:cNvGrpSpPr/>
          <p:nvPr/>
        </p:nvGrpSpPr>
        <p:grpSpPr>
          <a:xfrm flipH="1">
            <a:off x="359804" y="5230754"/>
            <a:ext cx="8427573" cy="1339945"/>
            <a:chOff x="0" y="177288"/>
            <a:chExt cx="2681582" cy="14478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BAFED6F-9C26-4F61-14F1-D1A601438DAF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33B5FA-500C-9BAF-FE48-DB40985F56D7}"/>
                </a:ext>
              </a:extLst>
            </p:cNvPr>
            <p:cNvSpPr txBox="1"/>
            <p:nvPr/>
          </p:nvSpPr>
          <p:spPr>
            <a:xfrm>
              <a:off x="42816" y="468682"/>
              <a:ext cx="2638766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chemeClr val="accent6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مناقشة: </a:t>
              </a:r>
              <a:r>
                <a:rPr lang="ar" dirty="0">
                  <a:solidFill>
                    <a:schemeClr val="accent6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يمكنك ذكر مثال على نشاط رياضي قد يستفيد من كل واحد من هذه الأساليب القيادية؟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endParaRPr lang="en-GB" sz="20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A5C7D206-3A65-4D89-5B3A-92A684080F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9906250"/>
              </p:ext>
            </p:extLst>
          </p:nvPr>
        </p:nvGraphicFramePr>
        <p:xfrm>
          <a:off x="688448" y="1642730"/>
          <a:ext cx="7631311" cy="3778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9" name="Title 2">
            <a:extLst>
              <a:ext uri="{FF2B5EF4-FFF2-40B4-BE49-F238E27FC236}">
                <a16:creationId xmlns:a16="http://schemas.microsoft.com/office/drawing/2014/main" id="{57FFB607-677B-8885-BE30-2C18EF44D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316" y="1078295"/>
            <a:ext cx="8427573" cy="43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ب1 أسلوب القيادة وملاءمتها مع قيادة الأنشطة الرياضية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B105AA-5150-60E9-F6DA-268455C0154C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085229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FCD253-26CB-8F00-E149-AC42A0D7DFBB}"/>
              </a:ext>
            </a:extLst>
          </p:cNvPr>
          <p:cNvSpPr txBox="1"/>
          <p:nvPr/>
        </p:nvSpPr>
        <p:spPr bwMode="auto">
          <a:xfrm>
            <a:off x="457200" y="1195200"/>
            <a:ext cx="8229600" cy="433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ب1 أسلوب القيادة وملاءمتها مع قيادة الأنشطة الرياضية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774D5CE-0F8D-25C5-8EF0-F03DC7609A2E}"/>
              </a:ext>
            </a:extLst>
          </p:cNvPr>
          <p:cNvSpPr/>
          <p:nvPr/>
        </p:nvSpPr>
        <p:spPr>
          <a:xfrm>
            <a:off x="2024324" y="1629966"/>
            <a:ext cx="6734425" cy="673785"/>
          </a:xfrm>
          <a:custGeom>
            <a:avLst/>
            <a:gdLst>
              <a:gd name="connsiteX0" fmla="*/ 0 w 6734425"/>
              <a:gd name="connsiteY0" fmla="*/ 67379 h 673785"/>
              <a:gd name="connsiteX1" fmla="*/ 67379 w 6734425"/>
              <a:gd name="connsiteY1" fmla="*/ 0 h 673785"/>
              <a:gd name="connsiteX2" fmla="*/ 6667047 w 6734425"/>
              <a:gd name="connsiteY2" fmla="*/ 0 h 673785"/>
              <a:gd name="connsiteX3" fmla="*/ 6734426 w 6734425"/>
              <a:gd name="connsiteY3" fmla="*/ 67379 h 673785"/>
              <a:gd name="connsiteX4" fmla="*/ 6734425 w 6734425"/>
              <a:gd name="connsiteY4" fmla="*/ 606407 h 673785"/>
              <a:gd name="connsiteX5" fmla="*/ 6667046 w 6734425"/>
              <a:gd name="connsiteY5" fmla="*/ 673786 h 673785"/>
              <a:gd name="connsiteX6" fmla="*/ 67379 w 6734425"/>
              <a:gd name="connsiteY6" fmla="*/ 673785 h 673785"/>
              <a:gd name="connsiteX7" fmla="*/ 0 w 6734425"/>
              <a:gd name="connsiteY7" fmla="*/ 606406 h 673785"/>
              <a:gd name="connsiteX8" fmla="*/ 0 w 6734425"/>
              <a:gd name="connsiteY8" fmla="*/ 67379 h 67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34425" h="673785">
                <a:moveTo>
                  <a:pt x="0" y="67379"/>
                </a:moveTo>
                <a:cubicBezTo>
                  <a:pt x="0" y="30167"/>
                  <a:pt x="30167" y="0"/>
                  <a:pt x="67379" y="0"/>
                </a:cubicBezTo>
                <a:lnTo>
                  <a:pt x="6667047" y="0"/>
                </a:lnTo>
                <a:cubicBezTo>
                  <a:pt x="6704259" y="0"/>
                  <a:pt x="6734426" y="30167"/>
                  <a:pt x="6734426" y="67379"/>
                </a:cubicBezTo>
                <a:cubicBezTo>
                  <a:pt x="6734426" y="247055"/>
                  <a:pt x="6734425" y="426731"/>
                  <a:pt x="6734425" y="606407"/>
                </a:cubicBezTo>
                <a:cubicBezTo>
                  <a:pt x="6734425" y="643619"/>
                  <a:pt x="6704258" y="673786"/>
                  <a:pt x="6667046" y="673786"/>
                </a:cubicBezTo>
                <a:lnTo>
                  <a:pt x="67379" y="673785"/>
                </a:lnTo>
                <a:cubicBezTo>
                  <a:pt x="30167" y="673785"/>
                  <a:pt x="0" y="643618"/>
                  <a:pt x="0" y="606406"/>
                </a:cubicBezTo>
                <a:lnTo>
                  <a:pt x="0" y="67379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32688" tIns="118794" rIns="91440" bIns="118794" numCol="1" spcCol="1270" rtlCol="1" anchor="ctr" anchorCtr="0">
            <a:noAutofit/>
          </a:bodyPr>
          <a:lstStyle/>
          <a:p>
            <a:pPr marL="0" lvl="0" indent="0" algn="ctr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التي يجب مراعاتها عند اختيار أسلوب القيادة</a:t>
            </a:r>
            <a:endParaRPr lang="en-US" sz="2600" b="1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34AAA4-1B62-A57A-FD01-C1B95F583E34}"/>
              </a:ext>
            </a:extLst>
          </p:cNvPr>
          <p:cNvSpPr/>
          <p:nvPr/>
        </p:nvSpPr>
        <p:spPr>
          <a:xfrm>
            <a:off x="1619687" y="2397332"/>
            <a:ext cx="6597297" cy="673785"/>
          </a:xfrm>
          <a:custGeom>
            <a:avLst/>
            <a:gdLst>
              <a:gd name="connsiteX0" fmla="*/ 0 w 6597297"/>
              <a:gd name="connsiteY0" fmla="*/ 67379 h 673785"/>
              <a:gd name="connsiteX1" fmla="*/ 67379 w 6597297"/>
              <a:gd name="connsiteY1" fmla="*/ 0 h 673785"/>
              <a:gd name="connsiteX2" fmla="*/ 6529919 w 6597297"/>
              <a:gd name="connsiteY2" fmla="*/ 0 h 673785"/>
              <a:gd name="connsiteX3" fmla="*/ 6597298 w 6597297"/>
              <a:gd name="connsiteY3" fmla="*/ 67379 h 673785"/>
              <a:gd name="connsiteX4" fmla="*/ 6597297 w 6597297"/>
              <a:gd name="connsiteY4" fmla="*/ 606407 h 673785"/>
              <a:gd name="connsiteX5" fmla="*/ 6529918 w 6597297"/>
              <a:gd name="connsiteY5" fmla="*/ 673786 h 673785"/>
              <a:gd name="connsiteX6" fmla="*/ 67379 w 6597297"/>
              <a:gd name="connsiteY6" fmla="*/ 673785 h 673785"/>
              <a:gd name="connsiteX7" fmla="*/ 0 w 6597297"/>
              <a:gd name="connsiteY7" fmla="*/ 606406 h 673785"/>
              <a:gd name="connsiteX8" fmla="*/ 0 w 6597297"/>
              <a:gd name="connsiteY8" fmla="*/ 67379 h 67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97297" h="673785">
                <a:moveTo>
                  <a:pt x="0" y="67379"/>
                </a:moveTo>
                <a:cubicBezTo>
                  <a:pt x="0" y="30167"/>
                  <a:pt x="30167" y="0"/>
                  <a:pt x="67379" y="0"/>
                </a:cubicBezTo>
                <a:lnTo>
                  <a:pt x="6529919" y="0"/>
                </a:lnTo>
                <a:cubicBezTo>
                  <a:pt x="6567131" y="0"/>
                  <a:pt x="6597298" y="30167"/>
                  <a:pt x="6597298" y="67379"/>
                </a:cubicBezTo>
                <a:cubicBezTo>
                  <a:pt x="6597298" y="247055"/>
                  <a:pt x="6597297" y="426731"/>
                  <a:pt x="6597297" y="606407"/>
                </a:cubicBezTo>
                <a:cubicBezTo>
                  <a:pt x="6597297" y="643619"/>
                  <a:pt x="6567130" y="673786"/>
                  <a:pt x="6529918" y="673786"/>
                </a:cubicBezTo>
                <a:lnTo>
                  <a:pt x="67379" y="673785"/>
                </a:lnTo>
                <a:cubicBezTo>
                  <a:pt x="30167" y="673785"/>
                  <a:pt x="0" y="643618"/>
                  <a:pt x="0" y="606406"/>
                </a:cubicBezTo>
                <a:lnTo>
                  <a:pt x="0" y="67379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794" tIns="118794" rIns="118872" bIns="118794" numCol="1" spcCol="1270" rtlCol="1" anchor="ctr" anchorCtr="0">
            <a:noAutofit/>
          </a:bodyPr>
          <a:lstStyle/>
          <a:p>
            <a:pPr marL="0" lvl="0" indent="0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نوع النشاط المُنفّذ</a:t>
            </a:r>
            <a:endParaRPr lang="en-US" sz="2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A6602E-2F4C-36E5-15C2-5C9CA3CCCB0E}"/>
              </a:ext>
            </a:extLst>
          </p:cNvPr>
          <p:cNvSpPr/>
          <p:nvPr/>
        </p:nvSpPr>
        <p:spPr>
          <a:xfrm>
            <a:off x="1115625" y="3164698"/>
            <a:ext cx="6659017" cy="673785"/>
          </a:xfrm>
          <a:custGeom>
            <a:avLst/>
            <a:gdLst>
              <a:gd name="connsiteX0" fmla="*/ 0 w 6659017"/>
              <a:gd name="connsiteY0" fmla="*/ 67379 h 673785"/>
              <a:gd name="connsiteX1" fmla="*/ 67379 w 6659017"/>
              <a:gd name="connsiteY1" fmla="*/ 0 h 673785"/>
              <a:gd name="connsiteX2" fmla="*/ 6591639 w 6659017"/>
              <a:gd name="connsiteY2" fmla="*/ 0 h 673785"/>
              <a:gd name="connsiteX3" fmla="*/ 6659018 w 6659017"/>
              <a:gd name="connsiteY3" fmla="*/ 67379 h 673785"/>
              <a:gd name="connsiteX4" fmla="*/ 6659017 w 6659017"/>
              <a:gd name="connsiteY4" fmla="*/ 606407 h 673785"/>
              <a:gd name="connsiteX5" fmla="*/ 6591638 w 6659017"/>
              <a:gd name="connsiteY5" fmla="*/ 673786 h 673785"/>
              <a:gd name="connsiteX6" fmla="*/ 67379 w 6659017"/>
              <a:gd name="connsiteY6" fmla="*/ 673785 h 673785"/>
              <a:gd name="connsiteX7" fmla="*/ 0 w 6659017"/>
              <a:gd name="connsiteY7" fmla="*/ 606406 h 673785"/>
              <a:gd name="connsiteX8" fmla="*/ 0 w 6659017"/>
              <a:gd name="connsiteY8" fmla="*/ 67379 h 67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659017" h="673785">
                <a:moveTo>
                  <a:pt x="0" y="67379"/>
                </a:moveTo>
                <a:cubicBezTo>
                  <a:pt x="0" y="30167"/>
                  <a:pt x="30167" y="0"/>
                  <a:pt x="67379" y="0"/>
                </a:cubicBezTo>
                <a:lnTo>
                  <a:pt x="6591639" y="0"/>
                </a:lnTo>
                <a:cubicBezTo>
                  <a:pt x="6628851" y="0"/>
                  <a:pt x="6659018" y="30167"/>
                  <a:pt x="6659018" y="67379"/>
                </a:cubicBezTo>
                <a:cubicBezTo>
                  <a:pt x="6659018" y="247055"/>
                  <a:pt x="6659017" y="426731"/>
                  <a:pt x="6659017" y="606407"/>
                </a:cubicBezTo>
                <a:cubicBezTo>
                  <a:pt x="6659017" y="643619"/>
                  <a:pt x="6628850" y="673786"/>
                  <a:pt x="6591638" y="673786"/>
                </a:cubicBezTo>
                <a:lnTo>
                  <a:pt x="67379" y="673785"/>
                </a:lnTo>
                <a:cubicBezTo>
                  <a:pt x="30167" y="673785"/>
                  <a:pt x="0" y="643618"/>
                  <a:pt x="0" y="606406"/>
                </a:cubicBezTo>
                <a:lnTo>
                  <a:pt x="0" y="67379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794" tIns="118794" rIns="118872" bIns="118794" numCol="1" spcCol="1270" rtlCol="1" anchor="ctr" anchorCtr="0">
            <a:noAutofit/>
          </a:bodyPr>
          <a:lstStyle/>
          <a:p>
            <a:pPr marL="0" lvl="0" indent="0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ومستوى الخبرة لدى المجموعة</a:t>
            </a:r>
            <a:endParaRPr lang="en-US" sz="2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145C59-A45E-DE69-5665-5DA0BC040470}"/>
              </a:ext>
            </a:extLst>
          </p:cNvPr>
          <p:cNvSpPr/>
          <p:nvPr/>
        </p:nvSpPr>
        <p:spPr>
          <a:xfrm>
            <a:off x="683581" y="3932064"/>
            <a:ext cx="6576702" cy="673785"/>
          </a:xfrm>
          <a:custGeom>
            <a:avLst/>
            <a:gdLst>
              <a:gd name="connsiteX0" fmla="*/ 0 w 6576702"/>
              <a:gd name="connsiteY0" fmla="*/ 67379 h 673785"/>
              <a:gd name="connsiteX1" fmla="*/ 67379 w 6576702"/>
              <a:gd name="connsiteY1" fmla="*/ 0 h 673785"/>
              <a:gd name="connsiteX2" fmla="*/ 6509324 w 6576702"/>
              <a:gd name="connsiteY2" fmla="*/ 0 h 673785"/>
              <a:gd name="connsiteX3" fmla="*/ 6576703 w 6576702"/>
              <a:gd name="connsiteY3" fmla="*/ 67379 h 673785"/>
              <a:gd name="connsiteX4" fmla="*/ 6576702 w 6576702"/>
              <a:gd name="connsiteY4" fmla="*/ 606407 h 673785"/>
              <a:gd name="connsiteX5" fmla="*/ 6509323 w 6576702"/>
              <a:gd name="connsiteY5" fmla="*/ 673786 h 673785"/>
              <a:gd name="connsiteX6" fmla="*/ 67379 w 6576702"/>
              <a:gd name="connsiteY6" fmla="*/ 673785 h 673785"/>
              <a:gd name="connsiteX7" fmla="*/ 0 w 6576702"/>
              <a:gd name="connsiteY7" fmla="*/ 606406 h 673785"/>
              <a:gd name="connsiteX8" fmla="*/ 0 w 6576702"/>
              <a:gd name="connsiteY8" fmla="*/ 67379 h 67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76702" h="673785">
                <a:moveTo>
                  <a:pt x="0" y="67379"/>
                </a:moveTo>
                <a:cubicBezTo>
                  <a:pt x="0" y="30167"/>
                  <a:pt x="30167" y="0"/>
                  <a:pt x="67379" y="0"/>
                </a:cubicBezTo>
                <a:lnTo>
                  <a:pt x="6509324" y="0"/>
                </a:lnTo>
                <a:cubicBezTo>
                  <a:pt x="6546536" y="0"/>
                  <a:pt x="6576703" y="30167"/>
                  <a:pt x="6576703" y="67379"/>
                </a:cubicBezTo>
                <a:cubicBezTo>
                  <a:pt x="6576703" y="247055"/>
                  <a:pt x="6576702" y="426731"/>
                  <a:pt x="6576702" y="606407"/>
                </a:cubicBezTo>
                <a:cubicBezTo>
                  <a:pt x="6576702" y="643619"/>
                  <a:pt x="6546535" y="673786"/>
                  <a:pt x="6509323" y="673786"/>
                </a:cubicBezTo>
                <a:lnTo>
                  <a:pt x="67379" y="673785"/>
                </a:lnTo>
                <a:cubicBezTo>
                  <a:pt x="30167" y="673785"/>
                  <a:pt x="0" y="643618"/>
                  <a:pt x="0" y="606406"/>
                </a:cubicBezTo>
                <a:lnTo>
                  <a:pt x="0" y="67379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794" tIns="118794" rIns="118872" bIns="118794" numCol="1" spcCol="1270" rtlCol="1" anchor="ctr" anchorCtr="0">
            <a:noAutofit/>
          </a:bodyPr>
          <a:lstStyle/>
          <a:p>
            <a:pPr marL="0" lvl="0" indent="0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سن المشاركين وعددهم وبياناتهم الصحية</a:t>
            </a:r>
            <a:endParaRPr lang="en-US" sz="2600" kern="1200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AD7D04E-4FA9-AFA0-2AF8-983C50F6736D}"/>
              </a:ext>
            </a:extLst>
          </p:cNvPr>
          <p:cNvSpPr/>
          <p:nvPr/>
        </p:nvSpPr>
        <p:spPr>
          <a:xfrm flipH="1">
            <a:off x="330333" y="4699431"/>
            <a:ext cx="6336792" cy="673785"/>
          </a:xfrm>
          <a:custGeom>
            <a:avLst/>
            <a:gdLst>
              <a:gd name="connsiteX0" fmla="*/ 0 w 6336792"/>
              <a:gd name="connsiteY0" fmla="*/ 67379 h 673785"/>
              <a:gd name="connsiteX1" fmla="*/ 67379 w 6336792"/>
              <a:gd name="connsiteY1" fmla="*/ 0 h 673785"/>
              <a:gd name="connsiteX2" fmla="*/ 6269414 w 6336792"/>
              <a:gd name="connsiteY2" fmla="*/ 0 h 673785"/>
              <a:gd name="connsiteX3" fmla="*/ 6336793 w 6336792"/>
              <a:gd name="connsiteY3" fmla="*/ 67379 h 673785"/>
              <a:gd name="connsiteX4" fmla="*/ 6336792 w 6336792"/>
              <a:gd name="connsiteY4" fmla="*/ 606407 h 673785"/>
              <a:gd name="connsiteX5" fmla="*/ 6269413 w 6336792"/>
              <a:gd name="connsiteY5" fmla="*/ 673786 h 673785"/>
              <a:gd name="connsiteX6" fmla="*/ 67379 w 6336792"/>
              <a:gd name="connsiteY6" fmla="*/ 673785 h 673785"/>
              <a:gd name="connsiteX7" fmla="*/ 0 w 6336792"/>
              <a:gd name="connsiteY7" fmla="*/ 606406 h 673785"/>
              <a:gd name="connsiteX8" fmla="*/ 0 w 6336792"/>
              <a:gd name="connsiteY8" fmla="*/ 67379 h 673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36792" h="673785">
                <a:moveTo>
                  <a:pt x="0" y="67379"/>
                </a:moveTo>
                <a:cubicBezTo>
                  <a:pt x="0" y="30167"/>
                  <a:pt x="30167" y="0"/>
                  <a:pt x="67379" y="0"/>
                </a:cubicBezTo>
                <a:lnTo>
                  <a:pt x="6269414" y="0"/>
                </a:lnTo>
                <a:cubicBezTo>
                  <a:pt x="6306626" y="0"/>
                  <a:pt x="6336793" y="30167"/>
                  <a:pt x="6336793" y="67379"/>
                </a:cubicBezTo>
                <a:cubicBezTo>
                  <a:pt x="6336793" y="247055"/>
                  <a:pt x="6336792" y="426731"/>
                  <a:pt x="6336792" y="606407"/>
                </a:cubicBezTo>
                <a:cubicBezTo>
                  <a:pt x="6336792" y="643619"/>
                  <a:pt x="6306625" y="673786"/>
                  <a:pt x="6269413" y="673786"/>
                </a:cubicBezTo>
                <a:lnTo>
                  <a:pt x="67379" y="673785"/>
                </a:lnTo>
                <a:cubicBezTo>
                  <a:pt x="30167" y="673785"/>
                  <a:pt x="0" y="643618"/>
                  <a:pt x="0" y="606406"/>
                </a:cubicBezTo>
                <a:lnTo>
                  <a:pt x="0" y="67379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8794" tIns="118794" rIns="118872" bIns="118794" numCol="1" spcCol="1270" rtlCol="1" anchor="ctr" anchorCtr="0">
            <a:noAutofit/>
          </a:bodyPr>
          <a:lstStyle/>
          <a:p>
            <a:pPr lvl="0" defTabSz="11557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6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متطلبات السلامة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930C53A-5EF3-358D-14F7-61F50AAD1857}"/>
              </a:ext>
            </a:extLst>
          </p:cNvPr>
          <p:cNvSpPr/>
          <p:nvPr/>
        </p:nvSpPr>
        <p:spPr>
          <a:xfrm>
            <a:off x="2223141" y="2122203"/>
            <a:ext cx="437960" cy="437960"/>
          </a:xfrm>
          <a:custGeom>
            <a:avLst/>
            <a:gdLst>
              <a:gd name="connsiteX0" fmla="*/ 0 w 437960"/>
              <a:gd name="connsiteY0" fmla="*/ 240878 h 437960"/>
              <a:gd name="connsiteX1" fmla="*/ 98541 w 437960"/>
              <a:gd name="connsiteY1" fmla="*/ 240878 h 437960"/>
              <a:gd name="connsiteX2" fmla="*/ 98541 w 437960"/>
              <a:gd name="connsiteY2" fmla="*/ 0 h 437960"/>
              <a:gd name="connsiteX3" fmla="*/ 339419 w 437960"/>
              <a:gd name="connsiteY3" fmla="*/ 0 h 437960"/>
              <a:gd name="connsiteX4" fmla="*/ 339419 w 437960"/>
              <a:gd name="connsiteY4" fmla="*/ 240878 h 437960"/>
              <a:gd name="connsiteX5" fmla="*/ 437960 w 437960"/>
              <a:gd name="connsiteY5" fmla="*/ 240878 h 437960"/>
              <a:gd name="connsiteX6" fmla="*/ 218980 w 437960"/>
              <a:gd name="connsiteY6" fmla="*/ 437960 h 437960"/>
              <a:gd name="connsiteX7" fmla="*/ 0 w 437960"/>
              <a:gd name="connsiteY7" fmla="*/ 240878 h 43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960" h="437960">
                <a:moveTo>
                  <a:pt x="0" y="240878"/>
                </a:moveTo>
                <a:lnTo>
                  <a:pt x="98541" y="240878"/>
                </a:lnTo>
                <a:lnTo>
                  <a:pt x="98541" y="0"/>
                </a:lnTo>
                <a:lnTo>
                  <a:pt x="339419" y="0"/>
                </a:lnTo>
                <a:lnTo>
                  <a:pt x="339419" y="240878"/>
                </a:lnTo>
                <a:lnTo>
                  <a:pt x="437960" y="240878"/>
                </a:lnTo>
                <a:lnTo>
                  <a:pt x="218980" y="437960"/>
                </a:lnTo>
                <a:lnTo>
                  <a:pt x="0" y="2408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941" tIns="25400" rIns="123941" bIns="133795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42DF393-913C-BF41-67CD-248A3A26F487}"/>
              </a:ext>
            </a:extLst>
          </p:cNvPr>
          <p:cNvSpPr/>
          <p:nvPr/>
        </p:nvSpPr>
        <p:spPr>
          <a:xfrm>
            <a:off x="1749939" y="2889569"/>
            <a:ext cx="437960" cy="437960"/>
          </a:xfrm>
          <a:custGeom>
            <a:avLst/>
            <a:gdLst>
              <a:gd name="connsiteX0" fmla="*/ 0 w 437960"/>
              <a:gd name="connsiteY0" fmla="*/ 240878 h 437960"/>
              <a:gd name="connsiteX1" fmla="*/ 98541 w 437960"/>
              <a:gd name="connsiteY1" fmla="*/ 240878 h 437960"/>
              <a:gd name="connsiteX2" fmla="*/ 98541 w 437960"/>
              <a:gd name="connsiteY2" fmla="*/ 0 h 437960"/>
              <a:gd name="connsiteX3" fmla="*/ 339419 w 437960"/>
              <a:gd name="connsiteY3" fmla="*/ 0 h 437960"/>
              <a:gd name="connsiteX4" fmla="*/ 339419 w 437960"/>
              <a:gd name="connsiteY4" fmla="*/ 240878 h 437960"/>
              <a:gd name="connsiteX5" fmla="*/ 437960 w 437960"/>
              <a:gd name="connsiteY5" fmla="*/ 240878 h 437960"/>
              <a:gd name="connsiteX6" fmla="*/ 218980 w 437960"/>
              <a:gd name="connsiteY6" fmla="*/ 437960 h 437960"/>
              <a:gd name="connsiteX7" fmla="*/ 0 w 437960"/>
              <a:gd name="connsiteY7" fmla="*/ 240878 h 43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960" h="437960">
                <a:moveTo>
                  <a:pt x="0" y="240878"/>
                </a:moveTo>
                <a:lnTo>
                  <a:pt x="98541" y="240878"/>
                </a:lnTo>
                <a:lnTo>
                  <a:pt x="98541" y="0"/>
                </a:lnTo>
                <a:lnTo>
                  <a:pt x="339419" y="0"/>
                </a:lnTo>
                <a:lnTo>
                  <a:pt x="339419" y="240878"/>
                </a:lnTo>
                <a:lnTo>
                  <a:pt x="437960" y="240878"/>
                </a:lnTo>
                <a:lnTo>
                  <a:pt x="218980" y="437960"/>
                </a:lnTo>
                <a:lnTo>
                  <a:pt x="0" y="2408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941" tIns="25400" rIns="123941" bIns="133795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3F7DEC-5AF6-44BD-0032-9EEE653064D7}"/>
              </a:ext>
            </a:extLst>
          </p:cNvPr>
          <p:cNvSpPr/>
          <p:nvPr/>
        </p:nvSpPr>
        <p:spPr>
          <a:xfrm>
            <a:off x="1276737" y="3645706"/>
            <a:ext cx="437960" cy="437960"/>
          </a:xfrm>
          <a:custGeom>
            <a:avLst/>
            <a:gdLst>
              <a:gd name="connsiteX0" fmla="*/ 0 w 437960"/>
              <a:gd name="connsiteY0" fmla="*/ 240878 h 437960"/>
              <a:gd name="connsiteX1" fmla="*/ 98541 w 437960"/>
              <a:gd name="connsiteY1" fmla="*/ 240878 h 437960"/>
              <a:gd name="connsiteX2" fmla="*/ 98541 w 437960"/>
              <a:gd name="connsiteY2" fmla="*/ 0 h 437960"/>
              <a:gd name="connsiteX3" fmla="*/ 339419 w 437960"/>
              <a:gd name="connsiteY3" fmla="*/ 0 h 437960"/>
              <a:gd name="connsiteX4" fmla="*/ 339419 w 437960"/>
              <a:gd name="connsiteY4" fmla="*/ 240878 h 437960"/>
              <a:gd name="connsiteX5" fmla="*/ 437960 w 437960"/>
              <a:gd name="connsiteY5" fmla="*/ 240878 h 437960"/>
              <a:gd name="connsiteX6" fmla="*/ 218980 w 437960"/>
              <a:gd name="connsiteY6" fmla="*/ 437960 h 437960"/>
              <a:gd name="connsiteX7" fmla="*/ 0 w 437960"/>
              <a:gd name="connsiteY7" fmla="*/ 240878 h 43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960" h="437960">
                <a:moveTo>
                  <a:pt x="0" y="240878"/>
                </a:moveTo>
                <a:lnTo>
                  <a:pt x="98541" y="240878"/>
                </a:lnTo>
                <a:lnTo>
                  <a:pt x="98541" y="0"/>
                </a:lnTo>
                <a:lnTo>
                  <a:pt x="339419" y="0"/>
                </a:lnTo>
                <a:lnTo>
                  <a:pt x="339419" y="240878"/>
                </a:lnTo>
                <a:lnTo>
                  <a:pt x="437960" y="240878"/>
                </a:lnTo>
                <a:lnTo>
                  <a:pt x="218980" y="437960"/>
                </a:lnTo>
                <a:lnTo>
                  <a:pt x="0" y="2408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941" tIns="25400" rIns="123941" bIns="133795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0CA092-DCA8-E24E-8478-01522606F914}"/>
              </a:ext>
            </a:extLst>
          </p:cNvPr>
          <p:cNvSpPr/>
          <p:nvPr/>
        </p:nvSpPr>
        <p:spPr>
          <a:xfrm>
            <a:off x="803535" y="4420558"/>
            <a:ext cx="437960" cy="437960"/>
          </a:xfrm>
          <a:custGeom>
            <a:avLst/>
            <a:gdLst>
              <a:gd name="connsiteX0" fmla="*/ 0 w 437960"/>
              <a:gd name="connsiteY0" fmla="*/ 240878 h 437960"/>
              <a:gd name="connsiteX1" fmla="*/ 98541 w 437960"/>
              <a:gd name="connsiteY1" fmla="*/ 240878 h 437960"/>
              <a:gd name="connsiteX2" fmla="*/ 98541 w 437960"/>
              <a:gd name="connsiteY2" fmla="*/ 0 h 437960"/>
              <a:gd name="connsiteX3" fmla="*/ 339419 w 437960"/>
              <a:gd name="connsiteY3" fmla="*/ 0 h 437960"/>
              <a:gd name="connsiteX4" fmla="*/ 339419 w 437960"/>
              <a:gd name="connsiteY4" fmla="*/ 240878 h 437960"/>
              <a:gd name="connsiteX5" fmla="*/ 437960 w 437960"/>
              <a:gd name="connsiteY5" fmla="*/ 240878 h 437960"/>
              <a:gd name="connsiteX6" fmla="*/ 218980 w 437960"/>
              <a:gd name="connsiteY6" fmla="*/ 437960 h 437960"/>
              <a:gd name="connsiteX7" fmla="*/ 0 w 437960"/>
              <a:gd name="connsiteY7" fmla="*/ 240878 h 43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960" h="437960">
                <a:moveTo>
                  <a:pt x="0" y="240878"/>
                </a:moveTo>
                <a:lnTo>
                  <a:pt x="98541" y="240878"/>
                </a:lnTo>
                <a:lnTo>
                  <a:pt x="98541" y="0"/>
                </a:lnTo>
                <a:lnTo>
                  <a:pt x="339419" y="0"/>
                </a:lnTo>
                <a:lnTo>
                  <a:pt x="339419" y="240878"/>
                </a:lnTo>
                <a:lnTo>
                  <a:pt x="437960" y="240878"/>
                </a:lnTo>
                <a:lnTo>
                  <a:pt x="218980" y="437960"/>
                </a:lnTo>
                <a:lnTo>
                  <a:pt x="0" y="240878"/>
                </a:ln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3941" tIns="25400" rIns="123941" bIns="133795" numCol="1" spcCol="1270" rtlCol="1" anchor="ctr" anchorCtr="0">
            <a:noAutofit/>
          </a:bodyPr>
          <a:lstStyle/>
          <a:p>
            <a:pPr marL="0" lvl="0" indent="0" algn="ctr" defTabSz="8890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kern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B5AE08E-2C29-121D-02AC-AE94FCD6DF56}"/>
              </a:ext>
            </a:extLst>
          </p:cNvPr>
          <p:cNvGrpSpPr/>
          <p:nvPr/>
        </p:nvGrpSpPr>
        <p:grpSpPr>
          <a:xfrm flipH="1">
            <a:off x="255709" y="5662800"/>
            <a:ext cx="8403632" cy="855918"/>
            <a:chOff x="0" y="209117"/>
            <a:chExt cx="2681582" cy="14070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F6C7B6-48EA-71AF-2A73-1E0B5C151E9A}"/>
                </a:ext>
              </a:extLst>
            </p:cNvPr>
            <p:cNvSpPr/>
            <p:nvPr/>
          </p:nvSpPr>
          <p:spPr>
            <a:xfrm>
              <a:off x="0" y="209117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6EDF693-7065-8678-FA05-AA1F86DBEFEC}"/>
                </a:ext>
              </a:extLst>
            </p:cNvPr>
            <p:cNvSpPr txBox="1"/>
            <p:nvPr/>
          </p:nvSpPr>
          <p:spPr>
            <a:xfrm>
              <a:off x="49766" y="459696"/>
              <a:ext cx="2631816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lvl="0" rtl="1"/>
              <a:r>
                <a:rPr lang="ar" b="1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مناقشة: </a:t>
              </a: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تؤثر العوامل الموضّحة في اختيار أسلوب القيادة المناسب عند قيادة نشاط رياضي؟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C01371A-E994-44A6-BCD8-79F1E9D93916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901319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9CF188DF-F6D2-9260-F791-502DE7DE3814}"/>
              </a:ext>
            </a:extLst>
          </p:cNvPr>
          <p:cNvSpPr txBox="1">
            <a:spLocks/>
          </p:cNvSpPr>
          <p:nvPr/>
        </p:nvSpPr>
        <p:spPr bwMode="auto">
          <a:xfrm>
            <a:off x="324345" y="1052736"/>
            <a:ext cx="8457346" cy="5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ب2 تطوير أسلوب قيادة فعّال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4BE60C0-64FD-7492-310E-D54127860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5952" y="1700808"/>
            <a:ext cx="3008313" cy="720080"/>
          </a:xfrm>
        </p:spPr>
        <p:txBody>
          <a:bodyPr rtlCol="1"/>
          <a:lstStyle/>
          <a:p>
            <a:pPr algn="ctr"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تطوير المهارات القيادية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32C2423-B715-731B-A753-24BE375BAA67}"/>
              </a:ext>
            </a:extLst>
          </p:cNvPr>
          <p:cNvSpPr/>
          <p:nvPr/>
        </p:nvSpPr>
        <p:spPr>
          <a:xfrm>
            <a:off x="324344" y="1756468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 descr="Chat">
            <a:extLst>
              <a:ext uri="{FF2B5EF4-FFF2-40B4-BE49-F238E27FC236}">
                <a16:creationId xmlns:a16="http://schemas.microsoft.com/office/drawing/2014/main" id="{E17C8145-56AF-CDF1-8A6C-359F6FF14C21}"/>
              </a:ext>
            </a:extLst>
          </p:cNvPr>
          <p:cNvSpPr/>
          <p:nvPr/>
        </p:nvSpPr>
        <p:spPr>
          <a:xfrm>
            <a:off x="4757234" y="1935640"/>
            <a:ext cx="437975" cy="43797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1AAA660-D6F8-4612-AB9A-5F7DECB233BF}"/>
              </a:ext>
            </a:extLst>
          </p:cNvPr>
          <p:cNvSpPr/>
          <p:nvPr/>
        </p:nvSpPr>
        <p:spPr>
          <a:xfrm>
            <a:off x="324345" y="1756468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kern="1200">
                <a:latin typeface="Arial" panose="020B0604020202020204" pitchFamily="34" charset="0"/>
                <a:cs typeface="Arial" panose="020B0604020202020204" pitchFamily="34" charset="0"/>
              </a:rPr>
              <a:t>مهارات التواصل وتقنياته اللازمة لإدارة المجموعة.</a:t>
            </a:r>
            <a:endParaRPr lang="en-US" sz="19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E62F01-4A8D-3105-DBF7-D5C1B49C8062}"/>
              </a:ext>
            </a:extLst>
          </p:cNvPr>
          <p:cNvSpPr/>
          <p:nvPr/>
        </p:nvSpPr>
        <p:spPr>
          <a:xfrm>
            <a:off x="324344" y="2751868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 descr="Teacher">
            <a:extLst>
              <a:ext uri="{FF2B5EF4-FFF2-40B4-BE49-F238E27FC236}">
                <a16:creationId xmlns:a16="http://schemas.microsoft.com/office/drawing/2014/main" id="{9F0D5085-73EB-A0A5-ADBF-7ACAC041613A}"/>
              </a:ext>
            </a:extLst>
          </p:cNvPr>
          <p:cNvSpPr/>
          <p:nvPr/>
        </p:nvSpPr>
        <p:spPr>
          <a:xfrm>
            <a:off x="4757234" y="2931040"/>
            <a:ext cx="437975" cy="437975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304A61-0DC3-D66A-0AD9-664C275000AB}"/>
              </a:ext>
            </a:extLst>
          </p:cNvPr>
          <p:cNvSpPr/>
          <p:nvPr/>
        </p:nvSpPr>
        <p:spPr>
          <a:xfrm>
            <a:off x="324345" y="2751868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kern="1200" dirty="0">
                <a:latin typeface="Arial" panose="020B0604020202020204" pitchFamily="34" charset="0"/>
                <a:cs typeface="Arial" panose="020B0604020202020204" pitchFamily="34" charset="0"/>
              </a:rPr>
              <a:t>التعليمات الفعاّلة وإيصال المحتوى</a:t>
            </a:r>
            <a:endParaRPr lang="en-US" sz="19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DFF7F0-70BC-673C-8BC3-D943600D4F7D}"/>
              </a:ext>
            </a:extLst>
          </p:cNvPr>
          <p:cNvSpPr/>
          <p:nvPr/>
        </p:nvSpPr>
        <p:spPr>
          <a:xfrm>
            <a:off x="324344" y="3747267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Marker">
            <a:extLst>
              <a:ext uri="{FF2B5EF4-FFF2-40B4-BE49-F238E27FC236}">
                <a16:creationId xmlns:a16="http://schemas.microsoft.com/office/drawing/2014/main" id="{5785150C-1E5B-9046-C4D8-299758439714}"/>
              </a:ext>
            </a:extLst>
          </p:cNvPr>
          <p:cNvSpPr/>
          <p:nvPr/>
        </p:nvSpPr>
        <p:spPr>
          <a:xfrm>
            <a:off x="4757234" y="3926439"/>
            <a:ext cx="437975" cy="437975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78667EE-CE13-F859-0071-C9034936BDD1}"/>
              </a:ext>
            </a:extLst>
          </p:cNvPr>
          <p:cNvSpPr/>
          <p:nvPr/>
        </p:nvSpPr>
        <p:spPr>
          <a:xfrm>
            <a:off x="324345" y="3747267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kern="1200" dirty="0">
                <a:latin typeface="Arial" panose="020B0604020202020204" pitchFamily="34" charset="0"/>
                <a:cs typeface="Arial" panose="020B0604020202020204" pitchFamily="34" charset="0"/>
              </a:rPr>
              <a:t>اختيار الموضع عند قيادة المجموعة</a:t>
            </a:r>
            <a:endParaRPr lang="en-US" sz="19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0DC53A-B4CA-A1BA-9880-B5EC908BF712}"/>
              </a:ext>
            </a:extLst>
          </p:cNvPr>
          <p:cNvSpPr/>
          <p:nvPr/>
        </p:nvSpPr>
        <p:spPr>
          <a:xfrm>
            <a:off x="324344" y="4742667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 descr="Children with solid fill">
            <a:extLst>
              <a:ext uri="{FF2B5EF4-FFF2-40B4-BE49-F238E27FC236}">
                <a16:creationId xmlns:a16="http://schemas.microsoft.com/office/drawing/2014/main" id="{E13A46BC-6022-E143-A185-273DF2997949}"/>
              </a:ext>
            </a:extLst>
          </p:cNvPr>
          <p:cNvSpPr/>
          <p:nvPr/>
        </p:nvSpPr>
        <p:spPr>
          <a:xfrm>
            <a:off x="4757234" y="4921839"/>
            <a:ext cx="437975" cy="437975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1A57D9F-1CD7-9BCB-E976-A15F819C08FB}"/>
              </a:ext>
            </a:extLst>
          </p:cNvPr>
          <p:cNvSpPr/>
          <p:nvPr/>
        </p:nvSpPr>
        <p:spPr>
          <a:xfrm>
            <a:off x="324345" y="4742667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kern="1200">
                <a:latin typeface="Arial" panose="020B0604020202020204" pitchFamily="34" charset="0"/>
                <a:cs typeface="Arial" panose="020B0604020202020204" pitchFamily="34" charset="0"/>
              </a:rPr>
              <a:t>بناء علاقات ودّية مع المشاركين وتحفيزهم</a:t>
            </a:r>
            <a:endParaRPr lang="en-US" sz="19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4F48799-0239-A13E-2949-A071D522FFCA}"/>
              </a:ext>
            </a:extLst>
          </p:cNvPr>
          <p:cNvSpPr/>
          <p:nvPr/>
        </p:nvSpPr>
        <p:spPr>
          <a:xfrm>
            <a:off x="324344" y="5738066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 descr="Customer Review">
            <a:extLst>
              <a:ext uri="{FF2B5EF4-FFF2-40B4-BE49-F238E27FC236}">
                <a16:creationId xmlns:a16="http://schemas.microsoft.com/office/drawing/2014/main" id="{91BE09E8-8FFF-E106-E062-EFEFB5F532C7}"/>
              </a:ext>
            </a:extLst>
          </p:cNvPr>
          <p:cNvSpPr/>
          <p:nvPr/>
        </p:nvSpPr>
        <p:spPr>
          <a:xfrm>
            <a:off x="4757234" y="5917238"/>
            <a:ext cx="437975" cy="437975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67CCC6F-5FD8-C87E-A7D0-C843101A15B1}"/>
              </a:ext>
            </a:extLst>
          </p:cNvPr>
          <p:cNvSpPr/>
          <p:nvPr/>
        </p:nvSpPr>
        <p:spPr>
          <a:xfrm>
            <a:off x="324345" y="5738066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kern="1200">
                <a:latin typeface="Arial" panose="020B0604020202020204" pitchFamily="34" charset="0"/>
                <a:cs typeface="Arial" panose="020B0604020202020204" pitchFamily="34" charset="0"/>
              </a:rPr>
              <a:t>تقديم التعليقات المجدية</a:t>
            </a:r>
            <a:endParaRPr lang="en-US" sz="19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6F5DD8-B551-993A-A32D-57A09343446F}"/>
              </a:ext>
            </a:extLst>
          </p:cNvPr>
          <p:cNvGrpSpPr/>
          <p:nvPr/>
        </p:nvGrpSpPr>
        <p:grpSpPr>
          <a:xfrm flipH="1">
            <a:off x="5655953" y="2480842"/>
            <a:ext cx="3008312" cy="3984550"/>
            <a:chOff x="0" y="177288"/>
            <a:chExt cx="2731348" cy="140702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5BBD3C-7902-70A9-416B-433EDD08B0D7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B14308-93EC-6105-F841-A6FB01F5E625}"/>
                </a:ext>
              </a:extLst>
            </p:cNvPr>
            <p:cNvSpPr txBox="1"/>
            <p:nvPr/>
          </p:nvSpPr>
          <p:spPr>
            <a:xfrm>
              <a:off x="49766" y="332242"/>
              <a:ext cx="2681582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lvl="0" rtl="1"/>
              <a:r>
                <a:rPr lang="ar" b="1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lvl="0" rtl="1"/>
              <a:r>
                <a:rPr lang="ar" b="1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</a:p>
            <a:p>
              <a:pPr lvl="0" rtl="1"/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تخيّل أنك تقود وحدة رياضية لمجموعة من اللاعبين الجدد في تنس الطاولة تتراوح أعمارهم بين 10 و12 عامًا.</a:t>
              </a:r>
            </a:p>
            <a:p>
              <a:pPr lvl="0" rtl="1"/>
              <a:endParaRPr lang="en-GB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lvl="0" rtl="1"/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ناقش كيف يمكنك استخدام المهارات الموضحة في هذه القائمة لجعل الوحدة ناجحة</a:t>
              </a:r>
            </a:p>
            <a:p>
              <a:pPr lvl="0" rtl="1"/>
              <a:endParaRPr lang="en-GB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F85AA57-E6D7-3A98-78A3-5B01CAB4B6D7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7144605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FA54C-DC3F-1F91-DCE6-61D2676C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B4C3424-0510-A409-043F-9FC38C71C397}"/>
              </a:ext>
            </a:extLst>
          </p:cNvPr>
          <p:cNvSpPr txBox="1">
            <a:spLocks/>
          </p:cNvSpPr>
          <p:nvPr/>
        </p:nvSpPr>
        <p:spPr bwMode="auto">
          <a:xfrm>
            <a:off x="343327" y="1135818"/>
            <a:ext cx="8457346" cy="50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ب2 تطوير أسلوب قيادة فعّال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8CD8FD6-6423-D342-F1AD-6172A2796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011" y="2014238"/>
            <a:ext cx="3008313" cy="1728192"/>
          </a:xfrm>
        </p:spPr>
        <p:txBody>
          <a:bodyPr rtlCol="1"/>
          <a:lstStyle/>
          <a:p>
            <a:pPr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اختيار الأنشطة المناسبة وتنظيمها والتعريف بها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EE32B6A-3AAE-E505-C6C1-97A1BDF8049E}"/>
              </a:ext>
            </a:extLst>
          </p:cNvPr>
          <p:cNvSpPr/>
          <p:nvPr/>
        </p:nvSpPr>
        <p:spPr>
          <a:xfrm>
            <a:off x="3555433" y="1760120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 descr="Run">
            <a:extLst>
              <a:ext uri="{FF2B5EF4-FFF2-40B4-BE49-F238E27FC236}">
                <a16:creationId xmlns:a16="http://schemas.microsoft.com/office/drawing/2014/main" id="{950DD3C1-63F9-40CE-3B43-D08A2BF113DD}"/>
              </a:ext>
            </a:extLst>
          </p:cNvPr>
          <p:cNvSpPr/>
          <p:nvPr/>
        </p:nvSpPr>
        <p:spPr>
          <a:xfrm>
            <a:off x="7988323" y="1939292"/>
            <a:ext cx="437975" cy="43797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63AFA13-95E4-ADD8-DAB9-9359BE2CBBFD}"/>
              </a:ext>
            </a:extLst>
          </p:cNvPr>
          <p:cNvSpPr/>
          <p:nvPr/>
        </p:nvSpPr>
        <p:spPr>
          <a:xfrm>
            <a:off x="3555434" y="1760120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التدريبات التكرارية</a:t>
            </a:r>
            <a:r>
              <a:rPr lang="ar" sz="1900" b="0" kern="12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– تكرار مهارة أو تقنية محددة</a:t>
            </a:r>
            <a:endParaRPr lang="en-US" sz="19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5E44B6-D130-6B4F-BA76-C1C97A675805}"/>
              </a:ext>
            </a:extLst>
          </p:cNvPr>
          <p:cNvSpPr/>
          <p:nvPr/>
        </p:nvSpPr>
        <p:spPr>
          <a:xfrm>
            <a:off x="3555433" y="2755520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 descr="Football Goal with solid fill">
            <a:extLst>
              <a:ext uri="{FF2B5EF4-FFF2-40B4-BE49-F238E27FC236}">
                <a16:creationId xmlns:a16="http://schemas.microsoft.com/office/drawing/2014/main" id="{A19CA9C7-8875-224E-2977-C63D3DC438DD}"/>
              </a:ext>
            </a:extLst>
          </p:cNvPr>
          <p:cNvSpPr/>
          <p:nvPr/>
        </p:nvSpPr>
        <p:spPr>
          <a:xfrm>
            <a:off x="7988323" y="2934692"/>
            <a:ext cx="437975" cy="437975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70C8CE-9791-415E-EC98-F18C0A32AEB3}"/>
              </a:ext>
            </a:extLst>
          </p:cNvPr>
          <p:cNvSpPr/>
          <p:nvPr/>
        </p:nvSpPr>
        <p:spPr>
          <a:xfrm>
            <a:off x="3555434" y="2755520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الوحدات التدريبية</a:t>
            </a:r>
            <a:r>
              <a:rPr lang="ar" sz="1900" b="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– العمل على المهارات أو التكتيكات</a:t>
            </a:r>
            <a:endParaRPr lang="en-US" sz="19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C1FCB0-7A7B-863A-084A-9A2122B7F0B0}"/>
              </a:ext>
            </a:extLst>
          </p:cNvPr>
          <p:cNvSpPr/>
          <p:nvPr/>
        </p:nvSpPr>
        <p:spPr>
          <a:xfrm>
            <a:off x="3555433" y="3750919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Group with solid fill">
            <a:extLst>
              <a:ext uri="{FF2B5EF4-FFF2-40B4-BE49-F238E27FC236}">
                <a16:creationId xmlns:a16="http://schemas.microsoft.com/office/drawing/2014/main" id="{6B04DEE3-40F1-2689-1D5A-219C74CD6763}"/>
              </a:ext>
            </a:extLst>
          </p:cNvPr>
          <p:cNvSpPr/>
          <p:nvPr/>
        </p:nvSpPr>
        <p:spPr>
          <a:xfrm>
            <a:off x="7988323" y="3930091"/>
            <a:ext cx="437975" cy="437975"/>
          </a:xfrm>
          <a:prstGeom prst="rect">
            <a:avLst/>
          </a:pr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00AE3CE-69B0-B3CA-C86A-D9A7E71EF307}"/>
              </a:ext>
            </a:extLst>
          </p:cNvPr>
          <p:cNvSpPr/>
          <p:nvPr/>
        </p:nvSpPr>
        <p:spPr>
          <a:xfrm>
            <a:off x="3555434" y="3750919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سباقات التتابع</a:t>
            </a:r>
            <a:r>
              <a:rPr lang="ar" sz="19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 – إكمال المهام بالتسلسل</a:t>
            </a:r>
            <a:endParaRPr lang="en-US" sz="19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47A9E3-4D8B-22A4-B5B4-26FBD53074B7}"/>
              </a:ext>
            </a:extLst>
          </p:cNvPr>
          <p:cNvSpPr/>
          <p:nvPr/>
        </p:nvSpPr>
        <p:spPr>
          <a:xfrm>
            <a:off x="3555433" y="4746319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 descr="Baseball with solid fill">
            <a:extLst>
              <a:ext uri="{FF2B5EF4-FFF2-40B4-BE49-F238E27FC236}">
                <a16:creationId xmlns:a16="http://schemas.microsoft.com/office/drawing/2014/main" id="{9DD517F4-19E8-75A0-0678-E9BF3D169987}"/>
              </a:ext>
            </a:extLst>
          </p:cNvPr>
          <p:cNvSpPr/>
          <p:nvPr/>
        </p:nvSpPr>
        <p:spPr>
          <a:xfrm>
            <a:off x="7988323" y="4925491"/>
            <a:ext cx="437975" cy="437975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1201BAA-F9CE-D242-EE71-6D036A507D67}"/>
              </a:ext>
            </a:extLst>
          </p:cNvPr>
          <p:cNvSpPr/>
          <p:nvPr/>
        </p:nvSpPr>
        <p:spPr>
          <a:xfrm>
            <a:off x="3555434" y="4746319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المباريات المصغرة</a:t>
            </a:r>
            <a:r>
              <a:rPr lang="ar" sz="19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– مباريات مُعدّلة لعدد أقل من اللاعبين</a:t>
            </a:r>
            <a:endParaRPr lang="en-US" sz="19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1C77BD3-EE32-FD0B-2F44-870DE462393F}"/>
              </a:ext>
            </a:extLst>
          </p:cNvPr>
          <p:cNvSpPr/>
          <p:nvPr/>
        </p:nvSpPr>
        <p:spPr>
          <a:xfrm>
            <a:off x="3555433" y="5741718"/>
            <a:ext cx="5111751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 descr="Podium">
            <a:extLst>
              <a:ext uri="{FF2B5EF4-FFF2-40B4-BE49-F238E27FC236}">
                <a16:creationId xmlns:a16="http://schemas.microsoft.com/office/drawing/2014/main" id="{264929FB-6BC6-2706-928F-9AC34F70731B}"/>
              </a:ext>
            </a:extLst>
          </p:cNvPr>
          <p:cNvSpPr/>
          <p:nvPr/>
        </p:nvSpPr>
        <p:spPr>
          <a:xfrm>
            <a:off x="7988323" y="5920890"/>
            <a:ext cx="437975" cy="437975"/>
          </a:xfrm>
          <a:prstGeom prst="rect">
            <a:avLst/>
          </a:prstGeom>
          <a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29792F5-8E88-3C4E-2AC8-D72678FB8A3C}"/>
              </a:ext>
            </a:extLst>
          </p:cNvPr>
          <p:cNvSpPr/>
          <p:nvPr/>
        </p:nvSpPr>
        <p:spPr>
          <a:xfrm>
            <a:off x="3555434" y="5741718"/>
            <a:ext cx="4192001" cy="796319"/>
          </a:xfrm>
          <a:custGeom>
            <a:avLst/>
            <a:gdLst>
              <a:gd name="connsiteX0" fmla="*/ 0 w 4192001"/>
              <a:gd name="connsiteY0" fmla="*/ 0 h 796319"/>
              <a:gd name="connsiteX1" fmla="*/ 4192001 w 4192001"/>
              <a:gd name="connsiteY1" fmla="*/ 0 h 796319"/>
              <a:gd name="connsiteX2" fmla="*/ 4192001 w 4192001"/>
              <a:gd name="connsiteY2" fmla="*/ 796319 h 796319"/>
              <a:gd name="connsiteX3" fmla="*/ 0 w 4192001"/>
              <a:gd name="connsiteY3" fmla="*/ 796319 h 796319"/>
              <a:gd name="connsiteX4" fmla="*/ 0 w 4192001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92001" h="796319">
                <a:moveTo>
                  <a:pt x="0" y="0"/>
                </a:moveTo>
                <a:lnTo>
                  <a:pt x="4192001" y="0"/>
                </a:lnTo>
                <a:lnTo>
                  <a:pt x="4192001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84455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900" b="1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المنافسات</a:t>
            </a:r>
            <a:r>
              <a:rPr lang="ar" sz="19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– تطبيق المهارات تحت الضغط</a:t>
            </a:r>
            <a:endParaRPr lang="en-US" sz="19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1BF050-7C55-D2BE-DC26-0F0FE95DB9B3}"/>
              </a:ext>
            </a:extLst>
          </p:cNvPr>
          <p:cNvGrpSpPr/>
          <p:nvPr/>
        </p:nvGrpSpPr>
        <p:grpSpPr>
          <a:xfrm flipH="1">
            <a:off x="226011" y="3753688"/>
            <a:ext cx="3008312" cy="2788089"/>
            <a:chOff x="0" y="177288"/>
            <a:chExt cx="2731348" cy="140702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AA3D14C-74F8-A10D-89FB-5EB35199698E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775760-46A3-D627-F885-2DF7DC4D21E4}"/>
                </a:ext>
              </a:extLst>
            </p:cNvPr>
            <p:cNvSpPr txBox="1"/>
            <p:nvPr/>
          </p:nvSpPr>
          <p:spPr>
            <a:xfrm>
              <a:off x="49766" y="332242"/>
              <a:ext cx="2681582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lvl="0" rtl="1"/>
              <a:r>
                <a:rPr lang="ar" b="1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جماعية:</a:t>
              </a:r>
            </a:p>
            <a:p>
              <a:pPr lvl="0" rtl="1"/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تخيّل أنك تدرّب في وحدة سباحة. </a:t>
              </a:r>
            </a:p>
            <a:p>
              <a:pPr rtl="1"/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يمكنك استخدام هذه النشاطات لتحسين أساليب وحركات السباحة لدى المشاركين؟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27B819E-3500-3935-7D97-199CCDF16A9B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691908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D75538-9578-6388-91C1-9D3B6648B413}"/>
              </a:ext>
            </a:extLst>
          </p:cNvPr>
          <p:cNvSpPr txBox="1"/>
          <p:nvPr/>
        </p:nvSpPr>
        <p:spPr bwMode="auto">
          <a:xfrm>
            <a:off x="457200" y="1195200"/>
            <a:ext cx="8229600" cy="66070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400" b="1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ب2 تطوير أسلوب قيادة فعّال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B2B31-7F00-521D-8A4D-DD1F93767C15}"/>
              </a:ext>
            </a:extLst>
          </p:cNvPr>
          <p:cNvSpPr txBox="1"/>
          <p:nvPr/>
        </p:nvSpPr>
        <p:spPr>
          <a:xfrm>
            <a:off x="457201" y="1810753"/>
            <a:ext cx="8229599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تكييف النشاطات بحيث تعزّز تطوير الأداء</a:t>
            </a:r>
          </a:p>
          <a:p>
            <a:pPr rtl="1"/>
            <a:endParaRPr lang="en-GB" dirty="0">
              <a:solidFill>
                <a:schemeClr val="accent6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قد تُغيّر النشاطات المخطط لها للوحدة إلى أنواع مختلفة من الممارسة لتناسب مستويات قدرات المشاركين واحتياجاتهم.</a:t>
            </a:r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0ED69-EBDB-9EA6-476F-1BC77C6BA8B7}"/>
              </a:ext>
            </a:extLst>
          </p:cNvPr>
          <p:cNvSpPr txBox="1"/>
          <p:nvPr/>
        </p:nvSpPr>
        <p:spPr>
          <a:xfrm>
            <a:off x="3995936" y="3284984"/>
            <a:ext cx="4464496" cy="2311402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lvl="0" algn="ctr" rtl="1">
              <a:spcBef>
                <a:spcPct val="30000"/>
              </a:spcBef>
              <a:defRPr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أنواع الممارسة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0" algn="ctr" rtl="1">
              <a:spcBef>
                <a:spcPct val="30000"/>
              </a:spcBef>
              <a:defRPr/>
            </a:pPr>
            <a:endParaRPr lang="en-GB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التمارين المنفصلة: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أداء مهارة وفق إرشادات صارمة، مع التركيز على جانب محدد. </a:t>
            </a: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التمارين الموجهة: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إضافة ضغط إلى وحدة التدريب على المهارة بفرض شكل من أشكال الدفاع. </a:t>
            </a: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لتمارين التنافسية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الأداء في مواقف تشبه مباراة حقيقية وبمستويات عالية من الضغط والأهمية.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71A22-CC73-6D77-3E70-B4DD9C638DF5}"/>
              </a:ext>
            </a:extLst>
          </p:cNvPr>
          <p:cNvSpPr txBox="1"/>
          <p:nvPr/>
        </p:nvSpPr>
        <p:spPr>
          <a:xfrm>
            <a:off x="683568" y="3455800"/>
            <a:ext cx="2808312" cy="19697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lvl="0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المشاركون</a:t>
            </a:r>
          </a:p>
          <a:p>
            <a:pPr lvl="0" rtl="1"/>
            <a:endParaRPr lang="en-GB" sz="1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حجم المجموعة</a:t>
            </a: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دور الأفراد في التمارين</a:t>
            </a:r>
          </a:p>
          <a:p>
            <a:pPr marL="285750" lvl="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تكييف النشاط بحيث يضمن مشاركة جميع المشاركين.</a:t>
            </a:r>
          </a:p>
          <a:p>
            <a:pPr lvl="0"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94B44D-2D1A-2CD4-A053-92D41DD9127A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9556127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FB76-F074-53F9-4349-705CDFB1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08BDF04-B66E-EC4C-A8F2-B621C6CD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37224"/>
            <a:ext cx="8229600" cy="649624"/>
          </a:xfrm>
        </p:spPr>
        <p:txBody>
          <a:bodyPr rtlCol="1"/>
          <a:lstStyle/>
          <a:p>
            <a:pPr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ب3 تخطيط الوحدة</a:t>
            </a: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0DD684-9515-83A6-0913-B97612A4D3CD}"/>
              </a:ext>
            </a:extLst>
          </p:cNvPr>
          <p:cNvGrpSpPr/>
          <p:nvPr/>
        </p:nvGrpSpPr>
        <p:grpSpPr>
          <a:xfrm flipH="1">
            <a:off x="329235" y="1934438"/>
            <a:ext cx="3368325" cy="3988749"/>
            <a:chOff x="0" y="177288"/>
            <a:chExt cx="2787480" cy="140702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F791A1-DB76-2EEC-42C0-CD1D0C5C8770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4FC402-4CA2-B328-71AC-E3D29030AC26}"/>
                </a:ext>
              </a:extLst>
            </p:cNvPr>
            <p:cNvSpPr txBox="1"/>
            <p:nvPr/>
          </p:nvSpPr>
          <p:spPr>
            <a:xfrm>
              <a:off x="105898" y="302577"/>
              <a:ext cx="2681582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نشاط في </a:t>
              </a:r>
              <a:r>
                <a:rPr lang="ar" sz="2000" b="1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مجموعات صغيرة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: </a:t>
              </a:r>
              <a:endParaRPr lang="en-GB" sz="20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ضع قائمة تحتوي على أربعة أمثلة لكل من: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الرياضات الجماعية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الرياضات الفردية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نشاطات اللياقة البدنية</a:t>
              </a:r>
            </a:p>
            <a:p>
              <a:pPr rtl="1"/>
              <a:endParaRPr lang="en-GB" sz="20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تشارك المجموعات القوائم التي وضعتها وتناقش كيف قد تختلف وحدات النشاط لكل نوع من النشاطات الرياضية المذكورة. </a:t>
              </a:r>
              <a:endParaRPr lang="en-GB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endParaRPr lang="en-GB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BCF068F-0B3A-5F05-A9A6-91958BFF91F3}"/>
              </a:ext>
            </a:extLst>
          </p:cNvPr>
          <p:cNvSpPr txBox="1"/>
          <p:nvPr/>
        </p:nvSpPr>
        <p:spPr>
          <a:xfrm>
            <a:off x="4070835" y="1841242"/>
            <a:ext cx="4580164" cy="3816429"/>
          </a:xfrm>
          <a:prstGeom prst="rect">
            <a:avLst/>
          </a:prstGeom>
          <a:solidFill>
            <a:schemeClr val="accent1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لأغراض تقييمك، يجب أن تخطط لوحدة نشاط رياضي مفصلة، ويمكن أن تكون هذه الوحدة:</a:t>
            </a:r>
          </a:p>
          <a:p>
            <a:pPr rtl="1"/>
            <a:endParaRPr lang="en-GB" sz="1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marR="0" lvl="0" indent="0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رياضة جماعية</a:t>
            </a:r>
          </a:p>
          <a:p>
            <a:pPr marL="0" marR="0" lvl="0" indent="0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أكثر من مشاركٍ واحدٍ يتنافسون معًا ضد فريق واحدٍ أو أكثر.</a:t>
            </a:r>
          </a:p>
          <a:p>
            <a:pPr rtl="1"/>
            <a:endParaRPr lang="en-GB" sz="1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رياضة فردية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مشارك واحد يتنافس ضد مشاركٍ واحدٍ آخر.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نشاط لياقة بدنية</a:t>
            </a:r>
            <a:endParaRPr 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 نوع من التمارين يساعد على تحسين عناصر مختلفة من عناصر اللياقة البدنية.</a:t>
            </a:r>
          </a:p>
          <a:p>
            <a:pPr rtl="1"/>
            <a:endParaRPr lang="ar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9D6F17-B9F4-F5C4-F9ED-667EFF0B42A7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588985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CF7858D-8A2E-23F5-0ECC-947F773F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2752"/>
            <a:ext cx="8229600" cy="649624"/>
          </a:xfrm>
        </p:spPr>
        <p:txBody>
          <a:bodyPr rtlCol="1"/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ب3 تخطيط الوحدة</a:t>
            </a:r>
            <a:endParaRPr 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330EE768-0C8C-48A6-F70C-7D13B22FDD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0586700"/>
              </p:ext>
            </p:extLst>
          </p:nvPr>
        </p:nvGraphicFramePr>
        <p:xfrm>
          <a:off x="3996704" y="1844824"/>
          <a:ext cx="446372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23D31AE7-1DB0-4197-7D13-7CCD8AAB7C2D}"/>
              </a:ext>
            </a:extLst>
          </p:cNvPr>
          <p:cNvGrpSpPr/>
          <p:nvPr/>
        </p:nvGrpSpPr>
        <p:grpSpPr>
          <a:xfrm>
            <a:off x="323528" y="1863789"/>
            <a:ext cx="3240360" cy="4661555"/>
            <a:chOff x="0" y="177288"/>
            <a:chExt cx="2681582" cy="140702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E0A8FA9-4497-4384-D3F4-667B479D2992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7E4AC8B-4264-9124-E57C-BF5708A28391}"/>
                </a:ext>
              </a:extLst>
            </p:cNvPr>
            <p:cNvSpPr txBox="1"/>
            <p:nvPr/>
          </p:nvSpPr>
          <p:spPr>
            <a:xfrm>
              <a:off x="0" y="254491"/>
              <a:ext cx="2681582" cy="12452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نشاط في مجموعات</a:t>
              </a:r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:</a:t>
              </a:r>
              <a:r>
                <a:rPr lang="ar" dirty="0">
                  <a:solidFill>
                    <a:schemeClr val="accent6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تخيّل أنك مُطالب بقيادة نشاط رياضي في المركز المجتمعي المحلي في منطقتك؛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النشاط الذي يمكنك قيادته؟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يمكنك تنظيم هيكل الوحدات؟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 سيحضر؟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الأهداف العامة والخاصة التي ستضعها؟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الموارد التي ستحتاج إليها؟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اعتبارات الصحة والسلامة التي قد تكون مطلوبة؟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69C8B0-F478-71F3-2DCD-0E2876406D7C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905616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CB235-49E1-E198-8B3F-0337463F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2FC1E8F-165C-45B9-025D-43AEC7A8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873" y="1130759"/>
            <a:ext cx="4186807" cy="433600"/>
          </a:xfrm>
        </p:spPr>
        <p:txBody>
          <a:bodyPr rtlCol="1"/>
          <a:lstStyle/>
          <a:p>
            <a:pPr rtl="1"/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ب3 تخطيط الوحدة</a:t>
            </a: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F2510-3375-8A7A-680D-3B15922E1F79}"/>
              </a:ext>
            </a:extLst>
          </p:cNvPr>
          <p:cNvSpPr txBox="1"/>
          <p:nvPr/>
        </p:nvSpPr>
        <p:spPr>
          <a:xfrm>
            <a:off x="619950" y="1772816"/>
            <a:ext cx="4580164" cy="2308324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lvl="0" rtl="1">
              <a:lnSpc>
                <a:spcPct val="100000"/>
              </a:lnSpc>
            </a:pPr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التحضير لفرص مختلفة للحصول على التعليقات</a:t>
            </a:r>
          </a:p>
          <a:p>
            <a:pPr lvl="0" rtl="1">
              <a:lnSpc>
                <a:spcPct val="100000"/>
              </a:lnSpc>
            </a:pP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lvl="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المشاركين</a:t>
            </a:r>
          </a:p>
          <a:p>
            <a:pPr marL="342900" lvl="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المُقيم</a:t>
            </a:r>
          </a:p>
          <a:p>
            <a:pPr marL="342900" lvl="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المراقب</a:t>
            </a:r>
          </a:p>
          <a:p>
            <a:pPr marL="342900" lvl="0" indent="-342900" rt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التقييم الذاتي</a:t>
            </a:r>
          </a:p>
          <a:p>
            <a:pPr lvl="0" rtl="1">
              <a:lnSpc>
                <a:spcPct val="100000"/>
              </a:lnSpc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55C6B-1E18-6BB6-3CAF-238683C708F6}"/>
              </a:ext>
            </a:extLst>
          </p:cNvPr>
          <p:cNvSpPr txBox="1"/>
          <p:nvPr/>
        </p:nvSpPr>
        <p:spPr>
          <a:xfrm>
            <a:off x="619951" y="4586695"/>
            <a:ext cx="4580665" cy="15081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 جماعية: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يمكن أن يكون أفضل شخص في مدرستك أو في المركز الذي تدرس فيه لتقديم تعليقات عن وحدة النشاط؟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person holding a clipboard and a phone&#10;&#10;AI-generated content may be incorrect.">
            <a:extLst>
              <a:ext uri="{FF2B5EF4-FFF2-40B4-BE49-F238E27FC236}">
                <a16:creationId xmlns:a16="http://schemas.microsoft.com/office/drawing/2014/main" id="{F3C08B44-69E2-29A2-8C4A-38BCBCB7A1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9982" y="1773621"/>
            <a:ext cx="3139967" cy="46048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3CA845-3577-7CB5-520E-9F1C0C2384D0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454210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3BDA7B2-4DEF-9CD8-4ED8-85BE8DB1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779" y="1505859"/>
            <a:ext cx="3008313" cy="433600"/>
          </a:xfrm>
        </p:spPr>
        <p:txBody>
          <a:bodyPr rtlCol="1"/>
          <a:lstStyle/>
          <a:p>
            <a:pPr rtl="1"/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ب3 تخطيط الوحدة</a:t>
            </a: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1685DB-25F9-6148-92B1-F04F08477538}"/>
              </a:ext>
            </a:extLst>
          </p:cNvPr>
          <p:cNvSpPr/>
          <p:nvPr/>
        </p:nvSpPr>
        <p:spPr>
          <a:xfrm>
            <a:off x="270203" y="1412776"/>
            <a:ext cx="5410943" cy="2213362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 descr="CheckList">
            <a:extLst>
              <a:ext uri="{FF2B5EF4-FFF2-40B4-BE49-F238E27FC236}">
                <a16:creationId xmlns:a16="http://schemas.microsoft.com/office/drawing/2014/main" id="{263E8A10-AC9F-81E4-C729-47970B90553E}"/>
              </a:ext>
            </a:extLst>
          </p:cNvPr>
          <p:cNvSpPr/>
          <p:nvPr/>
        </p:nvSpPr>
        <p:spPr>
          <a:xfrm>
            <a:off x="4330602" y="1959056"/>
            <a:ext cx="1192453" cy="1190125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70C01B6-0D25-CF34-FBA7-766169D91321}"/>
              </a:ext>
            </a:extLst>
          </p:cNvPr>
          <p:cNvSpPr/>
          <p:nvPr/>
        </p:nvSpPr>
        <p:spPr>
          <a:xfrm>
            <a:off x="-243895" y="1412630"/>
            <a:ext cx="4523990" cy="2165979"/>
          </a:xfrm>
          <a:custGeom>
            <a:avLst/>
            <a:gdLst>
              <a:gd name="connsiteX0" fmla="*/ 0 w 4523990"/>
              <a:gd name="connsiteY0" fmla="*/ 0 h 2165979"/>
              <a:gd name="connsiteX1" fmla="*/ 4523990 w 4523990"/>
              <a:gd name="connsiteY1" fmla="*/ 0 h 2165979"/>
              <a:gd name="connsiteX2" fmla="*/ 4523990 w 4523990"/>
              <a:gd name="connsiteY2" fmla="*/ 2165979 h 2165979"/>
              <a:gd name="connsiteX3" fmla="*/ 0 w 4523990"/>
              <a:gd name="connsiteY3" fmla="*/ 2165979 h 2165979"/>
              <a:gd name="connsiteX4" fmla="*/ 0 w 4523990"/>
              <a:gd name="connsiteY4" fmla="*/ 0 h 2165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3990" h="2165979">
                <a:moveTo>
                  <a:pt x="0" y="0"/>
                </a:moveTo>
                <a:lnTo>
                  <a:pt x="4523990" y="0"/>
                </a:lnTo>
                <a:lnTo>
                  <a:pt x="4523990" y="2165979"/>
                </a:lnTo>
                <a:lnTo>
                  <a:pt x="0" y="216597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29233" tIns="229233" rIns="229233" bIns="229233" numCol="1" spcCol="1270" rtlCol="1" anchor="ctr" anchorCtr="0">
            <a:noAutofit/>
          </a:bodyPr>
          <a:lstStyle/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التخطيط لطرق تقديم التعليقات</a:t>
            </a:r>
          </a:p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الاستبيانات</a:t>
            </a:r>
          </a:p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التعليقات الشفوية</a:t>
            </a:r>
          </a:p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بطاقات التعليقات. </a:t>
            </a:r>
          </a:p>
          <a:p>
            <a:pPr marL="0" lvl="0" indent="0" algn="r" defTabSz="8001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سجلات الملاحظات</a:t>
            </a:r>
            <a:r>
              <a:rPr lang="ar" sz="16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  <a:endParaRPr lang="en-US" sz="16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7D6B8-5574-0F4A-ADCE-BAF4CC2A2904}"/>
              </a:ext>
            </a:extLst>
          </p:cNvPr>
          <p:cNvSpPr/>
          <p:nvPr/>
        </p:nvSpPr>
        <p:spPr>
          <a:xfrm>
            <a:off x="5880780" y="2138389"/>
            <a:ext cx="2808312" cy="4014777"/>
          </a:xfrm>
          <a:prstGeom prst="rect">
            <a:avLst/>
          </a:prstGeom>
          <a:gradFill rotWithShape="0">
            <a:gsLst>
              <a:gs pos="0">
                <a:schemeClr val="accent2">
                  <a:lumMod val="20000"/>
                  <a:lumOff val="80000"/>
                </a:schemeClr>
              </a:gs>
              <a:gs pos="80000">
                <a:schemeClr val="accent1">
                  <a:hueOff val="0"/>
                  <a:satOff val="0"/>
                  <a:lumOff val="0"/>
                  <a:alphaOff val="0"/>
                  <a:shade val="93000"/>
                  <a:satMod val="130000"/>
                </a:schemeClr>
              </a:gs>
              <a:gs pos="100000">
                <a:schemeClr val="accent1">
                  <a:hueOff val="0"/>
                  <a:satOff val="0"/>
                  <a:lumOff val="0"/>
                  <a:alphaOff val="0"/>
                  <a:shade val="94000"/>
                  <a:satMod val="135000"/>
                </a:schemeClr>
              </a:gs>
            </a:gsLst>
          </a:gra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3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rtlCol="1"/>
          <a:lstStyle/>
          <a:p>
            <a:pPr rtl="1"/>
            <a:endParaRPr lang="en-US" sz="1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D243F-9AC0-28FC-800E-1871EA1A1B23}"/>
              </a:ext>
            </a:extLst>
          </p:cNvPr>
          <p:cNvSpPr txBox="1"/>
          <p:nvPr/>
        </p:nvSpPr>
        <p:spPr>
          <a:xfrm>
            <a:off x="5880780" y="2554119"/>
            <a:ext cx="2808312" cy="329977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80010" tIns="80010" rIns="80010" bIns="80010" numCol="1" spcCol="1270" rtlCol="1" anchor="ctr" anchorCtr="0">
            <a:noAutofit/>
          </a:bodyPr>
          <a:lstStyle/>
          <a:p>
            <a:pPr rtl="1"/>
            <a:r>
              <a:rPr lang="ar" b="1" i="0" u="none" strike="noStrike" dirty="0">
                <a:solidFill>
                  <a:srgbClr val="7030A0"/>
                </a:solidFill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مناقشة</a:t>
            </a:r>
            <a:r>
              <a:rPr lang="ar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جماعية</a:t>
            </a:r>
            <a:r>
              <a:rPr lang="ar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</a:t>
            </a:r>
          </a:p>
          <a:p>
            <a:pPr rtl="1"/>
            <a:r>
              <a:rPr lang="ar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لقد قبلت العرض المقدم لك لقيادة نشاط رياضي في المركز المجتمعي المحلي في منطقتك، وستحتاج إلى جمع التعليقات حول الوحدات من مجموعة متنوعة من الناس.</a:t>
            </a:r>
          </a:p>
          <a:p>
            <a:pPr rtl="1"/>
            <a:endParaRPr lang="en-GB" dirty="0">
              <a:solidFill>
                <a:schemeClr val="tx1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ما مزايا استخدام مختلف الطرق الموضحة لتقديم التعليقات وعيوبها؟</a:t>
            </a:r>
          </a:p>
        </p:txBody>
      </p:sp>
      <p:pic>
        <p:nvPicPr>
          <p:cNvPr id="15" name="Picture 14" descr="A pen next to a paper with a row of smiley faces&#10;&#10;AI-generated content may be incorrect.">
            <a:extLst>
              <a:ext uri="{FF2B5EF4-FFF2-40B4-BE49-F238E27FC236}">
                <a16:creationId xmlns:a16="http://schemas.microsoft.com/office/drawing/2014/main" id="{DA77223C-9085-6BC7-8379-C352C3E70C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878" y="3747383"/>
            <a:ext cx="3750880" cy="27002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26D65E-05CB-1B81-12DA-BEACA7B76678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3242755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2FB3-0515-3A1A-6B0B-4B54389E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175D1D7D-02C5-6C28-311B-0103EBB2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104" y="1195200"/>
            <a:ext cx="3178695" cy="433600"/>
          </a:xfrm>
        </p:spPr>
        <p:txBody>
          <a:bodyPr rtlCol="1"/>
          <a:lstStyle/>
          <a:p>
            <a:pPr rtl="1"/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ب3 تخطيط الوحدة</a:t>
            </a:r>
            <a:endParaRPr lang="en-US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A2F73A-1D5A-79B0-40FC-9B29900649C8}"/>
              </a:ext>
            </a:extLst>
          </p:cNvPr>
          <p:cNvSpPr/>
          <p:nvPr/>
        </p:nvSpPr>
        <p:spPr>
          <a:xfrm>
            <a:off x="2971753" y="1628799"/>
            <a:ext cx="5688632" cy="1588297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 descr="Video camera">
            <a:extLst>
              <a:ext uri="{FF2B5EF4-FFF2-40B4-BE49-F238E27FC236}">
                <a16:creationId xmlns:a16="http://schemas.microsoft.com/office/drawing/2014/main" id="{6F190FB2-0A64-0C44-89C3-3CB135FE4016}"/>
              </a:ext>
            </a:extLst>
          </p:cNvPr>
          <p:cNvSpPr/>
          <p:nvPr/>
        </p:nvSpPr>
        <p:spPr>
          <a:xfrm>
            <a:off x="7351715" y="1947620"/>
            <a:ext cx="847974" cy="846318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A08265-86E0-357E-CFF6-ABD438DBB120}"/>
              </a:ext>
            </a:extLst>
          </p:cNvPr>
          <p:cNvSpPr/>
          <p:nvPr/>
        </p:nvSpPr>
        <p:spPr>
          <a:xfrm>
            <a:off x="2694364" y="1628799"/>
            <a:ext cx="4650801" cy="1548059"/>
          </a:xfrm>
          <a:custGeom>
            <a:avLst/>
            <a:gdLst>
              <a:gd name="connsiteX0" fmla="*/ 0 w 4650801"/>
              <a:gd name="connsiteY0" fmla="*/ 0 h 1548059"/>
              <a:gd name="connsiteX1" fmla="*/ 4650801 w 4650801"/>
              <a:gd name="connsiteY1" fmla="*/ 0 h 1548059"/>
              <a:gd name="connsiteX2" fmla="*/ 4650801 w 4650801"/>
              <a:gd name="connsiteY2" fmla="*/ 1548059 h 1548059"/>
              <a:gd name="connsiteX3" fmla="*/ 0 w 4650801"/>
              <a:gd name="connsiteY3" fmla="*/ 1548059 h 1548059"/>
              <a:gd name="connsiteX4" fmla="*/ 0 w 4650801"/>
              <a:gd name="connsiteY4" fmla="*/ 0 h 1548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0801" h="1548059">
                <a:moveTo>
                  <a:pt x="0" y="0"/>
                </a:moveTo>
                <a:lnTo>
                  <a:pt x="4650801" y="0"/>
                </a:lnTo>
                <a:lnTo>
                  <a:pt x="4650801" y="1548059"/>
                </a:lnTo>
                <a:lnTo>
                  <a:pt x="0" y="15480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3011" tIns="163011" rIns="163011" bIns="163011" numCol="1" spcCol="1270" rtlCol="1" anchor="ctr" anchorCtr="0">
            <a:noAutofit/>
          </a:bodyPr>
          <a:lstStyle/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تسجيل الوحدة</a:t>
            </a:r>
          </a:p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المعدات اللازمة؟</a:t>
            </a:r>
          </a:p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أين ستُنفّذ الوحدة؟</a:t>
            </a:r>
          </a:p>
          <a:p>
            <a:pPr marL="0" lvl="0" indent="0" algn="r" defTabSz="7112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6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المسؤول عن تسجيل الوحدة؟</a:t>
            </a:r>
            <a:endParaRPr lang="en-US" sz="16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DF7FE6-3771-7D01-B7F5-107C81AE5E93}"/>
              </a:ext>
            </a:extLst>
          </p:cNvPr>
          <p:cNvGrpSpPr/>
          <p:nvPr/>
        </p:nvGrpSpPr>
        <p:grpSpPr>
          <a:xfrm flipH="1">
            <a:off x="249884" y="1628800"/>
            <a:ext cx="2629110" cy="4941864"/>
            <a:chOff x="0" y="177288"/>
            <a:chExt cx="2758418" cy="140702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11E4803-743F-F737-F0D6-5CA300448FBF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D407127-612B-C802-BAE9-24242F93D9AB}"/>
                </a:ext>
              </a:extLst>
            </p:cNvPr>
            <p:cNvSpPr txBox="1"/>
            <p:nvPr/>
          </p:nvSpPr>
          <p:spPr>
            <a:xfrm>
              <a:off x="76836" y="302578"/>
              <a:ext cx="2681582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جماعية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: </a:t>
              </a:r>
            </a:p>
            <a:p>
              <a:pPr rtl="1"/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ستحتاج إلى تسجيل الوحدة التي قُدتها حتى يمكن مراجعتها. </a:t>
              </a:r>
            </a:p>
            <a:p>
              <a:pPr rtl="1"/>
              <a:endParaRPr lang="en-GB" sz="2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أهمية وضعية الكاميرا عند تسجيل الوحدة؟</a:t>
              </a:r>
            </a:p>
          </p:txBody>
        </p:sp>
      </p:grpSp>
      <p:pic>
        <p:nvPicPr>
          <p:cNvPr id="15" name="Picture 14" descr="A group of people running in a gym&#10;&#10;AI-generated content may be incorrect.">
            <a:extLst>
              <a:ext uri="{FF2B5EF4-FFF2-40B4-BE49-F238E27FC236}">
                <a16:creationId xmlns:a16="http://schemas.microsoft.com/office/drawing/2014/main" id="{9B96804A-C97F-8E13-0510-003B997AE45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6655" y="3297621"/>
            <a:ext cx="4788775" cy="31925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7CCAA6-D740-2CAE-D9CB-95EBEEEA9BD1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3721538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3998-1AA9-B13D-5474-31B41063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781821B-B4F5-2319-2831-B18360788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endParaRPr lang="en-US" altLang="en-US" sz="2000" b="1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703E657-3307-BA8E-0C32-B67D5C818EC5}"/>
              </a:ext>
            </a:extLst>
          </p:cNvPr>
          <p:cNvSpPr/>
          <p:nvPr/>
        </p:nvSpPr>
        <p:spPr>
          <a:xfrm>
            <a:off x="347666" y="1414762"/>
            <a:ext cx="5016422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Rectangle 3" descr="Checkmark">
            <a:extLst>
              <a:ext uri="{FF2B5EF4-FFF2-40B4-BE49-F238E27FC236}">
                <a16:creationId xmlns:a16="http://schemas.microsoft.com/office/drawing/2014/main" id="{EEC37397-F05B-B42A-826A-0887A0E4E1B3}"/>
              </a:ext>
            </a:extLst>
          </p:cNvPr>
          <p:cNvSpPr/>
          <p:nvPr/>
        </p:nvSpPr>
        <p:spPr>
          <a:xfrm>
            <a:off x="4505949" y="1641250"/>
            <a:ext cx="553638" cy="553638"/>
          </a:xfrm>
          <a:prstGeom prst="rect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65913B1-068F-1E92-5684-C562D25922D9}"/>
              </a:ext>
            </a:extLst>
          </p:cNvPr>
          <p:cNvSpPr/>
          <p:nvPr/>
        </p:nvSpPr>
        <p:spPr>
          <a:xfrm>
            <a:off x="347666" y="1414762"/>
            <a:ext cx="3853782" cy="1006615"/>
          </a:xfrm>
          <a:custGeom>
            <a:avLst/>
            <a:gdLst>
              <a:gd name="connsiteX0" fmla="*/ 0 w 3853782"/>
              <a:gd name="connsiteY0" fmla="*/ 0 h 1006615"/>
              <a:gd name="connsiteX1" fmla="*/ 3853782 w 3853782"/>
              <a:gd name="connsiteY1" fmla="*/ 0 h 1006615"/>
              <a:gd name="connsiteX2" fmla="*/ 3853782 w 3853782"/>
              <a:gd name="connsiteY2" fmla="*/ 1006615 h 1006615"/>
              <a:gd name="connsiteX3" fmla="*/ 0 w 3853782"/>
              <a:gd name="connsiteY3" fmla="*/ 1006615 h 1006615"/>
              <a:gd name="connsiteX4" fmla="*/ 0 w 3853782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782" h="1006615">
                <a:moveTo>
                  <a:pt x="0" y="0"/>
                </a:moveTo>
                <a:lnTo>
                  <a:pt x="3853782" y="0"/>
                </a:lnTo>
                <a:lnTo>
                  <a:pt x="3853782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مجالات المحتوى الرئيسة</a:t>
            </a:r>
            <a:endParaRPr lang="en-US" sz="22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B7F385-E22C-7138-72BB-4F407DE5AFD2}"/>
              </a:ext>
            </a:extLst>
          </p:cNvPr>
          <p:cNvSpPr/>
          <p:nvPr/>
        </p:nvSpPr>
        <p:spPr>
          <a:xfrm>
            <a:off x="347666" y="2673031"/>
            <a:ext cx="5016422" cy="1006615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 descr="Whistle outline">
            <a:extLst>
              <a:ext uri="{FF2B5EF4-FFF2-40B4-BE49-F238E27FC236}">
                <a16:creationId xmlns:a16="http://schemas.microsoft.com/office/drawing/2014/main" id="{C734B8E6-2F38-8469-1A41-17106FFD1976}"/>
              </a:ext>
            </a:extLst>
          </p:cNvPr>
          <p:cNvSpPr/>
          <p:nvPr/>
        </p:nvSpPr>
        <p:spPr>
          <a:xfrm>
            <a:off x="4505949" y="2899519"/>
            <a:ext cx="553638" cy="553638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0DC8F2-ADD7-6123-0D02-90C89807F917}"/>
              </a:ext>
            </a:extLst>
          </p:cNvPr>
          <p:cNvSpPr/>
          <p:nvPr/>
        </p:nvSpPr>
        <p:spPr>
          <a:xfrm>
            <a:off x="347666" y="2673031"/>
            <a:ext cx="3853782" cy="1006615"/>
          </a:xfrm>
          <a:custGeom>
            <a:avLst/>
            <a:gdLst>
              <a:gd name="connsiteX0" fmla="*/ 0 w 3853782"/>
              <a:gd name="connsiteY0" fmla="*/ 0 h 1006615"/>
              <a:gd name="connsiteX1" fmla="*/ 3853782 w 3853782"/>
              <a:gd name="connsiteY1" fmla="*/ 0 h 1006615"/>
              <a:gd name="connsiteX2" fmla="*/ 3853782 w 3853782"/>
              <a:gd name="connsiteY2" fmla="*/ 1006615 h 1006615"/>
              <a:gd name="connsiteX3" fmla="*/ 0 w 3853782"/>
              <a:gd name="connsiteY3" fmla="*/ 1006615 h 1006615"/>
              <a:gd name="connsiteX4" fmla="*/ 0 w 3853782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782" h="1006615">
                <a:moveTo>
                  <a:pt x="0" y="0"/>
                </a:moveTo>
                <a:lnTo>
                  <a:pt x="3853782" y="0"/>
                </a:lnTo>
                <a:lnTo>
                  <a:pt x="3853782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ج1 قيادة وحدة نشاط رياضي</a:t>
            </a:r>
            <a:endParaRPr lang="en-US" sz="22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4816D4F-58E6-0A3F-822C-477AE0667F5A}"/>
              </a:ext>
            </a:extLst>
          </p:cNvPr>
          <p:cNvSpPr/>
          <p:nvPr/>
        </p:nvSpPr>
        <p:spPr>
          <a:xfrm>
            <a:off x="347666" y="3931300"/>
            <a:ext cx="5016422" cy="100661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 descr="Users">
            <a:extLst>
              <a:ext uri="{FF2B5EF4-FFF2-40B4-BE49-F238E27FC236}">
                <a16:creationId xmlns:a16="http://schemas.microsoft.com/office/drawing/2014/main" id="{85B49464-9377-789C-910C-B5548639FF1C}"/>
              </a:ext>
            </a:extLst>
          </p:cNvPr>
          <p:cNvSpPr/>
          <p:nvPr/>
        </p:nvSpPr>
        <p:spPr>
          <a:xfrm>
            <a:off x="4505949" y="4157788"/>
            <a:ext cx="553638" cy="553638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271E8E-5C82-73B2-9F63-6FA2FEB51321}"/>
              </a:ext>
            </a:extLst>
          </p:cNvPr>
          <p:cNvSpPr/>
          <p:nvPr/>
        </p:nvSpPr>
        <p:spPr>
          <a:xfrm>
            <a:off x="347666" y="3931300"/>
            <a:ext cx="3853782" cy="1006615"/>
          </a:xfrm>
          <a:custGeom>
            <a:avLst/>
            <a:gdLst>
              <a:gd name="connsiteX0" fmla="*/ 0 w 3853782"/>
              <a:gd name="connsiteY0" fmla="*/ 0 h 1006615"/>
              <a:gd name="connsiteX1" fmla="*/ 3853782 w 3853782"/>
              <a:gd name="connsiteY1" fmla="*/ 0 h 1006615"/>
              <a:gd name="connsiteX2" fmla="*/ 3853782 w 3853782"/>
              <a:gd name="connsiteY2" fmla="*/ 1006615 h 1006615"/>
              <a:gd name="connsiteX3" fmla="*/ 0 w 3853782"/>
              <a:gd name="connsiteY3" fmla="*/ 1006615 h 1006615"/>
              <a:gd name="connsiteX4" fmla="*/ 0 w 3853782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782" h="1006615">
                <a:moveTo>
                  <a:pt x="0" y="0"/>
                </a:moveTo>
                <a:lnTo>
                  <a:pt x="3853782" y="0"/>
                </a:lnTo>
                <a:lnTo>
                  <a:pt x="3853782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ج2 </a:t>
            </a: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القيادة في الرياضة</a:t>
            </a:r>
            <a:endParaRPr lang="en-US" sz="22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FB3BE1-59F2-37BB-8F4A-3974EC6C57EC}"/>
              </a:ext>
            </a:extLst>
          </p:cNvPr>
          <p:cNvSpPr/>
          <p:nvPr/>
        </p:nvSpPr>
        <p:spPr>
          <a:xfrm>
            <a:off x="347666" y="5189569"/>
            <a:ext cx="5016422" cy="1006615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Document with solid fill">
            <a:extLst>
              <a:ext uri="{FF2B5EF4-FFF2-40B4-BE49-F238E27FC236}">
                <a16:creationId xmlns:a16="http://schemas.microsoft.com/office/drawing/2014/main" id="{8CBC7850-A98A-EED1-CD09-9A661751072B}"/>
              </a:ext>
            </a:extLst>
          </p:cNvPr>
          <p:cNvSpPr/>
          <p:nvPr/>
        </p:nvSpPr>
        <p:spPr>
          <a:xfrm>
            <a:off x="4505949" y="5416058"/>
            <a:ext cx="553638" cy="553638"/>
          </a:xfrm>
          <a:prstGeom prst="rect">
            <a:avLst/>
          </a:pr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B8AA936-1777-2004-5681-57B8CF123B90}"/>
              </a:ext>
            </a:extLst>
          </p:cNvPr>
          <p:cNvSpPr/>
          <p:nvPr/>
        </p:nvSpPr>
        <p:spPr>
          <a:xfrm>
            <a:off x="347666" y="5189569"/>
            <a:ext cx="3853782" cy="1006615"/>
          </a:xfrm>
          <a:custGeom>
            <a:avLst/>
            <a:gdLst>
              <a:gd name="connsiteX0" fmla="*/ 0 w 3853782"/>
              <a:gd name="connsiteY0" fmla="*/ 0 h 1006615"/>
              <a:gd name="connsiteX1" fmla="*/ 3853782 w 3853782"/>
              <a:gd name="connsiteY1" fmla="*/ 0 h 1006615"/>
              <a:gd name="connsiteX2" fmla="*/ 3853782 w 3853782"/>
              <a:gd name="connsiteY2" fmla="*/ 1006615 h 1006615"/>
              <a:gd name="connsiteX3" fmla="*/ 0 w 3853782"/>
              <a:gd name="connsiteY3" fmla="*/ 1006615 h 1006615"/>
              <a:gd name="connsiteX4" fmla="*/ 0 w 3853782"/>
              <a:gd name="connsiteY4" fmla="*/ 0 h 100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53782" h="1006615">
                <a:moveTo>
                  <a:pt x="0" y="0"/>
                </a:moveTo>
                <a:lnTo>
                  <a:pt x="3853782" y="0"/>
                </a:lnTo>
                <a:lnTo>
                  <a:pt x="3853782" y="1006615"/>
                </a:lnTo>
                <a:lnTo>
                  <a:pt x="0" y="100661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06533" tIns="106533" rIns="106533" bIns="106533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ج3 كتابة خطة العمل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2FE1E06-ABC3-56D8-7131-74C942A8B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104" y="1412776"/>
            <a:ext cx="3288231" cy="4785395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2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التعلّم ج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ممارسة دور قيادي بفاعلية في الأنشطة الرياضية</a:t>
            </a:r>
          </a:p>
          <a:p>
            <a:pPr rtl="1"/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إلى: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إظهار مهاراتك القيادية في الرياضة عند قيادة نشاط رياضي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قيادتك في الرياضة ووضع خطة عمل تحتوي على تحليل (SWOT) وخطة تطوير لدعم أدائك في المستقبل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D77A3B-2006-A459-17C0-0527983167B0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3342104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6BA08-5D5C-77C3-74F8-CE13E1A2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D55879A-02E8-7CF4-77A8-627CBBF8A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73466" y="1090285"/>
            <a:ext cx="4392488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>
                <a:latin typeface="Sakkal Majalla" panose="02000000000000000000" pitchFamily="2" charset="-78"/>
                <a:cs typeface="Sakkal Majalla" panose="02000000000000000000" pitchFamily="2" charset="-78"/>
              </a:rPr>
              <a:t>ج1 قيادة وحدة نشاط رياضي</a:t>
            </a:r>
            <a:endParaRPr lang="en-GB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16AAB97-AF25-0E96-0B93-B44FF9685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5794" y="1628299"/>
            <a:ext cx="4273334" cy="4896544"/>
          </a:xfrm>
          <a:prstGeom prst="rect">
            <a:avLst/>
          </a:pr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هذا النشاط نشاط عملي.</a:t>
            </a:r>
          </a:p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تقود نشاطًا رياضيًا 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لإظهار قدرتك القيادية.</a:t>
            </a:r>
          </a:p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يكون هذا النشاط رياضة جماعية، أو رياضة فردية، أو نشاط لياقة بدنية. </a:t>
            </a:r>
          </a:p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يجب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تسجيله بالفيديو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ويجب أن تحصل على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تعليقات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من الآخرين (المُقيّم، والمراقبين والمشاركين أو أي منهم) حول المهارات التي أظهرتها.</a:t>
            </a:r>
          </a:p>
          <a:p>
            <a:pPr marL="0" indent="0" rtl="1">
              <a:buNone/>
            </a:pPr>
            <a:endParaRPr lang="en-GB" sz="1800" b="0" i="0" u="none" strike="noStrike" dirty="0">
              <a:solidFill>
                <a:srgbClr val="11111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A19C44D-4AB8-9D39-EFBB-672B04C0A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244" y="1628299"/>
            <a:ext cx="3616046" cy="2442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عليك إظهار ما يأتي: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الصفات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المسؤوليات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أسلوب القيادة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C6DBB31-3AE3-855B-3361-8B6FD0A905EE}"/>
              </a:ext>
            </a:extLst>
          </p:cNvPr>
          <p:cNvGrpSpPr/>
          <p:nvPr/>
        </p:nvGrpSpPr>
        <p:grpSpPr>
          <a:xfrm flipH="1">
            <a:off x="479244" y="4134268"/>
            <a:ext cx="3616046" cy="2366063"/>
            <a:chOff x="0" y="177288"/>
            <a:chExt cx="2681582" cy="14070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2DB3192-5C70-6EEB-F29B-55C4FA5135C5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50E281-31B7-52CF-D94D-15AB6BD30F5C}"/>
                </a:ext>
              </a:extLst>
            </p:cNvPr>
            <p:cNvSpPr txBox="1"/>
            <p:nvPr/>
          </p:nvSpPr>
          <p:spPr>
            <a:xfrm>
              <a:off x="9824" y="357380"/>
              <a:ext cx="2638766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: 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مجالي المحتوى أ2 وأ3. ضع قائمة تحقق 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بالمهارات، والصفات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، 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والمسؤوليات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التي يجب أن تُظهرها في هذا النشاط.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549D0AE-BB10-5E8E-F973-091D4C5B7785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646824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4752-4ADF-57A0-8111-77CE828E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2E35A8C-4E33-829A-5784-BAB1E0193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269" y="1090284"/>
            <a:ext cx="8640960" cy="433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ج2 مراجعة القيادة في الرياضة</a:t>
            </a:r>
            <a:endParaRPr lang="en-GB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32D79D6-7D36-68F0-57EE-D000F3D74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4259" y="1759852"/>
            <a:ext cx="3931805" cy="34693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كتابة مراجعة</a:t>
            </a:r>
          </a:p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بعد قيادتك للنشاط الرياضي، ستحتاج إلى استخدام تعليقين على الأقل من التعليقات التي تلقيتها إضافة إلى مقطع الفيديو المسجّل 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لكتابة مراجعة مفصلة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تركز على قيادتك في مجال الرياضة.</a:t>
            </a:r>
          </a:p>
          <a:p>
            <a:pPr marL="0" indent="0" rtl="1">
              <a:buNone/>
            </a:pP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069759-1A2D-EDB5-64E8-A8B88EF5E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10" y="1759854"/>
            <a:ext cx="4004065" cy="34771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rtl="1"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مجالات المراجعة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مهارات القائد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صفات القائد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مسؤوليات القائد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أسلوب القيادة ومبادئها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390A9ED-B53E-A6D6-6A45-E1DA477B0313}"/>
              </a:ext>
            </a:extLst>
          </p:cNvPr>
          <p:cNvGrpSpPr/>
          <p:nvPr/>
        </p:nvGrpSpPr>
        <p:grpSpPr>
          <a:xfrm flipH="1">
            <a:off x="975074" y="5300456"/>
            <a:ext cx="6845696" cy="1123241"/>
            <a:chOff x="0" y="177288"/>
            <a:chExt cx="2727015" cy="14070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2CBAD66-BACC-40CF-DB67-402421A91143}"/>
                </a:ext>
              </a:extLst>
            </p:cNvPr>
            <p:cNvSpPr/>
            <p:nvPr/>
          </p:nvSpPr>
          <p:spPr>
            <a:xfrm>
              <a:off x="0" y="177288"/>
              <a:ext cx="2681582" cy="140702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B276F0-AF58-3A85-6817-48D64C574B80}"/>
                </a:ext>
              </a:extLst>
            </p:cNvPr>
            <p:cNvSpPr txBox="1"/>
            <p:nvPr/>
          </p:nvSpPr>
          <p:spPr>
            <a:xfrm>
              <a:off x="45433" y="320568"/>
              <a:ext cx="2681582" cy="115644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i="0" u="none" strike="noStrike" dirty="0">
                  <a:solidFill>
                    <a:srgbClr val="7030A0"/>
                  </a:solidFill>
                  <a:effectLst/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: 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يجب أن تركّز مراجعتك الذاتية على نقاط قوتك والمجالات التي تحتاج إلى تحسين. </a:t>
              </a:r>
              <a:endParaRPr lang="en-US" sz="1400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2BE2D0A-17F4-722E-BBE2-BFC0BE74A0E6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106784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EC29-5C34-FE05-460F-18D93EBB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1F82DA3-3BE6-9C74-F527-A3C15BB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90" y="1340768"/>
            <a:ext cx="5694710" cy="792088"/>
          </a:xfrm>
          <a:solidFill>
            <a:schemeClr val="accent5"/>
          </a:solidFill>
        </p:spPr>
        <p:txBody>
          <a:bodyPr rtlCol="1"/>
          <a:lstStyle/>
          <a:p>
            <a:pPr algn="ctr" rtl="1"/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ج3 كتابة خطة العمل</a:t>
            </a:r>
            <a:br>
              <a:rPr lang="en-GB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(SWOT) وخطة التطوير</a:t>
            </a:r>
            <a:endParaRPr lang="en-GB" sz="2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AF15934-FC88-1CA5-3882-66A9CB03BC72}"/>
              </a:ext>
            </a:extLst>
          </p:cNvPr>
          <p:cNvSpPr/>
          <p:nvPr/>
        </p:nvSpPr>
        <p:spPr>
          <a:xfrm>
            <a:off x="219164" y="2420894"/>
            <a:ext cx="5723806" cy="1667655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5" name="Rectangle 4" descr="Magnifying glass">
            <a:extLst>
              <a:ext uri="{FF2B5EF4-FFF2-40B4-BE49-F238E27FC236}">
                <a16:creationId xmlns:a16="http://schemas.microsoft.com/office/drawing/2014/main" id="{0B4363AE-C6BC-E860-E0B7-807FEFFCDD18}"/>
              </a:ext>
            </a:extLst>
          </p:cNvPr>
          <p:cNvSpPr/>
          <p:nvPr/>
        </p:nvSpPr>
        <p:spPr>
          <a:xfrm>
            <a:off x="4588519" y="2848879"/>
            <a:ext cx="917210" cy="91721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9AB16C1-BCD8-0F41-4A0D-4E4F1E36CB1F}"/>
              </a:ext>
            </a:extLst>
          </p:cNvPr>
          <p:cNvSpPr/>
          <p:nvPr/>
        </p:nvSpPr>
        <p:spPr>
          <a:xfrm>
            <a:off x="247407" y="2492903"/>
            <a:ext cx="4168429" cy="1667655"/>
          </a:xfrm>
          <a:custGeom>
            <a:avLst/>
            <a:gdLst>
              <a:gd name="connsiteX0" fmla="*/ 0 w 4168429"/>
              <a:gd name="connsiteY0" fmla="*/ 0 h 1667655"/>
              <a:gd name="connsiteX1" fmla="*/ 4168429 w 4168429"/>
              <a:gd name="connsiteY1" fmla="*/ 0 h 1667655"/>
              <a:gd name="connsiteX2" fmla="*/ 4168429 w 4168429"/>
              <a:gd name="connsiteY2" fmla="*/ 1667655 h 1667655"/>
              <a:gd name="connsiteX3" fmla="*/ 0 w 4168429"/>
              <a:gd name="connsiteY3" fmla="*/ 1667655 h 1667655"/>
              <a:gd name="connsiteX4" fmla="*/ 0 w 4168429"/>
              <a:gd name="connsiteY4" fmla="*/ 0 h 166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68429" h="1667655">
                <a:moveTo>
                  <a:pt x="0" y="0"/>
                </a:moveTo>
                <a:lnTo>
                  <a:pt x="4168429" y="0"/>
                </a:lnTo>
                <a:lnTo>
                  <a:pt x="4168429" y="1667655"/>
                </a:lnTo>
                <a:lnTo>
                  <a:pt x="0" y="16676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6494" tIns="176494" rIns="176494" bIns="176494" numCol="1" spcCol="1270" rtlCol="1" anchor="ctr" anchorCtr="0">
            <a:no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إنجاز تحليل نقاط القوة والضعف والفرص والتهديدات </a:t>
            </a: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(SWOT)</a:t>
            </a:r>
            <a:endParaRPr lang="en-US" sz="1800" b="1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BF7E30-76AE-BAF9-6D3E-051747389A06}"/>
              </a:ext>
            </a:extLst>
          </p:cNvPr>
          <p:cNvSpPr/>
          <p:nvPr/>
        </p:nvSpPr>
        <p:spPr>
          <a:xfrm>
            <a:off x="222999" y="4437107"/>
            <a:ext cx="5723806" cy="1959228"/>
          </a:xfrm>
          <a:prstGeom prst="roundRect">
            <a:avLst>
              <a:gd name="adj" fmla="val 10000"/>
            </a:avLst>
          </a:prstGeom>
          <a:solidFill>
            <a:schemeClr val="accent5">
              <a:lumMod val="9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 descr="CheckList with solid fill">
            <a:extLst>
              <a:ext uri="{FF2B5EF4-FFF2-40B4-BE49-F238E27FC236}">
                <a16:creationId xmlns:a16="http://schemas.microsoft.com/office/drawing/2014/main" id="{9E256D7F-F441-D257-3736-0F28D3AA49FB}"/>
              </a:ext>
            </a:extLst>
          </p:cNvPr>
          <p:cNvSpPr/>
          <p:nvPr/>
        </p:nvSpPr>
        <p:spPr>
          <a:xfrm>
            <a:off x="4525130" y="4953146"/>
            <a:ext cx="917210" cy="917210"/>
          </a:xfrm>
          <a:prstGeom prst="rect">
            <a:avLst/>
          </a:pr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2856115-7BC5-BF05-671F-4DC4989BDF76}"/>
              </a:ext>
            </a:extLst>
          </p:cNvPr>
          <p:cNvSpPr/>
          <p:nvPr/>
        </p:nvSpPr>
        <p:spPr>
          <a:xfrm>
            <a:off x="137176" y="4524075"/>
            <a:ext cx="4442993" cy="1667655"/>
          </a:xfrm>
          <a:custGeom>
            <a:avLst/>
            <a:gdLst>
              <a:gd name="connsiteX0" fmla="*/ 0 w 4442993"/>
              <a:gd name="connsiteY0" fmla="*/ 0 h 1667655"/>
              <a:gd name="connsiteX1" fmla="*/ 4442993 w 4442993"/>
              <a:gd name="connsiteY1" fmla="*/ 0 h 1667655"/>
              <a:gd name="connsiteX2" fmla="*/ 4442993 w 4442993"/>
              <a:gd name="connsiteY2" fmla="*/ 1667655 h 1667655"/>
              <a:gd name="connsiteX3" fmla="*/ 0 w 4442993"/>
              <a:gd name="connsiteY3" fmla="*/ 1667655 h 1667655"/>
              <a:gd name="connsiteX4" fmla="*/ 0 w 4442993"/>
              <a:gd name="connsiteY4" fmla="*/ 0 h 166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42993" h="1667655">
                <a:moveTo>
                  <a:pt x="0" y="0"/>
                </a:moveTo>
                <a:lnTo>
                  <a:pt x="4442993" y="0"/>
                </a:lnTo>
                <a:lnTo>
                  <a:pt x="4442993" y="1667655"/>
                </a:lnTo>
                <a:lnTo>
                  <a:pt x="0" y="166765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6494" tIns="176494" rIns="176494" bIns="176494" numCol="1" spcCol="1270" rtlCol="1" anchor="ctr" anchorCtr="0">
            <a:noAutofit/>
          </a:bodyPr>
          <a:lstStyle/>
          <a:p>
            <a:pPr marL="0" lvl="0" indent="0" algn="r" defTabSz="800100" rtl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وضع </a:t>
            </a:r>
            <a:r>
              <a:rPr lang="ar" sz="18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خطة التطوير</a:t>
            </a:r>
            <a:r>
              <a:rPr lang="ar" sz="18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لتحسين أداء القائد الرياضي في المستقبل مثل الحصول على المؤهلات، والإرشاد، والمراقبة العملية، والعمل التطوعي.</a:t>
            </a:r>
            <a:endParaRPr lang="en-US" sz="18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04296-2E61-C8DD-8009-414895BA7AB1}"/>
              </a:ext>
            </a:extLst>
          </p:cNvPr>
          <p:cNvSpPr txBox="1"/>
          <p:nvPr/>
        </p:nvSpPr>
        <p:spPr>
          <a:xfrm>
            <a:off x="6232272" y="1719373"/>
            <a:ext cx="2692575" cy="2739211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تستخدم مراجعتك في القيادة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لوضع خطة عمل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تحتوي على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ثلاثة مجالات على الأقل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للتحسين،</a:t>
            </a: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وذلك لدعم تطوير أدائك المستقبلي في القيادة الرياضية.</a:t>
            </a:r>
          </a:p>
          <a:p>
            <a:pPr rtl="1"/>
            <a:endParaRPr lang="ar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None/>
            </a:pPr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7808D-3E84-D3D0-C142-B0543C736342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975951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94401DA-6915-759A-3AD6-DD87BC24D122}"/>
              </a:ext>
            </a:extLst>
          </p:cNvPr>
          <p:cNvSpPr txBox="1">
            <a:spLocks/>
          </p:cNvSpPr>
          <p:nvPr/>
        </p:nvSpPr>
        <p:spPr>
          <a:xfrm>
            <a:off x="491808" y="1029304"/>
            <a:ext cx="8147247" cy="433600"/>
          </a:xfrm>
          <a:prstGeom prst="rect">
            <a:avLst/>
          </a:prstGeom>
        </p:spPr>
        <p:txBody>
          <a:bodyPr rtlCol="1"/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cs typeface="Sakkal Majalla" panose="02000000000000000000" pitchFamily="2" charset="-78"/>
              </a:rPr>
              <a:t>ج3 كتابة خطة العمل- تحليل (SWOT)</a:t>
            </a:r>
            <a:endParaRPr lang="en-US" sz="24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0FFB95-1155-827D-B9C8-C4DF69E59982}"/>
              </a:ext>
            </a:extLst>
          </p:cNvPr>
          <p:cNvSpPr txBox="1"/>
          <p:nvPr/>
        </p:nvSpPr>
        <p:spPr>
          <a:xfrm>
            <a:off x="4688436" y="2764937"/>
            <a:ext cx="3600400" cy="1754326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القوة</a:t>
            </a:r>
          </a:p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 الفنية، والموهبة الفطرية، واللياقة البدنية، والمعرفة بالرياضة، والتحفيز، والانضباط، ودعم الأسرة.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ar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45BDF5-D9A3-5EE8-5AE3-FE3767899C82}"/>
              </a:ext>
            </a:extLst>
          </p:cNvPr>
          <p:cNvSpPr txBox="1"/>
          <p:nvPr/>
        </p:nvSpPr>
        <p:spPr>
          <a:xfrm>
            <a:off x="4688436" y="4789410"/>
            <a:ext cx="3600400" cy="1754326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الضعف</a:t>
            </a:r>
          </a:p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الثغرات في المهارات الفنية، والعادات سيئة، وضعف إدارة الوقت، وقابلية للتعرّض للإصابة، والخبرة المحدودة.</a:t>
            </a:r>
          </a:p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08EFA8-C293-2D6C-F395-115EB7465D84}"/>
              </a:ext>
            </a:extLst>
          </p:cNvPr>
          <p:cNvSpPr txBox="1"/>
          <p:nvPr/>
        </p:nvSpPr>
        <p:spPr>
          <a:xfrm>
            <a:off x="948428" y="2764937"/>
            <a:ext cx="36004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الفرص</a:t>
            </a:r>
          </a:p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إمكانية الانضمام إلى أكاديمية الناشئين، وفرصة للتعلّم من بطل سابق، وفرصة للمشاركة في بطولة وطنية.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ar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F2462-1A3A-BF7F-8CC5-1117CB08B4D9}"/>
              </a:ext>
            </a:extLst>
          </p:cNvPr>
          <p:cNvSpPr txBox="1"/>
          <p:nvPr/>
        </p:nvSpPr>
        <p:spPr>
          <a:xfrm>
            <a:off x="968205" y="4789410"/>
            <a:ext cx="3600400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التهديدات</a:t>
            </a:r>
          </a:p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الوقت المحدود للتدريب، والضغط الدراسي، وفقدان الاهتمام، ونقص الدعم.</a:t>
            </a:r>
          </a:p>
          <a:p>
            <a:pPr algn="ctr"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3E5F0-B404-227D-89C9-39285EB3C725}"/>
              </a:ext>
            </a:extLst>
          </p:cNvPr>
          <p:cNvSpPr txBox="1"/>
          <p:nvPr/>
        </p:nvSpPr>
        <p:spPr>
          <a:xfrm>
            <a:off x="277183" y="1566422"/>
            <a:ext cx="854328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يدرس هذا المثال لتحليل (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SWOT)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القوة والضعف (عوامل داخلية)، والفرص والتهديدات (عوامل خارجية) لدى رياضي ناشئ.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9ADDAE4-6803-567F-4EE6-257B5B3F2E23}"/>
              </a:ext>
            </a:extLst>
          </p:cNvPr>
          <p:cNvSpPr txBox="1">
            <a:spLocks/>
          </p:cNvSpPr>
          <p:nvPr/>
        </p:nvSpPr>
        <p:spPr>
          <a:xfrm>
            <a:off x="4644531" y="2296477"/>
            <a:ext cx="3600400" cy="433600"/>
          </a:xfrm>
          <a:prstGeom prst="rect">
            <a:avLst/>
          </a:prstGeom>
        </p:spPr>
        <p:txBody>
          <a:bodyPr rtlCol="1"/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18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الداخلية</a:t>
            </a:r>
            <a:endParaRPr lang="en-US" sz="18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4907C72-4C0E-CA74-97E1-028FAA980C59}"/>
              </a:ext>
            </a:extLst>
          </p:cNvPr>
          <p:cNvSpPr txBox="1">
            <a:spLocks/>
          </p:cNvSpPr>
          <p:nvPr/>
        </p:nvSpPr>
        <p:spPr>
          <a:xfrm>
            <a:off x="1009443" y="2323404"/>
            <a:ext cx="3600400" cy="433600"/>
          </a:xfrm>
          <a:prstGeom prst="rect">
            <a:avLst/>
          </a:prstGeom>
        </p:spPr>
        <p:txBody>
          <a:bodyPr rtlCol="1"/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" sz="1800" b="1" kern="0">
                <a:latin typeface="Sakkal Majalla" panose="02000000000000000000" pitchFamily="2" charset="-78"/>
                <a:cs typeface="Sakkal Majalla" panose="02000000000000000000" pitchFamily="2" charset="-78"/>
              </a:rPr>
              <a:t>العوامل الخارجية</a:t>
            </a:r>
            <a:endParaRPr lang="en-US" sz="18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A78EA-3B4A-946B-DD86-38B1B9690BDF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1315869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8BC06F-6DCD-C4EA-CC28-469D85F7C086}"/>
              </a:ext>
            </a:extLst>
          </p:cNvPr>
          <p:cNvSpPr txBox="1"/>
          <p:nvPr/>
        </p:nvSpPr>
        <p:spPr>
          <a:xfrm>
            <a:off x="113822" y="1071941"/>
            <a:ext cx="8784976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400" b="1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akkal Majalla" panose="02000000000000000000" pitchFamily="2" charset="-78"/>
                <a:cs typeface="Sakkal Majalla" panose="02000000000000000000" pitchFamily="2" charset="-78"/>
              </a:rPr>
              <a:t>ج3 كتابة خطة العمل - خطة التطوير</a:t>
            </a:r>
            <a:endParaRPr lang="en-US" sz="24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33282F-56FD-2AE7-A75D-90AA225A7C97}"/>
              </a:ext>
            </a:extLst>
          </p:cNvPr>
          <p:cNvSpPr txBox="1"/>
          <p:nvPr/>
        </p:nvSpPr>
        <p:spPr>
          <a:xfrm>
            <a:off x="5691674" y="1721950"/>
            <a:ext cx="2952328" cy="3477875"/>
          </a:xfrm>
          <a:prstGeom prst="rect">
            <a:avLst/>
          </a:prstGeom>
          <a:solidFill>
            <a:schemeClr val="accent1">
              <a:lumMod val="90000"/>
            </a:schemeClr>
          </a:solidFill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تضع خطة التطوير أهدافًا ذكية تحقق معيار (SMART).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تُبرز الحاجة إلى التطوير، والإجراءات المطلوبة، والدعم اللازم لتحقيق ذلك.</a:t>
            </a:r>
          </a:p>
          <a:p>
            <a:pPr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تحتوي على مواعيد نهائية أو معالم مرحلية لكل حاجة تطويرية.</a:t>
            </a:r>
          </a:p>
          <a:p>
            <a:pPr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تتيح تسجيل التقدّم المحرز.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70F5BC-B20C-15E4-5F55-0B1EA977D1C1}"/>
              </a:ext>
            </a:extLst>
          </p:cNvPr>
          <p:cNvSpPr/>
          <p:nvPr/>
        </p:nvSpPr>
        <p:spPr>
          <a:xfrm>
            <a:off x="347666" y="1662155"/>
            <a:ext cx="5016422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Rectangle 6" descr="Clipboard Badge with solid fill">
            <a:extLst>
              <a:ext uri="{FF2B5EF4-FFF2-40B4-BE49-F238E27FC236}">
                <a16:creationId xmlns:a16="http://schemas.microsoft.com/office/drawing/2014/main" id="{A5224032-64BC-A730-5CE1-BF5DDB7F55FA}"/>
              </a:ext>
            </a:extLst>
          </p:cNvPr>
          <p:cNvSpPr/>
          <p:nvPr/>
        </p:nvSpPr>
        <p:spPr>
          <a:xfrm>
            <a:off x="4685227" y="1841327"/>
            <a:ext cx="437975" cy="437975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7658018-7538-1B9F-1790-6F1411B0C4C7}"/>
              </a:ext>
            </a:extLst>
          </p:cNvPr>
          <p:cNvSpPr/>
          <p:nvPr/>
        </p:nvSpPr>
        <p:spPr>
          <a:xfrm>
            <a:off x="347666" y="1662155"/>
            <a:ext cx="4096673" cy="796319"/>
          </a:xfrm>
          <a:custGeom>
            <a:avLst/>
            <a:gdLst>
              <a:gd name="connsiteX0" fmla="*/ 0 w 4096673"/>
              <a:gd name="connsiteY0" fmla="*/ 0 h 796319"/>
              <a:gd name="connsiteX1" fmla="*/ 4096673 w 4096673"/>
              <a:gd name="connsiteY1" fmla="*/ 0 h 796319"/>
              <a:gd name="connsiteX2" fmla="*/ 4096673 w 4096673"/>
              <a:gd name="connsiteY2" fmla="*/ 796319 h 796319"/>
              <a:gd name="connsiteX3" fmla="*/ 0 w 4096673"/>
              <a:gd name="connsiteY3" fmla="*/ 796319 h 796319"/>
              <a:gd name="connsiteX4" fmla="*/ 0 w 4096673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6673" h="796319">
                <a:moveTo>
                  <a:pt x="0" y="0"/>
                </a:moveTo>
                <a:lnTo>
                  <a:pt x="4096673" y="0"/>
                </a:lnTo>
                <a:lnTo>
                  <a:pt x="4096673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الحاجة</a:t>
            </a:r>
            <a:r>
              <a:rPr lang="ar" sz="2400" b="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التطويرية</a:t>
            </a:r>
            <a:endParaRPr lang="en-US" sz="24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37C91A-C9F3-10E7-9674-5C0566C3E297}"/>
              </a:ext>
            </a:extLst>
          </p:cNvPr>
          <p:cNvSpPr/>
          <p:nvPr/>
        </p:nvSpPr>
        <p:spPr>
          <a:xfrm>
            <a:off x="347666" y="2657555"/>
            <a:ext cx="5016422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0" name="Rectangle 9" descr="Checkmark">
            <a:extLst>
              <a:ext uri="{FF2B5EF4-FFF2-40B4-BE49-F238E27FC236}">
                <a16:creationId xmlns:a16="http://schemas.microsoft.com/office/drawing/2014/main" id="{25B98FD9-3EC0-DAF1-B9E8-6FBCA8EF8819}"/>
              </a:ext>
            </a:extLst>
          </p:cNvPr>
          <p:cNvSpPr/>
          <p:nvPr/>
        </p:nvSpPr>
        <p:spPr>
          <a:xfrm>
            <a:off x="4685227" y="2836727"/>
            <a:ext cx="437975" cy="437975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8B82170-66DE-317E-ADE4-09459B8AACC4}"/>
              </a:ext>
            </a:extLst>
          </p:cNvPr>
          <p:cNvSpPr/>
          <p:nvPr/>
        </p:nvSpPr>
        <p:spPr>
          <a:xfrm>
            <a:off x="347666" y="2657555"/>
            <a:ext cx="4096673" cy="796319"/>
          </a:xfrm>
          <a:custGeom>
            <a:avLst/>
            <a:gdLst>
              <a:gd name="connsiteX0" fmla="*/ 0 w 4096673"/>
              <a:gd name="connsiteY0" fmla="*/ 0 h 796319"/>
              <a:gd name="connsiteX1" fmla="*/ 4096673 w 4096673"/>
              <a:gd name="connsiteY1" fmla="*/ 0 h 796319"/>
              <a:gd name="connsiteX2" fmla="*/ 4096673 w 4096673"/>
              <a:gd name="connsiteY2" fmla="*/ 796319 h 796319"/>
              <a:gd name="connsiteX3" fmla="*/ 0 w 4096673"/>
              <a:gd name="connsiteY3" fmla="*/ 796319 h 796319"/>
              <a:gd name="connsiteX4" fmla="*/ 0 w 4096673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6673" h="796319">
                <a:moveTo>
                  <a:pt x="0" y="0"/>
                </a:moveTo>
                <a:lnTo>
                  <a:pt x="4096673" y="0"/>
                </a:lnTo>
                <a:lnTo>
                  <a:pt x="4096673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الإجراء الواجب اتخاذه</a:t>
            </a:r>
            <a:endParaRPr lang="en-US" sz="22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5FAE08-8573-BB74-0198-11102B98738F}"/>
              </a:ext>
            </a:extLst>
          </p:cNvPr>
          <p:cNvSpPr/>
          <p:nvPr/>
        </p:nvSpPr>
        <p:spPr>
          <a:xfrm>
            <a:off x="347666" y="3652954"/>
            <a:ext cx="5016422" cy="796319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Rectangle 12" descr="Users">
            <a:extLst>
              <a:ext uri="{FF2B5EF4-FFF2-40B4-BE49-F238E27FC236}">
                <a16:creationId xmlns:a16="http://schemas.microsoft.com/office/drawing/2014/main" id="{1077EF67-1BB3-7334-27FD-1FD609B55A01}"/>
              </a:ext>
            </a:extLst>
          </p:cNvPr>
          <p:cNvSpPr/>
          <p:nvPr/>
        </p:nvSpPr>
        <p:spPr>
          <a:xfrm>
            <a:off x="4685227" y="3832126"/>
            <a:ext cx="437975" cy="437975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9A7E5BA-85D1-BDE7-0463-40491090B0F6}"/>
              </a:ext>
            </a:extLst>
          </p:cNvPr>
          <p:cNvSpPr/>
          <p:nvPr/>
        </p:nvSpPr>
        <p:spPr>
          <a:xfrm>
            <a:off x="347666" y="3652954"/>
            <a:ext cx="4096673" cy="796319"/>
          </a:xfrm>
          <a:custGeom>
            <a:avLst/>
            <a:gdLst>
              <a:gd name="connsiteX0" fmla="*/ 0 w 4096673"/>
              <a:gd name="connsiteY0" fmla="*/ 0 h 796319"/>
              <a:gd name="connsiteX1" fmla="*/ 4096673 w 4096673"/>
              <a:gd name="connsiteY1" fmla="*/ 0 h 796319"/>
              <a:gd name="connsiteX2" fmla="*/ 4096673 w 4096673"/>
              <a:gd name="connsiteY2" fmla="*/ 796319 h 796319"/>
              <a:gd name="connsiteX3" fmla="*/ 0 w 4096673"/>
              <a:gd name="connsiteY3" fmla="*/ 796319 h 796319"/>
              <a:gd name="connsiteX4" fmla="*/ 0 w 4096673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6673" h="796319">
                <a:moveTo>
                  <a:pt x="0" y="0"/>
                </a:moveTo>
                <a:lnTo>
                  <a:pt x="4096673" y="0"/>
                </a:lnTo>
                <a:lnTo>
                  <a:pt x="4096673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b="0" kern="1200">
                <a:latin typeface="Sakkal Majalla" panose="02000000000000000000" pitchFamily="2" charset="-78"/>
                <a:cs typeface="Sakkal Majalla" panose="02000000000000000000" pitchFamily="2" charset="-78"/>
              </a:rPr>
              <a:t>الدعم المطلوب</a:t>
            </a:r>
            <a:endParaRPr lang="en-US" sz="2200" b="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B28531-999D-8EA3-AE76-110709EED900}"/>
              </a:ext>
            </a:extLst>
          </p:cNvPr>
          <p:cNvSpPr/>
          <p:nvPr/>
        </p:nvSpPr>
        <p:spPr>
          <a:xfrm>
            <a:off x="347666" y="4648354"/>
            <a:ext cx="5016422" cy="796319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 descr="Hourglass">
            <a:extLst>
              <a:ext uri="{FF2B5EF4-FFF2-40B4-BE49-F238E27FC236}">
                <a16:creationId xmlns:a16="http://schemas.microsoft.com/office/drawing/2014/main" id="{D3C868F5-DE5F-F9DC-3BE8-E3E2EB25AAC9}"/>
              </a:ext>
            </a:extLst>
          </p:cNvPr>
          <p:cNvSpPr/>
          <p:nvPr/>
        </p:nvSpPr>
        <p:spPr>
          <a:xfrm>
            <a:off x="4685227" y="4827526"/>
            <a:ext cx="437975" cy="437975"/>
          </a:xfrm>
          <a:prstGeom prst="rect">
            <a:avLst/>
          </a:prstGeom>
          <a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839E2AC-DF22-AFDF-A82C-9A721A44F12A}"/>
              </a:ext>
            </a:extLst>
          </p:cNvPr>
          <p:cNvSpPr/>
          <p:nvPr/>
        </p:nvSpPr>
        <p:spPr>
          <a:xfrm>
            <a:off x="347666" y="4648354"/>
            <a:ext cx="4096673" cy="796319"/>
          </a:xfrm>
          <a:custGeom>
            <a:avLst/>
            <a:gdLst>
              <a:gd name="connsiteX0" fmla="*/ 0 w 4096673"/>
              <a:gd name="connsiteY0" fmla="*/ 0 h 796319"/>
              <a:gd name="connsiteX1" fmla="*/ 4096673 w 4096673"/>
              <a:gd name="connsiteY1" fmla="*/ 0 h 796319"/>
              <a:gd name="connsiteX2" fmla="*/ 4096673 w 4096673"/>
              <a:gd name="connsiteY2" fmla="*/ 796319 h 796319"/>
              <a:gd name="connsiteX3" fmla="*/ 0 w 4096673"/>
              <a:gd name="connsiteY3" fmla="*/ 796319 h 796319"/>
              <a:gd name="connsiteX4" fmla="*/ 0 w 4096673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6673" h="796319">
                <a:moveTo>
                  <a:pt x="0" y="0"/>
                </a:moveTo>
                <a:lnTo>
                  <a:pt x="4096673" y="0"/>
                </a:lnTo>
                <a:lnTo>
                  <a:pt x="4096673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الموعد النهائي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15183F-53FA-B25A-C3E6-C530AF027824}"/>
              </a:ext>
            </a:extLst>
          </p:cNvPr>
          <p:cNvSpPr/>
          <p:nvPr/>
        </p:nvSpPr>
        <p:spPr>
          <a:xfrm>
            <a:off x="347666" y="5643753"/>
            <a:ext cx="5016422" cy="796319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GB"/>
          </a:p>
        </p:txBody>
      </p:sp>
      <p:sp>
        <p:nvSpPr>
          <p:cNvPr id="19" name="Rectangle 18" descr="Business Growth with solid fill">
            <a:extLst>
              <a:ext uri="{FF2B5EF4-FFF2-40B4-BE49-F238E27FC236}">
                <a16:creationId xmlns:a16="http://schemas.microsoft.com/office/drawing/2014/main" id="{F3B9F0C9-E03D-3566-2E08-574511B40B44}"/>
              </a:ext>
            </a:extLst>
          </p:cNvPr>
          <p:cNvSpPr/>
          <p:nvPr/>
        </p:nvSpPr>
        <p:spPr>
          <a:xfrm>
            <a:off x="4685227" y="5822925"/>
            <a:ext cx="437975" cy="437975"/>
          </a:xfrm>
          <a:prstGeom prst="rect">
            <a:avLst/>
          </a:pr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BBFD214-BBDF-7D1B-F207-9446BB75F257}"/>
              </a:ext>
            </a:extLst>
          </p:cNvPr>
          <p:cNvSpPr/>
          <p:nvPr/>
        </p:nvSpPr>
        <p:spPr>
          <a:xfrm>
            <a:off x="347666" y="5643753"/>
            <a:ext cx="4096673" cy="796319"/>
          </a:xfrm>
          <a:custGeom>
            <a:avLst/>
            <a:gdLst>
              <a:gd name="connsiteX0" fmla="*/ 0 w 4096673"/>
              <a:gd name="connsiteY0" fmla="*/ 0 h 796319"/>
              <a:gd name="connsiteX1" fmla="*/ 4096673 w 4096673"/>
              <a:gd name="connsiteY1" fmla="*/ 0 h 796319"/>
              <a:gd name="connsiteX2" fmla="*/ 4096673 w 4096673"/>
              <a:gd name="connsiteY2" fmla="*/ 796319 h 796319"/>
              <a:gd name="connsiteX3" fmla="*/ 0 w 4096673"/>
              <a:gd name="connsiteY3" fmla="*/ 796319 h 796319"/>
              <a:gd name="connsiteX4" fmla="*/ 0 w 4096673"/>
              <a:gd name="connsiteY4" fmla="*/ 0 h 796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6673" h="796319">
                <a:moveTo>
                  <a:pt x="0" y="0"/>
                </a:moveTo>
                <a:lnTo>
                  <a:pt x="4096673" y="0"/>
                </a:lnTo>
                <a:lnTo>
                  <a:pt x="4096673" y="796319"/>
                </a:lnTo>
                <a:lnTo>
                  <a:pt x="0" y="79631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4277" tIns="84277" rIns="84277" bIns="84277" numCol="1" spcCol="1270" rtlCol="1" anchor="ctr" anchorCtr="0">
            <a:noAutofit/>
          </a:bodyPr>
          <a:lstStyle/>
          <a:p>
            <a:pPr marL="0" lvl="0" indent="0" algn="r" defTabSz="977900" rtl="1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ar" sz="22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التقدّم المُحرز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ED0B6-22E4-812A-9374-78A23A517EB0}"/>
              </a:ext>
            </a:extLst>
          </p:cNvPr>
          <p:cNvSpPr txBox="1"/>
          <p:nvPr/>
        </p:nvSpPr>
        <p:spPr>
          <a:xfrm>
            <a:off x="-36512" y="6576591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A103000424356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08717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EB83A-F3FF-7F4A-B0E6-7F69FC475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9EFF56A7-02D6-C771-2571-A10B7B48A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Times New Roman" panose="02020603050405020304" pitchFamily="18" charset="0"/>
                <a:cs typeface="Times New Roman" panose="02020603050405020304" pitchFamily="18" charset="0"/>
              </a:rPr>
              <a:t>شكر وتقدير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9FDB783-D7F9-BAE3-873E-F6FB4F79B3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576" y="2205038"/>
            <a:ext cx="8083624" cy="2657475"/>
          </a:xfrm>
        </p:spPr>
        <p:txBody>
          <a:bodyPr rtlCol="1"/>
          <a:lstStyle/>
          <a:p>
            <a:pPr marL="0" indent="0" rtl="1">
              <a:lnSpc>
                <a:spcPct val="120000"/>
              </a:lnSpc>
              <a:buNone/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الصور: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rtl="1">
              <a:lnSpc>
                <a:spcPct val="120000"/>
              </a:lnSpc>
            </a:pP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(دليل الاختصارات: l-يسار، r-يمين، c-وسط، t-أعلى، b-أسفل) </a:t>
            </a:r>
          </a:p>
          <a:p>
            <a:pPr rtl="1">
              <a:lnSpc>
                <a:spcPct val="120000"/>
              </a:lnSpc>
            </a:pP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123 آر إف: 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هونغتشي تشانغ (الشريحة 1)، </a:t>
            </a:r>
            <a:r>
              <a:rPr lang="a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شترستوك:</a:t>
            </a:r>
            <a:r>
              <a:rPr lang="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برس ماستر (الشريحة 7)، مايكل يونغ (الشريحة 8)، مايك فليبو (الشريحة 9)، Rawpixel.com (الشريحة 11)، يوروبانكس (الشريحة 23)، تيرو فيسالاينن (الشريحة 24)، درازن زيجيك (الشريحة 25). </a:t>
            </a:r>
          </a:p>
          <a:p>
            <a:pPr rtl="1">
              <a:lnSpc>
                <a:spcPct val="12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1296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  <SharedWithUsers xmlns="a26a0597-d0d1-4250-940c-88e9bf9d5597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de24caa4c0e3be310f88c5303a429eda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13345d94bc33d60197014d8f23048d11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48C615-482B-4AB5-9FE7-A2F3E6CFF2B1}">
  <ds:schemaRefs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  <ds:schemaRef ds:uri="6125ffc9-2c56-435e-8267-1393444907b2"/>
    <ds:schemaRef ds:uri="http://schemas.openxmlformats.org/package/2006/metadata/core-properties"/>
    <ds:schemaRef ds:uri="http://schemas.microsoft.com/office/2006/documentManagement/types"/>
    <ds:schemaRef ds:uri="7c1bd8dc-4e40-424f-a15f-9ffcd522197f"/>
    <ds:schemaRef ds:uri="http://schemas.microsoft.com/sharepoint/v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FFF33C7-704B-4814-ACF7-6288F6225E3F}"/>
</file>

<file path=docProps/app.xml><?xml version="1.0" encoding="utf-8"?>
<Properties xmlns="http://schemas.openxmlformats.org/officeDocument/2006/extended-properties" xmlns:vt="http://schemas.openxmlformats.org/officeDocument/2006/docPropsVTypes">
  <TotalTime>9406</TotalTime>
  <Words>2214</Words>
  <Application>Microsoft Office PowerPoint</Application>
  <PresentationFormat>On-screen Show (4:3)</PresentationFormat>
  <Paragraphs>413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32</vt:i4>
      </vt:variant>
    </vt:vector>
  </HeadingPairs>
  <TitlesOfParts>
    <vt:vector size="52" baseType="lpstr">
      <vt:lpstr>Arial</vt:lpstr>
      <vt:lpstr>Roboto</vt:lpstr>
      <vt:lpstr>Sakkal Majalla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الوحدة 6 القيادة في مجال الرياضة   </vt:lpstr>
      <vt:lpstr>القيادة في مجال الرياضة</vt:lpstr>
      <vt:lpstr>كيف يتم تقييم الوحدة 6؟</vt:lpstr>
      <vt:lpstr>نتاجا التعلُّم أ - ج</vt:lpstr>
      <vt:lpstr>PowerPoint Presentation</vt:lpstr>
      <vt:lpstr>PowerPoint Presentation</vt:lpstr>
      <vt:lpstr>أ2 سمات القائد الرياضي </vt:lpstr>
      <vt:lpstr>أ2 سمات القائد الرياضي </vt:lpstr>
      <vt:lpstr>أ2 سمات القائد الرياضي ما المهارات التي يحتاج إليها القائد الرياضي؟  </vt:lpstr>
      <vt:lpstr>أ2 سمات القائد الرياضي </vt:lpstr>
      <vt:lpstr>أ2 سمات القائد الرياضي ما المهارات التي يحتاج إليها القائد الرياضي؟ </vt:lpstr>
      <vt:lpstr>أ2 سمات القائد الرياضي </vt:lpstr>
      <vt:lpstr>أ3 مسؤوليات القائد الرياضي تحمّل المسؤولية عما يقع ضمن نطاق واجباتك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ب3 تخطيط الوحدة</vt:lpstr>
      <vt:lpstr>ب3 تخطيط الوحدة</vt:lpstr>
      <vt:lpstr>ب3 تخطيط الوحدة</vt:lpstr>
      <vt:lpstr>ب3 تخطيط الوحدة</vt:lpstr>
      <vt:lpstr>ب3 تخطيط الوحدة</vt:lpstr>
      <vt:lpstr>PowerPoint Presentation</vt:lpstr>
      <vt:lpstr>ج1 قيادة وحدة نشاط رياضي</vt:lpstr>
      <vt:lpstr>ج2 مراجعة القيادة في الرياضة</vt:lpstr>
      <vt:lpstr>ج3 كتابة خطة العمل تحليل (SWOT) وخطة التطوير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 </dc:title>
  <dc:creator>Microsoft Office User</dc:creator>
  <cp:lastModifiedBy>Paul Winser</cp:lastModifiedBy>
  <cp:revision>222</cp:revision>
  <dcterms:created xsi:type="dcterms:W3CDTF">2020-07-15T07:14:47Z</dcterms:created>
  <dcterms:modified xsi:type="dcterms:W3CDTF">2025-09-26T08:14:26Z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  <property fmtid="{D5CDD505-2E9C-101B-9397-08002B2CF9AE}" pid="5" name="Order">
    <vt:r8>17596500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