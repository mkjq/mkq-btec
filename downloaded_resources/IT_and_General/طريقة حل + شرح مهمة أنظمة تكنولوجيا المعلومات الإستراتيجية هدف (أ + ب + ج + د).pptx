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11AA5D1-263F-49A9-8B86-F65F5A2E7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A11AA5D1-263F-49A9-8B86-F65F5A2E7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A11AA5D1-263F-49A9-8B86-F65F5A2E7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A11AA5D1-263F-49A9-8B86-F65F5A2E739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A11AA5D1-263F-49A9-8B86-F65F5A2E739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11AA5D1-263F-49A9-8B86-F65F5A2E739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1AA5D1-263F-49A9-8B86-F65F5A2E739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A11AA5D1-263F-49A9-8B86-F65F5A2E739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A11AA5D1-263F-49A9-8B86-F65F5A2E739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A11AA5D1-263F-49A9-8B86-F65F5A2E7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A11AA5D1-263F-49A9-8B86-F65F5A2E739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434644-A639-45E0-B59D-A46E11A6B66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1AA5D1-263F-49A9-8B86-F65F5A2E739A}" type="datetimeFigureOut">
              <a:rPr lang="en-US" smtClean="0"/>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434644-A639-45E0-B59D-A46E11A6B662}"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5317" y="-202222"/>
            <a:ext cx="11614639" cy="2743199"/>
          </a:xfrm>
        </p:spPr>
        <p:txBody>
          <a:bodyPr>
            <a:normAutofit/>
          </a:bodyPr>
          <a:lstStyle/>
          <a:p>
            <a:r>
              <a:rPr lang="ar-JO" sz="5400" dirty="0"/>
              <a:t>شرح معايير جميع الأهداف انظمة تكنولوجيا المعلومات </a:t>
            </a:r>
            <a:endParaRPr lang="en-US" sz="5400" dirty="0"/>
          </a:p>
        </p:txBody>
      </p:sp>
      <p:sp>
        <p:nvSpPr>
          <p:cNvPr id="6" name="Subtitle 5"/>
          <p:cNvSpPr>
            <a:spLocks noGrp="1"/>
          </p:cNvSpPr>
          <p:nvPr>
            <p:ph type="subTitle" idx="1"/>
          </p:nvPr>
        </p:nvSpPr>
        <p:spPr>
          <a:xfrm>
            <a:off x="167055" y="5846884"/>
            <a:ext cx="3297115" cy="835269"/>
          </a:xfrm>
        </p:spPr>
        <p:txBody>
          <a:bodyPr/>
          <a:lstStyle/>
          <a:p>
            <a:pPr lvl="0" algn="l"/>
            <a:r>
              <a:rPr lang="ar-JO" altLang="en-US" b="1" dirty="0" smtClean="0">
                <a:solidFill>
                  <a:schemeClr val="tx1">
                    <a:lumMod val="50000"/>
                    <a:lumOff val="50000"/>
                  </a:schemeClr>
                </a:solidFill>
              </a:rPr>
              <a:t>    </a:t>
            </a:r>
            <a:r>
              <a:rPr lang="en-US" altLang="en-US" b="1" dirty="0" err="1" smtClean="0">
                <a:solidFill>
                  <a:schemeClr val="tx1">
                    <a:lumMod val="50000"/>
                    <a:lumOff val="50000"/>
                  </a:schemeClr>
                </a:solidFill>
              </a:rPr>
              <a:t>aihmad</a:t>
            </a:r>
            <a:r>
              <a:rPr lang="en-US" altLang="en-US" b="1" dirty="0" smtClean="0">
                <a:solidFill>
                  <a:schemeClr val="tx1">
                    <a:lumMod val="50000"/>
                    <a:lumOff val="50000"/>
                  </a:schemeClr>
                </a:solidFill>
              </a:rPr>
              <a:t> </a:t>
            </a:r>
            <a:r>
              <a:rPr lang="ar-JO" altLang="en-US" b="1" dirty="0" smtClean="0">
                <a:solidFill>
                  <a:schemeClr val="tx1">
                    <a:lumMod val="50000"/>
                    <a:lumOff val="50000"/>
                  </a:schemeClr>
                </a:solidFill>
              </a:rPr>
              <a:t>       </a:t>
            </a:r>
            <a:r>
              <a:rPr lang="en-US" altLang="en-US" b="1" dirty="0" err="1" smtClean="0">
                <a:solidFill>
                  <a:schemeClr val="tx1">
                    <a:lumMod val="50000"/>
                    <a:lumOff val="50000"/>
                  </a:schemeClr>
                </a:solidFill>
              </a:rPr>
              <a:t>alfaqih</a:t>
            </a:r>
            <a:r>
              <a:rPr lang="ar-JO" altLang="en-US" b="1" dirty="0" smtClean="0">
                <a:solidFill>
                  <a:schemeClr val="tx1">
                    <a:lumMod val="50000"/>
                    <a:lumOff val="50000"/>
                  </a:schemeClr>
                </a:solidFill>
              </a:rPr>
              <a:t>     </a:t>
            </a:r>
            <a:endParaRPr lang="en-US" altLang="en-US" b="1" dirty="0">
              <a:solidFill>
                <a:schemeClr val="tx1">
                  <a:lumMod val="50000"/>
                  <a:lumOff val="50000"/>
                </a:schemeClr>
              </a:solidFill>
            </a:endParaRPr>
          </a:p>
          <a:p>
            <a:endParaRPr lang="en-US"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48408"/>
            <a:ext cx="10515600" cy="1242280"/>
          </a:xfrm>
        </p:spPr>
        <p:txBody>
          <a:bodyPr>
            <a:noAutofit/>
          </a:bodyPr>
          <a:lstStyle/>
          <a:p>
            <a:pPr algn="r"/>
            <a:r>
              <a:rPr lang="ar-JO" sz="3200" dirty="0"/>
              <a:t>هدف أ </a:t>
            </a:r>
            <a:r>
              <a:rPr lang="en-US" sz="3200" b="1" dirty="0"/>
              <a:t>A.P1 </a:t>
            </a:r>
            <a:br>
              <a:rPr lang="ar-JO" sz="3200" dirty="0"/>
            </a:br>
            <a:endParaRPr lang="en-US" sz="3200" dirty="0"/>
          </a:p>
        </p:txBody>
      </p:sp>
      <p:sp>
        <p:nvSpPr>
          <p:cNvPr id="3" name="Content Placeholder 2"/>
          <p:cNvSpPr>
            <a:spLocks noGrp="1"/>
          </p:cNvSpPr>
          <p:nvPr>
            <p:ph idx="1"/>
          </p:nvPr>
        </p:nvSpPr>
        <p:spPr>
          <a:xfrm>
            <a:off x="838200" y="1151793"/>
            <a:ext cx="10515600" cy="4141177"/>
          </a:xfrm>
        </p:spPr>
        <p:txBody>
          <a:bodyPr>
            <a:noAutofit/>
          </a:bodyPr>
          <a:lstStyle/>
          <a:p>
            <a:pPr algn="r" rtl="1"/>
            <a:r>
              <a:rPr lang="ar-JO" sz="1400" b="1" dirty="0"/>
              <a:t>البرمجيات وكيف تلبي احتياجات الشركة</a:t>
            </a:r>
            <a:endParaRPr lang="ar-JO" sz="1400" b="1" dirty="0"/>
          </a:p>
          <a:p>
            <a:pPr algn="r" rtl="1"/>
            <a:r>
              <a:rPr lang="ar-JO" sz="1400" dirty="0"/>
              <a:t>تُستخدم البرامج المختلفة داخل الشركة لدعم العمل وتحسين الأداء.</a:t>
            </a:r>
            <a:br>
              <a:rPr lang="ar-JO" sz="1400" dirty="0"/>
            </a:br>
            <a:r>
              <a:rPr lang="ar-JO" sz="1400" dirty="0"/>
              <a:t>تشمل هذه البرامج:</a:t>
            </a:r>
            <a:endParaRPr lang="ar-JO" sz="1400" dirty="0"/>
          </a:p>
          <a:p>
            <a:pPr algn="r" rtl="1"/>
            <a:r>
              <a:rPr lang="ar-JO" sz="1400" b="1" dirty="0"/>
              <a:t>إدارة الموارد البشرية</a:t>
            </a:r>
            <a:r>
              <a:rPr lang="ar-JO" sz="1400" dirty="0"/>
              <a:t>: لتنظيم دوام الموظفين وحساب الرواتب.</a:t>
            </a:r>
            <a:endParaRPr lang="ar-JO" sz="1400" dirty="0"/>
          </a:p>
          <a:p>
            <a:pPr algn="r" rtl="1"/>
            <a:r>
              <a:rPr lang="ar-JO" sz="1400" b="1" dirty="0"/>
              <a:t>إدارة علاقات العملاء </a:t>
            </a:r>
            <a:r>
              <a:rPr lang="en-US" sz="1400" b="1" dirty="0"/>
              <a:t>CRM</a:t>
            </a:r>
            <a:r>
              <a:rPr lang="en-US" sz="1400" dirty="0"/>
              <a:t>: </a:t>
            </a:r>
            <a:r>
              <a:rPr lang="ar-JO" sz="1400" dirty="0"/>
              <a:t>لحفظ بيانات العملاء وتتبع الطلبات والفواتير والاستفسارات.</a:t>
            </a:r>
            <a:endParaRPr lang="ar-JO" sz="1400" dirty="0"/>
          </a:p>
          <a:p>
            <a:pPr algn="r" rtl="1"/>
            <a:r>
              <a:rPr lang="ar-JO" sz="1400" b="1" dirty="0"/>
              <a:t>إدارة المخزون</a:t>
            </a:r>
            <a:r>
              <a:rPr lang="ar-JO" sz="1400" dirty="0"/>
              <a:t>: لمتابعة حركة البضائع والمستودعات بشكل دقيق.</a:t>
            </a:r>
            <a:endParaRPr lang="ar-JO" sz="1400" dirty="0"/>
          </a:p>
          <a:p>
            <a:pPr algn="r" rtl="1"/>
            <a:r>
              <a:rPr lang="ar-JO" sz="1400" b="1" dirty="0"/>
              <a:t>برامج المراقبة</a:t>
            </a:r>
            <a:r>
              <a:rPr lang="ar-JO" sz="1400" dirty="0"/>
              <a:t>: لربط الكاميرات وأجهزة الاستشعار لضمان الأمان.</a:t>
            </a:r>
            <a:endParaRPr lang="ar-JO" sz="1400" dirty="0"/>
          </a:p>
          <a:p>
            <a:pPr algn="r" rtl="1"/>
            <a:r>
              <a:rPr lang="ar-JO" sz="1400" b="1" dirty="0"/>
              <a:t>البرامج المحاسبية</a:t>
            </a:r>
            <a:r>
              <a:rPr lang="ar-JO" sz="1400" dirty="0"/>
              <a:t>: لتتبع الإيرادات والمصروفات وإعداد الميزانيات.</a:t>
            </a:r>
            <a:endParaRPr lang="ar-JO" sz="1400" dirty="0"/>
          </a:p>
          <a:p>
            <a:pPr algn="r" rtl="1"/>
            <a:r>
              <a:rPr lang="ar-JO" sz="1400" b="1" dirty="0"/>
              <a:t>البرامج المساعدة</a:t>
            </a:r>
            <a:r>
              <a:rPr lang="ar-JO" sz="1400" dirty="0"/>
              <a:t>: مثل برامج النسخ الاحتياطي ومضادات الفيروسات وتنظيم الملفات.</a:t>
            </a:r>
            <a:endParaRPr lang="ar-JO" sz="1400" dirty="0"/>
          </a:p>
          <a:p>
            <a:pPr algn="r" rtl="1"/>
            <a:r>
              <a:rPr lang="ar-JO" sz="1400" b="1" dirty="0"/>
              <a:t>أنظمة التشغيل</a:t>
            </a:r>
            <a:r>
              <a:rPr lang="ar-JO" sz="1400" dirty="0"/>
              <a:t>: لتشغيل الأجهزة والبرامج وضمان استقرار العمل.</a:t>
            </a:r>
            <a:endParaRPr lang="ar-JO" sz="1400" dirty="0"/>
          </a:p>
          <a:p>
            <a:pPr algn="r" rtl="1"/>
            <a:r>
              <a:rPr lang="ar-JO" sz="1400" b="1" dirty="0"/>
              <a:t>واجهات المستخدم</a:t>
            </a:r>
            <a:r>
              <a:rPr lang="ar-JO" sz="1400" dirty="0"/>
              <a:t>: لتسهيل تفاعل الموظفين مع الأنظمة.</a:t>
            </a:r>
            <a:endParaRPr lang="ar-JO" sz="1400" dirty="0"/>
          </a:p>
          <a:p>
            <a:pPr algn="r" rtl="1"/>
            <a:r>
              <a:rPr lang="ar-JO" sz="1400" b="1" dirty="0"/>
              <a:t>البرامج المكتبية</a:t>
            </a:r>
            <a:r>
              <a:rPr lang="ar-JO" sz="1400" dirty="0"/>
              <a:t>: مثل </a:t>
            </a:r>
            <a:r>
              <a:rPr lang="en-US" sz="1400" dirty="0"/>
              <a:t>Word </a:t>
            </a:r>
            <a:r>
              <a:rPr lang="ar-JO" sz="1400" dirty="0"/>
              <a:t>و</a:t>
            </a:r>
            <a:r>
              <a:rPr lang="en-US" sz="1400" dirty="0"/>
              <a:t>Excel </a:t>
            </a:r>
            <a:r>
              <a:rPr lang="ar-JO" sz="1400" dirty="0"/>
              <a:t>و</a:t>
            </a:r>
            <a:r>
              <a:rPr lang="en-US" sz="1400" dirty="0"/>
              <a:t>Access </a:t>
            </a:r>
            <a:r>
              <a:rPr lang="ar-JO" sz="1400" dirty="0"/>
              <a:t>لإعداد التقارير وتحليل البيانات.</a:t>
            </a:r>
            <a:endParaRPr lang="ar-JO" sz="1400" dirty="0"/>
          </a:p>
          <a:p>
            <a:pPr algn="r" rtl="1"/>
            <a:r>
              <a:rPr lang="ar-JO" sz="1400" b="1" dirty="0"/>
              <a:t>برامج الاجتماعات والعمل عن بعد</a:t>
            </a:r>
            <a:r>
              <a:rPr lang="ar-JO" sz="1400" dirty="0"/>
              <a:t>: مثل </a:t>
            </a:r>
            <a:r>
              <a:rPr lang="en-US" sz="1400" dirty="0"/>
              <a:t>Teams </a:t>
            </a:r>
            <a:r>
              <a:rPr lang="ar-JO" sz="1400" dirty="0"/>
              <a:t>و</a:t>
            </a:r>
            <a:r>
              <a:rPr lang="en-US" sz="1400" dirty="0"/>
              <a:t>VPN </a:t>
            </a:r>
            <a:r>
              <a:rPr lang="ar-JO" sz="1400" dirty="0"/>
              <a:t>لتسهيل التواصل.</a:t>
            </a:r>
            <a:endParaRPr lang="ar-JO" sz="1400" dirty="0"/>
          </a:p>
          <a:p>
            <a:pPr algn="r" rtl="1"/>
            <a:r>
              <a:rPr lang="ar-JO" sz="1400" b="1" dirty="0"/>
              <a:t>برامج الواقع المعزز والذكاء الاصطناعي</a:t>
            </a:r>
            <a:r>
              <a:rPr lang="ar-JO" sz="1400" dirty="0"/>
              <a:t>: لتحسين تجربة العملاء وتحليل البيانات.</a:t>
            </a:r>
            <a:endParaRPr lang="ar-JO" sz="1400" dirty="0"/>
          </a:p>
          <a:p>
            <a:pPr algn="r" rtl="1"/>
            <a:r>
              <a:rPr lang="ar-JO" sz="1400" dirty="0"/>
              <a:t>كل برنامج من هذه البرامج يساهم في تلبية احتياجات معينة في الشركة مثل إدارة الوقت، تحسين التواصل، تسريع اتخاذ القرار، وتقليل الأخطاء.</a:t>
            </a:r>
            <a:endParaRPr lang="ar-JO" sz="1400" dirty="0"/>
          </a:p>
          <a:p>
            <a:pPr algn="r" rtl="1"/>
            <a:r>
              <a:rPr lang="ar-JO" sz="1400" dirty="0"/>
              <a:t>ملاحظة لو ما بدكم تستخدمو </a:t>
            </a:r>
            <a:r>
              <a:rPr lang="ar-JO" sz="1400" b="1" dirty="0"/>
              <a:t>إدارة علاقات العملاء </a:t>
            </a:r>
            <a:r>
              <a:rPr lang="en-US" sz="1400" b="1" dirty="0"/>
              <a:t>CRM</a:t>
            </a:r>
            <a:r>
              <a:rPr lang="ar-JO" sz="1400" b="1" dirty="0"/>
              <a:t> بتقدروا تستخدمو مواقع التواصل الأجتماعي لأنو الشركة صغيرة وفيها  10 مالك ومدير وموظفين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a:r>
              <a:rPr lang="ar-JO" sz="3200" dirty="0"/>
              <a:t> </a:t>
            </a:r>
            <a:r>
              <a:rPr lang="ar-JO" sz="3200" dirty="0"/>
              <a:t>هدف أ </a:t>
            </a:r>
            <a:r>
              <a:rPr lang="en-US" sz="3200" b="1" dirty="0"/>
              <a:t>A.P2</a:t>
            </a:r>
            <a:endParaRPr lang="en-US" sz="3200" dirty="0"/>
          </a:p>
        </p:txBody>
      </p:sp>
      <p:sp>
        <p:nvSpPr>
          <p:cNvPr id="3" name="Content Placeholder 2"/>
          <p:cNvSpPr>
            <a:spLocks noGrp="1"/>
          </p:cNvSpPr>
          <p:nvPr>
            <p:ph idx="1"/>
          </p:nvPr>
        </p:nvSpPr>
        <p:spPr/>
        <p:txBody>
          <a:bodyPr>
            <a:noAutofit/>
          </a:bodyPr>
          <a:lstStyle/>
          <a:p>
            <a:pPr algn="r" rtl="1"/>
            <a:r>
              <a:rPr lang="ar-JO" sz="1400" b="1" dirty="0"/>
              <a:t>الأجهزة وكيف تلبي احتياجات الشركة</a:t>
            </a:r>
            <a:endParaRPr lang="ar-JO" sz="1400" b="1" dirty="0"/>
          </a:p>
          <a:p>
            <a:pPr algn="r" rtl="1"/>
            <a:r>
              <a:rPr lang="ar-JO" sz="1400" dirty="0"/>
              <a:t>تعتمد الشركة على مجموعة من الأجهزة لتشغيل البرامج وتنفيذ المهام اليومية، منها:</a:t>
            </a:r>
            <a:endParaRPr lang="ar-JO" sz="1400" dirty="0"/>
          </a:p>
          <a:p>
            <a:pPr algn="r" rtl="1"/>
            <a:r>
              <a:rPr lang="ar-JO" sz="1400" b="1" dirty="0"/>
              <a:t>الحواسيب المكتبية والمحمولة</a:t>
            </a:r>
            <a:r>
              <a:rPr lang="ar-JO" sz="1400" dirty="0"/>
              <a:t>: لتنفيذ الأعمال المكتبية وتحليل البيانات.</a:t>
            </a:r>
            <a:endParaRPr lang="ar-JO" sz="1400" dirty="0"/>
          </a:p>
          <a:p>
            <a:pPr algn="r" rtl="1"/>
            <a:r>
              <a:rPr lang="ar-JO" sz="1400" b="1" dirty="0"/>
              <a:t>الأجهزة اللوحية والهواتف الذكية</a:t>
            </a:r>
            <a:r>
              <a:rPr lang="ar-JO" sz="1400" dirty="0"/>
              <a:t>: لتسهيل العمل أثناء التنقل.</a:t>
            </a:r>
            <a:endParaRPr lang="ar-JO" sz="1400" dirty="0"/>
          </a:p>
          <a:p>
            <a:pPr algn="r" rtl="1"/>
            <a:r>
              <a:rPr lang="ar-JO" sz="1400" b="1" dirty="0"/>
              <a:t>الأجهزة القابلة للارتداء والحساسات</a:t>
            </a:r>
            <a:r>
              <a:rPr lang="ar-JO" sz="1400" dirty="0"/>
              <a:t>: لمتابعة الأداء أو مراقبة بيئة العمل.</a:t>
            </a:r>
            <a:endParaRPr lang="ar-JO" sz="1400" dirty="0"/>
          </a:p>
          <a:p>
            <a:pPr algn="r" rtl="1"/>
            <a:r>
              <a:rPr lang="ar-JO" sz="1400" b="1" dirty="0"/>
              <a:t>الطابعات والماسحات الضوئية</a:t>
            </a:r>
            <a:r>
              <a:rPr lang="ar-JO" sz="1400" dirty="0"/>
              <a:t>: لمعالجة الوثائق والفواتير.</a:t>
            </a:r>
            <a:endParaRPr lang="ar-JO" sz="1400" dirty="0"/>
          </a:p>
          <a:p>
            <a:pPr algn="r" rtl="1"/>
            <a:r>
              <a:rPr lang="ar-JO" sz="1400" b="1" dirty="0"/>
              <a:t>الكاميرات وأجهزة المراقبة</a:t>
            </a:r>
            <a:r>
              <a:rPr lang="ar-JO" sz="1400" dirty="0"/>
              <a:t>: لتعزيز الأمان.</a:t>
            </a:r>
            <a:endParaRPr lang="ar-JO" sz="1400" dirty="0"/>
          </a:p>
          <a:p>
            <a:pPr algn="r" rtl="1"/>
            <a:r>
              <a:rPr lang="ar-JO" sz="1400" b="1" dirty="0"/>
              <a:t>أجهزة التخزين</a:t>
            </a:r>
            <a:r>
              <a:rPr lang="ar-JO" sz="1400" dirty="0"/>
              <a:t>: للاحتفاظ بالبيانات والنسخ الاحتياطية.</a:t>
            </a:r>
            <a:endParaRPr lang="ar-JO" sz="1400" dirty="0"/>
          </a:p>
          <a:p>
            <a:pPr algn="r" rtl="1"/>
            <a:r>
              <a:rPr lang="ar-JO" sz="1400" b="1" dirty="0"/>
              <a:t>قارئات البصمة والباركود</a:t>
            </a:r>
            <a:r>
              <a:rPr lang="ar-JO" sz="1400" dirty="0"/>
              <a:t>: لتسجيل الدخول وتحديد المنتجات.</a:t>
            </a:r>
            <a:endParaRPr lang="ar-JO" sz="1400" dirty="0"/>
          </a:p>
          <a:p>
            <a:pPr algn="r" rtl="1"/>
            <a:r>
              <a:rPr lang="en-US" sz="1400" b="1" dirty="0"/>
              <a:t>GPS </a:t>
            </a:r>
            <a:r>
              <a:rPr lang="ar-JO" sz="1400" b="1" dirty="0"/>
              <a:t>والطائرات الدرون</a:t>
            </a:r>
            <a:r>
              <a:rPr lang="ar-JO" sz="1400" dirty="0"/>
              <a:t>: لتتبع الشحنات أو مراقبة المواقع.</a:t>
            </a:r>
            <a:endParaRPr lang="ar-JO" sz="1400" dirty="0"/>
          </a:p>
          <a:p>
            <a:pPr algn="r" rtl="1"/>
            <a:r>
              <a:rPr lang="ar-JO" sz="1400" b="1" dirty="0"/>
              <a:t>أجهزة العرض</a:t>
            </a:r>
            <a:r>
              <a:rPr lang="ar-JO" sz="1400" dirty="0"/>
              <a:t>: لعرض العروض والاجتماعات.</a:t>
            </a:r>
            <a:endParaRPr lang="ar-JO" sz="1400" dirty="0"/>
          </a:p>
          <a:p>
            <a:pPr algn="r" rtl="1"/>
            <a:r>
              <a:rPr lang="ar-JO" sz="1400" b="1" dirty="0"/>
              <a:t>أنظمة الأمان والإطفاء</a:t>
            </a:r>
            <a:r>
              <a:rPr lang="ar-JO" sz="1400" dirty="0"/>
              <a:t>: لحماية الشركة من الأخطار.</a:t>
            </a:r>
            <a:endParaRPr lang="ar-JO" sz="1400" dirty="0"/>
          </a:p>
          <a:p>
            <a:pPr algn="r" rtl="1"/>
            <a:r>
              <a:rPr lang="ar-JO" sz="1400" dirty="0"/>
              <a:t>كل جهاز تم اختياره لتلبية احتياجات محددة مثل زيادة الكفاءة، حفظ الأمان، أو تسهيل الوصول إلى المعلومات.</a:t>
            </a:r>
            <a:endParaRPr lang="ar-JO" sz="1400" dirty="0"/>
          </a:p>
          <a:p>
            <a:pPr algn="r" rtl="1"/>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JO" sz="3200" dirty="0"/>
              <a:t> </a:t>
            </a:r>
            <a:r>
              <a:rPr lang="en-US" sz="3200" b="1" dirty="0"/>
              <a:t>A.P3 </a:t>
            </a:r>
            <a:r>
              <a:rPr lang="ar-JO" sz="3200" dirty="0"/>
              <a:t>هدف أ </a:t>
            </a:r>
            <a:endParaRPr lang="en-US" sz="3200" dirty="0"/>
          </a:p>
        </p:txBody>
      </p:sp>
      <p:sp>
        <p:nvSpPr>
          <p:cNvPr id="3" name="Content Placeholder 2"/>
          <p:cNvSpPr>
            <a:spLocks noGrp="1"/>
          </p:cNvSpPr>
          <p:nvPr>
            <p:ph idx="1"/>
          </p:nvPr>
        </p:nvSpPr>
        <p:spPr/>
        <p:txBody>
          <a:bodyPr>
            <a:noAutofit/>
          </a:bodyPr>
          <a:lstStyle/>
          <a:p>
            <a:pPr algn="r" rtl="1"/>
            <a:r>
              <a:rPr lang="ar-JO" sz="1400" b="1" dirty="0"/>
              <a:t>وسائل الاتصالات والشبكات في الشركة</a:t>
            </a:r>
            <a:endParaRPr lang="ar-JO" sz="1400" b="1" dirty="0"/>
          </a:p>
          <a:p>
            <a:pPr algn="r" rtl="1"/>
            <a:r>
              <a:rPr lang="ar-JO" sz="1400" dirty="0"/>
              <a:t>تستخدم الشركة شبكات واتصالات متنوعة لتسهيل العمل بين الأقسام والموظفين:</a:t>
            </a:r>
            <a:endParaRPr lang="ar-JO" sz="1400" dirty="0"/>
          </a:p>
          <a:p>
            <a:pPr algn="r" rtl="1"/>
            <a:r>
              <a:rPr lang="ar-JO" sz="1400" b="1" dirty="0"/>
              <a:t>شبكات </a:t>
            </a:r>
            <a:r>
              <a:rPr lang="en-US" sz="1400" b="1" dirty="0"/>
              <a:t>LAN </a:t>
            </a:r>
            <a:r>
              <a:rPr lang="ar-JO" sz="1400" b="1" dirty="0"/>
              <a:t>و</a:t>
            </a:r>
            <a:r>
              <a:rPr lang="en-US" sz="1400" b="1" dirty="0"/>
              <a:t>WAN </a:t>
            </a:r>
            <a:r>
              <a:rPr lang="ar-JO" sz="1400" b="1" dirty="0"/>
              <a:t>و</a:t>
            </a:r>
            <a:r>
              <a:rPr lang="en-US" sz="1400" b="1" dirty="0"/>
              <a:t>PAN</a:t>
            </a:r>
            <a:r>
              <a:rPr lang="en-US" sz="1400" dirty="0"/>
              <a:t>: </a:t>
            </a:r>
            <a:r>
              <a:rPr lang="ar-JO" sz="1400" dirty="0"/>
              <a:t>لربط الأجهزة الداخلية والمواقع الخارجية.</a:t>
            </a:r>
            <a:endParaRPr lang="ar-JO" sz="1400" dirty="0"/>
          </a:p>
          <a:p>
            <a:pPr algn="r" rtl="1"/>
            <a:r>
              <a:rPr lang="ar-JO" sz="1400" b="1" dirty="0"/>
              <a:t>الاتصال السلكي واللاسلكي</a:t>
            </a:r>
            <a:r>
              <a:rPr lang="ar-JO" sz="1400" dirty="0"/>
              <a:t>: لتوفير إنترنت مستقر وسريع.</a:t>
            </a:r>
            <a:endParaRPr lang="ar-JO" sz="1400" dirty="0"/>
          </a:p>
          <a:p>
            <a:pPr algn="r" rtl="1"/>
            <a:r>
              <a:rPr lang="ar-JO" sz="1400" b="1" dirty="0"/>
              <a:t>التخزين السحابي</a:t>
            </a:r>
            <a:r>
              <a:rPr lang="ar-JO" sz="1400" dirty="0"/>
              <a:t>: لحفظ الملفات ومشاركتها بسهولة.</a:t>
            </a:r>
            <a:endParaRPr lang="ar-JO" sz="1400" dirty="0"/>
          </a:p>
          <a:p>
            <a:pPr algn="r" rtl="1"/>
            <a:r>
              <a:rPr lang="ar-JO" sz="1400" b="1" dirty="0"/>
              <a:t>نظام </a:t>
            </a:r>
            <a:r>
              <a:rPr lang="en-US" sz="1400" b="1" dirty="0"/>
              <a:t>Server/Client</a:t>
            </a:r>
            <a:r>
              <a:rPr lang="en-US" sz="1400" dirty="0"/>
              <a:t>: </a:t>
            </a:r>
            <a:r>
              <a:rPr lang="ar-JO" sz="1400" dirty="0"/>
              <a:t>لإدارة البيانات بين الأجهزة والخوادم.</a:t>
            </a:r>
            <a:endParaRPr lang="ar-JO" sz="1400" dirty="0"/>
          </a:p>
          <a:p>
            <a:pPr algn="r" rtl="1"/>
            <a:r>
              <a:rPr lang="ar-JO" sz="1400" b="1" dirty="0"/>
              <a:t>الأنظمة الإلكترونية عبر الإنترنت</a:t>
            </a:r>
            <a:r>
              <a:rPr lang="ar-JO" sz="1400" dirty="0"/>
              <a:t>: لإجراء الطلبات والمراسلات.</a:t>
            </a:r>
            <a:endParaRPr lang="ar-JO" sz="1400" dirty="0"/>
          </a:p>
          <a:p>
            <a:pPr algn="r" rtl="1"/>
            <a:r>
              <a:rPr lang="ar-JO" sz="1400" b="1" dirty="0"/>
              <a:t>معدات الشبكة</a:t>
            </a:r>
            <a:r>
              <a:rPr lang="ar-JO" sz="1400" dirty="0"/>
              <a:t>: مثل الخوادم، الموزعات، والموجهات (</a:t>
            </a:r>
            <a:r>
              <a:rPr lang="en-US" sz="1400" dirty="0"/>
              <a:t>Routers).</a:t>
            </a:r>
            <a:endParaRPr lang="en-US" sz="1400" dirty="0"/>
          </a:p>
          <a:p>
            <a:pPr algn="r" rtl="1"/>
            <a:r>
              <a:rPr lang="ar-JO" sz="1400" dirty="0"/>
              <a:t>تساعد هذه الوسائل في تحسين التواصل بين الأقسام، مشاركة الملفات، وتسريع القرارات الإدارية.</a:t>
            </a:r>
            <a:endParaRPr lang="ar-JO" sz="1400" dirty="0"/>
          </a:p>
          <a:p>
            <a:pPr algn="r" rtl="1"/>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a:r>
              <a:rPr lang="ar-JO" sz="3200" b="1" dirty="0"/>
              <a:t> </a:t>
            </a:r>
            <a:br>
              <a:rPr lang="ar-JO" sz="3200" dirty="0"/>
            </a:br>
            <a:r>
              <a:rPr lang="ar-JO" sz="3200" dirty="0"/>
              <a:t>هدف أ </a:t>
            </a:r>
            <a:r>
              <a:rPr lang="en-US" sz="3200" dirty="0"/>
              <a:t>A.D1</a:t>
            </a:r>
            <a:r>
              <a:rPr lang="ar-JO" sz="3200" dirty="0"/>
              <a:t> + </a:t>
            </a:r>
            <a:r>
              <a:rPr lang="en-US" sz="3200" b="1" dirty="0"/>
              <a:t>A.M1</a:t>
            </a:r>
            <a:endParaRPr lang="en-US" sz="3200" dirty="0"/>
          </a:p>
        </p:txBody>
      </p:sp>
      <p:sp>
        <p:nvSpPr>
          <p:cNvPr id="3" name="Content Placeholder 2"/>
          <p:cNvSpPr>
            <a:spLocks noGrp="1"/>
          </p:cNvSpPr>
          <p:nvPr>
            <p:ph idx="1"/>
          </p:nvPr>
        </p:nvSpPr>
        <p:spPr/>
        <p:txBody>
          <a:bodyPr>
            <a:noAutofit/>
          </a:bodyPr>
          <a:lstStyle/>
          <a:p>
            <a:pPr algn="r" rtl="1"/>
            <a:r>
              <a:rPr lang="ar-JO" sz="1600" b="1" dirty="0"/>
              <a:t>تحليل تأثير البنية التحتية لتكنولوجيا المعلومات</a:t>
            </a:r>
            <a:endParaRPr lang="ar-JO" sz="1600" b="1" dirty="0"/>
          </a:p>
          <a:p>
            <a:pPr algn="r" rtl="1"/>
            <a:r>
              <a:rPr lang="ar-JO" sz="1600" b="1" dirty="0"/>
              <a:t>البرمجيات</a:t>
            </a:r>
            <a:r>
              <a:rPr lang="ar-JO" sz="1600" dirty="0"/>
              <a:t>: تحسين الإنتاجية وتقليل الأخطاء، وبدونها تتأخر العمليات ويزداد الجهد اليدوي.</a:t>
            </a:r>
            <a:endParaRPr lang="ar-JO" sz="1600" dirty="0"/>
          </a:p>
          <a:p>
            <a:pPr algn="r" rtl="1"/>
            <a:r>
              <a:rPr lang="ar-JO" sz="1600" b="1" dirty="0"/>
              <a:t>الأجهزة</a:t>
            </a:r>
            <a:r>
              <a:rPr lang="ar-JO" sz="1600" dirty="0"/>
              <a:t>: تسهّل العمل وتزيد من الدقة، وغيابها يؤدي إلى بطء الأداء وصعوبة في إنجاز المهام.</a:t>
            </a:r>
            <a:endParaRPr lang="ar-JO" sz="1600" dirty="0"/>
          </a:p>
          <a:p>
            <a:pPr algn="r" rtl="1"/>
            <a:r>
              <a:rPr lang="ar-JO" sz="1600" b="1" dirty="0"/>
              <a:t>الشبكات والاتصالات</a:t>
            </a:r>
            <a:r>
              <a:rPr lang="ar-JO" sz="1600" dirty="0"/>
              <a:t>: تمكّن من التواصل السريع وتبادل المعلومات، وبدونها يتعطل التنسيق بين الأقسام.</a:t>
            </a:r>
            <a:endParaRPr lang="ar-JO" sz="1600" dirty="0"/>
          </a:p>
          <a:p>
            <a:pPr algn="r" rtl="1"/>
            <a:r>
              <a:rPr lang="ar-JO" sz="1600" dirty="0"/>
              <a:t>كل جزء من البنية التحتية له أثر إيجابي على الأداء العام للشركة وأصحاب المصلحة، بينما إهماله يؤدي إلى ضعف الإنتاجية وزيادة الأخطاء.</a:t>
            </a:r>
            <a:endParaRPr lang="ar-JO" sz="1600" dirty="0"/>
          </a:p>
          <a:p>
            <a:pPr algn="r" rtl="1"/>
            <a:r>
              <a:rPr lang="en-US" sz="1600" dirty="0"/>
              <a:t>A.D1</a:t>
            </a:r>
            <a:endParaRPr lang="ar-JO" sz="1600" dirty="0"/>
          </a:p>
          <a:p>
            <a:pPr algn="r" rtl="1"/>
            <a:r>
              <a:rPr lang="ar-JO" sz="1600" b="1" dirty="0"/>
              <a:t>التقييم العام للبنية التحتية</a:t>
            </a:r>
            <a:endParaRPr lang="ar-JO" sz="1600" b="1" dirty="0"/>
          </a:p>
          <a:p>
            <a:pPr algn="r" rtl="1"/>
            <a:r>
              <a:rPr lang="ar-JO" sz="1600" dirty="0"/>
              <a:t>تُظهر التقنيات المستخدمة في الشركة ميزات كبيرة مثل:</a:t>
            </a:r>
            <a:endParaRPr lang="ar-JO" sz="1600" dirty="0"/>
          </a:p>
          <a:p>
            <a:pPr algn="r" rtl="1"/>
            <a:r>
              <a:rPr lang="ar-JO" sz="1600" dirty="0"/>
              <a:t>زيادة الكفاءة والدقة في العمل.</a:t>
            </a:r>
            <a:endParaRPr lang="ar-JO" sz="1600" dirty="0"/>
          </a:p>
          <a:p>
            <a:pPr algn="r" rtl="1"/>
            <a:r>
              <a:rPr lang="ar-JO" sz="1600" dirty="0"/>
              <a:t>تحسين تجربة العملاء والموظفين.</a:t>
            </a:r>
            <a:endParaRPr lang="ar-JO" sz="1600" dirty="0"/>
          </a:p>
          <a:p>
            <a:pPr algn="r" rtl="1"/>
            <a:r>
              <a:rPr lang="ar-JO" sz="1600" dirty="0"/>
              <a:t>تقليل التكاليف على المدى البعيد.</a:t>
            </a:r>
            <a:endParaRPr lang="ar-JO" sz="1600" dirty="0"/>
          </a:p>
          <a:p>
            <a:pPr algn="r" rtl="1"/>
            <a:r>
              <a:rPr lang="ar-JO" sz="1600" dirty="0"/>
              <a:t>لكن هناك بعض السلبيات مثل التكلفة الأولية العالية والحاجة المستمرة للتحديث.</a:t>
            </a:r>
            <a:br>
              <a:rPr lang="ar-JO" sz="1600" dirty="0"/>
            </a:br>
            <a:r>
              <a:rPr lang="ar-JO" sz="1600" dirty="0"/>
              <a:t>البدائل الأقل تكلفة مثل البرامج البسيطة أو الأجهزة القديمة قد تقلل النفقات، لكنها لا تقدم نفس الأداء أو الأمان.</a:t>
            </a:r>
            <a:endParaRPr lang="ar-JO" sz="1600" dirty="0"/>
          </a:p>
          <a:p>
            <a:pPr algn="r" rtl="1"/>
            <a:r>
              <a:rPr lang="ar-JO" sz="1600" b="1" dirty="0"/>
              <a:t>الاستنتاج</a:t>
            </a:r>
            <a:r>
              <a:rPr lang="ar-JO" sz="1600" dirty="0"/>
              <a:t>: البنية التحتية الحالية تحقق توازنًا بين الأداء والجودة، وهي أساسية لضمان نجاح الشركة واستمرارها في بيئة العمل الحديثة.</a:t>
            </a:r>
            <a:endParaRPr lang="ar-JO" sz="1600" dirty="0"/>
          </a:p>
          <a:p>
            <a:pPr algn="r" rtl="1"/>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JO" sz="3200" dirty="0"/>
              <a:t>الهدف ب / النشاط الثاني:</a:t>
            </a:r>
            <a:br>
              <a:rPr lang="en-US" sz="3200" dirty="0"/>
            </a:br>
            <a:endParaRPr lang="en-US" sz="3200" dirty="0"/>
          </a:p>
        </p:txBody>
      </p:sp>
      <p:sp>
        <p:nvSpPr>
          <p:cNvPr id="3" name="Content Placeholder 2"/>
          <p:cNvSpPr>
            <a:spLocks noGrp="1"/>
          </p:cNvSpPr>
          <p:nvPr>
            <p:ph idx="1"/>
          </p:nvPr>
        </p:nvSpPr>
        <p:spPr/>
        <p:txBody>
          <a:bodyPr>
            <a:normAutofit/>
          </a:bodyPr>
          <a:lstStyle/>
          <a:p>
            <a:pPr algn="r" rtl="1"/>
            <a:r>
              <a:rPr lang="ar-JO" sz="1600" dirty="0"/>
              <a:t>يهدف هذا النشاط إلى توضيح مفهوم البيانات والمعلومات، والعلاقة بينهما، بالإضافة إلى التعرف على أنواع البيانات وكيفية استخدامها داخل الشركة وخارجها، ودور تكنولوجيا المعلومات والمجتمعات الإلكترونية في دعم عملية جمع وتحليل البيانات.</a:t>
            </a:r>
            <a:endParaRPr lang="ar-JO" sz="1600" dirty="0"/>
          </a:p>
          <a:p>
            <a:pPr algn="r" rtl="1"/>
            <a:r>
              <a:rPr lang="ar-JO" sz="1600" dirty="0"/>
              <a:t>تُعرّف </a:t>
            </a:r>
            <a:r>
              <a:rPr lang="ar-JO" sz="1600" b="1" dirty="0"/>
              <a:t>البيانات</a:t>
            </a:r>
            <a:r>
              <a:rPr lang="ar-JO" sz="1600" dirty="0"/>
              <a:t> بأنها الحقائق الخام التي تُجمع من مصادر مختلفة مثل الأرقام، الأسماء، التواريخ، والمواقع. أما </a:t>
            </a:r>
            <a:r>
              <a:rPr lang="ar-JO" sz="1600" b="1" dirty="0"/>
              <a:t>المعلومات</a:t>
            </a:r>
            <a:r>
              <a:rPr lang="ar-JO" sz="1600" dirty="0"/>
              <a:t> فهي ناتج معالجة هذه البيانات وتحويلها إلى شكل منظم ومفهوم يساعد في اتخاذ القرار.</a:t>
            </a:r>
            <a:br>
              <a:rPr lang="ar-JO" sz="1600" dirty="0"/>
            </a:br>
            <a:r>
              <a:rPr lang="ar-JO" sz="1600" dirty="0"/>
              <a:t>العلاقة بينهما أن البيانات هي المادة الخام، والمعلومات هي النتيجة التي يتم التوصل إليها بعد التحليل.</a:t>
            </a:r>
            <a:br>
              <a:rPr lang="ar-JO" sz="1600" dirty="0"/>
            </a:br>
            <a:r>
              <a:rPr lang="ar-JO" sz="1600" dirty="0"/>
              <a:t>أما أنواع البيانات فتنقسم إلى </a:t>
            </a:r>
            <a:r>
              <a:rPr lang="ar-JO" sz="1600" b="1" dirty="0"/>
              <a:t>بيانات أولية</a:t>
            </a:r>
            <a:r>
              <a:rPr lang="ar-JO" sz="1600" dirty="0"/>
              <a:t> وهي التي تجمعها الشركة مباشرة من خلال أدوات مثل الاستبيانات أو أجهزة البصمة، و</a:t>
            </a:r>
            <a:r>
              <a:rPr lang="ar-JO" sz="1600" b="1" dirty="0"/>
              <a:t>بيانات ثانوية</a:t>
            </a:r>
            <a:r>
              <a:rPr lang="ar-JO" sz="1600" dirty="0"/>
              <a:t> وهي التي يتم الحصول عليها من مصادر خارجية جاهزة مثل التقارير أو قواعد البيانات العامة.</a:t>
            </a:r>
            <a:endParaRPr lang="ar-JO" sz="1600" dirty="0"/>
          </a:p>
          <a:p>
            <a:pPr algn="r" rtl="1"/>
            <a:endParaRPr lang="ar-JO" sz="1600" dirty="0"/>
          </a:p>
          <a:p>
            <a:pPr algn="r" rtl="1"/>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B.P4</a:t>
            </a:r>
            <a:r>
              <a:rPr lang="ar-JO" sz="3200" dirty="0"/>
              <a:t> هدف ب </a:t>
            </a:r>
            <a:endParaRPr lang="en-US" sz="3200" dirty="0"/>
          </a:p>
        </p:txBody>
      </p:sp>
      <p:sp>
        <p:nvSpPr>
          <p:cNvPr id="3" name="Content Placeholder 2"/>
          <p:cNvSpPr>
            <a:spLocks noGrp="1"/>
          </p:cNvSpPr>
          <p:nvPr>
            <p:ph idx="1"/>
          </p:nvPr>
        </p:nvSpPr>
        <p:spPr/>
        <p:txBody>
          <a:bodyPr>
            <a:noAutofit/>
          </a:bodyPr>
          <a:lstStyle/>
          <a:p>
            <a:pPr algn="r" rtl="1"/>
            <a:r>
              <a:rPr lang="ar-JO" sz="1600" b="1" dirty="0"/>
              <a:t>استخدام البيانات في الشركة</a:t>
            </a:r>
            <a:endParaRPr lang="ar-JO" sz="1600" b="1" dirty="0"/>
          </a:p>
          <a:p>
            <a:pPr algn="r" rtl="1"/>
            <a:r>
              <a:rPr lang="ar-JO" sz="1600" dirty="0"/>
              <a:t>تُستخدم البيانات داخل الشركة لتلبية احتياجات مختلفة وتحسين الأداء العام.</a:t>
            </a:r>
            <a:br>
              <a:rPr lang="ar-JO" sz="1600" dirty="0"/>
            </a:br>
            <a:r>
              <a:rPr lang="ar-JO" sz="1600" dirty="0"/>
              <a:t>على سبيل المثال، تعتمد الشركة على </a:t>
            </a:r>
            <a:r>
              <a:rPr lang="ar-JO" sz="1600" b="1" dirty="0"/>
              <a:t>بيانات الموظفين</a:t>
            </a:r>
            <a:r>
              <a:rPr lang="ar-JO" sz="1600" dirty="0"/>
              <a:t> مثل الاسم، الجنس، الراتب، الحضور والانصراف، الإجازات، ورقم الهاتف، والتي يتم جمعها باستخدام </a:t>
            </a:r>
            <a:r>
              <a:rPr lang="ar-JO" sz="1600" b="1" dirty="0"/>
              <a:t>أجهزة البصمة</a:t>
            </a:r>
            <a:r>
              <a:rPr lang="ar-JO" sz="1600" dirty="0"/>
              <a:t> وأنظمة </a:t>
            </a:r>
            <a:r>
              <a:rPr lang="ar-JO" sz="1600" b="1" dirty="0"/>
              <a:t>إدارة الموارد البشرية </a:t>
            </a:r>
            <a:r>
              <a:rPr lang="en-US" sz="1600" b="1" dirty="0"/>
              <a:t>ERP</a:t>
            </a:r>
            <a:r>
              <a:rPr lang="ar-JO" sz="1600" dirty="0"/>
              <a:t>والبريد الإلكتروني والاستبيانات.</a:t>
            </a:r>
            <a:br>
              <a:rPr lang="ar-JO" sz="1600" dirty="0"/>
            </a:br>
            <a:r>
              <a:rPr lang="ar-JO" sz="1600" dirty="0"/>
              <a:t>تُستخدم هذه البيانات في تتبع دوام الموظفين وتحليل أدائهم وتقييم إنتاجيتهم، وذلك بهدف وضع استراتيجيات مناسبة للعلاوات والترقيات أو للتوظيف في المستقبل.</a:t>
            </a:r>
            <a:endParaRPr lang="ar-JO" sz="1600" dirty="0"/>
          </a:p>
          <a:p>
            <a:pPr algn="r" rtl="1"/>
            <a:r>
              <a:rPr lang="ar-JO" sz="1600" dirty="0"/>
              <a:t>كما تعتمد الشركة على </a:t>
            </a:r>
            <a:r>
              <a:rPr lang="ar-JO" sz="1600" b="1" dirty="0"/>
              <a:t>بيانات الأداء المالي</a:t>
            </a:r>
            <a:r>
              <a:rPr lang="ar-JO" sz="1600" dirty="0"/>
              <a:t> مثل الأرباح والخسائر، التي يتم جمعها من خلال الأنظمة المحاسبية المتخصصة، لمتابعة الوضع المالي العام واتخاذ قرارات استثمارية سليمة.</a:t>
            </a:r>
            <a:br>
              <a:rPr lang="ar-JO" sz="1600" dirty="0"/>
            </a:br>
            <a:r>
              <a:rPr lang="ar-JO" sz="1600" dirty="0"/>
              <a:t>أما </a:t>
            </a:r>
            <a:r>
              <a:rPr lang="ar-JO" sz="1600" b="1" dirty="0"/>
              <a:t>بيانات المخزون</a:t>
            </a:r>
            <a:r>
              <a:rPr lang="ar-JO" sz="1600" dirty="0"/>
              <a:t> فتُجمع باستخدام أجهزة قراءة الباركود وأنظمة إدارة المستودعات لمعرفة كميات المنتجات وتجنب النقص أو التخزين الزائد.</a:t>
            </a:r>
            <a:br>
              <a:rPr lang="ar-JO" sz="1600" dirty="0"/>
            </a:br>
            <a:r>
              <a:rPr lang="ar-JO" sz="1600" dirty="0"/>
              <a:t>وتُستخدم </a:t>
            </a:r>
            <a:r>
              <a:rPr lang="ar-JO" sz="1600" b="1" dirty="0"/>
              <a:t>بيانات المبيعات</a:t>
            </a:r>
            <a:r>
              <a:rPr lang="ar-JO" sz="1600" dirty="0"/>
              <a:t> لتحديد أكثر المنتجات طلباً وتحليل اتجاهات السوق، مما يساعد في تحسين الإنتاج والتسويق.</a:t>
            </a:r>
            <a:br>
              <a:rPr lang="ar-JO" sz="1600" dirty="0"/>
            </a:br>
            <a:r>
              <a:rPr lang="ar-JO" sz="1600" dirty="0"/>
              <a:t>أما </a:t>
            </a:r>
            <a:r>
              <a:rPr lang="ar-JO" sz="1600" b="1" dirty="0"/>
              <a:t>بيانات الموارد المتاحة</a:t>
            </a:r>
            <a:r>
              <a:rPr lang="ar-JO" sz="1600" dirty="0"/>
              <a:t> فتمكّن الإدارة من معرفة الإمكانيات الحالية للشركة وتوزيعها بكفاءة بين الأقسام.</a:t>
            </a:r>
            <a:endParaRPr lang="ar-JO" sz="1600" dirty="0"/>
          </a:p>
          <a:p>
            <a:pPr algn="r" rtl="1"/>
            <a:r>
              <a:rPr lang="ar-JO" sz="1600" dirty="0"/>
              <a:t>خارجيًا، تعتمد الشركة على </a:t>
            </a:r>
            <a:r>
              <a:rPr lang="ar-JO" sz="1600" b="1" dirty="0"/>
              <a:t>بيانات الموردين</a:t>
            </a:r>
            <a:r>
              <a:rPr lang="ar-JO" sz="1600" dirty="0"/>
              <a:t> مثل الأسعار وجودة المنتجات وفترات التسليم، التي يتم جمعها من خلال البريد الإلكتروني أو أنظمة </a:t>
            </a:r>
            <a:r>
              <a:rPr lang="en-US" sz="1600" dirty="0"/>
              <a:t>CRM، </a:t>
            </a:r>
            <a:r>
              <a:rPr lang="ar-JO" sz="1600" dirty="0"/>
              <a:t>مما يساهم في اختيار المورد الأنسب.</a:t>
            </a:r>
            <a:br>
              <a:rPr lang="ar-JO" sz="1600" dirty="0"/>
            </a:br>
            <a:r>
              <a:rPr lang="ar-JO" sz="1600" dirty="0"/>
              <a:t>كما يتم جمع </a:t>
            </a:r>
            <a:r>
              <a:rPr lang="ar-JO" sz="1600" b="1" dirty="0"/>
              <a:t>بيانات العملاء</a:t>
            </a:r>
            <a:r>
              <a:rPr lang="ar-JO" sz="1600" dirty="0"/>
              <a:t> من خلال وسائل التواصل الاجتماعي أو الموقع الإلكتروني لمعرفة الفئة المستهدفة وسلوك المستهلكين، وبذلك تتمكن الشركة من تطوير منتجاتها وتقديم خدمات تلبي احتياجاتهم.</a:t>
            </a:r>
            <a:endParaRPr lang="ar-JO" sz="1600" dirty="0"/>
          </a:p>
          <a:p>
            <a:pPr algn="r" rtl="1"/>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B.P5</a:t>
            </a:r>
            <a:r>
              <a:rPr lang="ar-JO" sz="3200" dirty="0"/>
              <a:t> هدف ب </a:t>
            </a:r>
            <a:endParaRPr lang="en-US" sz="3200" dirty="0"/>
          </a:p>
        </p:txBody>
      </p:sp>
      <p:sp>
        <p:nvSpPr>
          <p:cNvPr id="3" name="Content Placeholder 2"/>
          <p:cNvSpPr>
            <a:spLocks noGrp="1"/>
          </p:cNvSpPr>
          <p:nvPr>
            <p:ph idx="1"/>
          </p:nvPr>
        </p:nvSpPr>
        <p:spPr/>
        <p:txBody>
          <a:bodyPr>
            <a:normAutofit/>
          </a:bodyPr>
          <a:lstStyle/>
          <a:p>
            <a:pPr algn="r" rtl="1"/>
            <a:r>
              <a:rPr lang="ar-JO" sz="1600" dirty="0"/>
              <a:t>استخدام المعلومات ومشاركتها في الشركة</a:t>
            </a:r>
            <a:endParaRPr lang="ar-JO" sz="1600" dirty="0"/>
          </a:p>
          <a:p>
            <a:pPr algn="r" rtl="1"/>
            <a:r>
              <a:rPr lang="ar-JO" sz="1600" dirty="0"/>
              <a:t>تقوم الشركة بتحويل البيانات التي تجمعها إلى معلومات تساعدها في إدارة أعمالها واتخاذ القرارات على مستويات مختلفة.</a:t>
            </a:r>
            <a:br>
              <a:rPr lang="ar-JO" sz="1600" dirty="0"/>
            </a:br>
            <a:r>
              <a:rPr lang="ar-JO" sz="1600" dirty="0"/>
              <a:t>فعلى المستوى التشغيلي، تُستخدم المعلومات لتحليل أداء الموظفين وتحديد الترقيات والعلاوات وتنظيم الإجازات.</a:t>
            </a:r>
            <a:br>
              <a:rPr lang="ar-JO" sz="1600" dirty="0"/>
            </a:br>
            <a:r>
              <a:rPr lang="ar-JO" sz="1600" dirty="0"/>
              <a:t>أما على المستوى الإداري، فتُستخدم في إدارة الموارد والتخطيط اليومي ومتابعة سير العمل بين الأقسام المختلفة.</a:t>
            </a:r>
            <a:br>
              <a:rPr lang="ar-JO" sz="1600" dirty="0"/>
            </a:br>
            <a:r>
              <a:rPr lang="ar-JO" sz="1600" dirty="0"/>
              <a:t>وعلى المستوى الاستراتيجي، تُساعد المعلومات الإدارة العليا في وضع الخطط طويلة المدى واتخاذ قرارات توسعية أو استثمارية.</a:t>
            </a:r>
            <a:endParaRPr lang="ar-JO" sz="1600" dirty="0"/>
          </a:p>
          <a:p>
            <a:pPr algn="r" rtl="1"/>
            <a:r>
              <a:rPr lang="ar-JO" sz="1600" dirty="0"/>
              <a:t>على سبيل المثال، يتم تحليل أداء الشركة بشكل دوري لتحديد مدى تحقيق الأهداف، بينما تُساعد أنظمة إدارة العملاء</a:t>
            </a:r>
            <a:endParaRPr lang="ar-JO" sz="1600" dirty="0"/>
          </a:p>
          <a:p>
            <a:pPr algn="r" rtl="1"/>
            <a:r>
              <a:rPr lang="en-US" sz="1600" dirty="0"/>
              <a:t>CRM </a:t>
            </a:r>
            <a:r>
              <a:rPr lang="ar-JO" sz="1600" dirty="0"/>
              <a:t>في تحليل احتياجات العملاء وتحسين الخدمات.</a:t>
            </a:r>
            <a:br>
              <a:rPr lang="ar-JO" sz="1600" dirty="0"/>
            </a:br>
            <a:r>
              <a:rPr lang="ar-JO" sz="1600" dirty="0"/>
              <a:t>أما المعلومات التسويقية فتُستخدم لتحديد أفضل طرق الإعلان وجذب الزبائن.</a:t>
            </a:r>
            <a:br>
              <a:rPr lang="ar-JO" sz="1600" dirty="0"/>
            </a:br>
            <a:r>
              <a:rPr lang="ar-JO" sz="1600" dirty="0"/>
              <a:t>وتُعتبر إدارة المخاطر من أهم استخدامات المعلومات لأنها تساعد في تجنب الأخطاء المستقبلية وتطوير السياسات التي تحافظ على استقرار الشركة.</a:t>
            </a:r>
            <a:endParaRPr lang="ar-JO" sz="1600" dirty="0"/>
          </a:p>
          <a:p>
            <a:pPr algn="r" rtl="1"/>
            <a:r>
              <a:rPr lang="ar-JO" sz="1600" dirty="0"/>
              <a:t>أما خارجيًا، تُستخدم المعلومات في التحليل الاستراتيجي ودعم القرارات المتعلقة بالشراكات أو فتح أسواق جديدة.</a:t>
            </a:r>
            <a:br>
              <a:rPr lang="ar-JO" sz="1600" dirty="0"/>
            </a:br>
            <a:r>
              <a:rPr lang="ar-JO" sz="1600" dirty="0"/>
              <a:t>كما تساهم في تعزيز خدمة العملاء من خلال التواصل الفعال وحل المشكلات بسرعة، وتساعد في التجارة الإلكترونية عبر دراسة سلوك المستهلكين وتحسين تجربة الشراء</a:t>
            </a:r>
            <a:r>
              <a:rPr lang="ar-JO" dirty="0"/>
              <a:t> </a:t>
            </a:r>
            <a:r>
              <a:rPr lang="ar-JO" dirty="0" smtClean="0"/>
              <a:t>. </a:t>
            </a:r>
            <a:endParaRPr lang="ar-JO" dirty="0" smtClean="0"/>
          </a:p>
          <a:p>
            <a:pPr algn="r" rtl="1"/>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B.M2</a:t>
            </a:r>
            <a:r>
              <a:rPr lang="ar-JO" sz="3200" dirty="0"/>
              <a:t> هدف ب </a:t>
            </a:r>
            <a:endParaRPr lang="en-US" sz="3200" dirty="0"/>
          </a:p>
        </p:txBody>
      </p:sp>
      <p:sp>
        <p:nvSpPr>
          <p:cNvPr id="3" name="Content Placeholder 2"/>
          <p:cNvSpPr>
            <a:spLocks noGrp="1"/>
          </p:cNvSpPr>
          <p:nvPr>
            <p:ph idx="1"/>
          </p:nvPr>
        </p:nvSpPr>
        <p:spPr/>
        <p:txBody>
          <a:bodyPr>
            <a:normAutofit/>
          </a:bodyPr>
          <a:lstStyle/>
          <a:p>
            <a:pPr algn="r" rtl="1"/>
            <a:r>
              <a:rPr lang="ar-JO" sz="1600" b="1" dirty="0"/>
              <a:t>شرح طرق جمع البيانات وضمان دقتها وموثوقيتها</a:t>
            </a:r>
            <a:endParaRPr lang="ar-JO" sz="1600" b="1" dirty="0"/>
          </a:p>
          <a:p>
            <a:pPr algn="r" rtl="1"/>
            <a:r>
              <a:rPr lang="ar-JO" sz="1600" dirty="0"/>
              <a:t>تعتمد الشركة على عدة طرق لجمع البيانات الداخلية والخارجية، منها </a:t>
            </a:r>
            <a:r>
              <a:rPr lang="ar-JO" sz="1600" b="1" dirty="0"/>
              <a:t>الملاحظة المباشرة</a:t>
            </a:r>
            <a:r>
              <a:rPr lang="ar-JO" sz="1600" dirty="0"/>
              <a:t>، </a:t>
            </a:r>
            <a:r>
              <a:rPr lang="ar-JO" sz="1600" b="1" dirty="0"/>
              <a:t>الاستبيانات</a:t>
            </a:r>
            <a:r>
              <a:rPr lang="ar-JO" sz="1600" dirty="0"/>
              <a:t>، </a:t>
            </a:r>
            <a:r>
              <a:rPr lang="ar-JO" sz="1600" b="1" dirty="0"/>
              <a:t>المقابلات</a:t>
            </a:r>
            <a:r>
              <a:rPr lang="ar-JO" sz="1600" dirty="0"/>
              <a:t>، بالإضافة إلى استخدام التقنيات الحديثة مثل </a:t>
            </a:r>
            <a:r>
              <a:rPr lang="ar-JO" sz="1600" b="1" dirty="0"/>
              <a:t>أجهزة الاستشعار</a:t>
            </a:r>
            <a:r>
              <a:rPr lang="ar-JO" sz="1600" dirty="0"/>
              <a:t>، </a:t>
            </a:r>
            <a:r>
              <a:rPr lang="ar-JO" sz="1600" b="1" dirty="0"/>
              <a:t>الباركود</a:t>
            </a:r>
            <a:r>
              <a:rPr lang="ar-JO" sz="1600" dirty="0"/>
              <a:t>، </a:t>
            </a:r>
            <a:r>
              <a:rPr lang="ar-JO" sz="1600" b="1" dirty="0"/>
              <a:t>أنظمة </a:t>
            </a:r>
            <a:r>
              <a:rPr lang="en-US" sz="1600" b="1" dirty="0"/>
              <a:t>ERP </a:t>
            </a:r>
            <a:r>
              <a:rPr lang="ar-JO" sz="1600" b="1" dirty="0"/>
              <a:t>و</a:t>
            </a:r>
            <a:r>
              <a:rPr lang="en-US" sz="1600" b="1" dirty="0"/>
              <a:t>CRM</a:t>
            </a:r>
            <a:r>
              <a:rPr lang="en-US" sz="1600" dirty="0"/>
              <a:t>، </a:t>
            </a:r>
            <a:r>
              <a:rPr lang="ar-JO" sz="1600" dirty="0"/>
              <a:t>و</a:t>
            </a:r>
            <a:r>
              <a:rPr lang="ar-JO" sz="1600" b="1" dirty="0"/>
              <a:t>مواقع التواصل الاجتماعي</a:t>
            </a:r>
            <a:r>
              <a:rPr lang="ar-JO" sz="1600" dirty="0"/>
              <a:t>.</a:t>
            </a:r>
            <a:br>
              <a:rPr lang="ar-JO" sz="1600" dirty="0"/>
            </a:br>
            <a:r>
              <a:rPr lang="ar-JO" sz="1600" dirty="0"/>
              <a:t>هذه الأدوات تساعد على جمع معلومات دقيقة في وقت قصير مع تقليل الأخطاء البشرية.</a:t>
            </a:r>
            <a:endParaRPr lang="ar-JO" sz="1600" dirty="0"/>
          </a:p>
          <a:p>
            <a:pPr algn="r" rtl="1"/>
            <a:r>
              <a:rPr lang="ar-JO" sz="1600" dirty="0"/>
              <a:t>بعد جمع البيانات، يتم </a:t>
            </a:r>
            <a:r>
              <a:rPr lang="ar-JO" sz="1600" b="1" dirty="0"/>
              <a:t>معالجتها</a:t>
            </a:r>
            <a:r>
              <a:rPr lang="ar-JO" sz="1600" dirty="0"/>
              <a:t> باستخدام برامج تحليل البيانات مثل </a:t>
            </a:r>
            <a:r>
              <a:rPr lang="en-US" sz="1600" dirty="0"/>
              <a:t>Excel </a:t>
            </a:r>
            <a:r>
              <a:rPr lang="ar-JO" sz="1600" dirty="0"/>
              <a:t>أو </a:t>
            </a:r>
            <a:r>
              <a:rPr lang="en-US" sz="1600" dirty="0"/>
              <a:t>Power BI </a:t>
            </a:r>
            <a:r>
              <a:rPr lang="ar-JO" sz="1600" dirty="0"/>
              <a:t>أو من خلال الأنظمة التخصصية داخل الشركة، بحيث تُنظم وتُعرض في تقارير أو رسوم بيانية تسهّل فهمها من قبل الإدارة.</a:t>
            </a:r>
            <a:br>
              <a:rPr lang="ar-JO" sz="1600" dirty="0"/>
            </a:br>
            <a:r>
              <a:rPr lang="ar-JO" sz="1600" dirty="0"/>
              <a:t>ثم تُعرض النتائج النهائية على أصحاب المصلحة من خلال </a:t>
            </a:r>
            <a:r>
              <a:rPr lang="ar-JO" sz="1600" b="1" dirty="0"/>
              <a:t>التقارير الدورية</a:t>
            </a:r>
            <a:r>
              <a:rPr lang="ar-JO" sz="1600" dirty="0"/>
              <a:t>، </a:t>
            </a:r>
            <a:r>
              <a:rPr lang="ar-JO" sz="1600" b="1" dirty="0"/>
              <a:t>العروض التقديمية</a:t>
            </a:r>
            <a:r>
              <a:rPr lang="ar-JO" sz="1600" dirty="0"/>
              <a:t>، أو </a:t>
            </a:r>
            <a:r>
              <a:rPr lang="ar-JO" sz="1600" b="1" dirty="0"/>
              <a:t>النماذج البيانية</a:t>
            </a:r>
            <a:r>
              <a:rPr lang="ar-JO" sz="1600" dirty="0"/>
              <a:t>، لتوضيح مؤشرات الأداء ومساعدة الإدارة في اتخاذ القرارات المناسبة.</a:t>
            </a:r>
            <a:endParaRPr lang="ar-JO" sz="1600" dirty="0"/>
          </a:p>
          <a:p>
            <a:pPr algn="r" rtl="1"/>
            <a:r>
              <a:rPr lang="ar-JO" sz="1600" dirty="0"/>
              <a:t>تستفيد الشركة من البيانات والمعلومات في تحسين عملياتها الإدارية والإنتاجية، وتساعدها تكنولوجيا المعلومات في تحليل ونمذجة البيانات وتخزينها ومشاركتها بأمان.</a:t>
            </a:r>
            <a:br>
              <a:rPr lang="ar-JO" sz="1600" dirty="0"/>
            </a:br>
            <a:r>
              <a:rPr lang="ar-JO" sz="1600" dirty="0"/>
              <a:t>كما تُستخدم أنظمة مثل </a:t>
            </a:r>
            <a:r>
              <a:rPr lang="en-US" sz="1600" b="1" dirty="0"/>
              <a:t>SharePoint </a:t>
            </a:r>
            <a:r>
              <a:rPr lang="ar-JO" sz="1600" b="1" dirty="0"/>
              <a:t>و</a:t>
            </a:r>
            <a:r>
              <a:rPr lang="en-US" sz="1600" b="1" dirty="0"/>
              <a:t>Teams</a:t>
            </a:r>
            <a:r>
              <a:rPr lang="en-US" sz="1600" dirty="0"/>
              <a:t> </a:t>
            </a:r>
            <a:r>
              <a:rPr lang="ar-JO" sz="1600" dirty="0"/>
              <a:t>لتبادل الملفات والمعلومات بين الأقسام، وتُستخدم أنظمة الذكاء الاصطناعي والتعلم الآلي للتنبؤ بالاتجاهات وتحسين التخطيط المستقبلي.</a:t>
            </a:r>
            <a:endParaRPr lang="ar-JO" sz="1600" dirty="0"/>
          </a:p>
          <a:p>
            <a:pPr algn="r" rtl="1"/>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B.M2</a:t>
            </a:r>
            <a:r>
              <a:rPr lang="ar-JO" sz="3200" dirty="0"/>
              <a:t> هدف ب </a:t>
            </a:r>
            <a:endParaRPr lang="en-US" sz="3200" dirty="0"/>
          </a:p>
        </p:txBody>
      </p:sp>
      <p:sp>
        <p:nvSpPr>
          <p:cNvPr id="3" name="Content Placeholder 2"/>
          <p:cNvSpPr>
            <a:spLocks noGrp="1"/>
          </p:cNvSpPr>
          <p:nvPr>
            <p:ph idx="1"/>
          </p:nvPr>
        </p:nvSpPr>
        <p:spPr/>
        <p:txBody>
          <a:bodyPr>
            <a:normAutofit/>
          </a:bodyPr>
          <a:lstStyle/>
          <a:p>
            <a:pPr algn="r" rtl="1"/>
            <a:r>
              <a:rPr lang="ar-JO" sz="1600" b="1" dirty="0"/>
              <a:t>دور المجتمعات الإلكترونية في دعم استخدام البيانات والمعلومات</a:t>
            </a:r>
            <a:endParaRPr lang="ar-JO" sz="1600" b="1" dirty="0"/>
          </a:p>
          <a:p>
            <a:pPr algn="r" rtl="1"/>
            <a:r>
              <a:rPr lang="ar-JO" sz="1600" dirty="0"/>
              <a:t>تلعب المجتمعات الإلكترونية دوراً مهماً في تبادل البيانات والمعلومات داخل الشركة وخارجها.</a:t>
            </a:r>
            <a:br>
              <a:rPr lang="ar-JO" sz="1600" dirty="0"/>
            </a:br>
            <a:r>
              <a:rPr lang="ar-JO" sz="1600" dirty="0"/>
              <a:t>فعن طريق </a:t>
            </a:r>
            <a:r>
              <a:rPr lang="ar-JO" sz="1600" b="1" dirty="0"/>
              <a:t>وسائل التواصل الاجتماعي</a:t>
            </a:r>
            <a:r>
              <a:rPr lang="ar-JO" sz="1600" dirty="0"/>
              <a:t> يمكن للشركة التفاعل مع العملاء وجمع التغذية الراجعة حول المنتجات.</a:t>
            </a:r>
            <a:br>
              <a:rPr lang="ar-JO" sz="1600" dirty="0"/>
            </a:br>
            <a:r>
              <a:rPr lang="ar-JO" sz="1600" dirty="0"/>
              <a:t>أما </a:t>
            </a:r>
            <a:r>
              <a:rPr lang="ar-JO" sz="1600" b="1" dirty="0"/>
              <a:t>المراسلة الفورية</a:t>
            </a:r>
            <a:r>
              <a:rPr lang="ar-JO" sz="1600" dirty="0"/>
              <a:t> فتُستخدم في التواصل السريع بين الفرق داخل الشركة مما يسرّع عملية اتخاذ القرار.</a:t>
            </a:r>
            <a:br>
              <a:rPr lang="ar-JO" sz="1600" dirty="0"/>
            </a:br>
            <a:r>
              <a:rPr lang="ar-JO" sz="1600" dirty="0"/>
              <a:t>و</a:t>
            </a:r>
            <a:r>
              <a:rPr lang="ar-JO" sz="1600" b="1" dirty="0"/>
              <a:t>غرف الدردشة</a:t>
            </a:r>
            <a:r>
              <a:rPr lang="ar-JO" sz="1600" dirty="0"/>
              <a:t> أو الاجتماعات الافتراضية تتيح التعاون بين الموظفين في مواقع مختلفة، في حين توفر </a:t>
            </a:r>
            <a:r>
              <a:rPr lang="ar-JO" sz="1600" b="1" dirty="0"/>
              <a:t>منصات الويكي</a:t>
            </a:r>
            <a:r>
              <a:rPr lang="ar-JO" sz="1600" dirty="0"/>
              <a:t> إمكانية مشاركة المعرفة والخبرات بين الزملاء وتحديث المعلومات أولاً بأول.</a:t>
            </a:r>
            <a:br>
              <a:rPr lang="ar-JO" sz="1600" dirty="0"/>
            </a:br>
            <a:r>
              <a:rPr lang="ar-JO" sz="1600" dirty="0"/>
              <a:t>كما تُستخدم </a:t>
            </a:r>
            <a:r>
              <a:rPr lang="ar-JO" sz="1600" b="1" dirty="0"/>
              <a:t>الاستبيانات الإلكترونية</a:t>
            </a:r>
            <a:r>
              <a:rPr lang="ar-JO" sz="1600" dirty="0"/>
              <a:t> لجمع آراء العملاء وتقييم المنتجات.</a:t>
            </a:r>
            <a:endParaRPr lang="ar-JO" sz="1600" dirty="0"/>
          </a:p>
          <a:p>
            <a:pPr algn="r" rtl="1"/>
            <a:r>
              <a:rPr lang="ar-JO" sz="1600" dirty="0"/>
              <a:t>هذه الوسائل لها آثار إيجابية على الأفراد من خلال تعزيز التعاون وتبادل المعرفة، وتؤثر إيجابياً على المؤسسة من خلال تحسين التواصل وتسريع الإجراءات.</a:t>
            </a:r>
            <a:br>
              <a:rPr lang="ar-JO" sz="1600" dirty="0"/>
            </a:br>
            <a:r>
              <a:rPr lang="ar-JO" sz="1600" dirty="0"/>
              <a:t>لكنها قد تتضمن مخاطر مثل تسريب المعلومات، ضعف الخصوصية، أو الاعتماد المفرط على الإنترنت، لذلك يجب تطبيق سياسات أمان واضحة لحماية البيانات وضمان استخدامها بشكل مسؤول.</a:t>
            </a:r>
            <a:endParaRPr lang="ar-JO" sz="1600" dirty="0"/>
          </a:p>
          <a:p>
            <a:pPr algn="r" rtl="1"/>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C.P6</a:t>
            </a:r>
            <a:r>
              <a:rPr lang="ar-JO" sz="3200" dirty="0"/>
              <a:t> هدف ج</a:t>
            </a:r>
            <a:endParaRPr lang="en-US" sz="3200" dirty="0"/>
          </a:p>
        </p:txBody>
      </p:sp>
      <p:sp>
        <p:nvSpPr>
          <p:cNvPr id="3" name="Content Placeholder 2"/>
          <p:cNvSpPr>
            <a:spLocks noGrp="1"/>
          </p:cNvSpPr>
          <p:nvPr>
            <p:ph idx="1"/>
          </p:nvPr>
        </p:nvSpPr>
        <p:spPr/>
        <p:txBody>
          <a:bodyPr>
            <a:normAutofit/>
          </a:bodyPr>
          <a:lstStyle/>
          <a:p>
            <a:pPr algn="r" rtl="1"/>
            <a:r>
              <a:rPr lang="ar-JO" sz="1600" b="1" dirty="0"/>
              <a:t>التهديدات الداخلية والخارجية للبيانات والمعلومات</a:t>
            </a:r>
            <a:endParaRPr lang="ar-JO" sz="1600" b="1" dirty="0"/>
          </a:p>
          <a:p>
            <a:pPr algn="r" rtl="1"/>
            <a:r>
              <a:rPr lang="ar-JO" sz="1600" dirty="0"/>
              <a:t>في أي شركة، تواجه البيانات والمعلومات مجموعة من التهديدات التي قد تؤثر على سلامتها وسرية استخدامها.</a:t>
            </a:r>
            <a:br>
              <a:rPr lang="ar-JO" sz="1600" dirty="0"/>
            </a:br>
            <a:r>
              <a:rPr lang="ar-JO" sz="1600" dirty="0"/>
              <a:t>بالنسبة </a:t>
            </a:r>
            <a:r>
              <a:rPr lang="ar-JO" sz="1600" b="1" dirty="0"/>
              <a:t>للتهديدات الخارجية</a:t>
            </a:r>
            <a:r>
              <a:rPr lang="ar-JO" sz="1600" dirty="0"/>
              <a:t>، تشمل الفيروسات والبرمجيات الخبيثة التي يمكن أن تصيب أجهزة الشركة، والقراصنة الذين يحاولون اختراق الأنظمة للحصول على معلومات حساسة، بالإضافة إلى محاولات </a:t>
            </a:r>
            <a:r>
              <a:rPr lang="ar-JO" sz="1600" b="1" dirty="0"/>
              <a:t>التصيد الاحتيالي</a:t>
            </a:r>
            <a:r>
              <a:rPr lang="ar-JO" sz="1600" dirty="0"/>
              <a:t> التي تستهدف خداع الموظفين للحصول على بيانات سرية أو مالية.</a:t>
            </a:r>
            <a:endParaRPr lang="ar-JO" sz="1600" dirty="0"/>
          </a:p>
          <a:p>
            <a:pPr algn="r" rtl="1"/>
            <a:r>
              <a:rPr lang="ar-JO" sz="1600" dirty="0"/>
              <a:t>أما </a:t>
            </a:r>
            <a:r>
              <a:rPr lang="ar-JO" sz="1600" b="1" dirty="0"/>
              <a:t>التهديدات الداخلية</a:t>
            </a:r>
            <a:r>
              <a:rPr lang="ar-JO" sz="1600" dirty="0"/>
              <a:t> فتنتج غالبًا عن الموظفين أو البيئة التشغيلية نفسها. على سبيل المثال، الأخطاء البشرية قد تؤدي إلى حذف بيانات هامة أو إدخال معلومات خاطئة. ضعف المعرفة التقنية لدى بعض الموظفين يزيد من احتمال وقوع مشاكل أمنية. كما قد تتسبب </a:t>
            </a:r>
            <a:r>
              <a:rPr lang="ar-JO" sz="1600" b="1" dirty="0"/>
              <a:t>مشاكل البنية التحتية</a:t>
            </a:r>
            <a:r>
              <a:rPr lang="ar-JO" sz="1600" dirty="0"/>
              <a:t> مثل انقطاع التيار الكهربائي أو ضعف الإنترنت في تعطيل الوصول إلى البيانات أو فقدانها. كذلك، </a:t>
            </a:r>
            <a:r>
              <a:rPr lang="ar-JO" sz="1600" b="1" dirty="0"/>
              <a:t>تلف البيانات</a:t>
            </a:r>
            <a:r>
              <a:rPr lang="ar-JO" sz="1600" dirty="0"/>
              <a:t> بسبب عدم وجود نسخ احتياطية محدثة يمثل تهديدًا كبيرًا. وأخيرًا، عدم الالتزام باللوائح والقوانين مثل تسريب بيانات العملاء قد يعرض الشركة لمشاكل قانونية وأخلاقية.</a:t>
            </a:r>
            <a:endParaRPr lang="ar-JO" sz="1600" dirty="0"/>
          </a:p>
          <a:p>
            <a:pPr algn="r" rtl="1"/>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C.P7</a:t>
            </a:r>
            <a:r>
              <a:rPr lang="ar-JO" sz="3200" dirty="0"/>
              <a:t> هدف ج </a:t>
            </a:r>
            <a:endParaRPr lang="en-US" sz="3200" dirty="0"/>
          </a:p>
        </p:txBody>
      </p:sp>
      <p:sp>
        <p:nvSpPr>
          <p:cNvPr id="3" name="Content Placeholder 2"/>
          <p:cNvSpPr>
            <a:spLocks noGrp="1"/>
          </p:cNvSpPr>
          <p:nvPr>
            <p:ph idx="1"/>
          </p:nvPr>
        </p:nvSpPr>
        <p:spPr/>
        <p:txBody>
          <a:bodyPr>
            <a:normAutofit/>
          </a:bodyPr>
          <a:lstStyle/>
          <a:p>
            <a:pPr algn="r" rtl="1"/>
            <a:r>
              <a:rPr lang="ar-JO" sz="1600" b="1" dirty="0"/>
              <a:t>الإجراءات المتبعة لحماية البيانات والمعلومات</a:t>
            </a:r>
            <a:endParaRPr lang="ar-JO" sz="1600" b="1" dirty="0"/>
          </a:p>
          <a:p>
            <a:pPr algn="r" rtl="1"/>
            <a:r>
              <a:rPr lang="ar-JO" sz="1600" dirty="0"/>
              <a:t>لحماية البيانات والمعلومات، تتبع الشركة مجموعة من الإجراءات الأمنية المتكاملة.</a:t>
            </a:r>
            <a:br>
              <a:rPr lang="ar-JO" sz="1600" dirty="0"/>
            </a:br>
            <a:r>
              <a:rPr lang="ar-JO" sz="1600" dirty="0"/>
              <a:t>يتم تنظيم الوصول إلى الملفات من خلال </a:t>
            </a:r>
            <a:r>
              <a:rPr lang="ar-JO" sz="1600" b="1" dirty="0"/>
              <a:t>أذونات الملفات ومستويات الوصول</a:t>
            </a:r>
            <a:r>
              <a:rPr lang="ar-JO" sz="1600" dirty="0"/>
              <a:t> بحيث يمكن لكل موظف الوصول فقط إلى البيانات المتعلقة بعمله. تُطبق إجراءات </a:t>
            </a:r>
            <a:r>
              <a:rPr lang="ar-JO" sz="1600" b="1" dirty="0"/>
              <a:t>النسخ الاحتياطي والاسترداد</a:t>
            </a:r>
            <a:r>
              <a:rPr lang="ar-JO" sz="1600" dirty="0"/>
              <a:t> لضمان استرجاع البيانات في حالة حدوث أي خلل.</a:t>
            </a:r>
            <a:br>
              <a:rPr lang="ar-JO" sz="1600" dirty="0"/>
            </a:br>
            <a:r>
              <a:rPr lang="ar-JO" sz="1600" dirty="0"/>
              <a:t>تُستخدم </a:t>
            </a:r>
            <a:r>
              <a:rPr lang="ar-JO" sz="1600" b="1" dirty="0"/>
              <a:t>كلمات المرور المعقدة والتحكم في الوصول الفعلي</a:t>
            </a:r>
            <a:r>
              <a:rPr lang="ar-JO" sz="1600" dirty="0"/>
              <a:t> لحماية الأجهزة والأنظمة، مع الاعتماد على </a:t>
            </a:r>
            <a:r>
              <a:rPr lang="ar-JO" sz="1600" b="1" dirty="0"/>
              <a:t>الشهادات الرقمية والبروتوكولات الأمنية</a:t>
            </a:r>
            <a:r>
              <a:rPr lang="ar-JO" sz="1600" dirty="0"/>
              <a:t> لضمان سلامة الاتصالات.</a:t>
            </a:r>
            <a:br>
              <a:rPr lang="ar-JO" sz="1600" dirty="0"/>
            </a:br>
            <a:r>
              <a:rPr lang="ar-JO" sz="1600" dirty="0"/>
              <a:t>كما يتم استخدام </a:t>
            </a:r>
            <a:r>
              <a:rPr lang="ar-JO" sz="1600" b="1" dirty="0"/>
              <a:t>مضادات الفيروسات وبرامج التشفير</a:t>
            </a:r>
            <a:r>
              <a:rPr lang="ar-JO" sz="1600" dirty="0"/>
              <a:t> لحماية البيانات المخزنة والمنقولة، ويقتصر الوصول إلى المواقع الإلكترونية على </a:t>
            </a:r>
            <a:r>
              <a:rPr lang="ar-JO" sz="1600" b="1" dirty="0"/>
              <a:t>المواقع الآمنة </a:t>
            </a:r>
            <a:r>
              <a:rPr lang="en-US" sz="1600" b="1" dirty="0"/>
              <a:t>HTTPS</a:t>
            </a:r>
            <a:r>
              <a:rPr lang="en-US" sz="1600" dirty="0"/>
              <a:t> </a:t>
            </a:r>
            <a:r>
              <a:rPr lang="ar-JO" sz="1600" dirty="0"/>
              <a:t>لتقليل المخاطر الإلكترونية.</a:t>
            </a:r>
            <a:endParaRPr lang="ar-JO" sz="1600" dirty="0"/>
          </a:p>
          <a:p>
            <a:pPr algn="r" rtl="1"/>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C.P8</a:t>
            </a:r>
            <a:r>
              <a:rPr lang="ar-JO" sz="3200" dirty="0"/>
              <a:t> هدف ج </a:t>
            </a:r>
            <a:endParaRPr lang="en-US" sz="3200" dirty="0"/>
          </a:p>
        </p:txBody>
      </p:sp>
      <p:sp>
        <p:nvSpPr>
          <p:cNvPr id="3" name="Content Placeholder 2"/>
          <p:cNvSpPr>
            <a:spLocks noGrp="1"/>
          </p:cNvSpPr>
          <p:nvPr>
            <p:ph idx="1"/>
          </p:nvPr>
        </p:nvSpPr>
        <p:spPr>
          <a:xfrm>
            <a:off x="838200" y="1547447"/>
            <a:ext cx="10515600" cy="4629517"/>
          </a:xfrm>
        </p:spPr>
        <p:txBody>
          <a:bodyPr>
            <a:noAutofit/>
          </a:bodyPr>
          <a:lstStyle/>
          <a:p>
            <a:pPr algn="r" rtl="1"/>
            <a:r>
              <a:rPr lang="ar-JO" sz="1530" b="1" dirty="0"/>
              <a:t>الإجراءات القانونية والأخلاقية لتشغيل الشركة</a:t>
            </a:r>
            <a:endParaRPr lang="ar-JO" sz="1530" b="1" dirty="0"/>
          </a:p>
          <a:p>
            <a:pPr algn="r" rtl="1"/>
            <a:r>
              <a:rPr lang="ar-JO" sz="1530" dirty="0"/>
              <a:t>للسماح للشركة بالعمل بطريقة قانونية وأخلاقية، يجب الالتزام بعدة مجالات:</a:t>
            </a:r>
            <a:endParaRPr lang="ar-JO" sz="1530" dirty="0"/>
          </a:p>
          <a:p>
            <a:pPr algn="r" rtl="1"/>
            <a:r>
              <a:rPr lang="ar-JO" sz="1530" b="1" dirty="0"/>
              <a:t>القضايا المعنوية والأخلاقية:</a:t>
            </a:r>
            <a:br>
              <a:rPr lang="ar-JO" sz="1530" dirty="0"/>
            </a:br>
            <a:r>
              <a:rPr lang="ar-JO" sz="1530" dirty="0"/>
              <a:t>تشمل حماية الخصوصية، مراعاة العوامل البيئية، ضمان عدم التمييز في الوصول لتكنولوجيا المعلومات، والسلوك الملائم على الإنترنت. كما تتضمن القضايا المتعلقة بالعولمة، حرية التعبير، الاستخدام المقبول للأنظمة، القرصنة الأخلاقية، وحماية البيانات.</a:t>
            </a:r>
            <a:endParaRPr lang="ar-JO" sz="1530" dirty="0"/>
          </a:p>
          <a:p>
            <a:pPr algn="r" rtl="1"/>
            <a:r>
              <a:rPr lang="ar-JO" sz="1530" b="1" dirty="0"/>
              <a:t>القضايا القانونية المرتبطة باستخدام تكنولوجيا المعلومات:</a:t>
            </a:r>
            <a:br>
              <a:rPr lang="ar-JO" sz="1530" dirty="0"/>
            </a:br>
            <a:r>
              <a:rPr lang="ar-JO" sz="1530" dirty="0"/>
              <a:t>تتعلق بحماية الشركة من القرصنة أو الاحتيال، منع إساءة استخدام الحاسوب، احترام حقوق الطبع والنشر والملكية الفكرية، ضمان الصحة والسلامة، حماية البيانات، حقوق المستهلك، وإمكانية الوصول للبيانات لجميع الأطراف المعنية.</a:t>
            </a:r>
            <a:endParaRPr lang="ar-JO" sz="1530" dirty="0"/>
          </a:p>
          <a:p>
            <a:pPr algn="r" rtl="1"/>
            <a:r>
              <a:rPr lang="ar-JO" sz="1530" b="1" dirty="0"/>
              <a:t>الإرشادات المهنية ومدونات الممارسة:</a:t>
            </a:r>
            <a:br>
              <a:rPr lang="ar-JO" sz="1530" dirty="0"/>
            </a:br>
            <a:r>
              <a:rPr lang="ar-JO" sz="1530" dirty="0"/>
              <a:t>تعتمد الشركة على القوانين الدولية والمحلية مثل </a:t>
            </a:r>
            <a:r>
              <a:rPr lang="ar-JO" sz="1530" b="1" dirty="0"/>
              <a:t>قانون المساواة لعام 2010</a:t>
            </a:r>
            <a:r>
              <a:rPr lang="ar-JO" sz="1530" dirty="0"/>
              <a:t>، والمعايير الدولية للسلامة والجودة مثل </a:t>
            </a:r>
            <a:r>
              <a:rPr lang="en-US" sz="1530" b="1" dirty="0"/>
              <a:t>ISO</a:t>
            </a:r>
            <a:r>
              <a:rPr lang="en-US" sz="1530" dirty="0"/>
              <a:t>، </a:t>
            </a:r>
            <a:r>
              <a:rPr lang="ar-JO" sz="1530" dirty="0"/>
              <a:t>بالإضافة إلى إرشادات تيسير الوصول إلى محتوى الويب </a:t>
            </a:r>
            <a:r>
              <a:rPr lang="en-US" sz="1530" b="1" dirty="0"/>
              <a:t>WCAG 1.0 </a:t>
            </a:r>
            <a:r>
              <a:rPr lang="ar-JO" sz="1530" b="1" dirty="0"/>
              <a:t>و2.0</a:t>
            </a:r>
            <a:r>
              <a:rPr lang="ar-JO" sz="1530" dirty="0"/>
              <a:t> ورابطة الشبكة العالمية </a:t>
            </a:r>
            <a:r>
              <a:rPr lang="en-US" sz="1530" b="1" dirty="0"/>
              <a:t>RC3W</a:t>
            </a:r>
            <a:r>
              <a:rPr lang="en-US" sz="1530" dirty="0"/>
              <a:t>.</a:t>
            </a:r>
            <a:endParaRPr lang="en-US" sz="1530" dirty="0"/>
          </a:p>
          <a:p>
            <a:pPr algn="r" rtl="1"/>
            <a:r>
              <a:rPr lang="ar-JO" sz="1530" b="1" dirty="0"/>
              <a:t>إدارة البنية التحتية والبيانات والمعلومات والمستخدمين:</a:t>
            </a:r>
            <a:endParaRPr lang="ar-JO" sz="1530" dirty="0"/>
          </a:p>
          <a:p>
            <a:pPr lvl="1" algn="r" rtl="1"/>
            <a:r>
              <a:rPr lang="ar-JO" sz="1530" b="1" dirty="0"/>
              <a:t>إدارة المستخدمين:</a:t>
            </a:r>
            <a:r>
              <a:rPr lang="ar-JO" sz="1530" dirty="0"/>
              <a:t> تشمل الأمن وحماية الحسابات والاستخدام المقبول للأنظمة.</a:t>
            </a:r>
            <a:endParaRPr lang="ar-JO" sz="1530" dirty="0"/>
          </a:p>
          <a:p>
            <a:pPr lvl="1" algn="r" rtl="1"/>
            <a:r>
              <a:rPr lang="ar-JO" sz="1530" b="1" dirty="0"/>
              <a:t>إدارة ودعم العملاء:</a:t>
            </a:r>
            <a:r>
              <a:rPr lang="ar-JO" sz="1530" dirty="0"/>
              <a:t> يتم ذلك من خلال الرد على الاستفسارات، مخططات تدفق حل الحوادث، واستخدام وسائل التواصل الاجتماعي لتسهيل حل المشاكل بسرعة.</a:t>
            </a:r>
            <a:endParaRPr lang="ar-JO" sz="1530" dirty="0"/>
          </a:p>
          <a:p>
            <a:pPr lvl="1" algn="r" rtl="1"/>
            <a:r>
              <a:rPr lang="ar-JO" sz="1530" b="1" dirty="0"/>
              <a:t>إدارة الأصول:</a:t>
            </a:r>
            <a:r>
              <a:rPr lang="ar-JO" sz="1530" dirty="0"/>
              <a:t> تشمل إجراءات الإبلاغ عن المشكلات، جداول الصيانة، سجلات المشكلات، ونشر البرمجيات محليًا أو عن بُعد.</a:t>
            </a:r>
            <a:endParaRPr lang="ar-JO" sz="1530" dirty="0"/>
          </a:p>
          <a:p>
            <a:pPr lvl="1" algn="r" rtl="1"/>
            <a:r>
              <a:rPr lang="ar-JO" sz="1530" b="1" dirty="0"/>
              <a:t>إدارة الحوادث:</a:t>
            </a:r>
            <a:r>
              <a:rPr lang="ar-JO" sz="1530" dirty="0"/>
              <a:t> تتضمن النسخ الاحتياطي، التعافي من الكوارث، والتواصل مع الجمهور والسلطات عند الحاجة.</a:t>
            </a:r>
            <a:endParaRPr lang="ar-JO" sz="1530" dirty="0"/>
          </a:p>
          <a:p>
            <a:pPr lvl="1" algn="r" rtl="1"/>
            <a:r>
              <a:rPr lang="ar-JO" sz="1530" b="1" dirty="0"/>
              <a:t>مقاييس الأداء:</a:t>
            </a:r>
            <a:r>
              <a:rPr lang="ar-JO" sz="1530" dirty="0"/>
              <a:t> جمع وتحليل بيانات الأداء للتأكد من كفاءة النظام وفاعلية الإجراءات.</a:t>
            </a:r>
            <a:endParaRPr lang="ar-JO" sz="1530" dirty="0"/>
          </a:p>
          <a:p>
            <a:pPr algn="r" rtl="1"/>
            <a:endParaRPr lang="en-US" sz="15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C.M3 </a:t>
            </a:r>
            <a:r>
              <a:rPr lang="ar-JO" sz="3200" dirty="0"/>
              <a:t> هدف د </a:t>
            </a:r>
            <a:endParaRPr lang="en-US" sz="3200" dirty="0"/>
          </a:p>
        </p:txBody>
      </p:sp>
      <p:sp>
        <p:nvSpPr>
          <p:cNvPr id="3" name="Content Placeholder 2"/>
          <p:cNvSpPr>
            <a:spLocks noGrp="1"/>
          </p:cNvSpPr>
          <p:nvPr>
            <p:ph idx="1"/>
          </p:nvPr>
        </p:nvSpPr>
        <p:spPr/>
        <p:txBody>
          <a:bodyPr>
            <a:normAutofit/>
          </a:bodyPr>
          <a:lstStyle/>
          <a:p>
            <a:pPr algn="r" rtl="1"/>
            <a:r>
              <a:rPr lang="ar-JO" sz="1600" b="1" dirty="0"/>
              <a:t>آثار التهديدات الداخلية والخارجية على الأفراد والمؤسسات</a:t>
            </a:r>
            <a:endParaRPr lang="ar-JO" sz="1600" b="1" dirty="0"/>
          </a:p>
          <a:p>
            <a:pPr algn="r" rtl="1"/>
            <a:r>
              <a:rPr lang="ar-JO" sz="1600" dirty="0"/>
              <a:t>تواجه أي شركة مجموعة من التهديدات التي تؤثر على سلامة البيانات وسير العمل.</a:t>
            </a:r>
            <a:br>
              <a:rPr lang="ar-JO" sz="1600" dirty="0"/>
            </a:br>
            <a:r>
              <a:rPr lang="ar-JO" sz="1600" b="1" dirty="0"/>
              <a:t>التهديدات الخارجية</a:t>
            </a:r>
            <a:r>
              <a:rPr lang="ar-JO" sz="1600" dirty="0"/>
              <a:t> تشمل الفيروسات والبرمجيات الخبيثة التي قد تتسبب في توقف الأنظمة أو فقدان بيانات هامة، والهجمات من القراصنة الذين يسعون للوصول إلى المعلومات الحساسة، بالإضافة إلى محاولات </a:t>
            </a:r>
            <a:r>
              <a:rPr lang="ar-JO" sz="1600" b="1" dirty="0"/>
              <a:t>التصيد الاحتيالي</a:t>
            </a:r>
            <a:r>
              <a:rPr lang="ar-JO" sz="1600" dirty="0"/>
              <a:t> التي قد تخدع الموظفين للكشف عن بيانات العملاء أو معلومات مالية. تأثير هذه التهديدات على الشركة يشمل خسارة البيانات، تعطيل سير العمل، فقدان ثقة العملاء، وتأثير سلبي على السمعة العامة للشركة.</a:t>
            </a:r>
            <a:endParaRPr lang="ar-JO" sz="1600" dirty="0"/>
          </a:p>
          <a:p>
            <a:pPr algn="r" rtl="1"/>
            <a:r>
              <a:rPr lang="ar-JO" sz="1600" dirty="0"/>
              <a:t>أما </a:t>
            </a:r>
            <a:r>
              <a:rPr lang="ar-JO" sz="1600" b="1" dirty="0"/>
              <a:t>التهديدات الداخلية</a:t>
            </a:r>
            <a:r>
              <a:rPr lang="ar-JO" sz="1600" dirty="0"/>
              <a:t> فتشمل الأخطاء البشرية مثل حذف الملفات عن طريق الخطأ، أو ضعف المعرفة التقنية لدى بعض الموظفين، وكذلك المشاكل المتعلقة بالبنية التحتية مثل انقطاع الكهرباء أو ضعف الإنترنت، وتلف البيانات الناتج عن عدم وجود نسخ احتياطية محدثة. تجاهل هذه المخاطر قد يؤدي إلى خسائر مالية كبيرة وتقليل كفاءة الأداء، ويزيد من احتمالية وقوع مشاكل قانونية وأخلاقية.</a:t>
            </a:r>
            <a:endParaRPr lang="ar-JO" sz="1600" dirty="0"/>
          </a:p>
          <a:p>
            <a:pPr algn="r" rtl="1"/>
            <a:r>
              <a:rPr lang="ar-JO" sz="1600" dirty="0"/>
              <a:t>لتخفيف هذه التهديدات، تعتمد الشركة على مجموعة من الإجراءات الأمنية. فمثلًا، استخدام برامج مضادة للفيروسات، وتطبيق سياسات نسخ احتياطي دورية للبيانات، وتدريب الموظفين على الاستخدام الصحيح للأنظمة يقلل من الأخطاء البشرية. النتائج الإيجابية من هذه الإجراءات تشمل حماية البيانات، زيادة ثقة العملاء، واستمرارية العمل بكفاءة. أما تجاهل هذه الإجراءات فيؤدي إلى فقدان البيانات، تعطيل العمليات، وتكاليف إضافية لإصلاح المشكلات.</a:t>
            </a:r>
            <a:endParaRPr lang="ar-JO" sz="1600" dirty="0"/>
          </a:p>
          <a:p>
            <a:pPr algn="r" rtl="1"/>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C.M4</a:t>
            </a:r>
            <a:r>
              <a:rPr lang="ar-JO" sz="3200" dirty="0"/>
              <a:t> هدف د </a:t>
            </a:r>
            <a:endParaRPr lang="en-US" sz="3200" dirty="0"/>
          </a:p>
        </p:txBody>
      </p:sp>
      <p:sp>
        <p:nvSpPr>
          <p:cNvPr id="3" name="Content Placeholder 2"/>
          <p:cNvSpPr>
            <a:spLocks noGrp="1"/>
          </p:cNvSpPr>
          <p:nvPr>
            <p:ph idx="1"/>
          </p:nvPr>
        </p:nvSpPr>
        <p:spPr/>
        <p:txBody>
          <a:bodyPr>
            <a:normAutofit/>
          </a:bodyPr>
          <a:lstStyle/>
          <a:p>
            <a:pPr algn="r" rtl="1"/>
            <a:r>
              <a:rPr lang="ar-JO" sz="1600" b="1" dirty="0"/>
              <a:t>تأثير الإجراءات القانونية والأخلاقية على الشركة</a:t>
            </a:r>
            <a:endParaRPr lang="ar-JO" sz="1600" b="1" dirty="0"/>
          </a:p>
          <a:p>
            <a:pPr algn="r" rtl="1"/>
            <a:r>
              <a:rPr lang="ar-JO" sz="1600" dirty="0"/>
              <a:t>لضمان عمل الشركة بطريقة قانونية وأخلاقية، يتم اتباع مجموعة من الإجراءات المنسقة:</a:t>
            </a:r>
            <a:endParaRPr lang="ar-JO" sz="1600" dirty="0"/>
          </a:p>
          <a:p>
            <a:pPr algn="r" rtl="1"/>
            <a:r>
              <a:rPr lang="ar-JO" sz="1600" b="1" dirty="0"/>
              <a:t>الإجراءات القانونية:</a:t>
            </a:r>
            <a:r>
              <a:rPr lang="ar-JO" sz="1600" dirty="0"/>
              <a:t> تشمل حماية البيانات، الالتزام بحقوق الملكية الفكرية، منع القرصنة أو الاحتيال، وضمان حقوق المستهلك، وكذلك تطبيق قوانين الصحة والسلامة. هذه الإجراءات تحمي الشركة من المشاكل القانونية وتضمن امتثالها للقوانين المعمول بها.</a:t>
            </a:r>
            <a:endParaRPr lang="ar-JO" sz="1600" dirty="0"/>
          </a:p>
          <a:p>
            <a:pPr algn="r" rtl="1"/>
            <a:r>
              <a:rPr lang="ar-JO" sz="1600" b="1" dirty="0"/>
              <a:t>الإجراءات الأخلاقية:</a:t>
            </a:r>
            <a:r>
              <a:rPr lang="ar-JO" sz="1600" dirty="0"/>
              <a:t> تشمل احترام الخصوصية، السلوك الملائم على الإنترنت، المساواة في الوصول لتكنولوجيا المعلومات، وحماية البيئة. الالتزام بهذه الإجراءات يعزز سمعة الشركة ويقوي ثقافة الثقة بين الموظفين والعملاء.</a:t>
            </a:r>
            <a:endParaRPr lang="ar-JO" sz="1600" dirty="0"/>
          </a:p>
          <a:p>
            <a:pPr algn="r" rtl="1"/>
            <a:r>
              <a:rPr lang="ar-JO" sz="1600" dirty="0"/>
              <a:t>تطبيق هذه الإجراءات يؤدي إلى فوائد واضحة مثل حماية البيانات والمعلومات، تحسين صورة الشركة، وتعزيز الالتزام بين الموظفين. بينما تجاهلها قد يؤدي إلى خسائر مالية، فقدان سمعة الشركة، أو تعرضها لمشاكل قانونية وأخلاقية.</a:t>
            </a:r>
            <a:endParaRPr lang="ar-JO" sz="1600" dirty="0"/>
          </a:p>
          <a:p>
            <a:pPr algn="r" rtl="1"/>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b="1" dirty="0"/>
              <a:t>BC.D2</a:t>
            </a:r>
            <a:r>
              <a:rPr lang="ar-JO" sz="3200" b="1" dirty="0"/>
              <a:t> </a:t>
            </a:r>
            <a:r>
              <a:rPr lang="ar-JO" sz="3200" dirty="0"/>
              <a:t>هدف د </a:t>
            </a:r>
            <a:endParaRPr lang="en-US" sz="3200" dirty="0"/>
          </a:p>
        </p:txBody>
      </p:sp>
      <p:sp>
        <p:nvSpPr>
          <p:cNvPr id="3" name="Content Placeholder 2"/>
          <p:cNvSpPr>
            <a:spLocks noGrp="1"/>
          </p:cNvSpPr>
          <p:nvPr>
            <p:ph idx="1"/>
          </p:nvPr>
        </p:nvSpPr>
        <p:spPr/>
        <p:txBody>
          <a:bodyPr>
            <a:normAutofit/>
          </a:bodyPr>
          <a:lstStyle/>
          <a:p>
            <a:pPr algn="r" rtl="1"/>
            <a:r>
              <a:rPr lang="ar-JO" sz="1600" b="1" dirty="0"/>
              <a:t>تقييم استخدام البيانات والمعلومات</a:t>
            </a:r>
            <a:endParaRPr lang="ar-JO" sz="1600" b="1" dirty="0"/>
          </a:p>
          <a:p>
            <a:pPr algn="r" rtl="1"/>
            <a:r>
              <a:rPr lang="ar-JO" sz="1600" b="1" dirty="0"/>
              <a:t>تأثير البيانات والمعلومات على الشركة:</a:t>
            </a:r>
            <a:br>
              <a:rPr lang="ar-JO" sz="1600" dirty="0"/>
            </a:br>
            <a:r>
              <a:rPr lang="ar-JO" sz="1600" dirty="0"/>
              <a:t>استخدام البيانات والمعلومات بشكل فعال يمكن الشركة من تحسين اتخاذ القرار، مثل تحليل أداء الموظفين لتحديد الترقيات أو خطط التدريب، أو دراسة بيانات المبيعات لتطوير استراتيجيات تسويقية أفضل. أما عدم استخدامها أو سوء إدارتها قد يؤدي إلى ضعف الأداء واتخاذ قرارات غير دقيقة.</a:t>
            </a:r>
            <a:endParaRPr lang="ar-JO" sz="1600" dirty="0"/>
          </a:p>
          <a:p>
            <a:pPr algn="r" rtl="1"/>
            <a:r>
              <a:rPr lang="ar-JO" sz="1600" b="1" dirty="0"/>
              <a:t>تأثير البيانات على أصحاب المصلحة:</a:t>
            </a:r>
            <a:br>
              <a:rPr lang="ar-JO" sz="1600" dirty="0"/>
            </a:br>
            <a:r>
              <a:rPr lang="ar-JO" sz="1600" dirty="0"/>
              <a:t>الموظفون يمكنهم تحسين أدائهم من خلال تحليل المعلومات، والعملاء يحصلون على خدمات أفضل من خلال إدارة علاقات العملاء </a:t>
            </a:r>
            <a:r>
              <a:rPr lang="en-US" sz="1600" dirty="0"/>
              <a:t>CRM، </a:t>
            </a:r>
            <a:r>
              <a:rPr lang="ar-JO" sz="1600" dirty="0"/>
              <a:t>والموردون يمكنهم التفاعل بشكل أفضل مع الشركة عند مشاركة البيانات الدقيقة. تجاهل هذه المعلومات يقلل من رضا الأطراف ويؤثر على العلاقات المهنية.</a:t>
            </a:r>
            <a:endParaRPr lang="ar-JO" sz="1600" dirty="0"/>
          </a:p>
          <a:p>
            <a:pPr algn="r" rtl="1"/>
            <a:r>
              <a:rPr lang="ar-JO" sz="1600" b="1" dirty="0"/>
              <a:t>السياسات المطبقة:</a:t>
            </a:r>
            <a:br>
              <a:rPr lang="ar-JO" sz="1600" dirty="0"/>
            </a:br>
            <a:r>
              <a:rPr lang="ar-JO" sz="1600" dirty="0"/>
              <a:t>تشمل السياسات إدارة البيانات والمعلومات، حماية الخصوصية، الحفاظ على سرية المعلومات، وإجراءات النسخ الاحتياطي. هذه السياسات تضمن أن تكون البيانات متاحة وموثوقة، وتدعم القرارات الاستراتيجية.</a:t>
            </a:r>
            <a:endParaRPr lang="ar-JO" sz="1600" dirty="0"/>
          </a:p>
          <a:p>
            <a:pPr algn="r" rtl="1"/>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en-US" sz="3200" dirty="0"/>
              <a:t>BC.D3</a:t>
            </a:r>
            <a:r>
              <a:rPr lang="ar-JO" sz="3200" dirty="0"/>
              <a:t> هدف د </a:t>
            </a:r>
            <a:endParaRPr lang="en-US" sz="3200" dirty="0"/>
          </a:p>
        </p:txBody>
      </p:sp>
      <p:sp>
        <p:nvSpPr>
          <p:cNvPr id="3" name="Content Placeholder 2"/>
          <p:cNvSpPr>
            <a:spLocks noGrp="1"/>
          </p:cNvSpPr>
          <p:nvPr>
            <p:ph idx="1"/>
          </p:nvPr>
        </p:nvSpPr>
        <p:spPr/>
        <p:txBody>
          <a:bodyPr>
            <a:normAutofit/>
          </a:bodyPr>
          <a:lstStyle/>
          <a:p>
            <a:pPr algn="r" rtl="1"/>
            <a:r>
              <a:rPr lang="ar-JO" sz="1600" b="1" dirty="0"/>
              <a:t>المبررات الواقعية للقرارات والسياسات والتوصيات</a:t>
            </a:r>
            <a:endParaRPr lang="ar-JO" sz="1600" b="1" dirty="0"/>
          </a:p>
          <a:p>
            <a:pPr algn="r" rtl="1"/>
            <a:r>
              <a:rPr lang="ar-JO" sz="1600" dirty="0"/>
              <a:t>اختيار السياسات والإجراءات السابقة مبني على عدة مبررات واقعية:</a:t>
            </a:r>
            <a:endParaRPr lang="ar-JO" sz="1600" dirty="0"/>
          </a:p>
          <a:p>
            <a:pPr algn="r" rtl="1"/>
            <a:r>
              <a:rPr lang="ar-JO" sz="1600" dirty="0"/>
              <a:t>حماية البيانات من الفقدان أو السرقة يعزز ثقة العملاء ويقلل المخاطر المالية.</a:t>
            </a:r>
            <a:endParaRPr lang="ar-JO" sz="1600" dirty="0"/>
          </a:p>
          <a:p>
            <a:pPr algn="r" rtl="1"/>
            <a:r>
              <a:rPr lang="ar-JO" sz="1600" dirty="0"/>
              <a:t>تدريب الموظفين على استخدام الأنظمة بطريقة صحيحة يقلل الأخطاء البشرية ويزيد الكفاءة.</a:t>
            </a:r>
            <a:endParaRPr lang="ar-JO" sz="1600" dirty="0"/>
          </a:p>
          <a:p>
            <a:pPr algn="r" rtl="1"/>
            <a:r>
              <a:rPr lang="ar-JO" sz="1600" dirty="0"/>
              <a:t>استخدام تقنيات النسخ الاحتياطي والتشفير يوفر ضمان استمرار العمل عند حدوث أي طارئ.</a:t>
            </a:r>
            <a:endParaRPr lang="ar-JO" sz="1600" dirty="0"/>
          </a:p>
          <a:p>
            <a:pPr algn="r" rtl="1"/>
            <a:r>
              <a:rPr lang="ar-JO" sz="1600" dirty="0"/>
              <a:t>الايجابيات لهذه السياسات تشمل حماية المعلومات، تحسين جودة القرارات، وزيادة كفاءة العمل. أما السلبيات فهي التكلفة الإضافية لتطبيق هذه الإجراءات، لكنها أقل بكثير من المخاطر الناتجة عن تجاهلها. بالمقارنة مع البدائل، تعتبر هذه السياسات أكثر أمانًا وفعالية لضمان استمرار العمل وحماية مصالح الشركة وأصحاب المصلحة.</a:t>
            </a:r>
            <a:endParaRPr lang="ar-JO" sz="1600" dirty="0"/>
          </a:p>
          <a:p>
            <a:pPr algn="r" rtl="1"/>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15373</Words>
  <Application>WPS Presentation</Application>
  <PresentationFormat>Widescreen</PresentationFormat>
  <Paragraphs>172</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Times New Roman</vt:lpstr>
      <vt:lpstr>Calibri Light</vt:lpstr>
      <vt:lpstr>Calibri</vt:lpstr>
      <vt:lpstr>Microsoft YaHei</vt:lpstr>
      <vt:lpstr>Arial Unicode MS</vt:lpstr>
      <vt:lpstr>Aldhabi</vt:lpstr>
      <vt:lpstr>Office Theme</vt:lpstr>
      <vt:lpstr>شرح معايير جميع الأهداف انظمة تكنولوجيا المعلومات </vt:lpstr>
      <vt:lpstr>هدف أ A.P1  </vt:lpstr>
      <vt:lpstr> هدف أ A.P2</vt:lpstr>
      <vt:lpstr> A.P3 هدف أ </vt:lpstr>
      <vt:lpstr>  هدف أ A.D1 + A.M1</vt:lpstr>
      <vt:lpstr>الهدف ب / النشاط الثاني: </vt:lpstr>
      <vt:lpstr>B.P4 هدف ب </vt:lpstr>
      <vt:lpstr>B.P5 هدف ب </vt:lpstr>
      <vt:lpstr>B.M2 هدف ب </vt:lpstr>
      <vt:lpstr>B.M2 هدف ب </vt:lpstr>
      <vt:lpstr>C.P6 هدف ج</vt:lpstr>
      <vt:lpstr>C.P7 هدف ج </vt:lpstr>
      <vt:lpstr>C.P8 هدف ج </vt:lpstr>
      <vt:lpstr>C.M3  هدف د </vt:lpstr>
      <vt:lpstr>C.M4 هدف د </vt:lpstr>
      <vt:lpstr>BC.D2 هدف د </vt:lpstr>
      <vt:lpstr>BC.D3 هدف د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AL-OLABY</dc:creator>
  <cp:lastModifiedBy>Sara Abu hamour</cp:lastModifiedBy>
  <cp:revision>10</cp:revision>
  <dcterms:created xsi:type="dcterms:W3CDTF">2025-11-12T16:12:00Z</dcterms:created>
  <dcterms:modified xsi:type="dcterms:W3CDTF">2025-11-12T17:26:39Z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35E6BA56B37C446DBD1CED3822C5BC0F_12</vt:lpwstr>
  </property>
  <property fmtid="{D5CDD505-2E9C-101B-9397-08002B2CF9AE}" pid="3" name="KSOProductBuildVer">
    <vt:lpwstr>1033-12.2.0.23155</vt:lpwstr>
  </property>
</Properties>
</file>