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71" r:id="rId2"/>
    <p:sldId id="273" r:id="rId3"/>
    <p:sldId id="272" r:id="rId4"/>
    <p:sldId id="257" r:id="rId5"/>
    <p:sldId id="258" r:id="rId6"/>
    <p:sldId id="259" r:id="rId7"/>
    <p:sldId id="274" r:id="rId8"/>
    <p:sldId id="275" r:id="rId9"/>
    <p:sldId id="276" r:id="rId10"/>
    <p:sldId id="277" r:id="rId11"/>
    <p:sldId id="260" r:id="rId12"/>
    <p:sldId id="278" r:id="rId13"/>
    <p:sldId id="279" r:id="rId14"/>
    <p:sldId id="280" r:id="rId15"/>
    <p:sldId id="281" r:id="rId16"/>
    <p:sldId id="286" r:id="rId17"/>
    <p:sldId id="264" r:id="rId18"/>
    <p:sldId id="267" r:id="rId19"/>
    <p:sldId id="268" r:id="rId20"/>
    <p:sldId id="269" r:id="rId21"/>
    <p:sldId id="270" r:id="rId22"/>
    <p:sldId id="287" r:id="rId23"/>
    <p:sldId id="291" r:id="rId24"/>
    <p:sldId id="295" r:id="rId25"/>
    <p:sldId id="296" r:id="rId26"/>
    <p:sldId id="297" r:id="rId27"/>
    <p:sldId id="298" r:id="rId28"/>
    <p:sldId id="292" r:id="rId29"/>
    <p:sldId id="294" r:id="rId30"/>
    <p:sldId id="300" r:id="rId31"/>
    <p:sldId id="301" r:id="rId32"/>
    <p:sldId id="302" r:id="rId33"/>
    <p:sldId id="303" r:id="rId34"/>
    <p:sldId id="304" r:id="rId35"/>
    <p:sldId id="306" r:id="rId36"/>
    <p:sldId id="307" r:id="rId37"/>
    <p:sldId id="308" r:id="rId38"/>
    <p:sldId id="309" r:id="rId39"/>
    <p:sldId id="310" r:id="rId40"/>
    <p:sldId id="312" r:id="rId41"/>
    <p:sldId id="313" r:id="rId42"/>
    <p:sldId id="314" r:id="rId43"/>
    <p:sldId id="315" r:id="rId44"/>
    <p:sldId id="316" r:id="rId45"/>
    <p:sldId id="317" r:id="rId46"/>
    <p:sldId id="318" r:id="rId47"/>
    <p:sldId id="321" r:id="rId48"/>
    <p:sldId id="319" r:id="rId49"/>
    <p:sldId id="320" r:id="rId50"/>
    <p:sldId id="322" r:id="rId51"/>
    <p:sldId id="323" r:id="rId52"/>
    <p:sldId id="324" r:id="rId53"/>
    <p:sldId id="325" r:id="rId54"/>
    <p:sldId id="326" r:id="rId55"/>
    <p:sldId id="327" r:id="rId56"/>
    <p:sldId id="353" r:id="rId57"/>
    <p:sldId id="328" r:id="rId58"/>
    <p:sldId id="330" r:id="rId59"/>
    <p:sldId id="331" r:id="rId60"/>
    <p:sldId id="332" r:id="rId61"/>
    <p:sldId id="335" r:id="rId62"/>
    <p:sldId id="336" r:id="rId63"/>
    <p:sldId id="337" r:id="rId64"/>
    <p:sldId id="344" r:id="rId65"/>
    <p:sldId id="346" r:id="rId66"/>
    <p:sldId id="347" r:id="rId67"/>
    <p:sldId id="345" r:id="rId68"/>
    <p:sldId id="348" r:id="rId69"/>
    <p:sldId id="349" r:id="rId70"/>
    <p:sldId id="350" r:id="rId71"/>
    <p:sldId id="351" r:id="rId72"/>
    <p:sldId id="352" r:id="rId73"/>
    <p:sldId id="338" r:id="rId74"/>
    <p:sldId id="339" r:id="rId75"/>
    <p:sldId id="340" r:id="rId76"/>
    <p:sldId id="341" r:id="rId77"/>
    <p:sldId id="343" r:id="rId78"/>
    <p:sldId id="342"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14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presProps" Target="pres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97BF-97F8-4AB0-ABD9-21E7261346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21500D4-7EC1-4107-BE23-E53A210D742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40179DF-C3AA-4880-B44D-3B2A137E614F}"/>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0751A422-AB23-46C6-B903-432CCE39CB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22A9C-DE41-4898-8668-EBCFA2BC527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940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3DB1B-465E-45EA-B63A-4FD836EE0B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45751-9EFD-46BF-B4C4-34F8831152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B1EA6-712E-465B-B988-A2B47A2930DD}"/>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E2C2829B-39B2-492D-BC5F-6850A35E5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EDB62-095D-48D3-92CD-52015B6529A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136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915C-B546-4B97-99C8-6E3521EB0DC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558206F-1A16-4308-95BF-466CA8AF8C1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8F9330-2F66-402D-B582-2560F7AA39DB}"/>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EB1C5FB0-65DC-47E3-B919-C4D8C8E94D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D64CF-72CF-4B0E-8C13-248D0CABB1B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3892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9F421-C1D0-44F4-9A99-9C1F78CF9A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C1DB4D-9CFF-468C-9DC1-422F1FFF3B2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8DD78B-AB54-4022-92B7-572697381FB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625A15-ADB7-4BC8-B217-F68DF37B428F}"/>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a:extLst>
              <a:ext uri="{FF2B5EF4-FFF2-40B4-BE49-F238E27FC236}">
                <a16:creationId xmlns:a16="http://schemas.microsoft.com/office/drawing/2014/main" id="{931463C5-0231-4204-8E83-ED4E88299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FD76C-E0DD-4CAA-AC0D-53250370B6C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2636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8F93-33CD-4C33-999C-C2BC7583FCC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B57295-1050-43C0-9976-614686D08A2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EB9AEDB-11AC-4070-902F-25B53A469B2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DE1E9B-7D14-41F5-B953-68DD0B43F6D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83E23F6-F311-4491-8F10-31CCF107BF8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509126-4575-4C25-AAF1-C400B5A3A35D}"/>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8" name="Footer Placeholder 7">
            <a:extLst>
              <a:ext uri="{FF2B5EF4-FFF2-40B4-BE49-F238E27FC236}">
                <a16:creationId xmlns:a16="http://schemas.microsoft.com/office/drawing/2014/main" id="{AFF092BA-C523-44E1-9CA8-E1B6AAF0F6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1A5B25-5262-4FAB-AA5B-C472785CE53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8094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AE601-E40C-4CF6-B4D7-57115C570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7EBC4E-DC1D-45E2-9156-F462505FD3C9}"/>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4" name="Footer Placeholder 3">
            <a:extLst>
              <a:ext uri="{FF2B5EF4-FFF2-40B4-BE49-F238E27FC236}">
                <a16:creationId xmlns:a16="http://schemas.microsoft.com/office/drawing/2014/main" id="{803D150D-BEC2-4E5B-A31B-AF31CF431E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853036-5DAB-406C-8953-E3B185E469D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852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87B242-6566-4D70-A3F0-264A78EDE8D0}"/>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3" name="Footer Placeholder 2">
            <a:extLst>
              <a:ext uri="{FF2B5EF4-FFF2-40B4-BE49-F238E27FC236}">
                <a16:creationId xmlns:a16="http://schemas.microsoft.com/office/drawing/2014/main" id="{B7F3B54E-0A39-4E89-B1E8-E55B52951D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C3787A-4F59-42DA-B56F-718DC96254A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4390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10D48-4E48-43B6-802E-E41CE6162DC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785E0BE-5FA5-4E01-BD97-E3CCD91CA5A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33E147-85D0-4DF8-8F8E-7D6BFBB5F0F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8D97D7-6D28-4498-83D2-559504F011B5}"/>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a:extLst>
              <a:ext uri="{FF2B5EF4-FFF2-40B4-BE49-F238E27FC236}">
                <a16:creationId xmlns:a16="http://schemas.microsoft.com/office/drawing/2014/main" id="{768EB4B9-FF9C-4A91-B2CF-2E235D5FD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B18CA-DD25-4930-9D2A-DB8DD8A968A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212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262A1-35AD-4CF6-B0BA-45EDA77748A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6D84572E-8FD8-4350-82DC-1325B3C3E1F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2DAF5B3-0CEA-40C6-A9D2-9F984D34ECE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9450FB2-003E-42F1-9D42-F6E4C433041F}"/>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6" name="Footer Placeholder 5">
            <a:extLst>
              <a:ext uri="{FF2B5EF4-FFF2-40B4-BE49-F238E27FC236}">
                <a16:creationId xmlns:a16="http://schemas.microsoft.com/office/drawing/2014/main" id="{C827C15C-AD67-4616-ADE2-47209CF460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326C1-E1CB-4E47-AC35-E8806048AEF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372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CE89A-F186-47E3-BDDC-37884C21A0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5F3A5C-30E1-4B1C-860B-B532EC9249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21771-224B-472B-A8D2-CD1C619EC559}"/>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CDF9B731-12AD-456B-B920-47F191393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61D60-1A45-4344-95C7-CFB11D755C1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410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5AA4B9-2727-44EA-9530-E62FC2167AB5}"/>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F12F7A-39B1-4E23-89D4-F0C15F4E70C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B8C64-A57E-4F21-B546-E15811A32187}"/>
              </a:ext>
            </a:extLst>
          </p:cNvPr>
          <p:cNvSpPr>
            <a:spLocks noGrp="1"/>
          </p:cNvSpPr>
          <p:nvPr>
            <p:ph type="dt" sz="half" idx="10"/>
          </p:nvPr>
        </p:nvSpPr>
        <p:spPr/>
        <p:txBody>
          <a:body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0371E5E3-12E8-4477-B8C6-7EA5C8BA4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225A4-FA68-42CD-B2FA-8EFC8402FFE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0662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A547B-17A7-4252-A1E3-F58F5814CEB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7D0237-4011-42B7-97A4-66CEDE183BD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E10A1-AED1-4AAB-88DA-09EF0EBC44F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10/25/2025</a:t>
            </a:fld>
            <a:endParaRPr lang="en-US"/>
          </a:p>
        </p:txBody>
      </p:sp>
      <p:sp>
        <p:nvSpPr>
          <p:cNvPr id="5" name="Footer Placeholder 4">
            <a:extLst>
              <a:ext uri="{FF2B5EF4-FFF2-40B4-BE49-F238E27FC236}">
                <a16:creationId xmlns:a16="http://schemas.microsoft.com/office/drawing/2014/main" id="{DF63FCC7-2F6B-49AF-A109-840B589C376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346B609-9ABC-44CC-92DF-9E56BED0F58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425227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4.jpg"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8.png" /></Relationships>
</file>

<file path=ppt/slides/_rels/slide10.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10.png" /></Relationships>
</file>

<file path=ppt/slides/_rels/slide1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dev.mysql.com/downloads/installer/" TargetMode="Externa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29.png" /></Relationships>
</file>

<file path=ppt/slides/_rels/slide35.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3" Type="http://schemas.openxmlformats.org/officeDocument/2006/relationships/image" Target="../media/image50.png" /><Relationship Id="rId2" Type="http://schemas.openxmlformats.org/officeDocument/2006/relationships/image" Target="../media/image1.png" /><Relationship Id="rId1" Type="http://schemas.openxmlformats.org/officeDocument/2006/relationships/slideLayout" Target="../slideLayouts/slideLayout2.xml" /><Relationship Id="rId4" Type="http://schemas.openxmlformats.org/officeDocument/2006/relationships/image" Target="../media/image51.png" /></Relationships>
</file>

<file path=ppt/slides/_rels/slide76.xml.rels><?xml version="1.0" encoding="UTF-8" standalone="yes"?>
<Relationships xmlns="http://schemas.openxmlformats.org/package/2006/relationships"><Relationship Id="rId3" Type="http://schemas.openxmlformats.org/officeDocument/2006/relationships/image" Target="../media/image5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3" Type="http://schemas.openxmlformats.org/officeDocument/2006/relationships/image" Target="../media/image53.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DFFC13-4034-4B79-9DB0-0503E1CA7C25}"/>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Subtitle 2">
            <a:extLst>
              <a:ext uri="{FF2B5EF4-FFF2-40B4-BE49-F238E27FC236}">
                <a16:creationId xmlns:a16="http://schemas.microsoft.com/office/drawing/2014/main" id="{193DCCC5-03BC-4CAE-B06E-81AA39FE1C8C}"/>
              </a:ext>
            </a:extLst>
          </p:cNvPr>
          <p:cNvSpPr>
            <a:spLocks noGrp="1"/>
          </p:cNvSpPr>
          <p:nvPr>
            <p:ph type="subTitle" idx="1"/>
          </p:nvPr>
        </p:nvSpPr>
        <p:spPr>
          <a:xfrm>
            <a:off x="-28882" y="5623017"/>
            <a:ext cx="4191043" cy="646065"/>
          </a:xfrm>
        </p:spPr>
        <p:txBody>
          <a:bodyPr>
            <a:noAutofit/>
          </a:bodyPr>
          <a:lstStyle/>
          <a:p>
            <a:r>
              <a:rPr lang="ar-JO" sz="4400" dirty="0">
                <a:solidFill>
                  <a:srgbClr val="002060"/>
                </a:solidFill>
              </a:rPr>
              <a:t>م.إيمان بني عيسى</a:t>
            </a:r>
            <a:endParaRPr lang="en-US" sz="4400" dirty="0">
              <a:solidFill>
                <a:srgbClr val="002060"/>
              </a:solidFill>
            </a:endParaRPr>
          </a:p>
        </p:txBody>
      </p:sp>
      <p:sp>
        <p:nvSpPr>
          <p:cNvPr id="4" name="Rectangle 3">
            <a:extLst>
              <a:ext uri="{FF2B5EF4-FFF2-40B4-BE49-F238E27FC236}">
                <a16:creationId xmlns:a16="http://schemas.microsoft.com/office/drawing/2014/main" id="{07BC03CA-2BDA-46A7-91D8-F218758AB292}"/>
              </a:ext>
            </a:extLst>
          </p:cNvPr>
          <p:cNvSpPr/>
          <p:nvPr/>
        </p:nvSpPr>
        <p:spPr>
          <a:xfrm>
            <a:off x="2620343" y="1642146"/>
            <a:ext cx="3903313" cy="992579"/>
          </a:xfrm>
          <a:prstGeom prst="rect">
            <a:avLst/>
          </a:prstGeom>
          <a:noFill/>
        </p:spPr>
        <p:txBody>
          <a:bodyPr wrap="none" lIns="68580" tIns="34290" rIns="68580" bIns="34290">
            <a:spAutoFit/>
          </a:bodyPr>
          <a:lstStyle/>
          <a:p>
            <a:pPr algn="ctr"/>
            <a:r>
              <a:rPr lang="ar-JO" sz="6000" b="1" spc="38" dirty="0">
                <a:ln w="9525" cmpd="sng">
                  <a:solidFill>
                    <a:schemeClr val="accent1"/>
                  </a:solidFill>
                  <a:prstDash val="solid"/>
                </a:ln>
                <a:solidFill>
                  <a:srgbClr val="002060"/>
                </a:solidFill>
                <a:effectLst>
                  <a:glow rad="38100">
                    <a:schemeClr val="accent1">
                      <a:alpha val="40000"/>
                    </a:schemeClr>
                  </a:glow>
                </a:effectLst>
              </a:rPr>
              <a:t>قواعد البيانات </a:t>
            </a:r>
          </a:p>
        </p:txBody>
      </p:sp>
      <p:sp>
        <p:nvSpPr>
          <p:cNvPr id="5" name="Rectangle 4">
            <a:extLst>
              <a:ext uri="{FF2B5EF4-FFF2-40B4-BE49-F238E27FC236}">
                <a16:creationId xmlns:a16="http://schemas.microsoft.com/office/drawing/2014/main" id="{8C8F1A66-A86C-4A7D-B9F1-FF011CA65DD4}"/>
              </a:ext>
            </a:extLst>
          </p:cNvPr>
          <p:cNvSpPr/>
          <p:nvPr/>
        </p:nvSpPr>
        <p:spPr>
          <a:xfrm>
            <a:off x="1540022" y="3179999"/>
            <a:ext cx="6063969" cy="992579"/>
          </a:xfrm>
          <a:prstGeom prst="rect">
            <a:avLst/>
          </a:prstGeom>
          <a:noFill/>
        </p:spPr>
        <p:txBody>
          <a:bodyPr wrap="none" lIns="68580" tIns="34290" rIns="68580" bIns="34290">
            <a:spAutoFit/>
          </a:bodyPr>
          <a:lstStyle/>
          <a:p>
            <a:pPr algn="ctr"/>
            <a:r>
              <a:rPr lang="en-US" sz="6000" b="1" spc="38" dirty="0">
                <a:ln w="9525" cmpd="sng">
                  <a:solidFill>
                    <a:schemeClr val="accent1"/>
                  </a:solidFill>
                  <a:prstDash val="solid"/>
                </a:ln>
                <a:solidFill>
                  <a:srgbClr val="002060"/>
                </a:solidFill>
                <a:effectLst>
                  <a:glow rad="38100">
                    <a:schemeClr val="accent1">
                      <a:alpha val="40000"/>
                    </a:schemeClr>
                  </a:glow>
                </a:effectLst>
              </a:rPr>
              <a:t>Database - MYSQL</a:t>
            </a:r>
          </a:p>
        </p:txBody>
      </p:sp>
      <p:pic>
        <p:nvPicPr>
          <p:cNvPr id="6" name="Picture 5">
            <a:extLst>
              <a:ext uri="{FF2B5EF4-FFF2-40B4-BE49-F238E27FC236}">
                <a16:creationId xmlns:a16="http://schemas.microsoft.com/office/drawing/2014/main" id="{329455C6-AA80-4128-B847-905C476328C9}"/>
              </a:ext>
            </a:extLst>
          </p:cNvPr>
          <p:cNvPicPr>
            <a:picLocks noChangeAspect="1"/>
          </p:cNvPicPr>
          <p:nvPr/>
        </p:nvPicPr>
        <p:blipFill>
          <a:blip r:embed="rId3"/>
          <a:stretch>
            <a:fillRect/>
          </a:stretch>
        </p:blipFill>
        <p:spPr>
          <a:xfrm>
            <a:off x="7183250" y="29336"/>
            <a:ext cx="1936241" cy="1732248"/>
          </a:xfrm>
          <a:prstGeom prst="rect">
            <a:avLst/>
          </a:prstGeom>
        </p:spPr>
      </p:pic>
      <p:sp>
        <p:nvSpPr>
          <p:cNvPr id="10" name="Half Frame 9">
            <a:extLst>
              <a:ext uri="{FF2B5EF4-FFF2-40B4-BE49-F238E27FC236}">
                <a16:creationId xmlns:a16="http://schemas.microsoft.com/office/drawing/2014/main" id="{75A859B1-AAF4-4E4E-8867-CFEA94B0B78A}"/>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11" name="Half Frame 10">
            <a:extLst>
              <a:ext uri="{FF2B5EF4-FFF2-40B4-BE49-F238E27FC236}">
                <a16:creationId xmlns:a16="http://schemas.microsoft.com/office/drawing/2014/main" id="{E5BC6706-080E-4755-9968-567D050564CD}"/>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1511695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C533E-DEB1-4CD5-9319-085E32033952}"/>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337625" y="926116"/>
            <a:ext cx="8468749" cy="5671631"/>
          </a:xfrm>
        </p:spPr>
        <p:txBody>
          <a:bodyPr>
            <a:normAutofit/>
          </a:bodyPr>
          <a:lstStyle/>
          <a:p>
            <a:pPr algn="r" rtl="1">
              <a:buFont typeface="Wingdings" panose="05000000000000000000" pitchFamily="2" charset="2"/>
              <a:buChar char="v"/>
            </a:pPr>
            <a:r>
              <a:rPr lang="en-US" sz="3600" dirty="0">
                <a:solidFill>
                  <a:schemeClr val="accent1">
                    <a:lumMod val="50000"/>
                  </a:schemeClr>
                </a:solidFill>
              </a:rPr>
              <a:t> </a:t>
            </a:r>
            <a:r>
              <a:rPr sz="3600" dirty="0">
                <a:solidFill>
                  <a:schemeClr val="accent1">
                    <a:lumMod val="50000"/>
                  </a:schemeClr>
                </a:solidFill>
              </a:rPr>
              <a:t>ما </a:t>
            </a:r>
            <a:r>
              <a:rPr sz="3600" dirty="0" err="1">
                <a:solidFill>
                  <a:schemeClr val="accent1">
                    <a:lumMod val="50000"/>
                  </a:schemeClr>
                </a:solidFill>
              </a:rPr>
              <a:t>هي</a:t>
            </a:r>
            <a:r>
              <a:rPr sz="3600" dirty="0">
                <a:solidFill>
                  <a:schemeClr val="accent1">
                    <a:lumMod val="50000"/>
                  </a:schemeClr>
                </a:solidFill>
              </a:rPr>
              <a:t> </a:t>
            </a:r>
            <a:r>
              <a:rPr sz="3600" dirty="0" err="1">
                <a:solidFill>
                  <a:schemeClr val="accent1">
                    <a:lumMod val="50000"/>
                  </a:schemeClr>
                </a:solidFill>
              </a:rPr>
              <a:t>قاعدة</a:t>
            </a:r>
            <a:r>
              <a:rPr sz="3600" dirty="0">
                <a:solidFill>
                  <a:schemeClr val="accent1">
                    <a:lumMod val="50000"/>
                  </a:schemeClr>
                </a:solidFill>
              </a:rPr>
              <a:t> </a:t>
            </a:r>
            <a:r>
              <a:rPr sz="3600" dirty="0" err="1">
                <a:solidFill>
                  <a:schemeClr val="accent1">
                    <a:lumMod val="50000"/>
                  </a:schemeClr>
                </a:solidFill>
              </a:rPr>
              <a:t>البيانات</a:t>
            </a:r>
            <a:r>
              <a:rPr lang="en-US" sz="3600" dirty="0">
                <a:solidFill>
                  <a:schemeClr val="accent1">
                    <a:lumMod val="50000"/>
                  </a:schemeClr>
                </a:solidFill>
              </a:rPr>
              <a:t> (Database)</a:t>
            </a:r>
            <a:r>
              <a:rPr sz="3600" dirty="0">
                <a:solidFill>
                  <a:schemeClr val="accent1">
                    <a:lumMod val="50000"/>
                  </a:schemeClr>
                </a:solidFill>
              </a:rPr>
              <a:t>؟</a:t>
            </a:r>
            <a:endParaRPr lang="en-US" sz="3600" dirty="0">
              <a:solidFill>
                <a:schemeClr val="accent1">
                  <a:lumMod val="50000"/>
                </a:schemeClr>
              </a:solidFill>
            </a:endParaRPr>
          </a:p>
          <a:p>
            <a:pPr marL="0" indent="0" algn="r" rtl="1">
              <a:buNone/>
            </a:pPr>
            <a:r>
              <a:rPr lang="ar-JO" sz="3200" b="0" i="0" dirty="0">
                <a:solidFill>
                  <a:schemeClr val="accent1">
                    <a:lumMod val="50000"/>
                  </a:schemeClr>
                </a:solidFill>
                <a:effectLst/>
                <a:latin typeface="DroidArabicKufi-Regular"/>
              </a:rPr>
              <a:t>هي عبارة عن مجموعة من المعلومات المُنظّمة بطريقة تسمح الوصول إليها، وتعديلها، وإدارتها بسهولة. يتم استخدام قواعد البيانات من قِبَل المنظّمات من أجل تخزين المعلومات، واسترجاعها، وإدراتها.</a:t>
            </a:r>
            <a:br>
              <a:rPr lang="ar-JO" sz="2800" dirty="0"/>
            </a:br>
            <a:endParaRPr lang="en-US" sz="3600" dirty="0">
              <a:solidFill>
                <a:schemeClr val="accent1">
                  <a:lumMod val="50000"/>
                </a:schemeClr>
              </a:solidFill>
            </a:endParaRPr>
          </a:p>
          <a:p>
            <a:pPr marL="0" indent="0" algn="r" rtl="1">
              <a:buNone/>
            </a:pPr>
            <a:endParaRPr lang="ar-JO" sz="3600" dirty="0">
              <a:solidFill>
                <a:schemeClr val="accent1">
                  <a:lumMod val="50000"/>
                </a:schemeClr>
              </a:solidFill>
            </a:endParaRPr>
          </a:p>
        </p:txBody>
      </p:sp>
      <p:sp>
        <p:nvSpPr>
          <p:cNvPr id="7" name="Half Frame 6">
            <a:extLst>
              <a:ext uri="{FF2B5EF4-FFF2-40B4-BE49-F238E27FC236}">
                <a16:creationId xmlns:a16="http://schemas.microsoft.com/office/drawing/2014/main" id="{3382F4A3-2316-4D39-AF8D-FD1399FA075E}"/>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062DE96A-468C-418A-A300-E326B8F595EC}"/>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40700BA1-EE5E-4B53-9EDC-1F1B11B6B99D}"/>
              </a:ext>
            </a:extLst>
          </p:cNvPr>
          <p:cNvPicPr>
            <a:picLocks noChangeAspect="1"/>
          </p:cNvPicPr>
          <p:nvPr/>
        </p:nvPicPr>
        <p:blipFill>
          <a:blip r:embed="rId3"/>
          <a:stretch>
            <a:fillRect/>
          </a:stretch>
        </p:blipFill>
        <p:spPr>
          <a:xfrm>
            <a:off x="430408" y="3088743"/>
            <a:ext cx="2944628" cy="3509004"/>
          </a:xfrm>
          <a:prstGeom prst="rect">
            <a:avLst/>
          </a:prstGeom>
        </p:spPr>
      </p:pic>
      <p:pic>
        <p:nvPicPr>
          <p:cNvPr id="5" name="Picture 4">
            <a:extLst>
              <a:ext uri="{FF2B5EF4-FFF2-40B4-BE49-F238E27FC236}">
                <a16:creationId xmlns:a16="http://schemas.microsoft.com/office/drawing/2014/main" id="{45639072-5AB8-487C-8E0A-F518B3CC211C}"/>
              </a:ext>
            </a:extLst>
          </p:cNvPr>
          <p:cNvPicPr>
            <a:picLocks noChangeAspect="1"/>
          </p:cNvPicPr>
          <p:nvPr/>
        </p:nvPicPr>
        <p:blipFill>
          <a:blip r:embed="rId4"/>
          <a:stretch>
            <a:fillRect/>
          </a:stretch>
        </p:blipFill>
        <p:spPr>
          <a:xfrm>
            <a:off x="4368791" y="3941159"/>
            <a:ext cx="4514850" cy="1990725"/>
          </a:xfrm>
          <a:prstGeom prst="rect">
            <a:avLst/>
          </a:prstGeom>
        </p:spPr>
      </p:pic>
      <p:sp>
        <p:nvSpPr>
          <p:cNvPr id="6" name="Arrow: Left 5">
            <a:extLst>
              <a:ext uri="{FF2B5EF4-FFF2-40B4-BE49-F238E27FC236}">
                <a16:creationId xmlns:a16="http://schemas.microsoft.com/office/drawing/2014/main" id="{081E8EEF-295E-49B2-AEB8-0AC2B0BB86DD}"/>
              </a:ext>
            </a:extLst>
          </p:cNvPr>
          <p:cNvSpPr/>
          <p:nvPr/>
        </p:nvSpPr>
        <p:spPr>
          <a:xfrm>
            <a:off x="3699803" y="4768948"/>
            <a:ext cx="668988" cy="36144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513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C533E-DEB1-4CD5-9319-085E32033952}"/>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530091" y="333586"/>
            <a:ext cx="8468749" cy="5671631"/>
          </a:xfrm>
        </p:spPr>
        <p:txBody>
          <a:bodyPr>
            <a:normAutofit/>
          </a:bodyPr>
          <a:lstStyle/>
          <a:p>
            <a:pPr algn="r" rtl="1">
              <a:buFont typeface="Wingdings" panose="05000000000000000000" pitchFamily="2" charset="2"/>
              <a:buChar char="v"/>
            </a:pPr>
            <a:r>
              <a:rPr lang="ar-JO" sz="3600" dirty="0">
                <a:solidFill>
                  <a:schemeClr val="accent1">
                    <a:lumMod val="50000"/>
                  </a:schemeClr>
                </a:solidFill>
              </a:rPr>
              <a:t> ما هي قاعدة مخطط قاعة البيانات </a:t>
            </a:r>
            <a:r>
              <a:rPr lang="en-US" sz="3600" dirty="0">
                <a:solidFill>
                  <a:schemeClr val="accent1">
                    <a:lumMod val="50000"/>
                  </a:schemeClr>
                </a:solidFill>
              </a:rPr>
              <a:t>(Schema) ؟</a:t>
            </a:r>
          </a:p>
          <a:p>
            <a:pPr marL="0" indent="0" algn="r" rtl="1">
              <a:buNone/>
            </a:pPr>
            <a:r>
              <a:rPr lang="ar-JO" sz="3200" b="0" i="0" dirty="0">
                <a:solidFill>
                  <a:schemeClr val="accent1">
                    <a:lumMod val="50000"/>
                  </a:schemeClr>
                </a:solidFill>
                <a:effectLst/>
                <a:latin typeface="IBM Plex Sans Arabic"/>
              </a:rPr>
              <a:t>مخطط </a:t>
            </a:r>
            <a:r>
              <a:rPr lang="ar-JO" sz="3200" dirty="0">
                <a:solidFill>
                  <a:schemeClr val="accent1">
                    <a:lumMod val="50000"/>
                  </a:schemeClr>
                </a:solidFill>
                <a:latin typeface="IBM Plex Sans Arabic"/>
              </a:rPr>
              <a:t>أو هيكلة </a:t>
            </a:r>
            <a:r>
              <a:rPr lang="ar-JO" sz="3200" b="0" i="0" dirty="0">
                <a:solidFill>
                  <a:schemeClr val="accent1">
                    <a:lumMod val="50000"/>
                  </a:schemeClr>
                </a:solidFill>
                <a:effectLst/>
                <a:latin typeface="IBM Plex Sans Arabic"/>
              </a:rPr>
              <a:t>قاعدة البيانات كيفية تنظيم البيانات داخل </a:t>
            </a:r>
            <a:r>
              <a:rPr lang="ar-JO" sz="3200" b="0" i="0" strike="noStrike" dirty="0">
                <a:solidFill>
                  <a:schemeClr val="accent1">
                    <a:lumMod val="50000"/>
                  </a:schemeClr>
                </a:solidFill>
                <a:effectLst/>
                <a:latin typeface="IBM Plex Sans" panose="020B0604020202020204" pitchFamily="34" charset="0"/>
              </a:rPr>
              <a:t>قاعدة بيانات علائقية</a:t>
            </a:r>
            <a:r>
              <a:rPr lang="ar-JO" sz="3200" b="0" i="0" dirty="0">
                <a:solidFill>
                  <a:schemeClr val="accent1">
                    <a:lumMod val="50000"/>
                  </a:schemeClr>
                </a:solidFill>
                <a:effectLst/>
                <a:latin typeface="IBM Plex Sans Arabic"/>
              </a:rPr>
              <a:t>. ويتضمن هذا القيود المنطقية مثل أسماء الجداول والحقول وأنواع البيانات والعلاقات بين هذه الكيانات.</a:t>
            </a:r>
            <a:br>
              <a:rPr lang="ar-JO" sz="2800" dirty="0"/>
            </a:br>
            <a:endParaRPr lang="en-US" sz="3600" dirty="0">
              <a:solidFill>
                <a:schemeClr val="accent1">
                  <a:lumMod val="50000"/>
                </a:schemeClr>
              </a:solidFill>
            </a:endParaRPr>
          </a:p>
          <a:p>
            <a:pPr marL="0" indent="0" algn="r" rtl="1">
              <a:buNone/>
            </a:pPr>
            <a:endParaRPr lang="ar-JO" sz="3600" dirty="0">
              <a:solidFill>
                <a:schemeClr val="accent1">
                  <a:lumMod val="50000"/>
                </a:schemeClr>
              </a:solidFill>
            </a:endParaRPr>
          </a:p>
        </p:txBody>
      </p:sp>
      <p:sp>
        <p:nvSpPr>
          <p:cNvPr id="7" name="Half Frame 6">
            <a:extLst>
              <a:ext uri="{FF2B5EF4-FFF2-40B4-BE49-F238E27FC236}">
                <a16:creationId xmlns:a16="http://schemas.microsoft.com/office/drawing/2014/main" id="{3382F4A3-2316-4D39-AF8D-FD1399FA075E}"/>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062DE96A-468C-418A-A300-E326B8F595EC}"/>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5" name="Picture 4">
            <a:extLst>
              <a:ext uri="{FF2B5EF4-FFF2-40B4-BE49-F238E27FC236}">
                <a16:creationId xmlns:a16="http://schemas.microsoft.com/office/drawing/2014/main" id="{71735823-9F4A-441E-8A53-B517838E4ED6}"/>
              </a:ext>
            </a:extLst>
          </p:cNvPr>
          <p:cNvPicPr>
            <a:picLocks noChangeAspect="1"/>
          </p:cNvPicPr>
          <p:nvPr/>
        </p:nvPicPr>
        <p:blipFill>
          <a:blip r:embed="rId3"/>
          <a:stretch>
            <a:fillRect/>
          </a:stretch>
        </p:blipFill>
        <p:spPr>
          <a:xfrm>
            <a:off x="530091" y="2634725"/>
            <a:ext cx="7836181" cy="3897636"/>
          </a:xfrm>
          <a:prstGeom prst="rect">
            <a:avLst/>
          </a:prstGeom>
        </p:spPr>
      </p:pic>
    </p:spTree>
    <p:extLst>
      <p:ext uri="{BB962C8B-B14F-4D97-AF65-F5344CB8AC3E}">
        <p14:creationId xmlns:p14="http://schemas.microsoft.com/office/powerpoint/2010/main" val="189269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C533E-DEB1-4CD5-9319-085E32033952}"/>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337625" y="2052925"/>
            <a:ext cx="8468749" cy="4195481"/>
          </a:xfrm>
        </p:spPr>
        <p:txBody>
          <a:bodyPr>
            <a:normAutofit/>
          </a:bodyPr>
          <a:lstStyle/>
          <a:p>
            <a:pPr algn="r" rtl="1">
              <a:buFont typeface="Wingdings" panose="05000000000000000000" pitchFamily="2" charset="2"/>
              <a:buChar char="v"/>
            </a:pPr>
            <a:r>
              <a:rPr lang="en-US" sz="3600" dirty="0">
                <a:solidFill>
                  <a:schemeClr val="accent1">
                    <a:lumMod val="50000"/>
                  </a:schemeClr>
                </a:solidFill>
              </a:rPr>
              <a:t> </a:t>
            </a:r>
            <a:r>
              <a:rPr sz="3600" dirty="0" err="1">
                <a:solidFill>
                  <a:schemeClr val="accent1">
                    <a:lumMod val="50000"/>
                  </a:schemeClr>
                </a:solidFill>
              </a:rPr>
              <a:t>تطور</a:t>
            </a:r>
            <a:r>
              <a:rPr sz="3600" dirty="0">
                <a:solidFill>
                  <a:schemeClr val="accent1">
                    <a:lumMod val="50000"/>
                  </a:schemeClr>
                </a:solidFill>
              </a:rPr>
              <a:t> </a:t>
            </a:r>
            <a:r>
              <a:rPr sz="3600" dirty="0" err="1">
                <a:solidFill>
                  <a:schemeClr val="accent1">
                    <a:lumMod val="50000"/>
                  </a:schemeClr>
                </a:solidFill>
              </a:rPr>
              <a:t>أنظمة</a:t>
            </a:r>
            <a:r>
              <a:rPr sz="3600" dirty="0">
                <a:solidFill>
                  <a:schemeClr val="accent1">
                    <a:lumMod val="50000"/>
                  </a:schemeClr>
                </a:solidFill>
              </a:rPr>
              <a:t> </a:t>
            </a:r>
            <a:r>
              <a:rPr sz="3600" dirty="0" err="1">
                <a:solidFill>
                  <a:schemeClr val="accent1">
                    <a:lumMod val="50000"/>
                  </a:schemeClr>
                </a:solidFill>
              </a:rPr>
              <a:t>تخزين</a:t>
            </a:r>
            <a:r>
              <a:rPr sz="3600" dirty="0">
                <a:solidFill>
                  <a:schemeClr val="accent1">
                    <a:lumMod val="50000"/>
                  </a:schemeClr>
                </a:solidFill>
              </a:rPr>
              <a:t> </a:t>
            </a:r>
            <a:r>
              <a:rPr sz="3600" dirty="0" err="1">
                <a:solidFill>
                  <a:schemeClr val="accent1">
                    <a:lumMod val="50000"/>
                  </a:schemeClr>
                </a:solidFill>
              </a:rPr>
              <a:t>البيانات</a:t>
            </a:r>
            <a:r>
              <a:rPr lang="ar-JO" sz="3600" dirty="0">
                <a:solidFill>
                  <a:schemeClr val="accent1">
                    <a:lumMod val="50000"/>
                  </a:schemeClr>
                </a:solidFill>
              </a:rPr>
              <a:t>:</a:t>
            </a:r>
          </a:p>
          <a:p>
            <a:pPr lvl="1" algn="r" rtl="1"/>
            <a:r>
              <a:rPr lang="ar-JO" sz="3600" dirty="0">
                <a:solidFill>
                  <a:schemeClr val="accent1">
                    <a:lumMod val="50000"/>
                  </a:schemeClr>
                </a:solidFill>
              </a:rPr>
              <a:t>لعصورالقديمة: النقوش الحجرية.</a:t>
            </a:r>
          </a:p>
          <a:p>
            <a:pPr lvl="1" algn="r" rtl="1"/>
            <a:r>
              <a:rPr lang="ar-JO" sz="3600" dirty="0">
                <a:solidFill>
                  <a:schemeClr val="accent1">
                    <a:lumMod val="50000"/>
                  </a:schemeClr>
                </a:solidFill>
              </a:rPr>
              <a:t>الخمسينيات : الانظمه الهرمية والشبكية.</a:t>
            </a:r>
          </a:p>
          <a:p>
            <a:pPr lvl="1" algn="r" rtl="1"/>
            <a:r>
              <a:rPr lang="ar-JO" sz="3600" dirty="0">
                <a:solidFill>
                  <a:schemeClr val="accent1">
                    <a:lumMod val="50000"/>
                  </a:schemeClr>
                </a:solidFill>
              </a:rPr>
              <a:t>السبعينيات : قواعد البيانات العلائقية </a:t>
            </a:r>
            <a:r>
              <a:rPr lang="en-US" sz="3600" dirty="0">
                <a:solidFill>
                  <a:schemeClr val="accent1">
                    <a:lumMod val="50000"/>
                  </a:schemeClr>
                </a:solidFill>
              </a:rPr>
              <a:t>Rational Database Model (RDM).</a:t>
            </a:r>
          </a:p>
          <a:p>
            <a:pPr lvl="1" algn="r" rtl="1"/>
            <a:r>
              <a:rPr lang="ar-JO" sz="3600" dirty="0">
                <a:solidFill>
                  <a:schemeClr val="accent1">
                    <a:lumMod val="50000"/>
                  </a:schemeClr>
                </a:solidFill>
              </a:rPr>
              <a:t>أنظمةإدارة قواعد البيانات </a:t>
            </a:r>
            <a:r>
              <a:rPr lang="en-US" sz="3600" dirty="0">
                <a:solidFill>
                  <a:schemeClr val="accent1">
                    <a:lumMod val="50000"/>
                  </a:schemeClr>
                </a:solidFill>
              </a:rPr>
              <a:t>:(DBMS)</a:t>
            </a:r>
          </a:p>
          <a:p>
            <a:pPr lvl="2" algn="r" rtl="1"/>
            <a:r>
              <a:rPr lang="en-US" sz="3000" dirty="0">
                <a:solidFill>
                  <a:schemeClr val="accent1">
                    <a:lumMod val="50000"/>
                  </a:schemeClr>
                </a:solidFill>
              </a:rPr>
              <a:t>Oracle</a:t>
            </a:r>
          </a:p>
          <a:p>
            <a:pPr lvl="2" algn="r" rtl="1"/>
            <a:r>
              <a:rPr lang="en-US" sz="3000" dirty="0">
                <a:solidFill>
                  <a:schemeClr val="accent1">
                    <a:lumMod val="50000"/>
                  </a:schemeClr>
                </a:solidFill>
              </a:rPr>
              <a:t>SQL Server</a:t>
            </a:r>
            <a:endParaRPr lang="ar-JO" sz="3000" dirty="0">
              <a:solidFill>
                <a:schemeClr val="accent1">
                  <a:lumMod val="50000"/>
                </a:schemeClr>
              </a:solidFill>
            </a:endParaRPr>
          </a:p>
          <a:p>
            <a:pPr marL="0" indent="0" algn="r" rtl="1">
              <a:buNone/>
            </a:pPr>
            <a:endParaRPr sz="3600" dirty="0">
              <a:solidFill>
                <a:schemeClr val="accent1">
                  <a:lumMod val="50000"/>
                </a:schemeClr>
              </a:solidFill>
            </a:endParaRPr>
          </a:p>
        </p:txBody>
      </p:sp>
      <p:sp>
        <p:nvSpPr>
          <p:cNvPr id="5" name="Rectangle 4">
            <a:extLst>
              <a:ext uri="{FF2B5EF4-FFF2-40B4-BE49-F238E27FC236}">
                <a16:creationId xmlns:a16="http://schemas.microsoft.com/office/drawing/2014/main" id="{1FC05104-5AF9-4F1F-BE5D-C6B70000FC04}"/>
              </a:ext>
            </a:extLst>
          </p:cNvPr>
          <p:cNvSpPr/>
          <p:nvPr/>
        </p:nvSpPr>
        <p:spPr>
          <a:xfrm>
            <a:off x="2771335" y="594578"/>
            <a:ext cx="2401041" cy="923330"/>
          </a:xfrm>
          <a:prstGeom prst="rect">
            <a:avLst/>
          </a:prstGeom>
          <a:noFill/>
        </p:spPr>
        <p:txBody>
          <a:bodyPr wrap="squar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المقدمة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pic>
        <p:nvPicPr>
          <p:cNvPr id="6" name="Picture 5">
            <a:extLst>
              <a:ext uri="{FF2B5EF4-FFF2-40B4-BE49-F238E27FC236}">
                <a16:creationId xmlns:a16="http://schemas.microsoft.com/office/drawing/2014/main" id="{85CD97F9-3C27-455B-AE68-6E8A79654BB0}"/>
              </a:ext>
            </a:extLst>
          </p:cNvPr>
          <p:cNvPicPr>
            <a:picLocks noChangeAspect="1"/>
          </p:cNvPicPr>
          <p:nvPr/>
        </p:nvPicPr>
        <p:blipFill>
          <a:blip r:embed="rId3"/>
          <a:stretch>
            <a:fillRect/>
          </a:stretch>
        </p:blipFill>
        <p:spPr>
          <a:xfrm>
            <a:off x="7183250" y="29336"/>
            <a:ext cx="1936241" cy="1732248"/>
          </a:xfrm>
          <a:prstGeom prst="rect">
            <a:avLst/>
          </a:prstGeom>
        </p:spPr>
      </p:pic>
      <p:sp>
        <p:nvSpPr>
          <p:cNvPr id="7" name="Half Frame 6">
            <a:extLst>
              <a:ext uri="{FF2B5EF4-FFF2-40B4-BE49-F238E27FC236}">
                <a16:creationId xmlns:a16="http://schemas.microsoft.com/office/drawing/2014/main" id="{3382F4A3-2316-4D39-AF8D-FD1399FA075E}"/>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062DE96A-468C-418A-A300-E326B8F595EC}"/>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53B50E-10C3-4F5D-9F79-7D05F3BEACF8}"/>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827700" y="2221737"/>
            <a:ext cx="6711654" cy="4195481"/>
          </a:xfrm>
        </p:spPr>
        <p:txBody>
          <a:bodyPr>
            <a:normAutofit/>
          </a:bodyPr>
          <a:lstStyle/>
          <a:p>
            <a:pPr>
              <a:buFont typeface="Wingdings" panose="05000000000000000000" pitchFamily="2" charset="2"/>
              <a:buChar char="v"/>
            </a:pPr>
            <a:r>
              <a:rPr sz="2800" dirty="0">
                <a:solidFill>
                  <a:schemeClr val="accent1">
                    <a:lumMod val="50000"/>
                  </a:schemeClr>
                </a:solidFill>
              </a:rPr>
              <a:t>Relational Databases (SQL)</a:t>
            </a:r>
            <a:r>
              <a:rPr lang="en-US" sz="2800" dirty="0">
                <a:solidFill>
                  <a:schemeClr val="accent1">
                    <a:lumMod val="50000"/>
                  </a:schemeClr>
                </a:solidFill>
              </a:rPr>
              <a:t>.</a:t>
            </a:r>
            <a:endParaRPr sz="2800" dirty="0">
              <a:solidFill>
                <a:schemeClr val="accent1">
                  <a:lumMod val="50000"/>
                </a:schemeClr>
              </a:solidFill>
            </a:endParaRPr>
          </a:p>
          <a:p>
            <a:pPr>
              <a:buFont typeface="Wingdings" panose="05000000000000000000" pitchFamily="2" charset="2"/>
              <a:buChar char="v"/>
            </a:pPr>
            <a:r>
              <a:rPr sz="2800" dirty="0">
                <a:solidFill>
                  <a:schemeClr val="accent1">
                    <a:lumMod val="50000"/>
                  </a:schemeClr>
                </a:solidFill>
              </a:rPr>
              <a:t>NoSQL Databases</a:t>
            </a:r>
            <a:r>
              <a:rPr lang="en-US" sz="2800" dirty="0">
                <a:solidFill>
                  <a:schemeClr val="accent1">
                    <a:lumMod val="50000"/>
                  </a:schemeClr>
                </a:solidFill>
              </a:rPr>
              <a:t>.</a:t>
            </a:r>
            <a:endParaRPr sz="2800" dirty="0">
              <a:solidFill>
                <a:schemeClr val="accent1">
                  <a:lumMod val="50000"/>
                </a:schemeClr>
              </a:solidFill>
            </a:endParaRPr>
          </a:p>
          <a:p>
            <a:pPr>
              <a:buFont typeface="Wingdings" panose="05000000000000000000" pitchFamily="2" charset="2"/>
              <a:buChar char="v"/>
            </a:pPr>
            <a:r>
              <a:rPr sz="2800" dirty="0">
                <a:solidFill>
                  <a:schemeClr val="accent1">
                    <a:lumMod val="50000"/>
                  </a:schemeClr>
                </a:solidFill>
              </a:rPr>
              <a:t>Object-Oriented Databases</a:t>
            </a:r>
            <a:r>
              <a:rPr lang="en-US" sz="2800" dirty="0">
                <a:solidFill>
                  <a:schemeClr val="accent1">
                    <a:lumMod val="50000"/>
                  </a:schemeClr>
                </a:solidFill>
              </a:rPr>
              <a:t>.</a:t>
            </a:r>
            <a:endParaRPr sz="2800" dirty="0">
              <a:solidFill>
                <a:schemeClr val="accent1">
                  <a:lumMod val="50000"/>
                </a:schemeClr>
              </a:solidFill>
            </a:endParaRPr>
          </a:p>
          <a:p>
            <a:pPr>
              <a:buFont typeface="Wingdings" panose="05000000000000000000" pitchFamily="2" charset="2"/>
              <a:buChar char="v"/>
            </a:pPr>
            <a:r>
              <a:rPr sz="2800" dirty="0">
                <a:solidFill>
                  <a:schemeClr val="accent1">
                    <a:lumMod val="50000"/>
                  </a:schemeClr>
                </a:solidFill>
              </a:rPr>
              <a:t>Distributed Databases</a:t>
            </a:r>
            <a:r>
              <a:rPr lang="en-US" sz="2800" dirty="0">
                <a:solidFill>
                  <a:schemeClr val="accent1">
                    <a:lumMod val="50000"/>
                  </a:schemeClr>
                </a:solidFill>
              </a:rPr>
              <a:t>.</a:t>
            </a:r>
            <a:endParaRPr sz="2800" dirty="0">
              <a:solidFill>
                <a:schemeClr val="accent1">
                  <a:lumMod val="50000"/>
                </a:schemeClr>
              </a:solidFill>
            </a:endParaRPr>
          </a:p>
        </p:txBody>
      </p:sp>
      <p:sp>
        <p:nvSpPr>
          <p:cNvPr id="6" name="Rectangle 5">
            <a:extLst>
              <a:ext uri="{FF2B5EF4-FFF2-40B4-BE49-F238E27FC236}">
                <a16:creationId xmlns:a16="http://schemas.microsoft.com/office/drawing/2014/main" id="{20AAABF4-D521-4E55-841F-24B3303CF296}"/>
              </a:ext>
            </a:extLst>
          </p:cNvPr>
          <p:cNvSpPr/>
          <p:nvPr/>
        </p:nvSpPr>
        <p:spPr>
          <a:xfrm>
            <a:off x="1140476" y="594578"/>
            <a:ext cx="5681363" cy="1107996"/>
          </a:xfrm>
          <a:prstGeom prst="rect">
            <a:avLst/>
          </a:prstGeom>
          <a:noFill/>
        </p:spPr>
        <p:txBody>
          <a:bodyPr wrap="none" lIns="91440" tIns="45720" rIns="91440" bIns="45720">
            <a:spAutoFit/>
          </a:bodyPr>
          <a:lstStyle/>
          <a:p>
            <a:pPr algn="ctr"/>
            <a:r>
              <a:rPr sz="66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أنواع</a:t>
            </a:r>
            <a:r>
              <a:rPr sz="66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66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قواعد</a:t>
            </a:r>
            <a:r>
              <a:rPr sz="66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66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البيانات</a:t>
            </a:r>
            <a:endParaRPr lang="en-US" sz="66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pic>
        <p:nvPicPr>
          <p:cNvPr id="5" name="Picture 4">
            <a:extLst>
              <a:ext uri="{FF2B5EF4-FFF2-40B4-BE49-F238E27FC236}">
                <a16:creationId xmlns:a16="http://schemas.microsoft.com/office/drawing/2014/main" id="{C30153AC-C82F-4118-8C88-3CBD07997B28}"/>
              </a:ext>
            </a:extLst>
          </p:cNvPr>
          <p:cNvPicPr>
            <a:picLocks noChangeAspect="1"/>
          </p:cNvPicPr>
          <p:nvPr/>
        </p:nvPicPr>
        <p:blipFill>
          <a:blip r:embed="rId3"/>
          <a:stretch>
            <a:fillRect/>
          </a:stretch>
        </p:blipFill>
        <p:spPr>
          <a:xfrm>
            <a:off x="7183250" y="29336"/>
            <a:ext cx="1936241" cy="1732248"/>
          </a:xfrm>
          <a:prstGeom prst="rect">
            <a:avLst/>
          </a:prstGeom>
        </p:spPr>
      </p:pic>
      <p:sp>
        <p:nvSpPr>
          <p:cNvPr id="7" name="Half Frame 6">
            <a:extLst>
              <a:ext uri="{FF2B5EF4-FFF2-40B4-BE49-F238E27FC236}">
                <a16:creationId xmlns:a16="http://schemas.microsoft.com/office/drawing/2014/main" id="{F742C7A4-04B9-4885-8F7B-F2D7689BB8DE}"/>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075314B0-B725-4994-9C73-D9A27A7D1872}"/>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57948-3819-414E-8261-1A9D812E9D3E}"/>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123553" y="1136462"/>
            <a:ext cx="8869406" cy="4351338"/>
          </a:xfrm>
        </p:spPr>
        <p:txBody>
          <a:bodyPr>
            <a:normAutofit/>
          </a:bodyPr>
          <a:lstStyle/>
          <a:p>
            <a:pPr algn="r" rtl="1">
              <a:buFont typeface="Wingdings" panose="05000000000000000000" pitchFamily="2" charset="2"/>
              <a:buChar char="v"/>
            </a:pPr>
            <a:r>
              <a:rPr lang="en-US" sz="3200" dirty="0">
                <a:solidFill>
                  <a:schemeClr val="accent1">
                    <a:lumMod val="50000"/>
                  </a:schemeClr>
                </a:solidFill>
              </a:rPr>
              <a:t> </a:t>
            </a:r>
            <a:r>
              <a:rPr sz="3200" dirty="0">
                <a:solidFill>
                  <a:schemeClr val="accent1">
                    <a:lumMod val="50000"/>
                  </a:schemeClr>
                </a:solidFill>
              </a:rPr>
              <a:t>–</a:t>
            </a:r>
            <a:r>
              <a:rPr lang="en-US" sz="3200" dirty="0">
                <a:solidFill>
                  <a:schemeClr val="accent1">
                    <a:lumMod val="50000"/>
                  </a:schemeClr>
                </a:solidFill>
              </a:rPr>
              <a:t> </a:t>
            </a:r>
            <a:r>
              <a:rPr sz="3200" dirty="0">
                <a:solidFill>
                  <a:schemeClr val="accent1">
                    <a:lumMod val="50000"/>
                  </a:schemeClr>
                </a:solidFill>
              </a:rPr>
              <a:t>Tables</a:t>
            </a:r>
            <a:r>
              <a:rPr lang="en-US" sz="3200" dirty="0">
                <a:solidFill>
                  <a:schemeClr val="accent1">
                    <a:lumMod val="50000"/>
                  </a:schemeClr>
                </a:solidFill>
              </a:rPr>
              <a:t>  </a:t>
            </a:r>
            <a:r>
              <a:rPr lang="ar-JO" sz="3200" dirty="0">
                <a:solidFill>
                  <a:schemeClr val="accent1">
                    <a:lumMod val="50000"/>
                  </a:schemeClr>
                </a:solidFill>
              </a:rPr>
              <a:t>الجداول:</a:t>
            </a:r>
          </a:p>
          <a:p>
            <a:pPr marL="342900" lvl="1" indent="0" algn="r" rtl="1">
              <a:buNone/>
            </a:pPr>
            <a:r>
              <a:rPr lang="ar-JO" sz="2800" dirty="0">
                <a:solidFill>
                  <a:schemeClr val="accent1">
                    <a:lumMod val="50000"/>
                  </a:schemeClr>
                </a:solidFill>
              </a:rPr>
              <a:t>هو الهيكل الأساسي في قاعدة البيانات العلائقيه يتكون من صفوف و اعمدة تخزن به البيانات </a:t>
            </a:r>
            <a:r>
              <a:rPr lang="en-US" sz="2800" dirty="0">
                <a:solidFill>
                  <a:schemeClr val="accent1">
                    <a:lumMod val="50000"/>
                  </a:schemeClr>
                </a:solidFill>
              </a:rPr>
              <a:t> </a:t>
            </a:r>
            <a:endParaRPr sz="2800" dirty="0">
              <a:solidFill>
                <a:schemeClr val="accent1">
                  <a:lumMod val="50000"/>
                </a:schemeClr>
              </a:solidFill>
            </a:endParaRPr>
          </a:p>
        </p:txBody>
      </p:sp>
      <p:sp>
        <p:nvSpPr>
          <p:cNvPr id="4" name="Rectangle 3">
            <a:extLst>
              <a:ext uri="{FF2B5EF4-FFF2-40B4-BE49-F238E27FC236}">
                <a16:creationId xmlns:a16="http://schemas.microsoft.com/office/drawing/2014/main" id="{5662B838-8B65-41A0-8235-77B43B031618}"/>
              </a:ext>
            </a:extLst>
          </p:cNvPr>
          <p:cNvSpPr/>
          <p:nvPr/>
        </p:nvSpPr>
        <p:spPr>
          <a:xfrm>
            <a:off x="5049609" y="59011"/>
            <a:ext cx="4094391" cy="923330"/>
          </a:xfrm>
          <a:prstGeom prst="rect">
            <a:avLst/>
          </a:prstGeom>
          <a:noFill/>
        </p:spPr>
        <p:txBody>
          <a:bodyPr wrap="non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المفاهيم</a:t>
            </a:r>
            <a:r>
              <a:rPr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الأساسية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E239F32D-7D45-4FEC-A746-E4E6819727F6}"/>
              </a:ext>
            </a:extLst>
          </p:cNvPr>
          <p:cNvSpPr/>
          <p:nvPr/>
        </p:nvSpPr>
        <p:spPr>
          <a:xfrm>
            <a:off x="83936" y="139058"/>
            <a:ext cx="692944" cy="6346147"/>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4A5E6D7E-E1A8-4510-8275-1BDFD5D798ED}"/>
              </a:ext>
            </a:extLst>
          </p:cNvPr>
          <p:cNvSpPr/>
          <p:nvPr/>
        </p:nvSpPr>
        <p:spPr>
          <a:xfrm rot="10800000">
            <a:off x="8327503" y="1825624"/>
            <a:ext cx="692944" cy="49156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026" name="Picture 2">
            <a:extLst>
              <a:ext uri="{FF2B5EF4-FFF2-40B4-BE49-F238E27FC236}">
                <a16:creationId xmlns:a16="http://schemas.microsoft.com/office/drawing/2014/main" id="{0E393EFE-045C-4AD1-B96C-DE2B035C9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872" y="2917013"/>
            <a:ext cx="7220652" cy="31975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57948-3819-414E-8261-1A9D812E9D3E}"/>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1106259" y="1192733"/>
            <a:ext cx="7886700" cy="4351338"/>
          </a:xfrm>
        </p:spPr>
        <p:txBody>
          <a:bodyPr>
            <a:normAutofit/>
          </a:bodyPr>
          <a:lstStyle/>
          <a:p>
            <a:pPr algn="r" rtl="1">
              <a:buFont typeface="Wingdings" panose="05000000000000000000" pitchFamily="2" charset="2"/>
              <a:buChar char="v"/>
            </a:pPr>
            <a:r>
              <a:rPr sz="3600" dirty="0">
                <a:solidFill>
                  <a:srgbClr val="002060"/>
                </a:solidFill>
              </a:rPr>
              <a:t>– </a:t>
            </a:r>
            <a:r>
              <a:rPr lang="en-US" sz="3600" dirty="0">
                <a:solidFill>
                  <a:srgbClr val="002060"/>
                </a:solidFill>
              </a:rPr>
              <a:t> </a:t>
            </a:r>
            <a:r>
              <a:rPr sz="3600" dirty="0">
                <a:solidFill>
                  <a:srgbClr val="002060"/>
                </a:solidFill>
              </a:rPr>
              <a:t>Fields</a:t>
            </a:r>
            <a:r>
              <a:rPr lang="en-US" sz="3600" dirty="0">
                <a:solidFill>
                  <a:srgbClr val="002060"/>
                </a:solidFill>
              </a:rPr>
              <a:t> </a:t>
            </a:r>
            <a:r>
              <a:rPr lang="ar-JO" sz="3600" dirty="0">
                <a:solidFill>
                  <a:srgbClr val="002060"/>
                </a:solidFill>
              </a:rPr>
              <a:t>الحقول:</a:t>
            </a:r>
          </a:p>
          <a:p>
            <a:pPr marL="342900" lvl="1" indent="0" algn="r" rtl="1">
              <a:buNone/>
            </a:pPr>
            <a:r>
              <a:rPr lang="ar-JO" sz="2400" dirty="0">
                <a:solidFill>
                  <a:srgbClr val="002060"/>
                </a:solidFill>
              </a:rPr>
              <a:t>اسم العمود: هو جزء من الجدول يحتوي على نوع معين من البيانات،مثل الاسم أوالعنوان.</a:t>
            </a:r>
            <a:endParaRPr sz="3200" dirty="0">
              <a:solidFill>
                <a:srgbClr val="002060"/>
              </a:solidFill>
            </a:endParaRPr>
          </a:p>
        </p:txBody>
      </p:sp>
      <p:sp>
        <p:nvSpPr>
          <p:cNvPr id="4" name="Rectangle 3">
            <a:extLst>
              <a:ext uri="{FF2B5EF4-FFF2-40B4-BE49-F238E27FC236}">
                <a16:creationId xmlns:a16="http://schemas.microsoft.com/office/drawing/2014/main" id="{5662B838-8B65-41A0-8235-77B43B031618}"/>
              </a:ext>
            </a:extLst>
          </p:cNvPr>
          <p:cNvSpPr/>
          <p:nvPr/>
        </p:nvSpPr>
        <p:spPr>
          <a:xfrm>
            <a:off x="5049609" y="107329"/>
            <a:ext cx="4094391" cy="923330"/>
          </a:xfrm>
          <a:prstGeom prst="rect">
            <a:avLst/>
          </a:prstGeom>
          <a:noFill/>
        </p:spPr>
        <p:txBody>
          <a:bodyPr wrap="non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المفاهيم</a:t>
            </a:r>
            <a:r>
              <a:rPr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الأساسية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E239F32D-7D45-4FEC-A746-E4E6819727F6}"/>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4A5E6D7E-E1A8-4510-8275-1BDFD5D798ED}"/>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2050" name="Picture 2">
            <a:extLst>
              <a:ext uri="{FF2B5EF4-FFF2-40B4-BE49-F238E27FC236}">
                <a16:creationId xmlns:a16="http://schemas.microsoft.com/office/drawing/2014/main" id="{B34D4B78-1A85-4C39-A155-01EDDE9A1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523" y="2989136"/>
            <a:ext cx="8148954" cy="360861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450A423-AC8F-453B-BC71-33DA3A67D761}"/>
              </a:ext>
            </a:extLst>
          </p:cNvPr>
          <p:cNvSpPr/>
          <p:nvPr/>
        </p:nvSpPr>
        <p:spPr>
          <a:xfrm>
            <a:off x="681095" y="3248538"/>
            <a:ext cx="1280997" cy="759656"/>
          </a:xfrm>
          <a:prstGeom prst="rect">
            <a:avLst/>
          </a:prstGeom>
          <a:noFill/>
          <a:ln>
            <a:solidFill>
              <a:schemeClr val="accent5"/>
            </a:solidFill>
          </a:ln>
          <a:effectLst>
            <a:glow rad="101600">
              <a:schemeClr val="accent1">
                <a:satMod val="175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en-US">
              <a:solidFill>
                <a:srgbClr val="002060"/>
              </a:solidFill>
            </a:endParaRPr>
          </a:p>
        </p:txBody>
      </p:sp>
    </p:spTree>
    <p:extLst>
      <p:ext uri="{BB962C8B-B14F-4D97-AF65-F5344CB8AC3E}">
        <p14:creationId xmlns:p14="http://schemas.microsoft.com/office/powerpoint/2010/main" val="199835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57948-3819-414E-8261-1A9D812E9D3E}"/>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0" y="1329397"/>
            <a:ext cx="8703197" cy="4351338"/>
          </a:xfrm>
        </p:spPr>
        <p:txBody>
          <a:bodyPr>
            <a:normAutofit/>
          </a:bodyPr>
          <a:lstStyle/>
          <a:p>
            <a:pPr algn="r" rtl="1">
              <a:buFont typeface="Wingdings" panose="05000000000000000000" pitchFamily="2" charset="2"/>
              <a:buChar char="v"/>
            </a:pPr>
            <a:r>
              <a:rPr sz="4000" dirty="0">
                <a:solidFill>
                  <a:srgbClr val="002060"/>
                </a:solidFill>
              </a:rPr>
              <a:t>– Records</a:t>
            </a:r>
            <a:r>
              <a:rPr lang="en-US" sz="4000" dirty="0">
                <a:solidFill>
                  <a:srgbClr val="002060"/>
                </a:solidFill>
              </a:rPr>
              <a:t> </a:t>
            </a:r>
            <a:r>
              <a:rPr lang="ar-JO" sz="4000" dirty="0">
                <a:solidFill>
                  <a:srgbClr val="002060"/>
                </a:solidFill>
              </a:rPr>
              <a:t>السجلات:</a:t>
            </a:r>
          </a:p>
          <a:p>
            <a:pPr marL="0" indent="0" algn="r" rtl="1">
              <a:buNone/>
            </a:pPr>
            <a:r>
              <a:rPr lang="ar-JO" sz="3200" dirty="0">
                <a:solidFill>
                  <a:srgbClr val="002060"/>
                </a:solidFill>
              </a:rPr>
              <a:t>مجموعة القيم المرتبطة ببعضها عبر كل الأعمدة، وتمثل كائن /كيان واحد.</a:t>
            </a:r>
            <a:endParaRPr lang="ar-JO" sz="4000" dirty="0">
              <a:solidFill>
                <a:srgbClr val="002060"/>
              </a:solidFill>
            </a:endParaRPr>
          </a:p>
          <a:p>
            <a:pPr marL="0" indent="0" algn="r" rtl="1">
              <a:buNone/>
            </a:pPr>
            <a:endParaRPr sz="4000" dirty="0">
              <a:solidFill>
                <a:srgbClr val="002060"/>
              </a:solidFill>
            </a:endParaRPr>
          </a:p>
        </p:txBody>
      </p:sp>
      <p:sp>
        <p:nvSpPr>
          <p:cNvPr id="4" name="Rectangle 3">
            <a:extLst>
              <a:ext uri="{FF2B5EF4-FFF2-40B4-BE49-F238E27FC236}">
                <a16:creationId xmlns:a16="http://schemas.microsoft.com/office/drawing/2014/main" id="{5662B838-8B65-41A0-8235-77B43B031618}"/>
              </a:ext>
            </a:extLst>
          </p:cNvPr>
          <p:cNvSpPr/>
          <p:nvPr/>
        </p:nvSpPr>
        <p:spPr>
          <a:xfrm>
            <a:off x="4965673" y="40763"/>
            <a:ext cx="4094391" cy="923330"/>
          </a:xfrm>
          <a:prstGeom prst="rect">
            <a:avLst/>
          </a:prstGeom>
          <a:noFill/>
        </p:spPr>
        <p:txBody>
          <a:bodyPr wrap="non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المفاهيم</a:t>
            </a:r>
            <a:r>
              <a:rPr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الأساسية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E239F32D-7D45-4FEC-A746-E4E6819727F6}"/>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4A5E6D7E-E1A8-4510-8275-1BDFD5D798ED}"/>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2">
            <a:extLst>
              <a:ext uri="{FF2B5EF4-FFF2-40B4-BE49-F238E27FC236}">
                <a16:creationId xmlns:a16="http://schemas.microsoft.com/office/drawing/2014/main" id="{EFF1BCBF-48BA-442A-8AFC-A4414A0EC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523" y="2989136"/>
            <a:ext cx="8148954" cy="360861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EC09C02-20FC-4F74-97A7-3930B8AABC32}"/>
              </a:ext>
            </a:extLst>
          </p:cNvPr>
          <p:cNvSpPr/>
          <p:nvPr/>
        </p:nvSpPr>
        <p:spPr>
          <a:xfrm>
            <a:off x="628650" y="3882683"/>
            <a:ext cx="7698853" cy="365760"/>
          </a:xfrm>
          <a:prstGeom prst="rect">
            <a:avLst/>
          </a:prstGeom>
          <a:noFill/>
          <a:ln>
            <a:solidFill>
              <a:srgbClr val="0070C0"/>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406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57948-3819-414E-8261-1A9D812E9D3E}"/>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1042044" y="1253331"/>
            <a:ext cx="7886700" cy="4351338"/>
          </a:xfrm>
        </p:spPr>
        <p:txBody>
          <a:bodyPr>
            <a:normAutofit/>
          </a:bodyPr>
          <a:lstStyle/>
          <a:p>
            <a:pPr algn="r" rtl="1">
              <a:buFont typeface="Wingdings" panose="05000000000000000000" pitchFamily="2" charset="2"/>
              <a:buChar char="v"/>
            </a:pPr>
            <a:r>
              <a:rPr lang="en-US" sz="4000" dirty="0">
                <a:solidFill>
                  <a:schemeClr val="accent1">
                    <a:lumMod val="50000"/>
                  </a:schemeClr>
                </a:solidFill>
              </a:rPr>
              <a:t> </a:t>
            </a:r>
            <a:r>
              <a:rPr sz="4000" dirty="0">
                <a:solidFill>
                  <a:schemeClr val="accent1">
                    <a:lumMod val="50000"/>
                  </a:schemeClr>
                </a:solidFill>
              </a:rPr>
              <a:t>–</a:t>
            </a:r>
            <a:r>
              <a:rPr lang="en-US" sz="4000" dirty="0">
                <a:solidFill>
                  <a:schemeClr val="accent1">
                    <a:lumMod val="50000"/>
                  </a:schemeClr>
                </a:solidFill>
              </a:rPr>
              <a:t> </a:t>
            </a:r>
            <a:r>
              <a:rPr sz="4000" dirty="0">
                <a:solidFill>
                  <a:schemeClr val="accent1">
                    <a:lumMod val="50000"/>
                  </a:schemeClr>
                </a:solidFill>
              </a:rPr>
              <a:t>Primary Key</a:t>
            </a:r>
            <a:r>
              <a:rPr lang="en-US" sz="4000" dirty="0">
                <a:solidFill>
                  <a:schemeClr val="accent1">
                    <a:lumMod val="50000"/>
                  </a:schemeClr>
                </a:solidFill>
              </a:rPr>
              <a:t> </a:t>
            </a:r>
            <a:r>
              <a:rPr lang="ar-JO" sz="4000" dirty="0">
                <a:solidFill>
                  <a:schemeClr val="accent1">
                    <a:lumMod val="50000"/>
                  </a:schemeClr>
                </a:solidFill>
              </a:rPr>
              <a:t>المفتاح الأساسي:</a:t>
            </a:r>
          </a:p>
          <a:p>
            <a:pPr marL="342900" lvl="1" indent="0" algn="r" rtl="1">
              <a:buNone/>
            </a:pPr>
            <a:r>
              <a:rPr lang="ar-JO" sz="2800" dirty="0">
                <a:solidFill>
                  <a:srgbClr val="002060"/>
                </a:solidFill>
              </a:rPr>
              <a:t>هو حقل فريد يميزكل سجل في الجدول،مما يمنع التكرار للقيم .</a:t>
            </a:r>
            <a:endParaRPr sz="2800" dirty="0">
              <a:solidFill>
                <a:srgbClr val="002060"/>
              </a:solidFill>
            </a:endParaRPr>
          </a:p>
        </p:txBody>
      </p:sp>
      <p:sp>
        <p:nvSpPr>
          <p:cNvPr id="4" name="Rectangle 3">
            <a:extLst>
              <a:ext uri="{FF2B5EF4-FFF2-40B4-BE49-F238E27FC236}">
                <a16:creationId xmlns:a16="http://schemas.microsoft.com/office/drawing/2014/main" id="{5662B838-8B65-41A0-8235-77B43B031618}"/>
              </a:ext>
            </a:extLst>
          </p:cNvPr>
          <p:cNvSpPr/>
          <p:nvPr/>
        </p:nvSpPr>
        <p:spPr>
          <a:xfrm>
            <a:off x="4944520" y="36080"/>
            <a:ext cx="4094391" cy="923330"/>
          </a:xfrm>
          <a:prstGeom prst="rect">
            <a:avLst/>
          </a:prstGeom>
          <a:noFill/>
        </p:spPr>
        <p:txBody>
          <a:bodyPr wrap="non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المفاهيم</a:t>
            </a:r>
            <a:r>
              <a:rPr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الأساسية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E239F32D-7D45-4FEC-A746-E4E6819727F6}"/>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4A5E6D7E-E1A8-4510-8275-1BDFD5D798ED}"/>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6" name="Picture 15">
            <a:extLst>
              <a:ext uri="{FF2B5EF4-FFF2-40B4-BE49-F238E27FC236}">
                <a16:creationId xmlns:a16="http://schemas.microsoft.com/office/drawing/2014/main" id="{22AF21E2-1229-43BE-A58A-168204896D98}"/>
              </a:ext>
            </a:extLst>
          </p:cNvPr>
          <p:cNvPicPr>
            <a:picLocks noChangeAspect="1"/>
          </p:cNvPicPr>
          <p:nvPr/>
        </p:nvPicPr>
        <p:blipFill>
          <a:blip r:embed="rId3"/>
          <a:stretch>
            <a:fillRect/>
          </a:stretch>
        </p:blipFill>
        <p:spPr>
          <a:xfrm>
            <a:off x="5862701" y="3063178"/>
            <a:ext cx="2464802" cy="3223507"/>
          </a:xfrm>
          <a:prstGeom prst="rect">
            <a:avLst/>
          </a:prstGeom>
        </p:spPr>
      </p:pic>
      <p:sp>
        <p:nvSpPr>
          <p:cNvPr id="17" name="Rectangle 16">
            <a:extLst>
              <a:ext uri="{FF2B5EF4-FFF2-40B4-BE49-F238E27FC236}">
                <a16:creationId xmlns:a16="http://schemas.microsoft.com/office/drawing/2014/main" id="{8B43166C-A1D9-4FB6-9BC4-84CC37581CAB}"/>
              </a:ext>
            </a:extLst>
          </p:cNvPr>
          <p:cNvSpPr/>
          <p:nvPr/>
        </p:nvSpPr>
        <p:spPr>
          <a:xfrm>
            <a:off x="5595414" y="3117389"/>
            <a:ext cx="1153551" cy="3293086"/>
          </a:xfrm>
          <a:prstGeom prst="rect">
            <a:avLst/>
          </a:prstGeom>
          <a:noFill/>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FDE00ED6-7617-4EA8-8CD0-911F41D75041}"/>
              </a:ext>
            </a:extLst>
          </p:cNvPr>
          <p:cNvPicPr>
            <a:picLocks noChangeAspect="1"/>
          </p:cNvPicPr>
          <p:nvPr/>
        </p:nvPicPr>
        <p:blipFill>
          <a:blip r:embed="rId4"/>
          <a:stretch>
            <a:fillRect/>
          </a:stretch>
        </p:blipFill>
        <p:spPr>
          <a:xfrm>
            <a:off x="545064" y="3219490"/>
            <a:ext cx="4278819" cy="2717050"/>
          </a:xfrm>
          <a:prstGeom prst="rect">
            <a:avLst/>
          </a:prstGeom>
        </p:spPr>
      </p:pic>
    </p:spTree>
    <p:extLst>
      <p:ext uri="{BB962C8B-B14F-4D97-AF65-F5344CB8AC3E}">
        <p14:creationId xmlns:p14="http://schemas.microsoft.com/office/powerpoint/2010/main" val="3465273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057948-3819-414E-8261-1A9D812E9D3E}"/>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1106259" y="1037349"/>
            <a:ext cx="7886700" cy="4351338"/>
          </a:xfrm>
        </p:spPr>
        <p:txBody>
          <a:bodyPr>
            <a:normAutofit/>
          </a:bodyPr>
          <a:lstStyle/>
          <a:p>
            <a:pPr algn="r" rtl="1">
              <a:buFont typeface="Wingdings" panose="05000000000000000000" pitchFamily="2" charset="2"/>
              <a:buChar char="v"/>
            </a:pPr>
            <a:r>
              <a:rPr sz="2800" dirty="0">
                <a:solidFill>
                  <a:schemeClr val="accent1">
                    <a:lumMod val="50000"/>
                  </a:schemeClr>
                </a:solidFill>
              </a:rPr>
              <a:t>–</a:t>
            </a:r>
            <a:r>
              <a:rPr lang="en-US" sz="2800" dirty="0">
                <a:solidFill>
                  <a:schemeClr val="accent1">
                    <a:lumMod val="50000"/>
                  </a:schemeClr>
                </a:solidFill>
              </a:rPr>
              <a:t> </a:t>
            </a:r>
            <a:r>
              <a:rPr sz="2800" dirty="0">
                <a:solidFill>
                  <a:schemeClr val="accent1">
                    <a:lumMod val="50000"/>
                  </a:schemeClr>
                </a:solidFill>
              </a:rPr>
              <a:t>Foreign Key</a:t>
            </a:r>
            <a:r>
              <a:rPr lang="en-US" sz="2800" dirty="0">
                <a:solidFill>
                  <a:schemeClr val="accent1">
                    <a:lumMod val="50000"/>
                  </a:schemeClr>
                </a:solidFill>
              </a:rPr>
              <a:t> </a:t>
            </a:r>
            <a:r>
              <a:rPr lang="ar-JO" sz="2800" dirty="0">
                <a:solidFill>
                  <a:srgbClr val="002060"/>
                </a:solidFill>
              </a:rPr>
              <a:t>المفتاح الأجنبي:</a:t>
            </a:r>
          </a:p>
          <a:p>
            <a:pPr marL="342900" lvl="1" indent="0" algn="r" rtl="1">
              <a:buNone/>
            </a:pPr>
            <a:r>
              <a:rPr lang="ar-JO" sz="2800" dirty="0">
                <a:solidFill>
                  <a:srgbClr val="002060"/>
                </a:solidFill>
              </a:rPr>
              <a:t>هو حقل في جدول يشيرإلى المفتاح الاساسي في جدول آخر،مما يربط بين الجداول.</a:t>
            </a:r>
            <a:endParaRPr sz="2500" dirty="0">
              <a:solidFill>
                <a:srgbClr val="002060"/>
              </a:solidFill>
            </a:endParaRPr>
          </a:p>
        </p:txBody>
      </p:sp>
      <p:sp>
        <p:nvSpPr>
          <p:cNvPr id="4" name="Rectangle 3">
            <a:extLst>
              <a:ext uri="{FF2B5EF4-FFF2-40B4-BE49-F238E27FC236}">
                <a16:creationId xmlns:a16="http://schemas.microsoft.com/office/drawing/2014/main" id="{5662B838-8B65-41A0-8235-77B43B031618}"/>
              </a:ext>
            </a:extLst>
          </p:cNvPr>
          <p:cNvSpPr/>
          <p:nvPr/>
        </p:nvSpPr>
        <p:spPr>
          <a:xfrm>
            <a:off x="5049609" y="116713"/>
            <a:ext cx="4094391" cy="923330"/>
          </a:xfrm>
          <a:prstGeom prst="rect">
            <a:avLst/>
          </a:prstGeom>
          <a:noFill/>
        </p:spPr>
        <p:txBody>
          <a:bodyPr wrap="none" lIns="91440" tIns="45720" rIns="91440" bIns="45720">
            <a:spAutoFit/>
          </a:bodyPr>
          <a:lstStyle/>
          <a:p>
            <a:pPr algn="ct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المفاهيم</a:t>
            </a:r>
            <a:r>
              <a:rPr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 </a:t>
            </a:r>
            <a:r>
              <a:rPr sz="5400" b="1" cap="none" spc="0" dirty="0" err="1">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rPr>
              <a:t>الأساسية</a:t>
            </a:r>
            <a:endParaRPr lang="en-US" sz="5400" b="1" cap="none" spc="0" dirty="0">
              <a:ln w="10160">
                <a:solidFill>
                  <a:schemeClr val="accent5"/>
                </a:solidFill>
                <a:prstDash val="solid"/>
              </a:ln>
              <a:solidFill>
                <a:schemeClr val="accent1">
                  <a:lumMod val="50000"/>
                </a:schemeClr>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E239F32D-7D45-4FEC-A746-E4E6819727F6}"/>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4A5E6D7E-E1A8-4510-8275-1BDFD5D798ED}"/>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B746D3BB-525B-4C77-8B4D-0BA463E2291F}"/>
              </a:ext>
            </a:extLst>
          </p:cNvPr>
          <p:cNvPicPr>
            <a:picLocks noChangeAspect="1"/>
          </p:cNvPicPr>
          <p:nvPr/>
        </p:nvPicPr>
        <p:blipFill>
          <a:blip r:embed="rId3"/>
          <a:stretch>
            <a:fillRect/>
          </a:stretch>
        </p:blipFill>
        <p:spPr>
          <a:xfrm>
            <a:off x="3983143" y="2575127"/>
            <a:ext cx="4884261" cy="3711851"/>
          </a:xfrm>
          <a:prstGeom prst="rect">
            <a:avLst/>
          </a:prstGeom>
        </p:spPr>
      </p:pic>
      <p:pic>
        <p:nvPicPr>
          <p:cNvPr id="13" name="Picture 12">
            <a:extLst>
              <a:ext uri="{FF2B5EF4-FFF2-40B4-BE49-F238E27FC236}">
                <a16:creationId xmlns:a16="http://schemas.microsoft.com/office/drawing/2014/main" id="{FBC1D997-58C1-475C-8506-B6DD416D0828}"/>
              </a:ext>
            </a:extLst>
          </p:cNvPr>
          <p:cNvPicPr>
            <a:picLocks noChangeAspect="1"/>
          </p:cNvPicPr>
          <p:nvPr/>
        </p:nvPicPr>
        <p:blipFill>
          <a:blip r:embed="rId4"/>
          <a:stretch>
            <a:fillRect/>
          </a:stretch>
        </p:blipFill>
        <p:spPr>
          <a:xfrm>
            <a:off x="276596" y="3368402"/>
            <a:ext cx="4002008" cy="2117730"/>
          </a:xfrm>
          <a:prstGeom prst="rect">
            <a:avLst/>
          </a:prstGeom>
        </p:spPr>
      </p:pic>
    </p:spTree>
    <p:extLst>
      <p:ext uri="{BB962C8B-B14F-4D97-AF65-F5344CB8AC3E}">
        <p14:creationId xmlns:p14="http://schemas.microsoft.com/office/powerpoint/2010/main" val="1403937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907400" y="1253331"/>
            <a:ext cx="7886700" cy="4351338"/>
          </a:xfrm>
        </p:spPr>
        <p:txBody>
          <a:bodyPr>
            <a:normAutofit/>
          </a:bodyPr>
          <a:lstStyle/>
          <a:p>
            <a:pPr algn="r" rtl="1">
              <a:buFont typeface="Wingdings" panose="05000000000000000000" pitchFamily="2" charset="2"/>
              <a:buChar char="v"/>
            </a:pPr>
            <a:r>
              <a:rPr lang="ar-JO" sz="2800" dirty="0">
                <a:solidFill>
                  <a:srgbClr val="002060"/>
                </a:solidFill>
              </a:rPr>
              <a:t>الحروف </a:t>
            </a:r>
            <a:r>
              <a:rPr lang="en-US" sz="2800" dirty="0">
                <a:solidFill>
                  <a:srgbClr val="002060"/>
                </a:solidFill>
              </a:rPr>
              <a:t>:CHARACTER</a:t>
            </a:r>
            <a:endParaRPr lang="ar-JO" sz="2800" dirty="0">
              <a:solidFill>
                <a:srgbClr val="002060"/>
              </a:solidFill>
            </a:endParaRPr>
          </a:p>
          <a:p>
            <a:pPr marL="342900" lvl="1" indent="0" algn="r" rtl="1">
              <a:buNone/>
            </a:pPr>
            <a:r>
              <a:rPr lang="ar-JO" sz="2400" dirty="0">
                <a:solidFill>
                  <a:srgbClr val="002060"/>
                </a:solidFill>
              </a:rPr>
              <a:t>الحقل من هذا النوع يخزن سلاسل من الحروف يتم تحديد حجمها ( عدد االحرف) عند تعريف الجدول. يتم حجز حجم ثابت في قاعدة البيانات لكل حقل من هذا النوع بغض النظر عن عدد الاحرف المدخلة فعلا في الحقل. يسمى اختصارا </a:t>
            </a:r>
            <a:r>
              <a:rPr lang="en-US" sz="2400" dirty="0">
                <a:solidFill>
                  <a:srgbClr val="002060"/>
                </a:solidFill>
              </a:rPr>
              <a:t>CHAR </a:t>
            </a:r>
            <a:r>
              <a:rPr lang="ar-JO" sz="2400" dirty="0">
                <a:solidFill>
                  <a:srgbClr val="002060"/>
                </a:solidFill>
              </a:rPr>
              <a:t>الحروف المتغيرة.</a:t>
            </a:r>
            <a:endParaRPr sz="32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5939277" y="0"/>
            <a:ext cx="3204723"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D1202214-2DA2-47A8-8EAE-11CC38939193}"/>
              </a:ext>
            </a:extLst>
          </p:cNvPr>
          <p:cNvPicPr>
            <a:picLocks noChangeAspect="1"/>
          </p:cNvPicPr>
          <p:nvPr/>
        </p:nvPicPr>
        <p:blipFill>
          <a:blip r:embed="rId3"/>
          <a:stretch>
            <a:fillRect/>
          </a:stretch>
        </p:blipFill>
        <p:spPr>
          <a:xfrm>
            <a:off x="1321308" y="3429000"/>
            <a:ext cx="6275246" cy="26757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938391" y="1192733"/>
            <a:ext cx="7886700" cy="4351338"/>
          </a:xfrm>
        </p:spPr>
        <p:txBody>
          <a:bodyPr>
            <a:normAutofit/>
          </a:bodyPr>
          <a:lstStyle/>
          <a:p>
            <a:pPr algn="r" rtl="1">
              <a:buFont typeface="Wingdings" panose="05000000000000000000" pitchFamily="2" charset="2"/>
              <a:buChar char="v"/>
            </a:pPr>
            <a:r>
              <a:rPr lang="en-US" sz="2800" dirty="0">
                <a:solidFill>
                  <a:srgbClr val="002060"/>
                </a:solidFill>
              </a:rPr>
              <a:t>:VARYING CHARACTER</a:t>
            </a:r>
            <a:endParaRPr lang="ar-JO" sz="2800" dirty="0">
              <a:solidFill>
                <a:srgbClr val="002060"/>
              </a:solidFill>
            </a:endParaRPr>
          </a:p>
          <a:p>
            <a:pPr marL="342900" lvl="1" indent="0" algn="r" rtl="1">
              <a:buNone/>
            </a:pPr>
            <a:r>
              <a:rPr lang="en-US" sz="2400" dirty="0">
                <a:solidFill>
                  <a:srgbClr val="002060"/>
                </a:solidFill>
              </a:rPr>
              <a:t> </a:t>
            </a:r>
            <a:r>
              <a:rPr lang="ar-JO" sz="2400" dirty="0">
                <a:solidFill>
                  <a:srgbClr val="002060"/>
                </a:solidFill>
              </a:rPr>
              <a:t>مشابهه للنوع اعلاه لكن الحجم المحدد عند انشاء الجدول هو الحد الاعلى للأحرف التي يمكن ان تخزن في الحقل وليس مساحة التخزين التي سيتم حجزها للحقل. يقوم النظام بشكل ديناميكي بحجز مساحة التخزين حسب عدد االحرف املخزنة في الحقل فعليا. يستخدم الاسم  </a:t>
            </a:r>
            <a:r>
              <a:rPr lang="en-US" sz="2400" dirty="0">
                <a:solidFill>
                  <a:srgbClr val="002060"/>
                </a:solidFill>
              </a:rPr>
              <a:t>VARCHAR</a:t>
            </a:r>
            <a:r>
              <a:rPr lang="ar-JO" sz="2400" dirty="0">
                <a:solidFill>
                  <a:srgbClr val="002060"/>
                </a:solidFill>
              </a:rPr>
              <a:t> </a:t>
            </a:r>
            <a:r>
              <a:rPr lang="en-US" sz="2400" dirty="0">
                <a:solidFill>
                  <a:srgbClr val="002060"/>
                </a:solidFill>
              </a:rPr>
              <a:t> </a:t>
            </a:r>
            <a:r>
              <a:rPr lang="ar-JO" sz="2400" dirty="0">
                <a:solidFill>
                  <a:srgbClr val="002060"/>
                </a:solidFill>
              </a:rPr>
              <a:t>للدلالة على هذا النوع من الحقول.</a:t>
            </a:r>
            <a:endParaRPr sz="24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5939277" y="0"/>
            <a:ext cx="3204723"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D1202214-2DA2-47A8-8EAE-11CC38939193}"/>
              </a:ext>
            </a:extLst>
          </p:cNvPr>
          <p:cNvPicPr>
            <a:picLocks noChangeAspect="1"/>
          </p:cNvPicPr>
          <p:nvPr/>
        </p:nvPicPr>
        <p:blipFill>
          <a:blip r:embed="rId3"/>
          <a:stretch>
            <a:fillRect/>
          </a:stretch>
        </p:blipFill>
        <p:spPr>
          <a:xfrm>
            <a:off x="1321308" y="3429000"/>
            <a:ext cx="6275246" cy="2675732"/>
          </a:xfrm>
          <a:prstGeom prst="rect">
            <a:avLst/>
          </a:prstGeom>
        </p:spPr>
      </p:pic>
    </p:spTree>
    <p:extLst>
      <p:ext uri="{BB962C8B-B14F-4D97-AF65-F5344CB8AC3E}">
        <p14:creationId xmlns:p14="http://schemas.microsoft.com/office/powerpoint/2010/main" val="3320873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907400" y="1253331"/>
            <a:ext cx="7886700" cy="4351338"/>
          </a:xfrm>
        </p:spPr>
        <p:txBody>
          <a:bodyPr>
            <a:normAutofit/>
          </a:bodyPr>
          <a:lstStyle/>
          <a:p>
            <a:pPr algn="r" rtl="1">
              <a:buFont typeface="Wingdings" panose="05000000000000000000" pitchFamily="2" charset="2"/>
              <a:buChar char="v"/>
            </a:pPr>
            <a:r>
              <a:rPr lang="en-US" sz="2800" dirty="0">
                <a:solidFill>
                  <a:srgbClr val="002060"/>
                </a:solidFill>
              </a:rPr>
              <a:t>:NUMERIC</a:t>
            </a:r>
            <a:endParaRPr lang="ar-JO" sz="2800" dirty="0">
              <a:solidFill>
                <a:srgbClr val="002060"/>
              </a:solidFill>
            </a:endParaRPr>
          </a:p>
          <a:p>
            <a:pPr marL="0" indent="0" algn="r" rtl="1">
              <a:buNone/>
            </a:pPr>
            <a:r>
              <a:rPr lang="en-US" sz="2800" dirty="0">
                <a:solidFill>
                  <a:srgbClr val="002060"/>
                </a:solidFill>
              </a:rPr>
              <a:t> </a:t>
            </a:r>
            <a:r>
              <a:rPr lang="ar-JO" sz="2800" dirty="0">
                <a:solidFill>
                  <a:srgbClr val="002060"/>
                </a:solidFill>
              </a:rPr>
              <a:t>هذا النوع من الحقول يخزن الارقام.</a:t>
            </a:r>
          </a:p>
          <a:p>
            <a:pPr lvl="1" algn="r" rtl="1"/>
            <a:r>
              <a:rPr lang="ar-JO" sz="2500" dirty="0">
                <a:solidFill>
                  <a:srgbClr val="002060"/>
                </a:solidFill>
              </a:rPr>
              <a:t> يمكن تحديد عدد خانات الرقم (5) </a:t>
            </a:r>
            <a:r>
              <a:rPr lang="en-US" sz="2500" dirty="0">
                <a:solidFill>
                  <a:srgbClr val="002060"/>
                </a:solidFill>
              </a:rPr>
              <a:t>NUMERIC</a:t>
            </a:r>
            <a:r>
              <a:rPr lang="ar-JO" sz="2500" dirty="0">
                <a:solidFill>
                  <a:srgbClr val="002060"/>
                </a:solidFill>
              </a:rPr>
              <a:t> </a:t>
            </a:r>
            <a:r>
              <a:rPr lang="en-US" sz="2500" dirty="0">
                <a:solidFill>
                  <a:srgbClr val="002060"/>
                </a:solidFill>
              </a:rPr>
              <a:t> </a:t>
            </a:r>
            <a:r>
              <a:rPr lang="ar-JO" sz="2500" dirty="0">
                <a:solidFill>
                  <a:srgbClr val="002060"/>
                </a:solidFill>
              </a:rPr>
              <a:t>يخزن حتى 99999 </a:t>
            </a:r>
          </a:p>
          <a:p>
            <a:pPr lvl="1" algn="r" rtl="1"/>
            <a:r>
              <a:rPr lang="ar-JO" sz="2500" dirty="0">
                <a:solidFill>
                  <a:srgbClr val="002060"/>
                </a:solidFill>
              </a:rPr>
              <a:t>ويمكن تحديد الدقة (3,2) </a:t>
            </a:r>
            <a:r>
              <a:rPr lang="en-US" sz="2500" dirty="0">
                <a:solidFill>
                  <a:srgbClr val="002060"/>
                </a:solidFill>
              </a:rPr>
              <a:t>NUMERIC </a:t>
            </a:r>
            <a:r>
              <a:rPr lang="ar-JO" sz="2500" dirty="0">
                <a:solidFill>
                  <a:srgbClr val="002060"/>
                </a:solidFill>
              </a:rPr>
              <a:t>يخزن حتىالرقم 99.9 اي ثالث خانات ومنها خانتان بعد الفاصلة العشرية.</a:t>
            </a:r>
          </a:p>
          <a:p>
            <a:pPr lvl="1" algn="r" rtl="1"/>
            <a:endParaRPr lang="ar-JO" sz="2500" dirty="0">
              <a:solidFill>
                <a:srgbClr val="002060"/>
              </a:solidFill>
            </a:endParaRPr>
          </a:p>
          <a:p>
            <a:pPr lvl="1" algn="r" rtl="1"/>
            <a:endParaRPr lang="ar-JO" sz="2500" dirty="0">
              <a:solidFill>
                <a:srgbClr val="002060"/>
              </a:solidFill>
            </a:endParaRPr>
          </a:p>
          <a:p>
            <a:pPr lvl="1" algn="r" rtl="1"/>
            <a:endParaRPr lang="ar-JO" sz="2500" dirty="0">
              <a:solidFill>
                <a:srgbClr val="002060"/>
              </a:solidFill>
            </a:endParaRPr>
          </a:p>
          <a:p>
            <a:pPr lvl="1" algn="r" rtl="1"/>
            <a:endParaRPr lang="ar-JO" sz="2500" dirty="0">
              <a:solidFill>
                <a:srgbClr val="002060"/>
              </a:solidFill>
            </a:endParaRPr>
          </a:p>
          <a:p>
            <a:pPr marL="0" indent="0" algn="r" rtl="1">
              <a:buNone/>
            </a:pPr>
            <a:r>
              <a:rPr lang="ar-JO" sz="2800" dirty="0">
                <a:solidFill>
                  <a:srgbClr val="002060"/>
                </a:solidFill>
              </a:rPr>
              <a:t> </a:t>
            </a:r>
            <a:endParaRPr sz="40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5939277" y="0"/>
            <a:ext cx="3204723"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1" name="Picture 10">
            <a:extLst>
              <a:ext uri="{FF2B5EF4-FFF2-40B4-BE49-F238E27FC236}">
                <a16:creationId xmlns:a16="http://schemas.microsoft.com/office/drawing/2014/main" id="{FE8B04CF-74C0-4520-B6FC-333B370C7538}"/>
              </a:ext>
            </a:extLst>
          </p:cNvPr>
          <p:cNvPicPr>
            <a:picLocks noChangeAspect="1"/>
          </p:cNvPicPr>
          <p:nvPr/>
        </p:nvPicPr>
        <p:blipFill>
          <a:blip r:embed="rId3"/>
          <a:stretch>
            <a:fillRect/>
          </a:stretch>
        </p:blipFill>
        <p:spPr>
          <a:xfrm>
            <a:off x="747495" y="3830783"/>
            <a:ext cx="7841476" cy="2175669"/>
          </a:xfrm>
          <a:prstGeom prst="rect">
            <a:avLst/>
          </a:prstGeom>
        </p:spPr>
      </p:pic>
    </p:spTree>
    <p:extLst>
      <p:ext uri="{BB962C8B-B14F-4D97-AF65-F5344CB8AC3E}">
        <p14:creationId xmlns:p14="http://schemas.microsoft.com/office/powerpoint/2010/main" val="4182513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978008" y="477039"/>
            <a:ext cx="7886700" cy="4351338"/>
          </a:xfrm>
        </p:spPr>
        <p:txBody>
          <a:bodyPr>
            <a:normAutofit/>
          </a:bodyPr>
          <a:lstStyle/>
          <a:p>
            <a:pPr algn="r" rtl="1"/>
            <a:r>
              <a:rPr lang="en-US" sz="2800" dirty="0">
                <a:solidFill>
                  <a:srgbClr val="002060"/>
                </a:solidFill>
              </a:rPr>
              <a:t>:DECIMAL</a:t>
            </a:r>
            <a:endParaRPr lang="ar-JO" sz="2800" dirty="0">
              <a:solidFill>
                <a:srgbClr val="002060"/>
              </a:solidFill>
            </a:endParaRPr>
          </a:p>
          <a:p>
            <a:pPr marL="0" indent="0" algn="r" rtl="1">
              <a:buNone/>
            </a:pPr>
            <a:r>
              <a:rPr lang="en-US" sz="2800" dirty="0">
                <a:solidFill>
                  <a:srgbClr val="002060"/>
                </a:solidFill>
              </a:rPr>
              <a:t> </a:t>
            </a:r>
            <a:r>
              <a:rPr lang="ar-JO" sz="2800" dirty="0">
                <a:solidFill>
                  <a:srgbClr val="002060"/>
                </a:solidFill>
              </a:rPr>
              <a:t>شبيه جدا ب</a:t>
            </a:r>
            <a:r>
              <a:rPr lang="en-US" sz="2800" dirty="0">
                <a:solidFill>
                  <a:srgbClr val="002060"/>
                </a:solidFill>
              </a:rPr>
              <a:t>NUMERIC </a:t>
            </a:r>
            <a:r>
              <a:rPr lang="ar-JO" sz="2800" dirty="0">
                <a:solidFill>
                  <a:srgbClr val="002060"/>
                </a:solidFill>
              </a:rPr>
              <a:t> و غالبية االنظمة تعتبرهما نوع واحد.</a:t>
            </a:r>
          </a:p>
          <a:p>
            <a:pPr algn="r" rtl="1"/>
            <a:r>
              <a:rPr lang="en-US" sz="2800" dirty="0">
                <a:solidFill>
                  <a:srgbClr val="002060"/>
                </a:solidFill>
              </a:rPr>
              <a:t>:INTEGER</a:t>
            </a:r>
            <a:endParaRPr lang="ar-JO" sz="2800" dirty="0">
              <a:solidFill>
                <a:srgbClr val="002060"/>
              </a:solidFill>
            </a:endParaRPr>
          </a:p>
          <a:p>
            <a:pPr marL="0" indent="0" algn="r" rtl="1">
              <a:buNone/>
            </a:pPr>
            <a:r>
              <a:rPr lang="ar-JO" sz="2800" dirty="0">
                <a:solidFill>
                  <a:srgbClr val="002060"/>
                </a:solidFill>
              </a:rPr>
              <a:t>شبيه بالسابق لكن لا يوجد ارقام بعد الفاصلة العشرية. يمكن اختصاره ب</a:t>
            </a:r>
            <a:r>
              <a:rPr lang="en-US" sz="2800" dirty="0">
                <a:solidFill>
                  <a:srgbClr val="002060"/>
                </a:solidFill>
              </a:rPr>
              <a:t>INT </a:t>
            </a:r>
            <a:r>
              <a:rPr lang="ar-JO" sz="2800" dirty="0">
                <a:solidFill>
                  <a:srgbClr val="002060"/>
                </a:solidFill>
              </a:rPr>
              <a:t>.</a:t>
            </a:r>
            <a:endParaRPr lang="en-US" sz="2800" dirty="0">
              <a:solidFill>
                <a:srgbClr val="002060"/>
              </a:solidFill>
            </a:endParaRPr>
          </a:p>
          <a:p>
            <a:pPr algn="r" rtl="1"/>
            <a:r>
              <a:rPr lang="en-US" sz="2800" dirty="0">
                <a:solidFill>
                  <a:srgbClr val="002060"/>
                </a:solidFill>
              </a:rPr>
              <a:t>:FLOAT</a:t>
            </a:r>
            <a:endParaRPr lang="ar-JO" sz="2800" dirty="0">
              <a:solidFill>
                <a:srgbClr val="002060"/>
              </a:solidFill>
            </a:endParaRPr>
          </a:p>
          <a:p>
            <a:pPr marL="0" indent="0" algn="r" rtl="1">
              <a:buNone/>
            </a:pPr>
            <a:r>
              <a:rPr lang="en-US" sz="2800" dirty="0">
                <a:solidFill>
                  <a:srgbClr val="002060"/>
                </a:solidFill>
              </a:rPr>
              <a:t> </a:t>
            </a:r>
            <a:r>
              <a:rPr lang="ar-JO" sz="2800" dirty="0">
                <a:solidFill>
                  <a:srgbClr val="002060"/>
                </a:solidFill>
              </a:rPr>
              <a:t>ارقام عشرية تحتوي الحقول من هذا النوع ارقام حقيقية. يمكن تحديد الدقة والمدى كما هو.</a:t>
            </a:r>
            <a:endParaRPr lang="ar-JO" sz="40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7616018" y="0"/>
            <a:ext cx="1527982" cy="461665"/>
          </a:xfrm>
          <a:prstGeom prst="rect">
            <a:avLst/>
          </a:prstGeom>
          <a:noFill/>
        </p:spPr>
        <p:txBody>
          <a:bodyPr wrap="none" lIns="91440" tIns="45720" rIns="91440" bIns="45720">
            <a:spAutoFit/>
          </a:bodyPr>
          <a:lstStyle/>
          <a:p>
            <a:pPr algn="ctr"/>
            <a:r>
              <a:rPr lang="ar-JO" sz="2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0" name="Picture 9">
            <a:extLst>
              <a:ext uri="{FF2B5EF4-FFF2-40B4-BE49-F238E27FC236}">
                <a16:creationId xmlns:a16="http://schemas.microsoft.com/office/drawing/2014/main" id="{C5ADBFCD-DA9E-4B2B-8C53-9CC8D0512CCA}"/>
              </a:ext>
            </a:extLst>
          </p:cNvPr>
          <p:cNvPicPr>
            <a:picLocks noChangeAspect="1"/>
          </p:cNvPicPr>
          <p:nvPr/>
        </p:nvPicPr>
        <p:blipFill>
          <a:blip r:embed="rId3"/>
          <a:stretch>
            <a:fillRect/>
          </a:stretch>
        </p:blipFill>
        <p:spPr>
          <a:xfrm>
            <a:off x="471758" y="4153001"/>
            <a:ext cx="8154515" cy="2444746"/>
          </a:xfrm>
          <a:prstGeom prst="rect">
            <a:avLst/>
          </a:prstGeom>
        </p:spPr>
      </p:pic>
    </p:spTree>
    <p:extLst>
      <p:ext uri="{BB962C8B-B14F-4D97-AF65-F5344CB8AC3E}">
        <p14:creationId xmlns:p14="http://schemas.microsoft.com/office/powerpoint/2010/main" val="4832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638798" y="1253331"/>
            <a:ext cx="7886700" cy="4351338"/>
          </a:xfrm>
        </p:spPr>
        <p:txBody>
          <a:bodyPr>
            <a:normAutofit/>
          </a:bodyPr>
          <a:lstStyle/>
          <a:p>
            <a:pPr algn="r" rtl="1">
              <a:buFont typeface="Wingdings" panose="05000000000000000000" pitchFamily="2" charset="2"/>
              <a:buChar char="v"/>
            </a:pPr>
            <a:r>
              <a:rPr lang="ar-JO" sz="2400" dirty="0">
                <a:solidFill>
                  <a:srgbClr val="002060"/>
                </a:solidFill>
              </a:rPr>
              <a:t>   </a:t>
            </a:r>
            <a:r>
              <a:rPr lang="en-US" sz="2400" dirty="0">
                <a:solidFill>
                  <a:srgbClr val="002060"/>
                </a:solidFill>
              </a:rPr>
              <a:t>:DATE</a:t>
            </a:r>
            <a:r>
              <a:rPr lang="ar-JO" sz="2400" dirty="0">
                <a:solidFill>
                  <a:srgbClr val="002060"/>
                </a:solidFill>
              </a:rPr>
              <a:t> يخزن تاريخ يوم محدد</a:t>
            </a:r>
            <a:r>
              <a:rPr kumimoji="0" lang="en-US" altLang="en-US" sz="2400" i="0" u="none" strike="noStrike" cap="none" normalizeH="0" baseline="0" dirty="0">
                <a:ln>
                  <a:noFill/>
                </a:ln>
                <a:solidFill>
                  <a:srgbClr val="002060"/>
                </a:solidFill>
                <a:effectLst/>
                <a:latin typeface="Arial" panose="020B0604020202020204" pitchFamily="34" charset="0"/>
              </a:rPr>
              <a:t> (YYYY-MM-DD).</a:t>
            </a:r>
            <a:endParaRPr lang="ar-JO" sz="2400" dirty="0">
              <a:solidFill>
                <a:srgbClr val="002060"/>
              </a:solidFill>
            </a:endParaRPr>
          </a:p>
          <a:p>
            <a:pPr algn="r" rtl="1">
              <a:buFont typeface="Wingdings" panose="05000000000000000000" pitchFamily="2" charset="2"/>
              <a:buChar char="v"/>
            </a:pPr>
            <a:r>
              <a:rPr lang="en-US" sz="2400" dirty="0">
                <a:solidFill>
                  <a:srgbClr val="002060"/>
                </a:solidFill>
              </a:rPr>
              <a:t>:TIME </a:t>
            </a:r>
            <a:r>
              <a:rPr lang="ar-JO" sz="2400" dirty="0">
                <a:solidFill>
                  <a:srgbClr val="002060"/>
                </a:solidFill>
              </a:rPr>
              <a:t> يخزن وقت محدد.</a:t>
            </a:r>
            <a:r>
              <a:rPr lang="en-US" sz="2400" dirty="0">
                <a:solidFill>
                  <a:srgbClr val="002060"/>
                </a:solidFill>
              </a:rPr>
              <a:t> (HH:MM:SS)</a:t>
            </a:r>
            <a:endParaRPr lang="ar-JO" sz="2400" dirty="0">
              <a:solidFill>
                <a:srgbClr val="002060"/>
              </a:solidFill>
            </a:endParaRPr>
          </a:p>
          <a:p>
            <a:pPr marL="342900" lvl="1" indent="0" algn="r" rtl="1">
              <a:buNone/>
            </a:pPr>
            <a:r>
              <a:rPr lang="ar-JO" sz="2400" dirty="0">
                <a:solidFill>
                  <a:srgbClr val="002060"/>
                </a:solidFill>
              </a:rPr>
              <a:t> اي يخزن الساعة والدقيقة والثانية, يمكن تخزين اجزاء من الثانية ايضا بالإضافة لإمكانية مصاحبة الوقت برمز منطقة التوقيت.</a:t>
            </a:r>
          </a:p>
          <a:p>
            <a:pPr algn="r" rtl="1">
              <a:buFont typeface="Wingdings" panose="05000000000000000000" pitchFamily="2" charset="2"/>
              <a:buChar char="v"/>
            </a:pPr>
            <a:r>
              <a:rPr lang="en-US" sz="2400" dirty="0">
                <a:solidFill>
                  <a:srgbClr val="002060"/>
                </a:solidFill>
              </a:rPr>
              <a:t>:TIMESTAMP</a:t>
            </a:r>
            <a:r>
              <a:rPr lang="ar-JO" sz="2400" dirty="0">
                <a:solidFill>
                  <a:srgbClr val="002060"/>
                </a:solidFill>
              </a:rPr>
              <a:t> </a:t>
            </a:r>
            <a:r>
              <a:rPr lang="en-US" sz="2400" dirty="0">
                <a:solidFill>
                  <a:srgbClr val="002060"/>
                </a:solidFill>
              </a:rPr>
              <a:t> </a:t>
            </a:r>
            <a:r>
              <a:rPr lang="ar-JO" sz="2400" dirty="0">
                <a:solidFill>
                  <a:srgbClr val="002060"/>
                </a:solidFill>
              </a:rPr>
              <a:t>تضم هذه الحقول التاريخ والوقت بعض التطبيقات تسميه </a:t>
            </a:r>
            <a:r>
              <a:rPr lang="en-US" sz="2400" dirty="0">
                <a:solidFill>
                  <a:srgbClr val="002060"/>
                </a:solidFill>
              </a:rPr>
              <a:t>DATETIME</a:t>
            </a:r>
            <a:r>
              <a:rPr lang="ar-JO" sz="2400" dirty="0">
                <a:solidFill>
                  <a:srgbClr val="002060"/>
                </a:solidFill>
              </a:rPr>
              <a:t>. </a:t>
            </a:r>
            <a:r>
              <a:rPr lang="en-US" sz="2400" dirty="0">
                <a:solidFill>
                  <a:srgbClr val="002060"/>
                </a:solidFill>
              </a:rPr>
              <a:t> 2025-09-09 14:35:20</a:t>
            </a:r>
            <a:endParaRPr sz="24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5939277" y="0"/>
            <a:ext cx="3204723"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2" name="Rectangle 1">
            <a:extLst>
              <a:ext uri="{FF2B5EF4-FFF2-40B4-BE49-F238E27FC236}">
                <a16:creationId xmlns:a16="http://schemas.microsoft.com/office/drawing/2014/main" id="{FAED1332-66EB-433F-B9BF-B93A6582B37F}"/>
              </a:ext>
            </a:extLst>
          </p:cNvPr>
          <p:cNvSpPr>
            <a:spLocks noChangeArrowheads="1"/>
          </p:cNvSpPr>
          <p:nvPr/>
        </p:nvSpPr>
        <p:spPr bwMode="auto">
          <a:xfrm>
            <a:off x="-268602"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F07C2739-160B-4516-9BF3-C05639547822}"/>
              </a:ext>
            </a:extLst>
          </p:cNvPr>
          <p:cNvPicPr>
            <a:picLocks noChangeAspect="1"/>
          </p:cNvPicPr>
          <p:nvPr/>
        </p:nvPicPr>
        <p:blipFill>
          <a:blip r:embed="rId3"/>
          <a:stretch>
            <a:fillRect/>
          </a:stretch>
        </p:blipFill>
        <p:spPr>
          <a:xfrm>
            <a:off x="1490509" y="3804527"/>
            <a:ext cx="6162981" cy="2651728"/>
          </a:xfrm>
          <a:prstGeom prst="rect">
            <a:avLst/>
          </a:prstGeom>
        </p:spPr>
      </p:pic>
    </p:spTree>
    <p:extLst>
      <p:ext uri="{BB962C8B-B14F-4D97-AF65-F5344CB8AC3E}">
        <p14:creationId xmlns:p14="http://schemas.microsoft.com/office/powerpoint/2010/main" val="1985259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16488-86E6-4BF1-9F68-04A5969F7006}"/>
              </a:ext>
            </a:extLst>
          </p:cNvPr>
          <p:cNvPicPr>
            <a:picLocks noChangeAspect="1"/>
          </p:cNvPicPr>
          <p:nvPr/>
        </p:nvPicPr>
        <p:blipFill>
          <a:blip r:embed="rId2">
            <a:alphaModFix amt="6000"/>
          </a:blip>
          <a:stretch>
            <a:fillRect/>
          </a:stretch>
        </p:blipFill>
        <p:spPr>
          <a:xfrm>
            <a:off x="1170474" y="139058"/>
            <a:ext cx="6995518" cy="6458689"/>
          </a:xfrm>
          <a:prstGeom prst="rect">
            <a:avLst/>
          </a:prstGeom>
          <a:noFill/>
          <a:ln>
            <a:noFill/>
          </a:ln>
        </p:spPr>
      </p:pic>
      <p:sp>
        <p:nvSpPr>
          <p:cNvPr id="3" name="Content Placeholder 2"/>
          <p:cNvSpPr>
            <a:spLocks noGrp="1"/>
          </p:cNvSpPr>
          <p:nvPr>
            <p:ph idx="1"/>
          </p:nvPr>
        </p:nvSpPr>
        <p:spPr>
          <a:xfrm>
            <a:off x="907400" y="1253331"/>
            <a:ext cx="7886700" cy="4351338"/>
          </a:xfrm>
        </p:spPr>
        <p:txBody>
          <a:bodyPr>
            <a:normAutofit/>
          </a:bodyPr>
          <a:lstStyle/>
          <a:p>
            <a:pPr algn="r" rtl="1">
              <a:buFont typeface="Wingdings" panose="05000000000000000000" pitchFamily="2" charset="2"/>
              <a:buChar char="v"/>
            </a:pPr>
            <a:r>
              <a:rPr lang="ar-JO" sz="2800" dirty="0">
                <a:solidFill>
                  <a:srgbClr val="002060"/>
                </a:solidFill>
              </a:rPr>
              <a:t>الحروف </a:t>
            </a:r>
            <a:r>
              <a:rPr lang="en-US" sz="2800" dirty="0">
                <a:solidFill>
                  <a:srgbClr val="002060"/>
                </a:solidFill>
              </a:rPr>
              <a:t>:CHARACTER</a:t>
            </a:r>
            <a:endParaRPr lang="ar-JO" sz="2800" dirty="0">
              <a:solidFill>
                <a:srgbClr val="002060"/>
              </a:solidFill>
            </a:endParaRPr>
          </a:p>
          <a:p>
            <a:pPr marL="342900" lvl="1" indent="0" algn="r" rtl="1">
              <a:buNone/>
            </a:pPr>
            <a:r>
              <a:rPr lang="ar-JO" sz="2400" dirty="0">
                <a:solidFill>
                  <a:srgbClr val="002060"/>
                </a:solidFill>
              </a:rPr>
              <a:t>الحقل من هذا النوع يخزن سلاسل من الحروف يتم تحديد حجمها ( عدد االحرف) عند تعريف الجدول. يتم حجز حجم ثابت في قاعدة البيانات لكل حقل من هذا النوع بغض النظر عن عدد الاحرف المدخلة فعلا في الحقل. يسمى اختصارا </a:t>
            </a:r>
            <a:r>
              <a:rPr lang="en-US" sz="2400" dirty="0">
                <a:solidFill>
                  <a:srgbClr val="002060"/>
                </a:solidFill>
              </a:rPr>
              <a:t>CHAR </a:t>
            </a:r>
            <a:r>
              <a:rPr lang="ar-JO" sz="2400" dirty="0">
                <a:solidFill>
                  <a:srgbClr val="002060"/>
                </a:solidFill>
              </a:rPr>
              <a:t>الحروف المتغيرة.</a:t>
            </a:r>
            <a:endParaRPr sz="3200" dirty="0">
              <a:solidFill>
                <a:srgbClr val="002060"/>
              </a:solidFill>
            </a:endParaRPr>
          </a:p>
        </p:txBody>
      </p:sp>
      <p:sp>
        <p:nvSpPr>
          <p:cNvPr id="4" name="Rectangle 3">
            <a:extLst>
              <a:ext uri="{FF2B5EF4-FFF2-40B4-BE49-F238E27FC236}">
                <a16:creationId xmlns:a16="http://schemas.microsoft.com/office/drawing/2014/main" id="{509C379B-C927-4438-9E1D-39EA899A21FD}"/>
              </a:ext>
            </a:extLst>
          </p:cNvPr>
          <p:cNvSpPr/>
          <p:nvPr/>
        </p:nvSpPr>
        <p:spPr>
          <a:xfrm>
            <a:off x="5939277" y="0"/>
            <a:ext cx="3204723"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البيانات</a:t>
            </a:r>
          </a:p>
        </p:txBody>
      </p:sp>
      <p:sp>
        <p:nvSpPr>
          <p:cNvPr id="7" name="Half Frame 6">
            <a:extLst>
              <a:ext uri="{FF2B5EF4-FFF2-40B4-BE49-F238E27FC236}">
                <a16:creationId xmlns:a16="http://schemas.microsoft.com/office/drawing/2014/main" id="{BC9EDBB4-36EF-4410-8743-AA250ADC072F}"/>
              </a:ext>
            </a:extLst>
          </p:cNvPr>
          <p:cNvSpPr/>
          <p:nvPr/>
        </p:nvSpPr>
        <p:spPr>
          <a:xfrm>
            <a:off x="83936" y="139059"/>
            <a:ext cx="692944" cy="4991332"/>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7EC5610C-9269-41EA-9C28-03E5B4E9AC3A}"/>
              </a:ext>
            </a:extLst>
          </p:cNvPr>
          <p:cNvSpPr/>
          <p:nvPr/>
        </p:nvSpPr>
        <p:spPr>
          <a:xfrm rot="10800000">
            <a:off x="8327503" y="2634725"/>
            <a:ext cx="692944" cy="4106561"/>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D1202214-2DA2-47A8-8EAE-11CC38939193}"/>
              </a:ext>
            </a:extLst>
          </p:cNvPr>
          <p:cNvPicPr>
            <a:picLocks noChangeAspect="1"/>
          </p:cNvPicPr>
          <p:nvPr/>
        </p:nvPicPr>
        <p:blipFill>
          <a:blip r:embed="rId3"/>
          <a:stretch>
            <a:fillRect/>
          </a:stretch>
        </p:blipFill>
        <p:spPr>
          <a:xfrm>
            <a:off x="1321308" y="3429000"/>
            <a:ext cx="6275246" cy="2675732"/>
          </a:xfrm>
          <a:prstGeom prst="rect">
            <a:avLst/>
          </a:prstGeom>
        </p:spPr>
      </p:pic>
    </p:spTree>
    <p:extLst>
      <p:ext uri="{BB962C8B-B14F-4D97-AF65-F5344CB8AC3E}">
        <p14:creationId xmlns:p14="http://schemas.microsoft.com/office/powerpoint/2010/main" val="4062741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en-US" sz="4000" dirty="0">
                <a:solidFill>
                  <a:srgbClr val="002060"/>
                </a:solidFill>
              </a:rPr>
              <a:t> </a:t>
            </a:r>
            <a:r>
              <a:rPr sz="4000" dirty="0" err="1">
                <a:solidFill>
                  <a:srgbClr val="002060"/>
                </a:solidFill>
              </a:rPr>
              <a:t>برنامج</a:t>
            </a:r>
            <a:r>
              <a:rPr sz="4000" dirty="0">
                <a:solidFill>
                  <a:srgbClr val="002060"/>
                </a:solidFill>
              </a:rPr>
              <a:t> </a:t>
            </a:r>
            <a:r>
              <a:rPr sz="4000" dirty="0" err="1">
                <a:solidFill>
                  <a:srgbClr val="002060"/>
                </a:solidFill>
              </a:rPr>
              <a:t>مجاني</a:t>
            </a:r>
            <a:r>
              <a:rPr sz="4000" dirty="0">
                <a:solidFill>
                  <a:srgbClr val="002060"/>
                </a:solidFill>
              </a:rPr>
              <a:t> </a:t>
            </a:r>
            <a:r>
              <a:rPr sz="4000" dirty="0" err="1">
                <a:solidFill>
                  <a:srgbClr val="002060"/>
                </a:solidFill>
              </a:rPr>
              <a:t>لإدارة</a:t>
            </a:r>
            <a:r>
              <a:rPr sz="4000" dirty="0">
                <a:solidFill>
                  <a:srgbClr val="002060"/>
                </a:solidFill>
              </a:rPr>
              <a:t> </a:t>
            </a:r>
            <a:r>
              <a:rPr sz="4000" dirty="0" err="1">
                <a:solidFill>
                  <a:srgbClr val="002060"/>
                </a:solidFill>
              </a:rPr>
              <a:t>قواعد</a:t>
            </a:r>
            <a:r>
              <a:rPr sz="4000" dirty="0">
                <a:solidFill>
                  <a:srgbClr val="002060"/>
                </a:solidFill>
              </a:rPr>
              <a:t> </a:t>
            </a:r>
            <a:r>
              <a:rPr sz="4000" dirty="0" err="1">
                <a:solidFill>
                  <a:srgbClr val="002060"/>
                </a:solidFill>
              </a:rPr>
              <a:t>البيانات</a:t>
            </a:r>
            <a:endParaRPr sz="40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3076492" y="218548"/>
            <a:ext cx="2214068" cy="923330"/>
          </a:xfrm>
          <a:prstGeom prst="rect">
            <a:avLst/>
          </a:prstGeom>
          <a:noFill/>
        </p:spPr>
        <p:txBody>
          <a:bodyPr wrap="none" lIns="91440" tIns="45720" rIns="91440" bIns="45720">
            <a:spAutoFit/>
          </a:bodyPr>
          <a:lstStyle/>
          <a:p>
            <a:pPr algn="ct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B95389DE-B02C-4AD6-93EF-52766283963A}"/>
              </a:ext>
            </a:extLst>
          </p:cNvPr>
          <p:cNvPicPr>
            <a:picLocks noChangeAspect="1"/>
          </p:cNvPicPr>
          <p:nvPr/>
        </p:nvPicPr>
        <p:blipFill>
          <a:blip r:embed="rId3"/>
          <a:stretch>
            <a:fillRect/>
          </a:stretch>
        </p:blipFill>
        <p:spPr>
          <a:xfrm>
            <a:off x="422656" y="1855931"/>
            <a:ext cx="8038758" cy="46605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544CF-8ECD-4B21-BA3D-DF4B615E6290}"/>
              </a:ext>
            </a:extLst>
          </p:cNvPr>
          <p:cNvSpPr/>
          <p:nvPr/>
        </p:nvSpPr>
        <p:spPr>
          <a:xfrm>
            <a:off x="1522170" y="609594"/>
            <a:ext cx="7621830" cy="707886"/>
          </a:xfrm>
          <a:prstGeom prst="rect">
            <a:avLst/>
          </a:prstGeom>
          <a:noFill/>
        </p:spPr>
        <p:txBody>
          <a:bodyPr wrap="square" lIns="91440" tIns="45720" rIns="91440" bIns="45720">
            <a:spAutoFit/>
          </a:bodyPr>
          <a:lstStyle/>
          <a:p>
            <a:pPr algn="ct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Windows</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على </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خطوات تثبيت </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10" name="TextBox 9">
            <a:extLst>
              <a:ext uri="{FF2B5EF4-FFF2-40B4-BE49-F238E27FC236}">
                <a16:creationId xmlns:a16="http://schemas.microsoft.com/office/drawing/2014/main" id="{53812A07-D861-452C-A1B2-428424A9511E}"/>
              </a:ext>
            </a:extLst>
          </p:cNvPr>
          <p:cNvSpPr txBox="1"/>
          <p:nvPr/>
        </p:nvSpPr>
        <p:spPr>
          <a:xfrm>
            <a:off x="239151" y="1954296"/>
            <a:ext cx="8525021" cy="3416320"/>
          </a:xfrm>
          <a:prstGeom prst="rect">
            <a:avLst/>
          </a:prstGeom>
          <a:noFill/>
        </p:spPr>
        <p:txBody>
          <a:bodyPr wrap="square">
            <a:spAutoFit/>
          </a:bodyPr>
          <a:lstStyle/>
          <a:p>
            <a:pPr marL="342900" indent="-342900" algn="r" rtl="1">
              <a:buFont typeface="Wingdings" panose="05000000000000000000" pitchFamily="2" charset="2"/>
              <a:buChar char="v"/>
            </a:pPr>
            <a:r>
              <a:rPr lang="ar-JO" sz="2400" b="1" dirty="0">
                <a:solidFill>
                  <a:srgbClr val="002060"/>
                </a:solidFill>
              </a:rPr>
              <a:t>الخطوة 1: تحميل </a:t>
            </a:r>
            <a:r>
              <a:rPr lang="en-US" sz="2400" b="1" dirty="0">
                <a:solidFill>
                  <a:srgbClr val="002060"/>
                </a:solidFill>
              </a:rPr>
              <a:t>MySQL</a:t>
            </a:r>
          </a:p>
          <a:p>
            <a:pPr algn="r" rtl="1">
              <a:buFont typeface="+mj-lt"/>
              <a:buAutoNum type="arabicPeriod"/>
            </a:pPr>
            <a:r>
              <a:rPr lang="ar-JO" sz="2400" dirty="0">
                <a:solidFill>
                  <a:srgbClr val="002060"/>
                </a:solidFill>
              </a:rPr>
              <a:t>ادخل على الرابط الرسمي: </a:t>
            </a:r>
            <a:r>
              <a:rPr lang="en-US" sz="2000" dirty="0">
                <a:solidFill>
                  <a:srgbClr val="002060"/>
                </a:solidFill>
                <a:hlinkClick r:id="rId2">
                  <a:extLst>
                    <a:ext uri="{A12FA001-AC4F-418D-AE19-62706E023703}">
                      <ahyp:hlinkClr xmlns:ahyp="http://schemas.microsoft.com/office/drawing/2018/hyperlinkcolor" val="tx"/>
                    </a:ext>
                  </a:extLst>
                </a:hlinkClick>
              </a:rPr>
              <a:t>https://dev.mysql.com/downloads/installer/</a:t>
            </a:r>
            <a:endParaRPr lang="ar-JO" sz="2000" dirty="0">
              <a:solidFill>
                <a:srgbClr val="002060"/>
              </a:solidFill>
            </a:endParaRPr>
          </a:p>
          <a:p>
            <a:pPr algn="r" rtl="1">
              <a:buFont typeface="+mj-lt"/>
              <a:buAutoNum type="arabicPeriod"/>
            </a:pPr>
            <a:r>
              <a:rPr lang="ar-JO" sz="2400" dirty="0">
                <a:solidFill>
                  <a:srgbClr val="002060"/>
                </a:solidFill>
              </a:rPr>
              <a:t>اختر </a:t>
            </a:r>
            <a:r>
              <a:rPr lang="en-US" sz="2400" b="1" dirty="0">
                <a:solidFill>
                  <a:srgbClr val="002060"/>
                </a:solidFill>
              </a:rPr>
              <a:t>MySQL Installer for Windows</a:t>
            </a:r>
            <a:r>
              <a:rPr lang="en-US" sz="2400" dirty="0">
                <a:solidFill>
                  <a:srgbClr val="002060"/>
                </a:solidFill>
              </a:rPr>
              <a:t>.</a:t>
            </a:r>
          </a:p>
          <a:p>
            <a:pPr marL="742950" lvl="1" indent="-285750" algn="r" rtl="1">
              <a:buFont typeface="+mj-lt"/>
              <a:buAutoNum type="arabicPeriod"/>
            </a:pPr>
            <a:r>
              <a:rPr lang="ar-JO" sz="2400" dirty="0">
                <a:solidFill>
                  <a:srgbClr val="002060"/>
                </a:solidFill>
              </a:rPr>
              <a:t>يوجد إصداران:</a:t>
            </a:r>
          </a:p>
          <a:p>
            <a:pPr marL="1143000" lvl="2" indent="-228600" algn="r" rtl="1">
              <a:buFont typeface="+mj-lt"/>
              <a:buAutoNum type="arabicPeriod"/>
            </a:pPr>
            <a:r>
              <a:rPr lang="en-US" sz="2400" b="1" dirty="0">
                <a:solidFill>
                  <a:srgbClr val="002060"/>
                </a:solidFill>
              </a:rPr>
              <a:t>Web Installer</a:t>
            </a:r>
            <a:r>
              <a:rPr lang="en-US" sz="2400" dirty="0">
                <a:solidFill>
                  <a:srgbClr val="002060"/>
                </a:solidFill>
              </a:rPr>
              <a:t> (</a:t>
            </a:r>
            <a:r>
              <a:rPr lang="ar-JO" sz="2400" dirty="0">
                <a:solidFill>
                  <a:srgbClr val="002060"/>
                </a:solidFill>
              </a:rPr>
              <a:t>حجمه صغير 2</a:t>
            </a:r>
            <a:r>
              <a:rPr lang="en-US" sz="2400" dirty="0">
                <a:solidFill>
                  <a:srgbClr val="002060"/>
                </a:solidFill>
              </a:rPr>
              <a:t>MB </a:t>
            </a:r>
            <a:r>
              <a:rPr lang="ar-JO" sz="2400" dirty="0">
                <a:solidFill>
                  <a:srgbClr val="002060"/>
                </a:solidFill>
              </a:rPr>
              <a:t>ويحتاج إنترنت وقت التثبيت).</a:t>
            </a:r>
          </a:p>
          <a:p>
            <a:pPr marL="1143000" lvl="2" indent="-228600" algn="r" rtl="1">
              <a:buFont typeface="+mj-lt"/>
              <a:buAutoNum type="arabicPeriod"/>
            </a:pPr>
            <a:r>
              <a:rPr lang="en-US" sz="2400" b="1" dirty="0">
                <a:solidFill>
                  <a:srgbClr val="002060"/>
                </a:solidFill>
              </a:rPr>
              <a:t>Full Installer</a:t>
            </a:r>
            <a:r>
              <a:rPr lang="en-US" sz="2400" dirty="0">
                <a:solidFill>
                  <a:srgbClr val="002060"/>
                </a:solidFill>
              </a:rPr>
              <a:t> (</a:t>
            </a:r>
            <a:r>
              <a:rPr lang="ar-JO" sz="2400" dirty="0">
                <a:solidFill>
                  <a:srgbClr val="002060"/>
                </a:solidFill>
              </a:rPr>
              <a:t>حجمه كبير ~400</a:t>
            </a:r>
            <a:r>
              <a:rPr lang="en-US" sz="2400" dirty="0">
                <a:solidFill>
                  <a:srgbClr val="002060"/>
                </a:solidFill>
              </a:rPr>
              <a:t>MB </a:t>
            </a:r>
            <a:r>
              <a:rPr lang="ar-JO" sz="2400" dirty="0">
                <a:solidFill>
                  <a:srgbClr val="002060"/>
                </a:solidFill>
              </a:rPr>
              <a:t>يحتوي كل شيء).</a:t>
            </a:r>
          </a:p>
          <a:p>
            <a:pPr marL="742950" lvl="1" indent="-285750" algn="r" rtl="1">
              <a:buFont typeface="+mj-lt"/>
              <a:buAutoNum type="arabicPeriod"/>
            </a:pPr>
            <a:r>
              <a:rPr lang="ar-JO" sz="2400" dirty="0">
                <a:solidFill>
                  <a:srgbClr val="002060"/>
                </a:solidFill>
              </a:rPr>
              <a:t>أنصحك بـ </a:t>
            </a:r>
            <a:r>
              <a:rPr lang="en-US" sz="2400" b="1" dirty="0">
                <a:solidFill>
                  <a:srgbClr val="002060"/>
                </a:solidFill>
              </a:rPr>
              <a:t>Full Installer</a:t>
            </a:r>
            <a:r>
              <a:rPr lang="en-US" sz="2400" dirty="0">
                <a:solidFill>
                  <a:srgbClr val="002060"/>
                </a:solidFill>
              </a:rPr>
              <a:t>.</a:t>
            </a:r>
          </a:p>
          <a:p>
            <a:pPr algn="r" rtl="1">
              <a:buFont typeface="+mj-lt"/>
              <a:buAutoNum type="arabicPeriod"/>
            </a:pPr>
            <a:r>
              <a:rPr lang="ar-JO" sz="2400" dirty="0">
                <a:solidFill>
                  <a:srgbClr val="002060"/>
                </a:solidFill>
              </a:rPr>
              <a:t>اضغط على </a:t>
            </a:r>
            <a:r>
              <a:rPr lang="en-US" sz="2400" b="1" dirty="0">
                <a:solidFill>
                  <a:srgbClr val="002060"/>
                </a:solidFill>
              </a:rPr>
              <a:t>Download</a:t>
            </a:r>
            <a:r>
              <a:rPr lang="en-US" sz="2400" dirty="0">
                <a:solidFill>
                  <a:srgbClr val="002060"/>
                </a:solidFill>
              </a:rPr>
              <a:t> </a:t>
            </a:r>
            <a:r>
              <a:rPr lang="ar-JO" sz="2400" dirty="0">
                <a:solidFill>
                  <a:srgbClr val="002060"/>
                </a:solidFill>
              </a:rPr>
              <a:t>ثم على الرابط الصغير:</a:t>
            </a:r>
            <a:br>
              <a:rPr lang="ar-JO" sz="2400" dirty="0">
                <a:solidFill>
                  <a:srgbClr val="002060"/>
                </a:solidFill>
              </a:rPr>
            </a:br>
            <a:r>
              <a:rPr lang="ar-JO" sz="2400" i="1" dirty="0">
                <a:solidFill>
                  <a:srgbClr val="002060"/>
                </a:solidFill>
              </a:rPr>
              <a:t>"</a:t>
            </a:r>
            <a:r>
              <a:rPr lang="en-US" sz="2400" i="1" dirty="0">
                <a:solidFill>
                  <a:srgbClr val="002060"/>
                </a:solidFill>
              </a:rPr>
              <a:t>No thanks, just start my download"</a:t>
            </a:r>
            <a:r>
              <a:rPr lang="en-US" sz="2400" dirty="0">
                <a:solidFill>
                  <a:srgbClr val="002060"/>
                </a:solidFill>
              </a:rPr>
              <a:t>.</a:t>
            </a:r>
          </a:p>
        </p:txBody>
      </p:sp>
      <p:pic>
        <p:nvPicPr>
          <p:cNvPr id="4" name="Picture 3">
            <a:extLst>
              <a:ext uri="{FF2B5EF4-FFF2-40B4-BE49-F238E27FC236}">
                <a16:creationId xmlns:a16="http://schemas.microsoft.com/office/drawing/2014/main" id="{BC3A03D5-AC80-428D-8C79-64B7D8ADD45E}"/>
              </a:ext>
            </a:extLst>
          </p:cNvPr>
          <p:cNvPicPr>
            <a:picLocks noChangeAspect="1"/>
          </p:cNvPicPr>
          <p:nvPr/>
        </p:nvPicPr>
        <p:blipFill>
          <a:blip r:embed="rId3">
            <a:alphaModFix amt="6000"/>
          </a:blip>
          <a:stretch>
            <a:fillRect/>
          </a:stretch>
        </p:blipFill>
        <p:spPr>
          <a:xfrm>
            <a:off x="1465896" y="0"/>
            <a:ext cx="6995518" cy="6458689"/>
          </a:xfrm>
          <a:prstGeom prst="rect">
            <a:avLst/>
          </a:prstGeom>
          <a:noFill/>
          <a:ln>
            <a:noFill/>
          </a:ln>
        </p:spPr>
      </p:pic>
      <p:sp>
        <p:nvSpPr>
          <p:cNvPr id="5" name="Half Frame 4">
            <a:extLst>
              <a:ext uri="{FF2B5EF4-FFF2-40B4-BE49-F238E27FC236}">
                <a16:creationId xmlns:a16="http://schemas.microsoft.com/office/drawing/2014/main" id="{31D2EA38-DB5B-40FA-82B9-AA57CD68CA20}"/>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6" name="Half Frame 5">
            <a:extLst>
              <a:ext uri="{FF2B5EF4-FFF2-40B4-BE49-F238E27FC236}">
                <a16:creationId xmlns:a16="http://schemas.microsoft.com/office/drawing/2014/main" id="{2CC92FD3-1C19-445C-846B-4B935ED1449A}"/>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346937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93C215-1396-43E0-824A-6700074C1C41}"/>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2" name="Rectangle 1">
            <a:extLst>
              <a:ext uri="{FF2B5EF4-FFF2-40B4-BE49-F238E27FC236}">
                <a16:creationId xmlns:a16="http://schemas.microsoft.com/office/drawing/2014/main" id="{B55544CF-8ECD-4B21-BA3D-DF4B615E6290}"/>
              </a:ext>
            </a:extLst>
          </p:cNvPr>
          <p:cNvSpPr/>
          <p:nvPr/>
        </p:nvSpPr>
        <p:spPr>
          <a:xfrm>
            <a:off x="1085785" y="628345"/>
            <a:ext cx="7621830" cy="707886"/>
          </a:xfrm>
          <a:prstGeom prst="rect">
            <a:avLst/>
          </a:prstGeom>
          <a:noFill/>
        </p:spPr>
        <p:txBody>
          <a:bodyPr wrap="square" lIns="91440" tIns="45720" rIns="91440" bIns="45720">
            <a:spAutoFit/>
          </a:bodyPr>
          <a:lstStyle/>
          <a:p>
            <a:pPr algn="ct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Windows</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على </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خطوات تثبيت </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3" name="Rectangle 1">
            <a:extLst>
              <a:ext uri="{FF2B5EF4-FFF2-40B4-BE49-F238E27FC236}">
                <a16:creationId xmlns:a16="http://schemas.microsoft.com/office/drawing/2014/main" id="{992A6364-90D5-46DE-9922-8B26B840DB5E}"/>
              </a:ext>
            </a:extLst>
          </p:cNvPr>
          <p:cNvSpPr>
            <a:spLocks noChangeArrowheads="1"/>
          </p:cNvSpPr>
          <p:nvPr/>
        </p:nvSpPr>
        <p:spPr bwMode="auto">
          <a:xfrm>
            <a:off x="977402" y="1811467"/>
            <a:ext cx="748401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r" defTabSz="914400" rtl="1"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ar-SA" altLang="en-US" sz="28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2: تشغيل المثبّت</a:t>
            </a:r>
            <a:r>
              <a:rPr kumimoji="0" lang="ar-JO" altLang="en-US" sz="28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endParaRPr kumimoji="0" lang="en-US" altLang="en-US" sz="28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AutoNum type="arabicPeriod"/>
            </a:pPr>
            <a:r>
              <a:rPr kumimoji="0" lang="ar-JO"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ar-SA"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بعد تحميل ملف</a:t>
            </a:r>
            <a:r>
              <a:rPr kumimoji="0" lang="en-US"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800" b="0" i="0" u="none" strike="noStrike" cap="none" normalizeH="0" baseline="0" dirty="0">
                <a:ln>
                  <a:noFill/>
                </a:ln>
                <a:solidFill>
                  <a:srgbClr val="002060"/>
                </a:solidFill>
                <a:effectLst/>
                <a:latin typeface="Arial Unicode MS"/>
              </a:rPr>
              <a:t>.</a:t>
            </a:r>
            <a:r>
              <a:rPr kumimoji="0" lang="en-US" altLang="en-US" sz="2800" b="0" i="0" u="none" strike="noStrike" cap="none" normalizeH="0" baseline="0" dirty="0" err="1">
                <a:ln>
                  <a:noFill/>
                </a:ln>
                <a:solidFill>
                  <a:srgbClr val="002060"/>
                </a:solidFill>
                <a:effectLst/>
                <a:latin typeface="Arial Unicode MS"/>
              </a:rPr>
              <a:t>msi</a:t>
            </a:r>
            <a:r>
              <a:rPr kumimoji="0" lang="en-US" altLang="en-US" sz="2800" b="0" i="0" u="none" strike="noStrike" cap="none" normalizeH="0" baseline="0" dirty="0">
                <a:ln>
                  <a:noFill/>
                </a:ln>
                <a:solidFill>
                  <a:srgbClr val="002060"/>
                </a:solidFill>
                <a:effectLst/>
              </a:rPr>
              <a:t>‎ </a:t>
            </a:r>
            <a:r>
              <a:rPr kumimoji="0" lang="ar-SA" altLang="en-US" sz="2800" b="0" i="0" u="none" strike="noStrike" cap="none" normalizeH="0" baseline="0" dirty="0">
                <a:ln>
                  <a:noFill/>
                </a:ln>
                <a:solidFill>
                  <a:srgbClr val="002060"/>
                </a:solidFill>
                <a:effectLst/>
                <a:cs typeface="Arial" panose="020B0604020202020204" pitchFamily="34" charset="0"/>
              </a:rPr>
              <a:t>اضغط عليه مرتين</a:t>
            </a:r>
            <a:r>
              <a:rPr kumimoji="0" lang="en-US" altLang="en-US" sz="2800" b="0" i="0" u="none" strike="noStrike" cap="none" normalizeH="0" baseline="0" dirty="0">
                <a:ln>
                  <a:noFill/>
                </a:ln>
                <a:solidFill>
                  <a:srgbClr val="002060"/>
                </a:solidFill>
                <a:effectLst/>
              </a:rPr>
              <a:t>.</a:t>
            </a:r>
            <a:endParaRPr kumimoji="0" lang="en-US" altLang="en-US" sz="2800" b="0"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AutoNum type="arabicPeriod"/>
            </a:pPr>
            <a:r>
              <a:rPr kumimoji="0" lang="ar-SA"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إذا ظهرت رسالة من ويندوز، اختر</a:t>
            </a:r>
            <a:r>
              <a:rPr kumimoji="0" lang="en-US"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800" b="1" i="0" u="none" strike="noStrike" cap="none" normalizeH="0" baseline="0" dirty="0">
                <a:ln>
                  <a:noFill/>
                </a:ln>
                <a:solidFill>
                  <a:srgbClr val="002060"/>
                </a:solidFill>
                <a:effectLst/>
                <a:latin typeface="Arial" panose="020B0604020202020204" pitchFamily="34" charset="0"/>
              </a:rPr>
              <a:t>Yes</a:t>
            </a:r>
            <a:r>
              <a:rPr kumimoji="0" lang="en-US" altLang="en-US" sz="2800" b="0" i="0" u="none" strike="noStrike" cap="none" normalizeH="0" baseline="0" dirty="0">
                <a:ln>
                  <a:noFill/>
                </a:ln>
                <a:solidFill>
                  <a:srgbClr val="002060"/>
                </a:solidFill>
                <a:effectLst/>
                <a:latin typeface="Arial" panose="020B0604020202020204" pitchFamily="34" charset="0"/>
              </a:rPr>
              <a:t> </a:t>
            </a:r>
            <a:r>
              <a:rPr kumimoji="0" lang="ar-SA"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للموافقة</a:t>
            </a:r>
            <a:endParaRPr kumimoji="0" lang="ar-JO"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endParaRPr>
          </a:p>
          <a:p>
            <a:pPr lvl="1" algn="r" defTabSz="914400" rtl="1" eaLnBrk="0" fontAlgn="base" hangingPunct="0">
              <a:spcBef>
                <a:spcPct val="0"/>
              </a:spcBef>
              <a:spcAft>
                <a:spcPct val="0"/>
              </a:spcAft>
            </a:pPr>
            <a:endParaRPr kumimoji="0" lang="ar-JO" altLang="en-US" sz="2800" b="0" i="0" u="none" strike="noStrike" cap="none" normalizeH="0" baseline="0" dirty="0">
              <a:ln>
                <a:noFill/>
              </a:ln>
              <a:solidFill>
                <a:srgbClr val="002060"/>
              </a:solidFill>
              <a:effectLst/>
              <a:latin typeface="Arial" panose="020B0604020202020204" pitchFamily="34" charset="0"/>
              <a:cs typeface="Arial" panose="020B0604020202020204" pitchFamily="34" charset="0"/>
            </a:endParaRPr>
          </a:p>
          <a:p>
            <a:pPr marL="457200" indent="-457200" algn="r" rtl="1">
              <a:buFont typeface="Wingdings" panose="05000000000000000000" pitchFamily="2" charset="2"/>
              <a:buChar char="v"/>
            </a:pPr>
            <a:r>
              <a:rPr lang="ar-JO" sz="2800" b="1" dirty="0">
                <a:solidFill>
                  <a:srgbClr val="002060"/>
                </a:solidFill>
              </a:rPr>
              <a:t>الخطوة 3: اختيار نوع التثبيت</a:t>
            </a:r>
          </a:p>
          <a:p>
            <a:pPr lvl="1" algn="r" rtl="1">
              <a:buFont typeface="+mj-lt"/>
              <a:buAutoNum type="arabicPeriod"/>
            </a:pPr>
            <a:r>
              <a:rPr lang="ar-JO" sz="2800" dirty="0">
                <a:solidFill>
                  <a:srgbClr val="002060"/>
                </a:solidFill>
              </a:rPr>
              <a:t>في نافذة </a:t>
            </a:r>
            <a:r>
              <a:rPr lang="en-US" sz="2800" dirty="0">
                <a:solidFill>
                  <a:srgbClr val="002060"/>
                </a:solidFill>
              </a:rPr>
              <a:t>MySQL Installer </a:t>
            </a:r>
            <a:r>
              <a:rPr lang="ar-JO" sz="2800" dirty="0">
                <a:solidFill>
                  <a:srgbClr val="002060"/>
                </a:solidFill>
              </a:rPr>
              <a:t>اختر:</a:t>
            </a:r>
          </a:p>
          <a:p>
            <a:pPr marL="1200150" lvl="2" indent="-285750" algn="r" rtl="1">
              <a:buFont typeface="+mj-lt"/>
              <a:buAutoNum type="arabicPeriod"/>
            </a:pPr>
            <a:r>
              <a:rPr lang="en-US" sz="2800" b="1" dirty="0">
                <a:solidFill>
                  <a:srgbClr val="002060"/>
                </a:solidFill>
              </a:rPr>
              <a:t>Developer Default</a:t>
            </a:r>
            <a:r>
              <a:rPr lang="en-US" sz="2800" dirty="0">
                <a:solidFill>
                  <a:srgbClr val="002060"/>
                </a:solidFill>
              </a:rPr>
              <a:t> </a:t>
            </a:r>
            <a:r>
              <a:rPr lang="ar-JO" sz="2800" dirty="0">
                <a:solidFill>
                  <a:srgbClr val="002060"/>
                </a:solidFill>
              </a:rPr>
              <a:t>لتثبيت الأدوات الكاملة: (</a:t>
            </a:r>
            <a:r>
              <a:rPr lang="en-US" sz="2800" dirty="0">
                <a:solidFill>
                  <a:srgbClr val="002060"/>
                </a:solidFill>
              </a:rPr>
              <a:t>Server</a:t>
            </a:r>
            <a:r>
              <a:rPr lang="ar-JO" sz="2800" dirty="0">
                <a:solidFill>
                  <a:srgbClr val="002060"/>
                </a:solidFill>
              </a:rPr>
              <a:t> </a:t>
            </a:r>
            <a:r>
              <a:rPr lang="en-US" sz="2800" dirty="0">
                <a:solidFill>
                  <a:srgbClr val="002060"/>
                </a:solidFill>
              </a:rPr>
              <a:t>Workbench + </a:t>
            </a:r>
            <a:r>
              <a:rPr lang="ar-JO" sz="2800" dirty="0">
                <a:solidFill>
                  <a:srgbClr val="002060"/>
                </a:solidFill>
              </a:rPr>
              <a:t>أدوات التطوير).</a:t>
            </a:r>
          </a:p>
          <a:p>
            <a:pPr lvl="2" algn="r" rtl="1">
              <a:buFont typeface="+mj-lt"/>
              <a:buAutoNum type="arabicPeriod"/>
            </a:pPr>
            <a:r>
              <a:rPr lang="ar-JO" sz="2800" dirty="0">
                <a:solidFill>
                  <a:srgbClr val="002060"/>
                </a:solidFill>
              </a:rPr>
              <a:t> اضغط </a:t>
            </a:r>
            <a:r>
              <a:rPr lang="en-US" sz="2800" b="1" dirty="0">
                <a:solidFill>
                  <a:srgbClr val="002060"/>
                </a:solidFill>
              </a:rPr>
              <a:t>Next</a:t>
            </a:r>
            <a:r>
              <a:rPr lang="en-US" sz="2800" dirty="0">
                <a:solidFill>
                  <a:srgbClr val="002060"/>
                </a:solidFill>
              </a:rPr>
              <a:t>.</a:t>
            </a:r>
            <a:endParaRPr kumimoji="0" lang="en-US" altLang="en-US" sz="2800" b="0" i="0" u="none" strike="noStrike" cap="none" normalizeH="0" baseline="0" dirty="0">
              <a:ln>
                <a:noFill/>
              </a:ln>
              <a:solidFill>
                <a:srgbClr val="002060"/>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2060"/>
              </a:solidFill>
              <a:effectLst/>
              <a:latin typeface="Arial" panose="020B0604020202020204" pitchFamily="34" charset="0"/>
            </a:endParaRPr>
          </a:p>
        </p:txBody>
      </p:sp>
      <p:sp>
        <p:nvSpPr>
          <p:cNvPr id="5" name="Half Frame 4">
            <a:extLst>
              <a:ext uri="{FF2B5EF4-FFF2-40B4-BE49-F238E27FC236}">
                <a16:creationId xmlns:a16="http://schemas.microsoft.com/office/drawing/2014/main" id="{DA9BE71D-CEFB-4956-9FBE-BAE774CFB72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6" name="Half Frame 5">
            <a:extLst>
              <a:ext uri="{FF2B5EF4-FFF2-40B4-BE49-F238E27FC236}">
                <a16:creationId xmlns:a16="http://schemas.microsoft.com/office/drawing/2014/main" id="{B79C475C-AB43-451E-A2E7-05AA7E67A678}"/>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1171492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57986C-880C-4A77-98F8-78C95D88F428}"/>
              </a:ext>
            </a:extLst>
          </p:cNvPr>
          <p:cNvPicPr>
            <a:picLocks noChangeAspect="1"/>
          </p:cNvPicPr>
          <p:nvPr/>
        </p:nvPicPr>
        <p:blipFill>
          <a:blip r:embed="rId2">
            <a:alphaModFix amt="6000"/>
          </a:blip>
          <a:stretch>
            <a:fillRect/>
          </a:stretch>
        </p:blipFill>
        <p:spPr>
          <a:xfrm>
            <a:off x="1465896" y="14068"/>
            <a:ext cx="6995518" cy="6458689"/>
          </a:xfrm>
          <a:prstGeom prst="rect">
            <a:avLst/>
          </a:prstGeom>
          <a:noFill/>
          <a:ln>
            <a:noFill/>
          </a:ln>
        </p:spPr>
      </p:pic>
      <p:sp>
        <p:nvSpPr>
          <p:cNvPr id="2" name="Rectangle 1">
            <a:extLst>
              <a:ext uri="{FF2B5EF4-FFF2-40B4-BE49-F238E27FC236}">
                <a16:creationId xmlns:a16="http://schemas.microsoft.com/office/drawing/2014/main" id="{B55544CF-8ECD-4B21-BA3D-DF4B615E6290}"/>
              </a:ext>
            </a:extLst>
          </p:cNvPr>
          <p:cNvSpPr/>
          <p:nvPr/>
        </p:nvSpPr>
        <p:spPr>
          <a:xfrm>
            <a:off x="1398617" y="609594"/>
            <a:ext cx="7621830" cy="707886"/>
          </a:xfrm>
          <a:prstGeom prst="rect">
            <a:avLst/>
          </a:prstGeom>
          <a:noFill/>
        </p:spPr>
        <p:txBody>
          <a:bodyPr wrap="square" lIns="91440" tIns="45720" rIns="91440" bIns="45720">
            <a:spAutoFit/>
          </a:bodyPr>
          <a:lstStyle/>
          <a:p>
            <a:pPr algn="ct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Windows</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على </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خطوات تثبيت </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4" name="Rectangle 1">
            <a:extLst>
              <a:ext uri="{FF2B5EF4-FFF2-40B4-BE49-F238E27FC236}">
                <a16:creationId xmlns:a16="http://schemas.microsoft.com/office/drawing/2014/main" id="{291D284F-07AD-45CA-B268-AF737759736B}"/>
              </a:ext>
            </a:extLst>
          </p:cNvPr>
          <p:cNvSpPr>
            <a:spLocks noChangeArrowheads="1"/>
          </p:cNvSpPr>
          <p:nvPr/>
        </p:nvSpPr>
        <p:spPr bwMode="auto">
          <a:xfrm>
            <a:off x="806975" y="2102565"/>
            <a:ext cx="745075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r" defTabSz="914400" rtl="1" eaLnBrk="0" fontAlgn="base" hangingPunct="0">
              <a:spcBef>
                <a:spcPct val="0"/>
              </a:spcBef>
              <a:spcAft>
                <a:spcPct val="0"/>
              </a:spcAft>
              <a:buFont typeface="Wingdings" panose="05000000000000000000" pitchFamily="2" charset="2"/>
              <a:buChar char="v"/>
            </a:pPr>
            <a:r>
              <a:rPr kumimoji="0" lang="ar-SA"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4: تثبيت الأدوات</a:t>
            </a:r>
            <a:endParaRPr kumimoji="0" lang="en-US" altLang="en-US" sz="24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Char char="•"/>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قد يطلب منك تثبيت برامج إضافية</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مثل</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Visual Studio Tools).</a:t>
            </a:r>
            <a:endParaRPr kumimoji="0" lang="en-US" altLang="en-US" sz="2400" b="0"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Char char="•"/>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اضغط</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Execute</a:t>
            </a:r>
            <a:r>
              <a:rPr kumimoji="0" lang="en-US" altLang="en-US" sz="2400" b="0" i="0" u="none" strike="noStrike" cap="none" normalizeH="0" baseline="0" dirty="0">
                <a:ln>
                  <a:noFill/>
                </a:ln>
                <a:solidFill>
                  <a:srgbClr val="002060"/>
                </a:solidFill>
                <a:effectLst/>
                <a:latin typeface="Arial" panose="020B0604020202020204" pitchFamily="34" charset="0"/>
              </a:rPr>
              <a:t> </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وسيتم تحميلها تلقائياً</a:t>
            </a:r>
            <a:r>
              <a:rPr kumimoji="0" lang="en-US" altLang="en-US" sz="2400" b="0" i="0" u="none" strike="noStrike" cap="none" normalizeH="0" baseline="0" dirty="0">
                <a:ln>
                  <a:noFill/>
                </a:ln>
                <a:solidFill>
                  <a:srgbClr val="002060"/>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Arial" panose="020B0604020202020204" pitchFamily="34" charset="0"/>
            </a:endParaRPr>
          </a:p>
        </p:txBody>
      </p:sp>
      <p:sp>
        <p:nvSpPr>
          <p:cNvPr id="6" name="Rectangle 3">
            <a:extLst>
              <a:ext uri="{FF2B5EF4-FFF2-40B4-BE49-F238E27FC236}">
                <a16:creationId xmlns:a16="http://schemas.microsoft.com/office/drawing/2014/main" id="{29240272-8BD3-47BD-B3E6-D7C995B9301B}"/>
              </a:ext>
            </a:extLst>
          </p:cNvPr>
          <p:cNvSpPr>
            <a:spLocks noChangeArrowheads="1"/>
          </p:cNvSpPr>
          <p:nvPr/>
        </p:nvSpPr>
        <p:spPr bwMode="auto">
          <a:xfrm>
            <a:off x="1689013" y="3672225"/>
            <a:ext cx="656872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ar-SA"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5: إعداد قاعدة البيانات</a:t>
            </a:r>
            <a:endParaRPr kumimoji="0" lang="en-US" altLang="en-US" sz="24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AutoNum type="arabicPeriod"/>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اختر نوع الخادم</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Standalone MySQL Server</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AutoNum type="arabicPeriod" startAt="2"/>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اختر وضع التشغيل</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Development Computer</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AutoNum type="arabicPeriod" startAt="3"/>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اضبط</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Port = 3306</a:t>
            </a:r>
            <a:r>
              <a:rPr kumimoji="0" lang="en-US" altLang="en-US" sz="2400" b="0" i="0" u="none" strike="noStrike" cap="none" normalizeH="0" baseline="0" dirty="0">
                <a:ln>
                  <a:noFill/>
                </a:ln>
                <a:solidFill>
                  <a:srgbClr val="002060"/>
                </a:solidFill>
                <a:effectLst/>
                <a:latin typeface="Arial" panose="020B0604020202020204" pitchFamily="34" charset="0"/>
              </a:rPr>
              <a:t> (</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المفضل تركه كما هو</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AutoNum type="arabicPeriod" startAt="4"/>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اختر</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Strong Password Encryption</a:t>
            </a:r>
            <a:r>
              <a:rPr kumimoji="0" lang="en-US" altLang="en-US" sz="2400" b="0" i="0" u="none" strike="noStrike" cap="none" normalizeH="0" baseline="0" dirty="0">
                <a:ln>
                  <a:noFill/>
                </a:ln>
                <a:solidFill>
                  <a:srgbClr val="002060"/>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Arial" panose="020B0604020202020204" pitchFamily="34" charset="0"/>
            </a:endParaRPr>
          </a:p>
        </p:txBody>
      </p:sp>
      <p:sp>
        <p:nvSpPr>
          <p:cNvPr id="7" name="Half Frame 6">
            <a:extLst>
              <a:ext uri="{FF2B5EF4-FFF2-40B4-BE49-F238E27FC236}">
                <a16:creationId xmlns:a16="http://schemas.microsoft.com/office/drawing/2014/main" id="{2E8A510D-E92C-47F9-911D-C734DFE13128}"/>
              </a:ext>
            </a:extLst>
          </p:cNvPr>
          <p:cNvSpPr/>
          <p:nvPr/>
        </p:nvSpPr>
        <p:spPr>
          <a:xfrm>
            <a:off x="83936" y="153126"/>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6EA7271A-682E-43A1-8591-B79C20614B71}"/>
              </a:ext>
            </a:extLst>
          </p:cNvPr>
          <p:cNvSpPr/>
          <p:nvPr/>
        </p:nvSpPr>
        <p:spPr>
          <a:xfrm rot="10800000">
            <a:off x="8327503" y="296664"/>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3452823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8678F2-87C7-4E54-BE0A-4A6FE31E6060}"/>
              </a:ext>
            </a:extLst>
          </p:cNvPr>
          <p:cNvPicPr>
            <a:picLocks noChangeAspect="1"/>
          </p:cNvPicPr>
          <p:nvPr/>
        </p:nvPicPr>
        <p:blipFill>
          <a:blip r:embed="rId2">
            <a:alphaModFix amt="6000"/>
          </a:blip>
          <a:stretch>
            <a:fillRect/>
          </a:stretch>
        </p:blipFill>
        <p:spPr>
          <a:xfrm>
            <a:off x="1490110" y="-2004163"/>
            <a:ext cx="6995518" cy="6458689"/>
          </a:xfrm>
          <a:prstGeom prst="rect">
            <a:avLst/>
          </a:prstGeom>
          <a:noFill/>
          <a:ln>
            <a:noFill/>
          </a:ln>
        </p:spPr>
      </p:pic>
      <p:sp>
        <p:nvSpPr>
          <p:cNvPr id="2" name="Rectangle 1">
            <a:extLst>
              <a:ext uri="{FF2B5EF4-FFF2-40B4-BE49-F238E27FC236}">
                <a16:creationId xmlns:a16="http://schemas.microsoft.com/office/drawing/2014/main" id="{B55544CF-8ECD-4B21-BA3D-DF4B615E6290}"/>
              </a:ext>
            </a:extLst>
          </p:cNvPr>
          <p:cNvSpPr/>
          <p:nvPr/>
        </p:nvSpPr>
        <p:spPr>
          <a:xfrm>
            <a:off x="1298153" y="439843"/>
            <a:ext cx="7621830" cy="707886"/>
          </a:xfrm>
          <a:prstGeom prst="rect">
            <a:avLst/>
          </a:prstGeom>
          <a:noFill/>
        </p:spPr>
        <p:txBody>
          <a:bodyPr wrap="square" lIns="91440" tIns="45720" rIns="91440" bIns="45720">
            <a:spAutoFit/>
          </a:bodyPr>
          <a:lstStyle/>
          <a:p>
            <a:pPr algn="ct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Windows</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على </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خطوات تثبيت </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3" name="Rectangle 1">
            <a:extLst>
              <a:ext uri="{FF2B5EF4-FFF2-40B4-BE49-F238E27FC236}">
                <a16:creationId xmlns:a16="http://schemas.microsoft.com/office/drawing/2014/main" id="{5C19F910-271F-4331-A94E-0E505D59D0AD}"/>
              </a:ext>
            </a:extLst>
          </p:cNvPr>
          <p:cNvSpPr>
            <a:spLocks noChangeArrowheads="1"/>
          </p:cNvSpPr>
          <p:nvPr/>
        </p:nvSpPr>
        <p:spPr bwMode="auto">
          <a:xfrm>
            <a:off x="702834" y="1618645"/>
            <a:ext cx="795684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ar-SA"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6: إنشاء حسابات</a:t>
            </a:r>
            <a:endParaRPr kumimoji="0" lang="en-US" altLang="en-US" sz="24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AutoNum type="arabicPeriod"/>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أدخل كلمة مرور قوية لحساب</a:t>
            </a:r>
            <a:r>
              <a:rPr kumimoji="0" lang="ar-JO"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lang="ar-JO" altLang="en-US" sz="2400" dirty="0">
                <a:solidFill>
                  <a:srgbClr val="002060"/>
                </a:solidFill>
                <a:latin typeface="Arial" panose="020B0604020202020204" pitchFamily="34" charset="0"/>
                <a:cs typeface="Arial" panose="020B0604020202020204" pitchFamily="34" charset="0"/>
              </a:rPr>
              <a:t>(</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lang="en-US" altLang="en-US" sz="2400" dirty="0">
                <a:solidFill>
                  <a:srgbClr val="002060"/>
                </a:solidFill>
                <a:latin typeface="Arial" panose="020B0604020202020204" pitchFamily="34" charset="0"/>
              </a:rPr>
              <a:t>(</a:t>
            </a:r>
            <a:r>
              <a:rPr kumimoji="0" lang="en-US" altLang="en-US" sz="2400" b="1" i="0" u="none" strike="noStrike" cap="none" normalizeH="0" baseline="0" dirty="0">
                <a:ln>
                  <a:noFill/>
                </a:ln>
                <a:solidFill>
                  <a:srgbClr val="002060"/>
                </a:solidFill>
                <a:effectLst/>
                <a:latin typeface="Arial" panose="020B0604020202020204" pitchFamily="34" charset="0"/>
              </a:rPr>
              <a:t>root</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المسؤول</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AutoNum type="arabicPeriod" startAt="2"/>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يمكنك إضافة مستخدمين إضافيين إن أردت</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a:t>
            </a:r>
            <a:endParaRPr kumimoji="0" lang="en-US" altLang="en-US" sz="2400" b="0" i="0" u="none" strike="noStrike" cap="none" normalizeH="0" baseline="0" dirty="0">
              <a:ln>
                <a:noFill/>
              </a:ln>
              <a:solidFill>
                <a:srgbClr val="002060"/>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Arial" panose="020B0604020202020204" pitchFamily="34" charset="0"/>
            </a:endParaRPr>
          </a:p>
        </p:txBody>
      </p:sp>
      <p:sp>
        <p:nvSpPr>
          <p:cNvPr id="7" name="Rectangle 3">
            <a:extLst>
              <a:ext uri="{FF2B5EF4-FFF2-40B4-BE49-F238E27FC236}">
                <a16:creationId xmlns:a16="http://schemas.microsoft.com/office/drawing/2014/main" id="{C19D951B-888E-40A8-8079-A8CBE5585116}"/>
              </a:ext>
            </a:extLst>
          </p:cNvPr>
          <p:cNvSpPr>
            <a:spLocks noChangeArrowheads="1"/>
          </p:cNvSpPr>
          <p:nvPr/>
        </p:nvSpPr>
        <p:spPr bwMode="auto">
          <a:xfrm>
            <a:off x="1190286" y="2884866"/>
            <a:ext cx="745587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rgbClr val="002060"/>
                </a:solidFill>
                <a:effectLst/>
                <a:latin typeface="Arial" panose="020B0604020202020204" pitchFamily="34" charset="0"/>
              </a:rPr>
              <a:t> </a:t>
            </a:r>
            <a:r>
              <a:rPr kumimoji="0" lang="ar-SA"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7: إنهاء التثبيت</a:t>
            </a:r>
            <a:endParaRPr kumimoji="0" lang="en-US" altLang="en-US" sz="24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AutoNum type="arabicPeriod"/>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اضغط</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Execute</a:t>
            </a:r>
            <a:r>
              <a:rPr kumimoji="0" lang="en-US" altLang="en-US" sz="2400" b="0" i="0" u="none" strike="noStrike" cap="none" normalizeH="0" baseline="0" dirty="0">
                <a:ln>
                  <a:noFill/>
                </a:ln>
                <a:solidFill>
                  <a:srgbClr val="002060"/>
                </a:solidFill>
                <a:effectLst/>
                <a:latin typeface="Arial" panose="020B0604020202020204" pitchFamily="34" charset="0"/>
              </a:rPr>
              <a:t> </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لتطبيق الإعدادات</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AutoNum type="arabicPeriod" startAt="2"/>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بعد انتهاء الإعدادات اضغط</a:t>
            </a:r>
            <a:r>
              <a:rPr kumimoji="0" lang="ar-JO"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lang="en-US" altLang="en-US" sz="2400" dirty="0">
                <a:solidFill>
                  <a:srgbClr val="002060"/>
                </a:solidFill>
                <a:latin typeface="Arial" panose="020B0604020202020204" pitchFamily="34" charset="0"/>
              </a:rPr>
              <a:t>.</a:t>
            </a:r>
            <a:r>
              <a:rPr kumimoji="0" lang="en-US" altLang="en-US" sz="2400" b="1" i="0" u="none" strike="noStrike" cap="none" normalizeH="0" baseline="0" dirty="0">
                <a:ln>
                  <a:noFill/>
                </a:ln>
                <a:solidFill>
                  <a:srgbClr val="002060"/>
                </a:solidFill>
                <a:effectLst/>
                <a:latin typeface="Arial" panose="020B0604020202020204" pitchFamily="34" charset="0"/>
              </a:rPr>
              <a:t>Finish</a:t>
            </a:r>
            <a:r>
              <a:rPr kumimoji="0" lang="ar-JO" altLang="en-US" sz="2400" b="1" i="0" u="none" strike="noStrike" cap="none" normalizeH="0" baseline="0" dirty="0">
                <a:ln>
                  <a:noFill/>
                </a:ln>
                <a:solidFill>
                  <a:srgbClr val="002060"/>
                </a:solidFill>
                <a:effectLst/>
                <a:latin typeface="Arial" panose="020B0604020202020204" pitchFamily="34" charset="0"/>
              </a:rPr>
              <a:t>  </a:t>
            </a:r>
            <a:endParaRPr kumimoji="0" lang="en-US" altLang="en-US" sz="2400" b="0" i="0" u="none" strike="noStrike" cap="none" normalizeH="0" baseline="0" dirty="0">
              <a:ln>
                <a:noFill/>
              </a:ln>
              <a:solidFill>
                <a:srgbClr val="002060"/>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Arial" panose="020B0604020202020204" pitchFamily="34" charset="0"/>
            </a:endParaRPr>
          </a:p>
        </p:txBody>
      </p:sp>
      <p:sp>
        <p:nvSpPr>
          <p:cNvPr id="10" name="Rectangle 6">
            <a:extLst>
              <a:ext uri="{FF2B5EF4-FFF2-40B4-BE49-F238E27FC236}">
                <a16:creationId xmlns:a16="http://schemas.microsoft.com/office/drawing/2014/main" id="{D92507AF-E16D-4549-B9A5-7075AEFE6B3B}"/>
              </a:ext>
            </a:extLst>
          </p:cNvPr>
          <p:cNvSpPr>
            <a:spLocks noChangeArrowheads="1"/>
          </p:cNvSpPr>
          <p:nvPr/>
        </p:nvSpPr>
        <p:spPr bwMode="auto">
          <a:xfrm>
            <a:off x="241168" y="4237282"/>
            <a:ext cx="84049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ar-SA"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الخطوة 8: فتح</a:t>
            </a:r>
            <a:r>
              <a:rPr kumimoji="0" lang="en-US" altLang="en-US" sz="2400" b="1" i="0" u="none" strike="noStrike" cap="none" normalizeH="0" baseline="0" dirty="0">
                <a:ln>
                  <a:noFill/>
                </a:ln>
                <a:solidFill>
                  <a:srgbClr val="002060"/>
                </a:solidFill>
                <a:effectLst/>
                <a:latin typeface="Arial" panose="020B0604020202020204" pitchFamily="34" charset="0"/>
                <a:cs typeface="Arial" panose="020B0604020202020204" pitchFamily="34" charset="0"/>
              </a:rPr>
              <a:t> MySQL</a:t>
            </a:r>
            <a:endParaRPr kumimoji="0" lang="en-US" altLang="en-US" sz="2400" b="1" i="0" u="none" strike="noStrike" cap="none" normalizeH="0" baseline="0" dirty="0">
              <a:ln>
                <a:noFill/>
              </a:ln>
              <a:solidFill>
                <a:srgbClr val="002060"/>
              </a:solidFill>
              <a:effectLst/>
              <a:latin typeface="Arial" panose="020B0604020202020204" pitchFamily="34" charset="0"/>
            </a:endParaRPr>
          </a:p>
          <a:p>
            <a:pPr lvl="1" algn="r" defTabSz="914400" rtl="1" eaLnBrk="0" fontAlgn="base" hangingPunct="0">
              <a:spcBef>
                <a:spcPct val="0"/>
              </a:spcBef>
              <a:spcAft>
                <a:spcPct val="0"/>
              </a:spcAft>
              <a:buFontTx/>
              <a:buChar char="•"/>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يمكنك فتح</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MySQL Workbench</a:t>
            </a:r>
            <a:r>
              <a:rPr kumimoji="0" lang="en-US" altLang="en-US" sz="2400" b="0" i="0" u="none" strike="noStrike" cap="none" normalizeH="0" baseline="0" dirty="0">
                <a:ln>
                  <a:noFill/>
                </a:ln>
                <a:solidFill>
                  <a:srgbClr val="002060"/>
                </a:solidFill>
                <a:effectLst/>
                <a:latin typeface="Arial" panose="020B0604020202020204" pitchFamily="34" charset="0"/>
              </a:rPr>
              <a:t> </a:t>
            </a: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لإدارة قواعد البيانات بواجهة رسومية</a:t>
            </a:r>
            <a:r>
              <a:rPr kumimoji="0" lang="en-US" altLang="en-US" sz="2400" b="0" i="0" u="none" strike="noStrike" cap="none" normalizeH="0" baseline="0" dirty="0">
                <a:ln>
                  <a:noFill/>
                </a:ln>
                <a:solidFill>
                  <a:srgbClr val="002060"/>
                </a:solidFill>
                <a:effectLst/>
                <a:latin typeface="Arial" panose="020B0604020202020204" pitchFamily="34" charset="0"/>
              </a:rPr>
              <a:t>.</a:t>
            </a:r>
          </a:p>
          <a:p>
            <a:pPr lvl="1" algn="r" defTabSz="914400" rtl="1" eaLnBrk="0" fontAlgn="base" hangingPunct="0">
              <a:spcBef>
                <a:spcPct val="0"/>
              </a:spcBef>
              <a:spcAft>
                <a:spcPct val="0"/>
              </a:spcAft>
              <a:buFontTx/>
              <a:buChar char="•"/>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أو عبر</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 </a:t>
            </a:r>
            <a:r>
              <a:rPr kumimoji="0" lang="en-US" altLang="en-US" sz="2400" b="1" i="0" u="none" strike="noStrike" cap="none" normalizeH="0" baseline="0" dirty="0">
                <a:ln>
                  <a:noFill/>
                </a:ln>
                <a:solidFill>
                  <a:srgbClr val="002060"/>
                </a:solidFill>
                <a:effectLst/>
                <a:latin typeface="Arial" panose="020B0604020202020204" pitchFamily="34" charset="0"/>
              </a:rPr>
              <a:t>Command Prompt</a:t>
            </a:r>
            <a:r>
              <a:rPr kumimoji="0" lang="en-US" altLang="en-US" sz="2400" b="0" i="0" u="none" strike="noStrike" cap="none" normalizeH="0" baseline="0" dirty="0">
                <a:ln>
                  <a:noFill/>
                </a:ln>
                <a:solidFill>
                  <a:srgbClr val="002060"/>
                </a:solidFill>
                <a:effectLst/>
                <a:latin typeface="Arial" panose="020B0604020202020204" pitchFamily="34" charset="0"/>
              </a:rPr>
              <a:t>:</a:t>
            </a:r>
            <a:endParaRPr kumimoji="0" lang="en-US" altLang="en-US" sz="2400" b="0" i="0" u="none" strike="noStrike" cap="none" normalizeH="0" baseline="0" dirty="0">
              <a:ln>
                <a:noFill/>
              </a:ln>
              <a:solidFill>
                <a:srgbClr val="002060"/>
              </a:solidFill>
              <a:effectLst/>
              <a:latin typeface="Arial Unicode MS"/>
            </a:endParaRPr>
          </a:p>
          <a:p>
            <a:pPr lvl="1" algn="r" defTabSz="914400" rtl="1" eaLnBrk="0" fontAlgn="base" hangingPunct="0">
              <a:spcBef>
                <a:spcPct val="0"/>
              </a:spcBef>
              <a:spcAft>
                <a:spcPct val="0"/>
              </a:spcAft>
            </a:pPr>
            <a:r>
              <a:rPr kumimoji="0" lang="en-US" altLang="en-US" sz="2400" b="1" i="0" u="sng" cap="none" spc="300" normalizeH="0" baseline="0" dirty="0" err="1">
                <a:ln>
                  <a:noFill/>
                </a:ln>
                <a:solidFill>
                  <a:srgbClr val="002060"/>
                </a:solidFill>
                <a:effectLst/>
                <a:latin typeface="Arial Unicode MS"/>
              </a:rPr>
              <a:t>mysql</a:t>
            </a:r>
            <a:r>
              <a:rPr kumimoji="0" lang="en-US" altLang="en-US" sz="2400" b="1" i="0" u="sng" cap="none" spc="300" normalizeH="0" baseline="0" dirty="0">
                <a:ln>
                  <a:noFill/>
                </a:ln>
                <a:solidFill>
                  <a:srgbClr val="002060"/>
                </a:solidFill>
                <a:effectLst/>
                <a:latin typeface="Arial Unicode MS"/>
              </a:rPr>
              <a:t> -u root -p </a:t>
            </a:r>
            <a:endParaRPr kumimoji="0" lang="en-US" altLang="en-US" sz="2400" b="1" i="0" u="sng" cap="none" spc="300" normalizeH="0" baseline="0" dirty="0">
              <a:ln>
                <a:noFill/>
              </a:ln>
              <a:solidFill>
                <a:srgbClr val="002060"/>
              </a:solidFill>
              <a:effectLst/>
            </a:endParaRPr>
          </a:p>
          <a:p>
            <a:pPr lvl="1" algn="r" defTabSz="914400" rtl="1" eaLnBrk="0" fontAlgn="base" hangingPunct="0">
              <a:spcBef>
                <a:spcPct val="0"/>
              </a:spcBef>
              <a:spcAft>
                <a:spcPct val="0"/>
              </a:spcAft>
            </a:pPr>
            <a:r>
              <a:rPr kumimoji="0" lang="ar-SA"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ثم أدخل كلمة المرور التي أنشأتها</a:t>
            </a:r>
            <a:r>
              <a:rPr kumimoji="0" lang="en-US" altLang="en-US" sz="2400" b="0" i="0" u="none" strike="noStrike" cap="none" normalizeH="0" baseline="0" dirty="0">
                <a:ln>
                  <a:noFill/>
                </a:ln>
                <a:solidFill>
                  <a:srgbClr val="002060"/>
                </a:solidFill>
                <a:effectLst/>
                <a:latin typeface="Arial" panose="020B0604020202020204" pitchFamily="34" charset="0"/>
                <a:cs typeface="Arial" panose="020B0604020202020204" pitchFamily="34" charset="0"/>
              </a:rPr>
              <a:t>.</a:t>
            </a:r>
            <a:endParaRPr kumimoji="0" lang="en-US" altLang="en-US" sz="2400" b="0" i="0" u="none" strike="noStrike" cap="none" normalizeH="0" baseline="0" dirty="0">
              <a:ln>
                <a:noFill/>
              </a:ln>
              <a:solidFill>
                <a:srgbClr val="002060"/>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Arial" panose="020B0604020202020204" pitchFamily="34" charset="0"/>
            </a:endParaRPr>
          </a:p>
        </p:txBody>
      </p:sp>
      <p:sp>
        <p:nvSpPr>
          <p:cNvPr id="8" name="Half Frame 7">
            <a:extLst>
              <a:ext uri="{FF2B5EF4-FFF2-40B4-BE49-F238E27FC236}">
                <a16:creationId xmlns:a16="http://schemas.microsoft.com/office/drawing/2014/main" id="{7DECEEB5-216D-4FCF-8984-B4C1BC6DD275}"/>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9" name="Half Frame 8">
            <a:extLst>
              <a:ext uri="{FF2B5EF4-FFF2-40B4-BE49-F238E27FC236}">
                <a16:creationId xmlns:a16="http://schemas.microsoft.com/office/drawing/2014/main" id="{16100828-63C9-4843-A34F-C81991D45F33}"/>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440204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en-US" sz="3200" dirty="0">
                <a:solidFill>
                  <a:srgbClr val="002060"/>
                </a:solidFill>
              </a:rPr>
              <a:t>Start -&gt; MySQL Workbench 8.0 CE</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3721604" y="348074"/>
            <a:ext cx="4935967"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كيف افتح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Picture 5">
            <a:extLst>
              <a:ext uri="{FF2B5EF4-FFF2-40B4-BE49-F238E27FC236}">
                <a16:creationId xmlns:a16="http://schemas.microsoft.com/office/drawing/2014/main" id="{7A9B106E-E1AF-4423-9F05-6133B569B53C}"/>
              </a:ext>
            </a:extLst>
          </p:cNvPr>
          <p:cNvPicPr>
            <a:picLocks noChangeAspect="1"/>
          </p:cNvPicPr>
          <p:nvPr/>
        </p:nvPicPr>
        <p:blipFill>
          <a:blip r:embed="rId3"/>
          <a:stretch>
            <a:fillRect/>
          </a:stretch>
        </p:blipFill>
        <p:spPr>
          <a:xfrm>
            <a:off x="1135828" y="1758462"/>
            <a:ext cx="6995518" cy="5057148"/>
          </a:xfrm>
          <a:prstGeom prst="rect">
            <a:avLst/>
          </a:prstGeom>
        </p:spPr>
      </p:pic>
    </p:spTree>
    <p:extLst>
      <p:ext uri="{BB962C8B-B14F-4D97-AF65-F5344CB8AC3E}">
        <p14:creationId xmlns:p14="http://schemas.microsoft.com/office/powerpoint/2010/main" val="1306814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ar-JO" sz="3200" dirty="0">
                <a:solidFill>
                  <a:srgbClr val="002060"/>
                </a:solidFill>
              </a:rPr>
              <a:t>انقر هنا سيطلب منك باسوورد اكتب</a:t>
            </a:r>
            <a:r>
              <a:rPr lang="en-US" sz="3200" dirty="0">
                <a:solidFill>
                  <a:srgbClr val="002060"/>
                </a:solidFill>
              </a:rPr>
              <a:t>:</a:t>
            </a:r>
            <a:r>
              <a:rPr lang="ar-JO" sz="3200" dirty="0">
                <a:solidFill>
                  <a:srgbClr val="002060"/>
                </a:solidFill>
              </a:rPr>
              <a:t>  1234  </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3917761" y="59215"/>
            <a:ext cx="4935967"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كيف افتح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1" name="Picture 10">
            <a:extLst>
              <a:ext uri="{FF2B5EF4-FFF2-40B4-BE49-F238E27FC236}">
                <a16:creationId xmlns:a16="http://schemas.microsoft.com/office/drawing/2014/main" id="{CE04844E-B443-4C94-881B-E7A4B886044B}"/>
              </a:ext>
            </a:extLst>
          </p:cNvPr>
          <p:cNvPicPr>
            <a:picLocks noChangeAspect="1"/>
          </p:cNvPicPr>
          <p:nvPr/>
        </p:nvPicPr>
        <p:blipFill>
          <a:blip r:embed="rId3"/>
          <a:stretch>
            <a:fillRect/>
          </a:stretch>
        </p:blipFill>
        <p:spPr>
          <a:xfrm>
            <a:off x="321485" y="1800665"/>
            <a:ext cx="8461414" cy="4759934"/>
          </a:xfrm>
          <a:prstGeom prst="rect">
            <a:avLst/>
          </a:prstGeom>
        </p:spPr>
      </p:pic>
    </p:spTree>
    <p:extLst>
      <p:ext uri="{BB962C8B-B14F-4D97-AF65-F5344CB8AC3E}">
        <p14:creationId xmlns:p14="http://schemas.microsoft.com/office/powerpoint/2010/main" val="819349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en-US" sz="3200" dirty="0">
                <a:solidFill>
                  <a:srgbClr val="002060"/>
                </a:solidFill>
              </a:rPr>
              <a:t>:Navigator – Schemas</a:t>
            </a:r>
          </a:p>
          <a:p>
            <a:pPr marL="0" indent="0" algn="r" rtl="1">
              <a:buNone/>
            </a:pPr>
            <a:r>
              <a:rPr lang="ar-JO" sz="3200" dirty="0">
                <a:solidFill>
                  <a:srgbClr val="002060"/>
                </a:solidFill>
              </a:rPr>
              <a:t>نافذه تستطيع عرض قواعد البيانات و الجداول داخلها و ال </a:t>
            </a:r>
            <a:r>
              <a:rPr lang="en-US" sz="3200" dirty="0">
                <a:solidFill>
                  <a:srgbClr val="002060"/>
                </a:solidFill>
              </a:rPr>
              <a:t>Views</a:t>
            </a:r>
            <a:r>
              <a:rPr lang="ar-JO" sz="3200" dirty="0">
                <a:solidFill>
                  <a:srgbClr val="002060"/>
                </a:solidFill>
              </a:rPr>
              <a:t> </a:t>
            </a:r>
            <a:r>
              <a:rPr lang="en-US" sz="3200" dirty="0">
                <a:solidFill>
                  <a:srgbClr val="002060"/>
                </a:solidFill>
              </a:rPr>
              <a:t>Functions ,</a:t>
            </a:r>
            <a:r>
              <a:rPr lang="ar-JO" sz="3200" dirty="0">
                <a:solidFill>
                  <a:srgbClr val="002060"/>
                </a:solidFill>
              </a:rPr>
              <a:t> و </a:t>
            </a:r>
            <a:r>
              <a:rPr lang="en-US" sz="3200" dirty="0">
                <a:solidFill>
                  <a:srgbClr val="002060"/>
                </a:solidFill>
              </a:rPr>
              <a:t>Procedures</a:t>
            </a:r>
            <a:r>
              <a:rPr lang="ar-JO" sz="3200" dirty="0">
                <a:solidFill>
                  <a:srgbClr val="002060"/>
                </a:solidFill>
              </a:rPr>
              <a:t> .</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2461647" y="297401"/>
            <a:ext cx="6279284"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محتويات شاشة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Picture 5">
            <a:extLst>
              <a:ext uri="{FF2B5EF4-FFF2-40B4-BE49-F238E27FC236}">
                <a16:creationId xmlns:a16="http://schemas.microsoft.com/office/drawing/2014/main" id="{4287F2CE-961F-4B50-864A-B30EB0833953}"/>
              </a:ext>
            </a:extLst>
          </p:cNvPr>
          <p:cNvPicPr>
            <a:picLocks noChangeAspect="1"/>
          </p:cNvPicPr>
          <p:nvPr/>
        </p:nvPicPr>
        <p:blipFill>
          <a:blip r:embed="rId3"/>
          <a:stretch>
            <a:fillRect/>
          </a:stretch>
        </p:blipFill>
        <p:spPr>
          <a:xfrm>
            <a:off x="1269739" y="2720551"/>
            <a:ext cx="6604522" cy="3950457"/>
          </a:xfrm>
          <a:prstGeom prst="rect">
            <a:avLst/>
          </a:prstGeom>
          <a:ln>
            <a:solidFill>
              <a:schemeClr val="accent1">
                <a:lumMod val="75000"/>
              </a:schemeClr>
            </a:solidFill>
          </a:ln>
        </p:spPr>
      </p:pic>
    </p:spTree>
    <p:extLst>
      <p:ext uri="{BB962C8B-B14F-4D97-AF65-F5344CB8AC3E}">
        <p14:creationId xmlns:p14="http://schemas.microsoft.com/office/powerpoint/2010/main" val="136266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en-US" sz="3200" dirty="0">
                <a:solidFill>
                  <a:srgbClr val="002060"/>
                </a:solidFill>
              </a:rPr>
              <a:t>: SQL Editor</a:t>
            </a:r>
          </a:p>
          <a:p>
            <a:pPr marL="0" indent="0" algn="r" rtl="1">
              <a:buNone/>
            </a:pPr>
            <a:r>
              <a:rPr lang="ar-JO" sz="3200" dirty="0">
                <a:solidFill>
                  <a:srgbClr val="002060"/>
                </a:solidFill>
              </a:rPr>
              <a:t>نافذه تنفذ الاوامر على قاعدة البيانات من انشاء جداول او الاضافه عليها او تعديلها او عرض محتوياتها .</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2461647" y="297401"/>
            <a:ext cx="6279284"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محتويات شاشة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Picture 8">
            <a:extLst>
              <a:ext uri="{FF2B5EF4-FFF2-40B4-BE49-F238E27FC236}">
                <a16:creationId xmlns:a16="http://schemas.microsoft.com/office/drawing/2014/main" id="{A983636D-4B43-4043-886A-2E37E620CDDA}"/>
              </a:ext>
            </a:extLst>
          </p:cNvPr>
          <p:cNvPicPr>
            <a:picLocks noChangeAspect="1"/>
          </p:cNvPicPr>
          <p:nvPr/>
        </p:nvPicPr>
        <p:blipFill>
          <a:blip r:embed="rId3"/>
          <a:stretch>
            <a:fillRect/>
          </a:stretch>
        </p:blipFill>
        <p:spPr>
          <a:xfrm>
            <a:off x="906863" y="3027902"/>
            <a:ext cx="6689240" cy="3505689"/>
          </a:xfrm>
          <a:prstGeom prst="rect">
            <a:avLst/>
          </a:prstGeom>
        </p:spPr>
      </p:pic>
    </p:spTree>
    <p:extLst>
      <p:ext uri="{BB962C8B-B14F-4D97-AF65-F5344CB8AC3E}">
        <p14:creationId xmlns:p14="http://schemas.microsoft.com/office/powerpoint/2010/main" val="1052697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568171" y="1169055"/>
            <a:ext cx="8285557" cy="4195481"/>
          </a:xfrm>
        </p:spPr>
        <p:txBody>
          <a:bodyPr>
            <a:normAutofit/>
          </a:bodyPr>
          <a:lstStyle/>
          <a:p>
            <a:pPr algn="r" rtl="1">
              <a:buFont typeface="Wingdings" panose="05000000000000000000" pitchFamily="2" charset="2"/>
              <a:buChar char="v"/>
            </a:pPr>
            <a:r>
              <a:rPr lang="en-US" sz="3200" dirty="0">
                <a:solidFill>
                  <a:srgbClr val="002060"/>
                </a:solidFill>
              </a:rPr>
              <a:t>: Output</a:t>
            </a:r>
          </a:p>
          <a:p>
            <a:pPr marL="0" indent="0" algn="r" rtl="1">
              <a:buNone/>
            </a:pPr>
            <a:r>
              <a:rPr lang="ar-JO" sz="3200" dirty="0">
                <a:solidFill>
                  <a:srgbClr val="002060"/>
                </a:solidFill>
              </a:rPr>
              <a:t>نافذه المخرجات تعطينا ما تم تنفيذه والاخطاء و تفاصيل عن الاخطاء .</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2461647" y="297401"/>
            <a:ext cx="6279284"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محتويات شاشة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1" name="Picture 10">
            <a:extLst>
              <a:ext uri="{FF2B5EF4-FFF2-40B4-BE49-F238E27FC236}">
                <a16:creationId xmlns:a16="http://schemas.microsoft.com/office/drawing/2014/main" id="{514AF043-9142-4AD6-AE81-9BF6520A39E7}"/>
              </a:ext>
            </a:extLst>
          </p:cNvPr>
          <p:cNvPicPr>
            <a:picLocks noChangeAspect="1"/>
          </p:cNvPicPr>
          <p:nvPr/>
        </p:nvPicPr>
        <p:blipFill>
          <a:blip r:embed="rId3"/>
          <a:stretch>
            <a:fillRect/>
          </a:stretch>
        </p:blipFill>
        <p:spPr>
          <a:xfrm>
            <a:off x="290272" y="2725445"/>
            <a:ext cx="8461414" cy="3748050"/>
          </a:xfrm>
          <a:prstGeom prst="rect">
            <a:avLst/>
          </a:prstGeom>
          <a:ln>
            <a:solidFill>
              <a:srgbClr val="0070C0"/>
            </a:solidFill>
          </a:ln>
        </p:spPr>
      </p:pic>
    </p:spTree>
    <p:extLst>
      <p:ext uri="{BB962C8B-B14F-4D97-AF65-F5344CB8AC3E}">
        <p14:creationId xmlns:p14="http://schemas.microsoft.com/office/powerpoint/2010/main" val="2127733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465896" y="1169055"/>
            <a:ext cx="7387832" cy="4195481"/>
          </a:xfrm>
        </p:spPr>
        <p:txBody>
          <a:bodyPr>
            <a:normAutofit/>
          </a:bodyPr>
          <a:lstStyle/>
          <a:p>
            <a:pPr algn="r" rtl="1">
              <a:buFont typeface="Wingdings" panose="05000000000000000000" pitchFamily="2" charset="2"/>
              <a:buChar char="v"/>
            </a:pPr>
            <a:r>
              <a:rPr lang="en-US" sz="3200" dirty="0">
                <a:solidFill>
                  <a:srgbClr val="002060"/>
                </a:solidFill>
              </a:rPr>
              <a:t>: SQL Editor</a:t>
            </a:r>
          </a:p>
          <a:p>
            <a:pPr marL="0" indent="0" algn="r" rtl="1">
              <a:buNone/>
            </a:pPr>
            <a:r>
              <a:rPr lang="ar-JO" sz="3200" dirty="0">
                <a:solidFill>
                  <a:srgbClr val="002060"/>
                </a:solidFill>
              </a:rPr>
              <a:t>نافذه تنفذ الاوامر على قاعدة البيانات من انشاء جداول او الاضافه عليها او تعديلها او عرض محتوياتها .</a:t>
            </a:r>
            <a:endParaRPr sz="32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2461647" y="297401"/>
            <a:ext cx="6279284" cy="923330"/>
          </a:xfrm>
          <a:prstGeom prst="rect">
            <a:avLst/>
          </a:prstGeom>
          <a:noFill/>
        </p:spPr>
        <p:txBody>
          <a:bodyPr wrap="none" lIns="91440" tIns="45720" rIns="91440" bIns="45720">
            <a:spAutoFit/>
          </a:bodyPr>
          <a:lstStyle/>
          <a:p>
            <a:pPr algn="ct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محتويات شاشة </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Picture 5">
            <a:extLst>
              <a:ext uri="{FF2B5EF4-FFF2-40B4-BE49-F238E27FC236}">
                <a16:creationId xmlns:a16="http://schemas.microsoft.com/office/drawing/2014/main" id="{0C325655-C8CD-4921-8439-39A27A7EA67E}"/>
              </a:ext>
            </a:extLst>
          </p:cNvPr>
          <p:cNvPicPr>
            <a:picLocks noChangeAspect="1"/>
          </p:cNvPicPr>
          <p:nvPr/>
        </p:nvPicPr>
        <p:blipFill>
          <a:blip r:embed="rId3"/>
          <a:stretch>
            <a:fillRect/>
          </a:stretch>
        </p:blipFill>
        <p:spPr>
          <a:xfrm>
            <a:off x="1299177" y="2978185"/>
            <a:ext cx="5956917" cy="3258005"/>
          </a:xfrm>
          <a:prstGeom prst="rect">
            <a:avLst/>
          </a:prstGeom>
          <a:ln>
            <a:solidFill>
              <a:srgbClr val="0070C0"/>
            </a:solidFill>
          </a:ln>
        </p:spPr>
      </p:pic>
    </p:spTree>
    <p:extLst>
      <p:ext uri="{BB962C8B-B14F-4D97-AF65-F5344CB8AC3E}">
        <p14:creationId xmlns:p14="http://schemas.microsoft.com/office/powerpoint/2010/main" val="1855625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589079" y="393274"/>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2036228" y="734089"/>
            <a:ext cx="4225517" cy="923330"/>
          </a:xfrm>
          <a:prstGeom prst="rect">
            <a:avLst/>
          </a:prstGeom>
          <a:noFill/>
        </p:spPr>
        <p:txBody>
          <a:bodyPr wrap="none" lIns="91440" tIns="45720" rIns="91440" bIns="45720">
            <a:spAutoFit/>
          </a:bodyPr>
          <a:lstStyle/>
          <a:p>
            <a:pPr algn="ctr" rtl="1"/>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:Database</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17" name="Picture 16">
            <a:extLst>
              <a:ext uri="{FF2B5EF4-FFF2-40B4-BE49-F238E27FC236}">
                <a16:creationId xmlns:a16="http://schemas.microsoft.com/office/drawing/2014/main" id="{5761074C-1C84-41B2-80B0-DA050FDA3FF6}"/>
              </a:ext>
            </a:extLst>
          </p:cNvPr>
          <p:cNvPicPr>
            <a:picLocks noChangeAspect="1"/>
          </p:cNvPicPr>
          <p:nvPr/>
        </p:nvPicPr>
        <p:blipFill>
          <a:blip r:embed="rId3"/>
          <a:stretch>
            <a:fillRect/>
          </a:stretch>
        </p:blipFill>
        <p:spPr>
          <a:xfrm>
            <a:off x="2991775" y="4681878"/>
            <a:ext cx="5563146" cy="1923768"/>
          </a:xfrm>
          <a:prstGeom prst="rect">
            <a:avLst/>
          </a:prstGeom>
          <a:ln>
            <a:solidFill>
              <a:schemeClr val="tx2"/>
            </a:solidFill>
          </a:ln>
        </p:spPr>
      </p:pic>
      <p:sp>
        <p:nvSpPr>
          <p:cNvPr id="2" name="Rectangle 1">
            <a:extLst>
              <a:ext uri="{FF2B5EF4-FFF2-40B4-BE49-F238E27FC236}">
                <a16:creationId xmlns:a16="http://schemas.microsoft.com/office/drawing/2014/main" id="{816E99A1-55AF-4D08-8E79-8798379A7559}"/>
              </a:ext>
            </a:extLst>
          </p:cNvPr>
          <p:cNvSpPr/>
          <p:nvPr/>
        </p:nvSpPr>
        <p:spPr>
          <a:xfrm>
            <a:off x="914400" y="2067013"/>
            <a:ext cx="6889071" cy="646331"/>
          </a:xfrm>
          <a:prstGeom prst="rect">
            <a:avLst/>
          </a:prstGeom>
          <a:noFill/>
          <a:ln>
            <a:solidFill>
              <a:schemeClr val="accent5">
                <a:lumMod val="75000"/>
              </a:schemeClr>
            </a:solidFill>
          </a:ln>
        </p:spPr>
        <p:txBody>
          <a:bodyPr wrap="square" lIns="91440" tIns="45720" rIns="91440" bIns="45720">
            <a:spAutoFit/>
          </a:bodyPr>
          <a:lstStyle/>
          <a:p>
            <a:pPr algn="ctr"/>
            <a:r>
              <a:rPr lang="en-US" sz="3600" dirty="0">
                <a:ln w="0"/>
                <a:solidFill>
                  <a:schemeClr val="accent1"/>
                </a:solidFill>
                <a:effectLst>
                  <a:outerShdw blurRad="38100" dist="25400" dir="5400000" algn="ctr" rotWithShape="0">
                    <a:srgbClr val="6E747A">
                      <a:alpha val="43000"/>
                    </a:srgbClr>
                  </a:outerShdw>
                </a:effectLst>
              </a:rPr>
              <a:t>Create Database database-name  ;</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3" name="Arrow: Down 2">
            <a:extLst>
              <a:ext uri="{FF2B5EF4-FFF2-40B4-BE49-F238E27FC236}">
                <a16:creationId xmlns:a16="http://schemas.microsoft.com/office/drawing/2014/main" id="{982A12EE-8BC7-44C4-80FA-97B4D94963CB}"/>
              </a:ext>
            </a:extLst>
          </p:cNvPr>
          <p:cNvSpPr/>
          <p:nvPr/>
        </p:nvSpPr>
        <p:spPr>
          <a:xfrm rot="10800000">
            <a:off x="1642371" y="2620234"/>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2A70DEA4-7ED0-487E-9DE8-78F7774A7192}"/>
              </a:ext>
            </a:extLst>
          </p:cNvPr>
          <p:cNvSpPr/>
          <p:nvPr/>
        </p:nvSpPr>
        <p:spPr>
          <a:xfrm rot="10800000">
            <a:off x="3081321" y="2615394"/>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5621F2F3-2274-4994-BD8B-C3E05B9B65E9}"/>
              </a:ext>
            </a:extLst>
          </p:cNvPr>
          <p:cNvSpPr/>
          <p:nvPr/>
        </p:nvSpPr>
        <p:spPr>
          <a:xfrm rot="10800000">
            <a:off x="6137457" y="2630695"/>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423A15EC-9426-416B-934D-B5B7A53B9783}"/>
              </a:ext>
            </a:extLst>
          </p:cNvPr>
          <p:cNvSpPr/>
          <p:nvPr/>
        </p:nvSpPr>
        <p:spPr>
          <a:xfrm rot="10800000">
            <a:off x="7411374" y="2620234"/>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212336-22EE-4A4F-9731-D3E0E189CCC2}"/>
              </a:ext>
            </a:extLst>
          </p:cNvPr>
          <p:cNvSpPr/>
          <p:nvPr/>
        </p:nvSpPr>
        <p:spPr>
          <a:xfrm>
            <a:off x="448251" y="3234942"/>
            <a:ext cx="16953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كلمة محجوزه تعني انشاء</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4" name="Rectangle 13">
            <a:extLst>
              <a:ext uri="{FF2B5EF4-FFF2-40B4-BE49-F238E27FC236}">
                <a16:creationId xmlns:a16="http://schemas.microsoft.com/office/drawing/2014/main" id="{CD72F9F1-D9B0-41DB-B400-580B858ABF54}"/>
              </a:ext>
            </a:extLst>
          </p:cNvPr>
          <p:cNvSpPr/>
          <p:nvPr/>
        </p:nvSpPr>
        <p:spPr>
          <a:xfrm>
            <a:off x="4123719" y="3247754"/>
            <a:ext cx="2310716" cy="523220"/>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اسم قاعدة البيانات التي ترغب بإنشائها</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5" name="Rectangle 14">
            <a:extLst>
              <a:ext uri="{FF2B5EF4-FFF2-40B4-BE49-F238E27FC236}">
                <a16:creationId xmlns:a16="http://schemas.microsoft.com/office/drawing/2014/main" id="{E86075D1-31A0-4C09-94B3-BFAD921D8031}"/>
              </a:ext>
            </a:extLst>
          </p:cNvPr>
          <p:cNvSpPr/>
          <p:nvPr/>
        </p:nvSpPr>
        <p:spPr>
          <a:xfrm>
            <a:off x="2428327" y="3229534"/>
            <a:ext cx="1554564" cy="523220"/>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كلمة محجوزه تعني قاعدة بيانات</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6" name="Rectangle 15">
            <a:extLst>
              <a:ext uri="{FF2B5EF4-FFF2-40B4-BE49-F238E27FC236}">
                <a16:creationId xmlns:a16="http://schemas.microsoft.com/office/drawing/2014/main" id="{AD1D126C-A8C8-4BA2-BD52-B4CF18041C23}"/>
              </a:ext>
            </a:extLst>
          </p:cNvPr>
          <p:cNvSpPr/>
          <p:nvPr/>
        </p:nvSpPr>
        <p:spPr>
          <a:xfrm>
            <a:off x="6515195" y="3247755"/>
            <a:ext cx="1731548"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فاصله منقوطه لانهاء الامر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9" name="Rectangle 18">
            <a:extLst>
              <a:ext uri="{FF2B5EF4-FFF2-40B4-BE49-F238E27FC236}">
                <a16:creationId xmlns:a16="http://schemas.microsoft.com/office/drawing/2014/main" id="{E2FA2C0B-87CA-46E7-831D-0459F44BD002}"/>
              </a:ext>
            </a:extLst>
          </p:cNvPr>
          <p:cNvSpPr/>
          <p:nvPr/>
        </p:nvSpPr>
        <p:spPr>
          <a:xfrm>
            <a:off x="517003" y="3829889"/>
            <a:ext cx="4387912" cy="646331"/>
          </a:xfrm>
          <a:prstGeom prst="rect">
            <a:avLst/>
          </a:prstGeom>
          <a:noFill/>
          <a:ln>
            <a:solidFill>
              <a:schemeClr val="accent5">
                <a:lumMod val="75000"/>
              </a:schemeClr>
            </a:solidFill>
          </a:ln>
        </p:spPr>
        <p:txBody>
          <a:bodyPr wrap="square" lIns="91440" tIns="45720" rIns="91440" bIns="45720">
            <a:spAutoFit/>
          </a:bodyPr>
          <a:lstStyle/>
          <a:p>
            <a:pPr algn="ctr"/>
            <a:r>
              <a:rPr lang="en-US" sz="3600" b="0" cap="none" spc="0" dirty="0">
                <a:ln w="0"/>
                <a:solidFill>
                  <a:schemeClr val="accent1"/>
                </a:solidFill>
                <a:effectLst>
                  <a:outerShdw blurRad="38100" dist="25400" dir="5400000" algn="ctr" rotWithShape="0">
                    <a:srgbClr val="6E747A">
                      <a:alpha val="43000"/>
                    </a:srgbClr>
                  </a:outerShdw>
                </a:effectLst>
              </a:rPr>
              <a:t>USE </a:t>
            </a:r>
            <a:r>
              <a:rPr lang="en-US" sz="3600" dirty="0">
                <a:ln w="0"/>
                <a:solidFill>
                  <a:schemeClr val="accent1"/>
                </a:solidFill>
                <a:effectLst>
                  <a:outerShdw blurRad="38100" dist="25400" dir="5400000" algn="ctr" rotWithShape="0">
                    <a:srgbClr val="6E747A">
                      <a:alpha val="43000"/>
                    </a:srgbClr>
                  </a:outerShdw>
                </a:effectLst>
              </a:rPr>
              <a:t>database-name  ;</a:t>
            </a:r>
            <a:r>
              <a:rPr lang="en-US" sz="3600" b="0" cap="none" spc="0" dirty="0">
                <a:ln w="0"/>
                <a:solidFill>
                  <a:schemeClr val="accent1"/>
                </a:solidFill>
                <a:effectLst>
                  <a:outerShdw blurRad="38100" dist="25400" dir="5400000" algn="ctr" rotWithShape="0">
                    <a:srgbClr val="6E747A">
                      <a:alpha val="43000"/>
                    </a:srgbClr>
                  </a:outerShdw>
                </a:effectLst>
              </a:rPr>
              <a:t> </a:t>
            </a:r>
          </a:p>
        </p:txBody>
      </p:sp>
      <p:sp>
        <p:nvSpPr>
          <p:cNvPr id="20" name="Arrow: Down 19">
            <a:extLst>
              <a:ext uri="{FF2B5EF4-FFF2-40B4-BE49-F238E27FC236}">
                <a16:creationId xmlns:a16="http://schemas.microsoft.com/office/drawing/2014/main" id="{FF037751-D04A-43E6-AA44-905332B37C6A}"/>
              </a:ext>
            </a:extLst>
          </p:cNvPr>
          <p:cNvSpPr/>
          <p:nvPr/>
        </p:nvSpPr>
        <p:spPr>
          <a:xfrm rot="10800000">
            <a:off x="1085133" y="4384336"/>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49D910-0DC6-49C4-92E0-E4116C2C35F8}"/>
              </a:ext>
            </a:extLst>
          </p:cNvPr>
          <p:cNvSpPr/>
          <p:nvPr/>
        </p:nvSpPr>
        <p:spPr>
          <a:xfrm>
            <a:off x="448251" y="5072167"/>
            <a:ext cx="2108518" cy="738664"/>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كلمة محجوزه تعني اي قاعدة بيانات تريد استخامها للاضافه عليها</a:t>
            </a:r>
            <a:endParaRPr lang="en-US" sz="1400" cap="none" spc="0" dirty="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997618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589079" y="393274"/>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5937047" y="116714"/>
            <a:ext cx="3064173" cy="923330"/>
          </a:xfrm>
          <a:prstGeom prst="rect">
            <a:avLst/>
          </a:prstGeom>
          <a:noFill/>
        </p:spPr>
        <p:txBody>
          <a:bodyPr wrap="none" lIns="91440" tIns="45720" rIns="91440" bIns="45720">
            <a:spAutoFit/>
          </a:bodyPr>
          <a:lstStyle/>
          <a:p>
            <a:pPr algn="ctr" rtl="1"/>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:Table</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589702" y="1265195"/>
            <a:ext cx="6889071" cy="2585323"/>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Create TABLE table-name</a:t>
            </a:r>
          </a:p>
          <a:p>
            <a:r>
              <a:rPr lang="en-US" sz="3600" dirty="0">
                <a:ln w="0"/>
                <a:solidFill>
                  <a:schemeClr val="accent1"/>
                </a:solidFill>
                <a:effectLst>
                  <a:outerShdw blurRad="38100" dist="25400" dir="5400000" algn="ctr" rotWithShape="0">
                    <a:srgbClr val="6E747A">
                      <a:alpha val="43000"/>
                    </a:srgbClr>
                  </a:outerShdw>
                </a:effectLst>
              </a:rPr>
              <a:t>(</a:t>
            </a:r>
          </a:p>
          <a:p>
            <a:r>
              <a:rPr lang="en-US" dirty="0">
                <a:ln w="0"/>
                <a:solidFill>
                  <a:schemeClr val="accent1"/>
                </a:solidFill>
                <a:effectLst>
                  <a:outerShdw blurRad="38100" dist="25400" dir="5400000" algn="ctr" rotWithShape="0">
                    <a:srgbClr val="6E747A">
                      <a:alpha val="43000"/>
                    </a:srgbClr>
                  </a:outerShdw>
                </a:effectLst>
              </a:rPr>
              <a:t>variable-name variable-type (variable-size)  ,</a:t>
            </a:r>
          </a:p>
          <a:p>
            <a:r>
              <a:rPr lang="en-US" dirty="0">
                <a:ln w="0"/>
                <a:solidFill>
                  <a:schemeClr val="accent1"/>
                </a:solidFill>
                <a:effectLst>
                  <a:outerShdw blurRad="38100" dist="25400" dir="5400000" algn="ctr" rotWithShape="0">
                    <a:srgbClr val="6E747A">
                      <a:alpha val="43000"/>
                    </a:srgbClr>
                  </a:outerShdw>
                </a:effectLst>
              </a:rPr>
              <a:t>variable-name variable-type (variable-size)  </a:t>
            </a:r>
          </a:p>
          <a:p>
            <a:endParaRPr lang="en-US"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 ) ;</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19" name="Arrow: Down 18">
            <a:extLst>
              <a:ext uri="{FF2B5EF4-FFF2-40B4-BE49-F238E27FC236}">
                <a16:creationId xmlns:a16="http://schemas.microsoft.com/office/drawing/2014/main" id="{C61FC558-F337-4239-B653-8D57937DCA2B}"/>
              </a:ext>
            </a:extLst>
          </p:cNvPr>
          <p:cNvSpPr/>
          <p:nvPr/>
        </p:nvSpPr>
        <p:spPr>
          <a:xfrm>
            <a:off x="936372" y="896060"/>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519E237D-B77B-436B-9D11-61CB2DD0F69E}"/>
              </a:ext>
            </a:extLst>
          </p:cNvPr>
          <p:cNvSpPr/>
          <p:nvPr/>
        </p:nvSpPr>
        <p:spPr>
          <a:xfrm>
            <a:off x="2632335" y="896060"/>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B57303AF-7FE6-4319-831F-97020568DDA8}"/>
              </a:ext>
            </a:extLst>
          </p:cNvPr>
          <p:cNvSpPr/>
          <p:nvPr/>
        </p:nvSpPr>
        <p:spPr>
          <a:xfrm>
            <a:off x="4447712" y="900332"/>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B207DCBE-BF25-410D-8F7C-7DC762B2539B}"/>
              </a:ext>
            </a:extLst>
          </p:cNvPr>
          <p:cNvSpPr/>
          <p:nvPr/>
        </p:nvSpPr>
        <p:spPr>
          <a:xfrm rot="5400000">
            <a:off x="1506860" y="3350510"/>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9943A6F-B1E8-4BC2-ADA8-9F149FA0662A}"/>
              </a:ext>
            </a:extLst>
          </p:cNvPr>
          <p:cNvSpPr/>
          <p:nvPr/>
        </p:nvSpPr>
        <p:spPr>
          <a:xfrm>
            <a:off x="213064" y="524476"/>
            <a:ext cx="169645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كلمة محجوزه تعني انشاء</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4" name="Rectangle 23">
            <a:extLst>
              <a:ext uri="{FF2B5EF4-FFF2-40B4-BE49-F238E27FC236}">
                <a16:creationId xmlns:a16="http://schemas.microsoft.com/office/drawing/2014/main" id="{6148B787-AE06-4430-A729-022CA9E9BB93}"/>
              </a:ext>
            </a:extLst>
          </p:cNvPr>
          <p:cNvSpPr/>
          <p:nvPr/>
        </p:nvSpPr>
        <p:spPr>
          <a:xfrm>
            <a:off x="3584767" y="491588"/>
            <a:ext cx="2310716"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اسم الجدول الذي ترغب بإنشائه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5" name="Rectangle 24">
            <a:extLst>
              <a:ext uri="{FF2B5EF4-FFF2-40B4-BE49-F238E27FC236}">
                <a16:creationId xmlns:a16="http://schemas.microsoft.com/office/drawing/2014/main" id="{9187A00D-7491-491C-8A14-C0008DC5F32B}"/>
              </a:ext>
            </a:extLst>
          </p:cNvPr>
          <p:cNvSpPr/>
          <p:nvPr/>
        </p:nvSpPr>
        <p:spPr>
          <a:xfrm>
            <a:off x="1951080" y="276145"/>
            <a:ext cx="1554564" cy="523220"/>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كلمة محجوزه تعني  جدول</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6" name="Rectangle 25">
            <a:extLst>
              <a:ext uri="{FF2B5EF4-FFF2-40B4-BE49-F238E27FC236}">
                <a16:creationId xmlns:a16="http://schemas.microsoft.com/office/drawing/2014/main" id="{141B3541-CBF7-48DC-9801-DF211E1F17FA}"/>
              </a:ext>
            </a:extLst>
          </p:cNvPr>
          <p:cNvSpPr/>
          <p:nvPr/>
        </p:nvSpPr>
        <p:spPr>
          <a:xfrm>
            <a:off x="1883319" y="3413920"/>
            <a:ext cx="2933989"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قوس دائري و فاصله منقوطه لانهاء الامر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7" name="Arrow: Down 26">
            <a:extLst>
              <a:ext uri="{FF2B5EF4-FFF2-40B4-BE49-F238E27FC236}">
                <a16:creationId xmlns:a16="http://schemas.microsoft.com/office/drawing/2014/main" id="{1CCBFBC4-F913-4C8B-B6A8-BD396C1B14FA}"/>
              </a:ext>
            </a:extLst>
          </p:cNvPr>
          <p:cNvSpPr/>
          <p:nvPr/>
        </p:nvSpPr>
        <p:spPr>
          <a:xfrm rot="5400000">
            <a:off x="1231785" y="1965030"/>
            <a:ext cx="124288" cy="5383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C84141B-4650-4B2D-A8D8-F6AE31A977DB}"/>
              </a:ext>
            </a:extLst>
          </p:cNvPr>
          <p:cNvSpPr/>
          <p:nvPr/>
        </p:nvSpPr>
        <p:spPr>
          <a:xfrm>
            <a:off x="1638144" y="2047679"/>
            <a:ext cx="2508233"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قوس دائري لبداية الامر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8" name="Arrow: Down 37">
            <a:extLst>
              <a:ext uri="{FF2B5EF4-FFF2-40B4-BE49-F238E27FC236}">
                <a16:creationId xmlns:a16="http://schemas.microsoft.com/office/drawing/2014/main" id="{CA9300EA-D4C1-4262-8C9F-52DABA5047F7}"/>
              </a:ext>
            </a:extLst>
          </p:cNvPr>
          <p:cNvSpPr/>
          <p:nvPr/>
        </p:nvSpPr>
        <p:spPr>
          <a:xfrm rot="10800000">
            <a:off x="3942974" y="2950994"/>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0C0B82F-CF85-4F70-9085-0A810C0C61CE}"/>
              </a:ext>
            </a:extLst>
          </p:cNvPr>
          <p:cNvSpPr/>
          <p:nvPr/>
        </p:nvSpPr>
        <p:spPr>
          <a:xfrm>
            <a:off x="3367522" y="3092854"/>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حجم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0" name="Arrow: Down 39">
            <a:extLst>
              <a:ext uri="{FF2B5EF4-FFF2-40B4-BE49-F238E27FC236}">
                <a16:creationId xmlns:a16="http://schemas.microsoft.com/office/drawing/2014/main" id="{5D79ACD0-FCF9-4256-AC20-352CFCB91491}"/>
              </a:ext>
            </a:extLst>
          </p:cNvPr>
          <p:cNvSpPr/>
          <p:nvPr/>
        </p:nvSpPr>
        <p:spPr>
          <a:xfrm rot="10800000">
            <a:off x="1303803" y="2943249"/>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3FB904F-08A3-4B90-A340-0EE52A23369D}"/>
              </a:ext>
            </a:extLst>
          </p:cNvPr>
          <p:cNvSpPr/>
          <p:nvPr/>
        </p:nvSpPr>
        <p:spPr>
          <a:xfrm>
            <a:off x="936372" y="3085109"/>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2" name="Arrow: Down 41">
            <a:extLst>
              <a:ext uri="{FF2B5EF4-FFF2-40B4-BE49-F238E27FC236}">
                <a16:creationId xmlns:a16="http://schemas.microsoft.com/office/drawing/2014/main" id="{533631D7-0BA6-43A9-949E-2C1048E3724B}"/>
              </a:ext>
            </a:extLst>
          </p:cNvPr>
          <p:cNvSpPr/>
          <p:nvPr/>
        </p:nvSpPr>
        <p:spPr>
          <a:xfrm rot="10800000">
            <a:off x="2605326" y="2948017"/>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5513B8C-B523-491A-8E04-2E1F471ADCB8}"/>
              </a:ext>
            </a:extLst>
          </p:cNvPr>
          <p:cNvSpPr/>
          <p:nvPr/>
        </p:nvSpPr>
        <p:spPr>
          <a:xfrm>
            <a:off x="2029874" y="3089877"/>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نوع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pic>
        <p:nvPicPr>
          <p:cNvPr id="5" name="Picture 4">
            <a:extLst>
              <a:ext uri="{FF2B5EF4-FFF2-40B4-BE49-F238E27FC236}">
                <a16:creationId xmlns:a16="http://schemas.microsoft.com/office/drawing/2014/main" id="{2514DC56-58B4-4051-B784-4162EEF1B245}"/>
              </a:ext>
            </a:extLst>
          </p:cNvPr>
          <p:cNvPicPr>
            <a:picLocks noChangeAspect="1"/>
          </p:cNvPicPr>
          <p:nvPr/>
        </p:nvPicPr>
        <p:blipFill>
          <a:blip r:embed="rId3"/>
          <a:stretch>
            <a:fillRect/>
          </a:stretch>
        </p:blipFill>
        <p:spPr>
          <a:xfrm>
            <a:off x="483878" y="3886345"/>
            <a:ext cx="5987943" cy="2832597"/>
          </a:xfrm>
          <a:prstGeom prst="rect">
            <a:avLst/>
          </a:prstGeom>
        </p:spPr>
      </p:pic>
      <p:sp>
        <p:nvSpPr>
          <p:cNvPr id="6" name="Arrow: Right 5">
            <a:extLst>
              <a:ext uri="{FF2B5EF4-FFF2-40B4-BE49-F238E27FC236}">
                <a16:creationId xmlns:a16="http://schemas.microsoft.com/office/drawing/2014/main" id="{9259E77F-6001-458A-AFA2-9C7C2D1E8693}"/>
              </a:ext>
            </a:extLst>
          </p:cNvPr>
          <p:cNvSpPr/>
          <p:nvPr/>
        </p:nvSpPr>
        <p:spPr>
          <a:xfrm rot="10800000" flipV="1">
            <a:off x="3782495" y="4711582"/>
            <a:ext cx="398243" cy="45719"/>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sp>
        <p:nvSpPr>
          <p:cNvPr id="10" name="Rectangle 9">
            <a:extLst>
              <a:ext uri="{FF2B5EF4-FFF2-40B4-BE49-F238E27FC236}">
                <a16:creationId xmlns:a16="http://schemas.microsoft.com/office/drawing/2014/main" id="{16964D54-1990-4E49-ABD8-8C31F707867B}"/>
              </a:ext>
            </a:extLst>
          </p:cNvPr>
          <p:cNvSpPr/>
          <p:nvPr/>
        </p:nvSpPr>
        <p:spPr>
          <a:xfrm>
            <a:off x="4018558" y="4590450"/>
            <a:ext cx="2508233" cy="1015663"/>
          </a:xfrm>
          <a:prstGeom prst="rect">
            <a:avLst/>
          </a:prstGeom>
          <a:noFill/>
        </p:spPr>
        <p:txBody>
          <a:bodyPr wrap="square" lIns="91440" tIns="45720" rIns="91440" bIns="45720">
            <a:spAutoFit/>
          </a:bodyPr>
          <a:lstStyle/>
          <a:p>
            <a:pPr algn="ctr"/>
            <a:r>
              <a:rPr lang="ar-JO" sz="2000" b="0" cap="none" spc="0" dirty="0">
                <a:ln w="0"/>
                <a:solidFill>
                  <a:srgbClr val="FF0000"/>
                </a:solidFill>
                <a:effectLst>
                  <a:outerShdw blurRad="38100" dist="25400" dir="5400000" algn="ctr" rotWithShape="0">
                    <a:srgbClr val="6E747A">
                      <a:alpha val="43000"/>
                    </a:srgbClr>
                  </a:outerShdw>
                </a:effectLst>
              </a:rPr>
              <a:t>يجب اخيار قاعدة البيانات التي تريد اضافة الجدول عليها اولا </a:t>
            </a:r>
            <a:endParaRPr lang="en-US" sz="2000" b="0" cap="none" spc="0" dirty="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958963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589079" y="393274"/>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734781" y="179145"/>
            <a:ext cx="5160516" cy="923330"/>
          </a:xfrm>
          <a:prstGeom prst="rect">
            <a:avLst/>
          </a:prstGeom>
          <a:noFill/>
        </p:spPr>
        <p:txBody>
          <a:bodyPr wrap="none" lIns="91440" tIns="45720" rIns="91440" bIns="45720">
            <a:spAutoFit/>
          </a:bodyPr>
          <a:lstStyle/>
          <a:p>
            <a:pPr algn="ctr" rtl="1"/>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Primary Key</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589702" y="1265195"/>
            <a:ext cx="6889071" cy="2585323"/>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Create TABLE table-name</a:t>
            </a:r>
          </a:p>
          <a:p>
            <a:r>
              <a:rPr lang="en-US" sz="3600" dirty="0">
                <a:ln w="0"/>
                <a:solidFill>
                  <a:schemeClr val="accent1"/>
                </a:solidFill>
                <a:effectLst>
                  <a:outerShdw blurRad="38100" dist="25400" dir="5400000" algn="ctr" rotWithShape="0">
                    <a:srgbClr val="6E747A">
                      <a:alpha val="43000"/>
                    </a:srgbClr>
                  </a:outerShdw>
                </a:effectLst>
              </a:rPr>
              <a:t>(</a:t>
            </a:r>
          </a:p>
          <a:p>
            <a:r>
              <a:rPr lang="en-US" dirty="0">
                <a:ln w="0"/>
                <a:solidFill>
                  <a:schemeClr val="accent1"/>
                </a:solidFill>
                <a:effectLst>
                  <a:outerShdw blurRad="38100" dist="25400" dir="5400000" algn="ctr" rotWithShape="0">
                    <a:srgbClr val="6E747A">
                      <a:alpha val="43000"/>
                    </a:srgbClr>
                  </a:outerShdw>
                </a:effectLst>
              </a:rPr>
              <a:t>variable-name variable-type (variable-size)  ,</a:t>
            </a:r>
          </a:p>
          <a:p>
            <a:r>
              <a:rPr lang="en-US" dirty="0">
                <a:ln w="0"/>
                <a:solidFill>
                  <a:schemeClr val="accent1"/>
                </a:solidFill>
                <a:effectLst>
                  <a:outerShdw blurRad="38100" dist="25400" dir="5400000" algn="ctr" rotWithShape="0">
                    <a:srgbClr val="6E747A">
                      <a:alpha val="43000"/>
                    </a:srgbClr>
                  </a:outerShdw>
                </a:effectLst>
              </a:rPr>
              <a:t>variable-name variable-type (variable-size)</a:t>
            </a:r>
            <a:r>
              <a:rPr lang="ar-JO" dirty="0">
                <a:ln w="0"/>
                <a:solidFill>
                  <a:schemeClr val="accent1"/>
                </a:solidFill>
                <a:effectLst>
                  <a:outerShdw blurRad="38100" dist="25400" dir="5400000" algn="ctr" rotWithShape="0">
                    <a:srgbClr val="6E747A">
                      <a:alpha val="43000"/>
                    </a:srgbClr>
                  </a:outerShdw>
                </a:effectLst>
              </a:rPr>
              <a:t>  </a:t>
            </a:r>
            <a:r>
              <a:rPr lang="en-US" dirty="0">
                <a:ln w="0"/>
                <a:solidFill>
                  <a:schemeClr val="accent1"/>
                </a:solidFill>
                <a:effectLst>
                  <a:outerShdw blurRad="38100" dist="25400" dir="5400000" algn="ctr" rotWithShape="0">
                    <a:srgbClr val="6E747A">
                      <a:alpha val="43000"/>
                    </a:srgbClr>
                  </a:outerShdw>
                </a:effectLst>
              </a:rPr>
              <a:t> PRIMARY KEY  </a:t>
            </a:r>
          </a:p>
          <a:p>
            <a:endParaRPr lang="en-US"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 ) ;</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38" name="Arrow: Down 37">
            <a:extLst>
              <a:ext uri="{FF2B5EF4-FFF2-40B4-BE49-F238E27FC236}">
                <a16:creationId xmlns:a16="http://schemas.microsoft.com/office/drawing/2014/main" id="{CA9300EA-D4C1-4262-8C9F-52DABA5047F7}"/>
              </a:ext>
            </a:extLst>
          </p:cNvPr>
          <p:cNvSpPr/>
          <p:nvPr/>
        </p:nvSpPr>
        <p:spPr>
          <a:xfrm rot="10800000">
            <a:off x="3942974" y="2950994"/>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0C0B82F-CF85-4F70-9085-0A810C0C61CE}"/>
              </a:ext>
            </a:extLst>
          </p:cNvPr>
          <p:cNvSpPr/>
          <p:nvPr/>
        </p:nvSpPr>
        <p:spPr>
          <a:xfrm>
            <a:off x="3367522" y="3092854"/>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حجم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0" name="Arrow: Down 39">
            <a:extLst>
              <a:ext uri="{FF2B5EF4-FFF2-40B4-BE49-F238E27FC236}">
                <a16:creationId xmlns:a16="http://schemas.microsoft.com/office/drawing/2014/main" id="{5D79ACD0-FCF9-4256-AC20-352CFCB91491}"/>
              </a:ext>
            </a:extLst>
          </p:cNvPr>
          <p:cNvSpPr/>
          <p:nvPr/>
        </p:nvSpPr>
        <p:spPr>
          <a:xfrm rot="10800000">
            <a:off x="1303803" y="2943249"/>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3FB904F-08A3-4B90-A340-0EE52A23369D}"/>
              </a:ext>
            </a:extLst>
          </p:cNvPr>
          <p:cNvSpPr/>
          <p:nvPr/>
        </p:nvSpPr>
        <p:spPr>
          <a:xfrm>
            <a:off x="936372" y="3085109"/>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2" name="Arrow: Down 41">
            <a:extLst>
              <a:ext uri="{FF2B5EF4-FFF2-40B4-BE49-F238E27FC236}">
                <a16:creationId xmlns:a16="http://schemas.microsoft.com/office/drawing/2014/main" id="{533631D7-0BA6-43A9-949E-2C1048E3724B}"/>
              </a:ext>
            </a:extLst>
          </p:cNvPr>
          <p:cNvSpPr/>
          <p:nvPr/>
        </p:nvSpPr>
        <p:spPr>
          <a:xfrm rot="10800000">
            <a:off x="2605326" y="2948017"/>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5513B8C-B523-491A-8E04-2E1F471ADCB8}"/>
              </a:ext>
            </a:extLst>
          </p:cNvPr>
          <p:cNvSpPr/>
          <p:nvPr/>
        </p:nvSpPr>
        <p:spPr>
          <a:xfrm>
            <a:off x="2029874" y="3089877"/>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نوع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pic>
        <p:nvPicPr>
          <p:cNvPr id="5" name="Picture 4">
            <a:extLst>
              <a:ext uri="{FF2B5EF4-FFF2-40B4-BE49-F238E27FC236}">
                <a16:creationId xmlns:a16="http://schemas.microsoft.com/office/drawing/2014/main" id="{78CBC51A-865E-405A-B97F-4B238037CC06}"/>
              </a:ext>
            </a:extLst>
          </p:cNvPr>
          <p:cNvPicPr>
            <a:picLocks noChangeAspect="1"/>
          </p:cNvPicPr>
          <p:nvPr/>
        </p:nvPicPr>
        <p:blipFill>
          <a:blip r:embed="rId3"/>
          <a:stretch>
            <a:fillRect/>
          </a:stretch>
        </p:blipFill>
        <p:spPr>
          <a:xfrm>
            <a:off x="936372" y="3760034"/>
            <a:ext cx="5963482" cy="2981252"/>
          </a:xfrm>
          <a:prstGeom prst="rect">
            <a:avLst/>
          </a:prstGeom>
          <a:ln>
            <a:solidFill>
              <a:srgbClr val="0070C0"/>
            </a:solidFill>
          </a:ln>
        </p:spPr>
      </p:pic>
      <p:sp>
        <p:nvSpPr>
          <p:cNvPr id="29" name="Arrow: Down 28">
            <a:extLst>
              <a:ext uri="{FF2B5EF4-FFF2-40B4-BE49-F238E27FC236}">
                <a16:creationId xmlns:a16="http://schemas.microsoft.com/office/drawing/2014/main" id="{FCABBE23-96DF-4797-B3FB-BAD6F9ECF6B7}"/>
              </a:ext>
            </a:extLst>
          </p:cNvPr>
          <p:cNvSpPr/>
          <p:nvPr/>
        </p:nvSpPr>
        <p:spPr>
          <a:xfrm rot="10800000">
            <a:off x="5322187" y="2952800"/>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7557E5F-4699-4D6A-93D5-7BBA5111CFF1}"/>
              </a:ext>
            </a:extLst>
          </p:cNvPr>
          <p:cNvSpPr/>
          <p:nvPr/>
        </p:nvSpPr>
        <p:spPr>
          <a:xfrm>
            <a:off x="4746735" y="3094660"/>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126418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589079" y="151108"/>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4030419" y="-61076"/>
            <a:ext cx="5030673" cy="923330"/>
          </a:xfrm>
          <a:prstGeom prst="rect">
            <a:avLst/>
          </a:prstGeom>
          <a:noFill/>
        </p:spPr>
        <p:txBody>
          <a:bodyPr wrap="none" lIns="91440" tIns="45720" rIns="91440" bIns="45720">
            <a:spAutoFit/>
          </a:bodyPr>
          <a:lstStyle/>
          <a:p>
            <a:pPr algn="ctr" rtl="1"/>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Foreign Key</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248703" y="725034"/>
            <a:ext cx="6889071" cy="2862322"/>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Create TABLE table-name</a:t>
            </a:r>
          </a:p>
          <a:p>
            <a:r>
              <a:rPr lang="en-US" sz="3600" dirty="0">
                <a:ln w="0"/>
                <a:solidFill>
                  <a:schemeClr val="accent1"/>
                </a:solidFill>
                <a:effectLst>
                  <a:outerShdw blurRad="38100" dist="25400" dir="5400000" algn="ctr" rotWithShape="0">
                    <a:srgbClr val="6E747A">
                      <a:alpha val="43000"/>
                    </a:srgbClr>
                  </a:outerShdw>
                </a:effectLst>
              </a:rPr>
              <a:t>(</a:t>
            </a:r>
          </a:p>
          <a:p>
            <a:r>
              <a:rPr lang="en-US" dirty="0">
                <a:ln w="0"/>
                <a:solidFill>
                  <a:schemeClr val="accent1"/>
                </a:solidFill>
                <a:effectLst>
                  <a:outerShdw blurRad="38100" dist="25400" dir="5400000" algn="ctr" rotWithShape="0">
                    <a:srgbClr val="6E747A">
                      <a:alpha val="43000"/>
                    </a:srgbClr>
                  </a:outerShdw>
                </a:effectLst>
              </a:rPr>
              <a:t>variable-name variable-type (variable-size)  ,</a:t>
            </a:r>
          </a:p>
          <a:p>
            <a:r>
              <a:rPr lang="en-US" dirty="0">
                <a:ln w="0"/>
                <a:solidFill>
                  <a:schemeClr val="accent1"/>
                </a:solidFill>
                <a:effectLst>
                  <a:outerShdw blurRad="38100" dist="25400" dir="5400000" algn="ctr" rotWithShape="0">
                    <a:srgbClr val="6E747A">
                      <a:alpha val="43000"/>
                    </a:srgbClr>
                  </a:outerShdw>
                </a:effectLst>
              </a:rPr>
              <a:t>FOREIGN KEY (variable-name) REFERENCES table-name(variable-name)</a:t>
            </a:r>
          </a:p>
          <a:p>
            <a:r>
              <a:rPr lang="en-US" sz="3600" dirty="0">
                <a:ln w="0"/>
                <a:solidFill>
                  <a:schemeClr val="accent1"/>
                </a:solidFill>
                <a:effectLst>
                  <a:outerShdw blurRad="38100" dist="25400" dir="5400000" algn="ctr" rotWithShape="0">
                    <a:srgbClr val="6E747A">
                      <a:alpha val="43000"/>
                    </a:srgbClr>
                  </a:outerShdw>
                </a:effectLst>
              </a:rPr>
              <a:t> </a:t>
            </a:r>
          </a:p>
          <a:p>
            <a:r>
              <a:rPr lang="en-US" sz="3600" dirty="0">
                <a:ln w="0"/>
                <a:solidFill>
                  <a:schemeClr val="accent1"/>
                </a:solidFill>
                <a:effectLst>
                  <a:outerShdw blurRad="38100" dist="25400" dir="5400000" algn="ctr" rotWithShape="0">
                    <a:srgbClr val="6E747A">
                      <a:alpha val="43000"/>
                    </a:srgbClr>
                  </a:outerShdw>
                </a:effectLst>
              </a:rPr>
              <a:t>) ;</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38" name="Arrow: Down 37">
            <a:extLst>
              <a:ext uri="{FF2B5EF4-FFF2-40B4-BE49-F238E27FC236}">
                <a16:creationId xmlns:a16="http://schemas.microsoft.com/office/drawing/2014/main" id="{CA9300EA-D4C1-4262-8C9F-52DABA5047F7}"/>
              </a:ext>
            </a:extLst>
          </p:cNvPr>
          <p:cNvSpPr/>
          <p:nvPr/>
        </p:nvSpPr>
        <p:spPr>
          <a:xfrm rot="10800000">
            <a:off x="5034750" y="2491646"/>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0C0B82F-CF85-4F70-9085-0A810C0C61CE}"/>
              </a:ext>
            </a:extLst>
          </p:cNvPr>
          <p:cNvSpPr/>
          <p:nvPr/>
        </p:nvSpPr>
        <p:spPr>
          <a:xfrm>
            <a:off x="4459298" y="2633506"/>
            <a:ext cx="1275192" cy="523220"/>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الجدول المرتبط معه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0" name="Arrow: Down 39">
            <a:extLst>
              <a:ext uri="{FF2B5EF4-FFF2-40B4-BE49-F238E27FC236}">
                <a16:creationId xmlns:a16="http://schemas.microsoft.com/office/drawing/2014/main" id="{5D79ACD0-FCF9-4256-AC20-352CFCB91491}"/>
              </a:ext>
            </a:extLst>
          </p:cNvPr>
          <p:cNvSpPr/>
          <p:nvPr/>
        </p:nvSpPr>
        <p:spPr>
          <a:xfrm rot="10800000">
            <a:off x="912298" y="2481611"/>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3FB904F-08A3-4B90-A340-0EE52A23369D}"/>
              </a:ext>
            </a:extLst>
          </p:cNvPr>
          <p:cNvSpPr/>
          <p:nvPr/>
        </p:nvSpPr>
        <p:spPr>
          <a:xfrm>
            <a:off x="1164731" y="282596"/>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42" name="Arrow: Down 41">
            <a:extLst>
              <a:ext uri="{FF2B5EF4-FFF2-40B4-BE49-F238E27FC236}">
                <a16:creationId xmlns:a16="http://schemas.microsoft.com/office/drawing/2014/main" id="{533631D7-0BA6-43A9-949E-2C1048E3724B}"/>
              </a:ext>
            </a:extLst>
          </p:cNvPr>
          <p:cNvSpPr/>
          <p:nvPr/>
        </p:nvSpPr>
        <p:spPr>
          <a:xfrm rot="10800000">
            <a:off x="2084419" y="2481612"/>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5513B8C-B523-491A-8E04-2E1F471ADCB8}"/>
              </a:ext>
            </a:extLst>
          </p:cNvPr>
          <p:cNvSpPr/>
          <p:nvPr/>
        </p:nvSpPr>
        <p:spPr>
          <a:xfrm>
            <a:off x="1766053" y="2637152"/>
            <a:ext cx="1275192" cy="523220"/>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اسم</a:t>
            </a:r>
            <a:r>
              <a:rPr lang="ar-JO" sz="1400" b="0" cap="none" spc="0" dirty="0">
                <a:ln w="0"/>
                <a:solidFill>
                  <a:srgbClr val="FF0000"/>
                </a:solidFill>
                <a:effectLst>
                  <a:outerShdw blurRad="38100" dist="25400" dir="5400000" algn="ctr" rotWithShape="0">
                    <a:srgbClr val="6E747A">
                      <a:alpha val="43000"/>
                    </a:srgbClr>
                  </a:outerShdw>
                </a:effectLst>
              </a:rPr>
              <a:t> المتغير للجدول نفسه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0" name="Rectangle 29">
            <a:extLst>
              <a:ext uri="{FF2B5EF4-FFF2-40B4-BE49-F238E27FC236}">
                <a16:creationId xmlns:a16="http://schemas.microsoft.com/office/drawing/2014/main" id="{B7557E5F-4699-4D6A-93D5-7BBA5111CFF1}"/>
              </a:ext>
            </a:extLst>
          </p:cNvPr>
          <p:cNvSpPr/>
          <p:nvPr/>
        </p:nvSpPr>
        <p:spPr>
          <a:xfrm>
            <a:off x="343844" y="2623471"/>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pic>
        <p:nvPicPr>
          <p:cNvPr id="3" name="Picture 2">
            <a:extLst>
              <a:ext uri="{FF2B5EF4-FFF2-40B4-BE49-F238E27FC236}">
                <a16:creationId xmlns:a16="http://schemas.microsoft.com/office/drawing/2014/main" id="{AC29CF18-6C64-4EA5-B682-BAFD669DFA88}"/>
              </a:ext>
            </a:extLst>
          </p:cNvPr>
          <p:cNvPicPr>
            <a:picLocks noChangeAspect="1"/>
          </p:cNvPicPr>
          <p:nvPr/>
        </p:nvPicPr>
        <p:blipFill>
          <a:blip r:embed="rId3"/>
          <a:stretch>
            <a:fillRect/>
          </a:stretch>
        </p:blipFill>
        <p:spPr>
          <a:xfrm>
            <a:off x="866711" y="3362754"/>
            <a:ext cx="7185174" cy="3471646"/>
          </a:xfrm>
          <a:prstGeom prst="rect">
            <a:avLst/>
          </a:prstGeom>
          <a:ln>
            <a:solidFill>
              <a:schemeClr val="accent5">
                <a:lumMod val="50000"/>
              </a:schemeClr>
            </a:solidFill>
          </a:ln>
        </p:spPr>
      </p:pic>
      <p:sp>
        <p:nvSpPr>
          <p:cNvPr id="19" name="Arrow: Down 18">
            <a:extLst>
              <a:ext uri="{FF2B5EF4-FFF2-40B4-BE49-F238E27FC236}">
                <a16:creationId xmlns:a16="http://schemas.microsoft.com/office/drawing/2014/main" id="{4D98B746-4073-4E5E-A79D-0E1F3B83A3E8}"/>
              </a:ext>
            </a:extLst>
          </p:cNvPr>
          <p:cNvSpPr/>
          <p:nvPr/>
        </p:nvSpPr>
        <p:spPr>
          <a:xfrm rot="10800000">
            <a:off x="3671667" y="2501357"/>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8EC90C6-1EA1-4F8C-8934-9C33B3FC6C25}"/>
              </a:ext>
            </a:extLst>
          </p:cNvPr>
          <p:cNvSpPr/>
          <p:nvPr/>
        </p:nvSpPr>
        <p:spPr>
          <a:xfrm>
            <a:off x="3103213" y="2643217"/>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1" name="Arrow: Down 20">
            <a:extLst>
              <a:ext uri="{FF2B5EF4-FFF2-40B4-BE49-F238E27FC236}">
                <a16:creationId xmlns:a16="http://schemas.microsoft.com/office/drawing/2014/main" id="{F7ACC5F3-0107-4B1A-8D16-83367744C772}"/>
              </a:ext>
            </a:extLst>
          </p:cNvPr>
          <p:cNvSpPr/>
          <p:nvPr/>
        </p:nvSpPr>
        <p:spPr>
          <a:xfrm rot="10800000">
            <a:off x="6085876" y="2503206"/>
            <a:ext cx="132249"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5B3C82-0535-4DF2-8964-C121EE17C07B}"/>
              </a:ext>
            </a:extLst>
          </p:cNvPr>
          <p:cNvSpPr/>
          <p:nvPr/>
        </p:nvSpPr>
        <p:spPr>
          <a:xfrm>
            <a:off x="5767510" y="2658746"/>
            <a:ext cx="1275192" cy="523220"/>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اسم</a:t>
            </a:r>
            <a:r>
              <a:rPr lang="ar-JO" sz="1400" b="0" cap="none" spc="0" dirty="0">
                <a:ln w="0"/>
                <a:solidFill>
                  <a:srgbClr val="FF0000"/>
                </a:solidFill>
                <a:effectLst>
                  <a:outerShdw blurRad="38100" dist="25400" dir="5400000" algn="ctr" rotWithShape="0">
                    <a:srgbClr val="6E747A">
                      <a:alpha val="43000"/>
                    </a:srgbClr>
                  </a:outerShdw>
                </a:effectLst>
              </a:rPr>
              <a:t> المتغيرللجدول المرتبط معه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5AD13158-C64A-4023-BA85-81F9E9DD2A95}"/>
              </a:ext>
            </a:extLst>
          </p:cNvPr>
          <p:cNvSpPr/>
          <p:nvPr/>
        </p:nvSpPr>
        <p:spPr>
          <a:xfrm>
            <a:off x="2301787" y="3638094"/>
            <a:ext cx="2027079" cy="4545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AE95260-0F82-473C-ADD1-B107855C4E9D}"/>
              </a:ext>
            </a:extLst>
          </p:cNvPr>
          <p:cNvSpPr/>
          <p:nvPr/>
        </p:nvSpPr>
        <p:spPr>
          <a:xfrm>
            <a:off x="2301787" y="4108668"/>
            <a:ext cx="2027079" cy="617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EF1FD80-ACE6-4124-A465-8EDAD0DB6D6C}"/>
              </a:ext>
            </a:extLst>
          </p:cNvPr>
          <p:cNvSpPr/>
          <p:nvPr/>
        </p:nvSpPr>
        <p:spPr>
          <a:xfrm>
            <a:off x="4514683" y="4312349"/>
            <a:ext cx="582211"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6" name="Rectangle 25">
            <a:extLst>
              <a:ext uri="{FF2B5EF4-FFF2-40B4-BE49-F238E27FC236}">
                <a16:creationId xmlns:a16="http://schemas.microsoft.com/office/drawing/2014/main" id="{1F684621-AAF5-4874-96CB-319444AB5AA3}"/>
              </a:ext>
            </a:extLst>
          </p:cNvPr>
          <p:cNvSpPr/>
          <p:nvPr/>
        </p:nvSpPr>
        <p:spPr>
          <a:xfrm>
            <a:off x="4454330" y="3873083"/>
            <a:ext cx="1313180"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 المرتبط معه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0" name="Arrow: Right 9">
            <a:extLst>
              <a:ext uri="{FF2B5EF4-FFF2-40B4-BE49-F238E27FC236}">
                <a16:creationId xmlns:a16="http://schemas.microsoft.com/office/drawing/2014/main" id="{7C88BC0C-259C-4BB3-A99D-5A5ED925BAD3}"/>
              </a:ext>
            </a:extLst>
          </p:cNvPr>
          <p:cNvSpPr/>
          <p:nvPr/>
        </p:nvSpPr>
        <p:spPr>
          <a:xfrm>
            <a:off x="4340222" y="4411885"/>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3CD90402-9596-4803-8E3E-E6D504EA52CF}"/>
              </a:ext>
            </a:extLst>
          </p:cNvPr>
          <p:cNvSpPr/>
          <p:nvPr/>
        </p:nvSpPr>
        <p:spPr>
          <a:xfrm>
            <a:off x="4333164" y="3980058"/>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4818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D515D-5EF1-4944-5FDB-DF73A28EF7E5}"/>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1172B442-814F-7FAE-3118-D59E32C991EB}"/>
              </a:ext>
            </a:extLst>
          </p:cNvPr>
          <p:cNvPicPr>
            <a:picLocks noChangeAspect="1"/>
          </p:cNvPicPr>
          <p:nvPr/>
        </p:nvPicPr>
        <p:blipFill>
          <a:blip r:embed="rId2">
            <a:alphaModFix amt="6000"/>
          </a:blip>
          <a:stretch>
            <a:fillRect/>
          </a:stretch>
        </p:blipFill>
        <p:spPr>
          <a:xfrm>
            <a:off x="589079" y="151108"/>
            <a:ext cx="6995518" cy="6458689"/>
          </a:xfrm>
          <a:prstGeom prst="rect">
            <a:avLst/>
          </a:prstGeom>
          <a:noFill/>
          <a:ln>
            <a:noFill/>
          </a:ln>
        </p:spPr>
      </p:pic>
      <p:sp>
        <p:nvSpPr>
          <p:cNvPr id="4" name="Rectangle 3">
            <a:extLst>
              <a:ext uri="{FF2B5EF4-FFF2-40B4-BE49-F238E27FC236}">
                <a16:creationId xmlns:a16="http://schemas.microsoft.com/office/drawing/2014/main" id="{9D7E035A-5A39-9A7D-6B80-0D7725E3D249}"/>
              </a:ext>
            </a:extLst>
          </p:cNvPr>
          <p:cNvSpPr/>
          <p:nvPr/>
        </p:nvSpPr>
        <p:spPr>
          <a:xfrm>
            <a:off x="4032089" y="-61076"/>
            <a:ext cx="5027338" cy="923330"/>
          </a:xfrm>
          <a:prstGeom prst="rect">
            <a:avLst/>
          </a:prstGeom>
          <a:noFill/>
        </p:spPr>
        <p:txBody>
          <a:bodyPr wrap="none" lIns="91440" tIns="45720" rIns="91440" bIns="45720">
            <a:spAutoFit/>
          </a:bodyPr>
          <a:lstStyle/>
          <a:p>
            <a:pPr algn="ctr" rtl="1"/>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Insert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اضافة صف:</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83516282-7F21-6C69-241C-64CF6D246D4D}"/>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C0611765-E007-DD0D-FC1E-AFFA3DCC70C6}"/>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F33457AA-834A-9B7C-7CF8-AF01B4774631}"/>
              </a:ext>
            </a:extLst>
          </p:cNvPr>
          <p:cNvSpPr/>
          <p:nvPr/>
        </p:nvSpPr>
        <p:spPr>
          <a:xfrm>
            <a:off x="248703" y="725034"/>
            <a:ext cx="688907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INSERT INTO table-name</a:t>
            </a:r>
          </a:p>
          <a:p>
            <a:r>
              <a:rPr lang="en-US" sz="3600" dirty="0">
                <a:ln w="0"/>
                <a:solidFill>
                  <a:schemeClr val="accent1"/>
                </a:solidFill>
                <a:effectLst>
                  <a:outerShdw blurRad="38100" dist="25400" dir="5400000" algn="ctr" rotWithShape="0">
                    <a:srgbClr val="6E747A">
                      <a:alpha val="43000"/>
                    </a:srgbClr>
                  </a:outerShdw>
                </a:effectLst>
              </a:rPr>
              <a:t>(</a:t>
            </a:r>
            <a:r>
              <a:rPr lang="en-US" dirty="0">
                <a:ln w="0"/>
                <a:solidFill>
                  <a:schemeClr val="accent1"/>
                </a:solidFill>
                <a:effectLst>
                  <a:outerShdw blurRad="38100" dist="25400" dir="5400000" algn="ctr" rotWithShape="0">
                    <a:srgbClr val="6E747A">
                      <a:alpha val="43000"/>
                    </a:srgbClr>
                  </a:outerShdw>
                </a:effectLst>
              </a:rPr>
              <a:t>variable-name ,</a:t>
            </a:r>
            <a:r>
              <a:rPr lang="en-US" sz="3600" dirty="0">
                <a:ln w="0"/>
                <a:solidFill>
                  <a:schemeClr val="accent1"/>
                </a:solidFill>
                <a:effectLst>
                  <a:outerShdw blurRad="38100" dist="25400" dir="5400000" algn="ctr" rotWithShape="0">
                    <a:srgbClr val="6E747A">
                      <a:alpha val="43000"/>
                    </a:srgbClr>
                  </a:outerShdw>
                </a:effectLst>
              </a:rPr>
              <a:t> </a:t>
            </a:r>
            <a:r>
              <a:rPr lang="en-US" dirty="0">
                <a:ln w="0"/>
                <a:solidFill>
                  <a:schemeClr val="accent1"/>
                </a:solidFill>
                <a:effectLst>
                  <a:outerShdw blurRad="38100" dist="25400" dir="5400000" algn="ctr" rotWithShape="0">
                    <a:srgbClr val="6E747A">
                      <a:alpha val="43000"/>
                    </a:srgbClr>
                  </a:outerShdw>
                </a:effectLst>
              </a:rPr>
              <a:t>variable2-name</a:t>
            </a:r>
            <a:r>
              <a:rPr lang="en-US" sz="3600" dirty="0">
                <a:ln w="0"/>
                <a:solidFill>
                  <a:schemeClr val="accent1"/>
                </a:solidFill>
                <a:effectLst>
                  <a:outerShdw blurRad="38100" dist="25400" dir="5400000" algn="ctr" rotWithShape="0">
                    <a:srgbClr val="6E747A">
                      <a:alpha val="43000"/>
                    </a:srgbClr>
                  </a:outerShdw>
                </a:effectLst>
              </a:rPr>
              <a:t>) </a:t>
            </a:r>
          </a:p>
          <a:p>
            <a:r>
              <a:rPr lang="en-US" sz="3600" dirty="0">
                <a:ln w="0"/>
                <a:solidFill>
                  <a:schemeClr val="accent1"/>
                </a:solidFill>
                <a:effectLst>
                  <a:outerShdw blurRad="38100" dist="25400" dir="5400000" algn="ctr" rotWithShape="0">
                    <a:srgbClr val="6E747A">
                      <a:alpha val="43000"/>
                    </a:srgbClr>
                  </a:outerShdw>
                </a:effectLst>
              </a:rPr>
              <a:t>VALUES</a:t>
            </a:r>
          </a:p>
          <a:p>
            <a:r>
              <a:rPr lang="en-US" sz="3600" dirty="0">
                <a:ln w="0"/>
                <a:solidFill>
                  <a:schemeClr val="accent1"/>
                </a:solidFill>
                <a:effectLst>
                  <a:outerShdw blurRad="38100" dist="25400" dir="5400000" algn="ctr" rotWithShape="0">
                    <a:srgbClr val="6E747A">
                      <a:alpha val="43000"/>
                    </a:srgbClr>
                  </a:outerShdw>
                </a:effectLst>
              </a:rPr>
              <a:t>( </a:t>
            </a:r>
            <a:r>
              <a:rPr lang="en-US" dirty="0">
                <a:ln w="0"/>
                <a:solidFill>
                  <a:schemeClr val="accent1"/>
                </a:solidFill>
                <a:effectLst>
                  <a:outerShdw blurRad="38100" dist="25400" dir="5400000" algn="ctr" rotWithShape="0">
                    <a:srgbClr val="6E747A">
                      <a:alpha val="43000"/>
                    </a:srgbClr>
                  </a:outerShdw>
                </a:effectLst>
              </a:rPr>
              <a:t>VALUE1,VALUE2</a:t>
            </a:r>
            <a:r>
              <a:rPr lang="en-US" sz="3600" dirty="0">
                <a:ln w="0"/>
                <a:solidFill>
                  <a:schemeClr val="accent1"/>
                </a:solidFill>
                <a:effectLst>
                  <a:outerShdw blurRad="38100" dist="25400" dir="5400000" algn="ctr" rotWithShape="0">
                    <a:srgbClr val="6E747A">
                      <a:alpha val="43000"/>
                    </a:srgbClr>
                  </a:outerShdw>
                </a:effectLst>
              </a:rPr>
              <a:t>) ;</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40" name="Arrow: Down 39">
            <a:extLst>
              <a:ext uri="{FF2B5EF4-FFF2-40B4-BE49-F238E27FC236}">
                <a16:creationId xmlns:a16="http://schemas.microsoft.com/office/drawing/2014/main" id="{199F261B-05B7-2ACD-EEB8-44CE04155685}"/>
              </a:ext>
            </a:extLst>
          </p:cNvPr>
          <p:cNvSpPr/>
          <p:nvPr/>
        </p:nvSpPr>
        <p:spPr>
          <a:xfrm>
            <a:off x="718372" y="583174"/>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29283C0-E675-45AB-C45A-98141C301A7C}"/>
              </a:ext>
            </a:extLst>
          </p:cNvPr>
          <p:cNvSpPr/>
          <p:nvPr/>
        </p:nvSpPr>
        <p:spPr>
          <a:xfrm>
            <a:off x="503345" y="1227403"/>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0" name="Rectangle 29">
            <a:extLst>
              <a:ext uri="{FF2B5EF4-FFF2-40B4-BE49-F238E27FC236}">
                <a16:creationId xmlns:a16="http://schemas.microsoft.com/office/drawing/2014/main" id="{DC8BF461-AB4A-56AA-3918-BB2CF1291B6A}"/>
              </a:ext>
            </a:extLst>
          </p:cNvPr>
          <p:cNvSpPr/>
          <p:nvPr/>
        </p:nvSpPr>
        <p:spPr>
          <a:xfrm>
            <a:off x="261718" y="288046"/>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A9B015DD-61CD-86A0-7CA6-9C035DC20686}"/>
              </a:ext>
            </a:extLst>
          </p:cNvPr>
          <p:cNvSpPr/>
          <p:nvPr/>
        </p:nvSpPr>
        <p:spPr>
          <a:xfrm>
            <a:off x="2301787" y="3638094"/>
            <a:ext cx="2027079" cy="4545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FFE88BF-BA5A-AF8B-3B7E-539C0CD552F3}"/>
              </a:ext>
            </a:extLst>
          </p:cNvPr>
          <p:cNvSpPr/>
          <p:nvPr/>
        </p:nvSpPr>
        <p:spPr>
          <a:xfrm>
            <a:off x="2301787" y="4108668"/>
            <a:ext cx="2027079" cy="617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F8B177-C065-F3F5-CEBB-3DC03ADB23C1}"/>
              </a:ext>
            </a:extLst>
          </p:cNvPr>
          <p:cNvSpPr/>
          <p:nvPr/>
        </p:nvSpPr>
        <p:spPr>
          <a:xfrm>
            <a:off x="4514683" y="4312349"/>
            <a:ext cx="582211"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6" name="Rectangle 25">
            <a:extLst>
              <a:ext uri="{FF2B5EF4-FFF2-40B4-BE49-F238E27FC236}">
                <a16:creationId xmlns:a16="http://schemas.microsoft.com/office/drawing/2014/main" id="{8E40AE09-0F05-C485-3D2C-A306AB949A5D}"/>
              </a:ext>
            </a:extLst>
          </p:cNvPr>
          <p:cNvSpPr/>
          <p:nvPr/>
        </p:nvSpPr>
        <p:spPr>
          <a:xfrm>
            <a:off x="4454330" y="3873083"/>
            <a:ext cx="1313180"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 المرتبط معه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0" name="Arrow: Right 9">
            <a:extLst>
              <a:ext uri="{FF2B5EF4-FFF2-40B4-BE49-F238E27FC236}">
                <a16:creationId xmlns:a16="http://schemas.microsoft.com/office/drawing/2014/main" id="{EA8F213B-94BE-6073-F834-C7433F3F0C9E}"/>
              </a:ext>
            </a:extLst>
          </p:cNvPr>
          <p:cNvSpPr/>
          <p:nvPr/>
        </p:nvSpPr>
        <p:spPr>
          <a:xfrm>
            <a:off x="4340222" y="4411885"/>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EE8E758-0579-422C-7F63-5D948C3EA84C}"/>
              </a:ext>
            </a:extLst>
          </p:cNvPr>
          <p:cNvSpPr/>
          <p:nvPr/>
        </p:nvSpPr>
        <p:spPr>
          <a:xfrm>
            <a:off x="4333164" y="3980058"/>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881DEAD-ACC8-96ED-7B07-57ABB8069DB0}"/>
              </a:ext>
            </a:extLst>
          </p:cNvPr>
          <p:cNvPicPr>
            <a:picLocks noChangeAspect="1"/>
          </p:cNvPicPr>
          <p:nvPr/>
        </p:nvPicPr>
        <p:blipFill>
          <a:blip r:embed="rId3"/>
          <a:stretch>
            <a:fillRect/>
          </a:stretch>
        </p:blipFill>
        <p:spPr>
          <a:xfrm>
            <a:off x="248703" y="3053158"/>
            <a:ext cx="7592485" cy="3620005"/>
          </a:xfrm>
          <a:prstGeom prst="rect">
            <a:avLst/>
          </a:prstGeom>
          <a:ln>
            <a:solidFill>
              <a:schemeClr val="accent1"/>
            </a:solidFill>
          </a:ln>
        </p:spPr>
      </p:pic>
      <p:sp>
        <p:nvSpPr>
          <p:cNvPr id="11" name="Rectangle 10">
            <a:extLst>
              <a:ext uri="{FF2B5EF4-FFF2-40B4-BE49-F238E27FC236}">
                <a16:creationId xmlns:a16="http://schemas.microsoft.com/office/drawing/2014/main" id="{B4D8CE5C-DAF9-B80F-1555-0479FA350085}"/>
              </a:ext>
            </a:extLst>
          </p:cNvPr>
          <p:cNvSpPr/>
          <p:nvPr/>
        </p:nvSpPr>
        <p:spPr>
          <a:xfrm>
            <a:off x="2006226" y="1202858"/>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r>
              <a:rPr lang="en-US" sz="1400" b="0" cap="none" spc="0" dirty="0">
                <a:ln w="0"/>
                <a:solidFill>
                  <a:srgbClr val="FF0000"/>
                </a:solidFill>
                <a:effectLst>
                  <a:outerShdw blurRad="38100" dist="25400" dir="5400000" algn="ctr" rotWithShape="0">
                    <a:srgbClr val="6E747A">
                      <a:alpha val="43000"/>
                    </a:srgbClr>
                  </a:outerShdw>
                </a:effectLst>
              </a:rPr>
              <a:t>2</a:t>
            </a:r>
          </a:p>
        </p:txBody>
      </p:sp>
      <p:sp>
        <p:nvSpPr>
          <p:cNvPr id="13" name="Rectangle 12">
            <a:extLst>
              <a:ext uri="{FF2B5EF4-FFF2-40B4-BE49-F238E27FC236}">
                <a16:creationId xmlns:a16="http://schemas.microsoft.com/office/drawing/2014/main" id="{1881F6C4-7144-1BAE-B6B9-0943A0202C83}"/>
              </a:ext>
            </a:extLst>
          </p:cNvPr>
          <p:cNvSpPr/>
          <p:nvPr/>
        </p:nvSpPr>
        <p:spPr>
          <a:xfrm>
            <a:off x="1551191" y="285768"/>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4" name="Rectangle 13">
            <a:extLst>
              <a:ext uri="{FF2B5EF4-FFF2-40B4-BE49-F238E27FC236}">
                <a16:creationId xmlns:a16="http://schemas.microsoft.com/office/drawing/2014/main" id="{F8887FF5-29B9-7C90-D6E6-D260A34F8BEE}"/>
              </a:ext>
            </a:extLst>
          </p:cNvPr>
          <p:cNvSpPr/>
          <p:nvPr/>
        </p:nvSpPr>
        <p:spPr>
          <a:xfrm>
            <a:off x="1846051" y="1966248"/>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a:t>
            </a:r>
            <a:r>
              <a:rPr lang="ar-JO" sz="1400">
                <a:ln w="0"/>
                <a:solidFill>
                  <a:srgbClr val="FF0000"/>
                </a:solidFill>
                <a:effectLst>
                  <a:outerShdw blurRad="38100" dist="25400" dir="5400000" algn="ctr" rotWithShape="0">
                    <a:srgbClr val="6E747A">
                      <a:alpha val="43000"/>
                    </a:srgbClr>
                  </a:outerShdw>
                </a:effectLst>
              </a:rPr>
              <a:t>محجوزه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7" name="Arrow: Down 16">
            <a:extLst>
              <a:ext uri="{FF2B5EF4-FFF2-40B4-BE49-F238E27FC236}">
                <a16:creationId xmlns:a16="http://schemas.microsoft.com/office/drawing/2014/main" id="{727CD085-5853-9A95-B8EA-6E01DF9FE75E}"/>
              </a:ext>
            </a:extLst>
          </p:cNvPr>
          <p:cNvSpPr/>
          <p:nvPr/>
        </p:nvSpPr>
        <p:spPr>
          <a:xfrm>
            <a:off x="2107257" y="563374"/>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D9FCEF1-622A-4AE1-83D7-74B77B40D786}"/>
              </a:ext>
            </a:extLst>
          </p:cNvPr>
          <p:cNvSpPr/>
          <p:nvPr/>
        </p:nvSpPr>
        <p:spPr>
          <a:xfrm>
            <a:off x="2926202" y="217728"/>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الجدول </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2" name="Arrow: Down 31">
            <a:extLst>
              <a:ext uri="{FF2B5EF4-FFF2-40B4-BE49-F238E27FC236}">
                <a16:creationId xmlns:a16="http://schemas.microsoft.com/office/drawing/2014/main" id="{219D7EFD-A9AB-D06E-8665-474C44A969BD}"/>
              </a:ext>
            </a:extLst>
          </p:cNvPr>
          <p:cNvSpPr/>
          <p:nvPr/>
        </p:nvSpPr>
        <p:spPr>
          <a:xfrm>
            <a:off x="3576223" y="544407"/>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18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pic>
        <p:nvPicPr>
          <p:cNvPr id="2" name="عنصر نائب للمحتوى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1464" y="600207"/>
            <a:ext cx="7246039" cy="5675901"/>
          </a:xfrm>
          <a:ln>
            <a:solidFill>
              <a:schemeClr val="accent1"/>
            </a:solidFill>
          </a:ln>
        </p:spPr>
      </p:pic>
      <p:sp>
        <p:nvSpPr>
          <p:cNvPr id="4" name="Rectangle 3">
            <a:extLst>
              <a:ext uri="{FF2B5EF4-FFF2-40B4-BE49-F238E27FC236}">
                <a16:creationId xmlns:a16="http://schemas.microsoft.com/office/drawing/2014/main" id="{2E50BFFF-0051-41D2-911D-A3CA36D084EE}"/>
              </a:ext>
            </a:extLst>
          </p:cNvPr>
          <p:cNvSpPr/>
          <p:nvPr/>
        </p:nvSpPr>
        <p:spPr>
          <a:xfrm>
            <a:off x="5508923" y="297401"/>
            <a:ext cx="184731" cy="923330"/>
          </a:xfrm>
          <a:prstGeom prst="rect">
            <a:avLst/>
          </a:prstGeom>
          <a:noFill/>
        </p:spPr>
        <p:txBody>
          <a:bodyPr wrap="none" lIns="91440" tIns="45720" rIns="91440" bIns="45720">
            <a:spAutoFit/>
          </a:bodyPr>
          <a:lstStyle/>
          <a:p>
            <a:pPr algn="ct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1837607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5508923" y="297401"/>
            <a:ext cx="184731" cy="923330"/>
          </a:xfrm>
          <a:prstGeom prst="rect">
            <a:avLst/>
          </a:prstGeom>
          <a:noFill/>
        </p:spPr>
        <p:txBody>
          <a:bodyPr wrap="none" lIns="91440" tIns="45720" rIns="91440" bIns="45720">
            <a:spAutoFit/>
          </a:bodyPr>
          <a:lstStyle/>
          <a:p>
            <a:pPr algn="ct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عنصر نائب للمحتوى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880" y="401782"/>
            <a:ext cx="7206115" cy="2493818"/>
          </a:xfrm>
          <a:ln>
            <a:solidFill>
              <a:schemeClr val="accent1"/>
            </a:solidFill>
          </a:ln>
        </p:spPr>
      </p:pic>
      <p:pic>
        <p:nvPicPr>
          <p:cNvPr id="9" name="صورة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194" y="2895600"/>
            <a:ext cx="7192801" cy="3191925"/>
          </a:xfrm>
          <a:prstGeom prst="rect">
            <a:avLst/>
          </a:prstGeom>
          <a:ln>
            <a:solidFill>
              <a:schemeClr val="accent1"/>
            </a:solidFill>
          </a:ln>
        </p:spPr>
      </p:pic>
    </p:spTree>
    <p:extLst>
      <p:ext uri="{BB962C8B-B14F-4D97-AF65-F5344CB8AC3E}">
        <p14:creationId xmlns:p14="http://schemas.microsoft.com/office/powerpoint/2010/main" val="2814094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D515D-5EF1-4944-5FDB-DF73A28EF7E5}"/>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1172B442-814F-7FAE-3118-D59E32C991EB}"/>
              </a:ext>
            </a:extLst>
          </p:cNvPr>
          <p:cNvPicPr>
            <a:picLocks noChangeAspect="1"/>
          </p:cNvPicPr>
          <p:nvPr/>
        </p:nvPicPr>
        <p:blipFill>
          <a:blip r:embed="rId2">
            <a:alphaModFix amt="6000"/>
          </a:blip>
          <a:stretch>
            <a:fillRect/>
          </a:stretch>
        </p:blipFill>
        <p:spPr>
          <a:xfrm>
            <a:off x="589079" y="151108"/>
            <a:ext cx="6995518" cy="6458689"/>
          </a:xfrm>
          <a:prstGeom prst="rect">
            <a:avLst/>
          </a:prstGeom>
          <a:noFill/>
          <a:ln>
            <a:noFill/>
          </a:ln>
        </p:spPr>
      </p:pic>
      <p:sp>
        <p:nvSpPr>
          <p:cNvPr id="4" name="Rectangle 3">
            <a:extLst>
              <a:ext uri="{FF2B5EF4-FFF2-40B4-BE49-F238E27FC236}">
                <a16:creationId xmlns:a16="http://schemas.microsoft.com/office/drawing/2014/main" id="{9D7E035A-5A39-9A7D-6B80-0D7725E3D249}"/>
              </a:ext>
            </a:extLst>
          </p:cNvPr>
          <p:cNvSpPr/>
          <p:nvPr/>
        </p:nvSpPr>
        <p:spPr>
          <a:xfrm>
            <a:off x="5048182" y="-33474"/>
            <a:ext cx="4035272" cy="923330"/>
          </a:xfrm>
          <a:prstGeom prst="rect">
            <a:avLst/>
          </a:prstGeom>
          <a:noFill/>
        </p:spPr>
        <p:txBody>
          <a:bodyPr wrap="none" lIns="91440" tIns="45720" rIns="91440" bIns="45720">
            <a:spAutoFit/>
          </a:bodyPr>
          <a:lstStyle/>
          <a:p>
            <a:pPr algn="ctr" rtl="1"/>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UPDATE </a:t>
            </a:r>
            <a:r>
              <a:rPr lang="ar-JO"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تعديل</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83516282-7F21-6C69-241C-64CF6D246D4D}"/>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C0611765-E007-DD0D-FC1E-AFFA3DCC70C6}"/>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F33457AA-834A-9B7C-7CF8-AF01B4774631}"/>
              </a:ext>
            </a:extLst>
          </p:cNvPr>
          <p:cNvSpPr/>
          <p:nvPr/>
        </p:nvSpPr>
        <p:spPr>
          <a:xfrm>
            <a:off x="248703" y="725034"/>
            <a:ext cx="688907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UPDATE table-name</a:t>
            </a:r>
          </a:p>
          <a:p>
            <a:r>
              <a:rPr lang="en-US" sz="3600" dirty="0">
                <a:ln w="0"/>
                <a:solidFill>
                  <a:schemeClr val="accent1"/>
                </a:solidFill>
                <a:effectLst>
                  <a:outerShdw blurRad="38100" dist="25400" dir="5400000" algn="ctr" rotWithShape="0">
                    <a:srgbClr val="6E747A">
                      <a:alpha val="43000"/>
                    </a:srgbClr>
                  </a:outerShdw>
                </a:effectLst>
              </a:rPr>
              <a:t>SET </a:t>
            </a:r>
            <a:r>
              <a:rPr lang="en-US" dirty="0">
                <a:ln w="0"/>
                <a:solidFill>
                  <a:schemeClr val="accent1"/>
                </a:solidFill>
                <a:effectLst>
                  <a:outerShdw blurRad="38100" dist="25400" dir="5400000" algn="ctr" rotWithShape="0">
                    <a:srgbClr val="6E747A">
                      <a:alpha val="43000"/>
                    </a:srgbClr>
                  </a:outerShdw>
                </a:effectLst>
              </a:rPr>
              <a:t>variable-name = new-value</a:t>
            </a:r>
            <a:endParaRPr lang="en-US"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WHERE</a:t>
            </a:r>
          </a:p>
          <a:p>
            <a:r>
              <a:rPr lang="en-US" sz="2400" dirty="0">
                <a:ln w="0"/>
                <a:solidFill>
                  <a:schemeClr val="accent1"/>
                </a:solidFill>
                <a:effectLst>
                  <a:outerShdw blurRad="38100" dist="25400" dir="5400000" algn="ctr" rotWithShape="0">
                    <a:srgbClr val="6E747A">
                      <a:alpha val="43000"/>
                    </a:srgbClr>
                  </a:outerShdw>
                </a:effectLst>
              </a:rPr>
              <a:t>variable-name = value</a:t>
            </a:r>
            <a:r>
              <a:rPr lang="en-US" sz="3600" dirty="0">
                <a:ln w="0"/>
                <a:solidFill>
                  <a:schemeClr val="accent1"/>
                </a:solidFill>
                <a:effectLst>
                  <a:outerShdw blurRad="38100" dist="25400" dir="5400000" algn="ctr" rotWithShape="0">
                    <a:srgbClr val="6E747A">
                      <a:alpha val="43000"/>
                    </a:srgbClr>
                  </a:outerShdw>
                </a:effectLst>
              </a:rPr>
              <a:t>;</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40" name="Arrow: Down 39">
            <a:extLst>
              <a:ext uri="{FF2B5EF4-FFF2-40B4-BE49-F238E27FC236}">
                <a16:creationId xmlns:a16="http://schemas.microsoft.com/office/drawing/2014/main" id="{199F261B-05B7-2ACD-EEB8-44CE04155685}"/>
              </a:ext>
            </a:extLst>
          </p:cNvPr>
          <p:cNvSpPr/>
          <p:nvPr/>
        </p:nvSpPr>
        <p:spPr>
          <a:xfrm>
            <a:off x="718372" y="583174"/>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29283C0-E675-45AB-C45A-98141C301A7C}"/>
              </a:ext>
            </a:extLst>
          </p:cNvPr>
          <p:cNvSpPr/>
          <p:nvPr/>
        </p:nvSpPr>
        <p:spPr>
          <a:xfrm>
            <a:off x="1168121" y="1227403"/>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المتغير</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0" name="Rectangle 29">
            <a:extLst>
              <a:ext uri="{FF2B5EF4-FFF2-40B4-BE49-F238E27FC236}">
                <a16:creationId xmlns:a16="http://schemas.microsoft.com/office/drawing/2014/main" id="{DC8BF461-AB4A-56AA-3918-BB2CF1291B6A}"/>
              </a:ext>
            </a:extLst>
          </p:cNvPr>
          <p:cNvSpPr/>
          <p:nvPr/>
        </p:nvSpPr>
        <p:spPr>
          <a:xfrm>
            <a:off x="261718" y="288046"/>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A9B015DD-61CD-86A0-7CA6-9C035DC20686}"/>
              </a:ext>
            </a:extLst>
          </p:cNvPr>
          <p:cNvSpPr/>
          <p:nvPr/>
        </p:nvSpPr>
        <p:spPr>
          <a:xfrm>
            <a:off x="2301787" y="3638094"/>
            <a:ext cx="2027079" cy="4545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FFE88BF-BA5A-AF8B-3B7E-539C0CD552F3}"/>
              </a:ext>
            </a:extLst>
          </p:cNvPr>
          <p:cNvSpPr/>
          <p:nvPr/>
        </p:nvSpPr>
        <p:spPr>
          <a:xfrm>
            <a:off x="2301787" y="4108668"/>
            <a:ext cx="2027079" cy="617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F8B177-C065-F3F5-CEBB-3DC03ADB23C1}"/>
              </a:ext>
            </a:extLst>
          </p:cNvPr>
          <p:cNvSpPr/>
          <p:nvPr/>
        </p:nvSpPr>
        <p:spPr>
          <a:xfrm>
            <a:off x="4514683" y="4312349"/>
            <a:ext cx="582211"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6" name="Rectangle 25">
            <a:extLst>
              <a:ext uri="{FF2B5EF4-FFF2-40B4-BE49-F238E27FC236}">
                <a16:creationId xmlns:a16="http://schemas.microsoft.com/office/drawing/2014/main" id="{8E40AE09-0F05-C485-3D2C-A306AB949A5D}"/>
              </a:ext>
            </a:extLst>
          </p:cNvPr>
          <p:cNvSpPr/>
          <p:nvPr/>
        </p:nvSpPr>
        <p:spPr>
          <a:xfrm>
            <a:off x="4454330" y="3873083"/>
            <a:ext cx="1313180" cy="307777"/>
          </a:xfrm>
          <a:prstGeom prst="rect">
            <a:avLst/>
          </a:prstGeom>
          <a:noFill/>
        </p:spPr>
        <p:txBody>
          <a:bodyPr wrap="non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الجدول المرتبط معه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0" name="Arrow: Right 9">
            <a:extLst>
              <a:ext uri="{FF2B5EF4-FFF2-40B4-BE49-F238E27FC236}">
                <a16:creationId xmlns:a16="http://schemas.microsoft.com/office/drawing/2014/main" id="{EA8F213B-94BE-6073-F834-C7433F3F0C9E}"/>
              </a:ext>
            </a:extLst>
          </p:cNvPr>
          <p:cNvSpPr/>
          <p:nvPr/>
        </p:nvSpPr>
        <p:spPr>
          <a:xfrm>
            <a:off x="4340222" y="4411885"/>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EE8E758-0579-422C-7F63-5D948C3EA84C}"/>
              </a:ext>
            </a:extLst>
          </p:cNvPr>
          <p:cNvSpPr/>
          <p:nvPr/>
        </p:nvSpPr>
        <p:spPr>
          <a:xfrm>
            <a:off x="4333164" y="3980058"/>
            <a:ext cx="152897" cy="6148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D8CE5C-DAF9-B80F-1555-0479FA350085}"/>
              </a:ext>
            </a:extLst>
          </p:cNvPr>
          <p:cNvSpPr/>
          <p:nvPr/>
        </p:nvSpPr>
        <p:spPr>
          <a:xfrm>
            <a:off x="2520594" y="1256965"/>
            <a:ext cx="1051937"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قيمه جديده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1881F6C4-7144-1BAE-B6B9-0943A0202C83}"/>
              </a:ext>
            </a:extLst>
          </p:cNvPr>
          <p:cNvSpPr/>
          <p:nvPr/>
        </p:nvSpPr>
        <p:spPr>
          <a:xfrm>
            <a:off x="1551191" y="285768"/>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مجوزه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4" name="Rectangle 13">
            <a:extLst>
              <a:ext uri="{FF2B5EF4-FFF2-40B4-BE49-F238E27FC236}">
                <a16:creationId xmlns:a16="http://schemas.microsoft.com/office/drawing/2014/main" id="{F8887FF5-29B9-7C90-D6E6-D260A34F8BEE}"/>
              </a:ext>
            </a:extLst>
          </p:cNvPr>
          <p:cNvSpPr/>
          <p:nvPr/>
        </p:nvSpPr>
        <p:spPr>
          <a:xfrm>
            <a:off x="1846051" y="1966248"/>
            <a:ext cx="1275192" cy="307777"/>
          </a:xfrm>
          <a:prstGeom prst="rect">
            <a:avLst/>
          </a:prstGeom>
          <a:noFill/>
          <a:ln>
            <a:solidFill>
              <a:srgbClr val="FF0000"/>
            </a:solidFill>
          </a:ln>
        </p:spPr>
        <p:txBody>
          <a:bodyPr wrap="square" lIns="91440" tIns="45720" rIns="91440" bIns="45720">
            <a:spAutoFit/>
          </a:bodyPr>
          <a:lstStyle/>
          <a:p>
            <a:pPr algn="ctr"/>
            <a:r>
              <a:rPr lang="ar-JO" sz="1400" dirty="0">
                <a:ln w="0"/>
                <a:solidFill>
                  <a:srgbClr val="FF0000"/>
                </a:solidFill>
                <a:effectLst>
                  <a:outerShdw blurRad="38100" dist="25400" dir="5400000" algn="ctr" rotWithShape="0">
                    <a:srgbClr val="6E747A">
                      <a:alpha val="43000"/>
                    </a:srgbClr>
                  </a:outerShdw>
                </a:effectLst>
              </a:rPr>
              <a:t> كلمات </a:t>
            </a:r>
            <a:r>
              <a:rPr lang="ar-JO" sz="1400" dirty="0" err="1">
                <a:ln w="0"/>
                <a:solidFill>
                  <a:srgbClr val="FF0000"/>
                </a:solidFill>
                <a:effectLst>
                  <a:outerShdw blurRad="38100" dist="25400" dir="5400000" algn="ctr" rotWithShape="0">
                    <a:srgbClr val="6E747A">
                      <a:alpha val="43000"/>
                    </a:srgbClr>
                  </a:outerShdw>
                </a:effectLst>
              </a:rPr>
              <a:t>محجوزه</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17" name="Arrow: Down 16">
            <a:extLst>
              <a:ext uri="{FF2B5EF4-FFF2-40B4-BE49-F238E27FC236}">
                <a16:creationId xmlns:a16="http://schemas.microsoft.com/office/drawing/2014/main" id="{727CD085-5853-9A95-B8EA-6E01DF9FE75E}"/>
              </a:ext>
            </a:extLst>
          </p:cNvPr>
          <p:cNvSpPr/>
          <p:nvPr/>
        </p:nvSpPr>
        <p:spPr>
          <a:xfrm>
            <a:off x="2107257" y="563374"/>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D9FCEF1-622A-4AE1-83D7-74B77B40D786}"/>
              </a:ext>
            </a:extLst>
          </p:cNvPr>
          <p:cNvSpPr/>
          <p:nvPr/>
        </p:nvSpPr>
        <p:spPr>
          <a:xfrm>
            <a:off x="2926202" y="217728"/>
            <a:ext cx="1275192"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اسم الجدول </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32" name="Arrow: Down 31">
            <a:extLst>
              <a:ext uri="{FF2B5EF4-FFF2-40B4-BE49-F238E27FC236}">
                <a16:creationId xmlns:a16="http://schemas.microsoft.com/office/drawing/2014/main" id="{219D7EFD-A9AB-D06E-8665-474C44A969BD}"/>
              </a:ext>
            </a:extLst>
          </p:cNvPr>
          <p:cNvSpPr/>
          <p:nvPr/>
        </p:nvSpPr>
        <p:spPr>
          <a:xfrm>
            <a:off x="3576223" y="544407"/>
            <a:ext cx="117015" cy="1418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عنصر نائب للمحتوى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718" y="2909454"/>
            <a:ext cx="8026805" cy="3851489"/>
          </a:xfrm>
          <a:ln>
            <a:solidFill>
              <a:schemeClr val="accent1"/>
            </a:solidFill>
          </a:ln>
        </p:spPr>
      </p:pic>
      <p:sp>
        <p:nvSpPr>
          <p:cNvPr id="25" name="Rectangle 40">
            <a:extLst>
              <a:ext uri="{FF2B5EF4-FFF2-40B4-BE49-F238E27FC236}">
                <a16:creationId xmlns:a16="http://schemas.microsoft.com/office/drawing/2014/main" id="{329283C0-E675-45AB-C45A-98141C301A7C}"/>
              </a:ext>
            </a:extLst>
          </p:cNvPr>
          <p:cNvSpPr/>
          <p:nvPr/>
        </p:nvSpPr>
        <p:spPr>
          <a:xfrm>
            <a:off x="3276929" y="2545183"/>
            <a:ext cx="1051937" cy="307777"/>
          </a:xfrm>
          <a:prstGeom prst="rect">
            <a:avLst/>
          </a:prstGeom>
          <a:noFill/>
          <a:ln>
            <a:solidFill>
              <a:srgbClr val="FF0000"/>
            </a:solidFill>
          </a:ln>
        </p:spPr>
        <p:txBody>
          <a:bodyPr wrap="square" lIns="91440" tIns="45720" rIns="91440" bIns="45720">
            <a:spAutoFit/>
          </a:bodyPr>
          <a:lstStyle/>
          <a:p>
            <a:pPr algn="ctr"/>
            <a:r>
              <a:rPr lang="ar-JO" sz="1400" b="0" cap="none" spc="0" dirty="0">
                <a:ln w="0"/>
                <a:solidFill>
                  <a:srgbClr val="FF0000"/>
                </a:solidFill>
                <a:effectLst>
                  <a:outerShdw blurRad="38100" dist="25400" dir="5400000" algn="ctr" rotWithShape="0">
                    <a:srgbClr val="6E747A">
                      <a:alpha val="43000"/>
                    </a:srgbClr>
                  </a:outerShdw>
                </a:effectLst>
              </a:rPr>
              <a:t>الشرط</a:t>
            </a:r>
            <a:endParaRPr lang="en-US" sz="1400" b="0" cap="none" spc="0" dirty="0">
              <a:ln w="0"/>
              <a:solidFill>
                <a:srgbClr val="FF0000"/>
              </a:solidFill>
              <a:effectLst>
                <a:outerShdw blurRad="38100" dist="25400" dir="5400000" algn="ctr" rotWithShape="0">
                  <a:srgbClr val="6E747A">
                    <a:alpha val="43000"/>
                  </a:srgbClr>
                </a:outerShdw>
              </a:effectLst>
            </a:endParaRPr>
          </a:p>
        </p:txBody>
      </p:sp>
      <p:sp>
        <p:nvSpPr>
          <p:cNvPr id="2" name="مستطيل 1"/>
          <p:cNvSpPr/>
          <p:nvPr/>
        </p:nvSpPr>
        <p:spPr>
          <a:xfrm>
            <a:off x="1316182" y="3565289"/>
            <a:ext cx="2486715" cy="7470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393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5508923" y="297401"/>
            <a:ext cx="184731" cy="923330"/>
          </a:xfrm>
          <a:prstGeom prst="rect">
            <a:avLst/>
          </a:prstGeom>
          <a:noFill/>
        </p:spPr>
        <p:txBody>
          <a:bodyPr wrap="none" lIns="91440" tIns="45720" rIns="91440" bIns="45720">
            <a:spAutoFit/>
          </a:bodyPr>
          <a:lstStyle/>
          <a:p>
            <a:pPr algn="ct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3" name="عنصر نائب للمحتوى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879" y="817418"/>
            <a:ext cx="7314175" cy="5404198"/>
          </a:xfrm>
          <a:ln>
            <a:solidFill>
              <a:schemeClr val="accent1"/>
            </a:solidFill>
          </a:ln>
        </p:spPr>
      </p:pic>
    </p:spTree>
    <p:extLst>
      <p:ext uri="{BB962C8B-B14F-4D97-AF65-F5344CB8AC3E}">
        <p14:creationId xmlns:p14="http://schemas.microsoft.com/office/powerpoint/2010/main" val="23065560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83936" y="1622138"/>
            <a:ext cx="8793912" cy="4978748"/>
          </a:xfrm>
        </p:spPr>
        <p:txBody>
          <a:bodyPr>
            <a:normAutofit/>
          </a:bodyPr>
          <a:lstStyle/>
          <a:p>
            <a:pPr algn="r" rtl="1">
              <a:buFont typeface="Wingdings" panose="05000000000000000000" pitchFamily="2" charset="2"/>
              <a:buChar char="v"/>
            </a:pPr>
            <a:r>
              <a:rPr lang="ar-JO" sz="4000" dirty="0">
                <a:solidFill>
                  <a:srgbClr val="002060"/>
                </a:solidFill>
              </a:rPr>
              <a:t>إضافة عامود :</a:t>
            </a:r>
          </a:p>
          <a:p>
            <a:pPr marL="0" indent="0" algn="ctr" rtl="1">
              <a:buNone/>
            </a:pPr>
            <a:r>
              <a:rPr lang="en-US" sz="2400" dirty="0">
                <a:solidFill>
                  <a:srgbClr val="002060"/>
                </a:solidFill>
              </a:rPr>
              <a:t>  ALTER TABLE table-name ADD </a:t>
            </a:r>
            <a:r>
              <a:rPr lang="en-US" sz="2400" dirty="0" err="1">
                <a:solidFill>
                  <a:srgbClr val="002060"/>
                </a:solidFill>
              </a:rPr>
              <a:t>var</a:t>
            </a:r>
            <a:r>
              <a:rPr lang="en-US" sz="2400" dirty="0">
                <a:solidFill>
                  <a:srgbClr val="002060"/>
                </a:solidFill>
              </a:rPr>
              <a:t>-name </a:t>
            </a:r>
            <a:r>
              <a:rPr lang="en-US" sz="2400" dirty="0" err="1">
                <a:solidFill>
                  <a:srgbClr val="002060"/>
                </a:solidFill>
              </a:rPr>
              <a:t>var</a:t>
            </a:r>
            <a:r>
              <a:rPr lang="en-US" sz="2400" dirty="0">
                <a:solidFill>
                  <a:srgbClr val="002060"/>
                </a:solidFill>
              </a:rPr>
              <a:t>-type (</a:t>
            </a:r>
            <a:r>
              <a:rPr lang="en-US" sz="2400" dirty="0" err="1">
                <a:solidFill>
                  <a:srgbClr val="002060"/>
                </a:solidFill>
              </a:rPr>
              <a:t>var</a:t>
            </a:r>
            <a:r>
              <a:rPr lang="en-US" sz="2400" dirty="0">
                <a:solidFill>
                  <a:srgbClr val="002060"/>
                </a:solidFill>
              </a:rPr>
              <a:t>-size);</a:t>
            </a:r>
          </a:p>
          <a:p>
            <a:pPr marL="0" indent="0" algn="ctr" rtl="1">
              <a:buNone/>
            </a:pPr>
            <a:endParaRPr lang="en-US" sz="3200" dirty="0">
              <a:solidFill>
                <a:srgbClr val="002060"/>
              </a:solidFill>
            </a:endParaRPr>
          </a:p>
          <a:p>
            <a:pPr algn="r" rtl="1">
              <a:buFont typeface="Wingdings" panose="05000000000000000000" pitchFamily="2" charset="2"/>
              <a:buChar char="v"/>
            </a:pPr>
            <a:r>
              <a:rPr lang="ar-JO" sz="4000" dirty="0">
                <a:solidFill>
                  <a:srgbClr val="002060"/>
                </a:solidFill>
              </a:rPr>
              <a:t>حذف عامود :</a:t>
            </a:r>
            <a:endParaRPr lang="en-US" sz="4000" dirty="0">
              <a:solidFill>
                <a:srgbClr val="002060"/>
              </a:solidFill>
            </a:endParaRPr>
          </a:p>
          <a:p>
            <a:pPr marL="0" indent="0" algn="ctr" rtl="1">
              <a:buNone/>
            </a:pPr>
            <a:r>
              <a:rPr lang="en-US" sz="2400" dirty="0">
                <a:solidFill>
                  <a:srgbClr val="002060"/>
                </a:solidFill>
              </a:rPr>
              <a:t>ALTER TABLE table-name DROP COLUMN </a:t>
            </a:r>
            <a:r>
              <a:rPr lang="en-US" sz="2400" dirty="0" err="1">
                <a:solidFill>
                  <a:srgbClr val="002060"/>
                </a:solidFill>
              </a:rPr>
              <a:t>var</a:t>
            </a:r>
            <a:r>
              <a:rPr lang="en-US" sz="2400" dirty="0">
                <a:solidFill>
                  <a:srgbClr val="002060"/>
                </a:solidFill>
              </a:rPr>
              <a:t>-name;</a:t>
            </a:r>
          </a:p>
          <a:p>
            <a:pPr algn="r" rtl="1">
              <a:buFont typeface="Wingdings" panose="05000000000000000000" pitchFamily="2" charset="2"/>
              <a:buChar char="v"/>
            </a:pPr>
            <a:endParaRPr lang="ar-JO" sz="3200" dirty="0">
              <a:solidFill>
                <a:srgbClr val="002060"/>
              </a:solidFill>
            </a:endParaRPr>
          </a:p>
          <a:p>
            <a:pPr algn="r" rtl="1">
              <a:buFont typeface="Wingdings" panose="05000000000000000000" pitchFamily="2" charset="2"/>
              <a:buChar char="v"/>
            </a:pPr>
            <a:r>
              <a:rPr lang="ar-JO" sz="3200" dirty="0">
                <a:solidFill>
                  <a:srgbClr val="002060"/>
                </a:solidFill>
              </a:rPr>
              <a:t> تغيير نوع الحقل :</a:t>
            </a:r>
          </a:p>
          <a:p>
            <a:pPr marL="0" indent="0" algn="ctr" rtl="1">
              <a:buNone/>
            </a:pPr>
            <a:r>
              <a:rPr lang="en-US" sz="2400" dirty="0">
                <a:solidFill>
                  <a:srgbClr val="002060"/>
                </a:solidFill>
              </a:rPr>
              <a:t>ALTER TABLE table-name</a:t>
            </a:r>
          </a:p>
          <a:p>
            <a:pPr marL="0" indent="0" algn="ctr" rtl="1">
              <a:buNone/>
            </a:pPr>
            <a:r>
              <a:rPr lang="en-US" sz="2400" dirty="0">
                <a:solidFill>
                  <a:srgbClr val="002060"/>
                </a:solidFill>
              </a:rPr>
              <a:t>MODIFY (</a:t>
            </a:r>
            <a:r>
              <a:rPr lang="en-US" sz="2400" dirty="0" err="1">
                <a:solidFill>
                  <a:srgbClr val="002060"/>
                </a:solidFill>
              </a:rPr>
              <a:t>var</a:t>
            </a:r>
            <a:r>
              <a:rPr lang="en-US" sz="2400" dirty="0">
                <a:solidFill>
                  <a:srgbClr val="002060"/>
                </a:solidFill>
              </a:rPr>
              <a:t>-name new-</a:t>
            </a:r>
            <a:r>
              <a:rPr lang="en-US" sz="2400" dirty="0" err="1">
                <a:solidFill>
                  <a:srgbClr val="002060"/>
                </a:solidFill>
              </a:rPr>
              <a:t>var</a:t>
            </a:r>
            <a:r>
              <a:rPr lang="en-US" sz="2400" dirty="0">
                <a:solidFill>
                  <a:srgbClr val="002060"/>
                </a:solidFill>
              </a:rPr>
              <a:t>-type(</a:t>
            </a:r>
            <a:r>
              <a:rPr lang="en-US" sz="2400" dirty="0" err="1">
                <a:solidFill>
                  <a:srgbClr val="002060"/>
                </a:solidFill>
              </a:rPr>
              <a:t>var</a:t>
            </a:r>
            <a:r>
              <a:rPr lang="en-US" sz="2400" dirty="0">
                <a:solidFill>
                  <a:srgbClr val="002060"/>
                </a:solidFill>
              </a:rPr>
              <a:t>-size));</a:t>
            </a:r>
          </a:p>
          <a:p>
            <a:pPr marL="0" indent="0" algn="ctr" rtl="1">
              <a:buNone/>
            </a:pPr>
            <a:endParaRPr sz="24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2" name="مستطيل 1"/>
          <p:cNvSpPr/>
          <p:nvPr/>
        </p:nvSpPr>
        <p:spPr>
          <a:xfrm>
            <a:off x="756480" y="2193894"/>
            <a:ext cx="7660685" cy="6373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مستطيل 8"/>
          <p:cNvSpPr/>
          <p:nvPr/>
        </p:nvSpPr>
        <p:spPr>
          <a:xfrm>
            <a:off x="776880" y="3852090"/>
            <a:ext cx="7660685" cy="6373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مستطيل 9"/>
          <p:cNvSpPr/>
          <p:nvPr/>
        </p:nvSpPr>
        <p:spPr>
          <a:xfrm>
            <a:off x="1731818" y="5403273"/>
            <a:ext cx="5624946"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3070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83936" y="1622138"/>
            <a:ext cx="8793912" cy="4978748"/>
          </a:xfrm>
        </p:spPr>
        <p:txBody>
          <a:bodyPr>
            <a:normAutofit/>
          </a:bodyPr>
          <a:lstStyle/>
          <a:p>
            <a:pPr algn="r" rtl="1">
              <a:buFont typeface="Wingdings" panose="05000000000000000000" pitchFamily="2" charset="2"/>
              <a:buChar char="v"/>
            </a:pPr>
            <a:r>
              <a:rPr lang="ar-JO" sz="4000" dirty="0">
                <a:solidFill>
                  <a:srgbClr val="002060"/>
                </a:solidFill>
              </a:rPr>
              <a:t>تغيير اسم الجدول:</a:t>
            </a:r>
          </a:p>
          <a:p>
            <a:pPr marL="0" indent="0" algn="ctr" rtl="1">
              <a:buNone/>
            </a:pPr>
            <a:r>
              <a:rPr lang="en-US" sz="2400" dirty="0">
                <a:solidFill>
                  <a:srgbClr val="002060"/>
                </a:solidFill>
              </a:rPr>
              <a:t>RENAME TO new-table-name;</a:t>
            </a:r>
            <a:r>
              <a:rPr lang="ar-JO" sz="2400" dirty="0">
                <a:solidFill>
                  <a:srgbClr val="002060"/>
                </a:solidFill>
              </a:rPr>
              <a:t> </a:t>
            </a:r>
            <a:r>
              <a:rPr lang="en-US" sz="2400" dirty="0">
                <a:solidFill>
                  <a:srgbClr val="002060"/>
                </a:solidFill>
              </a:rPr>
              <a:t>ALTER TABLE table-name</a:t>
            </a:r>
          </a:p>
          <a:p>
            <a:pPr marL="0" indent="0" algn="r" rtl="1">
              <a:buNone/>
            </a:pPr>
            <a:endParaRPr lang="en-US" sz="4000"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2" name="مستطيل 1"/>
          <p:cNvSpPr/>
          <p:nvPr/>
        </p:nvSpPr>
        <p:spPr>
          <a:xfrm>
            <a:off x="756480" y="2193894"/>
            <a:ext cx="7660685" cy="6373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13564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83936" y="1622138"/>
            <a:ext cx="8793912" cy="4978748"/>
          </a:xfrm>
        </p:spPr>
        <p:txBody>
          <a:bodyPr>
            <a:normAutofit lnSpcReduction="10000"/>
          </a:bodyPr>
          <a:lstStyle/>
          <a:p>
            <a:pPr algn="r" rtl="1"/>
            <a:r>
              <a:rPr lang="ar-JO" sz="4000" dirty="0">
                <a:solidFill>
                  <a:srgbClr val="002060"/>
                </a:solidFill>
              </a:rPr>
              <a:t>عمل جدول:</a:t>
            </a:r>
            <a:endParaRPr lang="en-US" sz="4000" dirty="0">
              <a:solidFill>
                <a:srgbClr val="002060"/>
              </a:solidFill>
            </a:endParaRPr>
          </a:p>
          <a:p>
            <a:pPr marL="0" indent="0" algn="l">
              <a:buNone/>
            </a:pPr>
            <a:r>
              <a:rPr lang="en-US" sz="4000" dirty="0">
                <a:solidFill>
                  <a:srgbClr val="002060"/>
                </a:solidFill>
              </a:rPr>
              <a:t>USE school;</a:t>
            </a:r>
          </a:p>
          <a:p>
            <a:pPr marL="0" indent="0" algn="l">
              <a:buNone/>
            </a:pPr>
            <a:r>
              <a:rPr lang="en-US" sz="4000" dirty="0">
                <a:solidFill>
                  <a:srgbClr val="002060"/>
                </a:solidFill>
              </a:rPr>
              <a:t>CREATE TABLE students</a:t>
            </a:r>
          </a:p>
          <a:p>
            <a:pPr marL="0" indent="0" algn="l">
              <a:buNone/>
            </a:pPr>
            <a:r>
              <a:rPr lang="en-US" sz="4000" dirty="0">
                <a:solidFill>
                  <a:srgbClr val="002060"/>
                </a:solidFill>
              </a:rPr>
              <a:t>(</a:t>
            </a:r>
          </a:p>
          <a:p>
            <a:pPr marL="0" indent="0" algn="l">
              <a:buNone/>
            </a:pPr>
            <a:r>
              <a:rPr lang="en-US" sz="4000" dirty="0" err="1">
                <a:solidFill>
                  <a:srgbClr val="002060"/>
                </a:solidFill>
              </a:rPr>
              <a:t>sid</a:t>
            </a:r>
            <a:r>
              <a:rPr lang="en-US" sz="4000" dirty="0">
                <a:solidFill>
                  <a:srgbClr val="002060"/>
                </a:solidFill>
              </a:rPr>
              <a:t> numeric (3),</a:t>
            </a:r>
          </a:p>
          <a:p>
            <a:pPr marL="0" indent="0" algn="l">
              <a:buNone/>
            </a:pPr>
            <a:r>
              <a:rPr lang="en-US" sz="4000" dirty="0" err="1">
                <a:solidFill>
                  <a:srgbClr val="002060"/>
                </a:solidFill>
              </a:rPr>
              <a:t>sname</a:t>
            </a:r>
            <a:r>
              <a:rPr lang="en-US" sz="4000" dirty="0">
                <a:solidFill>
                  <a:srgbClr val="002060"/>
                </a:solidFill>
              </a:rPr>
              <a:t> varchar (40),</a:t>
            </a:r>
          </a:p>
          <a:p>
            <a:pPr marL="0" indent="0" algn="l">
              <a:buNone/>
            </a:pPr>
            <a:r>
              <a:rPr lang="en-US" sz="4000" dirty="0">
                <a:solidFill>
                  <a:srgbClr val="002060"/>
                </a:solidFill>
              </a:rPr>
              <a:t>age numeric (3) </a:t>
            </a:r>
          </a:p>
          <a:p>
            <a:pPr marL="0" indent="0" algn="l">
              <a:buNone/>
            </a:pPr>
            <a:r>
              <a:rPr lang="en-US" sz="4000" dirty="0">
                <a:solidFill>
                  <a:srgbClr val="002060"/>
                </a:solidFill>
              </a:rPr>
              <a:t>);</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149" y="4572001"/>
            <a:ext cx="4254826" cy="1736664"/>
          </a:xfrm>
          <a:prstGeom prst="rect">
            <a:avLst/>
          </a:prstGeom>
          <a:ln>
            <a:solidFill>
              <a:schemeClr val="accent1"/>
            </a:solidFill>
          </a:ln>
        </p:spPr>
      </p:pic>
    </p:spTree>
    <p:extLst>
      <p:ext uri="{BB962C8B-B14F-4D97-AF65-F5344CB8AC3E}">
        <p14:creationId xmlns:p14="http://schemas.microsoft.com/office/powerpoint/2010/main" val="2151172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83935" y="1622138"/>
            <a:ext cx="8819433" cy="4978748"/>
          </a:xfrm>
        </p:spPr>
        <p:txBody>
          <a:bodyPr>
            <a:normAutofit/>
          </a:bodyPr>
          <a:lstStyle/>
          <a:p>
            <a:pPr algn="r" rtl="1"/>
            <a:r>
              <a:rPr lang="ar-JO" sz="3200" dirty="0">
                <a:solidFill>
                  <a:srgbClr val="002060"/>
                </a:solidFill>
              </a:rPr>
              <a:t>إضافة عامود رقم هاتف:</a:t>
            </a:r>
            <a:endParaRPr lang="en-US" sz="3200" dirty="0">
              <a:solidFill>
                <a:srgbClr val="002060"/>
              </a:solidFill>
            </a:endParaRPr>
          </a:p>
          <a:p>
            <a:pPr marL="0" indent="0">
              <a:buNone/>
            </a:pPr>
            <a:r>
              <a:rPr lang="en-US" sz="3200" dirty="0">
                <a:solidFill>
                  <a:srgbClr val="002060"/>
                </a:solidFill>
              </a:rPr>
              <a:t>USE school;</a:t>
            </a:r>
            <a:endParaRPr lang="ar-JO" sz="3200" dirty="0">
              <a:solidFill>
                <a:srgbClr val="002060"/>
              </a:solidFill>
            </a:endParaRPr>
          </a:p>
          <a:p>
            <a:pPr marL="0" indent="0">
              <a:buNone/>
            </a:pPr>
            <a:r>
              <a:rPr lang="en-US" sz="3200" dirty="0">
                <a:solidFill>
                  <a:srgbClr val="002060"/>
                </a:solidFill>
              </a:rPr>
              <a:t>ALTER TABLE students ADD phone CHAR (10);</a:t>
            </a:r>
            <a:endParaRPr lang="ar-JO" sz="3200" dirty="0">
              <a:solidFill>
                <a:srgbClr val="002060"/>
              </a:solidFill>
            </a:endParaRPr>
          </a:p>
          <a:p>
            <a:pPr marL="0" indent="0">
              <a:buNone/>
            </a:pPr>
            <a:r>
              <a:rPr lang="en-US" sz="3200" dirty="0">
                <a:solidFill>
                  <a:srgbClr val="002060"/>
                </a:solidFill>
              </a:rPr>
              <a:t>SELECT * FROM students;</a:t>
            </a:r>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8548" y="3789947"/>
            <a:ext cx="4501406" cy="2738942"/>
          </a:xfrm>
          <a:prstGeom prst="rect">
            <a:avLst/>
          </a:prstGeom>
          <a:ln>
            <a:solidFill>
              <a:schemeClr val="accent1"/>
            </a:solidFill>
          </a:ln>
        </p:spPr>
      </p:pic>
    </p:spTree>
    <p:extLst>
      <p:ext uri="{BB962C8B-B14F-4D97-AF65-F5344CB8AC3E}">
        <p14:creationId xmlns:p14="http://schemas.microsoft.com/office/powerpoint/2010/main" val="35460612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83935" y="1622138"/>
            <a:ext cx="8819433" cy="4978748"/>
          </a:xfrm>
        </p:spPr>
        <p:txBody>
          <a:bodyPr>
            <a:normAutofit/>
          </a:bodyPr>
          <a:lstStyle/>
          <a:p>
            <a:pPr algn="r" rtl="1"/>
            <a:r>
              <a:rPr lang="ar-JO" sz="3200" dirty="0">
                <a:solidFill>
                  <a:srgbClr val="002060"/>
                </a:solidFill>
              </a:rPr>
              <a:t>حذف عامود رقم هاتف:</a:t>
            </a:r>
            <a:endParaRPr lang="en-US" sz="3200" dirty="0">
              <a:solidFill>
                <a:srgbClr val="002060"/>
              </a:solidFill>
            </a:endParaRPr>
          </a:p>
          <a:p>
            <a:pPr marL="0" indent="0">
              <a:buNone/>
            </a:pPr>
            <a:r>
              <a:rPr lang="en-US" sz="3200" dirty="0">
                <a:solidFill>
                  <a:srgbClr val="002060"/>
                </a:solidFill>
              </a:rPr>
              <a:t>USE school;</a:t>
            </a:r>
            <a:endParaRPr lang="ar-JO" sz="3200" dirty="0">
              <a:solidFill>
                <a:srgbClr val="002060"/>
              </a:solidFill>
            </a:endParaRPr>
          </a:p>
          <a:p>
            <a:pPr marL="0" indent="0">
              <a:buNone/>
            </a:pPr>
            <a:r>
              <a:rPr lang="en-US" sz="3200" dirty="0">
                <a:solidFill>
                  <a:srgbClr val="002060"/>
                </a:solidFill>
              </a:rPr>
              <a:t>ALTER TABLE students DROP COLUMN phone;</a:t>
            </a:r>
            <a:endParaRPr lang="ar-JO" sz="3200" dirty="0">
              <a:solidFill>
                <a:srgbClr val="002060"/>
              </a:solidFill>
            </a:endParaRPr>
          </a:p>
          <a:p>
            <a:pPr marL="0" indent="0">
              <a:buNone/>
            </a:pPr>
            <a:r>
              <a:rPr lang="en-US" sz="3200" dirty="0">
                <a:solidFill>
                  <a:srgbClr val="002060"/>
                </a:solidFill>
              </a:rPr>
              <a:t>SELECT * FROM students;</a:t>
            </a:r>
          </a:p>
        </p:txBody>
      </p:sp>
      <p:pic>
        <p:nvPicPr>
          <p:cNvPr id="6" name="صورة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8876" y="3855308"/>
            <a:ext cx="4703515" cy="2603381"/>
          </a:xfrm>
          <a:prstGeom prst="rect">
            <a:avLst/>
          </a:prstGeom>
          <a:ln>
            <a:solidFill>
              <a:schemeClr val="accent1"/>
            </a:solidFill>
          </a:ln>
        </p:spPr>
      </p:pic>
    </p:spTree>
    <p:extLst>
      <p:ext uri="{BB962C8B-B14F-4D97-AF65-F5344CB8AC3E}">
        <p14:creationId xmlns:p14="http://schemas.microsoft.com/office/powerpoint/2010/main" val="41170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247134" y="1622138"/>
            <a:ext cx="8773313" cy="4978748"/>
          </a:xfrm>
        </p:spPr>
        <p:txBody>
          <a:bodyPr>
            <a:normAutofit/>
          </a:bodyPr>
          <a:lstStyle/>
          <a:p>
            <a:pPr algn="r" rtl="1"/>
            <a:r>
              <a:rPr lang="ar-JO" sz="2800" dirty="0">
                <a:solidFill>
                  <a:srgbClr val="002060"/>
                </a:solidFill>
              </a:rPr>
              <a:t>تغيير نوع و حجم عامود رقم هاتف:</a:t>
            </a:r>
            <a:endParaRPr lang="en-US" sz="2800" dirty="0">
              <a:solidFill>
                <a:srgbClr val="002060"/>
              </a:solidFill>
            </a:endParaRPr>
          </a:p>
          <a:p>
            <a:pPr marL="0" indent="0">
              <a:buNone/>
            </a:pPr>
            <a:r>
              <a:rPr lang="en-US" sz="2800" dirty="0">
                <a:solidFill>
                  <a:srgbClr val="002060"/>
                </a:solidFill>
              </a:rPr>
              <a:t>USE school;</a:t>
            </a:r>
            <a:endParaRPr lang="ar-JO" sz="2800" dirty="0">
              <a:solidFill>
                <a:srgbClr val="002060"/>
              </a:solidFill>
            </a:endParaRPr>
          </a:p>
          <a:p>
            <a:pPr marL="0" indent="0">
              <a:buNone/>
            </a:pPr>
            <a:r>
              <a:rPr lang="en-US" sz="2800" dirty="0">
                <a:solidFill>
                  <a:srgbClr val="002060"/>
                </a:solidFill>
              </a:rPr>
              <a:t>ALTER TABLE students</a:t>
            </a:r>
            <a:r>
              <a:rPr lang="ar-JO" sz="2800" dirty="0">
                <a:solidFill>
                  <a:srgbClr val="002060"/>
                </a:solidFill>
              </a:rPr>
              <a:t> </a:t>
            </a:r>
            <a:r>
              <a:rPr lang="en-US" sz="2800" dirty="0">
                <a:solidFill>
                  <a:srgbClr val="002060"/>
                </a:solidFill>
              </a:rPr>
              <a:t>MODIFY phone VARCHAR (11);</a:t>
            </a:r>
            <a:endParaRPr lang="ar-JO" sz="2800" dirty="0">
              <a:solidFill>
                <a:srgbClr val="002060"/>
              </a:solidFill>
            </a:endParaRPr>
          </a:p>
          <a:p>
            <a:pPr marL="0" indent="0">
              <a:buNone/>
            </a:pPr>
            <a:r>
              <a:rPr lang="en-US" sz="2800" dirty="0">
                <a:solidFill>
                  <a:srgbClr val="002060"/>
                </a:solidFill>
              </a:rPr>
              <a:t>SELECT * FROM students;</a:t>
            </a:r>
          </a:p>
        </p:txBody>
      </p:sp>
      <p:pic>
        <p:nvPicPr>
          <p:cNvPr id="6" name="صورة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2897" y="4164228"/>
            <a:ext cx="5304797" cy="2294462"/>
          </a:xfrm>
          <a:prstGeom prst="rect">
            <a:avLst/>
          </a:prstGeom>
          <a:ln>
            <a:solidFill>
              <a:schemeClr val="accent1"/>
            </a:solidFill>
          </a:ln>
        </p:spPr>
      </p:pic>
    </p:spTree>
    <p:extLst>
      <p:ext uri="{BB962C8B-B14F-4D97-AF65-F5344CB8AC3E}">
        <p14:creationId xmlns:p14="http://schemas.microsoft.com/office/powerpoint/2010/main" val="2028356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800729" y="424793"/>
            <a:ext cx="78732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ALTER </a:t>
            </a:r>
            <a:r>
              <a:rPr lang="ar-JO"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تغيير بنية الجدول بواسطة</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83935" y="1622138"/>
            <a:ext cx="8819433" cy="4978748"/>
          </a:xfrm>
        </p:spPr>
        <p:txBody>
          <a:bodyPr>
            <a:normAutofit/>
          </a:bodyPr>
          <a:lstStyle/>
          <a:p>
            <a:pPr algn="r" rtl="1"/>
            <a:r>
              <a:rPr lang="ar-JO" sz="3200" dirty="0">
                <a:solidFill>
                  <a:srgbClr val="002060"/>
                </a:solidFill>
              </a:rPr>
              <a:t>تغيير اسم الجدول :</a:t>
            </a:r>
            <a:endParaRPr lang="en-US" sz="3200" dirty="0">
              <a:solidFill>
                <a:srgbClr val="002060"/>
              </a:solidFill>
            </a:endParaRPr>
          </a:p>
          <a:p>
            <a:pPr marL="0" indent="0">
              <a:buNone/>
            </a:pPr>
            <a:r>
              <a:rPr lang="en-US" sz="3200" dirty="0">
                <a:solidFill>
                  <a:srgbClr val="002060"/>
                </a:solidFill>
              </a:rPr>
              <a:t>USE school;</a:t>
            </a:r>
            <a:endParaRPr lang="ar-JO" sz="3200" dirty="0">
              <a:solidFill>
                <a:srgbClr val="002060"/>
              </a:solidFill>
            </a:endParaRPr>
          </a:p>
          <a:p>
            <a:pPr marL="0" indent="0">
              <a:buNone/>
            </a:pPr>
            <a:r>
              <a:rPr lang="en-US" sz="3200" dirty="0">
                <a:solidFill>
                  <a:srgbClr val="002060"/>
                </a:solidFill>
              </a:rPr>
              <a:t>ALTER TABLE students</a:t>
            </a:r>
            <a:r>
              <a:rPr lang="ar-JO" sz="3200" dirty="0">
                <a:solidFill>
                  <a:srgbClr val="002060"/>
                </a:solidFill>
              </a:rPr>
              <a:t> </a:t>
            </a:r>
            <a:r>
              <a:rPr lang="en-US" sz="3200" dirty="0">
                <a:solidFill>
                  <a:srgbClr val="002060"/>
                </a:solidFill>
              </a:rPr>
              <a:t>RENAME TO student;</a:t>
            </a:r>
            <a:endParaRPr lang="ar-JO" sz="3200" dirty="0">
              <a:solidFill>
                <a:srgbClr val="002060"/>
              </a:solidFill>
            </a:endParaRPr>
          </a:p>
          <a:p>
            <a:pPr marL="0" indent="0">
              <a:buNone/>
            </a:pPr>
            <a:r>
              <a:rPr lang="en-US" sz="3200" dirty="0">
                <a:solidFill>
                  <a:srgbClr val="002060"/>
                </a:solidFill>
              </a:rPr>
              <a:t>SELECT * FROM student;</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069" y="4151871"/>
            <a:ext cx="5119861" cy="2443826"/>
          </a:xfrm>
          <a:prstGeom prst="rect">
            <a:avLst/>
          </a:prstGeom>
          <a:ln>
            <a:solidFill>
              <a:schemeClr val="accent1"/>
            </a:solidFill>
          </a:ln>
        </p:spPr>
      </p:pic>
    </p:spTree>
    <p:extLst>
      <p:ext uri="{BB962C8B-B14F-4D97-AF65-F5344CB8AC3E}">
        <p14:creationId xmlns:p14="http://schemas.microsoft.com/office/powerpoint/2010/main" val="1682977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1705098" y="125716"/>
            <a:ext cx="7141699" cy="1446550"/>
          </a:xfrm>
          <a:prstGeom prst="rect">
            <a:avLst/>
          </a:prstGeom>
          <a:noFill/>
        </p:spPr>
        <p:txBody>
          <a:bodyPr wrap="none" lIns="91440" tIns="45720" rIns="91440" bIns="45720">
            <a:spAutoFit/>
          </a:bodyPr>
          <a:lstStyle/>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أمر </a:t>
            </a:r>
            <a:r>
              <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SELECT </a:t>
            </a: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يُستخدم لقراءة البيانات من قاعدة البيانات.</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936372" y="1530044"/>
            <a:ext cx="688907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SELECT column1, column2, ...</a:t>
            </a:r>
          </a:p>
          <a:p>
            <a:r>
              <a:rPr lang="en-US" sz="3600" dirty="0">
                <a:ln w="0"/>
                <a:solidFill>
                  <a:schemeClr val="accent1"/>
                </a:solidFill>
                <a:effectLst>
                  <a:outerShdw blurRad="38100" dist="25400" dir="5400000" algn="ctr" rotWithShape="0">
                    <a:srgbClr val="6E747A">
                      <a:alpha val="43000"/>
                    </a:srgbClr>
                  </a:outerShdw>
                </a:effectLst>
              </a:rPr>
              <a:t>FROM </a:t>
            </a:r>
            <a:r>
              <a:rPr lang="en-US" sz="3600" dirty="0" err="1">
                <a:ln w="0"/>
                <a:solidFill>
                  <a:schemeClr val="accent1"/>
                </a:solidFill>
                <a:effectLst>
                  <a:outerShdw blurRad="38100" dist="25400" dir="5400000" algn="ctr" rotWithShape="0">
                    <a:srgbClr val="6E747A">
                      <a:alpha val="43000"/>
                    </a:srgbClr>
                  </a:outerShdw>
                </a:effectLst>
              </a:rPr>
              <a:t>table_name</a:t>
            </a:r>
            <a:r>
              <a:rPr lang="en-US" sz="3600" dirty="0">
                <a:ln w="0"/>
                <a:solidFill>
                  <a:schemeClr val="accent1"/>
                </a:solidFill>
                <a:effectLst>
                  <a:outerShdw blurRad="38100" dist="25400" dir="5400000" algn="ctr" rotWithShape="0">
                    <a:srgbClr val="6E747A">
                      <a:alpha val="43000"/>
                    </a:srgbClr>
                  </a:outerShdw>
                </a:effectLst>
              </a:rPr>
              <a:t>;</a:t>
            </a:r>
          </a:p>
          <a:p>
            <a:r>
              <a:rPr lang="en-US" sz="3600" dirty="0">
                <a:ln w="0"/>
                <a:solidFill>
                  <a:srgbClr val="FF0000"/>
                </a:solidFill>
                <a:effectLst>
                  <a:outerShdw blurRad="38100" dist="25400" dir="5400000" algn="ctr" rotWithShape="0">
                    <a:srgbClr val="6E747A">
                      <a:alpha val="43000"/>
                    </a:srgbClr>
                  </a:outerShdw>
                </a:effectLst>
              </a:rPr>
              <a:t>OR</a:t>
            </a:r>
          </a:p>
          <a:p>
            <a:r>
              <a:rPr lang="en-US" sz="3600" dirty="0">
                <a:ln w="0"/>
                <a:solidFill>
                  <a:schemeClr val="accent1"/>
                </a:solidFill>
                <a:effectLst>
                  <a:outerShdw blurRad="38100" dist="25400" dir="5400000" algn="ctr" rotWithShape="0">
                    <a:srgbClr val="6E747A">
                      <a:alpha val="43000"/>
                    </a:srgbClr>
                  </a:outerShdw>
                </a:effectLst>
              </a:rPr>
              <a:t>SELECT * FROM </a:t>
            </a:r>
            <a:r>
              <a:rPr lang="en-US" sz="3600" dirty="0" err="1">
                <a:ln w="0"/>
                <a:solidFill>
                  <a:schemeClr val="accent1"/>
                </a:solidFill>
                <a:effectLst>
                  <a:outerShdw blurRad="38100" dist="25400" dir="5400000" algn="ctr" rotWithShape="0">
                    <a:srgbClr val="6E747A">
                      <a:alpha val="43000"/>
                    </a:srgbClr>
                  </a:outerShdw>
                </a:effectLst>
              </a:rPr>
              <a:t>table_name</a:t>
            </a:r>
            <a:r>
              <a:rPr lang="en-US" sz="3600" dirty="0">
                <a:ln w="0"/>
                <a:solidFill>
                  <a:schemeClr val="accent1"/>
                </a:solidFill>
                <a:effectLst>
                  <a:outerShdw blurRad="38100" dist="25400" dir="5400000" algn="ctr" rotWithShape="0">
                    <a:srgbClr val="6E747A">
                      <a:alpha val="43000"/>
                    </a:srgbClr>
                  </a:outerShdw>
                </a:effectLst>
              </a:rPr>
              <a:t>;</a:t>
            </a:r>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061" y="3804919"/>
            <a:ext cx="4953691" cy="3086531"/>
          </a:xfrm>
          <a:prstGeom prst="rect">
            <a:avLst/>
          </a:prstGeom>
        </p:spPr>
      </p:pic>
    </p:spTree>
    <p:extLst>
      <p:ext uri="{BB962C8B-B14F-4D97-AF65-F5344CB8AC3E}">
        <p14:creationId xmlns:p14="http://schemas.microsoft.com/office/powerpoint/2010/main" val="2151313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24567" y="351722"/>
            <a:ext cx="8819433" cy="5894304"/>
          </a:xfrm>
        </p:spPr>
        <p:txBody>
          <a:bodyPr>
            <a:normAutofit/>
          </a:bodyPr>
          <a:lstStyle/>
          <a:p>
            <a:pPr marL="0" indent="0">
              <a:buNone/>
            </a:pPr>
            <a:r>
              <a:rPr lang="en-US" sz="3200" dirty="0">
                <a:solidFill>
                  <a:srgbClr val="002060"/>
                </a:solidFill>
              </a:rPr>
              <a:t>USE school; </a:t>
            </a:r>
          </a:p>
          <a:p>
            <a:pPr marL="0" indent="0">
              <a:buNone/>
            </a:pPr>
            <a:r>
              <a:rPr lang="en-US" sz="3200" dirty="0">
                <a:solidFill>
                  <a:srgbClr val="002060"/>
                </a:solidFill>
              </a:rPr>
              <a:t>INSERT into student (</a:t>
            </a:r>
            <a:r>
              <a:rPr lang="en-US" sz="3200" dirty="0" err="1">
                <a:solidFill>
                  <a:srgbClr val="002060"/>
                </a:solidFill>
              </a:rPr>
              <a:t>sid,sname,age</a:t>
            </a:r>
            <a:r>
              <a:rPr lang="en-US" sz="3200" dirty="0">
                <a:solidFill>
                  <a:srgbClr val="002060"/>
                </a:solidFill>
              </a:rPr>
              <a:t>) values (1,'Eman',31),</a:t>
            </a:r>
          </a:p>
          <a:p>
            <a:pPr marL="0" indent="0">
              <a:buNone/>
            </a:pPr>
            <a:r>
              <a:rPr lang="en-US" sz="3200" dirty="0">
                <a:solidFill>
                  <a:srgbClr val="002060"/>
                </a:solidFill>
              </a:rPr>
              <a:t>(2,'Mona',32),</a:t>
            </a:r>
          </a:p>
          <a:p>
            <a:pPr marL="0" indent="0">
              <a:buNone/>
            </a:pPr>
            <a:r>
              <a:rPr lang="en-US" sz="3200" dirty="0">
                <a:solidFill>
                  <a:srgbClr val="002060"/>
                </a:solidFill>
              </a:rPr>
              <a:t>(3,'Salma',33),</a:t>
            </a:r>
          </a:p>
          <a:p>
            <a:pPr marL="0" indent="0">
              <a:buNone/>
            </a:pPr>
            <a:r>
              <a:rPr lang="en-US" sz="3200" dirty="0">
                <a:solidFill>
                  <a:srgbClr val="002060"/>
                </a:solidFill>
              </a:rPr>
              <a:t>(4,'Rana',34);</a:t>
            </a:r>
          </a:p>
          <a:p>
            <a:pPr marL="0" indent="0">
              <a:buNone/>
            </a:pPr>
            <a:r>
              <a:rPr lang="en-US" sz="3200" dirty="0">
                <a:solidFill>
                  <a:srgbClr val="002060"/>
                </a:solidFill>
              </a:rPr>
              <a:t>SELECT * FROM student;</a:t>
            </a:r>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337" y="4059382"/>
            <a:ext cx="5724613" cy="2611972"/>
          </a:xfrm>
          <a:prstGeom prst="rect">
            <a:avLst/>
          </a:prstGeom>
        </p:spPr>
      </p:pic>
    </p:spTree>
    <p:extLst>
      <p:ext uri="{BB962C8B-B14F-4D97-AF65-F5344CB8AC3E}">
        <p14:creationId xmlns:p14="http://schemas.microsoft.com/office/powerpoint/2010/main" val="3738209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72304" y="705684"/>
            <a:ext cx="8819433" cy="5894304"/>
          </a:xfrm>
        </p:spPr>
        <p:txBody>
          <a:bodyPr>
            <a:normAutofit/>
          </a:bodyPr>
          <a:lstStyle/>
          <a:p>
            <a:pPr marL="0" indent="0">
              <a:buNone/>
            </a:pPr>
            <a:r>
              <a:rPr lang="en-US" sz="3200" dirty="0">
                <a:solidFill>
                  <a:srgbClr val="002060"/>
                </a:solidFill>
              </a:rPr>
              <a:t>USE school;</a:t>
            </a:r>
          </a:p>
          <a:p>
            <a:pPr marL="0" indent="0">
              <a:buNone/>
            </a:pPr>
            <a:r>
              <a:rPr lang="en-US" sz="3200" dirty="0">
                <a:solidFill>
                  <a:srgbClr val="002060"/>
                </a:solidFill>
              </a:rPr>
              <a:t>SELECT </a:t>
            </a:r>
            <a:r>
              <a:rPr lang="en-US" sz="3200" dirty="0" err="1">
                <a:solidFill>
                  <a:srgbClr val="002060"/>
                </a:solidFill>
              </a:rPr>
              <a:t>sname,age</a:t>
            </a:r>
            <a:r>
              <a:rPr lang="en-US" sz="3200" dirty="0">
                <a:solidFill>
                  <a:srgbClr val="002060"/>
                </a:solidFill>
              </a:rPr>
              <a:t> </a:t>
            </a:r>
          </a:p>
          <a:p>
            <a:pPr marL="0" indent="0">
              <a:buNone/>
            </a:pPr>
            <a:r>
              <a:rPr lang="en-US" sz="3200" dirty="0">
                <a:solidFill>
                  <a:srgbClr val="002060"/>
                </a:solidFill>
              </a:rPr>
              <a:t>FROM student;</a:t>
            </a:r>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1571" y="2744779"/>
            <a:ext cx="4840405" cy="3074129"/>
          </a:xfrm>
          <a:prstGeom prst="rect">
            <a:avLst/>
          </a:prstGeom>
          <a:ln>
            <a:solidFill>
              <a:schemeClr val="accent1"/>
            </a:solidFill>
          </a:ln>
        </p:spPr>
      </p:pic>
    </p:spTree>
    <p:extLst>
      <p:ext uri="{BB962C8B-B14F-4D97-AF65-F5344CB8AC3E}">
        <p14:creationId xmlns:p14="http://schemas.microsoft.com/office/powerpoint/2010/main" val="1313974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430408" y="866195"/>
            <a:ext cx="8819433" cy="5894304"/>
          </a:xfrm>
        </p:spPr>
        <p:txBody>
          <a:bodyPr>
            <a:normAutofit/>
          </a:bodyPr>
          <a:lstStyle/>
          <a:p>
            <a:pPr marL="0" indent="0">
              <a:buNone/>
            </a:pPr>
            <a:r>
              <a:rPr lang="en-US" sz="3200" dirty="0">
                <a:solidFill>
                  <a:srgbClr val="002060"/>
                </a:solidFill>
              </a:rPr>
              <a:t>USE school;</a:t>
            </a:r>
          </a:p>
          <a:p>
            <a:pPr marL="0" indent="0">
              <a:buNone/>
            </a:pPr>
            <a:r>
              <a:rPr lang="en-US" sz="3200" dirty="0">
                <a:solidFill>
                  <a:srgbClr val="002060"/>
                </a:solidFill>
              </a:rPr>
              <a:t>SELECT </a:t>
            </a:r>
            <a:r>
              <a:rPr lang="en-US" sz="3200" dirty="0" err="1">
                <a:solidFill>
                  <a:srgbClr val="002060"/>
                </a:solidFill>
              </a:rPr>
              <a:t>sname,age</a:t>
            </a:r>
            <a:r>
              <a:rPr lang="en-US" sz="3200" dirty="0">
                <a:solidFill>
                  <a:srgbClr val="002060"/>
                </a:solidFill>
              </a:rPr>
              <a:t> FROM student</a:t>
            </a:r>
          </a:p>
          <a:p>
            <a:pPr marL="0" indent="0">
              <a:buNone/>
            </a:pPr>
            <a:r>
              <a:rPr lang="en-US" sz="3200" dirty="0">
                <a:solidFill>
                  <a:srgbClr val="002060"/>
                </a:solidFill>
              </a:rPr>
              <a:t>WHERE </a:t>
            </a:r>
            <a:r>
              <a:rPr lang="en-US" sz="3200" dirty="0" err="1">
                <a:solidFill>
                  <a:srgbClr val="002060"/>
                </a:solidFill>
              </a:rPr>
              <a:t>sid</a:t>
            </a:r>
            <a:r>
              <a:rPr lang="en-US" sz="3200" dirty="0">
                <a:solidFill>
                  <a:srgbClr val="002060"/>
                </a:solidFill>
              </a:rPr>
              <a:t>=1;</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352" y="2961731"/>
            <a:ext cx="6473138" cy="2316849"/>
          </a:xfrm>
          <a:prstGeom prst="rect">
            <a:avLst/>
          </a:prstGeom>
        </p:spPr>
      </p:pic>
    </p:spTree>
    <p:extLst>
      <p:ext uri="{BB962C8B-B14F-4D97-AF65-F5344CB8AC3E}">
        <p14:creationId xmlns:p14="http://schemas.microsoft.com/office/powerpoint/2010/main" val="1699583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24567" y="351722"/>
            <a:ext cx="8819433" cy="5894304"/>
          </a:xfrm>
        </p:spPr>
        <p:txBody>
          <a:bodyPr>
            <a:normAutofit/>
          </a:bodyPr>
          <a:lstStyle/>
          <a:p>
            <a:pPr marL="0" indent="0">
              <a:buNone/>
            </a:pPr>
            <a:r>
              <a:rPr lang="en-US" sz="3200" dirty="0">
                <a:solidFill>
                  <a:srgbClr val="002060"/>
                </a:solidFill>
              </a:rPr>
              <a:t>USE school;</a:t>
            </a:r>
          </a:p>
          <a:p>
            <a:pPr marL="0" indent="0">
              <a:buNone/>
            </a:pPr>
            <a:r>
              <a:rPr lang="en-US" sz="3200" dirty="0">
                <a:solidFill>
                  <a:srgbClr val="002060"/>
                </a:solidFill>
              </a:rPr>
              <a:t>SELECT * FROM student</a:t>
            </a:r>
          </a:p>
          <a:p>
            <a:pPr marL="0" indent="0">
              <a:buNone/>
            </a:pPr>
            <a:r>
              <a:rPr lang="en-US" sz="3200" dirty="0">
                <a:solidFill>
                  <a:srgbClr val="002060"/>
                </a:solidFill>
              </a:rPr>
              <a:t>WHERE </a:t>
            </a:r>
            <a:r>
              <a:rPr lang="en-US" sz="3200" dirty="0" err="1">
                <a:solidFill>
                  <a:srgbClr val="002060"/>
                </a:solidFill>
              </a:rPr>
              <a:t>sid</a:t>
            </a:r>
            <a:r>
              <a:rPr lang="en-US" sz="3200" dirty="0">
                <a:solidFill>
                  <a:srgbClr val="002060"/>
                </a:solidFill>
              </a:rPr>
              <a:t>&lt;2;</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511" y="2445478"/>
            <a:ext cx="6217652" cy="2746362"/>
          </a:xfrm>
          <a:prstGeom prst="rect">
            <a:avLst/>
          </a:prstGeom>
          <a:ln>
            <a:solidFill>
              <a:schemeClr val="accent1"/>
            </a:solidFill>
          </a:ln>
        </p:spPr>
      </p:pic>
    </p:spTree>
    <p:extLst>
      <p:ext uri="{BB962C8B-B14F-4D97-AF65-F5344CB8AC3E}">
        <p14:creationId xmlns:p14="http://schemas.microsoft.com/office/powerpoint/2010/main" val="28562307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24567" y="705684"/>
            <a:ext cx="8819433" cy="5894304"/>
          </a:xfrm>
        </p:spPr>
        <p:txBody>
          <a:bodyPr>
            <a:normAutofit/>
          </a:bodyPr>
          <a:lstStyle/>
          <a:p>
            <a:pPr marL="0" indent="0">
              <a:buNone/>
            </a:pPr>
            <a:r>
              <a:rPr lang="en-US" sz="3200" dirty="0">
                <a:solidFill>
                  <a:srgbClr val="002060"/>
                </a:solidFill>
              </a:rPr>
              <a:t>USE </a:t>
            </a:r>
            <a:r>
              <a:rPr lang="en-US" sz="3200" dirty="0" err="1">
                <a:solidFill>
                  <a:srgbClr val="002060"/>
                </a:solidFill>
              </a:rPr>
              <a:t>school;SELECT</a:t>
            </a:r>
            <a:r>
              <a:rPr lang="en-US" sz="3200" dirty="0">
                <a:solidFill>
                  <a:srgbClr val="002060"/>
                </a:solidFill>
              </a:rPr>
              <a:t> * FROM student</a:t>
            </a:r>
          </a:p>
          <a:p>
            <a:pPr marL="0" indent="0">
              <a:buNone/>
            </a:pPr>
            <a:r>
              <a:rPr lang="en-US" sz="3200" dirty="0">
                <a:solidFill>
                  <a:srgbClr val="002060"/>
                </a:solidFill>
              </a:rPr>
              <a:t>WHERE</a:t>
            </a:r>
          </a:p>
          <a:p>
            <a:pPr marL="0" indent="0">
              <a:buNone/>
            </a:pPr>
            <a:r>
              <a:rPr lang="en-US" sz="3200" dirty="0">
                <a:solidFill>
                  <a:srgbClr val="002060"/>
                </a:solidFill>
              </a:rPr>
              <a:t> </a:t>
            </a:r>
            <a:r>
              <a:rPr lang="en-US" sz="3200" dirty="0" err="1">
                <a:solidFill>
                  <a:srgbClr val="002060"/>
                </a:solidFill>
              </a:rPr>
              <a:t>sid</a:t>
            </a:r>
            <a:r>
              <a:rPr lang="en-US" sz="3200" dirty="0">
                <a:solidFill>
                  <a:srgbClr val="002060"/>
                </a:solidFill>
              </a:rPr>
              <a:t>&lt;2 AND </a:t>
            </a:r>
            <a:r>
              <a:rPr lang="en-US" sz="3200" dirty="0" err="1">
                <a:solidFill>
                  <a:srgbClr val="002060"/>
                </a:solidFill>
              </a:rPr>
              <a:t>sname</a:t>
            </a:r>
            <a:r>
              <a:rPr lang="en-US" sz="3200" dirty="0">
                <a:solidFill>
                  <a:srgbClr val="002060"/>
                </a:solidFill>
              </a:rPr>
              <a:t>='Eman';</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6544" y="2980328"/>
            <a:ext cx="5673139" cy="3046399"/>
          </a:xfrm>
          <a:prstGeom prst="rect">
            <a:avLst/>
          </a:prstGeom>
          <a:ln>
            <a:solidFill>
              <a:schemeClr val="accent1"/>
            </a:solidFill>
          </a:ln>
        </p:spPr>
      </p:pic>
    </p:spTree>
    <p:extLst>
      <p:ext uri="{BB962C8B-B14F-4D97-AF65-F5344CB8AC3E}">
        <p14:creationId xmlns:p14="http://schemas.microsoft.com/office/powerpoint/2010/main" val="2105729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24567" y="705684"/>
            <a:ext cx="8819433" cy="5894304"/>
          </a:xfrm>
        </p:spPr>
        <p:txBody>
          <a:bodyPr>
            <a:normAutofit/>
          </a:bodyPr>
          <a:lstStyle/>
          <a:p>
            <a:pPr marL="0" indent="0">
              <a:buNone/>
            </a:pPr>
            <a:r>
              <a:rPr lang="en-US" sz="3200" dirty="0">
                <a:solidFill>
                  <a:srgbClr val="002060"/>
                </a:solidFill>
              </a:rPr>
              <a:t>USE </a:t>
            </a:r>
            <a:r>
              <a:rPr lang="en-US" sz="3200" dirty="0" err="1">
                <a:solidFill>
                  <a:srgbClr val="002060"/>
                </a:solidFill>
              </a:rPr>
              <a:t>school;SELECT</a:t>
            </a:r>
            <a:r>
              <a:rPr lang="en-US" sz="3200" dirty="0">
                <a:solidFill>
                  <a:srgbClr val="002060"/>
                </a:solidFill>
              </a:rPr>
              <a:t> * FROM student</a:t>
            </a:r>
          </a:p>
          <a:p>
            <a:pPr marL="0" indent="0">
              <a:buNone/>
            </a:pPr>
            <a:r>
              <a:rPr lang="en-US" sz="3200" dirty="0">
                <a:solidFill>
                  <a:srgbClr val="002060"/>
                </a:solidFill>
              </a:rPr>
              <a:t>WHERE</a:t>
            </a:r>
          </a:p>
          <a:p>
            <a:pPr marL="0" indent="0">
              <a:buNone/>
            </a:pPr>
            <a:r>
              <a:rPr lang="en-US" sz="3200" dirty="0">
                <a:solidFill>
                  <a:srgbClr val="002060"/>
                </a:solidFill>
              </a:rPr>
              <a:t> </a:t>
            </a:r>
            <a:r>
              <a:rPr lang="en-US" sz="3200" dirty="0" err="1">
                <a:solidFill>
                  <a:srgbClr val="002060"/>
                </a:solidFill>
              </a:rPr>
              <a:t>sid</a:t>
            </a:r>
            <a:r>
              <a:rPr lang="en-US" sz="3200" dirty="0">
                <a:solidFill>
                  <a:srgbClr val="002060"/>
                </a:solidFill>
              </a:rPr>
              <a:t>&lt;2 OR </a:t>
            </a:r>
            <a:r>
              <a:rPr lang="en-US" sz="3200" dirty="0" err="1">
                <a:solidFill>
                  <a:srgbClr val="002060"/>
                </a:solidFill>
              </a:rPr>
              <a:t>sname</a:t>
            </a:r>
            <a:r>
              <a:rPr lang="en-US" sz="3200" dirty="0">
                <a:solidFill>
                  <a:srgbClr val="002060"/>
                </a:solidFill>
              </a:rPr>
              <a:t>='Eman';</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439" y="2984221"/>
            <a:ext cx="5887439" cy="3333451"/>
          </a:xfrm>
          <a:prstGeom prst="rect">
            <a:avLst/>
          </a:prstGeom>
        </p:spPr>
      </p:pic>
    </p:spTree>
    <p:extLst>
      <p:ext uri="{BB962C8B-B14F-4D97-AF65-F5344CB8AC3E}">
        <p14:creationId xmlns:p14="http://schemas.microsoft.com/office/powerpoint/2010/main" val="3240867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0" name="Content Placeholder 2"/>
          <p:cNvSpPr>
            <a:spLocks noGrp="1"/>
          </p:cNvSpPr>
          <p:nvPr>
            <p:ph idx="1"/>
          </p:nvPr>
        </p:nvSpPr>
        <p:spPr>
          <a:xfrm>
            <a:off x="324567" y="705684"/>
            <a:ext cx="8819433" cy="5894304"/>
          </a:xfrm>
        </p:spPr>
        <p:txBody>
          <a:bodyPr>
            <a:normAutofit/>
          </a:bodyPr>
          <a:lstStyle/>
          <a:p>
            <a:pPr marL="0" indent="0">
              <a:buNone/>
            </a:pPr>
            <a:r>
              <a:rPr lang="en-US" sz="3200" dirty="0">
                <a:solidFill>
                  <a:srgbClr val="002060"/>
                </a:solidFill>
              </a:rPr>
              <a:t>USE school;</a:t>
            </a:r>
          </a:p>
          <a:p>
            <a:pPr marL="0" indent="0">
              <a:buNone/>
            </a:pPr>
            <a:r>
              <a:rPr lang="en-US" sz="3200" dirty="0">
                <a:solidFill>
                  <a:srgbClr val="002060"/>
                </a:solidFill>
              </a:rPr>
              <a:t>SELECT </a:t>
            </a:r>
            <a:r>
              <a:rPr lang="en-US" sz="3200" dirty="0" err="1">
                <a:solidFill>
                  <a:srgbClr val="002060"/>
                </a:solidFill>
              </a:rPr>
              <a:t>sname</a:t>
            </a:r>
            <a:r>
              <a:rPr lang="en-US" sz="3200" dirty="0">
                <a:solidFill>
                  <a:srgbClr val="002060"/>
                </a:solidFill>
              </a:rPr>
              <a:t> AS </a:t>
            </a:r>
            <a:r>
              <a:rPr lang="en-US" sz="3200" dirty="0" err="1">
                <a:solidFill>
                  <a:srgbClr val="002060"/>
                </a:solidFill>
              </a:rPr>
              <a:t>student_name</a:t>
            </a:r>
            <a:r>
              <a:rPr lang="en-US" sz="3200" dirty="0">
                <a:solidFill>
                  <a:srgbClr val="002060"/>
                </a:solidFill>
              </a:rPr>
              <a:t> </a:t>
            </a:r>
          </a:p>
          <a:p>
            <a:pPr marL="0" indent="0">
              <a:buNone/>
            </a:pPr>
            <a:r>
              <a:rPr lang="en-US" sz="3200" dirty="0">
                <a:solidFill>
                  <a:srgbClr val="002060"/>
                </a:solidFill>
              </a:rPr>
              <a:t>FROM student</a:t>
            </a:r>
          </a:p>
          <a:p>
            <a:pPr marL="0" indent="0">
              <a:buNone/>
            </a:pPr>
            <a:r>
              <a:rPr lang="en-US" sz="3200" dirty="0">
                <a:solidFill>
                  <a:srgbClr val="002060"/>
                </a:solidFill>
              </a:rPr>
              <a:t>WHERE </a:t>
            </a:r>
            <a:r>
              <a:rPr lang="en-US" sz="3200" dirty="0" err="1">
                <a:solidFill>
                  <a:srgbClr val="002060"/>
                </a:solidFill>
              </a:rPr>
              <a:t>sid</a:t>
            </a:r>
            <a:r>
              <a:rPr lang="en-US" sz="3200" dirty="0">
                <a:solidFill>
                  <a:srgbClr val="002060"/>
                </a:solidFill>
              </a:rPr>
              <a:t>&lt;2 OR </a:t>
            </a:r>
            <a:r>
              <a:rPr lang="en-US" sz="3200" dirty="0" err="1">
                <a:solidFill>
                  <a:srgbClr val="002060"/>
                </a:solidFill>
              </a:rPr>
              <a:t>sname</a:t>
            </a:r>
            <a:r>
              <a:rPr lang="en-US" sz="3200" dirty="0">
                <a:solidFill>
                  <a:srgbClr val="002060"/>
                </a:solidFill>
              </a:rPr>
              <a:t>='Eman';</a:t>
            </a:r>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8528" y="2961255"/>
            <a:ext cx="6113653" cy="3497434"/>
          </a:xfrm>
          <a:prstGeom prst="rect">
            <a:avLst/>
          </a:prstGeom>
          <a:ln>
            <a:solidFill>
              <a:schemeClr val="accent1"/>
            </a:solidFill>
          </a:ln>
        </p:spPr>
      </p:pic>
    </p:spTree>
    <p:extLst>
      <p:ext uri="{BB962C8B-B14F-4D97-AF65-F5344CB8AC3E}">
        <p14:creationId xmlns:p14="http://schemas.microsoft.com/office/powerpoint/2010/main" val="18018876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988556" y="125716"/>
            <a:ext cx="7858241" cy="1446550"/>
          </a:xfrm>
          <a:prstGeom prst="rect">
            <a:avLst/>
          </a:prstGeom>
          <a:noFill/>
        </p:spPr>
        <p:txBody>
          <a:bodyPr wrap="none" lIns="91440" tIns="45720" rIns="91440" bIns="45720">
            <a:spAutoFit/>
          </a:bodyPr>
          <a:lstStyle/>
          <a:p>
            <a:pPr algn="r" rtl="1"/>
            <a:r>
              <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NOT NULL</a:t>
            </a: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لا يمكن ان يكون العامود المدخل خلاياه فارغة.</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76259" y="1848452"/>
            <a:ext cx="8363541" cy="2862322"/>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USE school;</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CREATE TABLE eman2Test (</a:t>
            </a:r>
          </a:p>
          <a:p>
            <a:r>
              <a:rPr lang="en-US" sz="3600" dirty="0">
                <a:ln w="0"/>
                <a:solidFill>
                  <a:schemeClr val="accent1"/>
                </a:solidFill>
                <a:effectLst>
                  <a:outerShdw blurRad="38100" dist="25400" dir="5400000" algn="ctr" rotWithShape="0">
                    <a:srgbClr val="6E747A">
                      <a:alpha val="43000"/>
                    </a:srgbClr>
                  </a:outerShdw>
                </a:effectLst>
              </a:rPr>
              <a:t>ID INT(2) NOT NULL , </a:t>
            </a:r>
            <a:r>
              <a:rPr lang="en-US" sz="3600" dirty="0" err="1">
                <a:ln w="0"/>
                <a:solidFill>
                  <a:schemeClr val="accent1"/>
                </a:solidFill>
                <a:effectLst>
                  <a:outerShdw blurRad="38100" dist="25400" dir="5400000" algn="ctr" rotWithShape="0">
                    <a:srgbClr val="6E747A">
                      <a:alpha val="43000"/>
                    </a:srgbClr>
                  </a:outerShdw>
                </a:effectLst>
              </a:rPr>
              <a:t>SName</a:t>
            </a:r>
            <a:r>
              <a:rPr lang="en-US" sz="3600" dirty="0">
                <a:ln w="0"/>
                <a:solidFill>
                  <a:schemeClr val="accent1"/>
                </a:solidFill>
                <a:effectLst>
                  <a:outerShdw blurRad="38100" dist="25400" dir="5400000" algn="ctr" rotWithShape="0">
                    <a:srgbClr val="6E747A">
                      <a:alpha val="43000"/>
                    </a:srgbClr>
                  </a:outerShdw>
                </a:effectLst>
              </a:rPr>
              <a:t> VARCHAR(3));</a:t>
            </a:r>
          </a:p>
          <a:p>
            <a:r>
              <a:rPr lang="en-US" sz="3600" dirty="0">
                <a:ln w="0"/>
                <a:solidFill>
                  <a:schemeClr val="accent1"/>
                </a:solidFill>
                <a:effectLst>
                  <a:outerShdw blurRad="38100" dist="25400" dir="5400000" algn="ctr" rotWithShape="0">
                    <a:srgbClr val="6E747A">
                      <a:alpha val="43000"/>
                    </a:srgbClr>
                  </a:outerShdw>
                </a:effectLst>
              </a:rPr>
              <a:t>INSERT INTO eman2Test (ID, </a:t>
            </a:r>
            <a:r>
              <a:rPr lang="en-US" sz="3600" dirty="0" err="1">
                <a:ln w="0"/>
                <a:solidFill>
                  <a:schemeClr val="accent1"/>
                </a:solidFill>
                <a:effectLst>
                  <a:outerShdw blurRad="38100" dist="25400" dir="5400000" algn="ctr" rotWithShape="0">
                    <a:srgbClr val="6E747A">
                      <a:alpha val="43000"/>
                    </a:srgbClr>
                  </a:outerShdw>
                </a:effectLst>
              </a:rPr>
              <a:t>SName</a:t>
            </a:r>
            <a:r>
              <a:rPr lang="en-US" sz="3600" dirty="0">
                <a:ln w="0"/>
                <a:solidFill>
                  <a:schemeClr val="accent1"/>
                </a:solidFill>
                <a:effectLst>
                  <a:outerShdw blurRad="38100" dist="25400" dir="5400000" algn="ctr" rotWithShape="0">
                    <a:srgbClr val="6E747A">
                      <a:alpha val="43000"/>
                    </a:srgbClr>
                  </a:outerShdw>
                </a:effectLst>
              </a:rPr>
              <a:t>) values (</a:t>
            </a:r>
            <a:r>
              <a:rPr lang="ar-JO" sz="3600" dirty="0">
                <a:ln w="0"/>
                <a:solidFill>
                  <a:schemeClr val="accent1"/>
                </a:solidFill>
                <a:effectLst>
                  <a:outerShdw blurRad="38100" dist="25400" dir="5400000" algn="ctr" rotWithShape="0">
                    <a:srgbClr val="6E747A">
                      <a:alpha val="43000"/>
                    </a:srgbClr>
                  </a:outerShdw>
                </a:effectLst>
              </a:rPr>
              <a:t>4</a:t>
            </a:r>
            <a:r>
              <a:rPr lang="en-US" sz="3600" dirty="0">
                <a:ln w="0"/>
                <a:solidFill>
                  <a:schemeClr val="accent1"/>
                </a:solidFill>
                <a:effectLst>
                  <a:outerShdw blurRad="38100" dist="25400" dir="5400000" algn="ctr" rotWithShape="0">
                    <a:srgbClr val="6E747A">
                      <a:alpha val="43000"/>
                    </a:srgbClr>
                  </a:outerShdw>
                </a:effectLst>
              </a:rPr>
              <a:t>,'10');</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059" y="5100460"/>
            <a:ext cx="8094640" cy="1531419"/>
          </a:xfrm>
          <a:prstGeom prst="rect">
            <a:avLst/>
          </a:prstGeom>
          <a:ln>
            <a:solidFill>
              <a:schemeClr val="accent1"/>
            </a:solidFill>
          </a:ln>
        </p:spPr>
      </p:pic>
    </p:spTree>
    <p:extLst>
      <p:ext uri="{BB962C8B-B14F-4D97-AF65-F5344CB8AC3E}">
        <p14:creationId xmlns:p14="http://schemas.microsoft.com/office/powerpoint/2010/main" val="24352271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988557" y="125716"/>
            <a:ext cx="7858240" cy="1446550"/>
          </a:xfrm>
          <a:prstGeom prst="rect">
            <a:avLst/>
          </a:prstGeom>
          <a:noFill/>
        </p:spPr>
        <p:txBody>
          <a:bodyPr wrap="none" lIns="91440" tIns="45720" rIns="91440" bIns="45720">
            <a:spAutoFit/>
          </a:bodyPr>
          <a:lstStyle/>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حذف السجلات</a:t>
            </a:r>
            <a:endPar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لا يمكن ان يكون العامود المدخل خلاياه فارغة.</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76259" y="1848452"/>
            <a:ext cx="8363541" cy="1754326"/>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USE school;</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DELETE FROM student</a:t>
            </a:r>
            <a:r>
              <a:rPr lang="ar-JO" sz="3600" dirty="0">
                <a:ln w="0"/>
                <a:solidFill>
                  <a:schemeClr val="accent1"/>
                </a:solidFill>
                <a:effectLst>
                  <a:outerShdw blurRad="38100" dist="25400" dir="5400000" algn="ctr" rotWithShape="0">
                    <a:srgbClr val="6E747A">
                      <a:alpha val="43000"/>
                    </a:srgbClr>
                  </a:outerShdw>
                </a:effectLst>
              </a:rPr>
              <a:t> </a:t>
            </a:r>
            <a:r>
              <a:rPr lang="en-US" sz="3600" dirty="0">
                <a:ln w="0"/>
                <a:solidFill>
                  <a:schemeClr val="accent1"/>
                </a:solidFill>
                <a:effectLst>
                  <a:outerShdw blurRad="38100" dist="25400" dir="5400000" algn="ctr" rotWithShape="0">
                    <a:srgbClr val="6E747A">
                      <a:alpha val="43000"/>
                    </a:srgbClr>
                  </a:outerShdw>
                </a:effectLst>
              </a:rPr>
              <a:t>WHERE </a:t>
            </a:r>
            <a:r>
              <a:rPr lang="en-US" sz="3600" dirty="0" err="1">
                <a:ln w="0"/>
                <a:solidFill>
                  <a:schemeClr val="accent1"/>
                </a:solidFill>
                <a:effectLst>
                  <a:outerShdw blurRad="38100" dist="25400" dir="5400000" algn="ctr" rotWithShape="0">
                    <a:srgbClr val="6E747A">
                      <a:alpha val="43000"/>
                    </a:srgbClr>
                  </a:outerShdw>
                </a:effectLst>
              </a:rPr>
              <a:t>sid</a:t>
            </a:r>
            <a:r>
              <a:rPr lang="en-US" sz="3600" dirty="0">
                <a:ln w="0"/>
                <a:solidFill>
                  <a:schemeClr val="accent1"/>
                </a:solidFill>
                <a:effectLst>
                  <a:outerShdw blurRad="38100" dist="25400" dir="5400000" algn="ctr" rotWithShape="0">
                    <a:srgbClr val="6E747A">
                      <a:alpha val="43000"/>
                    </a:srgbClr>
                  </a:outerShdw>
                </a:effectLst>
              </a:rPr>
              <a:t>=1;</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 from student;</a:t>
            </a:r>
          </a:p>
        </p:txBody>
      </p:sp>
      <p:sp>
        <p:nvSpPr>
          <p:cNvPr id="3"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DELETE FROM </a:t>
            </a:r>
          </a:p>
        </p:txBody>
      </p:sp>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951" y="4134881"/>
            <a:ext cx="7918552" cy="1498105"/>
          </a:xfrm>
          <a:prstGeom prst="rect">
            <a:avLst/>
          </a:prstGeom>
          <a:ln>
            <a:solidFill>
              <a:schemeClr val="accent1"/>
            </a:solidFill>
          </a:ln>
        </p:spPr>
      </p:pic>
    </p:spTree>
    <p:extLst>
      <p:ext uri="{BB962C8B-B14F-4D97-AF65-F5344CB8AC3E}">
        <p14:creationId xmlns:p14="http://schemas.microsoft.com/office/powerpoint/2010/main" val="4287142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138420" y="583454"/>
            <a:ext cx="8985217" cy="4031873"/>
          </a:xfrm>
          <a:prstGeom prst="rect">
            <a:avLst/>
          </a:prstGeom>
          <a:noFill/>
        </p:spPr>
        <p:txBody>
          <a:bodyPr wrap="none" lIns="91440" tIns="45720" rIns="91440" bIns="45720">
            <a:spAutoFit/>
          </a:bodyPr>
          <a:lstStyle/>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حذف السجلات</a:t>
            </a:r>
          </a:p>
          <a:p>
            <a:pPr algn="r" rtl="1"/>
            <a:endPar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حذف</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جميع</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السجلات الموجودة في</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الجدول مع</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البقاء </a:t>
            </a:r>
            <a:endPar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على تعريف الجدول اي يتم حذف السجلات دون الغاء </a:t>
            </a: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وجود الجدول، ويمكننا بعد ذلك إضافة سجلات على</a:t>
            </a: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الجدول. </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390229" y="4799470"/>
            <a:ext cx="8363541" cy="646331"/>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DELETE FROM student;</a:t>
            </a:r>
          </a:p>
        </p:txBody>
      </p:sp>
    </p:spTree>
    <p:extLst>
      <p:ext uri="{BB962C8B-B14F-4D97-AF65-F5344CB8AC3E}">
        <p14:creationId xmlns:p14="http://schemas.microsoft.com/office/powerpoint/2010/main" val="3629605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4467265" y="150429"/>
            <a:ext cx="4379532" cy="830997"/>
          </a:xfrm>
          <a:prstGeom prst="rect">
            <a:avLst/>
          </a:prstGeom>
          <a:noFill/>
        </p:spPr>
        <p:txBody>
          <a:bodyPr wrap="none" lIns="91440" tIns="45720" rIns="91440" bIns="45720">
            <a:spAutoFit/>
          </a:bodyPr>
          <a:lstStyle/>
          <a:p>
            <a:pPr algn="r" rtl="1"/>
            <a:r>
              <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ORDER BY</a:t>
            </a:r>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الترتيب</a:t>
            </a:r>
            <a:endPar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285494" y="1338151"/>
            <a:ext cx="836354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USE School;</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 FROM student</a:t>
            </a:r>
          </a:p>
          <a:p>
            <a:r>
              <a:rPr lang="en-US" sz="3600" dirty="0">
                <a:ln w="0"/>
                <a:solidFill>
                  <a:schemeClr val="accent1"/>
                </a:solidFill>
                <a:effectLst>
                  <a:outerShdw blurRad="38100" dist="25400" dir="5400000" algn="ctr" rotWithShape="0">
                    <a:srgbClr val="6E747A">
                      <a:alpha val="43000"/>
                    </a:srgbClr>
                  </a:outerShdw>
                </a:effectLst>
              </a:rPr>
              <a:t>WHERE </a:t>
            </a:r>
            <a:r>
              <a:rPr lang="en-US" sz="3600" dirty="0" err="1">
                <a:ln w="0"/>
                <a:solidFill>
                  <a:schemeClr val="accent1"/>
                </a:solidFill>
                <a:effectLst>
                  <a:outerShdw blurRad="38100" dist="25400" dir="5400000" algn="ctr" rotWithShape="0">
                    <a:srgbClr val="6E747A">
                      <a:alpha val="43000"/>
                    </a:srgbClr>
                  </a:outerShdw>
                </a:effectLst>
              </a:rPr>
              <a:t>sid</a:t>
            </a:r>
            <a:r>
              <a:rPr lang="en-US" sz="3600" dirty="0">
                <a:ln w="0"/>
                <a:solidFill>
                  <a:schemeClr val="accent1"/>
                </a:solidFill>
                <a:effectLst>
                  <a:outerShdw blurRad="38100" dist="25400" dir="5400000" algn="ctr" rotWithShape="0">
                    <a:srgbClr val="6E747A">
                      <a:alpha val="43000"/>
                    </a:srgbClr>
                  </a:outerShdw>
                </a:effectLst>
              </a:rPr>
              <a:t>=1;</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  from student ORDER BY </a:t>
            </a:r>
            <a:r>
              <a:rPr lang="en-US" sz="3600" dirty="0" err="1">
                <a:ln w="0"/>
                <a:solidFill>
                  <a:schemeClr val="accent1"/>
                </a:solidFill>
                <a:effectLst>
                  <a:outerShdw blurRad="38100" dist="25400" dir="5400000" algn="ctr" rotWithShape="0">
                    <a:srgbClr val="6E747A">
                      <a:alpha val="43000"/>
                    </a:srgbClr>
                  </a:outerShdw>
                </a:effectLst>
              </a:rPr>
              <a:t>sid</a:t>
            </a:r>
            <a:r>
              <a:rPr lang="ar-JO" sz="3600" dirty="0">
                <a:ln w="0"/>
                <a:solidFill>
                  <a:schemeClr val="accent1"/>
                </a:solidFill>
                <a:effectLst>
                  <a:outerShdw blurRad="38100" dist="25400" dir="5400000" algn="ctr" rotWithShape="0">
                    <a:srgbClr val="6E747A">
                      <a:alpha val="43000"/>
                    </a:srgbClr>
                  </a:outerShdw>
                </a:effectLst>
              </a:rPr>
              <a:t> </a:t>
            </a:r>
            <a:r>
              <a:rPr lang="en-US" sz="3600" dirty="0">
                <a:ln w="0"/>
                <a:solidFill>
                  <a:srgbClr val="FF0000"/>
                </a:solidFill>
                <a:effectLst>
                  <a:outerShdw blurRad="38100" dist="25400" dir="5400000" algn="ctr" rotWithShape="0">
                    <a:srgbClr val="6E747A">
                      <a:alpha val="43000"/>
                    </a:srgbClr>
                  </a:outerShdw>
                </a:effectLst>
              </a:rPr>
              <a:t>DESC</a:t>
            </a:r>
            <a:r>
              <a:rPr lang="en-US" sz="3600" dirty="0">
                <a:ln w="0"/>
                <a:solidFill>
                  <a:schemeClr val="accent1"/>
                </a:solidFill>
                <a:effectLst>
                  <a:outerShdw blurRad="38100" dist="25400" dir="5400000" algn="ctr" rotWithShape="0">
                    <a:srgbClr val="6E747A">
                      <a:alpha val="43000"/>
                    </a:srgbClr>
                  </a:outerShdw>
                </a:effectLst>
              </a:rPr>
              <a:t>;</a:t>
            </a:r>
          </a:p>
        </p:txBody>
      </p:sp>
      <p:sp>
        <p:nvSpPr>
          <p:cNvPr id="2" name="مستطيل 1"/>
          <p:cNvSpPr/>
          <p:nvPr/>
        </p:nvSpPr>
        <p:spPr>
          <a:xfrm>
            <a:off x="430408" y="767488"/>
            <a:ext cx="1184416" cy="369332"/>
          </a:xfrm>
          <a:prstGeom prst="rect">
            <a:avLst/>
          </a:prstGeom>
        </p:spPr>
        <p:txBody>
          <a:bodyPr wrap="square">
            <a:spAutoFit/>
          </a:bodyPr>
          <a:lstStyle/>
          <a:p>
            <a:r>
              <a:rPr lang="ar-JO"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تنازلي</a:t>
            </a:r>
            <a:endParaRPr lang="en-US" dirty="0"/>
          </a:p>
        </p:txBody>
      </p:sp>
      <p:sp>
        <p:nvSpPr>
          <p:cNvPr id="9" name="Rectangle 8">
            <a:extLst>
              <a:ext uri="{FF2B5EF4-FFF2-40B4-BE49-F238E27FC236}">
                <a16:creationId xmlns:a16="http://schemas.microsoft.com/office/drawing/2014/main" id="{84D3EB12-7C65-49EE-AC43-693A41858754}"/>
              </a:ext>
            </a:extLst>
          </p:cNvPr>
          <p:cNvSpPr/>
          <p:nvPr/>
        </p:nvSpPr>
        <p:spPr>
          <a:xfrm>
            <a:off x="430408" y="4222579"/>
            <a:ext cx="836354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USE School;</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 FROM student</a:t>
            </a:r>
          </a:p>
          <a:p>
            <a:r>
              <a:rPr lang="en-US" sz="3600" dirty="0">
                <a:ln w="0"/>
                <a:solidFill>
                  <a:schemeClr val="accent1"/>
                </a:solidFill>
                <a:effectLst>
                  <a:outerShdw blurRad="38100" dist="25400" dir="5400000" algn="ctr" rotWithShape="0">
                    <a:srgbClr val="6E747A">
                      <a:alpha val="43000"/>
                    </a:srgbClr>
                  </a:outerShdw>
                </a:effectLst>
              </a:rPr>
              <a:t>WHERE </a:t>
            </a:r>
            <a:r>
              <a:rPr lang="en-US" sz="3600" dirty="0" err="1">
                <a:ln w="0"/>
                <a:solidFill>
                  <a:schemeClr val="accent1"/>
                </a:solidFill>
                <a:effectLst>
                  <a:outerShdw blurRad="38100" dist="25400" dir="5400000" algn="ctr" rotWithShape="0">
                    <a:srgbClr val="6E747A">
                      <a:alpha val="43000"/>
                    </a:srgbClr>
                  </a:outerShdw>
                </a:effectLst>
              </a:rPr>
              <a:t>sid</a:t>
            </a:r>
            <a:r>
              <a:rPr lang="en-US" sz="3600" dirty="0">
                <a:ln w="0"/>
                <a:solidFill>
                  <a:schemeClr val="accent1"/>
                </a:solidFill>
                <a:effectLst>
                  <a:outerShdw blurRad="38100" dist="25400" dir="5400000" algn="ctr" rotWithShape="0">
                    <a:srgbClr val="6E747A">
                      <a:alpha val="43000"/>
                    </a:srgbClr>
                  </a:outerShdw>
                </a:effectLst>
              </a:rPr>
              <a:t>=1;</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  from student ORDER BY </a:t>
            </a:r>
            <a:r>
              <a:rPr lang="en-US" sz="3600" dirty="0" err="1">
                <a:ln w="0"/>
                <a:solidFill>
                  <a:schemeClr val="accent1"/>
                </a:solidFill>
                <a:effectLst>
                  <a:outerShdw blurRad="38100" dist="25400" dir="5400000" algn="ctr" rotWithShape="0">
                    <a:srgbClr val="6E747A">
                      <a:alpha val="43000"/>
                    </a:srgbClr>
                  </a:outerShdw>
                </a:effectLst>
              </a:rPr>
              <a:t>sid</a:t>
            </a:r>
            <a:r>
              <a:rPr lang="en-US" sz="3600" dirty="0">
                <a:ln w="0"/>
                <a:solidFill>
                  <a:schemeClr val="accent1"/>
                </a:solidFill>
                <a:effectLst>
                  <a:outerShdw blurRad="38100" dist="25400" dir="5400000" algn="ctr" rotWithShape="0">
                    <a:srgbClr val="6E747A">
                      <a:alpha val="43000"/>
                    </a:srgbClr>
                  </a:outerShdw>
                </a:effectLst>
              </a:rPr>
              <a:t>;</a:t>
            </a:r>
          </a:p>
        </p:txBody>
      </p:sp>
      <p:sp>
        <p:nvSpPr>
          <p:cNvPr id="5" name="Rectangle 4"/>
          <p:cNvSpPr/>
          <p:nvPr/>
        </p:nvSpPr>
        <p:spPr>
          <a:xfrm>
            <a:off x="371476" y="3818534"/>
            <a:ext cx="832279" cy="369332"/>
          </a:xfrm>
          <a:prstGeom prst="rect">
            <a:avLst/>
          </a:prstGeom>
        </p:spPr>
        <p:txBody>
          <a:bodyPr wrap="none">
            <a:spAutoFit/>
          </a:bodyPr>
          <a:lstStyle/>
          <a:p>
            <a:r>
              <a:rPr lang="ar-JO"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تصاعدي</a:t>
            </a:r>
            <a:endParaRPr lang="en-US" dirty="0"/>
          </a:p>
        </p:txBody>
      </p:sp>
    </p:spTree>
    <p:extLst>
      <p:ext uri="{BB962C8B-B14F-4D97-AF65-F5344CB8AC3E}">
        <p14:creationId xmlns:p14="http://schemas.microsoft.com/office/powerpoint/2010/main" val="37455737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5999351" y="150429"/>
            <a:ext cx="2847446" cy="830997"/>
          </a:xfrm>
          <a:prstGeom prst="rect">
            <a:avLst/>
          </a:prstGeom>
          <a:noFill/>
        </p:spPr>
        <p:txBody>
          <a:bodyPr wrap="none" lIns="91440" tIns="45720" rIns="91440" bIns="45720">
            <a:spAutoFit/>
          </a:bodyPr>
          <a:lstStyle/>
          <a:p>
            <a:pPr algn="r" rtl="1"/>
            <a:r>
              <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GROUP BY</a:t>
            </a: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1" name="Rectangle 3">
            <a:extLst>
              <a:ext uri="{FF2B5EF4-FFF2-40B4-BE49-F238E27FC236}">
                <a16:creationId xmlns:a16="http://schemas.microsoft.com/office/drawing/2014/main" id="{2E50BFFF-0051-41D2-911D-A3CA36D084EE}"/>
              </a:ext>
            </a:extLst>
          </p:cNvPr>
          <p:cNvSpPr/>
          <p:nvPr/>
        </p:nvSpPr>
        <p:spPr>
          <a:xfrm>
            <a:off x="249382" y="914899"/>
            <a:ext cx="8597415" cy="1938992"/>
          </a:xfrm>
          <a:prstGeom prst="rect">
            <a:avLst/>
          </a:prstGeom>
          <a:noFill/>
        </p:spPr>
        <p:txBody>
          <a:bodyPr wrap="square" lIns="91440" tIns="45720" rIns="91440" bIns="45720">
            <a:spAutoFit/>
          </a:bodyPr>
          <a:lstStyle/>
          <a:p>
            <a:pPr algn="r" rtl="1"/>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تُستخدم لتجميع البيانات المتشابهة في صف واحد حتى نستطيع تطبيق دوال.</a:t>
            </a:r>
          </a:p>
          <a:p>
            <a:pPr algn="r" rtl="1"/>
            <a:r>
              <a:rPr lang="ar-JO"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مثل:</a:t>
            </a:r>
            <a:r>
              <a:rPr lang="en-US" sz="40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SUM() COUNT() AVG() MAX() MIN()</a:t>
            </a:r>
            <a:endParaRPr lang="en-US" sz="40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6" name="مستطيل 5"/>
          <p:cNvSpPr/>
          <p:nvPr/>
        </p:nvSpPr>
        <p:spPr>
          <a:xfrm>
            <a:off x="1257321" y="3770348"/>
            <a:ext cx="6182570" cy="1384995"/>
          </a:xfrm>
          <a:prstGeom prst="rect">
            <a:avLst/>
          </a:prstGeom>
          <a:ln>
            <a:solidFill>
              <a:schemeClr val="accent1"/>
            </a:solidFill>
          </a:ln>
        </p:spPr>
        <p:txBody>
          <a:bodyPr wrap="square">
            <a:spAutoFit/>
          </a:bodyPr>
          <a:lstStyle/>
          <a:p>
            <a:r>
              <a:rPr lang="en-US" sz="2800" dirty="0">
                <a:solidFill>
                  <a:schemeClr val="accent1">
                    <a:lumMod val="75000"/>
                  </a:schemeClr>
                </a:solidFill>
              </a:rPr>
              <a:t>SELECT Category, AVG(Price) AS </a:t>
            </a:r>
            <a:r>
              <a:rPr lang="en-US" sz="2800" dirty="0" err="1">
                <a:solidFill>
                  <a:schemeClr val="accent1">
                    <a:lumMod val="75000"/>
                  </a:schemeClr>
                </a:solidFill>
              </a:rPr>
              <a:t>AvgPrice</a:t>
            </a:r>
            <a:endParaRPr lang="en-US" sz="2800" dirty="0">
              <a:solidFill>
                <a:schemeClr val="accent1">
                  <a:lumMod val="75000"/>
                </a:schemeClr>
              </a:solidFill>
            </a:endParaRPr>
          </a:p>
          <a:p>
            <a:r>
              <a:rPr lang="en-US" sz="2800" dirty="0">
                <a:solidFill>
                  <a:schemeClr val="accent1">
                    <a:lumMod val="75000"/>
                  </a:schemeClr>
                </a:solidFill>
              </a:rPr>
              <a:t>FROM Menu</a:t>
            </a:r>
          </a:p>
          <a:p>
            <a:r>
              <a:rPr lang="en-US" sz="2800" dirty="0">
                <a:solidFill>
                  <a:srgbClr val="FF0000"/>
                </a:solidFill>
              </a:rPr>
              <a:t>GROUP BY </a:t>
            </a:r>
            <a:r>
              <a:rPr lang="en-US" sz="2800" dirty="0">
                <a:solidFill>
                  <a:schemeClr val="accent1">
                    <a:lumMod val="75000"/>
                  </a:schemeClr>
                </a:solidFill>
              </a:rPr>
              <a:t>Category;</a:t>
            </a:r>
          </a:p>
        </p:txBody>
      </p:sp>
    </p:spTree>
    <p:extLst>
      <p:ext uri="{BB962C8B-B14F-4D97-AF65-F5344CB8AC3E}">
        <p14:creationId xmlns:p14="http://schemas.microsoft.com/office/powerpoint/2010/main" val="3002335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09526" y="0"/>
            <a:ext cx="8605304" cy="5262979"/>
          </a:xfrm>
          <a:prstGeom prst="rect">
            <a:avLst/>
          </a:prstGeom>
          <a:noFill/>
        </p:spPr>
        <p:txBody>
          <a:bodyPr wrap="none" lIns="91440" tIns="45720" rIns="91440" bIns="45720">
            <a:spAutoFit/>
          </a:bodyPr>
          <a:lstStyle/>
          <a:p>
            <a:pPr algn="r" rtl="1"/>
            <a:r>
              <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LIKE </a:t>
            </a:r>
          </a:p>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مفيدة جدا لاسترجاع المعلومات عن طريق </a:t>
            </a:r>
            <a:endPar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جزء من الحقل. </a:t>
            </a:r>
          </a:p>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مجموعة حروف </a:t>
            </a:r>
          </a:p>
          <a:p>
            <a:pPr algn="r" rtl="1"/>
            <a:r>
              <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_ حرف واحد </a:t>
            </a:r>
          </a:p>
          <a:p>
            <a:pPr algn="r" rtl="1"/>
            <a:endParaRPr lang="ar-JO"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a:p>
            <a:pPr algn="r" rtl="1"/>
            <a:endParaRPr lang="en-US" sz="4800" b="1"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370421" y="4108817"/>
            <a:ext cx="8363541" cy="2308324"/>
          </a:xfrm>
          <a:prstGeom prst="rect">
            <a:avLst/>
          </a:prstGeom>
          <a:noFill/>
          <a:ln>
            <a:solidFill>
              <a:schemeClr val="accent5">
                <a:lumMod val="75000"/>
              </a:schemeClr>
            </a:solidFill>
          </a:ln>
        </p:spPr>
        <p:txBody>
          <a:bodyPr wrap="square" lIns="91440" tIns="45720" rIns="91440" bIns="45720">
            <a:spAutoFit/>
          </a:bodyPr>
          <a:lstStyle/>
          <a:p>
            <a:r>
              <a:rPr lang="en-US" sz="3600" dirty="0">
                <a:ln w="0"/>
                <a:solidFill>
                  <a:schemeClr val="accent1"/>
                </a:solidFill>
                <a:effectLst>
                  <a:outerShdw blurRad="38100" dist="25400" dir="5400000" algn="ctr" rotWithShape="0">
                    <a:srgbClr val="6E747A">
                      <a:alpha val="43000"/>
                    </a:srgbClr>
                  </a:outerShdw>
                </a:effectLst>
              </a:rPr>
              <a:t>SELECT *FROM student</a:t>
            </a:r>
            <a:r>
              <a:rPr lang="ar-JO" sz="3600" dirty="0">
                <a:ln w="0"/>
                <a:solidFill>
                  <a:schemeClr val="accent1"/>
                </a:solidFill>
                <a:effectLst>
                  <a:outerShdw blurRad="38100" dist="25400" dir="5400000" algn="ctr" rotWithShape="0">
                    <a:srgbClr val="6E747A">
                      <a:alpha val="43000"/>
                    </a:srgbClr>
                  </a:outerShdw>
                </a:effectLst>
              </a:rPr>
              <a:t> </a:t>
            </a:r>
            <a:r>
              <a:rPr lang="en-US" sz="3600" dirty="0">
                <a:ln w="0"/>
                <a:solidFill>
                  <a:schemeClr val="accent1"/>
                </a:solidFill>
                <a:effectLst>
                  <a:outerShdw blurRad="38100" dist="25400" dir="5400000" algn="ctr" rotWithShape="0">
                    <a:srgbClr val="6E747A">
                      <a:alpha val="43000"/>
                    </a:srgbClr>
                  </a:outerShdw>
                </a:effectLst>
              </a:rPr>
              <a:t>WHERE </a:t>
            </a:r>
            <a:r>
              <a:rPr lang="en-US" sz="3600" dirty="0" err="1">
                <a:ln w="0"/>
                <a:solidFill>
                  <a:schemeClr val="accent1"/>
                </a:solidFill>
                <a:effectLst>
                  <a:outerShdw blurRad="38100" dist="25400" dir="5400000" algn="ctr" rotWithShape="0">
                    <a:srgbClr val="6E747A">
                      <a:alpha val="43000"/>
                    </a:srgbClr>
                  </a:outerShdw>
                </a:effectLst>
              </a:rPr>
              <a:t>sname</a:t>
            </a:r>
            <a:r>
              <a:rPr lang="en-US" sz="3600" dirty="0">
                <a:ln w="0"/>
                <a:solidFill>
                  <a:schemeClr val="accent1"/>
                </a:solidFill>
                <a:effectLst>
                  <a:outerShdw blurRad="38100" dist="25400" dir="5400000" algn="ctr" rotWithShape="0">
                    <a:srgbClr val="6E747A">
                      <a:alpha val="43000"/>
                    </a:srgbClr>
                  </a:outerShdw>
                </a:effectLst>
              </a:rPr>
              <a:t> </a:t>
            </a:r>
            <a:r>
              <a:rPr lang="en-US" sz="3600" dirty="0">
                <a:ln w="0"/>
                <a:solidFill>
                  <a:srgbClr val="FF0000"/>
                </a:solidFill>
                <a:effectLst>
                  <a:outerShdw blurRad="38100" dist="25400" dir="5400000" algn="ctr" rotWithShape="0">
                    <a:srgbClr val="6E747A">
                      <a:alpha val="43000"/>
                    </a:srgbClr>
                  </a:outerShdw>
                </a:effectLst>
              </a:rPr>
              <a:t>LIKE</a:t>
            </a:r>
            <a:r>
              <a:rPr lang="en-US" sz="3600" dirty="0">
                <a:ln w="0"/>
                <a:solidFill>
                  <a:schemeClr val="accent1"/>
                </a:solidFill>
                <a:effectLst>
                  <a:outerShdw blurRad="38100" dist="25400" dir="5400000" algn="ctr" rotWithShape="0">
                    <a:srgbClr val="6E747A">
                      <a:alpha val="43000"/>
                    </a:srgbClr>
                  </a:outerShdw>
                </a:effectLst>
              </a:rPr>
              <a:t> '</a:t>
            </a:r>
            <a:r>
              <a:rPr lang="en-US" sz="3600" dirty="0" err="1">
                <a:ln w="0"/>
                <a:solidFill>
                  <a:schemeClr val="accent1"/>
                </a:solidFill>
                <a:effectLst>
                  <a:outerShdw blurRad="38100" dist="25400" dir="5400000" algn="ctr" rotWithShape="0">
                    <a:srgbClr val="6E747A">
                      <a:alpha val="43000"/>
                    </a:srgbClr>
                  </a:outerShdw>
                </a:effectLst>
              </a:rPr>
              <a:t>M</a:t>
            </a:r>
            <a:r>
              <a:rPr lang="en-US" sz="3600" dirty="0" err="1">
                <a:ln w="0"/>
                <a:solidFill>
                  <a:srgbClr val="FF0000"/>
                </a:solidFill>
                <a:effectLst>
                  <a:outerShdw blurRad="38100" dist="25400" dir="5400000" algn="ctr" rotWithShape="0">
                    <a:srgbClr val="6E747A">
                      <a:alpha val="43000"/>
                    </a:srgbClr>
                  </a:outerShdw>
                </a:effectLst>
              </a:rPr>
              <a:t>%</a:t>
            </a:r>
            <a:r>
              <a:rPr lang="en-US" sz="3600" dirty="0" err="1">
                <a:ln w="0"/>
                <a:solidFill>
                  <a:schemeClr val="accent1"/>
                </a:solidFill>
                <a:effectLst>
                  <a:outerShdw blurRad="38100" dist="25400" dir="5400000" algn="ctr" rotWithShape="0">
                    <a:srgbClr val="6E747A">
                      <a:alpha val="43000"/>
                    </a:srgbClr>
                  </a:outerShdw>
                </a:effectLst>
              </a:rPr>
              <a:t>a</a:t>
            </a:r>
            <a:r>
              <a:rPr lang="en-US" sz="3600" dirty="0">
                <a:ln w="0"/>
                <a:solidFill>
                  <a:schemeClr val="accent1"/>
                </a:solidFill>
                <a:effectLst>
                  <a:outerShdw blurRad="38100" dist="25400" dir="5400000" algn="ctr" rotWithShape="0">
                    <a:srgbClr val="6E747A">
                      <a:alpha val="43000"/>
                    </a:srgbClr>
                  </a:outerShdw>
                </a:effectLst>
              </a:rPr>
              <a:t>';</a:t>
            </a:r>
            <a:endParaRPr lang="ar-JO" sz="3600" dirty="0">
              <a:ln w="0"/>
              <a:solidFill>
                <a:schemeClr val="accent1"/>
              </a:solidFill>
              <a:effectLst>
                <a:outerShdw blurRad="38100" dist="25400" dir="5400000" algn="ctr" rotWithShape="0">
                  <a:srgbClr val="6E747A">
                    <a:alpha val="43000"/>
                  </a:srgbClr>
                </a:outerShdw>
              </a:effectLst>
            </a:endParaRPr>
          </a:p>
          <a:p>
            <a:r>
              <a:rPr lang="en-US" sz="3600" dirty="0">
                <a:ln w="0"/>
                <a:solidFill>
                  <a:schemeClr val="accent1"/>
                </a:solidFill>
                <a:effectLst>
                  <a:outerShdw blurRad="38100" dist="25400" dir="5400000" algn="ctr" rotWithShape="0">
                    <a:srgbClr val="6E747A">
                      <a:alpha val="43000"/>
                    </a:srgbClr>
                  </a:outerShdw>
                </a:effectLst>
              </a:rPr>
              <a:t>SELECT *FROM student</a:t>
            </a:r>
            <a:r>
              <a:rPr lang="ar-JO" sz="3600" dirty="0">
                <a:ln w="0"/>
                <a:solidFill>
                  <a:schemeClr val="accent1"/>
                </a:solidFill>
                <a:effectLst>
                  <a:outerShdw blurRad="38100" dist="25400" dir="5400000" algn="ctr" rotWithShape="0">
                    <a:srgbClr val="6E747A">
                      <a:alpha val="43000"/>
                    </a:srgbClr>
                  </a:outerShdw>
                </a:effectLst>
              </a:rPr>
              <a:t> </a:t>
            </a:r>
            <a:r>
              <a:rPr lang="en-US" sz="3600" dirty="0">
                <a:ln w="0"/>
                <a:solidFill>
                  <a:schemeClr val="accent1"/>
                </a:solidFill>
                <a:effectLst>
                  <a:outerShdw blurRad="38100" dist="25400" dir="5400000" algn="ctr" rotWithShape="0">
                    <a:srgbClr val="6E747A">
                      <a:alpha val="43000"/>
                    </a:srgbClr>
                  </a:outerShdw>
                </a:effectLst>
              </a:rPr>
              <a:t>WHERE </a:t>
            </a:r>
            <a:r>
              <a:rPr lang="en-US" sz="3600" dirty="0" err="1">
                <a:ln w="0"/>
                <a:solidFill>
                  <a:schemeClr val="accent1"/>
                </a:solidFill>
                <a:effectLst>
                  <a:outerShdw blurRad="38100" dist="25400" dir="5400000" algn="ctr" rotWithShape="0">
                    <a:srgbClr val="6E747A">
                      <a:alpha val="43000"/>
                    </a:srgbClr>
                  </a:outerShdw>
                </a:effectLst>
              </a:rPr>
              <a:t>sname</a:t>
            </a:r>
            <a:r>
              <a:rPr lang="en-US" sz="3600" dirty="0">
                <a:ln w="0"/>
                <a:solidFill>
                  <a:schemeClr val="accent1"/>
                </a:solidFill>
                <a:effectLst>
                  <a:outerShdw blurRad="38100" dist="25400" dir="5400000" algn="ctr" rotWithShape="0">
                    <a:srgbClr val="6E747A">
                      <a:alpha val="43000"/>
                    </a:srgbClr>
                  </a:outerShdw>
                </a:effectLst>
              </a:rPr>
              <a:t> </a:t>
            </a:r>
            <a:r>
              <a:rPr lang="en-US" sz="3600" dirty="0">
                <a:ln w="0"/>
                <a:solidFill>
                  <a:srgbClr val="FF0000"/>
                </a:solidFill>
                <a:effectLst>
                  <a:outerShdw blurRad="38100" dist="25400" dir="5400000" algn="ctr" rotWithShape="0">
                    <a:srgbClr val="6E747A">
                      <a:alpha val="43000"/>
                    </a:srgbClr>
                  </a:outerShdw>
                </a:effectLst>
              </a:rPr>
              <a:t>LIKE </a:t>
            </a:r>
            <a:r>
              <a:rPr lang="en-US" sz="3600" dirty="0">
                <a:ln w="0"/>
                <a:solidFill>
                  <a:schemeClr val="accent1"/>
                </a:solidFill>
                <a:effectLst>
                  <a:outerShdw blurRad="38100" dist="25400" dir="5400000" algn="ctr" rotWithShape="0">
                    <a:srgbClr val="6E747A">
                      <a:alpha val="43000"/>
                    </a:srgbClr>
                  </a:outerShdw>
                </a:effectLst>
              </a:rPr>
              <a:t>'</a:t>
            </a:r>
            <a:r>
              <a:rPr lang="en-US" sz="3600" dirty="0" err="1">
                <a:ln w="0"/>
                <a:solidFill>
                  <a:schemeClr val="accent1"/>
                </a:solidFill>
                <a:effectLst>
                  <a:outerShdw blurRad="38100" dist="25400" dir="5400000" algn="ctr" rotWithShape="0">
                    <a:srgbClr val="6E747A">
                      <a:alpha val="43000"/>
                    </a:srgbClr>
                  </a:outerShdw>
                </a:effectLst>
              </a:rPr>
              <a:t>M</a:t>
            </a:r>
            <a:r>
              <a:rPr lang="en-US" sz="3600" dirty="0" err="1">
                <a:ln w="0"/>
                <a:solidFill>
                  <a:srgbClr val="FF0000"/>
                </a:solidFill>
                <a:effectLst>
                  <a:outerShdw blurRad="38100" dist="25400" dir="5400000" algn="ctr" rotWithShape="0">
                    <a:srgbClr val="6E747A">
                      <a:alpha val="43000"/>
                    </a:srgbClr>
                  </a:outerShdw>
                </a:effectLst>
              </a:rPr>
              <a:t>_</a:t>
            </a:r>
            <a:r>
              <a:rPr lang="en-US" sz="3600" dirty="0" err="1">
                <a:ln w="0"/>
                <a:solidFill>
                  <a:schemeClr val="accent1"/>
                </a:solidFill>
                <a:effectLst>
                  <a:outerShdw blurRad="38100" dist="25400" dir="5400000" algn="ctr" rotWithShape="0">
                    <a:srgbClr val="6E747A">
                      <a:alpha val="43000"/>
                    </a:srgbClr>
                  </a:outerShdw>
                </a:effectLst>
              </a:rPr>
              <a:t>na</a:t>
            </a:r>
            <a:r>
              <a:rPr lang="en-US" sz="3600" dirty="0">
                <a:ln w="0"/>
                <a:solidFill>
                  <a:schemeClr val="accent1"/>
                </a:solidFill>
                <a:effectLst>
                  <a:outerShdw blurRad="38100" dist="25400" dir="5400000" algn="ctr" rotWithShape="0">
                    <a:srgbClr val="6E747A">
                      <a:alpha val="43000"/>
                    </a:srgbClr>
                  </a:outerShdw>
                </a:effectLst>
              </a:rPr>
              <a:t>';</a:t>
            </a:r>
          </a:p>
        </p:txBody>
      </p:sp>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255" y="2178536"/>
            <a:ext cx="4373310" cy="1543265"/>
          </a:xfrm>
          <a:prstGeom prst="rect">
            <a:avLst/>
          </a:prstGeom>
          <a:ln>
            <a:solidFill>
              <a:schemeClr val="accent1"/>
            </a:solidFill>
          </a:ln>
        </p:spPr>
      </p:pic>
    </p:spTree>
    <p:extLst>
      <p:ext uri="{BB962C8B-B14F-4D97-AF65-F5344CB8AC3E}">
        <p14:creationId xmlns:p14="http://schemas.microsoft.com/office/powerpoint/2010/main" val="8666791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2903182" y="325723"/>
            <a:ext cx="5943615" cy="1384995"/>
          </a:xfrm>
          <a:prstGeom prst="rect">
            <a:avLst/>
          </a:prstGeom>
          <a:noFill/>
          <a:ln>
            <a:noFill/>
          </a:ln>
        </p:spPr>
        <p:txBody>
          <a:bodyPr wrap="none" lIns="91440" tIns="45720" rIns="91440" bIns="45720">
            <a:spAutoFit/>
          </a:bodyPr>
          <a:lstStyle/>
          <a:p>
            <a:pPr marL="571500" indent="-571500" algn="r" rtl="1">
              <a:buFont typeface="Wingdings" panose="05000000000000000000" pitchFamily="2" charset="2"/>
              <a:buChar char="v"/>
            </a:pP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Select </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مع الدوال التجميع :</a:t>
            </a:r>
          </a:p>
          <a:p>
            <a:pPr marL="457200" indent="-457200" algn="r" rtl="1">
              <a:buFont typeface="+mj-lt"/>
              <a:buAutoNum type="arabicPeriod"/>
            </a:pP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COUNT</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لحساب عدد القيم:</a:t>
            </a:r>
          </a:p>
          <a:p>
            <a:pPr algn="r" rtl="1"/>
            <a:r>
              <a:rPr lang="ar-JO" sz="2400" dirty="0">
                <a:ln w="10160">
                  <a:solidFill>
                    <a:schemeClr val="accent5"/>
                  </a:solidFill>
                  <a:prstDash val="solid"/>
                </a:ln>
                <a:solidFill>
                  <a:schemeClr val="tx1">
                    <a:lumMod val="95000"/>
                    <a:lumOff val="5000"/>
                  </a:schemeClr>
                </a:solidFill>
              </a:rPr>
              <a:t>🔹 بدون </a:t>
            </a:r>
            <a:r>
              <a:rPr lang="en-US" sz="2400" dirty="0">
                <a:ln w="10160">
                  <a:solidFill>
                    <a:schemeClr val="accent5"/>
                  </a:solidFill>
                  <a:prstDash val="solid"/>
                </a:ln>
                <a:solidFill>
                  <a:schemeClr val="tx1">
                    <a:lumMod val="95000"/>
                    <a:lumOff val="5000"/>
                  </a:schemeClr>
                </a:solidFill>
              </a:rPr>
              <a:t>DISTINCT –</a:t>
            </a:r>
            <a:r>
              <a:rPr lang="ar-JO" sz="2400" dirty="0">
                <a:ln w="10160">
                  <a:solidFill>
                    <a:schemeClr val="accent5"/>
                  </a:solidFill>
                  <a:prstDash val="solid"/>
                </a:ln>
                <a:solidFill>
                  <a:schemeClr val="tx1">
                    <a:lumMod val="95000"/>
                    <a:lumOff val="5000"/>
                  </a:schemeClr>
                </a:solidFill>
              </a:rPr>
              <a:t> تحسب جميع القيم بما فيها المكررة:</a:t>
            </a:r>
            <a:endParaRPr lang="en-US" sz="2400" cap="none" spc="0" dirty="0">
              <a:ln w="10160">
                <a:solidFill>
                  <a:schemeClr val="accent5"/>
                </a:solidFill>
                <a:prstDash val="solid"/>
              </a:ln>
              <a:solidFill>
                <a:schemeClr val="tx1">
                  <a:lumMod val="95000"/>
                  <a:lumOff val="5000"/>
                </a:schemeClr>
              </a:solidFill>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2025399"/>
            <a:ext cx="8363541" cy="4401205"/>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CREATE TABLE students</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(id NUMERIC (2) primary key,</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err="1">
                <a:ln w="0"/>
                <a:solidFill>
                  <a:schemeClr val="accent1"/>
                </a:solidFill>
                <a:effectLst>
                  <a:outerShdw blurRad="38100" dist="25400" dir="5400000" algn="ctr" rotWithShape="0">
                    <a:srgbClr val="6E747A">
                      <a:alpha val="43000"/>
                    </a:srgbClr>
                  </a:outerShdw>
                </a:effectLst>
              </a:rPr>
              <a:t>sname</a:t>
            </a:r>
            <a:r>
              <a:rPr lang="en-US" sz="2800" dirty="0">
                <a:ln w="0"/>
                <a:solidFill>
                  <a:schemeClr val="accent1"/>
                </a:solidFill>
                <a:effectLst>
                  <a:outerShdw blurRad="38100" dist="25400" dir="5400000" algn="ctr" rotWithShape="0">
                    <a:srgbClr val="6E747A">
                      <a:alpha val="43000"/>
                    </a:srgbClr>
                  </a:outerShdw>
                </a:effectLst>
              </a:rPr>
              <a:t> VARCHAR (10),</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mark NUMERIC (3));</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INSERT INTO students (</a:t>
            </a:r>
            <a:r>
              <a:rPr lang="en-US" sz="2800" dirty="0" err="1">
                <a:ln w="0"/>
                <a:solidFill>
                  <a:schemeClr val="accent1"/>
                </a:solidFill>
                <a:effectLst>
                  <a:outerShdw blurRad="38100" dist="25400" dir="5400000" algn="ctr" rotWithShape="0">
                    <a:srgbClr val="6E747A">
                      <a:alpha val="43000"/>
                    </a:srgbClr>
                  </a:outerShdw>
                </a:effectLst>
              </a:rPr>
              <a:t>id,sname,mark</a:t>
            </a:r>
            <a:r>
              <a:rPr lang="en-US" sz="2800" dirty="0">
                <a:ln w="0"/>
                <a:solidFill>
                  <a:schemeClr val="accent1"/>
                </a:solidFill>
                <a:effectLst>
                  <a:outerShdw blurRad="38100" dist="25400" dir="5400000" algn="ctr" rotWithShape="0">
                    <a:srgbClr val="6E747A">
                      <a:alpha val="43000"/>
                    </a:srgbClr>
                  </a:outerShdw>
                </a:effectLst>
              </a:rPr>
              <a:t>)</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VALUES</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(1,'SALEEM',</a:t>
            </a:r>
            <a:r>
              <a:rPr lang="ar-JO" sz="2800" dirty="0">
                <a:ln w="0"/>
                <a:solidFill>
                  <a:schemeClr val="accent1"/>
                </a:solidFill>
                <a:effectLst>
                  <a:outerShdw blurRad="38100" dist="25400" dir="5400000" algn="ctr" rotWithShape="0">
                    <a:srgbClr val="6E747A">
                      <a:alpha val="43000"/>
                    </a:srgbClr>
                  </a:outerShdw>
                </a:effectLst>
              </a:rPr>
              <a:t>93</a:t>
            </a:r>
            <a:r>
              <a:rPr lang="en-US" sz="2800" dirty="0">
                <a:ln w="0"/>
                <a:solidFill>
                  <a:schemeClr val="accent1"/>
                </a:solidFill>
                <a:effectLst>
                  <a:outerShdw blurRad="38100" dist="25400" dir="5400000" algn="ctr" rotWithShape="0">
                    <a:srgbClr val="6E747A">
                      <a:alpha val="43000"/>
                    </a:srgbClr>
                  </a:outerShdw>
                </a:effectLst>
              </a:rPr>
              <a:t>),(2,'',93),(3,'ABD',96),(4,'MOHAMMAD',94),(5,'MECHIAL',95);</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count(mark) FROM students; </a:t>
            </a:r>
          </a:p>
        </p:txBody>
      </p:sp>
    </p:spTree>
    <p:extLst>
      <p:ext uri="{BB962C8B-B14F-4D97-AF65-F5344CB8AC3E}">
        <p14:creationId xmlns:p14="http://schemas.microsoft.com/office/powerpoint/2010/main" val="2669638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588930" y="1018220"/>
            <a:ext cx="5085045" cy="1384995"/>
          </a:xfrm>
          <a:prstGeom prst="rect">
            <a:avLst/>
          </a:prstGeom>
          <a:noFill/>
          <a:ln>
            <a:noFill/>
          </a:ln>
        </p:spPr>
        <p:txBody>
          <a:bodyPr wrap="none" lIns="91440" tIns="45720" rIns="91440" bIns="45720">
            <a:spAutoFit/>
          </a:bodyPr>
          <a:lstStyle/>
          <a:p>
            <a:pPr marL="571500" indent="-571500" algn="r" rtl="1">
              <a:buFont typeface="Wingdings" panose="05000000000000000000" pitchFamily="2" charset="2"/>
              <a:buChar char="v"/>
            </a:pP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Select </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مع الدوال التجميع :</a:t>
            </a:r>
          </a:p>
          <a:p>
            <a:pPr marL="457200" indent="-457200" algn="r" rtl="1">
              <a:buFont typeface="+mj-lt"/>
              <a:buAutoNum type="arabicPeriod"/>
            </a:pP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COUNT</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لحساب عدد القيم:</a:t>
            </a:r>
          </a:p>
          <a:p>
            <a:pPr algn="r" rtl="1"/>
            <a:r>
              <a:rPr lang="ar-JO" sz="2400" dirty="0">
                <a:ln w="10160">
                  <a:solidFill>
                    <a:schemeClr val="accent5"/>
                  </a:solidFill>
                  <a:prstDash val="solid"/>
                </a:ln>
                <a:solidFill>
                  <a:schemeClr val="tx1">
                    <a:lumMod val="95000"/>
                    <a:lumOff val="5000"/>
                  </a:schemeClr>
                </a:solidFill>
              </a:rPr>
              <a:t>مع </a:t>
            </a:r>
            <a:r>
              <a:rPr lang="en-US" sz="2400" dirty="0">
                <a:ln w="10160">
                  <a:solidFill>
                    <a:schemeClr val="accent5"/>
                  </a:solidFill>
                  <a:prstDash val="solid"/>
                </a:ln>
                <a:solidFill>
                  <a:schemeClr val="tx1">
                    <a:lumMod val="95000"/>
                    <a:lumOff val="5000"/>
                  </a:schemeClr>
                </a:solidFill>
              </a:rPr>
              <a:t>DISTINCT – </a:t>
            </a:r>
            <a:r>
              <a:rPr lang="ar-JO" sz="2400" dirty="0">
                <a:ln w="10160">
                  <a:solidFill>
                    <a:schemeClr val="accent5"/>
                  </a:solidFill>
                  <a:prstDash val="solid"/>
                </a:ln>
                <a:solidFill>
                  <a:schemeClr val="tx1">
                    <a:lumMod val="95000"/>
                    <a:lumOff val="5000"/>
                  </a:schemeClr>
                </a:solidFill>
              </a:rPr>
              <a:t>تحسب القيم المختلفة فقط:</a:t>
            </a:r>
            <a:endParaRPr lang="en-US" sz="2400" cap="none" spc="0" dirty="0">
              <a:ln w="10160">
                <a:solidFill>
                  <a:schemeClr val="accent5"/>
                </a:solidFill>
                <a:prstDash val="solid"/>
              </a:ln>
              <a:solidFill>
                <a:schemeClr val="tx1">
                  <a:lumMod val="95000"/>
                  <a:lumOff val="5000"/>
                </a:schemeClr>
              </a:solidFill>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3007034"/>
            <a:ext cx="8363541" cy="1384995"/>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count(</a:t>
            </a:r>
            <a:r>
              <a:rPr lang="en-US" sz="2800" dirty="0">
                <a:ln w="10160">
                  <a:solidFill>
                    <a:schemeClr val="accent5"/>
                  </a:solidFill>
                  <a:prstDash val="solid"/>
                </a:ln>
                <a:solidFill>
                  <a:srgbClr val="FF0000"/>
                </a:solidFill>
              </a:rPr>
              <a:t>DISTINCT</a:t>
            </a:r>
            <a:r>
              <a:rPr lang="en-US" sz="2800" dirty="0">
                <a:ln w="10160">
                  <a:solidFill>
                    <a:schemeClr val="accent5"/>
                  </a:solidFill>
                  <a:prstDash val="solid"/>
                </a:ln>
                <a:solidFill>
                  <a:schemeClr val="tx1">
                    <a:lumMod val="95000"/>
                    <a:lumOff val="5000"/>
                  </a:schemeClr>
                </a:solidFill>
              </a:rPr>
              <a:t> </a:t>
            </a:r>
            <a:r>
              <a:rPr lang="ar-JO" sz="2800" dirty="0">
                <a:ln w="10160">
                  <a:solidFill>
                    <a:schemeClr val="accent5"/>
                  </a:solidFill>
                  <a:prstDash val="solid"/>
                </a:ln>
                <a:solidFill>
                  <a:schemeClr val="tx1">
                    <a:lumMod val="95000"/>
                    <a:lumOff val="5000"/>
                  </a:schemeClr>
                </a:solidFill>
              </a:rPr>
              <a:t> </a:t>
            </a:r>
            <a:r>
              <a:rPr lang="en-US" sz="2800" dirty="0">
                <a:ln w="0"/>
                <a:solidFill>
                  <a:schemeClr val="accent1"/>
                </a:solidFill>
                <a:effectLst>
                  <a:outerShdw blurRad="38100" dist="25400" dir="5400000" algn="ctr" rotWithShape="0">
                    <a:srgbClr val="6E747A">
                      <a:alpha val="43000"/>
                    </a:srgbClr>
                  </a:outerShdw>
                </a:effectLst>
              </a:rPr>
              <a:t>mark)</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 FROM students; </a:t>
            </a:r>
          </a:p>
        </p:txBody>
      </p:sp>
    </p:spTree>
    <p:extLst>
      <p:ext uri="{BB962C8B-B14F-4D97-AF65-F5344CB8AC3E}">
        <p14:creationId xmlns:p14="http://schemas.microsoft.com/office/powerpoint/2010/main" val="225138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761752" y="325723"/>
            <a:ext cx="5085045" cy="1384995"/>
          </a:xfrm>
          <a:prstGeom prst="rect">
            <a:avLst/>
          </a:prstGeom>
          <a:noFill/>
          <a:ln>
            <a:noFill/>
          </a:ln>
        </p:spPr>
        <p:txBody>
          <a:bodyPr wrap="none" lIns="91440" tIns="45720" rIns="91440" bIns="45720">
            <a:spAutoFit/>
          </a:bodyPr>
          <a:lstStyle/>
          <a:p>
            <a:pPr marL="571500" indent="-571500" algn="r" rtl="1">
              <a:buFont typeface="Wingdings" panose="05000000000000000000" pitchFamily="2" charset="2"/>
              <a:buChar char="v"/>
            </a:pP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Select </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مع الدوال التجميع :</a:t>
            </a:r>
          </a:p>
          <a:p>
            <a:pPr marL="457200" indent="-457200" algn="r" rtl="1">
              <a:buFont typeface="+mj-lt"/>
              <a:buAutoNum type="arabicPeriod" startAt="2"/>
            </a:pP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SUM </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لحساب مجموع القيم الرقمية:</a:t>
            </a:r>
          </a:p>
          <a:p>
            <a:pPr algn="r" rtl="1"/>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بدون </a:t>
            </a: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DISTINCT:</a:t>
            </a:r>
            <a:endParaRPr lang="en-US" sz="2400" cap="none" spc="0" dirty="0">
              <a:ln w="10160">
                <a:solidFill>
                  <a:schemeClr val="accent5"/>
                </a:solidFill>
                <a:prstDash val="solid"/>
              </a:ln>
              <a:solidFill>
                <a:schemeClr val="tx1">
                  <a:lumMod val="95000"/>
                  <a:lumOff val="5000"/>
                </a:schemeClr>
              </a:solidFill>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2025399"/>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SUM(mark) FROM students; </a:t>
            </a:r>
          </a:p>
        </p:txBody>
      </p:sp>
      <p:sp>
        <p:nvSpPr>
          <p:cNvPr id="5" name="مستطيل 4"/>
          <p:cNvSpPr/>
          <p:nvPr/>
        </p:nvSpPr>
        <p:spPr>
          <a:xfrm>
            <a:off x="7399195" y="3500457"/>
            <a:ext cx="1432252" cy="369332"/>
          </a:xfrm>
          <a:prstGeom prst="rect">
            <a:avLst/>
          </a:prstGeom>
        </p:spPr>
        <p:txBody>
          <a:bodyPr wrap="none">
            <a:spAutoFit/>
          </a:bodyPr>
          <a:lstStyle/>
          <a:p>
            <a:pPr algn="r" rtl="1"/>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DISTINCT:</a:t>
            </a:r>
            <a:endParaRPr lang="en-US" dirty="0">
              <a:ln w="10160">
                <a:solidFill>
                  <a:schemeClr val="accent5"/>
                </a:solidFill>
                <a:prstDash val="solid"/>
              </a:ln>
              <a:solidFill>
                <a:schemeClr val="tx1">
                  <a:lumMod val="95000"/>
                  <a:lumOff val="5000"/>
                </a:schemeClr>
              </a:solidFill>
            </a:endParaRPr>
          </a:p>
        </p:txBody>
      </p:sp>
      <p:sp>
        <p:nvSpPr>
          <p:cNvPr id="10" name="Rectangle 17">
            <a:extLst>
              <a:ext uri="{FF2B5EF4-FFF2-40B4-BE49-F238E27FC236}">
                <a16:creationId xmlns:a16="http://schemas.microsoft.com/office/drawing/2014/main" id="{84D3EB12-7C65-49EE-AC43-693A41858754}"/>
              </a:ext>
            </a:extLst>
          </p:cNvPr>
          <p:cNvSpPr/>
          <p:nvPr/>
        </p:nvSpPr>
        <p:spPr>
          <a:xfrm>
            <a:off x="310434" y="4409787"/>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SUM(DISTINCT mark) FROM students; </a:t>
            </a:r>
          </a:p>
        </p:txBody>
      </p:sp>
    </p:spTree>
    <p:extLst>
      <p:ext uri="{BB962C8B-B14F-4D97-AF65-F5344CB8AC3E}">
        <p14:creationId xmlns:p14="http://schemas.microsoft.com/office/powerpoint/2010/main" val="23104121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761752" y="325723"/>
            <a:ext cx="5085045" cy="1384995"/>
          </a:xfrm>
          <a:prstGeom prst="rect">
            <a:avLst/>
          </a:prstGeom>
          <a:noFill/>
          <a:ln>
            <a:noFill/>
          </a:ln>
        </p:spPr>
        <p:txBody>
          <a:bodyPr wrap="none" lIns="91440" tIns="45720" rIns="91440" bIns="45720">
            <a:spAutoFit/>
          </a:bodyPr>
          <a:lstStyle/>
          <a:p>
            <a:pPr marL="571500" indent="-571500" algn="r" rtl="1">
              <a:buFont typeface="Wingdings" panose="05000000000000000000" pitchFamily="2" charset="2"/>
              <a:buChar char="v"/>
            </a:pP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Select </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مع الدوال التجميع :</a:t>
            </a:r>
          </a:p>
          <a:p>
            <a:pPr marL="457200" indent="-457200" algn="r" rtl="1">
              <a:buFont typeface="+mj-lt"/>
              <a:buAutoNum type="arabicPeriod" startAt="3"/>
            </a:pP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AVG </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متوسط كل القيم الرقمية في العامود:</a:t>
            </a:r>
          </a:p>
          <a:p>
            <a:pPr algn="r" rtl="1"/>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بدون </a:t>
            </a: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DISTINCT:</a:t>
            </a:r>
            <a:endParaRPr lang="en-US" sz="2400" cap="none" spc="0" dirty="0">
              <a:ln w="10160">
                <a:solidFill>
                  <a:schemeClr val="accent5"/>
                </a:solidFill>
                <a:prstDash val="solid"/>
              </a:ln>
              <a:solidFill>
                <a:schemeClr val="tx1">
                  <a:lumMod val="95000"/>
                  <a:lumOff val="5000"/>
                </a:schemeClr>
              </a:solidFill>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2025399"/>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AVG(mark) FROM students; </a:t>
            </a:r>
          </a:p>
        </p:txBody>
      </p:sp>
      <p:sp>
        <p:nvSpPr>
          <p:cNvPr id="5" name="مستطيل 4"/>
          <p:cNvSpPr/>
          <p:nvPr/>
        </p:nvSpPr>
        <p:spPr>
          <a:xfrm>
            <a:off x="7399195" y="3500457"/>
            <a:ext cx="1432252" cy="369332"/>
          </a:xfrm>
          <a:prstGeom prst="rect">
            <a:avLst/>
          </a:prstGeom>
        </p:spPr>
        <p:txBody>
          <a:bodyPr wrap="none">
            <a:spAutoFit/>
          </a:bodyPr>
          <a:lstStyle/>
          <a:p>
            <a:pPr algn="r" rtl="1"/>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ar-JO"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DISTINCT:</a:t>
            </a:r>
            <a:endParaRPr lang="en-US" dirty="0">
              <a:ln w="10160">
                <a:solidFill>
                  <a:schemeClr val="accent5"/>
                </a:solidFill>
                <a:prstDash val="solid"/>
              </a:ln>
              <a:solidFill>
                <a:schemeClr val="tx1">
                  <a:lumMod val="95000"/>
                  <a:lumOff val="5000"/>
                </a:schemeClr>
              </a:solidFill>
            </a:endParaRPr>
          </a:p>
        </p:txBody>
      </p:sp>
      <p:sp>
        <p:nvSpPr>
          <p:cNvPr id="10" name="Rectangle 17">
            <a:extLst>
              <a:ext uri="{FF2B5EF4-FFF2-40B4-BE49-F238E27FC236}">
                <a16:creationId xmlns:a16="http://schemas.microsoft.com/office/drawing/2014/main" id="{84D3EB12-7C65-49EE-AC43-693A41858754}"/>
              </a:ext>
            </a:extLst>
          </p:cNvPr>
          <p:cNvSpPr/>
          <p:nvPr/>
        </p:nvSpPr>
        <p:spPr>
          <a:xfrm>
            <a:off x="310434" y="4409787"/>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AVG(DISTINCT mark) FROM students; </a:t>
            </a:r>
          </a:p>
        </p:txBody>
      </p:sp>
    </p:spTree>
    <p:extLst>
      <p:ext uri="{BB962C8B-B14F-4D97-AF65-F5344CB8AC3E}">
        <p14:creationId xmlns:p14="http://schemas.microsoft.com/office/powerpoint/2010/main" val="42543651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761751" y="325723"/>
            <a:ext cx="5085046" cy="1015663"/>
          </a:xfrm>
          <a:prstGeom prst="rect">
            <a:avLst/>
          </a:prstGeom>
          <a:noFill/>
          <a:ln>
            <a:noFill/>
          </a:ln>
        </p:spPr>
        <p:txBody>
          <a:bodyPr wrap="none" lIns="91440" tIns="45720" rIns="91440" bIns="45720">
            <a:spAutoFit/>
          </a:bodyPr>
          <a:lstStyle/>
          <a:p>
            <a:pPr marL="571500" indent="-571500" algn="r" rtl="1">
              <a:buFont typeface="Wingdings" panose="05000000000000000000" pitchFamily="2" charset="2"/>
              <a:buChar char="v"/>
            </a:pP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Select </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مع الدوال التجميع :</a:t>
            </a:r>
          </a:p>
          <a:p>
            <a:pPr marL="457200" indent="-457200" algn="r" rtl="1">
              <a:buFont typeface="+mj-lt"/>
              <a:buAutoNum type="arabicPeriod" startAt="4"/>
            </a:pP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a:t>
            </a:r>
            <a:r>
              <a:rPr lang="en-US"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MAX </a:t>
            </a:r>
            <a:r>
              <a:rPr lang="ar-JO" sz="2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لإيجاد القيمة العظمى:</a:t>
            </a:r>
            <a:endParaRPr lang="en-US" sz="2400" cap="none" spc="0" dirty="0">
              <a:ln w="10160">
                <a:solidFill>
                  <a:schemeClr val="accent5"/>
                </a:solidFill>
                <a:prstDash val="solid"/>
              </a:ln>
              <a:solidFill>
                <a:schemeClr val="tx1">
                  <a:lumMod val="95000"/>
                  <a:lumOff val="5000"/>
                </a:schemeClr>
              </a:solidFill>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2025399"/>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MAX(mark) FROM students; </a:t>
            </a:r>
          </a:p>
        </p:txBody>
      </p:sp>
      <p:sp>
        <p:nvSpPr>
          <p:cNvPr id="5" name="مستطيل 4"/>
          <p:cNvSpPr/>
          <p:nvPr/>
        </p:nvSpPr>
        <p:spPr>
          <a:xfrm>
            <a:off x="6098006" y="3500457"/>
            <a:ext cx="2733441" cy="369332"/>
          </a:xfrm>
          <a:prstGeom prst="rect">
            <a:avLst/>
          </a:prstGeom>
        </p:spPr>
        <p:txBody>
          <a:bodyPr wrap="none">
            <a:spAutoFit/>
          </a:bodyPr>
          <a:lstStyle/>
          <a:p>
            <a:pPr marL="342900" indent="-342900" algn="r" rtl="1">
              <a:buFont typeface="+mj-lt"/>
              <a:buAutoNum type="arabicPeriod" startAt="5"/>
            </a:pPr>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MIN </a:t>
            </a:r>
            <a:r>
              <a:rPr lang="ar-JO"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لإيجاد القيمة الصغرى:</a:t>
            </a:r>
          </a:p>
        </p:txBody>
      </p:sp>
      <p:sp>
        <p:nvSpPr>
          <p:cNvPr id="10" name="Rectangle 17">
            <a:extLst>
              <a:ext uri="{FF2B5EF4-FFF2-40B4-BE49-F238E27FC236}">
                <a16:creationId xmlns:a16="http://schemas.microsoft.com/office/drawing/2014/main" id="{84D3EB12-7C65-49EE-AC43-693A41858754}"/>
              </a:ext>
            </a:extLst>
          </p:cNvPr>
          <p:cNvSpPr/>
          <p:nvPr/>
        </p:nvSpPr>
        <p:spPr>
          <a:xfrm>
            <a:off x="310434" y="4409787"/>
            <a:ext cx="8363541" cy="954107"/>
          </a:xfrm>
          <a:prstGeom prst="rect">
            <a:avLst/>
          </a:prstGeom>
          <a:noFill/>
          <a:ln>
            <a:solidFill>
              <a:schemeClr val="accent5">
                <a:lumMod val="75000"/>
              </a:schemeClr>
            </a:solidFill>
          </a:ln>
        </p:spPr>
        <p:txBody>
          <a:bodyPr wrap="square" lIns="91440" tIns="45720" rIns="91440" bIns="45720">
            <a:spAutoFit/>
          </a:bodyPr>
          <a:lstStyle/>
          <a:p>
            <a:r>
              <a:rPr lang="en-US" sz="2800" dirty="0">
                <a:ln w="0"/>
                <a:solidFill>
                  <a:schemeClr val="accent1"/>
                </a:solidFill>
                <a:effectLst>
                  <a:outerShdw blurRad="38100" dist="25400" dir="5400000" algn="ctr" rotWithShape="0">
                    <a:srgbClr val="6E747A">
                      <a:alpha val="43000"/>
                    </a:srgbClr>
                  </a:outerShdw>
                </a:effectLst>
              </a:rPr>
              <a:t>USE school;</a:t>
            </a:r>
            <a:endParaRPr lang="ar-JO" sz="2800" dirty="0">
              <a:ln w="0"/>
              <a:solidFill>
                <a:schemeClr val="accent1"/>
              </a:solidFill>
              <a:effectLst>
                <a:outerShdw blurRad="38100" dist="25400" dir="5400000" algn="ctr" rotWithShape="0">
                  <a:srgbClr val="6E747A">
                    <a:alpha val="43000"/>
                  </a:srgbClr>
                </a:outerShdw>
              </a:effectLst>
            </a:endParaRPr>
          </a:p>
          <a:p>
            <a:r>
              <a:rPr lang="en-US" sz="2800" dirty="0">
                <a:ln w="0"/>
                <a:solidFill>
                  <a:schemeClr val="accent1"/>
                </a:solidFill>
                <a:effectLst>
                  <a:outerShdw blurRad="38100" dist="25400" dir="5400000" algn="ctr" rotWithShape="0">
                    <a:srgbClr val="6E747A">
                      <a:alpha val="43000"/>
                    </a:srgbClr>
                  </a:outerShdw>
                </a:effectLst>
              </a:rPr>
              <a:t>SELECT MIN(mark) FROM students; </a:t>
            </a:r>
          </a:p>
        </p:txBody>
      </p:sp>
    </p:spTree>
    <p:extLst>
      <p:ext uri="{BB962C8B-B14F-4D97-AF65-F5344CB8AC3E}">
        <p14:creationId xmlns:p14="http://schemas.microsoft.com/office/powerpoint/2010/main" val="9723715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21FAC66-749F-4C71-B6A0-0ABE04AB636A}"/>
              </a:ext>
            </a:extLst>
          </p:cNvPr>
          <p:cNvPicPr>
            <a:picLocks noChangeAspect="1"/>
          </p:cNvPicPr>
          <p:nvPr/>
        </p:nvPicPr>
        <p:blipFill>
          <a:blip r:embed="rId2">
            <a:alphaModFix amt="6000"/>
          </a:blip>
          <a:stretch>
            <a:fillRect/>
          </a:stretch>
        </p:blipFill>
        <p:spPr>
          <a:xfrm>
            <a:off x="907620" y="39931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3595038" y="583454"/>
            <a:ext cx="5251759" cy="830997"/>
          </a:xfrm>
          <a:prstGeom prst="rect">
            <a:avLst/>
          </a:prstGeom>
          <a:noFill/>
        </p:spPr>
        <p:txBody>
          <a:bodyPr wrap="none" lIns="91440" tIns="45720" rIns="91440" bIns="4572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JO" sz="4800" b="1" i="0" u="none" strike="noStrike" kern="1200" cap="none" spc="0" normalizeH="0" baseline="0" noProof="0" dirty="0">
                <a:ln w="10160">
                  <a:solidFill>
                    <a:srgbClr val="5B9BD5"/>
                  </a:solidFill>
                  <a:prstDash val="solid"/>
                </a:ln>
                <a:solidFill>
                  <a:srgbClr val="002060"/>
                </a:solidFill>
                <a:effectLst>
                  <a:outerShdw blurRad="38100" dist="22860" dir="5400000" algn="tl" rotWithShape="0">
                    <a:srgbClr val="000000">
                      <a:alpha val="30000"/>
                    </a:srgbClr>
                  </a:outerShdw>
                </a:effectLst>
                <a:uLnTx/>
                <a:uFillTx/>
                <a:latin typeface="Calibri" panose="020F0502020204030204"/>
                <a:ea typeface="+mn-ea"/>
                <a:cs typeface="Arial" panose="020B0604020202020204" pitchFamily="34" charset="0"/>
              </a:rPr>
              <a:t>جمل الاستفسار المتداخلة</a:t>
            </a:r>
            <a:endParaRPr kumimoji="0" lang="en-US" sz="4000" b="1" i="0" u="none" strike="noStrike" kern="1200" cap="none" spc="0" normalizeH="0" baseline="0" noProof="0" dirty="0">
              <a:ln w="10160">
                <a:solidFill>
                  <a:srgbClr val="5B9BD5"/>
                </a:solidFill>
                <a:prstDash val="solid"/>
              </a:ln>
              <a:solidFill>
                <a:srgbClr val="002060"/>
              </a:solidFill>
              <a:effectLst>
                <a:outerShdw blurRad="38100" dist="22860" dir="5400000" algn="tl" rotWithShape="0">
                  <a:srgbClr val="000000">
                    <a:alpha val="30000"/>
                  </a:srgbClr>
                </a:outerShdw>
              </a:effectLst>
              <a:uLnTx/>
              <a:uFillTx/>
              <a:latin typeface="Calibri" panose="020F0502020204030204"/>
              <a:ea typeface="+mn-ea"/>
              <a:cs typeface="+mn-cs"/>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84D3EB12-7C65-49EE-AC43-693A41858754}"/>
              </a:ext>
            </a:extLst>
          </p:cNvPr>
          <p:cNvSpPr/>
          <p:nvPr/>
        </p:nvSpPr>
        <p:spPr>
          <a:xfrm>
            <a:off x="430408" y="1414451"/>
            <a:ext cx="8363541" cy="5078313"/>
          </a:xfrm>
          <a:prstGeom prst="rect">
            <a:avLst/>
          </a:prstGeom>
          <a:noFill/>
          <a:ln>
            <a:solidFill>
              <a:schemeClr val="accent5">
                <a:lumMod val="75000"/>
              </a:schemeClr>
            </a:solidFill>
          </a:ln>
        </p:spPr>
        <p:txBody>
          <a:bodyPr wrap="square" lIns="91440" tIns="45720" rIns="91440" bIns="45720">
            <a:spAutoFit/>
          </a:bodyPr>
          <a:lstStyle/>
          <a:p>
            <a:pPr lvl="0"/>
            <a:r>
              <a:rPr lang="en-US" sz="3600" dirty="0">
                <a:ln w="0"/>
                <a:solidFill>
                  <a:srgbClr val="4472C4"/>
                </a:solidFill>
                <a:effectLst>
                  <a:outerShdw blurRad="38100" dist="25400" dir="5400000" algn="ctr" rotWithShape="0">
                    <a:srgbClr val="6E747A">
                      <a:alpha val="43000"/>
                    </a:srgbClr>
                  </a:outerShdw>
                </a:effectLst>
              </a:rPr>
              <a:t>use school;</a:t>
            </a:r>
          </a:p>
          <a:p>
            <a:pPr lvl="0"/>
            <a:r>
              <a:rPr lang="en-US" sz="3600" dirty="0">
                <a:ln w="0"/>
                <a:solidFill>
                  <a:srgbClr val="4472C4"/>
                </a:solidFill>
                <a:effectLst>
                  <a:outerShdw blurRad="38100" dist="25400" dir="5400000" algn="ctr" rotWithShape="0">
                    <a:srgbClr val="6E747A">
                      <a:alpha val="43000"/>
                    </a:srgbClr>
                  </a:outerShdw>
                </a:effectLst>
              </a:rPr>
              <a:t>create table </a:t>
            </a:r>
            <a:r>
              <a:rPr lang="en-US" sz="3600" dirty="0" err="1">
                <a:ln w="0"/>
                <a:solidFill>
                  <a:srgbClr val="4472C4"/>
                </a:solidFill>
                <a:effectLst>
                  <a:outerShdw blurRad="38100" dist="25400" dir="5400000" algn="ctr" rotWithShape="0">
                    <a:srgbClr val="6E747A">
                      <a:alpha val="43000"/>
                    </a:srgbClr>
                  </a:outerShdw>
                </a:effectLst>
              </a:rPr>
              <a:t>studentCourse</a:t>
            </a:r>
            <a:r>
              <a:rPr lang="en-US" sz="3600" dirty="0">
                <a:ln w="0"/>
                <a:solidFill>
                  <a:srgbClr val="4472C4"/>
                </a:solidFill>
                <a:effectLst>
                  <a:outerShdw blurRad="38100" dist="25400" dir="5400000" algn="ctr" rotWithShape="0">
                    <a:srgbClr val="6E747A">
                      <a:alpha val="43000"/>
                    </a:srgbClr>
                  </a:outerShdw>
                </a:effectLst>
              </a:rPr>
              <a:t> (id numeric (2) primary key ,course varchar (10));</a:t>
            </a:r>
          </a:p>
          <a:p>
            <a:pPr lvl="0"/>
            <a:r>
              <a:rPr lang="en-US" sz="3600" dirty="0">
                <a:ln w="0"/>
                <a:solidFill>
                  <a:srgbClr val="4472C4"/>
                </a:solidFill>
                <a:effectLst>
                  <a:outerShdw blurRad="38100" dist="25400" dir="5400000" algn="ctr" rotWithShape="0">
                    <a:srgbClr val="6E747A">
                      <a:alpha val="43000"/>
                    </a:srgbClr>
                  </a:outerShdw>
                </a:effectLst>
              </a:rPr>
              <a:t>insert into </a:t>
            </a:r>
            <a:r>
              <a:rPr lang="en-US" sz="3600" dirty="0" err="1">
                <a:ln w="0"/>
                <a:solidFill>
                  <a:srgbClr val="4472C4"/>
                </a:solidFill>
                <a:effectLst>
                  <a:outerShdw blurRad="38100" dist="25400" dir="5400000" algn="ctr" rotWithShape="0">
                    <a:srgbClr val="6E747A">
                      <a:alpha val="43000"/>
                    </a:srgbClr>
                  </a:outerShdw>
                </a:effectLst>
              </a:rPr>
              <a:t>studentCourse</a:t>
            </a:r>
            <a:r>
              <a:rPr lang="en-US" sz="3600" dirty="0">
                <a:ln w="0"/>
                <a:solidFill>
                  <a:srgbClr val="4472C4"/>
                </a:solidFill>
                <a:effectLst>
                  <a:outerShdw blurRad="38100" dist="25400" dir="5400000" algn="ctr" rotWithShape="0">
                    <a:srgbClr val="6E747A">
                      <a:alpha val="43000"/>
                    </a:srgbClr>
                  </a:outerShdw>
                </a:effectLst>
              </a:rPr>
              <a:t> (</a:t>
            </a:r>
            <a:r>
              <a:rPr lang="en-US" sz="3600" dirty="0" err="1">
                <a:ln w="0"/>
                <a:solidFill>
                  <a:srgbClr val="4472C4"/>
                </a:solidFill>
                <a:effectLst>
                  <a:outerShdw blurRad="38100" dist="25400" dir="5400000" algn="ctr" rotWithShape="0">
                    <a:srgbClr val="6E747A">
                      <a:alpha val="43000"/>
                    </a:srgbClr>
                  </a:outerShdw>
                </a:effectLst>
              </a:rPr>
              <a:t>id,course</a:t>
            </a:r>
            <a:r>
              <a:rPr lang="en-US" sz="3600" dirty="0">
                <a:ln w="0"/>
                <a:solidFill>
                  <a:srgbClr val="4472C4"/>
                </a:solidFill>
                <a:effectLst>
                  <a:outerShdw blurRad="38100" dist="25400" dir="5400000" algn="ctr" rotWithShape="0">
                    <a:srgbClr val="6E747A">
                      <a:alpha val="43000"/>
                    </a:srgbClr>
                  </a:outerShdw>
                </a:effectLst>
              </a:rPr>
              <a:t>) values (1,'Math'),(2,'English'),(3,'Arabic');</a:t>
            </a:r>
          </a:p>
          <a:p>
            <a:pPr lvl="0"/>
            <a:r>
              <a:rPr lang="en-US" sz="3600" dirty="0">
                <a:ln w="0"/>
                <a:solidFill>
                  <a:srgbClr val="4472C4"/>
                </a:solidFill>
                <a:effectLst>
                  <a:outerShdw blurRad="38100" dist="25400" dir="5400000" algn="ctr" rotWithShape="0">
                    <a:srgbClr val="6E747A">
                      <a:alpha val="43000"/>
                    </a:srgbClr>
                  </a:outerShdw>
                </a:effectLst>
              </a:rPr>
              <a:t>SELECT </a:t>
            </a:r>
            <a:r>
              <a:rPr lang="en-US" sz="3600" dirty="0" err="1">
                <a:ln w="0"/>
                <a:solidFill>
                  <a:srgbClr val="4472C4"/>
                </a:solidFill>
                <a:effectLst>
                  <a:outerShdw blurRad="38100" dist="25400" dir="5400000" algn="ctr" rotWithShape="0">
                    <a:srgbClr val="6E747A">
                      <a:alpha val="43000"/>
                    </a:srgbClr>
                  </a:outerShdw>
                </a:effectLst>
              </a:rPr>
              <a:t>sname,mark</a:t>
            </a:r>
            <a:r>
              <a:rPr lang="en-US" sz="3600" dirty="0">
                <a:ln w="0"/>
                <a:solidFill>
                  <a:srgbClr val="4472C4"/>
                </a:solidFill>
                <a:effectLst>
                  <a:outerShdw blurRad="38100" dist="25400" dir="5400000" algn="ctr" rotWithShape="0">
                    <a:srgbClr val="6E747A">
                      <a:alpha val="43000"/>
                    </a:srgbClr>
                  </a:outerShdw>
                </a:effectLst>
              </a:rPr>
              <a:t> FROM students WHERE id IN </a:t>
            </a:r>
          </a:p>
          <a:p>
            <a:pPr lvl="0"/>
            <a:r>
              <a:rPr lang="en-US" sz="3600" dirty="0">
                <a:ln w="0"/>
                <a:solidFill>
                  <a:srgbClr val="4472C4"/>
                </a:solidFill>
                <a:effectLst>
                  <a:outerShdw blurRad="38100" dist="25400" dir="5400000" algn="ctr" rotWithShape="0">
                    <a:srgbClr val="6E747A">
                      <a:alpha val="43000"/>
                    </a:srgbClr>
                  </a:outerShdw>
                </a:effectLst>
              </a:rPr>
              <a:t>( SELECT id FROM </a:t>
            </a:r>
            <a:r>
              <a:rPr lang="en-US" sz="3600" dirty="0" err="1">
                <a:ln w="0"/>
                <a:solidFill>
                  <a:srgbClr val="4472C4"/>
                </a:solidFill>
                <a:effectLst>
                  <a:outerShdw blurRad="38100" dist="25400" dir="5400000" algn="ctr" rotWithShape="0">
                    <a:srgbClr val="6E747A">
                      <a:alpha val="43000"/>
                    </a:srgbClr>
                  </a:outerShdw>
                </a:effectLst>
              </a:rPr>
              <a:t>studentCourse</a:t>
            </a:r>
            <a:r>
              <a:rPr lang="en-US" sz="3600" dirty="0">
                <a:ln w="0"/>
                <a:solidFill>
                  <a:srgbClr val="4472C4"/>
                </a:solidFill>
                <a:effectLst>
                  <a:outerShdw blurRad="38100" dist="25400" dir="5400000" algn="ctr" rotWithShape="0">
                    <a:srgbClr val="6E747A">
                      <a:alpha val="43000"/>
                    </a:srgbClr>
                  </a:outerShdw>
                </a:effectLst>
              </a:rPr>
              <a:t> where course='Math');</a:t>
            </a:r>
            <a:endParaRPr kumimoji="0" lang="en-US" sz="3600" b="0" i="0" u="none" strike="noStrike" kern="1200" cap="none" spc="0" normalizeH="0" baseline="0" noProof="0" dirty="0">
              <a:ln w="0"/>
              <a:solidFill>
                <a:srgbClr val="4472C4"/>
              </a:solidFill>
              <a:effectLst>
                <a:outerShdw blurRad="38100" dist="25400" dir="5400000" algn="ctr" rotWithShape="0">
                  <a:srgbClr val="6E747A">
                    <a:alpha val="43000"/>
                  </a:srgbClr>
                </a:outerShdw>
              </a:effectLst>
              <a:uLnTx/>
              <a:uFillTx/>
              <a:latin typeface="Calibri" panose="020F0502020204030204"/>
              <a:ea typeface="+mn-ea"/>
              <a:cs typeface="+mn-cs"/>
            </a:endParaRPr>
          </a:p>
        </p:txBody>
      </p:sp>
    </p:spTree>
    <p:extLst>
      <p:ext uri="{BB962C8B-B14F-4D97-AF65-F5344CB8AC3E}">
        <p14:creationId xmlns:p14="http://schemas.microsoft.com/office/powerpoint/2010/main" val="8008198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84363"/>
            <a:ext cx="6995518" cy="6458689"/>
          </a:xfrm>
          <a:prstGeom prst="rect">
            <a:avLst/>
          </a:prstGeom>
          <a:noFill/>
          <a:ln>
            <a:noFill/>
          </a:ln>
        </p:spPr>
      </p:pic>
      <p:sp>
        <p:nvSpPr>
          <p:cNvPr id="3" name="Content Placeholder 2"/>
          <p:cNvSpPr>
            <a:spLocks noGrp="1"/>
          </p:cNvSpPr>
          <p:nvPr>
            <p:ph idx="1"/>
          </p:nvPr>
        </p:nvSpPr>
        <p:spPr>
          <a:xfrm>
            <a:off x="939671" y="1602495"/>
            <a:ext cx="7387832" cy="4195481"/>
          </a:xfrm>
        </p:spPr>
        <p:txBody>
          <a:bodyPr>
            <a:noAutofit/>
          </a:bodyPr>
          <a:lstStyle/>
          <a:p>
            <a:pPr algn="r" rtl="1">
              <a:lnSpc>
                <a:spcPct val="120000"/>
              </a:lnSpc>
              <a:buFont typeface="Wingdings" panose="05000000000000000000" pitchFamily="2" charset="2"/>
              <a:buChar char="v"/>
            </a:pPr>
            <a:r>
              <a:rPr lang="ar-JO" sz="2400" b="1" dirty="0">
                <a:solidFill>
                  <a:srgbClr val="002060"/>
                </a:solidFill>
              </a:rPr>
              <a:t>الـ </a:t>
            </a:r>
            <a:r>
              <a:rPr lang="en-US" sz="2400" b="1" dirty="0">
                <a:solidFill>
                  <a:srgbClr val="002060"/>
                </a:solidFill>
              </a:rPr>
              <a:t>JOIN </a:t>
            </a:r>
            <a:r>
              <a:rPr lang="ar-JO" sz="2400" b="1" dirty="0">
                <a:solidFill>
                  <a:srgbClr val="002060"/>
                </a:solidFill>
              </a:rPr>
              <a:t>يُستخدم في </a:t>
            </a:r>
            <a:r>
              <a:rPr lang="en-US" sz="2400" b="1" dirty="0">
                <a:solidFill>
                  <a:srgbClr val="002060"/>
                </a:solidFill>
              </a:rPr>
              <a:t>SQL </a:t>
            </a:r>
            <a:r>
              <a:rPr lang="ar-JO" sz="2400" b="1" dirty="0">
                <a:solidFill>
                  <a:srgbClr val="002060"/>
                </a:solidFill>
              </a:rPr>
              <a:t>لربط جداول متعددة معًا من خلال عمود مشترك بينها (عادة يكون مفتاح أساسي أو مفتاح أجنبي).</a:t>
            </a:r>
            <a:endParaRPr sz="2400" b="1"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3659091" y="297401"/>
            <a:ext cx="3884397" cy="923330"/>
          </a:xfrm>
          <a:prstGeom prst="rect">
            <a:avLst/>
          </a:prstGeom>
          <a:noFill/>
        </p:spPr>
        <p:txBody>
          <a:bodyPr wrap="none" lIns="91440" tIns="45720" rIns="91440" bIns="45720">
            <a:spAutoFit/>
          </a:bodyPr>
          <a:lstStyle/>
          <a:p>
            <a:pPr algn="ctr" rtl="1"/>
            <a:r>
              <a:rPr lang="ar-JO" sz="5400" b="1" dirty="0">
                <a:solidFill>
                  <a:srgbClr val="002060"/>
                </a:solidFill>
              </a:rPr>
              <a:t>ما هو الـ </a:t>
            </a:r>
            <a:r>
              <a:rPr lang="en-US" sz="5400" b="1" dirty="0">
                <a:solidFill>
                  <a:srgbClr val="002060"/>
                </a:solidFill>
              </a:rPr>
              <a:t>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2" name="مستطيل 1"/>
          <p:cNvSpPr/>
          <p:nvPr/>
        </p:nvSpPr>
        <p:spPr>
          <a:xfrm>
            <a:off x="1205345" y="3144982"/>
            <a:ext cx="2105891" cy="31311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رابط مستقيم 8"/>
          <p:cNvCxnSpPr/>
          <p:nvPr/>
        </p:nvCxnSpPr>
        <p:spPr>
          <a:xfrm flipV="1">
            <a:off x="1205345" y="3879273"/>
            <a:ext cx="2105891" cy="13854"/>
          </a:xfrm>
          <a:prstGeom prst="line">
            <a:avLst/>
          </a:prstGeom>
        </p:spPr>
        <p:style>
          <a:lnRef idx="1">
            <a:schemeClr val="accent1"/>
          </a:lnRef>
          <a:fillRef idx="0">
            <a:schemeClr val="accent1"/>
          </a:fillRef>
          <a:effectRef idx="0">
            <a:schemeClr val="accent1"/>
          </a:effectRef>
          <a:fontRef idx="minor">
            <a:schemeClr val="tx1"/>
          </a:fontRef>
        </p:style>
      </p:cxnSp>
      <p:sp>
        <p:nvSpPr>
          <p:cNvPr id="10" name="مربع نص 9"/>
          <p:cNvSpPr txBox="1"/>
          <p:nvPr/>
        </p:nvSpPr>
        <p:spPr>
          <a:xfrm>
            <a:off x="1856509" y="3546764"/>
            <a:ext cx="184731" cy="369332"/>
          </a:xfrm>
          <a:prstGeom prst="rect">
            <a:avLst/>
          </a:prstGeom>
          <a:noFill/>
        </p:spPr>
        <p:txBody>
          <a:bodyPr wrap="none" rtlCol="0">
            <a:spAutoFit/>
          </a:bodyPr>
          <a:lstStyle/>
          <a:p>
            <a:endParaRPr lang="en-US" dirty="0"/>
          </a:p>
        </p:txBody>
      </p:sp>
      <p:sp>
        <p:nvSpPr>
          <p:cNvPr id="11" name="مربع نص 10"/>
          <p:cNvSpPr txBox="1"/>
          <p:nvPr/>
        </p:nvSpPr>
        <p:spPr>
          <a:xfrm>
            <a:off x="1724329" y="3359057"/>
            <a:ext cx="1067921" cy="369332"/>
          </a:xfrm>
          <a:prstGeom prst="rect">
            <a:avLst/>
          </a:prstGeom>
          <a:noFill/>
        </p:spPr>
        <p:txBody>
          <a:bodyPr wrap="none" rtlCol="0">
            <a:spAutoFit/>
          </a:bodyPr>
          <a:lstStyle/>
          <a:p>
            <a:r>
              <a:rPr lang="en-US" dirty="0">
                <a:solidFill>
                  <a:srgbClr val="FF0000"/>
                </a:solidFill>
              </a:rPr>
              <a:t>customer</a:t>
            </a:r>
          </a:p>
        </p:txBody>
      </p:sp>
      <p:cxnSp>
        <p:nvCxnSpPr>
          <p:cNvPr id="13" name="رابط مستقيم 12"/>
          <p:cNvCxnSpPr/>
          <p:nvPr/>
        </p:nvCxnSpPr>
        <p:spPr>
          <a:xfrm flipV="1">
            <a:off x="1202784" y="4558145"/>
            <a:ext cx="2108452" cy="27710"/>
          </a:xfrm>
          <a:prstGeom prst="line">
            <a:avLst/>
          </a:prstGeom>
        </p:spPr>
        <p:style>
          <a:lnRef idx="1">
            <a:schemeClr val="accent1"/>
          </a:lnRef>
          <a:fillRef idx="0">
            <a:schemeClr val="accent1"/>
          </a:fillRef>
          <a:effectRef idx="0">
            <a:schemeClr val="accent1"/>
          </a:effectRef>
          <a:fontRef idx="minor">
            <a:schemeClr val="tx1"/>
          </a:fontRef>
        </p:style>
      </p:cxnSp>
      <p:sp>
        <p:nvSpPr>
          <p:cNvPr id="14" name="مربع نص 13"/>
          <p:cNvSpPr txBox="1"/>
          <p:nvPr/>
        </p:nvSpPr>
        <p:spPr>
          <a:xfrm>
            <a:off x="1962735" y="4080966"/>
            <a:ext cx="359394" cy="369332"/>
          </a:xfrm>
          <a:prstGeom prst="rect">
            <a:avLst/>
          </a:prstGeom>
          <a:noFill/>
        </p:spPr>
        <p:txBody>
          <a:bodyPr wrap="none" rtlCol="0">
            <a:spAutoFit/>
          </a:bodyPr>
          <a:lstStyle/>
          <a:p>
            <a:r>
              <a:rPr lang="en-US" u="sng" dirty="0"/>
              <a:t>id</a:t>
            </a:r>
          </a:p>
        </p:txBody>
      </p:sp>
      <p:sp>
        <p:nvSpPr>
          <p:cNvPr id="15" name="مربع نص 14"/>
          <p:cNvSpPr txBox="1"/>
          <p:nvPr/>
        </p:nvSpPr>
        <p:spPr>
          <a:xfrm>
            <a:off x="1837220" y="4693702"/>
            <a:ext cx="716863" cy="369332"/>
          </a:xfrm>
          <a:prstGeom prst="rect">
            <a:avLst/>
          </a:prstGeom>
          <a:noFill/>
        </p:spPr>
        <p:txBody>
          <a:bodyPr wrap="none" rtlCol="0">
            <a:spAutoFit/>
          </a:bodyPr>
          <a:lstStyle/>
          <a:p>
            <a:r>
              <a:rPr lang="en-US" dirty="0"/>
              <a:t>name</a:t>
            </a:r>
          </a:p>
        </p:txBody>
      </p:sp>
      <p:sp>
        <p:nvSpPr>
          <p:cNvPr id="16" name="مربع نص 15"/>
          <p:cNvSpPr txBox="1"/>
          <p:nvPr/>
        </p:nvSpPr>
        <p:spPr>
          <a:xfrm>
            <a:off x="1818570" y="5498892"/>
            <a:ext cx="787395" cy="369332"/>
          </a:xfrm>
          <a:prstGeom prst="rect">
            <a:avLst/>
          </a:prstGeom>
          <a:noFill/>
        </p:spPr>
        <p:txBody>
          <a:bodyPr wrap="none" rtlCol="0">
            <a:spAutoFit/>
          </a:bodyPr>
          <a:lstStyle/>
          <a:p>
            <a:r>
              <a:rPr lang="en-US" dirty="0"/>
              <a:t>phone</a:t>
            </a:r>
          </a:p>
        </p:txBody>
      </p:sp>
      <p:cxnSp>
        <p:nvCxnSpPr>
          <p:cNvPr id="18" name="رابط مستقيم 17"/>
          <p:cNvCxnSpPr/>
          <p:nvPr/>
        </p:nvCxnSpPr>
        <p:spPr>
          <a:xfrm>
            <a:off x="1202784" y="5294548"/>
            <a:ext cx="2108452"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مستطيل 18"/>
          <p:cNvSpPr/>
          <p:nvPr/>
        </p:nvSpPr>
        <p:spPr>
          <a:xfrm>
            <a:off x="5516341" y="3144982"/>
            <a:ext cx="2105891" cy="31311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رابط مستقيم 19"/>
          <p:cNvCxnSpPr/>
          <p:nvPr/>
        </p:nvCxnSpPr>
        <p:spPr>
          <a:xfrm flipV="1">
            <a:off x="5516341" y="3879273"/>
            <a:ext cx="2105891" cy="13854"/>
          </a:xfrm>
          <a:prstGeom prst="line">
            <a:avLst/>
          </a:prstGeom>
        </p:spPr>
        <p:style>
          <a:lnRef idx="1">
            <a:schemeClr val="accent1"/>
          </a:lnRef>
          <a:fillRef idx="0">
            <a:schemeClr val="accent1"/>
          </a:fillRef>
          <a:effectRef idx="0">
            <a:schemeClr val="accent1"/>
          </a:effectRef>
          <a:fontRef idx="minor">
            <a:schemeClr val="tx1"/>
          </a:fontRef>
        </p:style>
      </p:cxnSp>
      <p:sp>
        <p:nvSpPr>
          <p:cNvPr id="21" name="مربع نص 20"/>
          <p:cNvSpPr txBox="1"/>
          <p:nvPr/>
        </p:nvSpPr>
        <p:spPr>
          <a:xfrm>
            <a:off x="6167505" y="3546764"/>
            <a:ext cx="184731" cy="369332"/>
          </a:xfrm>
          <a:prstGeom prst="rect">
            <a:avLst/>
          </a:prstGeom>
          <a:noFill/>
        </p:spPr>
        <p:txBody>
          <a:bodyPr wrap="none" rtlCol="0">
            <a:spAutoFit/>
          </a:bodyPr>
          <a:lstStyle/>
          <a:p>
            <a:endParaRPr lang="en-US" dirty="0"/>
          </a:p>
        </p:txBody>
      </p:sp>
      <p:sp>
        <p:nvSpPr>
          <p:cNvPr id="22" name="مربع نص 21"/>
          <p:cNvSpPr txBox="1"/>
          <p:nvPr/>
        </p:nvSpPr>
        <p:spPr>
          <a:xfrm>
            <a:off x="6035325" y="3359057"/>
            <a:ext cx="700898" cy="369332"/>
          </a:xfrm>
          <a:prstGeom prst="rect">
            <a:avLst/>
          </a:prstGeom>
          <a:noFill/>
        </p:spPr>
        <p:txBody>
          <a:bodyPr wrap="none" rtlCol="0">
            <a:spAutoFit/>
          </a:bodyPr>
          <a:lstStyle/>
          <a:p>
            <a:r>
              <a:rPr lang="en-US" dirty="0">
                <a:solidFill>
                  <a:srgbClr val="FF0000"/>
                </a:solidFill>
              </a:rPr>
              <a:t>order</a:t>
            </a:r>
          </a:p>
        </p:txBody>
      </p:sp>
      <p:cxnSp>
        <p:nvCxnSpPr>
          <p:cNvPr id="23" name="رابط مستقيم 22"/>
          <p:cNvCxnSpPr/>
          <p:nvPr/>
        </p:nvCxnSpPr>
        <p:spPr>
          <a:xfrm flipV="1">
            <a:off x="5513780" y="4558145"/>
            <a:ext cx="2108452" cy="27710"/>
          </a:xfrm>
          <a:prstGeom prst="line">
            <a:avLst/>
          </a:prstGeom>
        </p:spPr>
        <p:style>
          <a:lnRef idx="1">
            <a:schemeClr val="accent1"/>
          </a:lnRef>
          <a:fillRef idx="0">
            <a:schemeClr val="accent1"/>
          </a:fillRef>
          <a:effectRef idx="0">
            <a:schemeClr val="accent1"/>
          </a:effectRef>
          <a:fontRef idx="minor">
            <a:schemeClr val="tx1"/>
          </a:fontRef>
        </p:style>
      </p:cxnSp>
      <p:sp>
        <p:nvSpPr>
          <p:cNvPr id="24" name="مربع نص 23"/>
          <p:cNvSpPr txBox="1"/>
          <p:nvPr/>
        </p:nvSpPr>
        <p:spPr>
          <a:xfrm>
            <a:off x="6273731" y="4080966"/>
            <a:ext cx="359394" cy="369332"/>
          </a:xfrm>
          <a:prstGeom prst="rect">
            <a:avLst/>
          </a:prstGeom>
          <a:noFill/>
        </p:spPr>
        <p:txBody>
          <a:bodyPr wrap="none" rtlCol="0">
            <a:spAutoFit/>
          </a:bodyPr>
          <a:lstStyle/>
          <a:p>
            <a:r>
              <a:rPr lang="en-US" u="sng" dirty="0"/>
              <a:t>id</a:t>
            </a:r>
          </a:p>
        </p:txBody>
      </p:sp>
      <p:sp>
        <p:nvSpPr>
          <p:cNvPr id="25" name="مربع نص 24"/>
          <p:cNvSpPr txBox="1"/>
          <p:nvPr/>
        </p:nvSpPr>
        <p:spPr>
          <a:xfrm>
            <a:off x="5845363" y="4720873"/>
            <a:ext cx="1313180" cy="369332"/>
          </a:xfrm>
          <a:prstGeom prst="rect">
            <a:avLst/>
          </a:prstGeom>
          <a:noFill/>
        </p:spPr>
        <p:txBody>
          <a:bodyPr wrap="none" rtlCol="0">
            <a:spAutoFit/>
          </a:bodyPr>
          <a:lstStyle/>
          <a:p>
            <a:r>
              <a:rPr lang="en-US" dirty="0"/>
              <a:t>customer-id</a:t>
            </a:r>
          </a:p>
        </p:txBody>
      </p:sp>
      <p:sp>
        <p:nvSpPr>
          <p:cNvPr id="26" name="مربع نص 25"/>
          <p:cNvSpPr txBox="1"/>
          <p:nvPr/>
        </p:nvSpPr>
        <p:spPr>
          <a:xfrm>
            <a:off x="5847199" y="5483044"/>
            <a:ext cx="1469505" cy="369332"/>
          </a:xfrm>
          <a:prstGeom prst="rect">
            <a:avLst/>
          </a:prstGeom>
          <a:noFill/>
        </p:spPr>
        <p:txBody>
          <a:bodyPr wrap="none" rtlCol="0">
            <a:spAutoFit/>
          </a:bodyPr>
          <a:lstStyle/>
          <a:p>
            <a:r>
              <a:rPr lang="en-US" dirty="0"/>
              <a:t>total_amount</a:t>
            </a:r>
          </a:p>
        </p:txBody>
      </p:sp>
      <p:cxnSp>
        <p:nvCxnSpPr>
          <p:cNvPr id="27" name="رابط مستقيم 26"/>
          <p:cNvCxnSpPr/>
          <p:nvPr/>
        </p:nvCxnSpPr>
        <p:spPr>
          <a:xfrm>
            <a:off x="5513780" y="5294548"/>
            <a:ext cx="21084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رابط بشكل مرفق 28"/>
          <p:cNvCxnSpPr/>
          <p:nvPr/>
        </p:nvCxnSpPr>
        <p:spPr>
          <a:xfrm rot="10800000">
            <a:off x="3338098" y="4265632"/>
            <a:ext cx="2175684" cy="64106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مربع نص 30"/>
          <p:cNvSpPr txBox="1"/>
          <p:nvPr/>
        </p:nvSpPr>
        <p:spPr>
          <a:xfrm>
            <a:off x="4222666" y="4959620"/>
            <a:ext cx="1253228" cy="369332"/>
          </a:xfrm>
          <a:prstGeom prst="rect">
            <a:avLst/>
          </a:prstGeom>
          <a:noFill/>
        </p:spPr>
        <p:txBody>
          <a:bodyPr wrap="none" rtlCol="0">
            <a:spAutoFit/>
          </a:bodyPr>
          <a:lstStyle/>
          <a:p>
            <a:r>
              <a:rPr lang="en-US" dirty="0">
                <a:solidFill>
                  <a:srgbClr val="FF0000"/>
                </a:solidFill>
              </a:rPr>
              <a:t>Foreign key</a:t>
            </a:r>
          </a:p>
        </p:txBody>
      </p:sp>
    </p:spTree>
    <p:extLst>
      <p:ext uri="{BB962C8B-B14F-4D97-AF65-F5344CB8AC3E}">
        <p14:creationId xmlns:p14="http://schemas.microsoft.com/office/powerpoint/2010/main" val="14752332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6508195" y="466198"/>
            <a:ext cx="1523173" cy="923330"/>
          </a:xfrm>
          <a:prstGeom prst="rect">
            <a:avLst/>
          </a:prstGeom>
          <a:noFill/>
        </p:spPr>
        <p:txBody>
          <a:bodyPr wrap="none" lIns="91440" tIns="45720" rIns="91440" bIns="45720">
            <a:spAutoFit/>
          </a:bodyPr>
          <a:lstStyle/>
          <a:p>
            <a:pPr algn="ctr" rtl="1"/>
            <a:r>
              <a:rPr lang="en-US" sz="5400" b="1" dirty="0">
                <a:solidFill>
                  <a:srgbClr val="002060"/>
                </a:solidFill>
              </a:rPr>
              <a:t>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2" name="مربع نص 11"/>
          <p:cNvSpPr txBox="1"/>
          <p:nvPr/>
        </p:nvSpPr>
        <p:spPr>
          <a:xfrm>
            <a:off x="192101" y="541365"/>
            <a:ext cx="8437566" cy="6124754"/>
          </a:xfrm>
          <a:prstGeom prst="rect">
            <a:avLst/>
          </a:prstGeom>
          <a:noFill/>
        </p:spPr>
        <p:txBody>
          <a:bodyPr wrap="none" rtlCol="0">
            <a:spAutoFit/>
          </a:bodyPr>
          <a:lstStyle/>
          <a:p>
            <a:r>
              <a:rPr lang="en-US" sz="2800" dirty="0">
                <a:solidFill>
                  <a:srgbClr val="002060"/>
                </a:solidFill>
              </a:rPr>
              <a:t>CREATE DATABASE shop;</a:t>
            </a:r>
          </a:p>
          <a:p>
            <a:r>
              <a:rPr lang="en-US" sz="2800" dirty="0">
                <a:solidFill>
                  <a:srgbClr val="002060"/>
                </a:solidFill>
              </a:rPr>
              <a:t>USE shop;</a:t>
            </a:r>
          </a:p>
          <a:p>
            <a:r>
              <a:rPr lang="en-US" sz="2800" dirty="0">
                <a:solidFill>
                  <a:srgbClr val="002060"/>
                </a:solidFill>
              </a:rPr>
              <a:t>CREATE TABLE customer (</a:t>
            </a:r>
          </a:p>
          <a:p>
            <a:r>
              <a:rPr lang="en-US" sz="2800" dirty="0">
                <a:solidFill>
                  <a:srgbClr val="002060"/>
                </a:solidFill>
              </a:rPr>
              <a:t>    id NUMERIC PRIMARY KEY,</a:t>
            </a:r>
          </a:p>
          <a:p>
            <a:r>
              <a:rPr lang="en-US" sz="2800" dirty="0">
                <a:solidFill>
                  <a:srgbClr val="002060"/>
                </a:solidFill>
              </a:rPr>
              <a:t>    name VARCHAR(20),</a:t>
            </a:r>
          </a:p>
          <a:p>
            <a:r>
              <a:rPr lang="en-US" sz="2800" dirty="0">
                <a:solidFill>
                  <a:srgbClr val="002060"/>
                </a:solidFill>
              </a:rPr>
              <a:t>    phone VARCHAR(10)</a:t>
            </a:r>
          </a:p>
          <a:p>
            <a:r>
              <a:rPr lang="en-US" sz="2800" dirty="0">
                <a:solidFill>
                  <a:srgbClr val="002060"/>
                </a:solidFill>
              </a:rPr>
              <a:t>);</a:t>
            </a:r>
          </a:p>
          <a:p>
            <a:endParaRPr lang="en-US" sz="2800" dirty="0">
              <a:solidFill>
                <a:srgbClr val="002060"/>
              </a:solidFill>
            </a:endParaRPr>
          </a:p>
          <a:p>
            <a:r>
              <a:rPr lang="en-US" sz="2800" dirty="0">
                <a:solidFill>
                  <a:srgbClr val="002060"/>
                </a:solidFill>
              </a:rPr>
              <a:t>CREATE TABLE orders (</a:t>
            </a:r>
          </a:p>
          <a:p>
            <a:r>
              <a:rPr lang="en-US" sz="2800" dirty="0">
                <a:solidFill>
                  <a:srgbClr val="002060"/>
                </a:solidFill>
              </a:rPr>
              <a:t>    id NUMERIC PRIMARY KEY,</a:t>
            </a:r>
          </a:p>
          <a:p>
            <a:r>
              <a:rPr lang="en-US" sz="2800" dirty="0">
                <a:solidFill>
                  <a:srgbClr val="002060"/>
                </a:solidFill>
              </a:rPr>
              <a:t>    </a:t>
            </a:r>
            <a:r>
              <a:rPr lang="en-US" sz="2800" dirty="0" err="1">
                <a:solidFill>
                  <a:srgbClr val="002060"/>
                </a:solidFill>
              </a:rPr>
              <a:t>customer_id</a:t>
            </a:r>
            <a:r>
              <a:rPr lang="en-US" sz="2800" dirty="0">
                <a:solidFill>
                  <a:srgbClr val="002060"/>
                </a:solidFill>
              </a:rPr>
              <a:t> NUMERIC,</a:t>
            </a:r>
          </a:p>
          <a:p>
            <a:r>
              <a:rPr lang="en-US" sz="2800" dirty="0">
                <a:solidFill>
                  <a:srgbClr val="002060"/>
                </a:solidFill>
              </a:rPr>
              <a:t>    total_amount DECIMAL(10,2),</a:t>
            </a:r>
          </a:p>
          <a:p>
            <a:r>
              <a:rPr lang="en-US" sz="2800" dirty="0">
                <a:solidFill>
                  <a:srgbClr val="002060"/>
                </a:solidFill>
              </a:rPr>
              <a:t>    FOREIGN KEY (</a:t>
            </a:r>
            <a:r>
              <a:rPr lang="en-US" sz="2800" dirty="0" err="1">
                <a:solidFill>
                  <a:srgbClr val="002060"/>
                </a:solidFill>
              </a:rPr>
              <a:t>customer_id</a:t>
            </a:r>
            <a:r>
              <a:rPr lang="en-US" sz="2800" dirty="0">
                <a:solidFill>
                  <a:srgbClr val="002060"/>
                </a:solidFill>
              </a:rPr>
              <a:t>) REFERENCES customer(id)</a:t>
            </a:r>
          </a:p>
          <a:p>
            <a:r>
              <a:rPr lang="en-US" sz="2800" dirty="0">
                <a:solidFill>
                  <a:srgbClr val="002060"/>
                </a:solidFill>
              </a:rPr>
              <a:t>);</a:t>
            </a:r>
          </a:p>
        </p:txBody>
      </p:sp>
      <p:pic>
        <p:nvPicPr>
          <p:cNvPr id="9" name="صورة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427" y="2213397"/>
            <a:ext cx="4477375" cy="2780690"/>
          </a:xfrm>
          <a:prstGeom prst="rect">
            <a:avLst/>
          </a:prstGeom>
        </p:spPr>
      </p:pic>
    </p:spTree>
    <p:extLst>
      <p:ext uri="{BB962C8B-B14F-4D97-AF65-F5344CB8AC3E}">
        <p14:creationId xmlns:p14="http://schemas.microsoft.com/office/powerpoint/2010/main" val="10499687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24681"/>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6508195" y="466198"/>
            <a:ext cx="1523173" cy="923330"/>
          </a:xfrm>
          <a:prstGeom prst="rect">
            <a:avLst/>
          </a:prstGeom>
          <a:noFill/>
        </p:spPr>
        <p:txBody>
          <a:bodyPr wrap="none" lIns="91440" tIns="45720" rIns="91440" bIns="45720">
            <a:spAutoFit/>
          </a:bodyPr>
          <a:lstStyle/>
          <a:p>
            <a:pPr algn="ctr" rtl="1"/>
            <a:r>
              <a:rPr lang="en-US" sz="5400" b="1" dirty="0">
                <a:solidFill>
                  <a:srgbClr val="002060"/>
                </a:solidFill>
              </a:rPr>
              <a:t>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2" name="مربع نص 11"/>
          <p:cNvSpPr txBox="1"/>
          <p:nvPr/>
        </p:nvSpPr>
        <p:spPr>
          <a:xfrm>
            <a:off x="192101" y="541365"/>
            <a:ext cx="6918432" cy="5693866"/>
          </a:xfrm>
          <a:prstGeom prst="rect">
            <a:avLst/>
          </a:prstGeom>
          <a:noFill/>
        </p:spPr>
        <p:txBody>
          <a:bodyPr wrap="none" rtlCol="0">
            <a:spAutoFit/>
          </a:bodyPr>
          <a:lstStyle/>
          <a:p>
            <a:r>
              <a:rPr lang="en-US" sz="2800" dirty="0">
                <a:solidFill>
                  <a:srgbClr val="002060"/>
                </a:solidFill>
              </a:rPr>
              <a:t>INSERT INTO customer (id, name, phone)</a:t>
            </a:r>
          </a:p>
          <a:p>
            <a:r>
              <a:rPr lang="en-US" sz="2800" dirty="0">
                <a:solidFill>
                  <a:srgbClr val="002060"/>
                </a:solidFill>
              </a:rPr>
              <a:t>VALUES </a:t>
            </a:r>
          </a:p>
          <a:p>
            <a:r>
              <a:rPr lang="en-US" sz="2800" dirty="0">
                <a:solidFill>
                  <a:srgbClr val="002060"/>
                </a:solidFill>
              </a:rPr>
              <a:t>(1, 'Ali Ahmad', '0799999999'),</a:t>
            </a:r>
          </a:p>
          <a:p>
            <a:r>
              <a:rPr lang="en-US" sz="2800" dirty="0">
                <a:solidFill>
                  <a:srgbClr val="002060"/>
                </a:solidFill>
              </a:rPr>
              <a:t>(2, 'Sara Khaled', '0788888888'),</a:t>
            </a:r>
          </a:p>
          <a:p>
            <a:r>
              <a:rPr lang="en-US" sz="2800" dirty="0">
                <a:solidFill>
                  <a:srgbClr val="002060"/>
                </a:solidFill>
              </a:rPr>
              <a:t>(3, 'Omar Hasan', '0777777777'),</a:t>
            </a:r>
          </a:p>
          <a:p>
            <a:r>
              <a:rPr lang="en-US" sz="2800" dirty="0">
                <a:solidFill>
                  <a:srgbClr val="002060"/>
                </a:solidFill>
              </a:rPr>
              <a:t>(4, 'Lina Saleh', '0795555555');</a:t>
            </a:r>
          </a:p>
          <a:p>
            <a:r>
              <a:rPr lang="en-US" sz="2800" dirty="0">
                <a:solidFill>
                  <a:srgbClr val="002060"/>
                </a:solidFill>
              </a:rPr>
              <a:t>INSERT INTO orders (id, </a:t>
            </a:r>
            <a:r>
              <a:rPr lang="en-US" sz="2800" dirty="0" err="1">
                <a:solidFill>
                  <a:srgbClr val="002060"/>
                </a:solidFill>
              </a:rPr>
              <a:t>customer_id</a:t>
            </a:r>
            <a:r>
              <a:rPr lang="en-US" sz="2800" dirty="0">
                <a:solidFill>
                  <a:srgbClr val="002060"/>
                </a:solidFill>
              </a:rPr>
              <a:t>, amount)</a:t>
            </a:r>
          </a:p>
          <a:p>
            <a:r>
              <a:rPr lang="en-US" sz="2800" dirty="0">
                <a:solidFill>
                  <a:srgbClr val="002060"/>
                </a:solidFill>
              </a:rPr>
              <a:t>VALUES</a:t>
            </a:r>
          </a:p>
          <a:p>
            <a:r>
              <a:rPr lang="en-US" sz="2800" dirty="0">
                <a:solidFill>
                  <a:srgbClr val="002060"/>
                </a:solidFill>
              </a:rPr>
              <a:t>(1, 1, 50.00),</a:t>
            </a:r>
          </a:p>
          <a:p>
            <a:r>
              <a:rPr lang="en-US" sz="2800" dirty="0">
                <a:solidFill>
                  <a:srgbClr val="002060"/>
                </a:solidFill>
              </a:rPr>
              <a:t>(2, 1, 25.00),</a:t>
            </a:r>
          </a:p>
          <a:p>
            <a:r>
              <a:rPr lang="en-US" sz="2800" dirty="0">
                <a:solidFill>
                  <a:srgbClr val="002060"/>
                </a:solidFill>
              </a:rPr>
              <a:t>(3, 2, 75.50),</a:t>
            </a:r>
          </a:p>
          <a:p>
            <a:r>
              <a:rPr lang="en-US" sz="2800" dirty="0">
                <a:solidFill>
                  <a:srgbClr val="002060"/>
                </a:solidFill>
              </a:rPr>
              <a:t>(4, 3, 100.00),</a:t>
            </a:r>
          </a:p>
          <a:p>
            <a:r>
              <a:rPr lang="en-US" sz="2800" dirty="0">
                <a:solidFill>
                  <a:srgbClr val="002060"/>
                </a:solidFill>
              </a:rPr>
              <a:t>(5, 3, 40.25);</a:t>
            </a:r>
          </a:p>
        </p:txBody>
      </p:sp>
    </p:spTree>
    <p:extLst>
      <p:ext uri="{BB962C8B-B14F-4D97-AF65-F5344CB8AC3E}">
        <p14:creationId xmlns:p14="http://schemas.microsoft.com/office/powerpoint/2010/main" val="13363566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sp>
        <p:nvSpPr>
          <p:cNvPr id="3" name="Content Placeholder 2"/>
          <p:cNvSpPr>
            <a:spLocks noGrp="1"/>
          </p:cNvSpPr>
          <p:nvPr>
            <p:ph idx="1"/>
          </p:nvPr>
        </p:nvSpPr>
        <p:spPr>
          <a:xfrm>
            <a:off x="1286143" y="1342431"/>
            <a:ext cx="7387832" cy="4195481"/>
          </a:xfrm>
        </p:spPr>
        <p:txBody>
          <a:bodyPr>
            <a:noAutofit/>
          </a:bodyPr>
          <a:lstStyle/>
          <a:p>
            <a:pPr algn="r" rtl="1">
              <a:lnSpc>
                <a:spcPct val="120000"/>
              </a:lnSpc>
              <a:buFont typeface="Wingdings" panose="05000000000000000000" pitchFamily="2" charset="2"/>
              <a:buChar char="v"/>
            </a:pPr>
            <a:r>
              <a:rPr lang="ar-JO" sz="2400" b="1" dirty="0">
                <a:solidFill>
                  <a:srgbClr val="002060"/>
                </a:solidFill>
              </a:rPr>
              <a:t>يعرض فقط الصفوف المشتركة بين</a:t>
            </a:r>
            <a:endParaRPr lang="en-US" sz="2400" b="1" dirty="0">
              <a:solidFill>
                <a:srgbClr val="002060"/>
              </a:solidFill>
            </a:endParaRPr>
          </a:p>
          <a:p>
            <a:pPr marL="0" indent="0" algn="r" rtl="1">
              <a:lnSpc>
                <a:spcPct val="120000"/>
              </a:lnSpc>
              <a:buNone/>
            </a:pPr>
            <a:r>
              <a:rPr lang="ar-JO" sz="2400" b="1" dirty="0">
                <a:solidFill>
                  <a:srgbClr val="002060"/>
                </a:solidFill>
              </a:rPr>
              <a:t> الجدولين (أي التي لها تطابق في العمود </a:t>
            </a:r>
            <a:endParaRPr lang="en-US" sz="2400" b="1" dirty="0">
              <a:solidFill>
                <a:srgbClr val="002060"/>
              </a:solidFill>
            </a:endParaRPr>
          </a:p>
          <a:p>
            <a:pPr marL="0" indent="0" algn="r" rtl="1">
              <a:lnSpc>
                <a:spcPct val="120000"/>
              </a:lnSpc>
              <a:buNone/>
            </a:pPr>
            <a:r>
              <a:rPr lang="ar-JO" sz="2400" b="1" dirty="0">
                <a:solidFill>
                  <a:srgbClr val="002060"/>
                </a:solidFill>
              </a:rPr>
              <a:t>المشترك).</a:t>
            </a:r>
            <a:endParaRPr sz="2400" b="1"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4880081" y="369587"/>
            <a:ext cx="3506088" cy="923330"/>
          </a:xfrm>
          <a:prstGeom prst="rect">
            <a:avLst/>
          </a:prstGeom>
          <a:noFill/>
        </p:spPr>
        <p:txBody>
          <a:bodyPr wrap="none" lIns="91440" tIns="45720" rIns="91440" bIns="45720">
            <a:spAutoFit/>
          </a:bodyPr>
          <a:lstStyle/>
          <a:p>
            <a:pPr algn="ctr" rtl="1"/>
            <a:r>
              <a:rPr lang="en-US" sz="5400" b="1" dirty="0">
                <a:solidFill>
                  <a:srgbClr val="002060"/>
                </a:solidFill>
              </a:rPr>
              <a:t>INNER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2" name="مربع نص 11"/>
          <p:cNvSpPr txBox="1"/>
          <p:nvPr/>
        </p:nvSpPr>
        <p:spPr>
          <a:xfrm>
            <a:off x="514527" y="3511941"/>
            <a:ext cx="8481874" cy="1815882"/>
          </a:xfrm>
          <a:prstGeom prst="rect">
            <a:avLst/>
          </a:prstGeom>
          <a:noFill/>
        </p:spPr>
        <p:txBody>
          <a:bodyPr wrap="none" rtlCol="0">
            <a:spAutoFit/>
          </a:bodyPr>
          <a:lstStyle/>
          <a:p>
            <a:r>
              <a:rPr lang="en-US" sz="2800" dirty="0">
                <a:solidFill>
                  <a:srgbClr val="FF0000"/>
                </a:solidFill>
              </a:rPr>
              <a:t>SELECT</a:t>
            </a:r>
            <a:r>
              <a:rPr lang="en-US" sz="2800" dirty="0">
                <a:solidFill>
                  <a:srgbClr val="002060"/>
                </a:solidFill>
              </a:rPr>
              <a:t> customer.name, orders.id, </a:t>
            </a:r>
            <a:r>
              <a:rPr lang="en-US" sz="2800" dirty="0" err="1">
                <a:solidFill>
                  <a:srgbClr val="002060"/>
                </a:solidFill>
              </a:rPr>
              <a:t>orders.total_amount</a:t>
            </a:r>
            <a:r>
              <a:rPr lang="en-US" sz="2800" dirty="0"/>
              <a:t> </a:t>
            </a:r>
          </a:p>
          <a:p>
            <a:r>
              <a:rPr lang="en-US" sz="2800" dirty="0">
                <a:solidFill>
                  <a:srgbClr val="FF0000"/>
                </a:solidFill>
              </a:rPr>
              <a:t>FROM </a:t>
            </a:r>
            <a:r>
              <a:rPr lang="en-US" sz="2800" dirty="0">
                <a:solidFill>
                  <a:srgbClr val="002060"/>
                </a:solidFill>
              </a:rPr>
              <a:t>customer</a:t>
            </a:r>
          </a:p>
          <a:p>
            <a:r>
              <a:rPr lang="en-US" sz="2800" dirty="0">
                <a:solidFill>
                  <a:srgbClr val="FF0000"/>
                </a:solidFill>
              </a:rPr>
              <a:t>INNER JOIN </a:t>
            </a:r>
            <a:r>
              <a:rPr lang="en-US" sz="2800" dirty="0">
                <a:solidFill>
                  <a:srgbClr val="002060"/>
                </a:solidFill>
              </a:rPr>
              <a:t>orders</a:t>
            </a:r>
          </a:p>
          <a:p>
            <a:r>
              <a:rPr lang="en-US" sz="2800" dirty="0">
                <a:solidFill>
                  <a:srgbClr val="FF0000"/>
                </a:solidFill>
              </a:rPr>
              <a:t>ON</a:t>
            </a:r>
            <a:r>
              <a:rPr lang="en-US" sz="2800" dirty="0">
                <a:solidFill>
                  <a:srgbClr val="002060"/>
                </a:solidFill>
              </a:rPr>
              <a:t> customer.id </a:t>
            </a:r>
            <a:r>
              <a:rPr lang="en-US" sz="2800" dirty="0">
                <a:solidFill>
                  <a:srgbClr val="FF0000"/>
                </a:solidFill>
              </a:rPr>
              <a:t>=</a:t>
            </a:r>
            <a:r>
              <a:rPr lang="en-US" sz="2800" dirty="0">
                <a:solidFill>
                  <a:srgbClr val="002060"/>
                </a:solidFill>
              </a:rPr>
              <a:t> </a:t>
            </a:r>
            <a:r>
              <a:rPr lang="en-US" sz="2800" dirty="0" err="1">
                <a:solidFill>
                  <a:srgbClr val="002060"/>
                </a:solidFill>
              </a:rPr>
              <a:t>orders.customer_id</a:t>
            </a:r>
            <a:r>
              <a:rPr lang="en-US" sz="2800" dirty="0">
                <a:solidFill>
                  <a:srgbClr val="002060"/>
                </a:solidFill>
              </a:rPr>
              <a:t>;</a:t>
            </a:r>
          </a:p>
        </p:txBody>
      </p:sp>
      <p:pic>
        <p:nvPicPr>
          <p:cNvPr id="30" name="صورة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38" y="706581"/>
            <a:ext cx="3934757" cy="2443695"/>
          </a:xfrm>
          <a:prstGeom prst="rect">
            <a:avLst/>
          </a:prstGeom>
        </p:spPr>
      </p:pic>
    </p:spTree>
    <p:extLst>
      <p:ext uri="{BB962C8B-B14F-4D97-AF65-F5344CB8AC3E}">
        <p14:creationId xmlns:p14="http://schemas.microsoft.com/office/powerpoint/2010/main" val="7806769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pic>
        <p:nvPicPr>
          <p:cNvPr id="2" name="عنصر نائب للمحتوى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53419" y="1618886"/>
            <a:ext cx="6197544" cy="4504823"/>
          </a:xfrm>
          <a:ln>
            <a:solidFill>
              <a:schemeClr val="accent1"/>
            </a:solidFill>
          </a:ln>
        </p:spPr>
      </p:pic>
      <p:sp>
        <p:nvSpPr>
          <p:cNvPr id="4" name="Rectangle 3">
            <a:extLst>
              <a:ext uri="{FF2B5EF4-FFF2-40B4-BE49-F238E27FC236}">
                <a16:creationId xmlns:a16="http://schemas.microsoft.com/office/drawing/2014/main" id="{2E50BFFF-0051-41D2-911D-A3CA36D084EE}"/>
              </a:ext>
            </a:extLst>
          </p:cNvPr>
          <p:cNvSpPr/>
          <p:nvPr/>
        </p:nvSpPr>
        <p:spPr>
          <a:xfrm>
            <a:off x="4880081" y="369587"/>
            <a:ext cx="3506088" cy="923330"/>
          </a:xfrm>
          <a:prstGeom prst="rect">
            <a:avLst/>
          </a:prstGeom>
          <a:noFill/>
        </p:spPr>
        <p:txBody>
          <a:bodyPr wrap="none" lIns="91440" tIns="45720" rIns="91440" bIns="45720">
            <a:spAutoFit/>
          </a:bodyPr>
          <a:lstStyle/>
          <a:p>
            <a:pPr algn="ctr" rtl="1"/>
            <a:r>
              <a:rPr lang="en-US" sz="5400" b="1" dirty="0">
                <a:solidFill>
                  <a:srgbClr val="002060"/>
                </a:solidFill>
              </a:rPr>
              <a:t>INNER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4355063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sp>
        <p:nvSpPr>
          <p:cNvPr id="3" name="Content Placeholder 2"/>
          <p:cNvSpPr>
            <a:spLocks noGrp="1"/>
          </p:cNvSpPr>
          <p:nvPr>
            <p:ph idx="1"/>
          </p:nvPr>
        </p:nvSpPr>
        <p:spPr>
          <a:xfrm>
            <a:off x="0" y="1342429"/>
            <a:ext cx="8840897" cy="4195481"/>
          </a:xfrm>
        </p:spPr>
        <p:txBody>
          <a:bodyPr>
            <a:noAutofit/>
          </a:bodyPr>
          <a:lstStyle/>
          <a:p>
            <a:pPr algn="r" rtl="1">
              <a:lnSpc>
                <a:spcPct val="120000"/>
              </a:lnSpc>
              <a:buFont typeface="Wingdings" panose="05000000000000000000" pitchFamily="2" charset="2"/>
              <a:buChar char="v"/>
            </a:pPr>
            <a:r>
              <a:rPr lang="ar-JO" sz="2400" b="1" dirty="0">
                <a:solidFill>
                  <a:srgbClr val="002060"/>
                </a:solidFill>
              </a:rPr>
              <a:t>يعرض كل صفوف الجدول الأيسر (الأول </a:t>
            </a:r>
            <a:endParaRPr lang="en-US" sz="2400" b="1" dirty="0">
              <a:solidFill>
                <a:srgbClr val="002060"/>
              </a:solidFill>
            </a:endParaRPr>
          </a:p>
          <a:p>
            <a:pPr marL="0" indent="0" algn="r" rtl="1">
              <a:lnSpc>
                <a:spcPct val="120000"/>
              </a:lnSpc>
              <a:buNone/>
            </a:pPr>
            <a:r>
              <a:rPr lang="ar-JO" sz="2400" b="1" dirty="0">
                <a:solidFill>
                  <a:srgbClr val="002060"/>
                </a:solidFill>
              </a:rPr>
              <a:t>في الاستعلام)،حتى لو لم يوجد تطابق</a:t>
            </a:r>
            <a:r>
              <a:rPr lang="en-US" sz="2400" b="1" dirty="0">
                <a:solidFill>
                  <a:srgbClr val="002060"/>
                </a:solidFill>
              </a:rPr>
              <a:t> </a:t>
            </a:r>
            <a:r>
              <a:rPr lang="ar-JO" sz="2400" b="1" dirty="0">
                <a:solidFill>
                  <a:srgbClr val="002060"/>
                </a:solidFill>
              </a:rPr>
              <a:t>في</a:t>
            </a:r>
            <a:endParaRPr lang="en-US" sz="2400" b="1" dirty="0">
              <a:solidFill>
                <a:srgbClr val="002060"/>
              </a:solidFill>
            </a:endParaRPr>
          </a:p>
          <a:p>
            <a:pPr marL="0" indent="0" algn="r" rtl="1">
              <a:lnSpc>
                <a:spcPct val="120000"/>
              </a:lnSpc>
              <a:buNone/>
            </a:pPr>
            <a:r>
              <a:rPr lang="ar-JO" sz="2400" b="1" dirty="0">
                <a:solidFill>
                  <a:srgbClr val="002060"/>
                </a:solidFill>
              </a:rPr>
              <a:t> الجدول الآخر.</a:t>
            </a:r>
            <a:endParaRPr lang="en-US" sz="2400" b="1" dirty="0">
              <a:solidFill>
                <a:srgbClr val="002060"/>
              </a:solidFill>
            </a:endParaRPr>
          </a:p>
          <a:p>
            <a:pPr algn="r" rtl="1">
              <a:lnSpc>
                <a:spcPct val="120000"/>
              </a:lnSpc>
              <a:buFont typeface="Wingdings" panose="05000000000000000000" pitchFamily="2" charset="2"/>
              <a:buChar char="v"/>
            </a:pPr>
            <a:r>
              <a:rPr lang="ar-JO" sz="2400" b="1" dirty="0">
                <a:solidFill>
                  <a:srgbClr val="002060"/>
                </a:solidFill>
              </a:rPr>
              <a:t>النتيجة: جميع الزبائن يظهرون</a:t>
            </a:r>
            <a:r>
              <a:rPr lang="en-US" sz="2400" b="1" dirty="0">
                <a:solidFill>
                  <a:srgbClr val="002060"/>
                </a:solidFill>
              </a:rPr>
              <a:t> </a:t>
            </a:r>
            <a:r>
              <a:rPr lang="ar-JO" sz="2400" b="1" dirty="0">
                <a:solidFill>
                  <a:srgbClr val="002060"/>
                </a:solidFill>
              </a:rPr>
              <a:t>،وإن لم يكن لديهم طلب، سيظهر مكان الطلب </a:t>
            </a:r>
            <a:r>
              <a:rPr lang="en-US" sz="2400" b="1" dirty="0">
                <a:solidFill>
                  <a:srgbClr val="002060"/>
                </a:solidFill>
              </a:rPr>
              <a:t>NULL</a:t>
            </a:r>
            <a:endParaRPr sz="2400" b="1"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5146981" y="369587"/>
            <a:ext cx="2972289" cy="923330"/>
          </a:xfrm>
          <a:prstGeom prst="rect">
            <a:avLst/>
          </a:prstGeom>
          <a:noFill/>
        </p:spPr>
        <p:txBody>
          <a:bodyPr wrap="none" lIns="91440" tIns="45720" rIns="91440" bIns="45720">
            <a:spAutoFit/>
          </a:bodyPr>
          <a:lstStyle/>
          <a:p>
            <a:pPr algn="ctr" rtl="1"/>
            <a:r>
              <a:rPr lang="en-US" sz="5400" b="1" dirty="0">
                <a:solidFill>
                  <a:srgbClr val="002060"/>
                </a:solidFill>
              </a:rPr>
              <a:t>LEFT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2" name="مربع نص 11"/>
          <p:cNvSpPr txBox="1"/>
          <p:nvPr/>
        </p:nvSpPr>
        <p:spPr>
          <a:xfrm>
            <a:off x="947948" y="4157298"/>
            <a:ext cx="5821145" cy="1815882"/>
          </a:xfrm>
          <a:prstGeom prst="rect">
            <a:avLst/>
          </a:prstGeom>
          <a:noFill/>
        </p:spPr>
        <p:txBody>
          <a:bodyPr wrap="none" rtlCol="0">
            <a:spAutoFit/>
          </a:bodyPr>
          <a:lstStyle/>
          <a:p>
            <a:r>
              <a:rPr lang="en-US" sz="2800" dirty="0">
                <a:solidFill>
                  <a:srgbClr val="FF0000"/>
                </a:solidFill>
              </a:rPr>
              <a:t>SELECT </a:t>
            </a:r>
            <a:r>
              <a:rPr lang="en-US" sz="2800" dirty="0">
                <a:solidFill>
                  <a:srgbClr val="002060"/>
                </a:solidFill>
              </a:rPr>
              <a:t>customer.name, orders.id</a:t>
            </a:r>
          </a:p>
          <a:p>
            <a:r>
              <a:rPr lang="en-US" sz="2800" dirty="0">
                <a:solidFill>
                  <a:srgbClr val="FF0000"/>
                </a:solidFill>
              </a:rPr>
              <a:t>FROM </a:t>
            </a:r>
            <a:r>
              <a:rPr lang="en-US" sz="2800" dirty="0">
                <a:solidFill>
                  <a:srgbClr val="002060"/>
                </a:solidFill>
              </a:rPr>
              <a:t>customer</a:t>
            </a:r>
          </a:p>
          <a:p>
            <a:r>
              <a:rPr lang="en-US" sz="2800" dirty="0">
                <a:solidFill>
                  <a:srgbClr val="FF0000"/>
                </a:solidFill>
              </a:rPr>
              <a:t>LEFT JOIN </a:t>
            </a:r>
            <a:r>
              <a:rPr lang="en-US" sz="2800" dirty="0">
                <a:solidFill>
                  <a:srgbClr val="002060"/>
                </a:solidFill>
              </a:rPr>
              <a:t>orders</a:t>
            </a:r>
          </a:p>
          <a:p>
            <a:r>
              <a:rPr lang="en-US" sz="2800" dirty="0">
                <a:solidFill>
                  <a:srgbClr val="FF0000"/>
                </a:solidFill>
              </a:rPr>
              <a:t>ON </a:t>
            </a:r>
            <a:r>
              <a:rPr lang="en-US" sz="2800" dirty="0">
                <a:solidFill>
                  <a:srgbClr val="002060"/>
                </a:solidFill>
              </a:rPr>
              <a:t>customer.id = </a:t>
            </a:r>
            <a:r>
              <a:rPr lang="en-US" sz="2800" dirty="0" err="1">
                <a:solidFill>
                  <a:srgbClr val="002060"/>
                </a:solidFill>
              </a:rPr>
              <a:t>orders.customer_id</a:t>
            </a:r>
            <a:r>
              <a:rPr lang="en-US" sz="2800" dirty="0">
                <a:solidFill>
                  <a:srgbClr val="002060"/>
                </a:solidFill>
              </a:rPr>
              <a:t>;</a:t>
            </a:r>
          </a:p>
        </p:txBody>
      </p:sp>
      <p:pic>
        <p:nvPicPr>
          <p:cNvPr id="30" name="صورة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38" y="282596"/>
            <a:ext cx="3934757" cy="2443695"/>
          </a:xfrm>
          <a:prstGeom prst="rect">
            <a:avLst/>
          </a:prstGeom>
        </p:spPr>
      </p:pic>
    </p:spTree>
    <p:extLst>
      <p:ext uri="{BB962C8B-B14F-4D97-AF65-F5344CB8AC3E}">
        <p14:creationId xmlns:p14="http://schemas.microsoft.com/office/powerpoint/2010/main" val="12760501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5146981" y="369587"/>
            <a:ext cx="2972289" cy="923330"/>
          </a:xfrm>
          <a:prstGeom prst="rect">
            <a:avLst/>
          </a:prstGeom>
          <a:noFill/>
        </p:spPr>
        <p:txBody>
          <a:bodyPr wrap="none" lIns="91440" tIns="45720" rIns="91440" bIns="45720">
            <a:spAutoFit/>
          </a:bodyPr>
          <a:lstStyle/>
          <a:p>
            <a:pPr algn="ctr" rtl="1"/>
            <a:r>
              <a:rPr lang="en-US" sz="5400" b="1" dirty="0">
                <a:solidFill>
                  <a:srgbClr val="002060"/>
                </a:solidFill>
              </a:rPr>
              <a:t>LEFT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عنصر نائب للمحتوى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8609" y="1451678"/>
            <a:ext cx="6747164" cy="4881881"/>
          </a:xfrm>
          <a:ln>
            <a:solidFill>
              <a:schemeClr val="accent1"/>
            </a:solidFill>
          </a:ln>
        </p:spPr>
      </p:pic>
    </p:spTree>
    <p:extLst>
      <p:ext uri="{BB962C8B-B14F-4D97-AF65-F5344CB8AC3E}">
        <p14:creationId xmlns:p14="http://schemas.microsoft.com/office/powerpoint/2010/main" val="33821096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035850" y="210826"/>
            <a:ext cx="6995518" cy="6458689"/>
          </a:xfrm>
          <a:prstGeom prst="rect">
            <a:avLst/>
          </a:prstGeom>
          <a:noFill/>
          <a:ln>
            <a:noFill/>
          </a:ln>
        </p:spPr>
      </p:pic>
      <p:sp>
        <p:nvSpPr>
          <p:cNvPr id="3" name="Content Placeholder 2"/>
          <p:cNvSpPr>
            <a:spLocks noGrp="1"/>
          </p:cNvSpPr>
          <p:nvPr>
            <p:ph idx="1"/>
          </p:nvPr>
        </p:nvSpPr>
        <p:spPr>
          <a:xfrm>
            <a:off x="0" y="1342429"/>
            <a:ext cx="8840897" cy="4195481"/>
          </a:xfrm>
        </p:spPr>
        <p:txBody>
          <a:bodyPr>
            <a:noAutofit/>
          </a:bodyPr>
          <a:lstStyle/>
          <a:p>
            <a:pPr algn="r" rtl="1">
              <a:lnSpc>
                <a:spcPct val="120000"/>
              </a:lnSpc>
              <a:buFont typeface="Wingdings" panose="05000000000000000000" pitchFamily="2" charset="2"/>
              <a:buChar char="v"/>
            </a:pPr>
            <a:r>
              <a:rPr lang="ar-JO" sz="2400" b="1" dirty="0">
                <a:solidFill>
                  <a:srgbClr val="002060"/>
                </a:solidFill>
              </a:rPr>
              <a:t>أو </a:t>
            </a:r>
            <a:r>
              <a:rPr lang="en-US" sz="2400" b="1" dirty="0">
                <a:solidFill>
                  <a:srgbClr val="002060"/>
                </a:solidFill>
              </a:rPr>
              <a:t>RIGHT OUTER JOIN)</a:t>
            </a:r>
            <a:r>
              <a:rPr lang="ar-JO" sz="2400" b="1" dirty="0">
                <a:solidFill>
                  <a:srgbClr val="002060"/>
                </a:solidFill>
              </a:rPr>
              <a:t>عكس</a:t>
            </a:r>
            <a:endParaRPr lang="en-US" sz="2400" b="1" dirty="0">
              <a:solidFill>
                <a:srgbClr val="002060"/>
              </a:solidFill>
            </a:endParaRPr>
          </a:p>
          <a:p>
            <a:pPr algn="r" rtl="1">
              <a:lnSpc>
                <a:spcPct val="120000"/>
              </a:lnSpc>
              <a:buFont typeface="Wingdings" panose="05000000000000000000" pitchFamily="2" charset="2"/>
              <a:buChar char="v"/>
            </a:pPr>
            <a:r>
              <a:rPr lang="ar-JO" sz="2400" b="1" dirty="0">
                <a:solidFill>
                  <a:srgbClr val="002060"/>
                </a:solidFill>
              </a:rPr>
              <a:t> الـ </a:t>
            </a:r>
            <a:r>
              <a:rPr lang="en-US" sz="2400" b="1" dirty="0">
                <a:solidFill>
                  <a:srgbClr val="002060"/>
                </a:solidFill>
              </a:rPr>
              <a:t>LEFT JOIN</a:t>
            </a:r>
            <a:r>
              <a:rPr lang="ar-JO" sz="2400" b="1" dirty="0">
                <a:solidFill>
                  <a:srgbClr val="002060"/>
                </a:solidFill>
              </a:rPr>
              <a:t>يعرض كل صفوف </a:t>
            </a:r>
            <a:endParaRPr lang="en-US" sz="2400" b="1" dirty="0">
              <a:solidFill>
                <a:srgbClr val="002060"/>
              </a:solidFill>
            </a:endParaRPr>
          </a:p>
          <a:p>
            <a:pPr algn="r" rtl="1">
              <a:lnSpc>
                <a:spcPct val="120000"/>
              </a:lnSpc>
              <a:buFont typeface="Wingdings" panose="05000000000000000000" pitchFamily="2" charset="2"/>
              <a:buChar char="v"/>
            </a:pPr>
            <a:r>
              <a:rPr lang="ar-JO" sz="2400" b="1" dirty="0">
                <a:solidFill>
                  <a:srgbClr val="002060"/>
                </a:solidFill>
              </a:rPr>
              <a:t>الجدول الأيمن.</a:t>
            </a:r>
            <a:endParaRPr sz="2400" b="1"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4895311" y="369587"/>
            <a:ext cx="3475631" cy="923330"/>
          </a:xfrm>
          <a:prstGeom prst="rect">
            <a:avLst/>
          </a:prstGeom>
          <a:noFill/>
        </p:spPr>
        <p:txBody>
          <a:bodyPr wrap="none" lIns="91440" tIns="45720" rIns="91440" bIns="45720">
            <a:spAutoFit/>
          </a:bodyPr>
          <a:lstStyle/>
          <a:p>
            <a:pPr algn="ctr" rtl="1"/>
            <a:r>
              <a:rPr lang="en-US" sz="5400" b="1" dirty="0">
                <a:solidFill>
                  <a:srgbClr val="002060"/>
                </a:solidFill>
              </a:rPr>
              <a:t>RIGHT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12" name="مربع نص 11"/>
          <p:cNvSpPr txBox="1"/>
          <p:nvPr/>
        </p:nvSpPr>
        <p:spPr>
          <a:xfrm>
            <a:off x="947948" y="4157298"/>
            <a:ext cx="5728043" cy="1815882"/>
          </a:xfrm>
          <a:prstGeom prst="rect">
            <a:avLst/>
          </a:prstGeom>
          <a:noFill/>
        </p:spPr>
        <p:txBody>
          <a:bodyPr wrap="none" rtlCol="0">
            <a:spAutoFit/>
          </a:bodyPr>
          <a:lstStyle/>
          <a:p>
            <a:r>
              <a:rPr lang="en-US" sz="2800" dirty="0">
                <a:solidFill>
                  <a:srgbClr val="FF0000"/>
                </a:solidFill>
              </a:rPr>
              <a:t>SELECT </a:t>
            </a:r>
            <a:r>
              <a:rPr lang="en-US" sz="2800" dirty="0">
                <a:solidFill>
                  <a:srgbClr val="002060"/>
                </a:solidFill>
              </a:rPr>
              <a:t>customer.name, orders.id</a:t>
            </a:r>
          </a:p>
          <a:p>
            <a:r>
              <a:rPr lang="en-US" sz="2800" dirty="0">
                <a:solidFill>
                  <a:srgbClr val="FF0000"/>
                </a:solidFill>
              </a:rPr>
              <a:t>FROM </a:t>
            </a:r>
            <a:r>
              <a:rPr lang="en-US" sz="2800" dirty="0">
                <a:solidFill>
                  <a:srgbClr val="002060"/>
                </a:solidFill>
              </a:rPr>
              <a:t>customer</a:t>
            </a:r>
          </a:p>
          <a:p>
            <a:r>
              <a:rPr lang="en-US" sz="2800" dirty="0">
                <a:solidFill>
                  <a:srgbClr val="FF0000"/>
                </a:solidFill>
              </a:rPr>
              <a:t>RIGHT JOIN </a:t>
            </a:r>
            <a:r>
              <a:rPr lang="en-US" sz="2800" dirty="0">
                <a:solidFill>
                  <a:srgbClr val="002060"/>
                </a:solidFill>
              </a:rPr>
              <a:t>orders</a:t>
            </a:r>
          </a:p>
          <a:p>
            <a:r>
              <a:rPr lang="en-US" sz="2800" dirty="0">
                <a:solidFill>
                  <a:srgbClr val="FF0000"/>
                </a:solidFill>
              </a:rPr>
              <a:t>ON </a:t>
            </a:r>
            <a:r>
              <a:rPr lang="en-US" sz="2800" dirty="0">
                <a:solidFill>
                  <a:srgbClr val="002060"/>
                </a:solidFill>
              </a:rPr>
              <a:t>customer.id = </a:t>
            </a:r>
            <a:r>
              <a:rPr lang="en-US" sz="2800" dirty="0" err="1">
                <a:solidFill>
                  <a:srgbClr val="002060"/>
                </a:solidFill>
              </a:rPr>
              <a:t>orders.customer_id</a:t>
            </a:r>
            <a:r>
              <a:rPr lang="en-US" sz="2800" dirty="0">
                <a:solidFill>
                  <a:srgbClr val="FF0000"/>
                </a:solidFill>
              </a:rPr>
              <a:t>;</a:t>
            </a:r>
            <a:endParaRPr lang="en-US" sz="2800" dirty="0">
              <a:solidFill>
                <a:srgbClr val="002060"/>
              </a:solidFill>
            </a:endParaRPr>
          </a:p>
        </p:txBody>
      </p:sp>
      <p:pic>
        <p:nvPicPr>
          <p:cNvPr id="30" name="صورة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19" y="907159"/>
            <a:ext cx="3934757" cy="2443695"/>
          </a:xfrm>
          <a:prstGeom prst="rect">
            <a:avLst/>
          </a:prstGeom>
        </p:spPr>
      </p:pic>
    </p:spTree>
    <p:extLst>
      <p:ext uri="{BB962C8B-B14F-4D97-AF65-F5344CB8AC3E}">
        <p14:creationId xmlns:p14="http://schemas.microsoft.com/office/powerpoint/2010/main" val="4083319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564793" y="266246"/>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4895311" y="369587"/>
            <a:ext cx="3475631" cy="923330"/>
          </a:xfrm>
          <a:prstGeom prst="rect">
            <a:avLst/>
          </a:prstGeom>
          <a:noFill/>
        </p:spPr>
        <p:txBody>
          <a:bodyPr wrap="none" lIns="91440" tIns="45720" rIns="91440" bIns="45720">
            <a:spAutoFit/>
          </a:bodyPr>
          <a:lstStyle/>
          <a:p>
            <a:pPr algn="ctr" rtl="1"/>
            <a:r>
              <a:rPr lang="en-US" sz="5400" b="1" dirty="0">
                <a:solidFill>
                  <a:srgbClr val="002060"/>
                </a:solidFill>
              </a:rPr>
              <a:t>RIGHT JOIN</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3" name="عنصر نائب للمحتوى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16182" y="1428626"/>
            <a:ext cx="5652654" cy="4861848"/>
          </a:xfrm>
          <a:ln>
            <a:solidFill>
              <a:schemeClr val="accent1"/>
            </a:solidFill>
          </a:ln>
        </p:spPr>
      </p:pic>
    </p:spTree>
    <p:extLst>
      <p:ext uri="{BB962C8B-B14F-4D97-AF65-F5344CB8AC3E}">
        <p14:creationId xmlns:p14="http://schemas.microsoft.com/office/powerpoint/2010/main" val="33327727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3" name="Content Placeholder 2"/>
          <p:cNvSpPr>
            <a:spLocks noGrp="1"/>
          </p:cNvSpPr>
          <p:nvPr>
            <p:ph idx="1"/>
          </p:nvPr>
        </p:nvSpPr>
        <p:spPr>
          <a:xfrm>
            <a:off x="1073582" y="1578823"/>
            <a:ext cx="7387832" cy="4195481"/>
          </a:xfrm>
        </p:spPr>
        <p:txBody>
          <a:bodyPr>
            <a:noAutofit/>
          </a:bodyPr>
          <a:lstStyle/>
          <a:p>
            <a:pPr algn="r" rtl="1">
              <a:lnSpc>
                <a:spcPct val="120000"/>
              </a:lnSpc>
              <a:buFont typeface="Wingdings" panose="05000000000000000000" pitchFamily="2" charset="2"/>
              <a:buChar char="v"/>
            </a:pPr>
            <a:r>
              <a:rPr lang="ar-JO" sz="2400" b="1" dirty="0">
                <a:solidFill>
                  <a:srgbClr val="002060"/>
                </a:solidFill>
              </a:rPr>
              <a:t>هو رسم بياني (</a:t>
            </a:r>
            <a:r>
              <a:rPr lang="en-US" sz="2400" b="1" dirty="0">
                <a:solidFill>
                  <a:srgbClr val="002060"/>
                </a:solidFill>
              </a:rPr>
              <a:t>(Entity-Relationship Diagram </a:t>
            </a:r>
            <a:r>
              <a:rPr lang="ar-JO" sz="2400" b="1" dirty="0">
                <a:solidFill>
                  <a:srgbClr val="002060"/>
                </a:solidFill>
              </a:rPr>
              <a:t>يُستخدم لتصميم قاعدة البيانات قبل إنشائها فعليًا.</a:t>
            </a:r>
            <a:endParaRPr lang="en-US" sz="2400" b="1" dirty="0">
              <a:solidFill>
                <a:srgbClr val="002060"/>
              </a:solidFill>
            </a:endParaRPr>
          </a:p>
          <a:p>
            <a:pPr algn="r" rtl="1">
              <a:lnSpc>
                <a:spcPct val="120000"/>
              </a:lnSpc>
              <a:buFont typeface="Wingdings" panose="05000000000000000000" pitchFamily="2" charset="2"/>
              <a:buChar char="v"/>
            </a:pPr>
            <a:r>
              <a:rPr lang="ar-JO" sz="2400" b="1" dirty="0">
                <a:solidFill>
                  <a:srgbClr val="002060"/>
                </a:solidFill>
              </a:rPr>
              <a:t>يوضح:</a:t>
            </a:r>
            <a:endParaRPr lang="en-US" sz="2400" b="1" dirty="0">
              <a:solidFill>
                <a:srgbClr val="002060"/>
              </a:solidFill>
            </a:endParaRPr>
          </a:p>
          <a:p>
            <a:pPr lvl="1" algn="r" rtl="1">
              <a:lnSpc>
                <a:spcPct val="120000"/>
              </a:lnSpc>
            </a:pPr>
            <a:r>
              <a:rPr lang="ar-JO" sz="2400" b="1" dirty="0">
                <a:solidFill>
                  <a:srgbClr val="002060"/>
                </a:solidFill>
              </a:rPr>
              <a:t>الجداول </a:t>
            </a:r>
            <a:r>
              <a:rPr lang="en-US" sz="2400" b="1" dirty="0">
                <a:solidFill>
                  <a:srgbClr val="002060"/>
                </a:solidFill>
              </a:rPr>
              <a:t>(Entities)</a:t>
            </a:r>
          </a:p>
          <a:p>
            <a:pPr lvl="1" algn="r" rtl="1">
              <a:lnSpc>
                <a:spcPct val="120000"/>
              </a:lnSpc>
            </a:pPr>
            <a:r>
              <a:rPr lang="ar-JO" sz="2400" b="1" dirty="0">
                <a:solidFill>
                  <a:srgbClr val="002060"/>
                </a:solidFill>
              </a:rPr>
              <a:t>الأعمدة الأساسية </a:t>
            </a:r>
            <a:r>
              <a:rPr lang="en-US" sz="2400" b="1" dirty="0">
                <a:solidFill>
                  <a:srgbClr val="002060"/>
                </a:solidFill>
              </a:rPr>
              <a:t>(Primary Keys)</a:t>
            </a:r>
          </a:p>
          <a:p>
            <a:pPr lvl="1" algn="r" rtl="1">
              <a:lnSpc>
                <a:spcPct val="120000"/>
              </a:lnSpc>
            </a:pPr>
            <a:r>
              <a:rPr lang="ar-JO" sz="2400" b="1" dirty="0">
                <a:solidFill>
                  <a:srgbClr val="002060"/>
                </a:solidFill>
              </a:rPr>
              <a:t>المفاتيح الخارجية </a:t>
            </a:r>
            <a:r>
              <a:rPr lang="en-US" sz="2400" b="1" dirty="0">
                <a:solidFill>
                  <a:srgbClr val="002060"/>
                </a:solidFill>
              </a:rPr>
              <a:t>(Foreign Keys)</a:t>
            </a:r>
          </a:p>
          <a:p>
            <a:pPr lvl="1" algn="r" rtl="1">
              <a:lnSpc>
                <a:spcPct val="120000"/>
              </a:lnSpc>
            </a:pPr>
            <a:r>
              <a:rPr lang="ar-JO" sz="2400" b="1" dirty="0">
                <a:solidFill>
                  <a:srgbClr val="002060"/>
                </a:solidFill>
              </a:rPr>
              <a:t>نوع العلاقة بين الجداول </a:t>
            </a:r>
            <a:r>
              <a:rPr lang="en-US" sz="2400" b="1" dirty="0">
                <a:solidFill>
                  <a:srgbClr val="002060"/>
                </a:solidFill>
              </a:rPr>
              <a:t>:</a:t>
            </a:r>
          </a:p>
          <a:p>
            <a:pPr lvl="2" algn="r" rtl="1">
              <a:lnSpc>
                <a:spcPct val="120000"/>
              </a:lnSpc>
              <a:buFont typeface="Courier New" panose="02070309020205020404" pitchFamily="49" charset="0"/>
              <a:buChar char="o"/>
            </a:pPr>
            <a:r>
              <a:rPr lang="ar-JO" sz="2400" b="1" dirty="0">
                <a:solidFill>
                  <a:srgbClr val="002060"/>
                </a:solidFill>
              </a:rPr>
              <a:t>(1:1</a:t>
            </a:r>
            <a:r>
              <a:rPr lang="en-US" sz="2400" b="1" dirty="0">
                <a:solidFill>
                  <a:srgbClr val="002060"/>
                </a:solidFill>
              </a:rPr>
              <a:t>(</a:t>
            </a:r>
          </a:p>
          <a:p>
            <a:pPr lvl="2" algn="r" rtl="1">
              <a:lnSpc>
                <a:spcPct val="120000"/>
              </a:lnSpc>
              <a:buFont typeface="Courier New" panose="02070309020205020404" pitchFamily="49" charset="0"/>
              <a:buChar char="o"/>
            </a:pPr>
            <a:r>
              <a:rPr lang="en-US" sz="2400" b="1" dirty="0">
                <a:solidFill>
                  <a:srgbClr val="002060"/>
                </a:solidFill>
              </a:rPr>
              <a:t>(N:1)</a:t>
            </a:r>
          </a:p>
          <a:p>
            <a:pPr lvl="2" algn="r" rtl="1">
              <a:lnSpc>
                <a:spcPct val="120000"/>
              </a:lnSpc>
              <a:buFont typeface="Courier New" panose="02070309020205020404" pitchFamily="49" charset="0"/>
              <a:buChar char="o"/>
            </a:pPr>
            <a:r>
              <a:rPr lang="en-US" sz="2400" b="1" dirty="0">
                <a:solidFill>
                  <a:srgbClr val="002060"/>
                </a:solidFill>
              </a:rPr>
              <a:t>(M:N)</a:t>
            </a:r>
            <a:endParaRPr sz="2400" b="1" dirty="0">
              <a:solidFill>
                <a:srgbClr val="002060"/>
              </a:solidFill>
            </a:endParaRPr>
          </a:p>
        </p:txBody>
      </p:sp>
      <p:sp>
        <p:nvSpPr>
          <p:cNvPr id="4" name="Rectangle 3">
            <a:extLst>
              <a:ext uri="{FF2B5EF4-FFF2-40B4-BE49-F238E27FC236}">
                <a16:creationId xmlns:a16="http://schemas.microsoft.com/office/drawing/2014/main" id="{2E50BFFF-0051-41D2-911D-A3CA36D084EE}"/>
              </a:ext>
            </a:extLst>
          </p:cNvPr>
          <p:cNvSpPr/>
          <p:nvPr/>
        </p:nvSpPr>
        <p:spPr>
          <a:xfrm>
            <a:off x="3001443" y="297401"/>
            <a:ext cx="5199692" cy="923330"/>
          </a:xfrm>
          <a:prstGeom prst="rect">
            <a:avLst/>
          </a:prstGeom>
          <a:noFill/>
        </p:spPr>
        <p:txBody>
          <a:bodyPr wrap="none" lIns="91440" tIns="45720" rIns="91440" bIns="45720">
            <a:spAutoFit/>
          </a:bodyPr>
          <a:lstStyle/>
          <a:p>
            <a:pPr algn="ctr" rtl="1"/>
            <a:r>
              <a:rPr lang="ar-JO"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ما هو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ER Diagram؟</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Tree>
    <p:extLst>
      <p:ext uri="{BB962C8B-B14F-4D97-AF65-F5344CB8AC3E}">
        <p14:creationId xmlns:p14="http://schemas.microsoft.com/office/powerpoint/2010/main" val="14649575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2335812" y="541740"/>
            <a:ext cx="6530955" cy="923330"/>
          </a:xfrm>
          <a:prstGeom prst="rect">
            <a:avLst/>
          </a:prstGeom>
          <a:noFill/>
        </p:spPr>
        <p:txBody>
          <a:bodyPr wrap="none" lIns="91440" tIns="45720" rIns="91440" bIns="45720">
            <a:spAutoFit/>
          </a:bodyPr>
          <a:lstStyle/>
          <a:p>
            <a:pPr algn="ctr" rtl="1"/>
            <a:r>
              <a:rPr lang="ar-JO"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أنواع العلاقات في </a:t>
            </a:r>
            <a:r>
              <a:rPr lang="en-US" sz="54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a:t>
            </a:r>
            <a:endParaRPr lang="en-US" sz="54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9" name="عنصر نائب للمحتوى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3554" y="1925782"/>
            <a:ext cx="8460227" cy="3893127"/>
          </a:xfrm>
          <a:ln>
            <a:solidFill>
              <a:schemeClr val="tx1">
                <a:lumMod val="50000"/>
                <a:lumOff val="50000"/>
              </a:schemeClr>
            </a:solidFill>
          </a:ln>
        </p:spPr>
      </p:pic>
    </p:spTree>
    <p:extLst>
      <p:ext uri="{BB962C8B-B14F-4D97-AF65-F5344CB8AC3E}">
        <p14:creationId xmlns:p14="http://schemas.microsoft.com/office/powerpoint/2010/main" val="28079594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776880" y="411708"/>
            <a:ext cx="7615290" cy="1200329"/>
          </a:xfrm>
          <a:prstGeom prst="rect">
            <a:avLst/>
          </a:prstGeom>
          <a:noFill/>
        </p:spPr>
        <p:txBody>
          <a:bodyPr wrap="none" lIns="91440" tIns="45720" rIns="91440" bIns="45720">
            <a:spAutoFit/>
          </a:bodyPr>
          <a:lstStyle/>
          <a:p>
            <a:pPr algn="ctr" rtl="1"/>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ER Diagram</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في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 Workbench</a:t>
            </a:r>
          </a:p>
          <a:p>
            <a:pPr algn="ctr" rtl="1"/>
            <a:endParaRPr lang="en-US" sz="36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عنصر نائب للمحتوى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3308" y="1374330"/>
            <a:ext cx="5588273" cy="3544034"/>
          </a:xfrm>
        </p:spPr>
      </p:pic>
      <p:pic>
        <p:nvPicPr>
          <p:cNvPr id="9" name="صورة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8589" y="4073493"/>
            <a:ext cx="5544324" cy="2657846"/>
          </a:xfrm>
          <a:prstGeom prst="rect">
            <a:avLst/>
          </a:prstGeom>
        </p:spPr>
      </p:pic>
    </p:spTree>
    <p:extLst>
      <p:ext uri="{BB962C8B-B14F-4D97-AF65-F5344CB8AC3E}">
        <p14:creationId xmlns:p14="http://schemas.microsoft.com/office/powerpoint/2010/main" val="33577644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776880" y="411708"/>
            <a:ext cx="7615290" cy="1200329"/>
          </a:xfrm>
          <a:prstGeom prst="rect">
            <a:avLst/>
          </a:prstGeom>
          <a:noFill/>
        </p:spPr>
        <p:txBody>
          <a:bodyPr wrap="none" lIns="91440" tIns="45720" rIns="91440" bIns="45720">
            <a:spAutoFit/>
          </a:bodyPr>
          <a:lstStyle/>
          <a:p>
            <a:pPr algn="ctr" rtl="1"/>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ER Diagram</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في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 Workbench</a:t>
            </a:r>
          </a:p>
          <a:p>
            <a:pPr algn="ctr" rtl="1"/>
            <a:endParaRPr lang="en-US" sz="36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3" name="عنصر نائب للمحتوى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65896" y="1542762"/>
            <a:ext cx="6747639" cy="4762568"/>
          </a:xfrm>
        </p:spPr>
      </p:pic>
    </p:spTree>
    <p:extLst>
      <p:ext uri="{BB962C8B-B14F-4D97-AF65-F5344CB8AC3E}">
        <p14:creationId xmlns:p14="http://schemas.microsoft.com/office/powerpoint/2010/main" val="27500644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465896" y="0"/>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768064" y="411708"/>
            <a:ext cx="7632923" cy="1200329"/>
          </a:xfrm>
          <a:prstGeom prst="rect">
            <a:avLst/>
          </a:prstGeom>
          <a:noFill/>
        </p:spPr>
        <p:txBody>
          <a:bodyPr wrap="none" lIns="91440" tIns="45720" rIns="91440" bIns="45720">
            <a:spAutoFit/>
          </a:bodyPr>
          <a:lstStyle/>
          <a:p>
            <a:pPr algn="ctr" rtl="1"/>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حفظ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ER Diagram</a:t>
            </a:r>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 من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MySQL Workbench</a:t>
            </a:r>
          </a:p>
          <a:p>
            <a:pPr algn="ctr" rtl="1"/>
            <a:endParaRPr lang="en-US" sz="36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pic>
        <p:nvPicPr>
          <p:cNvPr id="6" name="عنصر نائب للمحتوى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49119" y="1138366"/>
            <a:ext cx="6289368" cy="5256632"/>
          </a:xfrm>
          <a:ln>
            <a:solidFill>
              <a:schemeClr val="tx1">
                <a:lumMod val="50000"/>
                <a:lumOff val="50000"/>
              </a:schemeClr>
            </a:solidFill>
          </a:ln>
        </p:spPr>
      </p:pic>
    </p:spTree>
    <p:extLst>
      <p:ext uri="{BB962C8B-B14F-4D97-AF65-F5344CB8AC3E}">
        <p14:creationId xmlns:p14="http://schemas.microsoft.com/office/powerpoint/2010/main" val="3157181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62F3C6-AE17-4A59-9892-E76BE9ED35D6}"/>
              </a:ext>
            </a:extLst>
          </p:cNvPr>
          <p:cNvPicPr>
            <a:picLocks noChangeAspect="1"/>
          </p:cNvPicPr>
          <p:nvPr/>
        </p:nvPicPr>
        <p:blipFill>
          <a:blip r:embed="rId2">
            <a:alphaModFix amt="6000"/>
          </a:blip>
          <a:stretch>
            <a:fillRect/>
          </a:stretch>
        </p:blipFill>
        <p:spPr>
          <a:xfrm>
            <a:off x="1245713" y="241707"/>
            <a:ext cx="6995518" cy="6458689"/>
          </a:xfrm>
          <a:prstGeom prst="rect">
            <a:avLst/>
          </a:prstGeom>
          <a:noFill/>
          <a:ln>
            <a:noFill/>
          </a:ln>
        </p:spPr>
      </p:pic>
      <p:sp>
        <p:nvSpPr>
          <p:cNvPr id="4" name="Rectangle 3">
            <a:extLst>
              <a:ext uri="{FF2B5EF4-FFF2-40B4-BE49-F238E27FC236}">
                <a16:creationId xmlns:a16="http://schemas.microsoft.com/office/drawing/2014/main" id="{2E50BFFF-0051-41D2-911D-A3CA36D084EE}"/>
              </a:ext>
            </a:extLst>
          </p:cNvPr>
          <p:cNvSpPr/>
          <p:nvPr/>
        </p:nvSpPr>
        <p:spPr>
          <a:xfrm>
            <a:off x="2939940" y="411708"/>
            <a:ext cx="3289170" cy="646331"/>
          </a:xfrm>
          <a:prstGeom prst="rect">
            <a:avLst/>
          </a:prstGeom>
          <a:noFill/>
        </p:spPr>
        <p:txBody>
          <a:bodyPr wrap="none" lIns="91440" tIns="45720" rIns="91440" bIns="45720">
            <a:spAutoFit/>
          </a:bodyPr>
          <a:lstStyle/>
          <a:p>
            <a:pPr algn="ctr" rtl="1"/>
            <a:r>
              <a:rPr lang="ar-JO"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عمل  </a:t>
            </a:r>
            <a:r>
              <a:rPr lang="en-US" sz="3600"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ER Diagram</a:t>
            </a:r>
            <a:endParaRPr lang="en-US" sz="3600" b="1" cap="none" spc="0" dirty="0">
              <a:ln w="10160">
                <a:solidFill>
                  <a:schemeClr val="accent5"/>
                </a:solidFill>
                <a:prstDash val="solid"/>
              </a:ln>
              <a:solidFill>
                <a:srgbClr val="002060"/>
              </a:solidFill>
              <a:effectLst>
                <a:outerShdw blurRad="38100" dist="22860" dir="5400000" algn="tl" rotWithShape="0">
                  <a:srgbClr val="000000">
                    <a:alpha val="30000"/>
                  </a:srgbClr>
                </a:outerShdw>
              </a:effectLst>
            </a:endParaRPr>
          </a:p>
        </p:txBody>
      </p:sp>
      <p:sp>
        <p:nvSpPr>
          <p:cNvPr id="7" name="Half Frame 6">
            <a:extLst>
              <a:ext uri="{FF2B5EF4-FFF2-40B4-BE49-F238E27FC236}">
                <a16:creationId xmlns:a16="http://schemas.microsoft.com/office/drawing/2014/main" id="{D86D0454-56EC-4E8A-A97C-B2B744C38C92}"/>
              </a:ext>
            </a:extLst>
          </p:cNvPr>
          <p:cNvSpPr/>
          <p:nvPr/>
        </p:nvSpPr>
        <p:spPr>
          <a:xfrm>
            <a:off x="83936" y="139058"/>
            <a:ext cx="692944" cy="6602228"/>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a:p>
        </p:txBody>
      </p:sp>
      <p:sp>
        <p:nvSpPr>
          <p:cNvPr id="8" name="Half Frame 7">
            <a:extLst>
              <a:ext uri="{FF2B5EF4-FFF2-40B4-BE49-F238E27FC236}">
                <a16:creationId xmlns:a16="http://schemas.microsoft.com/office/drawing/2014/main" id="{14CA3D40-F8EB-4D79-B6E9-A16640393ACE}"/>
              </a:ext>
            </a:extLst>
          </p:cNvPr>
          <p:cNvSpPr/>
          <p:nvPr/>
        </p:nvSpPr>
        <p:spPr>
          <a:xfrm rot="10800000">
            <a:off x="8327503" y="282596"/>
            <a:ext cx="692944" cy="6458690"/>
          </a:xfrm>
          <a:prstGeom prst="halfFrame">
            <a:avLst>
              <a:gd name="adj1" fmla="val 10519"/>
              <a:gd name="adj2" fmla="val 8618"/>
            </a:avLst>
          </a:prstGeom>
          <a:solidFill>
            <a:srgbClr val="017DC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350" dirty="0">
              <a:solidFill>
                <a:schemeClr val="tx1"/>
              </a:solidFill>
            </a:endParaRPr>
          </a:p>
        </p:txBody>
      </p:sp>
      <p:sp>
        <p:nvSpPr>
          <p:cNvPr id="6" name="مستطيل 5"/>
          <p:cNvSpPr/>
          <p:nvPr/>
        </p:nvSpPr>
        <p:spPr>
          <a:xfrm>
            <a:off x="2578997" y="4580760"/>
            <a:ext cx="1083431" cy="665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مستطيل 8"/>
          <p:cNvSpPr/>
          <p:nvPr/>
        </p:nvSpPr>
        <p:spPr>
          <a:xfrm>
            <a:off x="2578997" y="1731816"/>
            <a:ext cx="1083431" cy="665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مستطيل 9"/>
          <p:cNvSpPr/>
          <p:nvPr/>
        </p:nvSpPr>
        <p:spPr>
          <a:xfrm>
            <a:off x="5509694" y="2100795"/>
            <a:ext cx="1083431" cy="665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مستطيل 10"/>
          <p:cNvSpPr/>
          <p:nvPr/>
        </p:nvSpPr>
        <p:spPr>
          <a:xfrm>
            <a:off x="2627033" y="3125844"/>
            <a:ext cx="1083431" cy="665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مستطيل 11"/>
          <p:cNvSpPr/>
          <p:nvPr/>
        </p:nvSpPr>
        <p:spPr>
          <a:xfrm>
            <a:off x="5509693" y="4248250"/>
            <a:ext cx="1083431" cy="665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شكل بيضاوي 12"/>
          <p:cNvSpPr/>
          <p:nvPr/>
        </p:nvSpPr>
        <p:spPr>
          <a:xfrm>
            <a:off x="796700" y="780948"/>
            <a:ext cx="1195784" cy="554181"/>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a:t>o-id</a:t>
            </a:r>
          </a:p>
        </p:txBody>
      </p:sp>
      <p:sp>
        <p:nvSpPr>
          <p:cNvPr id="14" name="شكل بيضاوي 13"/>
          <p:cNvSpPr/>
          <p:nvPr/>
        </p:nvSpPr>
        <p:spPr>
          <a:xfrm>
            <a:off x="810237" y="1385454"/>
            <a:ext cx="1195784" cy="554181"/>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room</a:t>
            </a:r>
          </a:p>
        </p:txBody>
      </p:sp>
      <p:sp>
        <p:nvSpPr>
          <p:cNvPr id="15" name="شكل بيضاوي 14"/>
          <p:cNvSpPr/>
          <p:nvPr/>
        </p:nvSpPr>
        <p:spPr>
          <a:xfrm>
            <a:off x="829145" y="1989960"/>
            <a:ext cx="1195784" cy="554181"/>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شكل بيضاوي 15"/>
          <p:cNvSpPr/>
          <p:nvPr/>
        </p:nvSpPr>
        <p:spPr>
          <a:xfrm>
            <a:off x="766921" y="2848753"/>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c-id</a:t>
            </a:r>
          </a:p>
        </p:txBody>
      </p:sp>
      <p:sp>
        <p:nvSpPr>
          <p:cNvPr id="17" name="شكل بيضاوي 16"/>
          <p:cNvSpPr/>
          <p:nvPr/>
        </p:nvSpPr>
        <p:spPr>
          <a:xfrm>
            <a:off x="780458" y="3453259"/>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شكل بيضاوي 18"/>
          <p:cNvSpPr/>
          <p:nvPr/>
        </p:nvSpPr>
        <p:spPr>
          <a:xfrm>
            <a:off x="796700" y="4737861"/>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شكل بيضاوي 19"/>
          <p:cNvSpPr/>
          <p:nvPr/>
        </p:nvSpPr>
        <p:spPr>
          <a:xfrm>
            <a:off x="810237" y="5342367"/>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شكل بيضاوي 23"/>
          <p:cNvSpPr/>
          <p:nvPr/>
        </p:nvSpPr>
        <p:spPr>
          <a:xfrm>
            <a:off x="7234652" y="1894364"/>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شكل بيضاوي 24"/>
          <p:cNvSpPr/>
          <p:nvPr/>
        </p:nvSpPr>
        <p:spPr>
          <a:xfrm>
            <a:off x="7248189" y="2498870"/>
            <a:ext cx="1195784" cy="554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معين 25"/>
          <p:cNvSpPr/>
          <p:nvPr/>
        </p:nvSpPr>
        <p:spPr>
          <a:xfrm>
            <a:off x="4408468" y="1859054"/>
            <a:ext cx="367605" cy="41054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معين 26"/>
          <p:cNvSpPr/>
          <p:nvPr/>
        </p:nvSpPr>
        <p:spPr>
          <a:xfrm>
            <a:off x="4419600" y="2365418"/>
            <a:ext cx="367605" cy="41054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معين 27"/>
          <p:cNvSpPr/>
          <p:nvPr/>
        </p:nvSpPr>
        <p:spPr>
          <a:xfrm>
            <a:off x="4463838" y="4197694"/>
            <a:ext cx="367605" cy="41054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معين 28"/>
          <p:cNvSpPr/>
          <p:nvPr/>
        </p:nvSpPr>
        <p:spPr>
          <a:xfrm>
            <a:off x="4477070" y="4712106"/>
            <a:ext cx="367605" cy="41054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شكل بيضاوي 29"/>
          <p:cNvSpPr/>
          <p:nvPr/>
        </p:nvSpPr>
        <p:spPr>
          <a:xfrm>
            <a:off x="829145" y="4061104"/>
            <a:ext cx="1195784" cy="554181"/>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شكل بيضاوي 30"/>
          <p:cNvSpPr/>
          <p:nvPr/>
        </p:nvSpPr>
        <p:spPr>
          <a:xfrm>
            <a:off x="7243549" y="4822202"/>
            <a:ext cx="1195784" cy="554181"/>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شكل بيضاوي 31"/>
          <p:cNvSpPr/>
          <p:nvPr/>
        </p:nvSpPr>
        <p:spPr>
          <a:xfrm>
            <a:off x="7244605" y="4067170"/>
            <a:ext cx="1195784" cy="554181"/>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رابط مستقيم 33"/>
          <p:cNvCxnSpPr>
            <a:stCxn id="9" idx="3"/>
            <a:endCxn id="26" idx="1"/>
          </p:cNvCxnSpPr>
          <p:nvPr/>
        </p:nvCxnSpPr>
        <p:spPr>
          <a:xfrm flipV="1">
            <a:off x="3662428" y="2064325"/>
            <a:ext cx="74604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رابط بشكل مرفق 36"/>
          <p:cNvCxnSpPr/>
          <p:nvPr/>
        </p:nvCxnSpPr>
        <p:spPr>
          <a:xfrm>
            <a:off x="4800742" y="2064325"/>
            <a:ext cx="708952" cy="16902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9" name="رابط بشكل مرفق 38"/>
          <p:cNvCxnSpPr>
            <a:stCxn id="27" idx="3"/>
          </p:cNvCxnSpPr>
          <p:nvPr/>
        </p:nvCxnSpPr>
        <p:spPr>
          <a:xfrm flipV="1">
            <a:off x="4787205" y="2568197"/>
            <a:ext cx="745577" cy="249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2" name="رابط بشكل مرفق 41"/>
          <p:cNvCxnSpPr>
            <a:stCxn id="27" idx="1"/>
            <a:endCxn id="11" idx="3"/>
          </p:cNvCxnSpPr>
          <p:nvPr/>
        </p:nvCxnSpPr>
        <p:spPr>
          <a:xfrm rot="10800000" flipV="1">
            <a:off x="3710464" y="2570688"/>
            <a:ext cx="709136" cy="88766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4" name="رابط بشكل مرفق 43"/>
          <p:cNvCxnSpPr>
            <a:stCxn id="11" idx="2"/>
            <a:endCxn id="28" idx="1"/>
          </p:cNvCxnSpPr>
          <p:nvPr/>
        </p:nvCxnSpPr>
        <p:spPr>
          <a:xfrm rot="16200000" flipH="1">
            <a:off x="3510242" y="3449369"/>
            <a:ext cx="612102" cy="129508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6" name="رابط بشكل مرفق 45"/>
          <p:cNvCxnSpPr>
            <a:stCxn id="28" idx="3"/>
          </p:cNvCxnSpPr>
          <p:nvPr/>
        </p:nvCxnSpPr>
        <p:spPr>
          <a:xfrm flipV="1">
            <a:off x="4831443" y="4394724"/>
            <a:ext cx="701339" cy="824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9" name="رابط بشكل مرفق 48"/>
          <p:cNvCxnSpPr>
            <a:endCxn id="29" idx="3"/>
          </p:cNvCxnSpPr>
          <p:nvPr/>
        </p:nvCxnSpPr>
        <p:spPr>
          <a:xfrm rot="10800000" flipV="1">
            <a:off x="4844676" y="4718699"/>
            <a:ext cx="671865" cy="19867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52" name="رابط بشكل مرفق 51"/>
          <p:cNvCxnSpPr>
            <a:stCxn id="29" idx="1"/>
            <a:endCxn id="6" idx="3"/>
          </p:cNvCxnSpPr>
          <p:nvPr/>
        </p:nvCxnSpPr>
        <p:spPr>
          <a:xfrm rot="10800000">
            <a:off x="3662428" y="4913271"/>
            <a:ext cx="814642" cy="410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5" name="رابط بشكل مرفق 64"/>
          <p:cNvCxnSpPr>
            <a:stCxn id="13" idx="6"/>
            <a:endCxn id="9" idx="0"/>
          </p:cNvCxnSpPr>
          <p:nvPr/>
        </p:nvCxnSpPr>
        <p:spPr>
          <a:xfrm>
            <a:off x="1992484" y="1058039"/>
            <a:ext cx="1128229" cy="67377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7" name="رابط مستقيم 66"/>
          <p:cNvCxnSpPr>
            <a:stCxn id="14" idx="6"/>
            <a:endCxn id="14" idx="6"/>
          </p:cNvCxnSpPr>
          <p:nvPr/>
        </p:nvCxnSpPr>
        <p:spPr>
          <a:xfrm>
            <a:off x="2006021" y="1662545"/>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رابط بشكل مرفق 68"/>
          <p:cNvCxnSpPr>
            <a:stCxn id="14" idx="6"/>
            <a:endCxn id="9" idx="1"/>
          </p:cNvCxnSpPr>
          <p:nvPr/>
        </p:nvCxnSpPr>
        <p:spPr>
          <a:xfrm>
            <a:off x="2006021" y="1662545"/>
            <a:ext cx="572976" cy="40178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1" name="رابط بشكل مرفق 70"/>
          <p:cNvCxnSpPr>
            <a:stCxn id="15" idx="6"/>
            <a:endCxn id="9" idx="2"/>
          </p:cNvCxnSpPr>
          <p:nvPr/>
        </p:nvCxnSpPr>
        <p:spPr>
          <a:xfrm>
            <a:off x="2024929" y="2267051"/>
            <a:ext cx="1095784" cy="129784"/>
          </a:xfrm>
          <a:prstGeom prst="bentConnector4">
            <a:avLst>
              <a:gd name="adj1" fmla="val 25282"/>
              <a:gd name="adj2" fmla="val 276139"/>
            </a:avLst>
          </a:prstGeom>
        </p:spPr>
        <p:style>
          <a:lnRef idx="1">
            <a:schemeClr val="accent1"/>
          </a:lnRef>
          <a:fillRef idx="0">
            <a:schemeClr val="accent1"/>
          </a:fillRef>
          <a:effectRef idx="0">
            <a:schemeClr val="accent1"/>
          </a:effectRef>
          <a:fontRef idx="minor">
            <a:schemeClr val="tx1"/>
          </a:fontRef>
        </p:style>
      </p:cxnSp>
      <p:cxnSp>
        <p:nvCxnSpPr>
          <p:cNvPr id="73" name="رابط بشكل مرفق 72"/>
          <p:cNvCxnSpPr>
            <a:stCxn id="16" idx="6"/>
            <a:endCxn id="11" idx="0"/>
          </p:cNvCxnSpPr>
          <p:nvPr/>
        </p:nvCxnSpPr>
        <p:spPr>
          <a:xfrm>
            <a:off x="1962705" y="3125844"/>
            <a:ext cx="1206044" cy="1270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7" name="رابط بشكل مرفق 76"/>
          <p:cNvCxnSpPr>
            <a:stCxn id="17" idx="6"/>
            <a:endCxn id="11" idx="1"/>
          </p:cNvCxnSpPr>
          <p:nvPr/>
        </p:nvCxnSpPr>
        <p:spPr>
          <a:xfrm flipV="1">
            <a:off x="1976242" y="3458354"/>
            <a:ext cx="650791" cy="27199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9" name="رابط بشكل مرفق 78"/>
          <p:cNvCxnSpPr>
            <a:stCxn id="30" idx="6"/>
          </p:cNvCxnSpPr>
          <p:nvPr/>
        </p:nvCxnSpPr>
        <p:spPr>
          <a:xfrm flipV="1">
            <a:off x="2024929" y="3680028"/>
            <a:ext cx="602104" cy="65816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2" name="رابط بشكل مرفق 81"/>
          <p:cNvCxnSpPr>
            <a:stCxn id="19" idx="6"/>
            <a:endCxn id="6" idx="1"/>
          </p:cNvCxnSpPr>
          <p:nvPr/>
        </p:nvCxnSpPr>
        <p:spPr>
          <a:xfrm flipV="1">
            <a:off x="1992484" y="4913270"/>
            <a:ext cx="586513" cy="10168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84" name="رابط بشكل مرفق 83"/>
          <p:cNvCxnSpPr>
            <a:stCxn id="20" idx="6"/>
            <a:endCxn id="6" idx="2"/>
          </p:cNvCxnSpPr>
          <p:nvPr/>
        </p:nvCxnSpPr>
        <p:spPr>
          <a:xfrm flipV="1">
            <a:off x="2006021" y="5245779"/>
            <a:ext cx="1114692" cy="37367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6" name="رابط بشكل مرفق 85"/>
          <p:cNvCxnSpPr>
            <a:stCxn id="24" idx="2"/>
          </p:cNvCxnSpPr>
          <p:nvPr/>
        </p:nvCxnSpPr>
        <p:spPr>
          <a:xfrm rot="10800000" flipV="1">
            <a:off x="6593126" y="2171455"/>
            <a:ext cx="641527" cy="13543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88" name="رابط بشكل مرفق 87"/>
          <p:cNvCxnSpPr>
            <a:stCxn id="25" idx="2"/>
          </p:cNvCxnSpPr>
          <p:nvPr/>
        </p:nvCxnSpPr>
        <p:spPr>
          <a:xfrm rot="10800000">
            <a:off x="6586435" y="2568197"/>
            <a:ext cx="661754" cy="20776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0" name="رابط بشكل مرفق 89"/>
          <p:cNvCxnSpPr/>
          <p:nvPr/>
        </p:nvCxnSpPr>
        <p:spPr>
          <a:xfrm rot="10800000" flipV="1">
            <a:off x="6624666" y="4394723"/>
            <a:ext cx="609986" cy="8241"/>
          </a:xfrm>
          <a:prstGeom prst="bentConnector3">
            <a:avLst>
              <a:gd name="adj1" fmla="val 106782"/>
            </a:avLst>
          </a:prstGeom>
        </p:spPr>
        <p:style>
          <a:lnRef idx="1">
            <a:schemeClr val="accent1"/>
          </a:lnRef>
          <a:fillRef idx="0">
            <a:schemeClr val="accent1"/>
          </a:fillRef>
          <a:effectRef idx="0">
            <a:schemeClr val="accent1"/>
          </a:effectRef>
          <a:fontRef idx="minor">
            <a:schemeClr val="tx1"/>
          </a:fontRef>
        </p:style>
      </p:cxnSp>
      <p:cxnSp>
        <p:nvCxnSpPr>
          <p:cNvPr id="93" name="رابط بشكل مرفق 92"/>
          <p:cNvCxnSpPr>
            <a:stCxn id="31" idx="2"/>
            <a:endCxn id="12" idx="3"/>
          </p:cNvCxnSpPr>
          <p:nvPr/>
        </p:nvCxnSpPr>
        <p:spPr>
          <a:xfrm rot="10800000">
            <a:off x="6593125" y="4580761"/>
            <a:ext cx="650425" cy="518533"/>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7" name="مربع نص 106"/>
          <p:cNvSpPr txBox="1"/>
          <p:nvPr/>
        </p:nvSpPr>
        <p:spPr>
          <a:xfrm>
            <a:off x="1138015" y="2084930"/>
            <a:ext cx="506870" cy="369332"/>
          </a:xfrm>
          <a:prstGeom prst="rect">
            <a:avLst/>
          </a:prstGeom>
          <a:noFill/>
        </p:spPr>
        <p:txBody>
          <a:bodyPr wrap="none" rtlCol="0">
            <a:spAutoFit/>
          </a:bodyPr>
          <a:lstStyle/>
          <a:p>
            <a:r>
              <a:rPr lang="en-US" dirty="0"/>
              <a:t>t-id</a:t>
            </a:r>
          </a:p>
        </p:txBody>
      </p:sp>
      <p:sp>
        <p:nvSpPr>
          <p:cNvPr id="109" name="مربع نص 108"/>
          <p:cNvSpPr txBox="1"/>
          <p:nvPr/>
        </p:nvSpPr>
        <p:spPr>
          <a:xfrm>
            <a:off x="1006527" y="3535739"/>
            <a:ext cx="814647" cy="369332"/>
          </a:xfrm>
          <a:prstGeom prst="rect">
            <a:avLst/>
          </a:prstGeom>
          <a:noFill/>
        </p:spPr>
        <p:txBody>
          <a:bodyPr wrap="none" rtlCol="0">
            <a:spAutoFit/>
          </a:bodyPr>
          <a:lstStyle/>
          <a:p>
            <a:r>
              <a:rPr lang="en-US" dirty="0" err="1"/>
              <a:t>cname</a:t>
            </a:r>
            <a:endParaRPr lang="en-US" dirty="0"/>
          </a:p>
        </p:txBody>
      </p:sp>
      <p:sp>
        <p:nvSpPr>
          <p:cNvPr id="110" name="مستطيل 109"/>
          <p:cNvSpPr/>
          <p:nvPr/>
        </p:nvSpPr>
        <p:spPr>
          <a:xfrm>
            <a:off x="1144485" y="4150189"/>
            <a:ext cx="506870" cy="369332"/>
          </a:xfrm>
          <a:prstGeom prst="rect">
            <a:avLst/>
          </a:prstGeom>
        </p:spPr>
        <p:txBody>
          <a:bodyPr wrap="none">
            <a:spAutoFit/>
          </a:bodyPr>
          <a:lstStyle/>
          <a:p>
            <a:r>
              <a:rPr lang="en-US" dirty="0"/>
              <a:t>t-id</a:t>
            </a:r>
          </a:p>
        </p:txBody>
      </p:sp>
      <p:sp>
        <p:nvSpPr>
          <p:cNvPr id="111" name="مستطيل 110"/>
          <p:cNvSpPr/>
          <p:nvPr/>
        </p:nvSpPr>
        <p:spPr>
          <a:xfrm>
            <a:off x="2723474" y="1873309"/>
            <a:ext cx="711413" cy="369332"/>
          </a:xfrm>
          <a:prstGeom prst="rect">
            <a:avLst/>
          </a:prstGeom>
        </p:spPr>
        <p:txBody>
          <a:bodyPr wrap="none">
            <a:spAutoFit/>
          </a:bodyPr>
          <a:lstStyle/>
          <a:p>
            <a:r>
              <a:rPr lang="en-US" dirty="0"/>
              <a:t>office</a:t>
            </a:r>
          </a:p>
        </p:txBody>
      </p:sp>
      <p:sp>
        <p:nvSpPr>
          <p:cNvPr id="112" name="مستطيل 111"/>
          <p:cNvSpPr/>
          <p:nvPr/>
        </p:nvSpPr>
        <p:spPr>
          <a:xfrm>
            <a:off x="2698046" y="3286386"/>
            <a:ext cx="805542" cy="369332"/>
          </a:xfrm>
          <a:prstGeom prst="rect">
            <a:avLst/>
          </a:prstGeom>
        </p:spPr>
        <p:txBody>
          <a:bodyPr wrap="none">
            <a:spAutoFit/>
          </a:bodyPr>
          <a:lstStyle/>
          <a:p>
            <a:r>
              <a:rPr lang="en-US" dirty="0"/>
              <a:t>course</a:t>
            </a:r>
          </a:p>
        </p:txBody>
      </p:sp>
      <p:sp>
        <p:nvSpPr>
          <p:cNvPr id="113" name="مستطيل 112"/>
          <p:cNvSpPr/>
          <p:nvPr/>
        </p:nvSpPr>
        <p:spPr>
          <a:xfrm>
            <a:off x="5606254" y="2248638"/>
            <a:ext cx="900311" cy="369332"/>
          </a:xfrm>
          <a:prstGeom prst="rect">
            <a:avLst/>
          </a:prstGeom>
        </p:spPr>
        <p:txBody>
          <a:bodyPr wrap="none">
            <a:spAutoFit/>
          </a:bodyPr>
          <a:lstStyle/>
          <a:p>
            <a:r>
              <a:rPr lang="en-US" dirty="0"/>
              <a:t>teacher</a:t>
            </a:r>
          </a:p>
        </p:txBody>
      </p:sp>
      <p:sp>
        <p:nvSpPr>
          <p:cNvPr id="114" name="مستطيل 113"/>
          <p:cNvSpPr/>
          <p:nvPr/>
        </p:nvSpPr>
        <p:spPr>
          <a:xfrm>
            <a:off x="5633349" y="4402965"/>
            <a:ext cx="963212" cy="369332"/>
          </a:xfrm>
          <a:prstGeom prst="rect">
            <a:avLst/>
          </a:prstGeom>
        </p:spPr>
        <p:txBody>
          <a:bodyPr wrap="none">
            <a:spAutoFit/>
          </a:bodyPr>
          <a:lstStyle/>
          <a:p>
            <a:r>
              <a:rPr lang="en-US" dirty="0"/>
              <a:t>enrolled</a:t>
            </a:r>
          </a:p>
        </p:txBody>
      </p:sp>
      <p:sp>
        <p:nvSpPr>
          <p:cNvPr id="115" name="مستطيل 114"/>
          <p:cNvSpPr/>
          <p:nvPr/>
        </p:nvSpPr>
        <p:spPr>
          <a:xfrm>
            <a:off x="2698046" y="4737861"/>
            <a:ext cx="904543" cy="369332"/>
          </a:xfrm>
          <a:prstGeom prst="rect">
            <a:avLst/>
          </a:prstGeom>
        </p:spPr>
        <p:txBody>
          <a:bodyPr wrap="none">
            <a:spAutoFit/>
          </a:bodyPr>
          <a:lstStyle/>
          <a:p>
            <a:r>
              <a:rPr lang="en-US" dirty="0"/>
              <a:t>student</a:t>
            </a:r>
          </a:p>
        </p:txBody>
      </p:sp>
      <p:sp>
        <p:nvSpPr>
          <p:cNvPr id="116" name="مستطيل 115"/>
          <p:cNvSpPr/>
          <p:nvPr/>
        </p:nvSpPr>
        <p:spPr>
          <a:xfrm>
            <a:off x="977358" y="4838134"/>
            <a:ext cx="814647" cy="369332"/>
          </a:xfrm>
          <a:prstGeom prst="rect">
            <a:avLst/>
          </a:prstGeom>
        </p:spPr>
        <p:txBody>
          <a:bodyPr wrap="none">
            <a:spAutoFit/>
          </a:bodyPr>
          <a:lstStyle/>
          <a:p>
            <a:r>
              <a:rPr lang="en-US" dirty="0" err="1"/>
              <a:t>sname</a:t>
            </a:r>
            <a:endParaRPr lang="en-US" dirty="0"/>
          </a:p>
        </p:txBody>
      </p:sp>
      <p:sp>
        <p:nvSpPr>
          <p:cNvPr id="117" name="مستطيل 116"/>
          <p:cNvSpPr/>
          <p:nvPr/>
        </p:nvSpPr>
        <p:spPr>
          <a:xfrm>
            <a:off x="1116695" y="5434792"/>
            <a:ext cx="519694" cy="369332"/>
          </a:xfrm>
          <a:prstGeom prst="rect">
            <a:avLst/>
          </a:prstGeom>
        </p:spPr>
        <p:txBody>
          <a:bodyPr wrap="none">
            <a:spAutoFit/>
          </a:bodyPr>
          <a:lstStyle/>
          <a:p>
            <a:r>
              <a:rPr lang="en-US" u="sng" dirty="0"/>
              <a:t>s-id</a:t>
            </a:r>
          </a:p>
        </p:txBody>
      </p:sp>
      <p:sp>
        <p:nvSpPr>
          <p:cNvPr id="118" name="مستطيل 117"/>
          <p:cNvSpPr/>
          <p:nvPr/>
        </p:nvSpPr>
        <p:spPr>
          <a:xfrm>
            <a:off x="7514670" y="1969397"/>
            <a:ext cx="527709" cy="369332"/>
          </a:xfrm>
          <a:prstGeom prst="rect">
            <a:avLst/>
          </a:prstGeom>
        </p:spPr>
        <p:txBody>
          <a:bodyPr wrap="none">
            <a:spAutoFit/>
          </a:bodyPr>
          <a:lstStyle/>
          <a:p>
            <a:r>
              <a:rPr lang="en-US" u="sng" dirty="0" err="1"/>
              <a:t>i_id</a:t>
            </a:r>
            <a:endParaRPr lang="en-US" u="sng" dirty="0"/>
          </a:p>
        </p:txBody>
      </p:sp>
      <p:sp>
        <p:nvSpPr>
          <p:cNvPr id="119" name="مستطيل 118"/>
          <p:cNvSpPr/>
          <p:nvPr/>
        </p:nvSpPr>
        <p:spPr>
          <a:xfrm>
            <a:off x="7404824" y="2565146"/>
            <a:ext cx="793807" cy="369332"/>
          </a:xfrm>
          <a:prstGeom prst="rect">
            <a:avLst/>
          </a:prstGeom>
        </p:spPr>
        <p:txBody>
          <a:bodyPr wrap="none">
            <a:spAutoFit/>
          </a:bodyPr>
          <a:lstStyle/>
          <a:p>
            <a:r>
              <a:rPr lang="en-US" dirty="0" err="1"/>
              <a:t>tname</a:t>
            </a:r>
            <a:endParaRPr lang="en-US" dirty="0"/>
          </a:p>
        </p:txBody>
      </p:sp>
      <p:sp>
        <p:nvSpPr>
          <p:cNvPr id="120" name="مستطيل 119"/>
          <p:cNvSpPr/>
          <p:nvPr/>
        </p:nvSpPr>
        <p:spPr>
          <a:xfrm>
            <a:off x="7517125" y="4185280"/>
            <a:ext cx="804812" cy="369332"/>
          </a:xfrm>
          <a:prstGeom prst="rect">
            <a:avLst/>
          </a:prstGeom>
        </p:spPr>
        <p:txBody>
          <a:bodyPr wrap="square">
            <a:spAutoFit/>
          </a:bodyPr>
          <a:lstStyle/>
          <a:p>
            <a:r>
              <a:rPr lang="en-US" dirty="0" err="1"/>
              <a:t>c_id</a:t>
            </a:r>
            <a:endParaRPr lang="en-US" dirty="0"/>
          </a:p>
        </p:txBody>
      </p:sp>
      <p:sp>
        <p:nvSpPr>
          <p:cNvPr id="121" name="مستطيل 120"/>
          <p:cNvSpPr/>
          <p:nvPr/>
        </p:nvSpPr>
        <p:spPr>
          <a:xfrm>
            <a:off x="7533144" y="4921542"/>
            <a:ext cx="564578" cy="369332"/>
          </a:xfrm>
          <a:prstGeom prst="rect">
            <a:avLst/>
          </a:prstGeom>
        </p:spPr>
        <p:txBody>
          <a:bodyPr wrap="none">
            <a:spAutoFit/>
          </a:bodyPr>
          <a:lstStyle/>
          <a:p>
            <a:r>
              <a:rPr lang="en-US" dirty="0" err="1"/>
              <a:t>s_id</a:t>
            </a:r>
            <a:endParaRPr lang="en-US" dirty="0"/>
          </a:p>
        </p:txBody>
      </p:sp>
      <p:sp>
        <p:nvSpPr>
          <p:cNvPr id="122" name="مستطيل 121"/>
          <p:cNvSpPr/>
          <p:nvPr/>
        </p:nvSpPr>
        <p:spPr>
          <a:xfrm>
            <a:off x="683032" y="5915145"/>
            <a:ext cx="1303883" cy="369332"/>
          </a:xfrm>
          <a:prstGeom prst="rect">
            <a:avLst/>
          </a:prstGeom>
        </p:spPr>
        <p:txBody>
          <a:bodyPr wrap="none">
            <a:spAutoFit/>
          </a:bodyPr>
          <a:lstStyle/>
          <a:p>
            <a:r>
              <a:rPr lang="en-US" dirty="0">
                <a:solidFill>
                  <a:srgbClr val="FF0000"/>
                </a:solidFill>
              </a:rPr>
              <a:t>Primary Key</a:t>
            </a:r>
          </a:p>
        </p:txBody>
      </p:sp>
      <p:sp>
        <p:nvSpPr>
          <p:cNvPr id="124" name="مستطيل 123"/>
          <p:cNvSpPr/>
          <p:nvPr/>
        </p:nvSpPr>
        <p:spPr>
          <a:xfrm>
            <a:off x="3674794" y="3148141"/>
            <a:ext cx="381836" cy="369332"/>
          </a:xfrm>
          <a:prstGeom prst="rect">
            <a:avLst/>
          </a:prstGeom>
        </p:spPr>
        <p:txBody>
          <a:bodyPr wrap="none">
            <a:spAutoFit/>
          </a:bodyPr>
          <a:lstStyle/>
          <a:p>
            <a:r>
              <a:rPr lang="en-US" dirty="0"/>
              <a:t>M</a:t>
            </a:r>
          </a:p>
        </p:txBody>
      </p:sp>
      <p:sp>
        <p:nvSpPr>
          <p:cNvPr id="125" name="مستطيل 124"/>
          <p:cNvSpPr/>
          <p:nvPr/>
        </p:nvSpPr>
        <p:spPr>
          <a:xfrm>
            <a:off x="5183462" y="4074043"/>
            <a:ext cx="381836" cy="369332"/>
          </a:xfrm>
          <a:prstGeom prst="rect">
            <a:avLst/>
          </a:prstGeom>
        </p:spPr>
        <p:txBody>
          <a:bodyPr wrap="none">
            <a:spAutoFit/>
          </a:bodyPr>
          <a:lstStyle/>
          <a:p>
            <a:r>
              <a:rPr lang="en-US" dirty="0"/>
              <a:t>M</a:t>
            </a:r>
          </a:p>
        </p:txBody>
      </p:sp>
      <p:sp>
        <p:nvSpPr>
          <p:cNvPr id="126" name="مستطيل 125"/>
          <p:cNvSpPr/>
          <p:nvPr/>
        </p:nvSpPr>
        <p:spPr>
          <a:xfrm>
            <a:off x="5170906" y="4728603"/>
            <a:ext cx="381836" cy="369332"/>
          </a:xfrm>
          <a:prstGeom prst="rect">
            <a:avLst/>
          </a:prstGeom>
        </p:spPr>
        <p:txBody>
          <a:bodyPr wrap="none">
            <a:spAutoFit/>
          </a:bodyPr>
          <a:lstStyle/>
          <a:p>
            <a:r>
              <a:rPr lang="en-US" dirty="0"/>
              <a:t>M</a:t>
            </a:r>
          </a:p>
        </p:txBody>
      </p:sp>
      <p:sp>
        <p:nvSpPr>
          <p:cNvPr id="127" name="مستطيل 126"/>
          <p:cNvSpPr/>
          <p:nvPr/>
        </p:nvSpPr>
        <p:spPr>
          <a:xfrm>
            <a:off x="5127858" y="1924073"/>
            <a:ext cx="301686" cy="369332"/>
          </a:xfrm>
          <a:prstGeom prst="rect">
            <a:avLst/>
          </a:prstGeom>
        </p:spPr>
        <p:txBody>
          <a:bodyPr wrap="none">
            <a:spAutoFit/>
          </a:bodyPr>
          <a:lstStyle/>
          <a:p>
            <a:r>
              <a:rPr lang="en-US" dirty="0"/>
              <a:t>1</a:t>
            </a:r>
          </a:p>
        </p:txBody>
      </p:sp>
      <p:sp>
        <p:nvSpPr>
          <p:cNvPr id="128" name="مستطيل 127"/>
          <p:cNvSpPr/>
          <p:nvPr/>
        </p:nvSpPr>
        <p:spPr>
          <a:xfrm>
            <a:off x="5210981" y="2576141"/>
            <a:ext cx="301686" cy="369332"/>
          </a:xfrm>
          <a:prstGeom prst="rect">
            <a:avLst/>
          </a:prstGeom>
        </p:spPr>
        <p:txBody>
          <a:bodyPr wrap="none">
            <a:spAutoFit/>
          </a:bodyPr>
          <a:lstStyle/>
          <a:p>
            <a:r>
              <a:rPr lang="en-US" dirty="0"/>
              <a:t>1</a:t>
            </a:r>
          </a:p>
        </p:txBody>
      </p:sp>
      <p:sp>
        <p:nvSpPr>
          <p:cNvPr id="129" name="مستطيل 128"/>
          <p:cNvSpPr/>
          <p:nvPr/>
        </p:nvSpPr>
        <p:spPr>
          <a:xfrm>
            <a:off x="3163509" y="3791128"/>
            <a:ext cx="301686" cy="369332"/>
          </a:xfrm>
          <a:prstGeom prst="rect">
            <a:avLst/>
          </a:prstGeom>
        </p:spPr>
        <p:txBody>
          <a:bodyPr wrap="none">
            <a:spAutoFit/>
          </a:bodyPr>
          <a:lstStyle/>
          <a:p>
            <a:r>
              <a:rPr lang="en-US" dirty="0"/>
              <a:t>1</a:t>
            </a:r>
          </a:p>
        </p:txBody>
      </p:sp>
      <p:sp>
        <p:nvSpPr>
          <p:cNvPr id="130" name="مستطيل 129"/>
          <p:cNvSpPr/>
          <p:nvPr/>
        </p:nvSpPr>
        <p:spPr>
          <a:xfrm>
            <a:off x="3643758" y="4933878"/>
            <a:ext cx="301686" cy="369332"/>
          </a:xfrm>
          <a:prstGeom prst="rect">
            <a:avLst/>
          </a:prstGeom>
        </p:spPr>
        <p:txBody>
          <a:bodyPr wrap="none">
            <a:spAutoFit/>
          </a:bodyPr>
          <a:lstStyle/>
          <a:p>
            <a:r>
              <a:rPr lang="en-US" dirty="0"/>
              <a:t>1</a:t>
            </a:r>
          </a:p>
        </p:txBody>
      </p:sp>
      <p:sp>
        <p:nvSpPr>
          <p:cNvPr id="131" name="مستطيل 130"/>
          <p:cNvSpPr/>
          <p:nvPr/>
        </p:nvSpPr>
        <p:spPr>
          <a:xfrm>
            <a:off x="3721118" y="1761537"/>
            <a:ext cx="381836" cy="369332"/>
          </a:xfrm>
          <a:prstGeom prst="rect">
            <a:avLst/>
          </a:prstGeom>
        </p:spPr>
        <p:txBody>
          <a:bodyPr wrap="none">
            <a:spAutoFit/>
          </a:bodyPr>
          <a:lstStyle/>
          <a:p>
            <a:r>
              <a:rPr lang="en-US" dirty="0"/>
              <a:t>M</a:t>
            </a:r>
          </a:p>
        </p:txBody>
      </p:sp>
      <p:sp>
        <p:nvSpPr>
          <p:cNvPr id="132" name="مستطيل 131"/>
          <p:cNvSpPr/>
          <p:nvPr/>
        </p:nvSpPr>
        <p:spPr>
          <a:xfrm>
            <a:off x="7163491" y="5474316"/>
            <a:ext cx="1244956" cy="369332"/>
          </a:xfrm>
          <a:prstGeom prst="rect">
            <a:avLst/>
          </a:prstGeom>
        </p:spPr>
        <p:txBody>
          <a:bodyPr wrap="none">
            <a:spAutoFit/>
          </a:bodyPr>
          <a:lstStyle/>
          <a:p>
            <a:r>
              <a:rPr lang="en-US" dirty="0">
                <a:solidFill>
                  <a:srgbClr val="FF0000"/>
                </a:solidFill>
              </a:rPr>
              <a:t>foreign Key</a:t>
            </a:r>
          </a:p>
        </p:txBody>
      </p:sp>
      <p:sp>
        <p:nvSpPr>
          <p:cNvPr id="133" name="مستطيل 132"/>
          <p:cNvSpPr/>
          <p:nvPr/>
        </p:nvSpPr>
        <p:spPr>
          <a:xfrm>
            <a:off x="5587768" y="4964111"/>
            <a:ext cx="679610" cy="369332"/>
          </a:xfrm>
          <a:prstGeom prst="rect">
            <a:avLst/>
          </a:prstGeom>
        </p:spPr>
        <p:txBody>
          <a:bodyPr wrap="none">
            <a:spAutoFit/>
          </a:bodyPr>
          <a:lstStyle/>
          <a:p>
            <a:r>
              <a:rPr lang="en-US" dirty="0">
                <a:solidFill>
                  <a:srgbClr val="FF0000"/>
                </a:solidFill>
              </a:rPr>
              <a:t>Table</a:t>
            </a:r>
          </a:p>
        </p:txBody>
      </p:sp>
      <p:sp>
        <p:nvSpPr>
          <p:cNvPr id="134" name="مستطيل 133"/>
          <p:cNvSpPr/>
          <p:nvPr/>
        </p:nvSpPr>
        <p:spPr>
          <a:xfrm>
            <a:off x="4008930" y="1438610"/>
            <a:ext cx="1342291" cy="369332"/>
          </a:xfrm>
          <a:prstGeom prst="rect">
            <a:avLst/>
          </a:prstGeom>
        </p:spPr>
        <p:txBody>
          <a:bodyPr wrap="none">
            <a:spAutoFit/>
          </a:bodyPr>
          <a:lstStyle/>
          <a:p>
            <a:r>
              <a:rPr lang="en-US" dirty="0">
                <a:solidFill>
                  <a:srgbClr val="FF0000"/>
                </a:solidFill>
              </a:rPr>
              <a:t>Relationship</a:t>
            </a:r>
          </a:p>
        </p:txBody>
      </p:sp>
    </p:spTree>
    <p:extLst>
      <p:ext uri="{BB962C8B-B14F-4D97-AF65-F5344CB8AC3E}">
        <p14:creationId xmlns:p14="http://schemas.microsoft.com/office/powerpoint/2010/main" val="48181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1179</TotalTime>
  <Words>2448</Words>
  <Application>Microsoft Office PowerPoint</Application>
  <PresentationFormat>عرض على الشاشة (4:3)</PresentationFormat>
  <Paragraphs>475</Paragraphs>
  <Slides>78</Slides>
  <Notes>0</Notes>
  <HiddenSlides>0</HiddenSlides>
  <MMClips>0</MMClips>
  <ScaleCrop>false</ScaleCrop>
  <HeadingPairs>
    <vt:vector size="4" baseType="variant">
      <vt:variant>
        <vt:lpstr>نسق</vt:lpstr>
      </vt:variant>
      <vt:variant>
        <vt:i4>1</vt:i4>
      </vt:variant>
      <vt:variant>
        <vt:lpstr>عناوين الشرائح</vt:lpstr>
      </vt:variant>
      <vt:variant>
        <vt:i4>78</vt:i4>
      </vt:variant>
    </vt:vector>
  </HeadingPairs>
  <TitlesOfParts>
    <vt:vector size="79"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Eman Bani Issa</dc:creator>
  <cp:keywords/>
  <dc:description>generated using python-pptx</dc:description>
  <cp:lastModifiedBy>Eqbal Jafar</cp:lastModifiedBy>
  <cp:revision>98</cp:revision>
  <dcterms:created xsi:type="dcterms:W3CDTF">2013-01-27T09:14:16Z</dcterms:created>
  <dcterms:modified xsi:type="dcterms:W3CDTF">2025-10-25T20:36:18Z</dcterms:modified>
  <cp:category/>
</cp:coreProperties>
</file>