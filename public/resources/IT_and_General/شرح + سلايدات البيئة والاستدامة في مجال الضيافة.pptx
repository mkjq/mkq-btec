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7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8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9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50"/>
  </p:notesMasterIdLst>
  <p:sldIdLst>
    <p:sldId id="256" r:id="rId14"/>
    <p:sldId id="257" r:id="rId15"/>
    <p:sldId id="258" r:id="rId16"/>
    <p:sldId id="310" r:id="rId17"/>
    <p:sldId id="305" r:id="rId18"/>
    <p:sldId id="329" r:id="rId19"/>
    <p:sldId id="338" r:id="rId20"/>
    <p:sldId id="313" r:id="rId21"/>
    <p:sldId id="332" r:id="rId22"/>
    <p:sldId id="314" r:id="rId23"/>
    <p:sldId id="315" r:id="rId24"/>
    <p:sldId id="316" r:id="rId25"/>
    <p:sldId id="334" r:id="rId26"/>
    <p:sldId id="328" r:id="rId27"/>
    <p:sldId id="317" r:id="rId28"/>
    <p:sldId id="318" r:id="rId29"/>
    <p:sldId id="339" r:id="rId30"/>
    <p:sldId id="333" r:id="rId31"/>
    <p:sldId id="311" r:id="rId32"/>
    <p:sldId id="307" r:id="rId33"/>
    <p:sldId id="327" r:id="rId34"/>
    <p:sldId id="335" r:id="rId35"/>
    <p:sldId id="319" r:id="rId36"/>
    <p:sldId id="336" r:id="rId37"/>
    <p:sldId id="320" r:id="rId38"/>
    <p:sldId id="330" r:id="rId39"/>
    <p:sldId id="312" r:id="rId40"/>
    <p:sldId id="309" r:id="rId41"/>
    <p:sldId id="321" r:id="rId42"/>
    <p:sldId id="322" r:id="rId43"/>
    <p:sldId id="323" r:id="rId44"/>
    <p:sldId id="324" r:id="rId45"/>
    <p:sldId id="337" r:id="rId46"/>
    <p:sldId id="325" r:id="rId47"/>
    <p:sldId id="326" r:id="rId48"/>
    <p:sldId id="340" r:id="rId49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8D5D00-3F2F-0131-525B-24CB79D66227}" name="Joyce Harvey" initials="JH" userId="S::joycepearson1_outlook.com#ext#@pearsoneducationinc.onmicrosoft.com::beef3d41-7225-40aa-af17-6d336c6d5d2b" providerId="AD"/>
  <p188:author id="{531F32EF-B7AB-FD12-ECD3-DD5955CD0FA8}" name="Andrew Bodmer" initials="AB" userId="e78b4f3cb0d7499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09651-3E71-44C6-BD36-758FEA8255C1}" v="38" dt="2024-09-10T15:19:36.424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16" autoAdjust="0"/>
    <p:restoredTop sz="88397" autoAdjust="0"/>
  </p:normalViewPr>
  <p:slideViewPr>
    <p:cSldViewPr>
      <p:cViewPr varScale="1">
        <p:scale>
          <a:sx n="139" d="100"/>
          <a:sy n="139" d="100"/>
        </p:scale>
        <p:origin x="2766" y="11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viewProps" Target="viewProps.xml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E0C09651-3E71-44C6-BD36-758FEA8255C1}"/>
    <pc:docChg chg="modSld">
      <pc:chgData name="Paul Winser" userId="c3146a91-e6bd-4264-bd86-e164e04bc32d" providerId="ADAL" clId="{E0C09651-3E71-44C6-BD36-758FEA8255C1}" dt="2024-09-10T15:19:36.424" v="42"/>
      <pc:docMkLst>
        <pc:docMk/>
      </pc:docMkLst>
      <pc:sldChg chg="addSp modSp mod">
        <pc:chgData name="Paul Winser" userId="c3146a91-e6bd-4264-bd86-e164e04bc32d" providerId="ADAL" clId="{E0C09651-3E71-44C6-BD36-758FEA8255C1}" dt="2024-09-10T15:18:42.905" v="4" actId="20577"/>
        <pc:sldMkLst>
          <pc:docMk/>
          <pc:sldMk cId="0" sldId="256"/>
        </pc:sldMkLst>
        <pc:spChg chg="add mod">
          <ac:chgData name="Paul Winser" userId="c3146a91-e6bd-4264-bd86-e164e04bc32d" providerId="ADAL" clId="{E0C09651-3E71-44C6-BD36-758FEA8255C1}" dt="2024-09-10T15:18:42.905" v="4" actId="20577"/>
          <ac:spMkLst>
            <pc:docMk/>
            <pc:sldMk cId="0" sldId="256"/>
            <ac:spMk id="2" creationId="{CAA94B14-53ED-50E6-D1D2-5AB62DB00B94}"/>
          </ac:spMkLst>
        </pc:spChg>
      </pc:sldChg>
      <pc:sldChg chg="addSp modSp">
        <pc:chgData name="Paul Winser" userId="c3146a91-e6bd-4264-bd86-e164e04bc32d" providerId="ADAL" clId="{E0C09651-3E71-44C6-BD36-758FEA8255C1}" dt="2024-09-10T15:18:46.935" v="5"/>
        <pc:sldMkLst>
          <pc:docMk/>
          <pc:sldMk cId="0" sldId="257"/>
        </pc:sldMkLst>
        <pc:spChg chg="add mod">
          <ac:chgData name="Paul Winser" userId="c3146a91-e6bd-4264-bd86-e164e04bc32d" providerId="ADAL" clId="{E0C09651-3E71-44C6-BD36-758FEA8255C1}" dt="2024-09-10T15:18:46.935" v="5"/>
          <ac:spMkLst>
            <pc:docMk/>
            <pc:sldMk cId="0" sldId="257"/>
            <ac:spMk id="2" creationId="{9A5A7426-3AA4-A69D-8736-EC11F8BC9CE6}"/>
          </ac:spMkLst>
        </pc:spChg>
      </pc:sldChg>
      <pc:sldChg chg="addSp modSp">
        <pc:chgData name="Paul Winser" userId="c3146a91-e6bd-4264-bd86-e164e04bc32d" providerId="ADAL" clId="{E0C09651-3E71-44C6-BD36-758FEA8255C1}" dt="2024-09-10T15:18:48.097" v="6"/>
        <pc:sldMkLst>
          <pc:docMk/>
          <pc:sldMk cId="0" sldId="258"/>
        </pc:sldMkLst>
        <pc:spChg chg="add mod">
          <ac:chgData name="Paul Winser" userId="c3146a91-e6bd-4264-bd86-e164e04bc32d" providerId="ADAL" clId="{E0C09651-3E71-44C6-BD36-758FEA8255C1}" dt="2024-09-10T15:18:48.097" v="6"/>
          <ac:spMkLst>
            <pc:docMk/>
            <pc:sldMk cId="0" sldId="258"/>
            <ac:spMk id="3" creationId="{0E8C8D47-9BF7-53F9-ADD9-5BBC4405D4DB}"/>
          </ac:spMkLst>
        </pc:spChg>
      </pc:sldChg>
      <pc:sldChg chg="addSp modSp">
        <pc:chgData name="Paul Winser" userId="c3146a91-e6bd-4264-bd86-e164e04bc32d" providerId="ADAL" clId="{E0C09651-3E71-44C6-BD36-758FEA8255C1}" dt="2024-09-10T15:18:51.269" v="8"/>
        <pc:sldMkLst>
          <pc:docMk/>
          <pc:sldMk cId="884549766" sldId="305"/>
        </pc:sldMkLst>
        <pc:spChg chg="add mod">
          <ac:chgData name="Paul Winser" userId="c3146a91-e6bd-4264-bd86-e164e04bc32d" providerId="ADAL" clId="{E0C09651-3E71-44C6-BD36-758FEA8255C1}" dt="2024-09-10T15:18:51.269" v="8"/>
          <ac:spMkLst>
            <pc:docMk/>
            <pc:sldMk cId="884549766" sldId="305"/>
            <ac:spMk id="7" creationId="{017E323E-703D-46A5-D773-C00D07F89ECA}"/>
          </ac:spMkLst>
        </pc:spChg>
      </pc:sldChg>
      <pc:sldChg chg="addSp modSp">
        <pc:chgData name="Paul Winser" userId="c3146a91-e6bd-4264-bd86-e164e04bc32d" providerId="ADAL" clId="{E0C09651-3E71-44C6-BD36-758FEA8255C1}" dt="2024-09-10T15:19:12.884" v="24"/>
        <pc:sldMkLst>
          <pc:docMk/>
          <pc:sldMk cId="3621417310" sldId="307"/>
        </pc:sldMkLst>
        <pc:spChg chg="add mod">
          <ac:chgData name="Paul Winser" userId="c3146a91-e6bd-4264-bd86-e164e04bc32d" providerId="ADAL" clId="{E0C09651-3E71-44C6-BD36-758FEA8255C1}" dt="2024-09-10T15:19:12.884" v="24"/>
          <ac:spMkLst>
            <pc:docMk/>
            <pc:sldMk cId="3621417310" sldId="307"/>
            <ac:spMk id="9" creationId="{DAF07EAC-A6A0-64AF-AAA0-1FED84EDACC2}"/>
          </ac:spMkLst>
        </pc:spChg>
      </pc:sldChg>
      <pc:sldChg chg="addSp modSp">
        <pc:chgData name="Paul Winser" userId="c3146a91-e6bd-4264-bd86-e164e04bc32d" providerId="ADAL" clId="{E0C09651-3E71-44C6-BD36-758FEA8255C1}" dt="2024-09-10T15:19:26.125" v="34"/>
        <pc:sldMkLst>
          <pc:docMk/>
          <pc:sldMk cId="47175209" sldId="309"/>
        </pc:sldMkLst>
        <pc:spChg chg="add mod">
          <ac:chgData name="Paul Winser" userId="c3146a91-e6bd-4264-bd86-e164e04bc32d" providerId="ADAL" clId="{E0C09651-3E71-44C6-BD36-758FEA8255C1}" dt="2024-09-10T15:19:26.125" v="34"/>
          <ac:spMkLst>
            <pc:docMk/>
            <pc:sldMk cId="47175209" sldId="309"/>
            <ac:spMk id="16" creationId="{7BCCFFC4-8676-9CB3-7DE3-D93C9301EB74}"/>
          </ac:spMkLst>
        </pc:spChg>
      </pc:sldChg>
      <pc:sldChg chg="addSp modSp">
        <pc:chgData name="Paul Winser" userId="c3146a91-e6bd-4264-bd86-e164e04bc32d" providerId="ADAL" clId="{E0C09651-3E71-44C6-BD36-758FEA8255C1}" dt="2024-09-10T15:18:49.575" v="7"/>
        <pc:sldMkLst>
          <pc:docMk/>
          <pc:sldMk cId="190181986" sldId="310"/>
        </pc:sldMkLst>
        <pc:spChg chg="add mod">
          <ac:chgData name="Paul Winser" userId="c3146a91-e6bd-4264-bd86-e164e04bc32d" providerId="ADAL" clId="{E0C09651-3E71-44C6-BD36-758FEA8255C1}" dt="2024-09-10T15:18:49.575" v="7"/>
          <ac:spMkLst>
            <pc:docMk/>
            <pc:sldMk cId="190181986" sldId="310"/>
            <ac:spMk id="2" creationId="{79928DF4-0988-A53B-C35B-F7BCDFEAA5ED}"/>
          </ac:spMkLst>
        </pc:spChg>
      </pc:sldChg>
      <pc:sldChg chg="addSp modSp">
        <pc:chgData name="Paul Winser" userId="c3146a91-e6bd-4264-bd86-e164e04bc32d" providerId="ADAL" clId="{E0C09651-3E71-44C6-BD36-758FEA8255C1}" dt="2024-09-10T15:19:11.563" v="23"/>
        <pc:sldMkLst>
          <pc:docMk/>
          <pc:sldMk cId="2951234326" sldId="311"/>
        </pc:sldMkLst>
        <pc:spChg chg="add mod">
          <ac:chgData name="Paul Winser" userId="c3146a91-e6bd-4264-bd86-e164e04bc32d" providerId="ADAL" clId="{E0C09651-3E71-44C6-BD36-758FEA8255C1}" dt="2024-09-10T15:19:11.563" v="23"/>
          <ac:spMkLst>
            <pc:docMk/>
            <pc:sldMk cId="2951234326" sldId="311"/>
            <ac:spMk id="9" creationId="{63FFA61B-E98B-5F42-2A66-FB85A02DC933}"/>
          </ac:spMkLst>
        </pc:spChg>
      </pc:sldChg>
      <pc:sldChg chg="addSp modSp">
        <pc:chgData name="Paul Winser" userId="c3146a91-e6bd-4264-bd86-e164e04bc32d" providerId="ADAL" clId="{E0C09651-3E71-44C6-BD36-758FEA8255C1}" dt="2024-09-10T15:19:24.959" v="33"/>
        <pc:sldMkLst>
          <pc:docMk/>
          <pc:sldMk cId="2662291374" sldId="312"/>
        </pc:sldMkLst>
        <pc:spChg chg="add mod">
          <ac:chgData name="Paul Winser" userId="c3146a91-e6bd-4264-bd86-e164e04bc32d" providerId="ADAL" clId="{E0C09651-3E71-44C6-BD36-758FEA8255C1}" dt="2024-09-10T15:19:24.959" v="33"/>
          <ac:spMkLst>
            <pc:docMk/>
            <pc:sldMk cId="2662291374" sldId="312"/>
            <ac:spMk id="9" creationId="{5C5A3740-E058-FA1B-F282-15ECA35111B8}"/>
          </ac:spMkLst>
        </pc:spChg>
      </pc:sldChg>
      <pc:sldChg chg="addSp modSp">
        <pc:chgData name="Paul Winser" userId="c3146a91-e6bd-4264-bd86-e164e04bc32d" providerId="ADAL" clId="{E0C09651-3E71-44C6-BD36-758FEA8255C1}" dt="2024-09-10T15:18:55.064" v="11"/>
        <pc:sldMkLst>
          <pc:docMk/>
          <pc:sldMk cId="711836556" sldId="313"/>
        </pc:sldMkLst>
        <pc:spChg chg="add mod">
          <ac:chgData name="Paul Winser" userId="c3146a91-e6bd-4264-bd86-e164e04bc32d" providerId="ADAL" clId="{E0C09651-3E71-44C6-BD36-758FEA8255C1}" dt="2024-09-10T15:18:55.064" v="11"/>
          <ac:spMkLst>
            <pc:docMk/>
            <pc:sldMk cId="711836556" sldId="313"/>
            <ac:spMk id="2" creationId="{F73DB052-40AE-1084-0F3C-BC6DD7451504}"/>
          </ac:spMkLst>
        </pc:spChg>
      </pc:sldChg>
      <pc:sldChg chg="addSp modSp">
        <pc:chgData name="Paul Winser" userId="c3146a91-e6bd-4264-bd86-e164e04bc32d" providerId="ADAL" clId="{E0C09651-3E71-44C6-BD36-758FEA8255C1}" dt="2024-09-10T15:18:59.727" v="14"/>
        <pc:sldMkLst>
          <pc:docMk/>
          <pc:sldMk cId="3150691501" sldId="314"/>
        </pc:sldMkLst>
        <pc:spChg chg="add mod">
          <ac:chgData name="Paul Winser" userId="c3146a91-e6bd-4264-bd86-e164e04bc32d" providerId="ADAL" clId="{E0C09651-3E71-44C6-BD36-758FEA8255C1}" dt="2024-09-10T15:18:59.727" v="14"/>
          <ac:spMkLst>
            <pc:docMk/>
            <pc:sldMk cId="3150691501" sldId="314"/>
            <ac:spMk id="11" creationId="{899C7636-3ED5-A223-FC1C-CA046357B59C}"/>
          </ac:spMkLst>
        </pc:spChg>
      </pc:sldChg>
      <pc:sldChg chg="addSp modSp">
        <pc:chgData name="Paul Winser" userId="c3146a91-e6bd-4264-bd86-e164e04bc32d" providerId="ADAL" clId="{E0C09651-3E71-44C6-BD36-758FEA8255C1}" dt="2024-09-10T15:19:01.759" v="15"/>
        <pc:sldMkLst>
          <pc:docMk/>
          <pc:sldMk cId="2849904884" sldId="315"/>
        </pc:sldMkLst>
        <pc:spChg chg="add mod">
          <ac:chgData name="Paul Winser" userId="c3146a91-e6bd-4264-bd86-e164e04bc32d" providerId="ADAL" clId="{E0C09651-3E71-44C6-BD36-758FEA8255C1}" dt="2024-09-10T15:19:01.759" v="15"/>
          <ac:spMkLst>
            <pc:docMk/>
            <pc:sldMk cId="2849904884" sldId="315"/>
            <ac:spMk id="10" creationId="{0A343649-897B-9F88-B23E-DBC9C93B3DBD}"/>
          </ac:spMkLst>
        </pc:spChg>
      </pc:sldChg>
      <pc:sldChg chg="addSp modSp">
        <pc:chgData name="Paul Winser" userId="c3146a91-e6bd-4264-bd86-e164e04bc32d" providerId="ADAL" clId="{E0C09651-3E71-44C6-BD36-758FEA8255C1}" dt="2024-09-10T15:19:03.084" v="16"/>
        <pc:sldMkLst>
          <pc:docMk/>
          <pc:sldMk cId="3450474075" sldId="316"/>
        </pc:sldMkLst>
        <pc:spChg chg="add mod">
          <ac:chgData name="Paul Winser" userId="c3146a91-e6bd-4264-bd86-e164e04bc32d" providerId="ADAL" clId="{E0C09651-3E71-44C6-BD36-758FEA8255C1}" dt="2024-09-10T15:19:03.084" v="16"/>
          <ac:spMkLst>
            <pc:docMk/>
            <pc:sldMk cId="3450474075" sldId="316"/>
            <ac:spMk id="6" creationId="{C3C9301F-1DD6-489E-5F42-398953704A06}"/>
          </ac:spMkLst>
        </pc:spChg>
      </pc:sldChg>
      <pc:sldChg chg="addSp modSp">
        <pc:chgData name="Paul Winser" userId="c3146a91-e6bd-4264-bd86-e164e04bc32d" providerId="ADAL" clId="{E0C09651-3E71-44C6-BD36-758FEA8255C1}" dt="2024-09-10T15:19:07.031" v="19"/>
        <pc:sldMkLst>
          <pc:docMk/>
          <pc:sldMk cId="3399125572" sldId="317"/>
        </pc:sldMkLst>
        <pc:spChg chg="add mod">
          <ac:chgData name="Paul Winser" userId="c3146a91-e6bd-4264-bd86-e164e04bc32d" providerId="ADAL" clId="{E0C09651-3E71-44C6-BD36-758FEA8255C1}" dt="2024-09-10T15:19:07.031" v="19"/>
          <ac:spMkLst>
            <pc:docMk/>
            <pc:sldMk cId="3399125572" sldId="317"/>
            <ac:spMk id="2" creationId="{E3B40CC6-00CE-327F-4B7B-8B5185E1B06C}"/>
          </ac:spMkLst>
        </pc:spChg>
      </pc:sldChg>
      <pc:sldChg chg="addSp modSp">
        <pc:chgData name="Paul Winser" userId="c3146a91-e6bd-4264-bd86-e164e04bc32d" providerId="ADAL" clId="{E0C09651-3E71-44C6-BD36-758FEA8255C1}" dt="2024-09-10T15:19:08.180" v="20"/>
        <pc:sldMkLst>
          <pc:docMk/>
          <pc:sldMk cId="3486012474" sldId="318"/>
        </pc:sldMkLst>
        <pc:spChg chg="add mod">
          <ac:chgData name="Paul Winser" userId="c3146a91-e6bd-4264-bd86-e164e04bc32d" providerId="ADAL" clId="{E0C09651-3E71-44C6-BD36-758FEA8255C1}" dt="2024-09-10T15:19:08.180" v="20"/>
          <ac:spMkLst>
            <pc:docMk/>
            <pc:sldMk cId="3486012474" sldId="318"/>
            <ac:spMk id="2" creationId="{4563462F-FA8E-C58D-F560-5EBB4D28EC7F}"/>
          </ac:spMkLst>
        </pc:spChg>
      </pc:sldChg>
      <pc:sldChg chg="addSp modSp">
        <pc:chgData name="Paul Winser" userId="c3146a91-e6bd-4264-bd86-e164e04bc32d" providerId="ADAL" clId="{E0C09651-3E71-44C6-BD36-758FEA8255C1}" dt="2024-09-10T15:19:20.083" v="29"/>
        <pc:sldMkLst>
          <pc:docMk/>
          <pc:sldMk cId="1074025325" sldId="319"/>
        </pc:sldMkLst>
        <pc:spChg chg="add mod">
          <ac:chgData name="Paul Winser" userId="c3146a91-e6bd-4264-bd86-e164e04bc32d" providerId="ADAL" clId="{E0C09651-3E71-44C6-BD36-758FEA8255C1}" dt="2024-09-10T15:19:20.083" v="29"/>
          <ac:spMkLst>
            <pc:docMk/>
            <pc:sldMk cId="1074025325" sldId="319"/>
            <ac:spMk id="2" creationId="{C38B8196-490E-CA45-0116-E64ADAB22128}"/>
          </ac:spMkLst>
        </pc:spChg>
      </pc:sldChg>
      <pc:sldChg chg="addSp modSp">
        <pc:chgData name="Paul Winser" userId="c3146a91-e6bd-4264-bd86-e164e04bc32d" providerId="ADAL" clId="{E0C09651-3E71-44C6-BD36-758FEA8255C1}" dt="2024-09-10T15:19:22.518" v="31"/>
        <pc:sldMkLst>
          <pc:docMk/>
          <pc:sldMk cId="1355191785" sldId="320"/>
        </pc:sldMkLst>
        <pc:spChg chg="add mod">
          <ac:chgData name="Paul Winser" userId="c3146a91-e6bd-4264-bd86-e164e04bc32d" providerId="ADAL" clId="{E0C09651-3E71-44C6-BD36-758FEA8255C1}" dt="2024-09-10T15:19:22.518" v="31"/>
          <ac:spMkLst>
            <pc:docMk/>
            <pc:sldMk cId="1355191785" sldId="320"/>
            <ac:spMk id="5" creationId="{BAECF06B-CB27-21A2-3796-3B79B528F6EA}"/>
          </ac:spMkLst>
        </pc:spChg>
      </pc:sldChg>
      <pc:sldChg chg="addSp modSp">
        <pc:chgData name="Paul Winser" userId="c3146a91-e6bd-4264-bd86-e164e04bc32d" providerId="ADAL" clId="{E0C09651-3E71-44C6-BD36-758FEA8255C1}" dt="2024-09-10T15:19:27.349" v="35"/>
        <pc:sldMkLst>
          <pc:docMk/>
          <pc:sldMk cId="1787771112" sldId="321"/>
        </pc:sldMkLst>
        <pc:spChg chg="add mod">
          <ac:chgData name="Paul Winser" userId="c3146a91-e6bd-4264-bd86-e164e04bc32d" providerId="ADAL" clId="{E0C09651-3E71-44C6-BD36-758FEA8255C1}" dt="2024-09-10T15:19:27.349" v="35"/>
          <ac:spMkLst>
            <pc:docMk/>
            <pc:sldMk cId="1787771112" sldId="321"/>
            <ac:spMk id="10" creationId="{A8168A0E-07FC-5CA8-EBB8-03EA90359781}"/>
          </ac:spMkLst>
        </pc:spChg>
      </pc:sldChg>
      <pc:sldChg chg="addSp modSp">
        <pc:chgData name="Paul Winser" userId="c3146a91-e6bd-4264-bd86-e164e04bc32d" providerId="ADAL" clId="{E0C09651-3E71-44C6-BD36-758FEA8255C1}" dt="2024-09-10T15:19:28.528" v="36"/>
        <pc:sldMkLst>
          <pc:docMk/>
          <pc:sldMk cId="280378815" sldId="322"/>
        </pc:sldMkLst>
        <pc:spChg chg="add mod">
          <ac:chgData name="Paul Winser" userId="c3146a91-e6bd-4264-bd86-e164e04bc32d" providerId="ADAL" clId="{E0C09651-3E71-44C6-BD36-758FEA8255C1}" dt="2024-09-10T15:19:28.528" v="36"/>
          <ac:spMkLst>
            <pc:docMk/>
            <pc:sldMk cId="280378815" sldId="322"/>
            <ac:spMk id="21" creationId="{6DA03E77-B0D4-06B9-089B-641C8B3960FB}"/>
          </ac:spMkLst>
        </pc:spChg>
      </pc:sldChg>
      <pc:sldChg chg="addSp modSp">
        <pc:chgData name="Paul Winser" userId="c3146a91-e6bd-4264-bd86-e164e04bc32d" providerId="ADAL" clId="{E0C09651-3E71-44C6-BD36-758FEA8255C1}" dt="2024-09-10T15:19:29.767" v="37"/>
        <pc:sldMkLst>
          <pc:docMk/>
          <pc:sldMk cId="1575440415" sldId="323"/>
        </pc:sldMkLst>
        <pc:spChg chg="add mod">
          <ac:chgData name="Paul Winser" userId="c3146a91-e6bd-4264-bd86-e164e04bc32d" providerId="ADAL" clId="{E0C09651-3E71-44C6-BD36-758FEA8255C1}" dt="2024-09-10T15:19:29.767" v="37"/>
          <ac:spMkLst>
            <pc:docMk/>
            <pc:sldMk cId="1575440415" sldId="323"/>
            <ac:spMk id="2" creationId="{7F51C160-DDE0-A3FF-AF60-91A57D52F29B}"/>
          </ac:spMkLst>
        </pc:spChg>
      </pc:sldChg>
      <pc:sldChg chg="addSp modSp">
        <pc:chgData name="Paul Winser" userId="c3146a91-e6bd-4264-bd86-e164e04bc32d" providerId="ADAL" clId="{E0C09651-3E71-44C6-BD36-758FEA8255C1}" dt="2024-09-10T15:19:31.025" v="38"/>
        <pc:sldMkLst>
          <pc:docMk/>
          <pc:sldMk cId="3023964794" sldId="324"/>
        </pc:sldMkLst>
        <pc:spChg chg="add mod">
          <ac:chgData name="Paul Winser" userId="c3146a91-e6bd-4264-bd86-e164e04bc32d" providerId="ADAL" clId="{E0C09651-3E71-44C6-BD36-758FEA8255C1}" dt="2024-09-10T15:19:31.025" v="38"/>
          <ac:spMkLst>
            <pc:docMk/>
            <pc:sldMk cId="3023964794" sldId="324"/>
            <ac:spMk id="2" creationId="{7AD380E5-F7A7-D44C-EC51-41C592823A3F}"/>
          </ac:spMkLst>
        </pc:spChg>
      </pc:sldChg>
      <pc:sldChg chg="addSp modSp">
        <pc:chgData name="Paul Winser" userId="c3146a91-e6bd-4264-bd86-e164e04bc32d" providerId="ADAL" clId="{E0C09651-3E71-44C6-BD36-758FEA8255C1}" dt="2024-09-10T15:19:33.762" v="40"/>
        <pc:sldMkLst>
          <pc:docMk/>
          <pc:sldMk cId="2745300724" sldId="325"/>
        </pc:sldMkLst>
        <pc:spChg chg="add mod">
          <ac:chgData name="Paul Winser" userId="c3146a91-e6bd-4264-bd86-e164e04bc32d" providerId="ADAL" clId="{E0C09651-3E71-44C6-BD36-758FEA8255C1}" dt="2024-09-10T15:19:33.762" v="40"/>
          <ac:spMkLst>
            <pc:docMk/>
            <pc:sldMk cId="2745300724" sldId="325"/>
            <ac:spMk id="5" creationId="{8168C020-5F44-8B34-FEA7-8EC05B03C126}"/>
          </ac:spMkLst>
        </pc:spChg>
      </pc:sldChg>
      <pc:sldChg chg="addSp modSp">
        <pc:chgData name="Paul Winser" userId="c3146a91-e6bd-4264-bd86-e164e04bc32d" providerId="ADAL" clId="{E0C09651-3E71-44C6-BD36-758FEA8255C1}" dt="2024-09-10T15:19:35.166" v="41"/>
        <pc:sldMkLst>
          <pc:docMk/>
          <pc:sldMk cId="1078207531" sldId="326"/>
        </pc:sldMkLst>
        <pc:spChg chg="add mod">
          <ac:chgData name="Paul Winser" userId="c3146a91-e6bd-4264-bd86-e164e04bc32d" providerId="ADAL" clId="{E0C09651-3E71-44C6-BD36-758FEA8255C1}" dt="2024-09-10T15:19:35.166" v="41"/>
          <ac:spMkLst>
            <pc:docMk/>
            <pc:sldMk cId="1078207531" sldId="326"/>
            <ac:spMk id="16" creationId="{938DE209-429D-7AA7-C42C-B2172C9B6BF6}"/>
          </ac:spMkLst>
        </pc:spChg>
      </pc:sldChg>
      <pc:sldChg chg="addSp modSp mod">
        <pc:chgData name="Paul Winser" userId="c3146a91-e6bd-4264-bd86-e164e04bc32d" providerId="ADAL" clId="{E0C09651-3E71-44C6-BD36-758FEA8255C1}" dt="2024-09-10T15:19:17.127" v="27"/>
        <pc:sldMkLst>
          <pc:docMk/>
          <pc:sldMk cId="2892408912" sldId="327"/>
        </pc:sldMkLst>
        <pc:spChg chg="add mod">
          <ac:chgData name="Paul Winser" userId="c3146a91-e6bd-4264-bd86-e164e04bc32d" providerId="ADAL" clId="{E0C09651-3E71-44C6-BD36-758FEA8255C1}" dt="2024-09-10T15:19:17.127" v="27"/>
          <ac:spMkLst>
            <pc:docMk/>
            <pc:sldMk cId="2892408912" sldId="327"/>
            <ac:spMk id="2" creationId="{AF60D8BA-9636-9A24-41B9-1979C961411C}"/>
          </ac:spMkLst>
        </pc:spChg>
        <pc:picChg chg="mod">
          <ac:chgData name="Paul Winser" userId="c3146a91-e6bd-4264-bd86-e164e04bc32d" providerId="ADAL" clId="{E0C09651-3E71-44C6-BD36-758FEA8255C1}" dt="2024-09-10T15:19:16.688" v="26" actId="1076"/>
          <ac:picMkLst>
            <pc:docMk/>
            <pc:sldMk cId="2892408912" sldId="327"/>
            <ac:picMk id="5" creationId="{B6FB6C4B-0355-3BC7-B4FF-2CE675A84806}"/>
          </ac:picMkLst>
        </pc:picChg>
      </pc:sldChg>
      <pc:sldChg chg="addSp modSp">
        <pc:chgData name="Paul Winser" userId="c3146a91-e6bd-4264-bd86-e164e04bc32d" providerId="ADAL" clId="{E0C09651-3E71-44C6-BD36-758FEA8255C1}" dt="2024-09-10T15:19:05.647" v="18"/>
        <pc:sldMkLst>
          <pc:docMk/>
          <pc:sldMk cId="424312025" sldId="328"/>
        </pc:sldMkLst>
        <pc:spChg chg="add mod">
          <ac:chgData name="Paul Winser" userId="c3146a91-e6bd-4264-bd86-e164e04bc32d" providerId="ADAL" clId="{E0C09651-3E71-44C6-BD36-758FEA8255C1}" dt="2024-09-10T15:19:05.647" v="18"/>
          <ac:spMkLst>
            <pc:docMk/>
            <pc:sldMk cId="424312025" sldId="328"/>
            <ac:spMk id="17" creationId="{8F9C068C-A140-69B7-867F-AC8B558FB3FF}"/>
          </ac:spMkLst>
        </pc:spChg>
      </pc:sldChg>
      <pc:sldChg chg="addSp modSp">
        <pc:chgData name="Paul Winser" userId="c3146a91-e6bd-4264-bd86-e164e04bc32d" providerId="ADAL" clId="{E0C09651-3E71-44C6-BD36-758FEA8255C1}" dt="2024-09-10T15:18:52.631" v="9"/>
        <pc:sldMkLst>
          <pc:docMk/>
          <pc:sldMk cId="1389257183" sldId="329"/>
        </pc:sldMkLst>
        <pc:spChg chg="add mod">
          <ac:chgData name="Paul Winser" userId="c3146a91-e6bd-4264-bd86-e164e04bc32d" providerId="ADAL" clId="{E0C09651-3E71-44C6-BD36-758FEA8255C1}" dt="2024-09-10T15:18:52.631" v="9"/>
          <ac:spMkLst>
            <pc:docMk/>
            <pc:sldMk cId="1389257183" sldId="329"/>
            <ac:spMk id="15" creationId="{07B0FA83-72C5-9622-D288-536EA7A81FD0}"/>
          </ac:spMkLst>
        </pc:spChg>
      </pc:sldChg>
      <pc:sldChg chg="addSp modSp">
        <pc:chgData name="Paul Winser" userId="c3146a91-e6bd-4264-bd86-e164e04bc32d" providerId="ADAL" clId="{E0C09651-3E71-44C6-BD36-758FEA8255C1}" dt="2024-09-10T15:19:23.637" v="32"/>
        <pc:sldMkLst>
          <pc:docMk/>
          <pc:sldMk cId="3629757623" sldId="330"/>
        </pc:sldMkLst>
        <pc:spChg chg="add mod">
          <ac:chgData name="Paul Winser" userId="c3146a91-e6bd-4264-bd86-e164e04bc32d" providerId="ADAL" clId="{E0C09651-3E71-44C6-BD36-758FEA8255C1}" dt="2024-09-10T15:19:23.637" v="32"/>
          <ac:spMkLst>
            <pc:docMk/>
            <pc:sldMk cId="3629757623" sldId="330"/>
            <ac:spMk id="2" creationId="{5484C229-57B3-7236-D5D7-7FCA3B5D43C5}"/>
          </ac:spMkLst>
        </pc:spChg>
      </pc:sldChg>
      <pc:sldChg chg="addSp modSp">
        <pc:chgData name="Paul Winser" userId="c3146a91-e6bd-4264-bd86-e164e04bc32d" providerId="ADAL" clId="{E0C09651-3E71-44C6-BD36-758FEA8255C1}" dt="2024-09-10T15:18:57.318" v="13"/>
        <pc:sldMkLst>
          <pc:docMk/>
          <pc:sldMk cId="2638823423" sldId="332"/>
        </pc:sldMkLst>
        <pc:spChg chg="add mod">
          <ac:chgData name="Paul Winser" userId="c3146a91-e6bd-4264-bd86-e164e04bc32d" providerId="ADAL" clId="{E0C09651-3E71-44C6-BD36-758FEA8255C1}" dt="2024-09-10T15:18:56.200" v="12"/>
          <ac:spMkLst>
            <pc:docMk/>
            <pc:sldMk cId="2638823423" sldId="332"/>
            <ac:spMk id="2" creationId="{5C484B36-FCC1-D46B-D6E6-3F576E9B6A23}"/>
          </ac:spMkLst>
        </pc:spChg>
        <pc:spChg chg="add mod">
          <ac:chgData name="Paul Winser" userId="c3146a91-e6bd-4264-bd86-e164e04bc32d" providerId="ADAL" clId="{E0C09651-3E71-44C6-BD36-758FEA8255C1}" dt="2024-09-10T15:18:57.318" v="13"/>
          <ac:spMkLst>
            <pc:docMk/>
            <pc:sldMk cId="2638823423" sldId="332"/>
            <ac:spMk id="3" creationId="{5518D941-55D0-9E6A-5108-53D79B555EF3}"/>
          </ac:spMkLst>
        </pc:spChg>
      </pc:sldChg>
      <pc:sldChg chg="addSp modSp">
        <pc:chgData name="Paul Winser" userId="c3146a91-e6bd-4264-bd86-e164e04bc32d" providerId="ADAL" clId="{E0C09651-3E71-44C6-BD36-758FEA8255C1}" dt="2024-09-10T15:19:10.352" v="22"/>
        <pc:sldMkLst>
          <pc:docMk/>
          <pc:sldMk cId="570481235" sldId="333"/>
        </pc:sldMkLst>
        <pc:spChg chg="add mod">
          <ac:chgData name="Paul Winser" userId="c3146a91-e6bd-4264-bd86-e164e04bc32d" providerId="ADAL" clId="{E0C09651-3E71-44C6-BD36-758FEA8255C1}" dt="2024-09-10T15:19:10.352" v="22"/>
          <ac:spMkLst>
            <pc:docMk/>
            <pc:sldMk cId="570481235" sldId="333"/>
            <ac:spMk id="21" creationId="{6D4F8F18-49FA-E640-63A9-5A929459393E}"/>
          </ac:spMkLst>
        </pc:spChg>
      </pc:sldChg>
      <pc:sldChg chg="addSp modSp">
        <pc:chgData name="Paul Winser" userId="c3146a91-e6bd-4264-bd86-e164e04bc32d" providerId="ADAL" clId="{E0C09651-3E71-44C6-BD36-758FEA8255C1}" dt="2024-09-10T15:19:04.452" v="17"/>
        <pc:sldMkLst>
          <pc:docMk/>
          <pc:sldMk cId="3165405533" sldId="334"/>
        </pc:sldMkLst>
        <pc:spChg chg="add mod">
          <ac:chgData name="Paul Winser" userId="c3146a91-e6bd-4264-bd86-e164e04bc32d" providerId="ADAL" clId="{E0C09651-3E71-44C6-BD36-758FEA8255C1}" dt="2024-09-10T15:19:04.452" v="17"/>
          <ac:spMkLst>
            <pc:docMk/>
            <pc:sldMk cId="3165405533" sldId="334"/>
            <ac:spMk id="11" creationId="{46097C9F-CB97-3F2B-7D14-634A7D8AE8CD}"/>
          </ac:spMkLst>
        </pc:spChg>
      </pc:sldChg>
      <pc:sldChg chg="addSp modSp">
        <pc:chgData name="Paul Winser" userId="c3146a91-e6bd-4264-bd86-e164e04bc32d" providerId="ADAL" clId="{E0C09651-3E71-44C6-BD36-758FEA8255C1}" dt="2024-09-10T15:19:18.603" v="28"/>
        <pc:sldMkLst>
          <pc:docMk/>
          <pc:sldMk cId="4148460471" sldId="335"/>
        </pc:sldMkLst>
        <pc:spChg chg="add mod">
          <ac:chgData name="Paul Winser" userId="c3146a91-e6bd-4264-bd86-e164e04bc32d" providerId="ADAL" clId="{E0C09651-3E71-44C6-BD36-758FEA8255C1}" dt="2024-09-10T15:19:18.603" v="28"/>
          <ac:spMkLst>
            <pc:docMk/>
            <pc:sldMk cId="4148460471" sldId="335"/>
            <ac:spMk id="16" creationId="{4D32DCA1-36D0-CAE6-839F-DC89322D68B4}"/>
          </ac:spMkLst>
        </pc:spChg>
      </pc:sldChg>
      <pc:sldChg chg="addSp modSp">
        <pc:chgData name="Paul Winser" userId="c3146a91-e6bd-4264-bd86-e164e04bc32d" providerId="ADAL" clId="{E0C09651-3E71-44C6-BD36-758FEA8255C1}" dt="2024-09-10T15:19:21.342" v="30"/>
        <pc:sldMkLst>
          <pc:docMk/>
          <pc:sldMk cId="1077777284" sldId="336"/>
        </pc:sldMkLst>
        <pc:spChg chg="add mod">
          <ac:chgData name="Paul Winser" userId="c3146a91-e6bd-4264-bd86-e164e04bc32d" providerId="ADAL" clId="{E0C09651-3E71-44C6-BD36-758FEA8255C1}" dt="2024-09-10T15:19:21.342" v="30"/>
          <ac:spMkLst>
            <pc:docMk/>
            <pc:sldMk cId="1077777284" sldId="336"/>
            <ac:spMk id="10" creationId="{64BBD1DD-095A-7E85-FEFC-AB9848EA5169}"/>
          </ac:spMkLst>
        </pc:spChg>
      </pc:sldChg>
      <pc:sldChg chg="addSp modSp">
        <pc:chgData name="Paul Winser" userId="c3146a91-e6bd-4264-bd86-e164e04bc32d" providerId="ADAL" clId="{E0C09651-3E71-44C6-BD36-758FEA8255C1}" dt="2024-09-10T15:19:32.535" v="39"/>
        <pc:sldMkLst>
          <pc:docMk/>
          <pc:sldMk cId="2790681143" sldId="337"/>
        </pc:sldMkLst>
        <pc:spChg chg="add mod">
          <ac:chgData name="Paul Winser" userId="c3146a91-e6bd-4264-bd86-e164e04bc32d" providerId="ADAL" clId="{E0C09651-3E71-44C6-BD36-758FEA8255C1}" dt="2024-09-10T15:19:32.535" v="39"/>
          <ac:spMkLst>
            <pc:docMk/>
            <pc:sldMk cId="2790681143" sldId="337"/>
            <ac:spMk id="12" creationId="{33C1ADE0-DA66-5E1E-0780-DF13B56044B6}"/>
          </ac:spMkLst>
        </pc:spChg>
      </pc:sldChg>
      <pc:sldChg chg="addSp modSp">
        <pc:chgData name="Paul Winser" userId="c3146a91-e6bd-4264-bd86-e164e04bc32d" providerId="ADAL" clId="{E0C09651-3E71-44C6-BD36-758FEA8255C1}" dt="2024-09-10T15:18:53.774" v="10"/>
        <pc:sldMkLst>
          <pc:docMk/>
          <pc:sldMk cId="2255617172" sldId="338"/>
        </pc:sldMkLst>
        <pc:spChg chg="add mod">
          <ac:chgData name="Paul Winser" userId="c3146a91-e6bd-4264-bd86-e164e04bc32d" providerId="ADAL" clId="{E0C09651-3E71-44C6-BD36-758FEA8255C1}" dt="2024-09-10T15:18:53.774" v="10"/>
          <ac:spMkLst>
            <pc:docMk/>
            <pc:sldMk cId="2255617172" sldId="338"/>
            <ac:spMk id="6" creationId="{218AD922-DF14-8169-D780-0B28DF7A7353}"/>
          </ac:spMkLst>
        </pc:spChg>
      </pc:sldChg>
      <pc:sldChg chg="addSp modSp">
        <pc:chgData name="Paul Winser" userId="c3146a91-e6bd-4264-bd86-e164e04bc32d" providerId="ADAL" clId="{E0C09651-3E71-44C6-BD36-758FEA8255C1}" dt="2024-09-10T15:19:09.267" v="21"/>
        <pc:sldMkLst>
          <pc:docMk/>
          <pc:sldMk cId="1409059267" sldId="339"/>
        </pc:sldMkLst>
        <pc:spChg chg="add mod">
          <ac:chgData name="Paul Winser" userId="c3146a91-e6bd-4264-bd86-e164e04bc32d" providerId="ADAL" clId="{E0C09651-3E71-44C6-BD36-758FEA8255C1}" dt="2024-09-10T15:19:09.267" v="21"/>
          <ac:spMkLst>
            <pc:docMk/>
            <pc:sldMk cId="1409059267" sldId="339"/>
            <ac:spMk id="13" creationId="{343447AD-9AD0-22E0-3F61-641A69856D6D}"/>
          </ac:spMkLst>
        </pc:spChg>
      </pc:sldChg>
      <pc:sldChg chg="addSp modSp">
        <pc:chgData name="Paul Winser" userId="c3146a91-e6bd-4264-bd86-e164e04bc32d" providerId="ADAL" clId="{E0C09651-3E71-44C6-BD36-758FEA8255C1}" dt="2024-09-10T15:19:36.424" v="42"/>
        <pc:sldMkLst>
          <pc:docMk/>
          <pc:sldMk cId="0" sldId="340"/>
        </pc:sldMkLst>
        <pc:spChg chg="add mod">
          <ac:chgData name="Paul Winser" userId="c3146a91-e6bd-4264-bd86-e164e04bc32d" providerId="ADAL" clId="{E0C09651-3E71-44C6-BD36-758FEA8255C1}" dt="2024-09-10T15:19:36.424" v="42"/>
          <ac:spMkLst>
            <pc:docMk/>
            <pc:sldMk cId="0" sldId="340"/>
            <ac:spMk id="3" creationId="{C0384099-199B-EAC7-99A2-7F2873C23D8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09D8C6-D4C5-4C49-A847-C1A7E663F13F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ACC72F36-F854-4199-BFF4-82405330E6F9}">
      <dgm:prSet custT="1"/>
      <dgm:spPr/>
      <dgm:t>
        <a:bodyPr rtlCol="1"/>
        <a:lstStyle/>
        <a:p>
          <a:pPr rtl="1"/>
          <a:r>
            <a:rPr lang="ar" sz="34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أ </a:t>
          </a:r>
          <a:r>
            <a:rPr lang="ar" sz="3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فهم تأثير مجال الضيافة في البيئة.</a:t>
          </a:r>
          <a:endParaRPr lang="en-US" sz="34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124C55A4-FF64-4FF0-9B2C-0920D8587DD4}" type="parTrans" cxnId="{DAC8C933-F1D1-49AE-A986-0E996D0CB334}">
      <dgm:prSet/>
      <dgm:spPr/>
      <dgm:t>
        <a:bodyPr rtlCol="1"/>
        <a:lstStyle/>
        <a:p>
          <a:pPr rtl="1"/>
          <a:endParaRPr lang="en-US"/>
        </a:p>
      </dgm:t>
    </dgm:pt>
    <dgm:pt modelId="{29CB24A1-7D28-4A9D-B689-69D27D3BD230}" type="sibTrans" cxnId="{DAC8C933-F1D1-49AE-A986-0E996D0CB334}">
      <dgm:prSet/>
      <dgm:spPr/>
      <dgm:t>
        <a:bodyPr rtlCol="1"/>
        <a:lstStyle/>
        <a:p>
          <a:pPr rtl="1"/>
          <a:endParaRPr lang="en-US"/>
        </a:p>
      </dgm:t>
    </dgm:pt>
    <dgm:pt modelId="{70717F91-CF36-41CC-8EDA-9F3E8F924A69}">
      <dgm:prSet custT="1"/>
      <dgm:spPr/>
      <dgm:t>
        <a:bodyPr rtlCol="1"/>
        <a:lstStyle/>
        <a:p>
          <a:pPr rtl="1"/>
          <a:r>
            <a:rPr lang="ar" sz="34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ب</a:t>
          </a:r>
          <a:r>
            <a:rPr lang="ar" sz="3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إجراء بحث حول </a:t>
          </a:r>
          <a:r>
            <a:rPr lang="ar-JO" sz="3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قضية</a:t>
          </a:r>
          <a:r>
            <a:rPr lang="ar" sz="3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بيئية في شركة في مجال الضيافة</a:t>
          </a:r>
          <a:endParaRPr lang="en-US" sz="34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FEFACABD-EB87-4D1E-A8EE-03C915A09DA8}" type="parTrans" cxnId="{33E67352-0E76-45D1-AEF0-FAEFC73FDFEE}">
      <dgm:prSet/>
      <dgm:spPr/>
      <dgm:t>
        <a:bodyPr rtlCol="1"/>
        <a:lstStyle/>
        <a:p>
          <a:pPr rtl="1"/>
          <a:endParaRPr lang="en-US"/>
        </a:p>
      </dgm:t>
    </dgm:pt>
    <dgm:pt modelId="{79155E41-7849-4294-B529-7E03A217A1F3}" type="sibTrans" cxnId="{33E67352-0E76-45D1-AEF0-FAEFC73FDFEE}">
      <dgm:prSet/>
      <dgm:spPr/>
      <dgm:t>
        <a:bodyPr rtlCol="1"/>
        <a:lstStyle/>
        <a:p>
          <a:pPr rtl="1"/>
          <a:endParaRPr lang="en-US"/>
        </a:p>
      </dgm:t>
    </dgm:pt>
    <dgm:pt modelId="{C5F60318-8D57-4945-AEFD-8EAEC8E41C41}">
      <dgm:prSet custT="1"/>
      <dgm:spPr/>
      <dgm:t>
        <a:bodyPr rtlCol="1"/>
        <a:lstStyle/>
        <a:p>
          <a:pPr rtl="1"/>
          <a:r>
            <a:rPr lang="ar" sz="34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ج</a:t>
          </a:r>
          <a:r>
            <a:rPr lang="ar" sz="3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وضع سياسة بيئية </a:t>
          </a:r>
          <a:r>
            <a:rPr lang="ar-JO" sz="3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لأعمال</a:t>
          </a:r>
          <a:r>
            <a:rPr lang="ar" sz="3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lang="ar-JO" sz="3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</a:t>
          </a:r>
          <a:r>
            <a:rPr lang="ar" sz="3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ضيافة</a:t>
          </a:r>
          <a:endParaRPr lang="en-US" sz="34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9F598DF-27AD-4075-B539-E930B373EE65}" type="parTrans" cxnId="{87E59004-931C-42F4-B185-152E92DCAA67}">
      <dgm:prSet/>
      <dgm:spPr/>
      <dgm:t>
        <a:bodyPr rtlCol="1"/>
        <a:lstStyle/>
        <a:p>
          <a:pPr rtl="1"/>
          <a:endParaRPr lang="en-US"/>
        </a:p>
      </dgm:t>
    </dgm:pt>
    <dgm:pt modelId="{4AFC3F45-A61E-4D75-AA7D-6ED4FCC37D0C}" type="sibTrans" cxnId="{87E59004-931C-42F4-B185-152E92DCAA67}">
      <dgm:prSet/>
      <dgm:spPr/>
      <dgm:t>
        <a:bodyPr rtlCol="1"/>
        <a:lstStyle/>
        <a:p>
          <a:pPr rtl="1"/>
          <a:endParaRPr lang="en-US"/>
        </a:p>
      </dgm:t>
    </dgm:pt>
    <dgm:pt modelId="{A56D1453-9EDE-D84B-A7BD-7CAC5EA858BD}" type="pres">
      <dgm:prSet presAssocID="{8209D8C6-D4C5-4C49-A847-C1A7E663F13F}" presName="linear" presStyleCnt="0">
        <dgm:presLayoutVars>
          <dgm:animLvl val="lvl"/>
          <dgm:resizeHandles val="exact"/>
        </dgm:presLayoutVars>
      </dgm:prSet>
      <dgm:spPr/>
    </dgm:pt>
    <dgm:pt modelId="{57056BBB-49DD-8941-8D8E-9D82DF477CD0}" type="pres">
      <dgm:prSet presAssocID="{ACC72F36-F854-4199-BFF4-82405330E6F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93F361-EF57-F646-9264-9BC2A043DD22}" type="pres">
      <dgm:prSet presAssocID="{29CB24A1-7D28-4A9D-B689-69D27D3BD230}" presName="spacer" presStyleCnt="0"/>
      <dgm:spPr/>
    </dgm:pt>
    <dgm:pt modelId="{D1827656-EF55-C449-9672-F3030A737EBD}" type="pres">
      <dgm:prSet presAssocID="{70717F91-CF36-41CC-8EDA-9F3E8F924A69}" presName="parentText" presStyleLbl="node1" presStyleIdx="1" presStyleCnt="3" custLinFactNeighborY="50865">
        <dgm:presLayoutVars>
          <dgm:chMax val="0"/>
          <dgm:bulletEnabled val="1"/>
        </dgm:presLayoutVars>
      </dgm:prSet>
      <dgm:spPr/>
    </dgm:pt>
    <dgm:pt modelId="{D7D2C13A-0E3A-4247-A221-FD382F1992D4}" type="pres">
      <dgm:prSet presAssocID="{79155E41-7849-4294-B529-7E03A217A1F3}" presName="spacer" presStyleCnt="0"/>
      <dgm:spPr/>
    </dgm:pt>
    <dgm:pt modelId="{728D69C0-99E4-CB4F-80F3-8376E390E820}" type="pres">
      <dgm:prSet presAssocID="{C5F60318-8D57-4945-AEFD-8EAEC8E41C41}" presName="parentText" presStyleLbl="node1" presStyleIdx="2" presStyleCnt="3" custLinFactY="5936" custLinFactNeighborY="100000">
        <dgm:presLayoutVars>
          <dgm:chMax val="0"/>
          <dgm:bulletEnabled val="1"/>
        </dgm:presLayoutVars>
      </dgm:prSet>
      <dgm:spPr/>
    </dgm:pt>
  </dgm:ptLst>
  <dgm:cxnLst>
    <dgm:cxn modelId="{87E59004-931C-42F4-B185-152E92DCAA67}" srcId="{8209D8C6-D4C5-4C49-A847-C1A7E663F13F}" destId="{C5F60318-8D57-4945-AEFD-8EAEC8E41C41}" srcOrd="2" destOrd="0" parTransId="{A9F598DF-27AD-4075-B539-E930B373EE65}" sibTransId="{4AFC3F45-A61E-4D75-AA7D-6ED4FCC37D0C}"/>
    <dgm:cxn modelId="{9C320506-5EF6-C446-AF98-0859BDF1A5E6}" type="presOf" srcId="{ACC72F36-F854-4199-BFF4-82405330E6F9}" destId="{57056BBB-49DD-8941-8D8E-9D82DF477CD0}" srcOrd="0" destOrd="0" presId="urn:microsoft.com/office/officeart/2005/8/layout/vList2"/>
    <dgm:cxn modelId="{DAC8C933-F1D1-49AE-A986-0E996D0CB334}" srcId="{8209D8C6-D4C5-4C49-A847-C1A7E663F13F}" destId="{ACC72F36-F854-4199-BFF4-82405330E6F9}" srcOrd="0" destOrd="0" parTransId="{124C55A4-FF64-4FF0-9B2C-0920D8587DD4}" sibTransId="{29CB24A1-7D28-4A9D-B689-69D27D3BD230}"/>
    <dgm:cxn modelId="{BEC27048-7AB7-B846-B150-D9A6DCE4C806}" type="presOf" srcId="{8209D8C6-D4C5-4C49-A847-C1A7E663F13F}" destId="{A56D1453-9EDE-D84B-A7BD-7CAC5EA858BD}" srcOrd="0" destOrd="0" presId="urn:microsoft.com/office/officeart/2005/8/layout/vList2"/>
    <dgm:cxn modelId="{33E67352-0E76-45D1-AEF0-FAEFC73FDFEE}" srcId="{8209D8C6-D4C5-4C49-A847-C1A7E663F13F}" destId="{70717F91-CF36-41CC-8EDA-9F3E8F924A69}" srcOrd="1" destOrd="0" parTransId="{FEFACABD-EB87-4D1E-A8EE-03C915A09DA8}" sibTransId="{79155E41-7849-4294-B529-7E03A217A1F3}"/>
    <dgm:cxn modelId="{6A0068AA-9CAC-CA48-928F-6E834802531E}" type="presOf" srcId="{70717F91-CF36-41CC-8EDA-9F3E8F924A69}" destId="{D1827656-EF55-C449-9672-F3030A737EBD}" srcOrd="0" destOrd="0" presId="urn:microsoft.com/office/officeart/2005/8/layout/vList2"/>
    <dgm:cxn modelId="{3D0BA3EA-CDF5-1B43-9029-82105D46B83F}" type="presOf" srcId="{C5F60318-8D57-4945-AEFD-8EAEC8E41C41}" destId="{728D69C0-99E4-CB4F-80F3-8376E390E820}" srcOrd="0" destOrd="0" presId="urn:microsoft.com/office/officeart/2005/8/layout/vList2"/>
    <dgm:cxn modelId="{E12D6A95-A864-6546-B09B-BB851162ACF9}" type="presParOf" srcId="{A56D1453-9EDE-D84B-A7BD-7CAC5EA858BD}" destId="{57056BBB-49DD-8941-8D8E-9D82DF477CD0}" srcOrd="0" destOrd="0" presId="urn:microsoft.com/office/officeart/2005/8/layout/vList2"/>
    <dgm:cxn modelId="{5DAFD866-B1E3-4C42-A279-36B973A90D2A}" type="presParOf" srcId="{A56D1453-9EDE-D84B-A7BD-7CAC5EA858BD}" destId="{F093F361-EF57-F646-9264-9BC2A043DD22}" srcOrd="1" destOrd="0" presId="urn:microsoft.com/office/officeart/2005/8/layout/vList2"/>
    <dgm:cxn modelId="{D4000448-B18D-6448-872D-E54866FC74FE}" type="presParOf" srcId="{A56D1453-9EDE-D84B-A7BD-7CAC5EA858BD}" destId="{D1827656-EF55-C449-9672-F3030A737EBD}" srcOrd="2" destOrd="0" presId="urn:microsoft.com/office/officeart/2005/8/layout/vList2"/>
    <dgm:cxn modelId="{049DBF8E-6020-5F48-92CA-66BF4A027645}" type="presParOf" srcId="{A56D1453-9EDE-D84B-A7BD-7CAC5EA858BD}" destId="{D7D2C13A-0E3A-4247-A221-FD382F1992D4}" srcOrd="3" destOrd="0" presId="urn:microsoft.com/office/officeart/2005/8/layout/vList2"/>
    <dgm:cxn modelId="{922F1E4F-EB4A-0840-A482-22B8E6FE5E93}" type="presParOf" srcId="{A56D1453-9EDE-D84B-A7BD-7CAC5EA858BD}" destId="{728D69C0-99E4-CB4F-80F3-8376E390E82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AF5467-DAC2-5046-8B2F-865E77F4A1BB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58BB09D7-925D-2D46-BC61-CB472AF587D1}">
      <dgm:prSet custT="1"/>
      <dgm:spPr/>
      <dgm:t>
        <a:bodyPr rtlCol="1"/>
        <a:lstStyle/>
        <a:p>
          <a:pPr algn="ctr" rtl="1"/>
          <a:r>
            <a:rPr lang="ar" sz="1800" i="0" dirty="0">
              <a:latin typeface="Sakkal Majalla" panose="02000000000000000000" pitchFamily="2" charset="-78"/>
              <a:cs typeface="Sakkal Majalla" panose="02000000000000000000" pitchFamily="2" charset="-78"/>
            </a:rPr>
            <a:t>إمكانية تأثير خيارات العملاء على البيئة </a:t>
          </a:r>
        </a:p>
        <a:p>
          <a:pPr algn="ctr" rtl="1"/>
          <a:r>
            <a:rPr lang="ar" sz="1800" b="1" i="0" dirty="0">
              <a:latin typeface="Sakkal Majalla" panose="02000000000000000000" pitchFamily="2" charset="-78"/>
              <a:cs typeface="Sakkal Majalla" panose="02000000000000000000" pitchFamily="2" charset="-78"/>
            </a:rPr>
            <a:t>إيجابي</a:t>
          </a:r>
          <a:r>
            <a:rPr lang="ar" sz="1800" i="0" dirty="0">
              <a:latin typeface="Sakkal Majalla" panose="02000000000000000000" pitchFamily="2" charset="-78"/>
              <a:cs typeface="Sakkal Majalla" panose="02000000000000000000" pitchFamily="2" charset="-78"/>
            </a:rPr>
            <a:t>: </a:t>
          </a:r>
          <a:endParaRPr lang="en-GB" sz="1800" i="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8FCC12E6-35BD-8E40-AA74-E82C8FFE1BD2}" type="parTrans" cxnId="{D76572C7-A55B-9748-9568-82A96558F2E9}">
      <dgm:prSet/>
      <dgm:spPr/>
      <dgm:t>
        <a:bodyPr rtlCol="1"/>
        <a:lstStyle/>
        <a:p>
          <a:pPr rtl="1"/>
          <a:endParaRPr lang="en-GB"/>
        </a:p>
      </dgm:t>
    </dgm:pt>
    <dgm:pt modelId="{5429F90A-A4E2-384A-B813-6C607351186F}" type="sibTrans" cxnId="{D76572C7-A55B-9748-9568-82A96558F2E9}">
      <dgm:prSet/>
      <dgm:spPr/>
      <dgm:t>
        <a:bodyPr rtlCol="1"/>
        <a:lstStyle/>
        <a:p>
          <a:pPr rtl="1"/>
          <a:endParaRPr lang="en-GB"/>
        </a:p>
      </dgm:t>
    </dgm:pt>
    <dgm:pt modelId="{CB7585E5-F9D6-0E42-961D-38F69AC9C30A}">
      <dgm:prSet custT="1"/>
      <dgm:spPr/>
      <dgm:t>
        <a:bodyPr rtlCol="1"/>
        <a:lstStyle/>
        <a:p>
          <a:pPr algn="ctr" rtl="1"/>
          <a:r>
            <a:rPr lang="ar" sz="1800" i="0">
              <a:latin typeface="Sakkal Majalla" panose="02000000000000000000" pitchFamily="2" charset="-78"/>
              <a:cs typeface="Sakkal Majalla" panose="02000000000000000000" pitchFamily="2" charset="-78"/>
            </a:rPr>
            <a:t>من خلال زيارة العملاء لإحدى المؤسسات المستدامة، يمكنهم تخفيض بصمتهم الكربونية</a:t>
          </a:r>
          <a:endParaRPr lang="en-GB" sz="1800" i="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CBF7B7C9-7C2C-324C-90FA-BF1B143E94FB}" type="parTrans" cxnId="{6297D3B6-F689-5947-AC14-DB8748CFDEF0}">
      <dgm:prSet/>
      <dgm:spPr/>
      <dgm:t>
        <a:bodyPr rtlCol="1"/>
        <a:lstStyle/>
        <a:p>
          <a:pPr rtl="1"/>
          <a:endParaRPr lang="en-GB"/>
        </a:p>
      </dgm:t>
    </dgm:pt>
    <dgm:pt modelId="{DF1DFAFD-C517-334F-BDED-D017D85AA296}" type="sibTrans" cxnId="{6297D3B6-F689-5947-AC14-DB8748CFDEF0}">
      <dgm:prSet/>
      <dgm:spPr/>
      <dgm:t>
        <a:bodyPr rtlCol="1"/>
        <a:lstStyle/>
        <a:p>
          <a:pPr rtl="1"/>
          <a:endParaRPr lang="en-GB"/>
        </a:p>
      </dgm:t>
    </dgm:pt>
    <dgm:pt modelId="{97E58DC5-1634-BF4E-85A7-BF58FB6E84A0}">
      <dgm:prSet custT="1"/>
      <dgm:spPr/>
      <dgm:t>
        <a:bodyPr rtlCol="1"/>
        <a:lstStyle/>
        <a:p>
          <a:pPr algn="ctr" rtl="1"/>
          <a:r>
            <a:rPr lang="ar" sz="1800" i="0" dirty="0">
              <a:latin typeface="Sakkal Majalla" panose="02000000000000000000" pitchFamily="2" charset="-78"/>
              <a:cs typeface="Sakkal Majalla" panose="02000000000000000000" pitchFamily="2" charset="-78"/>
            </a:rPr>
            <a:t>قد يكون لزيادة العملاء تأثير ضار على البيئة المحلية.</a:t>
          </a:r>
          <a:endParaRPr lang="en-GB" sz="1800" i="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CB6D253-3536-074F-A508-078FC79DF969}" type="parTrans" cxnId="{60FB4E81-B5B8-CC49-8CE2-4455D5C05C5A}">
      <dgm:prSet/>
      <dgm:spPr/>
      <dgm:t>
        <a:bodyPr rtlCol="1"/>
        <a:lstStyle/>
        <a:p>
          <a:pPr rtl="1"/>
          <a:endParaRPr lang="en-GB"/>
        </a:p>
      </dgm:t>
    </dgm:pt>
    <dgm:pt modelId="{DA82A40D-0A2A-E143-95E2-F99E7C8CCFFB}" type="sibTrans" cxnId="{60FB4E81-B5B8-CC49-8CE2-4455D5C05C5A}">
      <dgm:prSet/>
      <dgm:spPr/>
      <dgm:t>
        <a:bodyPr rtlCol="1"/>
        <a:lstStyle/>
        <a:p>
          <a:pPr rtl="1"/>
          <a:endParaRPr lang="en-GB"/>
        </a:p>
      </dgm:t>
    </dgm:pt>
    <dgm:pt modelId="{03A18899-588D-9F48-8E91-BC913AAE40E4}">
      <dgm:prSet custT="1"/>
      <dgm:spPr/>
      <dgm:t>
        <a:bodyPr rtlCol="1"/>
        <a:lstStyle/>
        <a:p>
          <a:pPr algn="ctr" rtl="1"/>
          <a:r>
            <a:rPr lang="ar" sz="1800" b="1" i="0">
              <a:latin typeface="Sakkal Majalla" panose="02000000000000000000" pitchFamily="2" charset="-78"/>
              <a:cs typeface="Sakkal Majalla" panose="02000000000000000000" pitchFamily="2" charset="-78"/>
            </a:rPr>
            <a:t>سلبي</a:t>
          </a:r>
          <a:r>
            <a:rPr lang="ar" sz="1800" i="0">
              <a:latin typeface="Sakkal Majalla" panose="02000000000000000000" pitchFamily="2" charset="-78"/>
              <a:cs typeface="Sakkal Majalla" panose="02000000000000000000" pitchFamily="2" charset="-78"/>
            </a:rPr>
            <a:t>:</a:t>
          </a:r>
          <a:endParaRPr lang="en-GB" sz="1800" i="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4AC88C69-12A0-FD46-9F6B-C6DA57B8849E}" type="parTrans" cxnId="{FEB442C4-9348-194B-B953-C72F5BC1B48F}">
      <dgm:prSet/>
      <dgm:spPr/>
      <dgm:t>
        <a:bodyPr rtlCol="1"/>
        <a:lstStyle/>
        <a:p>
          <a:pPr rtl="1"/>
          <a:endParaRPr lang="en-GB"/>
        </a:p>
      </dgm:t>
    </dgm:pt>
    <dgm:pt modelId="{A2DF5CCF-EB95-9D4A-8CB8-F79942F707BE}" type="sibTrans" cxnId="{FEB442C4-9348-194B-B953-C72F5BC1B48F}">
      <dgm:prSet/>
      <dgm:spPr/>
      <dgm:t>
        <a:bodyPr rtlCol="1"/>
        <a:lstStyle/>
        <a:p>
          <a:pPr rtl="1"/>
          <a:endParaRPr lang="en-GB"/>
        </a:p>
      </dgm:t>
    </dgm:pt>
    <dgm:pt modelId="{33DD49E0-6E17-6849-B10E-C5F85A350B47}" type="pres">
      <dgm:prSet presAssocID="{A2AF5467-DAC2-5046-8B2F-865E77F4A1BB}" presName="compositeShape" presStyleCnt="0">
        <dgm:presLayoutVars>
          <dgm:chMax val="7"/>
          <dgm:dir/>
          <dgm:resizeHandles val="exact"/>
        </dgm:presLayoutVars>
      </dgm:prSet>
      <dgm:spPr/>
    </dgm:pt>
    <dgm:pt modelId="{BF9B8658-19FB-8A41-9914-78B1AE37FA01}" type="pres">
      <dgm:prSet presAssocID="{58BB09D7-925D-2D46-BC61-CB472AF587D1}" presName="circ1TxSh" presStyleLbl="vennNode1" presStyleIdx="0" presStyleCnt="1"/>
      <dgm:spPr/>
    </dgm:pt>
  </dgm:ptLst>
  <dgm:cxnLst>
    <dgm:cxn modelId="{C432E822-61B0-574F-89E7-4B30BA5842D3}" type="presOf" srcId="{CB7585E5-F9D6-0E42-961D-38F69AC9C30A}" destId="{BF9B8658-19FB-8A41-9914-78B1AE37FA01}" srcOrd="0" destOrd="1" presId="urn:microsoft.com/office/officeart/2005/8/layout/venn1"/>
    <dgm:cxn modelId="{0D528F65-8727-FB4E-BF80-EDF18ED82A9F}" type="presOf" srcId="{58BB09D7-925D-2D46-BC61-CB472AF587D1}" destId="{BF9B8658-19FB-8A41-9914-78B1AE37FA01}" srcOrd="0" destOrd="0" presId="urn:microsoft.com/office/officeart/2005/8/layout/venn1"/>
    <dgm:cxn modelId="{60FB4E81-B5B8-CC49-8CE2-4455D5C05C5A}" srcId="{58BB09D7-925D-2D46-BC61-CB472AF587D1}" destId="{97E58DC5-1634-BF4E-85A7-BF58FB6E84A0}" srcOrd="2" destOrd="0" parTransId="{ACB6D253-3536-074F-A508-078FC79DF969}" sibTransId="{DA82A40D-0A2A-E143-95E2-F99E7C8CCFFB}"/>
    <dgm:cxn modelId="{6297D3B6-F689-5947-AC14-DB8748CFDEF0}" srcId="{58BB09D7-925D-2D46-BC61-CB472AF587D1}" destId="{CB7585E5-F9D6-0E42-961D-38F69AC9C30A}" srcOrd="0" destOrd="0" parTransId="{CBF7B7C9-7C2C-324C-90FA-BF1B143E94FB}" sibTransId="{DF1DFAFD-C517-334F-BDED-D017D85AA296}"/>
    <dgm:cxn modelId="{57092ABC-AC1B-7C41-932C-8CCC72686C6D}" type="presOf" srcId="{03A18899-588D-9F48-8E91-BC913AAE40E4}" destId="{BF9B8658-19FB-8A41-9914-78B1AE37FA01}" srcOrd="0" destOrd="2" presId="urn:microsoft.com/office/officeart/2005/8/layout/venn1"/>
    <dgm:cxn modelId="{FEB442C4-9348-194B-B953-C72F5BC1B48F}" srcId="{58BB09D7-925D-2D46-BC61-CB472AF587D1}" destId="{03A18899-588D-9F48-8E91-BC913AAE40E4}" srcOrd="1" destOrd="0" parTransId="{4AC88C69-12A0-FD46-9F6B-C6DA57B8849E}" sibTransId="{A2DF5CCF-EB95-9D4A-8CB8-F79942F707BE}"/>
    <dgm:cxn modelId="{D76572C7-A55B-9748-9568-82A96558F2E9}" srcId="{A2AF5467-DAC2-5046-8B2F-865E77F4A1BB}" destId="{58BB09D7-925D-2D46-BC61-CB472AF587D1}" srcOrd="0" destOrd="0" parTransId="{8FCC12E6-35BD-8E40-AA74-E82C8FFE1BD2}" sibTransId="{5429F90A-A4E2-384A-B813-6C607351186F}"/>
    <dgm:cxn modelId="{A3EBF7D7-689F-1F43-9189-9415A8E1F2B8}" type="presOf" srcId="{97E58DC5-1634-BF4E-85A7-BF58FB6E84A0}" destId="{BF9B8658-19FB-8A41-9914-78B1AE37FA01}" srcOrd="0" destOrd="3" presId="urn:microsoft.com/office/officeart/2005/8/layout/venn1"/>
    <dgm:cxn modelId="{30009FFF-F34C-0E4C-9242-B5D21CFB838F}" type="presOf" srcId="{A2AF5467-DAC2-5046-8B2F-865E77F4A1BB}" destId="{33DD49E0-6E17-6849-B10E-C5F85A350B47}" srcOrd="0" destOrd="0" presId="urn:microsoft.com/office/officeart/2005/8/layout/venn1"/>
    <dgm:cxn modelId="{DB218EB2-20EE-2441-BF57-7FBBC63AA29B}" type="presParOf" srcId="{33DD49E0-6E17-6849-B10E-C5F85A350B47}" destId="{BF9B8658-19FB-8A41-9914-78B1AE37FA01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457BEB-A22F-4DEF-AC7E-895AC6679354}" type="doc">
      <dgm:prSet loTypeId="urn:microsoft.com/office/officeart/2005/8/layout/process4" loCatId="process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9F940966-8DB5-4E97-8E45-4C69860560D9}">
      <dgm:prSet custT="1"/>
      <dgm:spPr/>
      <dgm:t>
        <a:bodyPr rtlCol="1"/>
        <a:lstStyle/>
        <a:p>
          <a:pPr rtl="1"/>
          <a:r>
            <a:rPr lang="ar" sz="22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الاستنتاجات </a:t>
          </a:r>
          <a:endParaRPr lang="en-US" sz="2200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E6E7C384-7C03-431B-9C66-FC9C9FC960E6}" type="parTrans" cxnId="{6EE4DAAE-3333-4390-B4D9-52B9EDE1AD53}">
      <dgm:prSet/>
      <dgm:spPr/>
      <dgm:t>
        <a:bodyPr rtlCol="1"/>
        <a:lstStyle/>
        <a:p>
          <a:pPr rtl="1"/>
          <a:endParaRPr lang="en-US" sz="220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FE78D234-D4E9-4B5E-87E8-69490CA58DE3}" type="sibTrans" cxnId="{6EE4DAAE-3333-4390-B4D9-52B9EDE1AD53}">
      <dgm:prSet/>
      <dgm:spPr/>
      <dgm:t>
        <a:bodyPr rtlCol="1"/>
        <a:lstStyle/>
        <a:p>
          <a:pPr rtl="1"/>
          <a:endParaRPr lang="en-US" sz="220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D5BEBBE-EC3E-4BCA-9F7F-EF5010FEC5A2}">
      <dgm:prSet custT="1"/>
      <dgm:spPr/>
      <dgm:t>
        <a:bodyPr rtlCol="1"/>
        <a:lstStyle/>
        <a:p>
          <a:pPr rtl="1"/>
          <a:r>
            <a:rPr lang="ar" sz="22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ملخص النتائج</a:t>
          </a:r>
          <a:endParaRPr lang="en-US" sz="2200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00DB3D5-B732-42CD-BE62-D00E8AAD4A9F}" type="parTrans" cxnId="{17825AD2-7B6A-4EEC-BB4F-7604AFCF787B}">
      <dgm:prSet/>
      <dgm:spPr/>
      <dgm:t>
        <a:bodyPr rtlCol="1"/>
        <a:lstStyle/>
        <a:p>
          <a:pPr rtl="1"/>
          <a:endParaRPr lang="en-US" sz="220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FEF3BEB-B661-463F-964A-B65F96A50E3D}" type="sibTrans" cxnId="{17825AD2-7B6A-4EEC-BB4F-7604AFCF787B}">
      <dgm:prSet/>
      <dgm:spPr/>
      <dgm:t>
        <a:bodyPr rtlCol="1"/>
        <a:lstStyle/>
        <a:p>
          <a:pPr rtl="1"/>
          <a:endParaRPr lang="en-US" sz="220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F348F7F-3C60-418A-9832-07339B82CC08}">
      <dgm:prSet custT="1"/>
      <dgm:spPr/>
      <dgm:t>
        <a:bodyPr rtlCol="1"/>
        <a:lstStyle/>
        <a:p>
          <a:pPr rtl="1"/>
          <a:r>
            <a:rPr lang="ar" sz="220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ربط النتائج بنتاجات البحث</a:t>
          </a:r>
          <a:endParaRPr lang="en-US" sz="2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B5E27B0C-9421-4E20-BC0C-8AD5077BCF05}" type="parTrans" cxnId="{80BB5436-A524-49B7-AA7E-FBAE40BCB23A}">
      <dgm:prSet/>
      <dgm:spPr/>
      <dgm:t>
        <a:bodyPr rtlCol="1"/>
        <a:lstStyle/>
        <a:p>
          <a:pPr rtl="1"/>
          <a:endParaRPr lang="en-US" sz="220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08A8F92A-B6DE-442C-8773-0942FAF13E08}" type="sibTrans" cxnId="{80BB5436-A524-49B7-AA7E-FBAE40BCB23A}">
      <dgm:prSet/>
      <dgm:spPr/>
      <dgm:t>
        <a:bodyPr rtlCol="1"/>
        <a:lstStyle/>
        <a:p>
          <a:pPr rtl="1"/>
          <a:endParaRPr lang="en-US" sz="220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CF05EED5-1979-4AF8-8FC6-62514D78316C}">
      <dgm:prSet custT="1"/>
      <dgm:spPr/>
      <dgm:t>
        <a:bodyPr rtlCol="1"/>
        <a:lstStyle/>
        <a:p>
          <a:pPr rtl="1"/>
          <a:r>
            <a:rPr lang="ar" sz="2200" b="1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التقييم</a:t>
          </a:r>
          <a:endParaRPr lang="en-US" sz="2200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EBACE85D-FDAD-463A-B01F-A2A2AA6397AE}" type="parTrans" cxnId="{56BA7261-F6AF-41D8-A64A-7016BA3664DA}">
      <dgm:prSet/>
      <dgm:spPr/>
      <dgm:t>
        <a:bodyPr rtlCol="1"/>
        <a:lstStyle/>
        <a:p>
          <a:pPr rtl="1"/>
          <a:endParaRPr lang="en-US" sz="220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8A152121-F2F7-4FB2-B2A3-C700C714BA46}" type="sibTrans" cxnId="{56BA7261-F6AF-41D8-A64A-7016BA3664DA}">
      <dgm:prSet/>
      <dgm:spPr/>
      <dgm:t>
        <a:bodyPr rtlCol="1"/>
        <a:lstStyle/>
        <a:p>
          <a:pPr rtl="1"/>
          <a:endParaRPr lang="en-US" sz="220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3F7FEC95-928D-CE41-9B8B-83D7BC3C887C}">
      <dgm:prSet custT="1"/>
      <dgm:spPr/>
      <dgm:t>
        <a:bodyPr rtlCol="1"/>
        <a:lstStyle/>
        <a:p>
          <a:pPr rtl="1">
            <a:lnSpc>
              <a:spcPct val="30000"/>
            </a:lnSpc>
          </a:pPr>
          <a:r>
            <a:rPr lang="ar" sz="2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تقييم السياسة ومراجعة نتاجاتها وغاياتها، والتأكد من واقعية وقابلية تحقيقها. </a:t>
          </a:r>
        </a:p>
        <a:p>
          <a:pPr rtl="1">
            <a:lnSpc>
              <a:spcPct val="30000"/>
            </a:lnSpc>
          </a:pPr>
          <a:r>
            <a:rPr lang="ar" sz="2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هل تلبي احتياجات الشركة؟</a:t>
          </a:r>
          <a:endParaRPr lang="en-US" sz="2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BD72B2D-8094-B846-AF8B-7C9ABDB67313}" type="parTrans" cxnId="{D278F29B-D6FE-1C40-B869-266E65589946}">
      <dgm:prSet/>
      <dgm:spPr/>
      <dgm:t>
        <a:bodyPr rtlCol="1"/>
        <a:lstStyle/>
        <a:p>
          <a:pPr rtl="1"/>
          <a:endParaRPr lang="en-GB" sz="220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B494CCA2-BA13-7049-AF94-ED813CB1B6D1}" type="sibTrans" cxnId="{D278F29B-D6FE-1C40-B869-266E65589946}">
      <dgm:prSet/>
      <dgm:spPr/>
      <dgm:t>
        <a:bodyPr rtlCol="1"/>
        <a:lstStyle/>
        <a:p>
          <a:pPr rtl="1"/>
          <a:endParaRPr lang="en-GB" sz="220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2BEE236-84C4-E243-8D9B-10BAB8994EC6}" type="pres">
      <dgm:prSet presAssocID="{9D457BEB-A22F-4DEF-AC7E-895AC6679354}" presName="Name0" presStyleCnt="0">
        <dgm:presLayoutVars>
          <dgm:dir/>
          <dgm:animLvl val="lvl"/>
          <dgm:resizeHandles val="exact"/>
        </dgm:presLayoutVars>
      </dgm:prSet>
      <dgm:spPr/>
    </dgm:pt>
    <dgm:pt modelId="{46739A6D-68CF-FD47-92FE-4A43A34CBAB4}" type="pres">
      <dgm:prSet presAssocID="{CF05EED5-1979-4AF8-8FC6-62514D78316C}" presName="boxAndChildren" presStyleCnt="0"/>
      <dgm:spPr/>
    </dgm:pt>
    <dgm:pt modelId="{0B7F8178-7DC6-BD45-B0C1-ABA315079906}" type="pres">
      <dgm:prSet presAssocID="{CF05EED5-1979-4AF8-8FC6-62514D78316C}" presName="parentTextBox" presStyleLbl="node1" presStyleIdx="0" presStyleCnt="3"/>
      <dgm:spPr/>
    </dgm:pt>
    <dgm:pt modelId="{A0C269CA-9BC8-624C-819D-F104DEFAE7D1}" type="pres">
      <dgm:prSet presAssocID="{CF05EED5-1979-4AF8-8FC6-62514D78316C}" presName="entireBox" presStyleLbl="node1" presStyleIdx="0" presStyleCnt="3"/>
      <dgm:spPr/>
    </dgm:pt>
    <dgm:pt modelId="{2FD91618-F8C6-D341-8412-D12B69133D61}" type="pres">
      <dgm:prSet presAssocID="{CF05EED5-1979-4AF8-8FC6-62514D78316C}" presName="descendantBox" presStyleCnt="0"/>
      <dgm:spPr/>
    </dgm:pt>
    <dgm:pt modelId="{AFD1D408-6992-3749-A17C-C9F60292F2F2}" type="pres">
      <dgm:prSet presAssocID="{3F7FEC95-928D-CE41-9B8B-83D7BC3C887C}" presName="childTextBox" presStyleLbl="fgAccFollowNode1" presStyleIdx="0" presStyleCnt="2" custLinFactNeighborY="7644">
        <dgm:presLayoutVars>
          <dgm:bulletEnabled val="1"/>
        </dgm:presLayoutVars>
      </dgm:prSet>
      <dgm:spPr/>
    </dgm:pt>
    <dgm:pt modelId="{BF6BD4C1-DE16-FB4B-84C6-D12E72CDB330}" type="pres">
      <dgm:prSet presAssocID="{2FEF3BEB-B661-463F-964A-B65F96A50E3D}" presName="sp" presStyleCnt="0"/>
      <dgm:spPr/>
    </dgm:pt>
    <dgm:pt modelId="{A6C81CD3-21B1-254D-8106-4EC22B440E66}" type="pres">
      <dgm:prSet presAssocID="{2D5BEBBE-EC3E-4BCA-9F7F-EF5010FEC5A2}" presName="arrowAndChildren" presStyleCnt="0"/>
      <dgm:spPr/>
    </dgm:pt>
    <dgm:pt modelId="{7ECD709F-29FC-0446-BC1E-6A76D1D07419}" type="pres">
      <dgm:prSet presAssocID="{2D5BEBBE-EC3E-4BCA-9F7F-EF5010FEC5A2}" presName="parentTextArrow" presStyleLbl="node1" presStyleIdx="0" presStyleCnt="3"/>
      <dgm:spPr/>
    </dgm:pt>
    <dgm:pt modelId="{EF9E3069-1F10-4A4D-8D10-0EEEF816E973}" type="pres">
      <dgm:prSet presAssocID="{2D5BEBBE-EC3E-4BCA-9F7F-EF5010FEC5A2}" presName="arrow" presStyleLbl="node1" presStyleIdx="1" presStyleCnt="3"/>
      <dgm:spPr/>
    </dgm:pt>
    <dgm:pt modelId="{D7A47E87-F0C7-004B-A660-47AFC597EF15}" type="pres">
      <dgm:prSet presAssocID="{2D5BEBBE-EC3E-4BCA-9F7F-EF5010FEC5A2}" presName="descendantArrow" presStyleCnt="0"/>
      <dgm:spPr/>
    </dgm:pt>
    <dgm:pt modelId="{BBCEA547-93BD-A74B-B16A-54E98CB59EAD}" type="pres">
      <dgm:prSet presAssocID="{AF348F7F-3C60-418A-9832-07339B82CC08}" presName="childTextArrow" presStyleLbl="fgAccFollowNode1" presStyleIdx="1" presStyleCnt="2">
        <dgm:presLayoutVars>
          <dgm:bulletEnabled val="1"/>
        </dgm:presLayoutVars>
      </dgm:prSet>
      <dgm:spPr/>
    </dgm:pt>
    <dgm:pt modelId="{5C81FA44-A74A-2B46-AECB-1EC29B13EAD8}" type="pres">
      <dgm:prSet presAssocID="{FE78D234-D4E9-4B5E-87E8-69490CA58DE3}" presName="sp" presStyleCnt="0"/>
      <dgm:spPr/>
    </dgm:pt>
    <dgm:pt modelId="{196EEB1A-C1C3-F041-BB96-791855E89CE4}" type="pres">
      <dgm:prSet presAssocID="{9F940966-8DB5-4E97-8E45-4C69860560D9}" presName="arrowAndChildren" presStyleCnt="0"/>
      <dgm:spPr/>
    </dgm:pt>
    <dgm:pt modelId="{37298C50-E9E7-144D-A78F-3D360DD6F833}" type="pres">
      <dgm:prSet presAssocID="{9F940966-8DB5-4E97-8E45-4C69860560D9}" presName="parentTextArrow" presStyleLbl="node1" presStyleIdx="2" presStyleCnt="3" custScaleY="63761"/>
      <dgm:spPr/>
    </dgm:pt>
  </dgm:ptLst>
  <dgm:cxnLst>
    <dgm:cxn modelId="{BF11D618-7D08-5B4F-86D6-D051F2A19859}" type="presOf" srcId="{9D457BEB-A22F-4DEF-AC7E-895AC6679354}" destId="{A2BEE236-84C4-E243-8D9B-10BAB8994EC6}" srcOrd="0" destOrd="0" presId="urn:microsoft.com/office/officeart/2005/8/layout/process4"/>
    <dgm:cxn modelId="{80BB5436-A524-49B7-AA7E-FBAE40BCB23A}" srcId="{2D5BEBBE-EC3E-4BCA-9F7F-EF5010FEC5A2}" destId="{AF348F7F-3C60-418A-9832-07339B82CC08}" srcOrd="0" destOrd="0" parTransId="{B5E27B0C-9421-4E20-BC0C-8AD5077BCF05}" sibTransId="{08A8F92A-B6DE-442C-8773-0942FAF13E08}"/>
    <dgm:cxn modelId="{937F7340-4CA6-A045-AD85-AB566F29D468}" type="presOf" srcId="{3F7FEC95-928D-CE41-9B8B-83D7BC3C887C}" destId="{AFD1D408-6992-3749-A17C-C9F60292F2F2}" srcOrd="0" destOrd="0" presId="urn:microsoft.com/office/officeart/2005/8/layout/process4"/>
    <dgm:cxn modelId="{AB7FA05C-FBE2-B444-ADB5-368A5503075D}" type="presOf" srcId="{CF05EED5-1979-4AF8-8FC6-62514D78316C}" destId="{A0C269CA-9BC8-624C-819D-F104DEFAE7D1}" srcOrd="1" destOrd="0" presId="urn:microsoft.com/office/officeart/2005/8/layout/process4"/>
    <dgm:cxn modelId="{56BA7261-F6AF-41D8-A64A-7016BA3664DA}" srcId="{9D457BEB-A22F-4DEF-AC7E-895AC6679354}" destId="{CF05EED5-1979-4AF8-8FC6-62514D78316C}" srcOrd="2" destOrd="0" parTransId="{EBACE85D-FDAD-463A-B01F-A2A2AA6397AE}" sibTransId="{8A152121-F2F7-4FB2-B2A3-C700C714BA46}"/>
    <dgm:cxn modelId="{EC6D0D4A-C577-6542-AF13-6C8194DA4C9A}" type="presOf" srcId="{2D5BEBBE-EC3E-4BCA-9F7F-EF5010FEC5A2}" destId="{7ECD709F-29FC-0446-BC1E-6A76D1D07419}" srcOrd="0" destOrd="0" presId="urn:microsoft.com/office/officeart/2005/8/layout/process4"/>
    <dgm:cxn modelId="{D278F29B-D6FE-1C40-B869-266E65589946}" srcId="{CF05EED5-1979-4AF8-8FC6-62514D78316C}" destId="{3F7FEC95-928D-CE41-9B8B-83D7BC3C887C}" srcOrd="0" destOrd="0" parTransId="{2BD72B2D-8094-B846-AF8B-7C9ABDB67313}" sibTransId="{B494CCA2-BA13-7049-AF94-ED813CB1B6D1}"/>
    <dgm:cxn modelId="{6EE4DAAE-3333-4390-B4D9-52B9EDE1AD53}" srcId="{9D457BEB-A22F-4DEF-AC7E-895AC6679354}" destId="{9F940966-8DB5-4E97-8E45-4C69860560D9}" srcOrd="0" destOrd="0" parTransId="{E6E7C384-7C03-431B-9C66-FC9C9FC960E6}" sibTransId="{FE78D234-D4E9-4B5E-87E8-69490CA58DE3}"/>
    <dgm:cxn modelId="{D9FAB3B7-9710-9140-BBF2-27A0F63BE399}" type="presOf" srcId="{AF348F7F-3C60-418A-9832-07339B82CC08}" destId="{BBCEA547-93BD-A74B-B16A-54E98CB59EAD}" srcOrd="0" destOrd="0" presId="urn:microsoft.com/office/officeart/2005/8/layout/process4"/>
    <dgm:cxn modelId="{03EE2AC6-CC5C-2643-BDC2-8413A3CA22CD}" type="presOf" srcId="{9F940966-8DB5-4E97-8E45-4C69860560D9}" destId="{37298C50-E9E7-144D-A78F-3D360DD6F833}" srcOrd="0" destOrd="0" presId="urn:microsoft.com/office/officeart/2005/8/layout/process4"/>
    <dgm:cxn modelId="{17825AD2-7B6A-4EEC-BB4F-7604AFCF787B}" srcId="{9D457BEB-A22F-4DEF-AC7E-895AC6679354}" destId="{2D5BEBBE-EC3E-4BCA-9F7F-EF5010FEC5A2}" srcOrd="1" destOrd="0" parTransId="{600DB3D5-B732-42CD-BE62-D00E8AAD4A9F}" sibTransId="{2FEF3BEB-B661-463F-964A-B65F96A50E3D}"/>
    <dgm:cxn modelId="{B01BE2EC-6935-A146-8F0D-322850D8613E}" type="presOf" srcId="{2D5BEBBE-EC3E-4BCA-9F7F-EF5010FEC5A2}" destId="{EF9E3069-1F10-4A4D-8D10-0EEEF816E973}" srcOrd="1" destOrd="0" presId="urn:microsoft.com/office/officeart/2005/8/layout/process4"/>
    <dgm:cxn modelId="{04F946F0-A05F-6D43-9517-49EB339741EC}" type="presOf" srcId="{CF05EED5-1979-4AF8-8FC6-62514D78316C}" destId="{0B7F8178-7DC6-BD45-B0C1-ABA315079906}" srcOrd="0" destOrd="0" presId="urn:microsoft.com/office/officeart/2005/8/layout/process4"/>
    <dgm:cxn modelId="{47D0F878-8D8C-E448-BE19-95E8FB661AA7}" type="presParOf" srcId="{A2BEE236-84C4-E243-8D9B-10BAB8994EC6}" destId="{46739A6D-68CF-FD47-92FE-4A43A34CBAB4}" srcOrd="0" destOrd="0" presId="urn:microsoft.com/office/officeart/2005/8/layout/process4"/>
    <dgm:cxn modelId="{FDB29D28-1629-2146-820E-5AD0F315CC4B}" type="presParOf" srcId="{46739A6D-68CF-FD47-92FE-4A43A34CBAB4}" destId="{0B7F8178-7DC6-BD45-B0C1-ABA315079906}" srcOrd="0" destOrd="0" presId="urn:microsoft.com/office/officeart/2005/8/layout/process4"/>
    <dgm:cxn modelId="{78B6504B-EC8D-7046-B07D-EAD287BB2210}" type="presParOf" srcId="{46739A6D-68CF-FD47-92FE-4A43A34CBAB4}" destId="{A0C269CA-9BC8-624C-819D-F104DEFAE7D1}" srcOrd="1" destOrd="0" presId="urn:microsoft.com/office/officeart/2005/8/layout/process4"/>
    <dgm:cxn modelId="{E56A10C7-6E10-3341-8654-E9B00714CFC7}" type="presParOf" srcId="{46739A6D-68CF-FD47-92FE-4A43A34CBAB4}" destId="{2FD91618-F8C6-D341-8412-D12B69133D61}" srcOrd="2" destOrd="0" presId="urn:microsoft.com/office/officeart/2005/8/layout/process4"/>
    <dgm:cxn modelId="{43DCD804-E732-0943-8308-54125CB36F9E}" type="presParOf" srcId="{2FD91618-F8C6-D341-8412-D12B69133D61}" destId="{AFD1D408-6992-3749-A17C-C9F60292F2F2}" srcOrd="0" destOrd="0" presId="urn:microsoft.com/office/officeart/2005/8/layout/process4"/>
    <dgm:cxn modelId="{6B514FDC-2B3B-6144-A180-78A834CBF1BD}" type="presParOf" srcId="{A2BEE236-84C4-E243-8D9B-10BAB8994EC6}" destId="{BF6BD4C1-DE16-FB4B-84C6-D12E72CDB330}" srcOrd="1" destOrd="0" presId="urn:microsoft.com/office/officeart/2005/8/layout/process4"/>
    <dgm:cxn modelId="{2F327B90-499E-9B45-8B08-303760DD10B6}" type="presParOf" srcId="{A2BEE236-84C4-E243-8D9B-10BAB8994EC6}" destId="{A6C81CD3-21B1-254D-8106-4EC22B440E66}" srcOrd="2" destOrd="0" presId="urn:microsoft.com/office/officeart/2005/8/layout/process4"/>
    <dgm:cxn modelId="{DB4587BE-3CEA-3B4A-9484-77D49BF6D76C}" type="presParOf" srcId="{A6C81CD3-21B1-254D-8106-4EC22B440E66}" destId="{7ECD709F-29FC-0446-BC1E-6A76D1D07419}" srcOrd="0" destOrd="0" presId="urn:microsoft.com/office/officeart/2005/8/layout/process4"/>
    <dgm:cxn modelId="{6522C092-6FB2-F949-8869-1A1EA8D3B238}" type="presParOf" srcId="{A6C81CD3-21B1-254D-8106-4EC22B440E66}" destId="{EF9E3069-1F10-4A4D-8D10-0EEEF816E973}" srcOrd="1" destOrd="0" presId="urn:microsoft.com/office/officeart/2005/8/layout/process4"/>
    <dgm:cxn modelId="{7AC6C562-1842-CF48-AE73-C2CB177B7C31}" type="presParOf" srcId="{A6C81CD3-21B1-254D-8106-4EC22B440E66}" destId="{D7A47E87-F0C7-004B-A660-47AFC597EF15}" srcOrd="2" destOrd="0" presId="urn:microsoft.com/office/officeart/2005/8/layout/process4"/>
    <dgm:cxn modelId="{553EC4A1-ADEC-8F48-A859-82D52390687D}" type="presParOf" srcId="{D7A47E87-F0C7-004B-A660-47AFC597EF15}" destId="{BBCEA547-93BD-A74B-B16A-54E98CB59EAD}" srcOrd="0" destOrd="0" presId="urn:microsoft.com/office/officeart/2005/8/layout/process4"/>
    <dgm:cxn modelId="{4D42F6B5-04E0-A941-B3B8-129BF898D941}" type="presParOf" srcId="{A2BEE236-84C4-E243-8D9B-10BAB8994EC6}" destId="{5C81FA44-A74A-2B46-AECB-1EC29B13EAD8}" srcOrd="3" destOrd="0" presId="urn:microsoft.com/office/officeart/2005/8/layout/process4"/>
    <dgm:cxn modelId="{C4E04379-3F35-C040-8329-F2F8485E8D79}" type="presParOf" srcId="{A2BEE236-84C4-E243-8D9B-10BAB8994EC6}" destId="{196EEB1A-C1C3-F041-BB96-791855E89CE4}" srcOrd="4" destOrd="0" presId="urn:microsoft.com/office/officeart/2005/8/layout/process4"/>
    <dgm:cxn modelId="{DB3A319A-65B8-3A41-A232-13FE38CC684B}" type="presParOf" srcId="{196EEB1A-C1C3-F041-BB96-791855E89CE4}" destId="{37298C50-E9E7-144D-A78F-3D360DD6F83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992D61-93F5-45ED-812D-FE16D6FC939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AE11CD5F-E4B2-4B54-B250-D4E577024FC8}">
      <dgm:prSet/>
      <dgm:spPr/>
      <dgm:t>
        <a:bodyPr rtlCol="1"/>
        <a:lstStyle/>
        <a:p>
          <a:pPr rtl="1"/>
          <a:r>
            <a:rPr lang="ar" b="1" i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الطاقة</a:t>
          </a:r>
          <a:endParaRPr lang="en-US" b="1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99631F1-5411-41E9-9BD6-68857CB6B865}" type="parTrans" cxnId="{AB6A17A8-7FC1-4877-9F86-6CCC9BA769F6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D51ABE47-101D-467C-88AE-D003B2F91EFC}" type="sibTrans" cxnId="{AB6A17A8-7FC1-4877-9F86-6CCC9BA769F6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ED4FFB1E-91AE-44A8-9FB0-787EA58B9816}">
      <dgm:prSet/>
      <dgm:spPr/>
      <dgm:t>
        <a:bodyPr rtlCol="1"/>
        <a:lstStyle/>
        <a:p>
          <a:pPr rtl="1"/>
          <a:r>
            <a:rPr lang="ar" i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المصادر والاستخدام </a:t>
          </a:r>
          <a:endParaRPr lang="en-US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BF575BA7-D8A0-4960-92F9-A29E7B44E166}" type="parTrans" cxnId="{5D570D06-5663-4DF2-B8D4-8D1AF332D74E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80952C55-7ADF-4108-96DD-732FA5F6678A}" type="sibTrans" cxnId="{5D570D06-5663-4DF2-B8D4-8D1AF332D74E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403534C0-689A-44F6-AAA8-9C05BDB3D5F2}">
      <dgm:prSet/>
      <dgm:spPr/>
      <dgm:t>
        <a:bodyPr rtlCol="1"/>
        <a:lstStyle/>
        <a:p>
          <a:pPr rtl="1"/>
          <a:r>
            <a:rPr lang="ar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على سبيل المثال، البحث عن مصادر طاقة أكثر مراعاة للبيئة واستخدام طاقة أقل بشكل عام</a:t>
          </a:r>
          <a:endParaRPr lang="en-US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FB0E04E5-6291-4CA9-B521-FD103798C4F9}" type="parTrans" cxnId="{612A9007-0D0B-4D09-B688-20479EECD27C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57138F7-A65E-41EE-B5CC-182AC00C4F3E}" type="sibTrans" cxnId="{612A9007-0D0B-4D09-B688-20479EECD27C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466405F2-C820-49DB-AEC0-27D250FC5B4A}">
      <dgm:prSet/>
      <dgm:spPr/>
      <dgm:t>
        <a:bodyPr rtlCol="1"/>
        <a:lstStyle/>
        <a:p>
          <a:pPr rtl="1"/>
          <a:r>
            <a:rPr lang="ar" b="1" i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المياه</a:t>
          </a:r>
          <a:endParaRPr lang="en-US" b="1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3AD69D4F-D217-4AD5-AFDF-36CB8EA15B77}" type="parTrans" cxnId="{BAFA1814-AE49-41E5-BEAF-BE04CA017173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0C44D00A-C29E-4C9F-9ED2-41A0EB8C7009}" type="sibTrans" cxnId="{BAFA1814-AE49-41E5-BEAF-BE04CA017173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8ACD25F6-4183-4D76-B4C1-5A67ACFA0456}">
      <dgm:prSet/>
      <dgm:spPr/>
      <dgm:t>
        <a:bodyPr rtlCol="1"/>
        <a:lstStyle/>
        <a:p>
          <a:pPr rtl="1"/>
          <a:r>
            <a:rPr lang="ar" i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الاستهلاك والجودة ومعالجة مياه الصرف الصحي </a:t>
          </a:r>
          <a:endParaRPr lang="en-US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BC947C2-1F30-4821-91D1-C8E602AFD626}" type="parTrans" cxnId="{D0861842-F542-491F-AA56-D494D56A7DAC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48C3F5C-33AC-486E-8410-5133F038FE4B}" type="sibTrans" cxnId="{D0861842-F542-491F-AA56-D494D56A7DAC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C7068983-BA20-4AF9-BEA6-1EB221C9D4FE}">
      <dgm:prSet/>
      <dgm:spPr/>
      <dgm:t>
        <a:bodyPr rtlCol="1"/>
        <a:lstStyle/>
        <a:p>
          <a:pPr rtl="1"/>
          <a:r>
            <a:rPr lang="ar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تقليل النفايات من خلال مراجعة العمليات وضمان كفاءتها قدر الإمكان</a:t>
          </a:r>
          <a:endParaRPr lang="en-US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CE8F8504-25EB-455C-9210-6FF878098BD8}" type="parTrans" cxnId="{C5DE6C3C-9DC3-445A-B3B3-65B570113A5D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01DC709E-2F07-4FA2-AB18-DD4570336B09}" type="sibTrans" cxnId="{C5DE6C3C-9DC3-445A-B3B3-65B570113A5D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4D002018-A482-4A8E-8F1B-C17741982C1C}">
      <dgm:prSet/>
      <dgm:spPr/>
      <dgm:t>
        <a:bodyPr rtlCol="1"/>
        <a:lstStyle/>
        <a:p>
          <a:pPr rtl="1"/>
          <a:r>
            <a:rPr lang="ar" b="1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النفايات</a:t>
          </a:r>
          <a:endParaRPr lang="en-US" b="1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F21155F5-6DA1-41E1-A937-107EED7F25AC}" type="parTrans" cxnId="{57C08853-80DE-41D6-AB3E-B84BB1CF5CE4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1A3F8E49-EA35-42FC-BBC2-F23BFDC170CC}" type="sibTrans" cxnId="{57C08853-80DE-41D6-AB3E-B84BB1CF5CE4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13457A4-32EC-4B1C-BCF4-95CBC2AA1409}">
      <dgm:prSet/>
      <dgm:spPr/>
      <dgm:t>
        <a:bodyPr rtlCol="1"/>
        <a:lstStyle/>
        <a:p>
          <a:pPr rtl="1"/>
          <a:r>
            <a:rPr lang="ar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فرص تجنب النفايات، وإعادة استخدامها، وإعادة تدويرها </a:t>
          </a:r>
          <a:endParaRPr lang="en-US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44E95B04-9456-4CFC-99D5-2A6F9424CE54}" type="parTrans" cxnId="{0EECB8AF-70C6-4088-BE6E-8E3BFE90711F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2558AE6-5A7E-481A-B3E1-0E8C4920F7D3}" type="sibTrans" cxnId="{0EECB8AF-70C6-4088-BE6E-8E3BFE90711F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D8182B42-16AC-40FE-824E-C2EE5D3A55F6}">
      <dgm:prSet/>
      <dgm:spPr/>
      <dgm:t>
        <a:bodyPr rtlCol="1"/>
        <a:lstStyle/>
        <a:p>
          <a:pPr rtl="1"/>
          <a:r>
            <a:rPr lang="ar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على سبيل المثال، الترويج بفاعلية لإعادة التدوير، سواء على المستوى الداخلي أو بين عملائها ومورديها</a:t>
          </a:r>
          <a:endParaRPr lang="en-US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54490175-2209-45D7-98DE-412B5E9D5A65}" type="parTrans" cxnId="{7CDB605A-E89D-47B8-ABBB-3ECA275E2209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5DE18816-F73A-497D-A557-C82A313E0525}" type="sibTrans" cxnId="{7CDB605A-E89D-47B8-ABBB-3ECA275E2209}">
      <dgm:prSet/>
      <dgm:spPr/>
      <dgm:t>
        <a:bodyPr rtlCol="1"/>
        <a:lstStyle/>
        <a:p>
          <a:pPr rtl="1"/>
          <a:endParaRPr lang="en-US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F63F373-0A2F-6A48-BBEB-71954B8DEED0}" type="pres">
      <dgm:prSet presAssocID="{18992D61-93F5-45ED-812D-FE16D6FC939C}" presName="Name0" presStyleCnt="0">
        <dgm:presLayoutVars>
          <dgm:dir/>
          <dgm:animLvl val="lvl"/>
          <dgm:resizeHandles val="exact"/>
        </dgm:presLayoutVars>
      </dgm:prSet>
      <dgm:spPr/>
    </dgm:pt>
    <dgm:pt modelId="{668336D9-6200-E94F-B2B3-52A117B11811}" type="pres">
      <dgm:prSet presAssocID="{AE11CD5F-E4B2-4B54-B250-D4E577024FC8}" presName="composite" presStyleCnt="0"/>
      <dgm:spPr/>
    </dgm:pt>
    <dgm:pt modelId="{2C13D872-FB19-584C-93D8-6679489C8776}" type="pres">
      <dgm:prSet presAssocID="{AE11CD5F-E4B2-4B54-B250-D4E577024FC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4F09CDE-94BC-0E4B-B713-4CD422AA1C55}" type="pres">
      <dgm:prSet presAssocID="{AE11CD5F-E4B2-4B54-B250-D4E577024FC8}" presName="desTx" presStyleLbl="alignAccFollowNode1" presStyleIdx="0" presStyleCnt="3">
        <dgm:presLayoutVars>
          <dgm:bulletEnabled val="1"/>
        </dgm:presLayoutVars>
      </dgm:prSet>
      <dgm:spPr/>
    </dgm:pt>
    <dgm:pt modelId="{0E07AD0D-3B73-5646-9A78-3947EB2AB8C8}" type="pres">
      <dgm:prSet presAssocID="{D51ABE47-101D-467C-88AE-D003B2F91EFC}" presName="space" presStyleCnt="0"/>
      <dgm:spPr/>
    </dgm:pt>
    <dgm:pt modelId="{DE4C54BD-9855-7449-BEC8-98F923F67D27}" type="pres">
      <dgm:prSet presAssocID="{466405F2-C820-49DB-AEC0-27D250FC5B4A}" presName="composite" presStyleCnt="0"/>
      <dgm:spPr/>
    </dgm:pt>
    <dgm:pt modelId="{93ED9EBC-167F-2E4D-95F3-A4D03AE7EF80}" type="pres">
      <dgm:prSet presAssocID="{466405F2-C820-49DB-AEC0-27D250FC5B4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E7BAC29-FEB2-4741-84C4-C33C5AD7E149}" type="pres">
      <dgm:prSet presAssocID="{466405F2-C820-49DB-AEC0-27D250FC5B4A}" presName="desTx" presStyleLbl="alignAccFollowNode1" presStyleIdx="1" presStyleCnt="3">
        <dgm:presLayoutVars>
          <dgm:bulletEnabled val="1"/>
        </dgm:presLayoutVars>
      </dgm:prSet>
      <dgm:spPr/>
    </dgm:pt>
    <dgm:pt modelId="{E8FB2EA0-3226-F84E-99CA-61A4BE9CA725}" type="pres">
      <dgm:prSet presAssocID="{0C44D00A-C29E-4C9F-9ED2-41A0EB8C7009}" presName="space" presStyleCnt="0"/>
      <dgm:spPr/>
    </dgm:pt>
    <dgm:pt modelId="{38CCFC37-428C-B349-B499-35FE62DE4F79}" type="pres">
      <dgm:prSet presAssocID="{4D002018-A482-4A8E-8F1B-C17741982C1C}" presName="composite" presStyleCnt="0"/>
      <dgm:spPr/>
    </dgm:pt>
    <dgm:pt modelId="{1EA27C22-34A5-894D-93DD-CF53CE5D96C9}" type="pres">
      <dgm:prSet presAssocID="{4D002018-A482-4A8E-8F1B-C17741982C1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CAF91D2-1896-9B47-A450-CF11E6998751}" type="pres">
      <dgm:prSet presAssocID="{4D002018-A482-4A8E-8F1B-C17741982C1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D570D06-5663-4DF2-B8D4-8D1AF332D74E}" srcId="{AE11CD5F-E4B2-4B54-B250-D4E577024FC8}" destId="{ED4FFB1E-91AE-44A8-9FB0-787EA58B9816}" srcOrd="0" destOrd="0" parTransId="{BF575BA7-D8A0-4960-92F9-A29E7B44E166}" sibTransId="{80952C55-7ADF-4108-96DD-732FA5F6678A}"/>
    <dgm:cxn modelId="{612A9007-0D0B-4D09-B688-20479EECD27C}" srcId="{AE11CD5F-E4B2-4B54-B250-D4E577024FC8}" destId="{403534C0-689A-44F6-AAA8-9C05BDB3D5F2}" srcOrd="1" destOrd="0" parTransId="{FB0E04E5-6291-4CA9-B521-FD103798C4F9}" sibTransId="{657138F7-A65E-41EE-B5CC-182AC00C4F3E}"/>
    <dgm:cxn modelId="{AF69020F-B151-A944-9343-22367D5388A5}" type="presOf" srcId="{8ACD25F6-4183-4D76-B4C1-5A67ACFA0456}" destId="{DE7BAC29-FEB2-4741-84C4-C33C5AD7E149}" srcOrd="0" destOrd="0" presId="urn:microsoft.com/office/officeart/2005/8/layout/hList1"/>
    <dgm:cxn modelId="{BAFA1814-AE49-41E5-BEAF-BE04CA017173}" srcId="{18992D61-93F5-45ED-812D-FE16D6FC939C}" destId="{466405F2-C820-49DB-AEC0-27D250FC5B4A}" srcOrd="1" destOrd="0" parTransId="{3AD69D4F-D217-4AD5-AFDF-36CB8EA15B77}" sibTransId="{0C44D00A-C29E-4C9F-9ED2-41A0EB8C7009}"/>
    <dgm:cxn modelId="{C5DE6C3C-9DC3-445A-B3B3-65B570113A5D}" srcId="{466405F2-C820-49DB-AEC0-27D250FC5B4A}" destId="{C7068983-BA20-4AF9-BEA6-1EB221C9D4FE}" srcOrd="1" destOrd="0" parTransId="{CE8F8504-25EB-455C-9210-6FF878098BD8}" sibTransId="{01DC709E-2F07-4FA2-AB18-DD4570336B09}"/>
    <dgm:cxn modelId="{D0861842-F542-491F-AA56-D494D56A7DAC}" srcId="{466405F2-C820-49DB-AEC0-27D250FC5B4A}" destId="{8ACD25F6-4183-4D76-B4C1-5A67ACFA0456}" srcOrd="0" destOrd="0" parTransId="{6BC947C2-1F30-4821-91D1-C8E602AFD626}" sibTransId="{248C3F5C-33AC-486E-8410-5133F038FE4B}"/>
    <dgm:cxn modelId="{17D48050-2C40-A141-A88A-3A9C116B5A1B}" type="presOf" srcId="{213457A4-32EC-4B1C-BCF4-95CBC2AA1409}" destId="{7CAF91D2-1896-9B47-A450-CF11E6998751}" srcOrd="0" destOrd="0" presId="urn:microsoft.com/office/officeart/2005/8/layout/hList1"/>
    <dgm:cxn modelId="{0C8F9771-6411-2243-B89C-71844140F0F0}" type="presOf" srcId="{403534C0-689A-44F6-AAA8-9C05BDB3D5F2}" destId="{74F09CDE-94BC-0E4B-B713-4CD422AA1C55}" srcOrd="0" destOrd="1" presId="urn:microsoft.com/office/officeart/2005/8/layout/hList1"/>
    <dgm:cxn modelId="{57C08853-80DE-41D6-AB3E-B84BB1CF5CE4}" srcId="{18992D61-93F5-45ED-812D-FE16D6FC939C}" destId="{4D002018-A482-4A8E-8F1B-C17741982C1C}" srcOrd="2" destOrd="0" parTransId="{F21155F5-6DA1-41E1-A937-107EED7F25AC}" sibTransId="{1A3F8E49-EA35-42FC-BBC2-F23BFDC170CC}"/>
    <dgm:cxn modelId="{7CDB605A-E89D-47B8-ABBB-3ECA275E2209}" srcId="{4D002018-A482-4A8E-8F1B-C17741982C1C}" destId="{D8182B42-16AC-40FE-824E-C2EE5D3A55F6}" srcOrd="1" destOrd="0" parTransId="{54490175-2209-45D7-98DE-412B5E9D5A65}" sibTransId="{5DE18816-F73A-497D-A557-C82A313E0525}"/>
    <dgm:cxn modelId="{0ED22589-CC07-2449-9785-AB82BEF99CCE}" type="presOf" srcId="{4D002018-A482-4A8E-8F1B-C17741982C1C}" destId="{1EA27C22-34A5-894D-93DD-CF53CE5D96C9}" srcOrd="0" destOrd="0" presId="urn:microsoft.com/office/officeart/2005/8/layout/hList1"/>
    <dgm:cxn modelId="{AB6A17A8-7FC1-4877-9F86-6CCC9BA769F6}" srcId="{18992D61-93F5-45ED-812D-FE16D6FC939C}" destId="{AE11CD5F-E4B2-4B54-B250-D4E577024FC8}" srcOrd="0" destOrd="0" parTransId="{299631F1-5411-41E9-9BD6-68857CB6B865}" sibTransId="{D51ABE47-101D-467C-88AE-D003B2F91EFC}"/>
    <dgm:cxn modelId="{0EECB8AF-70C6-4088-BE6E-8E3BFE90711F}" srcId="{4D002018-A482-4A8E-8F1B-C17741982C1C}" destId="{213457A4-32EC-4B1C-BCF4-95CBC2AA1409}" srcOrd="0" destOrd="0" parTransId="{44E95B04-9456-4CFC-99D5-2A6F9424CE54}" sibTransId="{A2558AE6-5A7E-481A-B3E1-0E8C4920F7D3}"/>
    <dgm:cxn modelId="{E6F06CB2-390B-F945-B6A0-5FF04A104D19}" type="presOf" srcId="{ED4FFB1E-91AE-44A8-9FB0-787EA58B9816}" destId="{74F09CDE-94BC-0E4B-B713-4CD422AA1C55}" srcOrd="0" destOrd="0" presId="urn:microsoft.com/office/officeart/2005/8/layout/hList1"/>
    <dgm:cxn modelId="{567E7DBA-8DE8-954D-B477-DA345E0E3C0B}" type="presOf" srcId="{466405F2-C820-49DB-AEC0-27D250FC5B4A}" destId="{93ED9EBC-167F-2E4D-95F3-A4D03AE7EF80}" srcOrd="0" destOrd="0" presId="urn:microsoft.com/office/officeart/2005/8/layout/hList1"/>
    <dgm:cxn modelId="{7CB9AAC0-8693-F54F-850E-42F0EAAC6096}" type="presOf" srcId="{C7068983-BA20-4AF9-BEA6-1EB221C9D4FE}" destId="{DE7BAC29-FEB2-4741-84C4-C33C5AD7E149}" srcOrd="0" destOrd="1" presId="urn:microsoft.com/office/officeart/2005/8/layout/hList1"/>
    <dgm:cxn modelId="{9559A2C1-67B5-4541-880C-F0BD1B53796A}" type="presOf" srcId="{18992D61-93F5-45ED-812D-FE16D6FC939C}" destId="{6F63F373-0A2F-6A48-BBEB-71954B8DEED0}" srcOrd="0" destOrd="0" presId="urn:microsoft.com/office/officeart/2005/8/layout/hList1"/>
    <dgm:cxn modelId="{177CB5F0-73C2-B045-9B8E-EC1D1D4FBEE1}" type="presOf" srcId="{AE11CD5F-E4B2-4B54-B250-D4E577024FC8}" destId="{2C13D872-FB19-584C-93D8-6679489C8776}" srcOrd="0" destOrd="0" presId="urn:microsoft.com/office/officeart/2005/8/layout/hList1"/>
    <dgm:cxn modelId="{F925A0FD-3C2B-5F4E-B397-A617201A227D}" type="presOf" srcId="{D8182B42-16AC-40FE-824E-C2EE5D3A55F6}" destId="{7CAF91D2-1896-9B47-A450-CF11E6998751}" srcOrd="0" destOrd="1" presId="urn:microsoft.com/office/officeart/2005/8/layout/hList1"/>
    <dgm:cxn modelId="{F0BDDDC3-DCF5-DC4C-B570-8F52DC32D81F}" type="presParOf" srcId="{6F63F373-0A2F-6A48-BBEB-71954B8DEED0}" destId="{668336D9-6200-E94F-B2B3-52A117B11811}" srcOrd="0" destOrd="0" presId="urn:microsoft.com/office/officeart/2005/8/layout/hList1"/>
    <dgm:cxn modelId="{86DB4F41-8E9B-DF44-9C29-6402FB75A649}" type="presParOf" srcId="{668336D9-6200-E94F-B2B3-52A117B11811}" destId="{2C13D872-FB19-584C-93D8-6679489C8776}" srcOrd="0" destOrd="0" presId="urn:microsoft.com/office/officeart/2005/8/layout/hList1"/>
    <dgm:cxn modelId="{73695D61-47C5-414A-A7B6-6BD8B4E396F3}" type="presParOf" srcId="{668336D9-6200-E94F-B2B3-52A117B11811}" destId="{74F09CDE-94BC-0E4B-B713-4CD422AA1C55}" srcOrd="1" destOrd="0" presId="urn:microsoft.com/office/officeart/2005/8/layout/hList1"/>
    <dgm:cxn modelId="{54B0C545-CD7B-6C48-9ED9-BA07F04ED3AA}" type="presParOf" srcId="{6F63F373-0A2F-6A48-BBEB-71954B8DEED0}" destId="{0E07AD0D-3B73-5646-9A78-3947EB2AB8C8}" srcOrd="1" destOrd="0" presId="urn:microsoft.com/office/officeart/2005/8/layout/hList1"/>
    <dgm:cxn modelId="{B9FE4F05-C1B6-8B41-B598-0C455D890FB1}" type="presParOf" srcId="{6F63F373-0A2F-6A48-BBEB-71954B8DEED0}" destId="{DE4C54BD-9855-7449-BEC8-98F923F67D27}" srcOrd="2" destOrd="0" presId="urn:microsoft.com/office/officeart/2005/8/layout/hList1"/>
    <dgm:cxn modelId="{1F7D4B0E-C2DE-354C-B1E2-84EF91E5E00B}" type="presParOf" srcId="{DE4C54BD-9855-7449-BEC8-98F923F67D27}" destId="{93ED9EBC-167F-2E4D-95F3-A4D03AE7EF80}" srcOrd="0" destOrd="0" presId="urn:microsoft.com/office/officeart/2005/8/layout/hList1"/>
    <dgm:cxn modelId="{26C14A35-5754-0240-B3EC-D2E8133D9233}" type="presParOf" srcId="{DE4C54BD-9855-7449-BEC8-98F923F67D27}" destId="{DE7BAC29-FEB2-4741-84C4-C33C5AD7E149}" srcOrd="1" destOrd="0" presId="urn:microsoft.com/office/officeart/2005/8/layout/hList1"/>
    <dgm:cxn modelId="{56C793D7-9267-A54E-97E1-36BD2A288E77}" type="presParOf" srcId="{6F63F373-0A2F-6A48-BBEB-71954B8DEED0}" destId="{E8FB2EA0-3226-F84E-99CA-61A4BE9CA725}" srcOrd="3" destOrd="0" presId="urn:microsoft.com/office/officeart/2005/8/layout/hList1"/>
    <dgm:cxn modelId="{7D01C897-60E7-7C4C-A66B-75F62E3F49FA}" type="presParOf" srcId="{6F63F373-0A2F-6A48-BBEB-71954B8DEED0}" destId="{38CCFC37-428C-B349-B499-35FE62DE4F79}" srcOrd="4" destOrd="0" presId="urn:microsoft.com/office/officeart/2005/8/layout/hList1"/>
    <dgm:cxn modelId="{171101DF-6D24-B14D-ABC9-C41BD53B1330}" type="presParOf" srcId="{38CCFC37-428C-B349-B499-35FE62DE4F79}" destId="{1EA27C22-34A5-894D-93DD-CF53CE5D96C9}" srcOrd="0" destOrd="0" presId="urn:microsoft.com/office/officeart/2005/8/layout/hList1"/>
    <dgm:cxn modelId="{0ECBFC0B-D10B-3C4D-9E97-AB2780938287}" type="presParOf" srcId="{38CCFC37-428C-B349-B499-35FE62DE4F79}" destId="{7CAF91D2-1896-9B47-A450-CF11E699875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E4A0A7-CD6E-2546-87D6-A922AE3EA4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42ACC404-36AA-9E44-9BFF-80056FE02F0E}">
      <dgm:prSet custT="1"/>
      <dgm:spPr/>
      <dgm:t>
        <a:bodyPr rtlCol="1"/>
        <a:lstStyle/>
        <a:p>
          <a:pPr rtl="1"/>
          <a:r>
            <a:rPr lang="ar" sz="4200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جودة الهواء </a:t>
          </a:r>
        </a:p>
      </dgm:t>
    </dgm:pt>
    <dgm:pt modelId="{5ADE0E58-938E-5544-9F01-01F23A9E0230}" type="parTrans" cxnId="{FAF111D3-89D0-1941-B739-5614B1D03C94}">
      <dgm:prSet/>
      <dgm:spPr/>
      <dgm:t>
        <a:bodyPr rtlCol="1"/>
        <a:lstStyle/>
        <a:p>
          <a:pPr rtl="1"/>
          <a:endParaRPr lang="en-GB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CA811EC-583C-C840-91EC-A84229FB7F41}" type="sibTrans" cxnId="{FAF111D3-89D0-1941-B739-5614B1D03C94}">
      <dgm:prSet/>
      <dgm:spPr/>
      <dgm:t>
        <a:bodyPr rtlCol="1"/>
        <a:lstStyle/>
        <a:p>
          <a:pPr rtl="1"/>
          <a:endParaRPr lang="en-GB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5FAF7384-4320-1B40-BC28-60340740C25E}">
      <dgm:prSet custT="1"/>
      <dgm:spPr/>
      <dgm:t>
        <a:bodyPr rtlCol="1"/>
        <a:lstStyle/>
        <a:p>
          <a:pPr rtl="1"/>
          <a:r>
            <a:rPr lang="ar" sz="2200" i="0" dirty="0">
              <a:latin typeface="Sakkal Majalla" panose="02000000000000000000" pitchFamily="2" charset="-78"/>
              <a:cs typeface="Sakkal Majalla" panose="02000000000000000000" pitchFamily="2" charset="-78"/>
            </a:rPr>
            <a:t>جودة الهواء الداخلي من خلال </a:t>
          </a:r>
          <a:r>
            <a:rPr lang="ar-JO" sz="2200" i="0" dirty="0">
              <a:latin typeface="Sakkal Majalla" panose="02000000000000000000" pitchFamily="2" charset="-78"/>
              <a:cs typeface="Sakkal Majalla" panose="02000000000000000000" pitchFamily="2" charset="-78"/>
            </a:rPr>
            <a:t>ال</a:t>
          </a:r>
          <a:r>
            <a:rPr lang="ar" sz="2200" i="0" dirty="0">
              <a:latin typeface="Sakkal Majalla" panose="02000000000000000000" pitchFamily="2" charset="-78"/>
              <a:cs typeface="Sakkal Majalla" panose="02000000000000000000" pitchFamily="2" charset="-78"/>
            </a:rPr>
            <a:t>تكييف</a:t>
          </a:r>
          <a:r>
            <a:rPr lang="ar-JO" sz="2200" i="0" dirty="0">
              <a:latin typeface="Sakkal Majalla" panose="02000000000000000000" pitchFamily="2" charset="-78"/>
              <a:cs typeface="Sakkal Majalla" panose="02000000000000000000" pitchFamily="2" charset="-78"/>
            </a:rPr>
            <a:t>، </a:t>
          </a:r>
          <a:r>
            <a:rPr lang="ar" sz="2200" i="0" dirty="0">
              <a:latin typeface="Sakkal Majalla" panose="02000000000000000000" pitchFamily="2" charset="-78"/>
              <a:cs typeface="Sakkal Majalla" panose="02000000000000000000" pitchFamily="2" charset="-78"/>
            </a:rPr>
            <a:t>وانبعاثات الهواء والضوضاء</a:t>
          </a:r>
        </a:p>
      </dgm:t>
    </dgm:pt>
    <dgm:pt modelId="{77200C18-637B-2147-BBE6-260984E0E6AF}" type="parTrans" cxnId="{D55D1EE1-962D-F240-B38E-FC58EAD7DFD1}">
      <dgm:prSet/>
      <dgm:spPr/>
      <dgm:t>
        <a:bodyPr rtlCol="1"/>
        <a:lstStyle/>
        <a:p>
          <a:pPr rtl="1"/>
          <a:endParaRPr lang="en-GB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84A2DFF6-7824-E64E-B3D0-DCEFC0523D0A}" type="sibTrans" cxnId="{D55D1EE1-962D-F240-B38E-FC58EAD7DFD1}">
      <dgm:prSet/>
      <dgm:spPr/>
      <dgm:t>
        <a:bodyPr rtlCol="1"/>
        <a:lstStyle/>
        <a:p>
          <a:pPr rtl="1"/>
          <a:endParaRPr lang="en-GB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18F2E3A-8A42-4544-B9D1-B1C8E0FA97FD}">
      <dgm:prSet custT="1"/>
      <dgm:spPr/>
      <dgm:t>
        <a:bodyPr rtlCol="1"/>
        <a:lstStyle/>
        <a:p>
          <a:pPr rtl="1"/>
          <a:r>
            <a:rPr lang="ar" sz="2200" i="0" dirty="0">
              <a:latin typeface="Sakkal Majalla" panose="02000000000000000000" pitchFamily="2" charset="-78"/>
              <a:cs typeface="Sakkal Majalla" panose="02000000000000000000" pitchFamily="2" charset="-78"/>
            </a:rPr>
            <a:t>على سبيل المثال، تلبية جميع التشريعات البيئية المتعلقة بالشركة أو تجاوزها.</a:t>
          </a:r>
        </a:p>
      </dgm:t>
    </dgm:pt>
    <dgm:pt modelId="{596D3A24-4BB1-AD4F-95FE-E922BFB25429}" type="parTrans" cxnId="{645745FC-8513-F842-861C-A0B0A526479B}">
      <dgm:prSet/>
      <dgm:spPr/>
      <dgm:t>
        <a:bodyPr rtlCol="1"/>
        <a:lstStyle/>
        <a:p>
          <a:pPr rtl="1"/>
          <a:endParaRPr lang="en-GB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45ED914B-CD0A-9647-ABF0-DFF0A158B567}" type="sibTrans" cxnId="{645745FC-8513-F842-861C-A0B0A526479B}">
      <dgm:prSet/>
      <dgm:spPr/>
      <dgm:t>
        <a:bodyPr rtlCol="1"/>
        <a:lstStyle/>
        <a:p>
          <a:pPr rtl="1"/>
          <a:endParaRPr lang="en-GB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51F6533-817F-114F-A4F7-F2DA92832C9C}" type="pres">
      <dgm:prSet presAssocID="{CCE4A0A7-CD6E-2546-87D6-A922AE3EA4A0}" presName="linear" presStyleCnt="0">
        <dgm:presLayoutVars>
          <dgm:animLvl val="lvl"/>
          <dgm:resizeHandles val="exact"/>
        </dgm:presLayoutVars>
      </dgm:prSet>
      <dgm:spPr/>
    </dgm:pt>
    <dgm:pt modelId="{4B372E20-AF9F-6E45-8782-C9EF54F484A6}" type="pres">
      <dgm:prSet presAssocID="{42ACC404-36AA-9E44-9BFF-80056FE02F0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9EFBFAD-8D66-8745-8777-397110B0D13E}" type="pres">
      <dgm:prSet presAssocID="{42ACC404-36AA-9E44-9BFF-80056FE02F0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0157F6B-9EE0-3947-AC72-A1C87301136F}" type="presOf" srcId="{CCE4A0A7-CD6E-2546-87D6-A922AE3EA4A0}" destId="{651F6533-817F-114F-A4F7-F2DA92832C9C}" srcOrd="0" destOrd="0" presId="urn:microsoft.com/office/officeart/2005/8/layout/vList2"/>
    <dgm:cxn modelId="{7BF797B1-651D-BC49-89A3-D1E9A69F7762}" type="presOf" srcId="{618F2E3A-8A42-4544-B9D1-B1C8E0FA97FD}" destId="{59EFBFAD-8D66-8745-8777-397110B0D13E}" srcOrd="0" destOrd="1" presId="urn:microsoft.com/office/officeart/2005/8/layout/vList2"/>
    <dgm:cxn modelId="{FAF111D3-89D0-1941-B739-5614B1D03C94}" srcId="{CCE4A0A7-CD6E-2546-87D6-A922AE3EA4A0}" destId="{42ACC404-36AA-9E44-9BFF-80056FE02F0E}" srcOrd="0" destOrd="0" parTransId="{5ADE0E58-938E-5544-9F01-01F23A9E0230}" sibTransId="{ACA811EC-583C-C840-91EC-A84229FB7F41}"/>
    <dgm:cxn modelId="{81C1C5E0-5473-0343-881B-755B5CF7E525}" type="presOf" srcId="{42ACC404-36AA-9E44-9BFF-80056FE02F0E}" destId="{4B372E20-AF9F-6E45-8782-C9EF54F484A6}" srcOrd="0" destOrd="0" presId="urn:microsoft.com/office/officeart/2005/8/layout/vList2"/>
    <dgm:cxn modelId="{D55D1EE1-962D-F240-B38E-FC58EAD7DFD1}" srcId="{42ACC404-36AA-9E44-9BFF-80056FE02F0E}" destId="{5FAF7384-4320-1B40-BC28-60340740C25E}" srcOrd="0" destOrd="0" parTransId="{77200C18-637B-2147-BBE6-260984E0E6AF}" sibTransId="{84A2DFF6-7824-E64E-B3D0-DCEFC0523D0A}"/>
    <dgm:cxn modelId="{3BB6BAEC-86AB-4E44-9369-4E51F71A5CDE}" type="presOf" srcId="{5FAF7384-4320-1B40-BC28-60340740C25E}" destId="{59EFBFAD-8D66-8745-8777-397110B0D13E}" srcOrd="0" destOrd="0" presId="urn:microsoft.com/office/officeart/2005/8/layout/vList2"/>
    <dgm:cxn modelId="{645745FC-8513-F842-861C-A0B0A526479B}" srcId="{42ACC404-36AA-9E44-9BFF-80056FE02F0E}" destId="{618F2E3A-8A42-4544-B9D1-B1C8E0FA97FD}" srcOrd="1" destOrd="0" parTransId="{596D3A24-4BB1-AD4F-95FE-E922BFB25429}" sibTransId="{45ED914B-CD0A-9647-ABF0-DFF0A158B567}"/>
    <dgm:cxn modelId="{6365D8DC-17A9-0F42-973C-452BDB351617}" type="presParOf" srcId="{651F6533-817F-114F-A4F7-F2DA92832C9C}" destId="{4B372E20-AF9F-6E45-8782-C9EF54F484A6}" srcOrd="0" destOrd="0" presId="urn:microsoft.com/office/officeart/2005/8/layout/vList2"/>
    <dgm:cxn modelId="{032ED9B8-86EA-074A-BB8A-DBD8825CFC98}" type="presParOf" srcId="{651F6533-817F-114F-A4F7-F2DA92832C9C}" destId="{59EFBFAD-8D66-8745-8777-397110B0D13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056BBB-49DD-8941-8D8E-9D82DF477CD0}">
      <dsp:nvSpPr>
        <dsp:cNvPr id="0" name=""/>
        <dsp:cNvSpPr/>
      </dsp:nvSpPr>
      <dsp:spPr>
        <a:xfrm>
          <a:off x="0" y="19697"/>
          <a:ext cx="8207375" cy="1160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أ </a:t>
          </a:r>
          <a:r>
            <a:rPr lang="ar" sz="3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فهم تأثير مجال الضيافة في البيئة.</a:t>
          </a:r>
          <a:endParaRPr lang="en-US" sz="34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6658" y="76355"/>
        <a:ext cx="8094059" cy="1047324"/>
      </dsp:txXfrm>
    </dsp:sp>
    <dsp:sp modelId="{D1827656-EF55-C449-9672-F3030A737EBD}">
      <dsp:nvSpPr>
        <dsp:cNvPr id="0" name=""/>
        <dsp:cNvSpPr/>
      </dsp:nvSpPr>
      <dsp:spPr>
        <a:xfrm>
          <a:off x="0" y="1449722"/>
          <a:ext cx="8207375" cy="1160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ب</a:t>
          </a:r>
          <a:r>
            <a:rPr lang="ar" sz="3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إجراء بحث حول </a:t>
          </a:r>
          <a:r>
            <a:rPr lang="ar-JO" sz="3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قضية</a:t>
          </a:r>
          <a:r>
            <a:rPr lang="ar" sz="3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بيئية في شركة في مجال الضيافة</a:t>
          </a:r>
          <a:endParaRPr lang="en-US" sz="34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6658" y="1506380"/>
        <a:ext cx="8094059" cy="1047324"/>
      </dsp:txXfrm>
    </dsp:sp>
    <dsp:sp modelId="{728D69C0-99E4-CB4F-80F3-8376E390E820}">
      <dsp:nvSpPr>
        <dsp:cNvPr id="0" name=""/>
        <dsp:cNvSpPr/>
      </dsp:nvSpPr>
      <dsp:spPr>
        <a:xfrm>
          <a:off x="0" y="2717796"/>
          <a:ext cx="8207375" cy="1160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ج</a:t>
          </a:r>
          <a:r>
            <a:rPr lang="ar" sz="3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وضع سياسة بيئية </a:t>
          </a:r>
          <a:r>
            <a:rPr lang="ar-JO" sz="3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لأعمال</a:t>
          </a:r>
          <a:r>
            <a:rPr lang="ar" sz="3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lang="ar-JO" sz="3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</a:t>
          </a:r>
          <a:r>
            <a:rPr lang="ar" sz="3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ضيافة</a:t>
          </a:r>
          <a:endParaRPr lang="en-US" sz="34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6658" y="2774454"/>
        <a:ext cx="8094059" cy="10473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B8658-19FB-8A41-9914-78B1AE37FA01}">
      <dsp:nvSpPr>
        <dsp:cNvPr id="0" name=""/>
        <dsp:cNvSpPr/>
      </dsp:nvSpPr>
      <dsp:spPr>
        <a:xfrm>
          <a:off x="1694" y="0"/>
          <a:ext cx="4024100" cy="40241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rtlCol="1" anchor="ctr" anchorCtr="1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إمكانية تأثير خيارات العملاء على البيئة </a:t>
          </a:r>
        </a:p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إيجابي</a:t>
          </a:r>
          <a:r>
            <a:rPr lang="ar" sz="1800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: </a:t>
          </a:r>
          <a:endParaRPr lang="en-GB" sz="1800" i="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71450" lvl="1" indent="-171450" algn="ct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800" i="0" kern="1200">
              <a:latin typeface="Sakkal Majalla" panose="02000000000000000000" pitchFamily="2" charset="-78"/>
              <a:cs typeface="Sakkal Majalla" panose="02000000000000000000" pitchFamily="2" charset="-78"/>
            </a:rPr>
            <a:t>من خلال زيارة العملاء لإحدى المؤسسات المستدامة، يمكنهم تخفيض بصمتهم الكربونية</a:t>
          </a:r>
          <a:endParaRPr lang="en-GB" sz="1800" i="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71450" lvl="1" indent="-171450" algn="ct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800" b="1" i="0" kern="1200">
              <a:latin typeface="Sakkal Majalla" panose="02000000000000000000" pitchFamily="2" charset="-78"/>
              <a:cs typeface="Sakkal Majalla" panose="02000000000000000000" pitchFamily="2" charset="-78"/>
            </a:rPr>
            <a:t>سلبي</a:t>
          </a:r>
          <a:r>
            <a:rPr lang="ar" sz="1800" i="0" kern="1200">
              <a:latin typeface="Sakkal Majalla" panose="02000000000000000000" pitchFamily="2" charset="-78"/>
              <a:cs typeface="Sakkal Majalla" panose="02000000000000000000" pitchFamily="2" charset="-78"/>
            </a:rPr>
            <a:t>:</a:t>
          </a:r>
          <a:endParaRPr lang="en-GB" sz="1800" i="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71450" lvl="1" indent="-171450" algn="ct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800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قد يكون لزيادة العملاء تأثير ضار على البيئة المحلية.</a:t>
          </a:r>
          <a:endParaRPr lang="en-GB" sz="1800" i="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91010" y="589316"/>
        <a:ext cx="2845468" cy="28454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C269CA-9BC8-624C-819D-F104DEFAE7D1}">
      <dsp:nvSpPr>
        <dsp:cNvPr id="0" name=""/>
        <dsp:cNvSpPr/>
      </dsp:nvSpPr>
      <dsp:spPr>
        <a:xfrm>
          <a:off x="0" y="3139081"/>
          <a:ext cx="7991475" cy="126129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rtlCol="1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b="1" kern="120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التقييم</a:t>
          </a:r>
          <a:endParaRPr lang="en-US" sz="2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3139081"/>
        <a:ext cx="7991475" cy="681096"/>
      </dsp:txXfrm>
    </dsp:sp>
    <dsp:sp modelId="{AFD1D408-6992-3749-A17C-C9F60292F2F2}">
      <dsp:nvSpPr>
        <dsp:cNvPr id="0" name=""/>
        <dsp:cNvSpPr/>
      </dsp:nvSpPr>
      <dsp:spPr>
        <a:xfrm>
          <a:off x="0" y="3820356"/>
          <a:ext cx="7991475" cy="580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rtlCol="1" anchor="ctr" anchorCtr="0">
          <a:noAutofit/>
        </a:bodyPr>
        <a:lstStyle/>
        <a:p>
          <a:pPr marL="0" lvl="0" indent="0" algn="ctr" defTabSz="977900" rtl="1">
            <a:lnSpc>
              <a:spcPct val="3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تقييم السياسة ومراجعة نتاجاتها وغاياتها، والتأكد من واقعية وقابلية تحقيقها. </a:t>
          </a:r>
        </a:p>
        <a:p>
          <a:pPr marL="0" lvl="0" indent="0" algn="ctr" defTabSz="977900" rtl="1">
            <a:lnSpc>
              <a:spcPct val="3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هل تلبي احتياجات الشركة؟</a:t>
          </a:r>
          <a:endParaRPr lang="en-US" sz="22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3820356"/>
        <a:ext cx="7991475" cy="580193"/>
      </dsp:txXfrm>
    </dsp:sp>
    <dsp:sp modelId="{EF9E3069-1F10-4A4D-8D10-0EEEF816E973}">
      <dsp:nvSpPr>
        <dsp:cNvPr id="0" name=""/>
        <dsp:cNvSpPr/>
      </dsp:nvSpPr>
      <dsp:spPr>
        <a:xfrm rot="10800000">
          <a:off x="0" y="1218135"/>
          <a:ext cx="7991475" cy="1939864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rtlCol="1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ملخص النتائج</a:t>
          </a:r>
          <a:endParaRPr lang="en-US" sz="2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-10800000">
        <a:off x="0" y="1218135"/>
        <a:ext cx="7991475" cy="680892"/>
      </dsp:txXfrm>
    </dsp:sp>
    <dsp:sp modelId="{BBCEA547-93BD-A74B-B16A-54E98CB59EAD}">
      <dsp:nvSpPr>
        <dsp:cNvPr id="0" name=""/>
        <dsp:cNvSpPr/>
      </dsp:nvSpPr>
      <dsp:spPr>
        <a:xfrm>
          <a:off x="0" y="1899028"/>
          <a:ext cx="7991475" cy="5800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rtlCol="1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ربط النتائج بنتاجات البحث</a:t>
          </a:r>
          <a:endParaRPr lang="en-US" sz="22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1899028"/>
        <a:ext cx="7991475" cy="580019"/>
      </dsp:txXfrm>
    </dsp:sp>
    <dsp:sp modelId="{37298C50-E9E7-144D-A78F-3D360DD6F833}">
      <dsp:nvSpPr>
        <dsp:cNvPr id="0" name=""/>
        <dsp:cNvSpPr/>
      </dsp:nvSpPr>
      <dsp:spPr>
        <a:xfrm rot="10800000">
          <a:off x="0" y="178"/>
          <a:ext cx="7991475" cy="1236877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rtlCol="1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الاستنتاجات </a:t>
          </a:r>
          <a:endParaRPr lang="en-US" sz="2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10800000">
        <a:off x="0" y="178"/>
        <a:ext cx="7991475" cy="8036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13D872-FB19-584C-93D8-6679489C8776}">
      <dsp:nvSpPr>
        <dsp:cNvPr id="0" name=""/>
        <dsp:cNvSpPr/>
      </dsp:nvSpPr>
      <dsp:spPr>
        <a:xfrm>
          <a:off x="2497" y="216799"/>
          <a:ext cx="2434902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i="0" kern="120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الطاقة</a:t>
          </a:r>
          <a:endParaRPr lang="en-US" sz="2000" b="1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497" y="216799"/>
        <a:ext cx="2434902" cy="576000"/>
      </dsp:txXfrm>
    </dsp:sp>
    <dsp:sp modelId="{74F09CDE-94BC-0E4B-B713-4CD422AA1C55}">
      <dsp:nvSpPr>
        <dsp:cNvPr id="0" name=""/>
        <dsp:cNvSpPr/>
      </dsp:nvSpPr>
      <dsp:spPr>
        <a:xfrm>
          <a:off x="2497" y="792799"/>
          <a:ext cx="2434902" cy="259402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rtlCol="1" anchor="t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i="0" kern="120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المصادر والاستخدام </a:t>
          </a:r>
          <a:endParaRPr lang="en-US" sz="2000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على سبيل المثال، البحث عن مصادر طاقة أكثر مراعاة للبيئة واستخدام طاقة أقل بشكل عام</a:t>
          </a:r>
          <a:endParaRPr lang="en-US" sz="2000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497" y="792799"/>
        <a:ext cx="2434902" cy="2594024"/>
      </dsp:txXfrm>
    </dsp:sp>
    <dsp:sp modelId="{93ED9EBC-167F-2E4D-95F3-A4D03AE7EF80}">
      <dsp:nvSpPr>
        <dsp:cNvPr id="0" name=""/>
        <dsp:cNvSpPr/>
      </dsp:nvSpPr>
      <dsp:spPr>
        <a:xfrm>
          <a:off x="2778286" y="216799"/>
          <a:ext cx="2434902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i="0" kern="120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المياه</a:t>
          </a:r>
          <a:endParaRPr lang="en-US" sz="2000" b="1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778286" y="216799"/>
        <a:ext cx="2434902" cy="576000"/>
      </dsp:txXfrm>
    </dsp:sp>
    <dsp:sp modelId="{DE7BAC29-FEB2-4741-84C4-C33C5AD7E149}">
      <dsp:nvSpPr>
        <dsp:cNvPr id="0" name=""/>
        <dsp:cNvSpPr/>
      </dsp:nvSpPr>
      <dsp:spPr>
        <a:xfrm>
          <a:off x="2778286" y="792799"/>
          <a:ext cx="2434902" cy="259402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rtlCol="1" anchor="t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i="0" kern="120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الاستهلاك والجودة ومعالجة مياه الصرف الصحي </a:t>
          </a:r>
          <a:endParaRPr lang="en-US" sz="2000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تقليل النفايات من خلال مراجعة العمليات وضمان كفاءتها قدر الإمكان</a:t>
          </a:r>
          <a:endParaRPr lang="en-US" sz="2000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778286" y="792799"/>
        <a:ext cx="2434902" cy="2594024"/>
      </dsp:txXfrm>
    </dsp:sp>
    <dsp:sp modelId="{1EA27C22-34A5-894D-93DD-CF53CE5D96C9}">
      <dsp:nvSpPr>
        <dsp:cNvPr id="0" name=""/>
        <dsp:cNvSpPr/>
      </dsp:nvSpPr>
      <dsp:spPr>
        <a:xfrm>
          <a:off x="5554075" y="216799"/>
          <a:ext cx="2434902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النفايات</a:t>
          </a:r>
          <a:endParaRPr lang="en-US" sz="2000" b="1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554075" y="216799"/>
        <a:ext cx="2434902" cy="576000"/>
      </dsp:txXfrm>
    </dsp:sp>
    <dsp:sp modelId="{7CAF91D2-1896-9B47-A450-CF11E6998751}">
      <dsp:nvSpPr>
        <dsp:cNvPr id="0" name=""/>
        <dsp:cNvSpPr/>
      </dsp:nvSpPr>
      <dsp:spPr>
        <a:xfrm>
          <a:off x="5554075" y="792799"/>
          <a:ext cx="2434902" cy="259402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rtlCol="1" anchor="t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فرص تجنب النفايات، وإعادة استخدامها، وإعادة تدويرها </a:t>
          </a:r>
          <a:endParaRPr lang="en-US" sz="2000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على سبيل المثال، الترويج بفاعلية لإعادة التدوير، سواء على المستوى الداخلي أو بين عملائها ومورديها</a:t>
          </a:r>
          <a:endParaRPr lang="en-US" sz="2000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554075" y="792799"/>
        <a:ext cx="2434902" cy="25940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372E20-AF9F-6E45-8782-C9EF54F484A6}">
      <dsp:nvSpPr>
        <dsp:cNvPr id="0" name=""/>
        <dsp:cNvSpPr/>
      </dsp:nvSpPr>
      <dsp:spPr>
        <a:xfrm>
          <a:off x="0" y="613168"/>
          <a:ext cx="4027487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rtlCol="1" anchor="ctr" anchorCtr="0">
          <a:noAutofit/>
        </a:bodyPr>
        <a:lstStyle/>
        <a:p>
          <a:pPr marL="0" lvl="0" indent="0" algn="r" defTabSz="1866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4200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جودة الهواء </a:t>
          </a:r>
        </a:p>
      </dsp:txBody>
      <dsp:txXfrm>
        <a:off x="59399" y="672567"/>
        <a:ext cx="3908689" cy="1098002"/>
      </dsp:txXfrm>
    </dsp:sp>
    <dsp:sp modelId="{59EFBFAD-8D66-8745-8777-397110B0D13E}">
      <dsp:nvSpPr>
        <dsp:cNvPr id="0" name=""/>
        <dsp:cNvSpPr/>
      </dsp:nvSpPr>
      <dsp:spPr>
        <a:xfrm>
          <a:off x="0" y="1829968"/>
          <a:ext cx="4027487" cy="158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873" tIns="27940" rIns="156464" bIns="27940" numCol="1" spcCol="1270" rtlCol="1" anchor="t" anchorCtr="0">
          <a:noAutofit/>
        </a:bodyPr>
        <a:lstStyle/>
        <a:p>
          <a:pPr marL="228600" lvl="1" indent="-228600" algn="r" defTabSz="977900" rtl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" sz="2200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جودة الهواء الداخلي من خلال </a:t>
          </a:r>
          <a:r>
            <a:rPr lang="ar-JO" sz="2200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</a:t>
          </a:r>
          <a:r>
            <a:rPr lang="ar" sz="2200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تكييف</a:t>
          </a:r>
          <a:r>
            <a:rPr lang="ar-JO" sz="2200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، </a:t>
          </a:r>
          <a:r>
            <a:rPr lang="ar" sz="2200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وانبعاثات الهواء والضوضاء</a:t>
          </a:r>
        </a:p>
        <a:p>
          <a:pPr marL="228600" lvl="1" indent="-228600" algn="r" defTabSz="977900" rtl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" sz="2200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على سبيل المثال، تلبية جميع التشريعات البيئية المتعلقة بالشركة أو تجاوزها.</a:t>
          </a:r>
        </a:p>
      </dsp:txBody>
      <dsp:txXfrm>
        <a:off x="0" y="1829968"/>
        <a:ext cx="4027487" cy="15809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48362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67105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09589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36937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46755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0858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75457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95004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95546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86530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733678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92164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063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14648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6953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4293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020441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116241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7953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8460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7544345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090728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797853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720720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154447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627778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833947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50894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>
              <a:latin typeface="Arial" panose="020B0604020202020204" pitchFamily="34" charset="0"/>
            </a:endParaRPr>
          </a:p>
          <a:p>
            <a:pPr rtl="1"/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36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292308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38162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56498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1116912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3501364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494035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19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20" y="190"/>
            <a:ext cx="914076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  <p:sldLayoutId id="2147484934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0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9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1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16.png"/><Relationship Id="rId5" Type="http://schemas.openxmlformats.org/officeDocument/2006/relationships/diagramLayout" Target="../diagrams/layout2.xml"/><Relationship Id="rId10" Type="http://schemas.openxmlformats.org/officeDocument/2006/relationships/image" Target="../media/image15.svg"/><Relationship Id="rId4" Type="http://schemas.openxmlformats.org/officeDocument/2006/relationships/diagramData" Target="../diagrams/data2.xml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2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audio" Target="../media/audio1.bin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0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3" Type="http://schemas.openxmlformats.org/officeDocument/2006/relationships/audio" Target="../media/audio1.bin"/><Relationship Id="rId7" Type="http://schemas.openxmlformats.org/officeDocument/2006/relationships/image" Target="../media/image29.sv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5" Type="http://schemas.openxmlformats.org/officeDocument/2006/relationships/image" Target="../media/image3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svg"/><Relationship Id="rId1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2.xml"/><Relationship Id="rId4" Type="http://schemas.openxmlformats.org/officeDocument/2006/relationships/image" Target="../media/image38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audio" Target="../media/audio1.bin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41.png"/><Relationship Id="rId11" Type="http://schemas.openxmlformats.org/officeDocument/2006/relationships/image" Target="../media/image44.svg"/><Relationship Id="rId5" Type="http://schemas.openxmlformats.org/officeDocument/2006/relationships/image" Target="../media/image40.svg"/><Relationship Id="rId10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2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4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1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0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svg"/><Relationship Id="rId3" Type="http://schemas.openxmlformats.org/officeDocument/2006/relationships/audio" Target="../media/audio1.bin"/><Relationship Id="rId7" Type="http://schemas.openxmlformats.org/officeDocument/2006/relationships/image" Target="../media/image49.sv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5" Type="http://schemas.openxmlformats.org/officeDocument/2006/relationships/image" Target="../media/image47.sv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svg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0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5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0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svg"/><Relationship Id="rId3" Type="http://schemas.openxmlformats.org/officeDocument/2006/relationships/audio" Target="../media/audio1.bin"/><Relationship Id="rId7" Type="http://schemas.openxmlformats.org/officeDocument/2006/relationships/image" Target="../media/image60.sv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59.png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5" Type="http://schemas.openxmlformats.org/officeDocument/2006/relationships/image" Target="../media/image68.sv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svg"/><Relationship Id="rId14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02</a:t>
            </a:r>
            <a:br>
              <a:rPr lang="en-GB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البيئة والاستدامة في مجال الضيافة</a:t>
            </a:r>
            <a:br>
              <a:rPr lang="en-GB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wrap="square" rtlCol="1" anchor="t">
            <a:noAutofit/>
          </a:bodyPr>
          <a:lstStyle/>
          <a:p>
            <a:pPr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2024 محفوظة لشركة بيرسون إديوكيشن ليمتد يُسمح بالنسخ للمؤسسة المشترية فقط.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AA94B14-53ED-50E6-D1D2-5AB62DB00B9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البيئة والاستدامة في مجال الضيافة</a:t>
            </a:r>
            <a:br>
              <a:rPr lang="en-GB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1B9B0F3-C38F-1953-68D9-FB4922C380A1}"/>
              </a:ext>
            </a:extLst>
          </p:cNvPr>
          <p:cNvGrpSpPr/>
          <p:nvPr/>
        </p:nvGrpSpPr>
        <p:grpSpPr>
          <a:xfrm flipH="1">
            <a:off x="323850" y="2636838"/>
            <a:ext cx="8424862" cy="3825875"/>
            <a:chOff x="323850" y="2636838"/>
            <a:chExt cx="8424862" cy="3825875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7396A10-900B-E48E-92BA-63ABEC558459}"/>
                </a:ext>
              </a:extLst>
            </p:cNvPr>
            <p:cNvSpPr/>
            <p:nvPr/>
          </p:nvSpPr>
          <p:spPr>
            <a:xfrm>
              <a:off x="3356800" y="3019425"/>
              <a:ext cx="5391912" cy="3060701"/>
            </a:xfrm>
            <a:custGeom>
              <a:avLst/>
              <a:gdLst>
                <a:gd name="connsiteX0" fmla="*/ 510127 w 3060700"/>
                <a:gd name="connsiteY0" fmla="*/ 0 h 5391911"/>
                <a:gd name="connsiteX1" fmla="*/ 2550573 w 3060700"/>
                <a:gd name="connsiteY1" fmla="*/ 0 h 5391911"/>
                <a:gd name="connsiteX2" fmla="*/ 3060700 w 3060700"/>
                <a:gd name="connsiteY2" fmla="*/ 510127 h 5391911"/>
                <a:gd name="connsiteX3" fmla="*/ 3060700 w 3060700"/>
                <a:gd name="connsiteY3" fmla="*/ 5391911 h 5391911"/>
                <a:gd name="connsiteX4" fmla="*/ 3060700 w 3060700"/>
                <a:gd name="connsiteY4" fmla="*/ 5391911 h 5391911"/>
                <a:gd name="connsiteX5" fmla="*/ 0 w 3060700"/>
                <a:gd name="connsiteY5" fmla="*/ 5391911 h 5391911"/>
                <a:gd name="connsiteX6" fmla="*/ 0 w 3060700"/>
                <a:gd name="connsiteY6" fmla="*/ 5391911 h 5391911"/>
                <a:gd name="connsiteX7" fmla="*/ 0 w 3060700"/>
                <a:gd name="connsiteY7" fmla="*/ 510127 h 5391911"/>
                <a:gd name="connsiteX8" fmla="*/ 510127 w 3060700"/>
                <a:gd name="connsiteY8" fmla="*/ 0 h 539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60700" h="5391911">
                  <a:moveTo>
                    <a:pt x="3060700" y="898671"/>
                  </a:moveTo>
                  <a:lnTo>
                    <a:pt x="3060700" y="4493240"/>
                  </a:lnTo>
                  <a:cubicBezTo>
                    <a:pt x="3060700" y="4989561"/>
                    <a:pt x="2931054" y="5391910"/>
                    <a:pt x="2771128" y="5391910"/>
                  </a:cubicBezTo>
                  <a:lnTo>
                    <a:pt x="0" y="5391910"/>
                  </a:lnTo>
                  <a:lnTo>
                    <a:pt x="0" y="5391910"/>
                  </a:lnTo>
                  <a:lnTo>
                    <a:pt x="0" y="1"/>
                  </a:lnTo>
                  <a:lnTo>
                    <a:pt x="0" y="1"/>
                  </a:lnTo>
                  <a:lnTo>
                    <a:pt x="2771128" y="1"/>
                  </a:lnTo>
                  <a:cubicBezTo>
                    <a:pt x="2931054" y="1"/>
                    <a:pt x="3060700" y="402350"/>
                    <a:pt x="3060700" y="898671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273236" rIns="397061" bIns="273237" numCol="1" spcCol="1270" rtlCol="1" anchor="ctr" anchorCtr="0">
              <a:noAutofit/>
            </a:bodyPr>
            <a:lstStyle/>
            <a:p>
              <a:pPr marL="228600" lvl="1" indent="-228600" algn="r" defTabSz="11112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25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ما التأثيرات الإيجابية والسلبية لصناعة الضيافة على البيئة؟</a:t>
              </a:r>
            </a:p>
            <a:p>
              <a:pPr marL="228600" lvl="1" indent="-228600" algn="r" defTabSz="11112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25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كيفية إجراء بحث في مشكلة بيئية في مجال الضيافة.</a:t>
              </a:r>
            </a:p>
            <a:p>
              <a:pPr marL="228600" lvl="1" indent="-228600" algn="r" defTabSz="11112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25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كيفية وضع وتطبيق سياسة بيئية.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BD26D24-F5EB-511C-BA7A-A544403CE92D}"/>
                </a:ext>
              </a:extLst>
            </p:cNvPr>
            <p:cNvSpPr/>
            <p:nvPr/>
          </p:nvSpPr>
          <p:spPr>
            <a:xfrm>
              <a:off x="323850" y="2636838"/>
              <a:ext cx="3032950" cy="3825875"/>
            </a:xfrm>
            <a:custGeom>
              <a:avLst/>
              <a:gdLst>
                <a:gd name="connsiteX0" fmla="*/ 0 w 3032950"/>
                <a:gd name="connsiteY0" fmla="*/ 505502 h 3825875"/>
                <a:gd name="connsiteX1" fmla="*/ 505502 w 3032950"/>
                <a:gd name="connsiteY1" fmla="*/ 0 h 3825875"/>
                <a:gd name="connsiteX2" fmla="*/ 2527448 w 3032950"/>
                <a:gd name="connsiteY2" fmla="*/ 0 h 3825875"/>
                <a:gd name="connsiteX3" fmla="*/ 3032950 w 3032950"/>
                <a:gd name="connsiteY3" fmla="*/ 505502 h 3825875"/>
                <a:gd name="connsiteX4" fmla="*/ 3032950 w 3032950"/>
                <a:gd name="connsiteY4" fmla="*/ 3320373 h 3825875"/>
                <a:gd name="connsiteX5" fmla="*/ 2527448 w 3032950"/>
                <a:gd name="connsiteY5" fmla="*/ 3825875 h 3825875"/>
                <a:gd name="connsiteX6" fmla="*/ 505502 w 3032950"/>
                <a:gd name="connsiteY6" fmla="*/ 3825875 h 3825875"/>
                <a:gd name="connsiteX7" fmla="*/ 0 w 3032950"/>
                <a:gd name="connsiteY7" fmla="*/ 3320373 h 3825875"/>
                <a:gd name="connsiteX8" fmla="*/ 0 w 3032950"/>
                <a:gd name="connsiteY8" fmla="*/ 505502 h 38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32950" h="3825875">
                  <a:moveTo>
                    <a:pt x="0" y="505502"/>
                  </a:moveTo>
                  <a:cubicBezTo>
                    <a:pt x="0" y="226321"/>
                    <a:pt x="226321" y="0"/>
                    <a:pt x="505502" y="0"/>
                  </a:cubicBezTo>
                  <a:lnTo>
                    <a:pt x="2527448" y="0"/>
                  </a:lnTo>
                  <a:cubicBezTo>
                    <a:pt x="2806629" y="0"/>
                    <a:pt x="3032950" y="226321"/>
                    <a:pt x="3032950" y="505502"/>
                  </a:cubicBezTo>
                  <a:lnTo>
                    <a:pt x="3032950" y="3320373"/>
                  </a:lnTo>
                  <a:cubicBezTo>
                    <a:pt x="3032950" y="3599554"/>
                    <a:pt x="2806629" y="3825875"/>
                    <a:pt x="2527448" y="3825875"/>
                  </a:cubicBezTo>
                  <a:lnTo>
                    <a:pt x="505502" y="3825875"/>
                  </a:lnTo>
                  <a:cubicBezTo>
                    <a:pt x="226321" y="3825875"/>
                    <a:pt x="0" y="3599554"/>
                    <a:pt x="0" y="3320373"/>
                  </a:cubicBezTo>
                  <a:lnTo>
                    <a:pt x="0" y="50550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936" tIns="239496" rIns="330936" bIns="239496" numCol="1" spcCol="1270" rtlCol="1" anchor="ctr" anchorCtr="0">
              <a:noAutofit/>
            </a:bodyPr>
            <a:lstStyle/>
            <a:p>
              <a:pPr marL="0" lvl="0" indent="0" algn="ctr" defTabSz="21336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480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تتناول هذه الوحدة: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A5A7426-3AA4-A69D-8736-EC11F8BC9CE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نتاجات التعلم</a:t>
            </a:r>
            <a:endParaRPr lang="en-GB" alt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0FCC2661-2EE5-2EC3-E932-EC72E60266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1373484"/>
              </p:ext>
            </p:extLst>
          </p:nvPr>
        </p:nvGraphicFramePr>
        <p:xfrm>
          <a:off x="457200" y="2276872"/>
          <a:ext cx="8207375" cy="3878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C8D47-9BF7-53F9-ADD9-5BBC4405D4D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412872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</a:pP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التعلُّم أ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79977"/>
            <a:ext cx="8802216" cy="123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rtl="1"/>
            <a:r>
              <a:rPr lang="ar" sz="38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فهم تأثير مجال الضيافة في البيئة</a:t>
            </a:r>
            <a:endParaRPr lang="en-GB" sz="3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algn="ctr" rtl="1">
              <a:spcBef>
                <a:spcPct val="20000"/>
              </a:spcBef>
              <a:buFont typeface="Wingdings" pitchFamily="2" charset="2"/>
              <a:buChar char="§"/>
            </a:pPr>
            <a:endParaRPr lang="en-US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878635-5926-4FB6-BE34-B4920D2F2FA2}"/>
              </a:ext>
            </a:extLst>
          </p:cNvPr>
          <p:cNvGrpSpPr/>
          <p:nvPr/>
        </p:nvGrpSpPr>
        <p:grpSpPr>
          <a:xfrm flipH="1">
            <a:off x="456343" y="4186080"/>
            <a:ext cx="8460432" cy="1586331"/>
            <a:chOff x="456343" y="4186080"/>
            <a:chExt cx="8460432" cy="158633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B79D8CE-F4DA-11D9-7D10-EE288B14E198}"/>
                </a:ext>
              </a:extLst>
            </p:cNvPr>
            <p:cNvSpPr/>
            <p:nvPr/>
          </p:nvSpPr>
          <p:spPr>
            <a:xfrm>
              <a:off x="456343" y="4186080"/>
              <a:ext cx="2643885" cy="1586331"/>
            </a:xfrm>
            <a:custGeom>
              <a:avLst/>
              <a:gdLst>
                <a:gd name="connsiteX0" fmla="*/ 0 w 2643885"/>
                <a:gd name="connsiteY0" fmla="*/ 0 h 1586331"/>
                <a:gd name="connsiteX1" fmla="*/ 2643885 w 2643885"/>
                <a:gd name="connsiteY1" fmla="*/ 0 h 1586331"/>
                <a:gd name="connsiteX2" fmla="*/ 2643885 w 2643885"/>
                <a:gd name="connsiteY2" fmla="*/ 1586331 h 1586331"/>
                <a:gd name="connsiteX3" fmla="*/ 0 w 2643885"/>
                <a:gd name="connsiteY3" fmla="*/ 1586331 h 1586331"/>
                <a:gd name="connsiteX4" fmla="*/ 0 w 2643885"/>
                <a:gd name="connsiteY4" fmla="*/ 0 h 158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43885" h="1586331">
                  <a:moveTo>
                    <a:pt x="0" y="0"/>
                  </a:moveTo>
                  <a:lnTo>
                    <a:pt x="2643885" y="0"/>
                  </a:lnTo>
                  <a:lnTo>
                    <a:pt x="2643885" y="1586331"/>
                  </a:lnTo>
                  <a:lnTo>
                    <a:pt x="0" y="15863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rtlCol="1" anchor="ctr" anchorCtr="0">
              <a:noAutofit/>
            </a:bodyPr>
            <a:lstStyle/>
            <a:p>
              <a:pPr marL="0" lvl="0" indent="0" algn="ctr" defTabSz="10223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300" kern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تأثير مجال الضيافة في البيئة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DB8FC5D-4F5A-86DA-54C6-312597E9A50B}"/>
                </a:ext>
              </a:extLst>
            </p:cNvPr>
            <p:cNvSpPr/>
            <p:nvPr/>
          </p:nvSpPr>
          <p:spPr>
            <a:xfrm>
              <a:off x="3364616" y="4186080"/>
              <a:ext cx="2643885" cy="1586331"/>
            </a:xfrm>
            <a:custGeom>
              <a:avLst/>
              <a:gdLst>
                <a:gd name="connsiteX0" fmla="*/ 0 w 2643885"/>
                <a:gd name="connsiteY0" fmla="*/ 0 h 1586331"/>
                <a:gd name="connsiteX1" fmla="*/ 2643885 w 2643885"/>
                <a:gd name="connsiteY1" fmla="*/ 0 h 1586331"/>
                <a:gd name="connsiteX2" fmla="*/ 2643885 w 2643885"/>
                <a:gd name="connsiteY2" fmla="*/ 1586331 h 1586331"/>
                <a:gd name="connsiteX3" fmla="*/ 0 w 2643885"/>
                <a:gd name="connsiteY3" fmla="*/ 1586331 h 1586331"/>
                <a:gd name="connsiteX4" fmla="*/ 0 w 2643885"/>
                <a:gd name="connsiteY4" fmla="*/ 0 h 158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43885" h="1586331">
                  <a:moveTo>
                    <a:pt x="0" y="0"/>
                  </a:moveTo>
                  <a:lnTo>
                    <a:pt x="2643885" y="0"/>
                  </a:lnTo>
                  <a:lnTo>
                    <a:pt x="2643885" y="1586331"/>
                  </a:lnTo>
                  <a:lnTo>
                    <a:pt x="0" y="15863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rtlCol="1" anchor="ctr" anchorCtr="0">
              <a:noAutofit/>
            </a:bodyPr>
            <a:lstStyle/>
            <a:p>
              <a:pPr marL="0" lvl="0" indent="0" algn="ctr" defTabSz="10223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300" kern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الاحتياجات المتضاربة لأصحاب المصلحة المختلفين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3184DF5-4D78-15DF-D61C-56E4877805B6}"/>
                </a:ext>
              </a:extLst>
            </p:cNvPr>
            <p:cNvSpPr/>
            <p:nvPr/>
          </p:nvSpPr>
          <p:spPr>
            <a:xfrm>
              <a:off x="6272890" y="4186080"/>
              <a:ext cx="2643885" cy="1586331"/>
            </a:xfrm>
            <a:custGeom>
              <a:avLst/>
              <a:gdLst>
                <a:gd name="connsiteX0" fmla="*/ 0 w 2643885"/>
                <a:gd name="connsiteY0" fmla="*/ 0 h 1586331"/>
                <a:gd name="connsiteX1" fmla="*/ 2643885 w 2643885"/>
                <a:gd name="connsiteY1" fmla="*/ 0 h 1586331"/>
                <a:gd name="connsiteX2" fmla="*/ 2643885 w 2643885"/>
                <a:gd name="connsiteY2" fmla="*/ 1586331 h 1586331"/>
                <a:gd name="connsiteX3" fmla="*/ 0 w 2643885"/>
                <a:gd name="connsiteY3" fmla="*/ 1586331 h 1586331"/>
                <a:gd name="connsiteX4" fmla="*/ 0 w 2643885"/>
                <a:gd name="connsiteY4" fmla="*/ 0 h 158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43885" h="1586331">
                  <a:moveTo>
                    <a:pt x="0" y="0"/>
                  </a:moveTo>
                  <a:lnTo>
                    <a:pt x="2643885" y="0"/>
                  </a:lnTo>
                  <a:lnTo>
                    <a:pt x="2643885" y="1586331"/>
                  </a:lnTo>
                  <a:lnTo>
                    <a:pt x="0" y="15863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rtlCol="1" anchor="ctr" anchorCtr="0">
              <a:noAutofit/>
            </a:bodyPr>
            <a:lstStyle/>
            <a:p>
              <a:pPr marL="0" lvl="0" indent="0" algn="ctr" defTabSz="10223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300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فوائد وتحديات إدارة شركة مستدامة</a:t>
              </a:r>
              <a:endParaRPr lang="en-US" sz="23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05F4EBC-ED41-6D30-DEC6-5BEFF2C72916}"/>
              </a:ext>
            </a:extLst>
          </p:cNvPr>
          <p:cNvSpPr txBox="1"/>
          <p:nvPr/>
        </p:nvSpPr>
        <p:spPr>
          <a:xfrm>
            <a:off x="125760" y="3105834"/>
            <a:ext cx="867645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هو مقدمة لموضوع البيئة والاستدامة. البحث في تأثير مجال الضيافة في البيئة.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9928DF4-0988-A53B-C35B-F7BCDFEAA5E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018198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58873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البيئة 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C022B-CF9E-623C-D9C7-5236D1AE4560}"/>
              </a:ext>
            </a:extLst>
          </p:cNvPr>
          <p:cNvSpPr txBox="1"/>
          <p:nvPr/>
        </p:nvSpPr>
        <p:spPr>
          <a:xfrm>
            <a:off x="4639982" y="2059641"/>
            <a:ext cx="4283969" cy="22467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أصبحت البيئة مشكلة مهمة في مجتمع اليوم، وأصبح من الضروري أن</a:t>
            </a:r>
          </a:p>
          <a:p>
            <a:pPr rtl="1"/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نعامل كلًا من الأشخاص والكوكب باحترام.</a:t>
            </a:r>
          </a:p>
          <a:p>
            <a:pPr rtl="1"/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لماذا من المهم أن يأخذ مجال الضيافة مسؤولياته تجاه البيئة على محمل الجد؟</a:t>
            </a:r>
          </a:p>
          <a:p>
            <a:pPr rtl="1"/>
            <a:endParaRPr lang="en-GB" sz="20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AA6A9EB-4001-A05B-A3FB-547F9E3A872C}"/>
              </a:ext>
            </a:extLst>
          </p:cNvPr>
          <p:cNvGrpSpPr/>
          <p:nvPr/>
        </p:nvGrpSpPr>
        <p:grpSpPr>
          <a:xfrm flipH="1">
            <a:off x="323529" y="5013762"/>
            <a:ext cx="8600422" cy="1199156"/>
            <a:chOff x="323529" y="5013762"/>
            <a:chExt cx="8600422" cy="119915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7EB9B63-55B8-3700-DD78-7FC147C2A76E}"/>
                </a:ext>
              </a:extLst>
            </p:cNvPr>
            <p:cNvSpPr/>
            <p:nvPr/>
          </p:nvSpPr>
          <p:spPr>
            <a:xfrm>
              <a:off x="3419680" y="5133678"/>
              <a:ext cx="5504271" cy="959326"/>
            </a:xfrm>
            <a:custGeom>
              <a:avLst/>
              <a:gdLst>
                <a:gd name="connsiteX0" fmla="*/ 159891 w 959325"/>
                <a:gd name="connsiteY0" fmla="*/ 0 h 5504270"/>
                <a:gd name="connsiteX1" fmla="*/ 799434 w 959325"/>
                <a:gd name="connsiteY1" fmla="*/ 0 h 5504270"/>
                <a:gd name="connsiteX2" fmla="*/ 959325 w 959325"/>
                <a:gd name="connsiteY2" fmla="*/ 159891 h 5504270"/>
                <a:gd name="connsiteX3" fmla="*/ 959325 w 959325"/>
                <a:gd name="connsiteY3" fmla="*/ 5504270 h 5504270"/>
                <a:gd name="connsiteX4" fmla="*/ 959325 w 959325"/>
                <a:gd name="connsiteY4" fmla="*/ 5504270 h 5504270"/>
                <a:gd name="connsiteX5" fmla="*/ 0 w 959325"/>
                <a:gd name="connsiteY5" fmla="*/ 5504270 h 5504270"/>
                <a:gd name="connsiteX6" fmla="*/ 0 w 959325"/>
                <a:gd name="connsiteY6" fmla="*/ 5504270 h 5504270"/>
                <a:gd name="connsiteX7" fmla="*/ 0 w 959325"/>
                <a:gd name="connsiteY7" fmla="*/ 159891 h 5504270"/>
                <a:gd name="connsiteX8" fmla="*/ 159891 w 959325"/>
                <a:gd name="connsiteY8" fmla="*/ 0 h 5504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9325" h="5504270">
                  <a:moveTo>
                    <a:pt x="959325" y="917400"/>
                  </a:moveTo>
                  <a:lnTo>
                    <a:pt x="959325" y="4586870"/>
                  </a:lnTo>
                  <a:cubicBezTo>
                    <a:pt x="959325" y="5093532"/>
                    <a:pt x="946848" y="5504267"/>
                    <a:pt x="931458" y="5504267"/>
                  </a:cubicBezTo>
                  <a:lnTo>
                    <a:pt x="0" y="5504267"/>
                  </a:lnTo>
                  <a:lnTo>
                    <a:pt x="0" y="5504267"/>
                  </a:lnTo>
                  <a:lnTo>
                    <a:pt x="0" y="3"/>
                  </a:lnTo>
                  <a:lnTo>
                    <a:pt x="0" y="3"/>
                  </a:lnTo>
                  <a:lnTo>
                    <a:pt x="931458" y="3"/>
                  </a:lnTo>
                  <a:cubicBezTo>
                    <a:pt x="946848" y="3"/>
                    <a:pt x="959325" y="410738"/>
                    <a:pt x="959325" y="917400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70655" rIns="294480" bIns="170656" numCol="1" spcCol="1270" rtlCol="1" anchor="ctr" anchorCtr="0">
              <a:noAutofit/>
            </a:bodyPr>
            <a:lstStyle/>
            <a:p>
              <a:pPr marL="228600" lvl="1" indent="-228600" algn="r" defTabSz="10668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“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الأماكن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المحيطة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بما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في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ذك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المناظر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الطبيعية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والمياه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والتي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يعيش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فيها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الناس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والحيوانات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sz="2400" i="1" kern="1200" dirty="0" err="1">
                  <a:latin typeface="Sakkal Majalla" panose="02000000000000000000" pitchFamily="2" charset="-78"/>
                  <a:cs typeface="Sakkal Majalla" panose="02000000000000000000" pitchFamily="2" charset="-78"/>
                </a:rPr>
                <a:t>والنباتات</a:t>
              </a:r>
              <a:r>
                <a:rPr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.</a:t>
              </a:r>
              <a:r>
                <a:rPr lang="en-US" sz="2400" i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"</a:t>
              </a:r>
              <a:endParaRPr lang="en-GB" sz="2400" i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1C6C2C5-C9FE-1DE2-3EC2-19F0ABF2BBC7}"/>
                </a:ext>
              </a:extLst>
            </p:cNvPr>
            <p:cNvSpPr/>
            <p:nvPr/>
          </p:nvSpPr>
          <p:spPr>
            <a:xfrm>
              <a:off x="323529" y="5013762"/>
              <a:ext cx="3096151" cy="1199156"/>
            </a:xfrm>
            <a:custGeom>
              <a:avLst/>
              <a:gdLst>
                <a:gd name="connsiteX0" fmla="*/ 0 w 3096151"/>
                <a:gd name="connsiteY0" fmla="*/ 199863 h 1199156"/>
                <a:gd name="connsiteX1" fmla="*/ 199863 w 3096151"/>
                <a:gd name="connsiteY1" fmla="*/ 0 h 1199156"/>
                <a:gd name="connsiteX2" fmla="*/ 2896288 w 3096151"/>
                <a:gd name="connsiteY2" fmla="*/ 0 h 1199156"/>
                <a:gd name="connsiteX3" fmla="*/ 3096151 w 3096151"/>
                <a:gd name="connsiteY3" fmla="*/ 199863 h 1199156"/>
                <a:gd name="connsiteX4" fmla="*/ 3096151 w 3096151"/>
                <a:gd name="connsiteY4" fmla="*/ 999293 h 1199156"/>
                <a:gd name="connsiteX5" fmla="*/ 2896288 w 3096151"/>
                <a:gd name="connsiteY5" fmla="*/ 1199156 h 1199156"/>
                <a:gd name="connsiteX6" fmla="*/ 199863 w 3096151"/>
                <a:gd name="connsiteY6" fmla="*/ 1199156 h 1199156"/>
                <a:gd name="connsiteX7" fmla="*/ 0 w 3096151"/>
                <a:gd name="connsiteY7" fmla="*/ 999293 h 1199156"/>
                <a:gd name="connsiteX8" fmla="*/ 0 w 3096151"/>
                <a:gd name="connsiteY8" fmla="*/ 199863 h 119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96151" h="1199156">
                  <a:moveTo>
                    <a:pt x="0" y="199863"/>
                  </a:moveTo>
                  <a:cubicBezTo>
                    <a:pt x="0" y="89482"/>
                    <a:pt x="89482" y="0"/>
                    <a:pt x="199863" y="0"/>
                  </a:cubicBezTo>
                  <a:lnTo>
                    <a:pt x="2896288" y="0"/>
                  </a:lnTo>
                  <a:cubicBezTo>
                    <a:pt x="3006669" y="0"/>
                    <a:pt x="3096151" y="89482"/>
                    <a:pt x="3096151" y="199863"/>
                  </a:cubicBezTo>
                  <a:lnTo>
                    <a:pt x="3096151" y="999293"/>
                  </a:lnTo>
                  <a:cubicBezTo>
                    <a:pt x="3096151" y="1109674"/>
                    <a:pt x="3006669" y="1199156"/>
                    <a:pt x="2896288" y="1199156"/>
                  </a:cubicBezTo>
                  <a:lnTo>
                    <a:pt x="199863" y="1199156"/>
                  </a:lnTo>
                  <a:cubicBezTo>
                    <a:pt x="89482" y="1199156"/>
                    <a:pt x="0" y="1109674"/>
                    <a:pt x="0" y="999293"/>
                  </a:cubicBezTo>
                  <a:lnTo>
                    <a:pt x="0" y="19986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3798" tIns="146168" rIns="233798" bIns="146168" numCol="1" spcCol="1270" rtlCol="1" anchor="ctr" anchorCtr="0">
              <a:noAutofit/>
            </a:bodyPr>
            <a:lstStyle/>
            <a:p>
              <a:pPr marL="0" lvl="0" indent="0" algn="ctr" defTabSz="20447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4600" b="1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البيئة</a:t>
              </a:r>
            </a:p>
          </p:txBody>
        </p:sp>
      </p:grpSp>
      <p:pic>
        <p:nvPicPr>
          <p:cNvPr id="6" name="Picture 5" descr="A group of people holding a globe&#10;&#10;Description automatically generated">
            <a:extLst>
              <a:ext uri="{FF2B5EF4-FFF2-40B4-BE49-F238E27FC236}">
                <a16:creationId xmlns:a16="http://schemas.microsoft.com/office/drawing/2014/main" id="{8CCFB95D-7255-DCCD-8A21-3B7CB25BB5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726" y="2199858"/>
            <a:ext cx="4319358" cy="2159679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7E323E-703D-46A5-D773-C00D07F89EC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البيئة (2)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3289EF-BF45-A65C-F207-94AFAFBBB11A}"/>
              </a:ext>
            </a:extLst>
          </p:cNvPr>
          <p:cNvGrpSpPr/>
          <p:nvPr/>
        </p:nvGrpSpPr>
        <p:grpSpPr>
          <a:xfrm flipH="1">
            <a:off x="505569" y="2060371"/>
            <a:ext cx="8207375" cy="4261195"/>
            <a:chOff x="505569" y="2060371"/>
            <a:chExt cx="8207375" cy="4261195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951DFDF9-2436-F41E-8429-D9687C9EC702}"/>
                </a:ext>
              </a:extLst>
            </p:cNvPr>
            <p:cNvSpPr/>
            <p:nvPr/>
          </p:nvSpPr>
          <p:spPr>
            <a:xfrm>
              <a:off x="3460223" y="2128550"/>
              <a:ext cx="5252721" cy="545434"/>
            </a:xfrm>
            <a:custGeom>
              <a:avLst/>
              <a:gdLst>
                <a:gd name="connsiteX0" fmla="*/ 90907 w 545433"/>
                <a:gd name="connsiteY0" fmla="*/ 0 h 5252720"/>
                <a:gd name="connsiteX1" fmla="*/ 454526 w 545433"/>
                <a:gd name="connsiteY1" fmla="*/ 0 h 5252720"/>
                <a:gd name="connsiteX2" fmla="*/ 545433 w 545433"/>
                <a:gd name="connsiteY2" fmla="*/ 90907 h 5252720"/>
                <a:gd name="connsiteX3" fmla="*/ 545433 w 545433"/>
                <a:gd name="connsiteY3" fmla="*/ 5252720 h 5252720"/>
                <a:gd name="connsiteX4" fmla="*/ 545433 w 545433"/>
                <a:gd name="connsiteY4" fmla="*/ 5252720 h 5252720"/>
                <a:gd name="connsiteX5" fmla="*/ 0 w 545433"/>
                <a:gd name="connsiteY5" fmla="*/ 5252720 h 5252720"/>
                <a:gd name="connsiteX6" fmla="*/ 0 w 545433"/>
                <a:gd name="connsiteY6" fmla="*/ 5252720 h 5252720"/>
                <a:gd name="connsiteX7" fmla="*/ 0 w 545433"/>
                <a:gd name="connsiteY7" fmla="*/ 90907 h 5252720"/>
                <a:gd name="connsiteX8" fmla="*/ 90907 w 545433"/>
                <a:gd name="connsiteY8" fmla="*/ 0 h 525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5433" h="5252720">
                  <a:moveTo>
                    <a:pt x="545433" y="875471"/>
                  </a:moveTo>
                  <a:lnTo>
                    <a:pt x="545433" y="4377249"/>
                  </a:lnTo>
                  <a:cubicBezTo>
                    <a:pt x="545433" y="4860760"/>
                    <a:pt x="541207" y="5252715"/>
                    <a:pt x="535993" y="5252715"/>
                  </a:cubicBezTo>
                  <a:lnTo>
                    <a:pt x="0" y="5252715"/>
                  </a:lnTo>
                  <a:lnTo>
                    <a:pt x="0" y="5252715"/>
                  </a:lnTo>
                  <a:lnTo>
                    <a:pt x="0" y="5"/>
                  </a:lnTo>
                  <a:lnTo>
                    <a:pt x="0" y="5"/>
                  </a:lnTo>
                  <a:lnTo>
                    <a:pt x="535993" y="5"/>
                  </a:lnTo>
                  <a:cubicBezTo>
                    <a:pt x="541207" y="5"/>
                    <a:pt x="545433" y="391960"/>
                    <a:pt x="545433" y="875471"/>
                  </a:cubicBez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7106" rIns="87586" bIns="57107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حين يزيد متوسط درجة الحرارة في العالم </a:t>
              </a:r>
              <a:r>
                <a:rPr lang="ar-JO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كله</a:t>
              </a:r>
              <a:r>
                <a:rPr lang="ar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أو يقل.</a:t>
              </a:r>
              <a:endParaRPr lang="en-US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370FB93-C0DE-DCA3-BFC2-81A20A9D7810}"/>
                </a:ext>
              </a:extLst>
            </p:cNvPr>
            <p:cNvSpPr/>
            <p:nvPr/>
          </p:nvSpPr>
          <p:spPr>
            <a:xfrm>
              <a:off x="505569" y="2060371"/>
              <a:ext cx="2954655" cy="681791"/>
            </a:xfrm>
            <a:custGeom>
              <a:avLst/>
              <a:gdLst>
                <a:gd name="connsiteX0" fmla="*/ 0 w 2954655"/>
                <a:gd name="connsiteY0" fmla="*/ 113634 h 681791"/>
                <a:gd name="connsiteX1" fmla="*/ 113634 w 2954655"/>
                <a:gd name="connsiteY1" fmla="*/ 0 h 681791"/>
                <a:gd name="connsiteX2" fmla="*/ 2841021 w 2954655"/>
                <a:gd name="connsiteY2" fmla="*/ 0 h 681791"/>
                <a:gd name="connsiteX3" fmla="*/ 2954655 w 2954655"/>
                <a:gd name="connsiteY3" fmla="*/ 113634 h 681791"/>
                <a:gd name="connsiteX4" fmla="*/ 2954655 w 2954655"/>
                <a:gd name="connsiteY4" fmla="*/ 568157 h 681791"/>
                <a:gd name="connsiteX5" fmla="*/ 2841021 w 2954655"/>
                <a:gd name="connsiteY5" fmla="*/ 681791 h 681791"/>
                <a:gd name="connsiteX6" fmla="*/ 113634 w 2954655"/>
                <a:gd name="connsiteY6" fmla="*/ 681791 h 681791"/>
                <a:gd name="connsiteX7" fmla="*/ 0 w 2954655"/>
                <a:gd name="connsiteY7" fmla="*/ 568157 h 681791"/>
                <a:gd name="connsiteX8" fmla="*/ 0 w 2954655"/>
                <a:gd name="connsiteY8" fmla="*/ 113634 h 681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4655" h="681791">
                  <a:moveTo>
                    <a:pt x="0" y="113634"/>
                  </a:moveTo>
                  <a:cubicBezTo>
                    <a:pt x="0" y="50876"/>
                    <a:pt x="50876" y="0"/>
                    <a:pt x="113634" y="0"/>
                  </a:cubicBezTo>
                  <a:lnTo>
                    <a:pt x="2841021" y="0"/>
                  </a:lnTo>
                  <a:cubicBezTo>
                    <a:pt x="2903779" y="0"/>
                    <a:pt x="2954655" y="50876"/>
                    <a:pt x="2954655" y="113634"/>
                  </a:cubicBezTo>
                  <a:lnTo>
                    <a:pt x="2954655" y="568157"/>
                  </a:lnTo>
                  <a:cubicBezTo>
                    <a:pt x="2954655" y="630915"/>
                    <a:pt x="2903779" y="681791"/>
                    <a:pt x="2841021" y="681791"/>
                  </a:cubicBezTo>
                  <a:lnTo>
                    <a:pt x="113634" y="681791"/>
                  </a:lnTo>
                  <a:cubicBezTo>
                    <a:pt x="50876" y="681791"/>
                    <a:pt x="0" y="630915"/>
                    <a:pt x="0" y="568157"/>
                  </a:cubicBezTo>
                  <a:lnTo>
                    <a:pt x="0" y="113634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9482" tIns="71382" rIns="109482" bIns="71382" numCol="1" spcCol="1270" rtlCol="1" anchor="ctr" anchorCtr="0">
              <a:noAutofit/>
            </a:bodyPr>
            <a:lstStyle/>
            <a:p>
              <a:pPr marL="0" lvl="0" indent="0" algn="ctr" defTabSz="8890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تغير المناخ</a:t>
              </a:r>
              <a:endParaRPr lang="en-US" sz="22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6C15594-57FC-DCE6-8474-7E9EDFCECC6B}"/>
                </a:ext>
              </a:extLst>
            </p:cNvPr>
            <p:cNvSpPr/>
            <p:nvPr/>
          </p:nvSpPr>
          <p:spPr>
            <a:xfrm>
              <a:off x="3460223" y="2844431"/>
              <a:ext cx="5252721" cy="545434"/>
            </a:xfrm>
            <a:custGeom>
              <a:avLst/>
              <a:gdLst>
                <a:gd name="connsiteX0" fmla="*/ 90907 w 545433"/>
                <a:gd name="connsiteY0" fmla="*/ 0 h 5252720"/>
                <a:gd name="connsiteX1" fmla="*/ 454526 w 545433"/>
                <a:gd name="connsiteY1" fmla="*/ 0 h 5252720"/>
                <a:gd name="connsiteX2" fmla="*/ 545433 w 545433"/>
                <a:gd name="connsiteY2" fmla="*/ 90907 h 5252720"/>
                <a:gd name="connsiteX3" fmla="*/ 545433 w 545433"/>
                <a:gd name="connsiteY3" fmla="*/ 5252720 h 5252720"/>
                <a:gd name="connsiteX4" fmla="*/ 545433 w 545433"/>
                <a:gd name="connsiteY4" fmla="*/ 5252720 h 5252720"/>
                <a:gd name="connsiteX5" fmla="*/ 0 w 545433"/>
                <a:gd name="connsiteY5" fmla="*/ 5252720 h 5252720"/>
                <a:gd name="connsiteX6" fmla="*/ 0 w 545433"/>
                <a:gd name="connsiteY6" fmla="*/ 5252720 h 5252720"/>
                <a:gd name="connsiteX7" fmla="*/ 0 w 545433"/>
                <a:gd name="connsiteY7" fmla="*/ 90907 h 5252720"/>
                <a:gd name="connsiteX8" fmla="*/ 90907 w 545433"/>
                <a:gd name="connsiteY8" fmla="*/ 0 h 525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5433" h="5252720">
                  <a:moveTo>
                    <a:pt x="545433" y="875471"/>
                  </a:moveTo>
                  <a:lnTo>
                    <a:pt x="545433" y="4377249"/>
                  </a:lnTo>
                  <a:cubicBezTo>
                    <a:pt x="545433" y="4860760"/>
                    <a:pt x="541207" y="5252715"/>
                    <a:pt x="535993" y="5252715"/>
                  </a:cubicBezTo>
                  <a:lnTo>
                    <a:pt x="0" y="5252715"/>
                  </a:lnTo>
                  <a:lnTo>
                    <a:pt x="0" y="5252715"/>
                  </a:lnTo>
                  <a:lnTo>
                    <a:pt x="0" y="5"/>
                  </a:lnTo>
                  <a:lnTo>
                    <a:pt x="0" y="5"/>
                  </a:lnTo>
                  <a:lnTo>
                    <a:pt x="535993" y="5"/>
                  </a:lnTo>
                  <a:cubicBezTo>
                    <a:pt x="541207" y="5"/>
                    <a:pt x="545433" y="391960"/>
                    <a:pt x="545433" y="875471"/>
                  </a:cubicBez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7106" rIns="87586" bIns="57107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مقدار ثاني أكسيد الكربون المنبعث في الهواء الجوي كنتيجة مباشرة لنمط الحياة والأنشطة.</a:t>
              </a:r>
              <a:endParaRPr lang="en-US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8C86951-E67A-C3BB-9C47-4201DD7AE67F}"/>
                </a:ext>
              </a:extLst>
            </p:cNvPr>
            <p:cNvSpPr/>
            <p:nvPr/>
          </p:nvSpPr>
          <p:spPr>
            <a:xfrm>
              <a:off x="505569" y="2776251"/>
              <a:ext cx="2954655" cy="681791"/>
            </a:xfrm>
            <a:custGeom>
              <a:avLst/>
              <a:gdLst>
                <a:gd name="connsiteX0" fmla="*/ 0 w 2954655"/>
                <a:gd name="connsiteY0" fmla="*/ 113634 h 681791"/>
                <a:gd name="connsiteX1" fmla="*/ 113634 w 2954655"/>
                <a:gd name="connsiteY1" fmla="*/ 0 h 681791"/>
                <a:gd name="connsiteX2" fmla="*/ 2841021 w 2954655"/>
                <a:gd name="connsiteY2" fmla="*/ 0 h 681791"/>
                <a:gd name="connsiteX3" fmla="*/ 2954655 w 2954655"/>
                <a:gd name="connsiteY3" fmla="*/ 113634 h 681791"/>
                <a:gd name="connsiteX4" fmla="*/ 2954655 w 2954655"/>
                <a:gd name="connsiteY4" fmla="*/ 568157 h 681791"/>
                <a:gd name="connsiteX5" fmla="*/ 2841021 w 2954655"/>
                <a:gd name="connsiteY5" fmla="*/ 681791 h 681791"/>
                <a:gd name="connsiteX6" fmla="*/ 113634 w 2954655"/>
                <a:gd name="connsiteY6" fmla="*/ 681791 h 681791"/>
                <a:gd name="connsiteX7" fmla="*/ 0 w 2954655"/>
                <a:gd name="connsiteY7" fmla="*/ 568157 h 681791"/>
                <a:gd name="connsiteX8" fmla="*/ 0 w 2954655"/>
                <a:gd name="connsiteY8" fmla="*/ 113634 h 681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4655" h="681791">
                  <a:moveTo>
                    <a:pt x="0" y="113634"/>
                  </a:moveTo>
                  <a:cubicBezTo>
                    <a:pt x="0" y="50876"/>
                    <a:pt x="50876" y="0"/>
                    <a:pt x="113634" y="0"/>
                  </a:cubicBezTo>
                  <a:lnTo>
                    <a:pt x="2841021" y="0"/>
                  </a:lnTo>
                  <a:cubicBezTo>
                    <a:pt x="2903779" y="0"/>
                    <a:pt x="2954655" y="50876"/>
                    <a:pt x="2954655" y="113634"/>
                  </a:cubicBezTo>
                  <a:lnTo>
                    <a:pt x="2954655" y="568157"/>
                  </a:lnTo>
                  <a:cubicBezTo>
                    <a:pt x="2954655" y="630915"/>
                    <a:pt x="2903779" y="681791"/>
                    <a:pt x="2841021" y="681791"/>
                  </a:cubicBezTo>
                  <a:lnTo>
                    <a:pt x="113634" y="681791"/>
                  </a:lnTo>
                  <a:cubicBezTo>
                    <a:pt x="50876" y="681791"/>
                    <a:pt x="0" y="630915"/>
                    <a:pt x="0" y="568157"/>
                  </a:cubicBezTo>
                  <a:lnTo>
                    <a:pt x="0" y="113634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9482" tIns="71382" rIns="109482" bIns="71382" numCol="1" spcCol="1270" rtlCol="1" anchor="ctr" anchorCtr="0">
              <a:noAutofit/>
            </a:bodyPr>
            <a:lstStyle/>
            <a:p>
              <a:pPr marL="0" lvl="0" indent="0" algn="ctr" defTabSz="8890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البصمة الكربونية</a:t>
              </a:r>
              <a:endParaRPr lang="en-US" sz="22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EC8D175-485A-F77A-AB57-9858620A28B9}"/>
                </a:ext>
              </a:extLst>
            </p:cNvPr>
            <p:cNvSpPr/>
            <p:nvPr/>
          </p:nvSpPr>
          <p:spPr>
            <a:xfrm>
              <a:off x="3460223" y="3560312"/>
              <a:ext cx="5252721" cy="545434"/>
            </a:xfrm>
            <a:custGeom>
              <a:avLst/>
              <a:gdLst>
                <a:gd name="connsiteX0" fmla="*/ 90907 w 545433"/>
                <a:gd name="connsiteY0" fmla="*/ 0 h 5252720"/>
                <a:gd name="connsiteX1" fmla="*/ 454526 w 545433"/>
                <a:gd name="connsiteY1" fmla="*/ 0 h 5252720"/>
                <a:gd name="connsiteX2" fmla="*/ 545433 w 545433"/>
                <a:gd name="connsiteY2" fmla="*/ 90907 h 5252720"/>
                <a:gd name="connsiteX3" fmla="*/ 545433 w 545433"/>
                <a:gd name="connsiteY3" fmla="*/ 5252720 h 5252720"/>
                <a:gd name="connsiteX4" fmla="*/ 545433 w 545433"/>
                <a:gd name="connsiteY4" fmla="*/ 5252720 h 5252720"/>
                <a:gd name="connsiteX5" fmla="*/ 0 w 545433"/>
                <a:gd name="connsiteY5" fmla="*/ 5252720 h 5252720"/>
                <a:gd name="connsiteX6" fmla="*/ 0 w 545433"/>
                <a:gd name="connsiteY6" fmla="*/ 5252720 h 5252720"/>
                <a:gd name="connsiteX7" fmla="*/ 0 w 545433"/>
                <a:gd name="connsiteY7" fmla="*/ 90907 h 5252720"/>
                <a:gd name="connsiteX8" fmla="*/ 90907 w 545433"/>
                <a:gd name="connsiteY8" fmla="*/ 0 h 525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5433" h="5252720">
                  <a:moveTo>
                    <a:pt x="545433" y="875471"/>
                  </a:moveTo>
                  <a:lnTo>
                    <a:pt x="545433" y="4377249"/>
                  </a:lnTo>
                  <a:cubicBezTo>
                    <a:pt x="545433" y="4860760"/>
                    <a:pt x="541207" y="5252715"/>
                    <a:pt x="535993" y="5252715"/>
                  </a:cubicBezTo>
                  <a:lnTo>
                    <a:pt x="0" y="5252715"/>
                  </a:lnTo>
                  <a:lnTo>
                    <a:pt x="0" y="5252715"/>
                  </a:lnTo>
                  <a:lnTo>
                    <a:pt x="0" y="5"/>
                  </a:lnTo>
                  <a:lnTo>
                    <a:pt x="0" y="5"/>
                  </a:lnTo>
                  <a:lnTo>
                    <a:pt x="535993" y="5"/>
                  </a:lnTo>
                  <a:cubicBezTo>
                    <a:pt x="541207" y="5"/>
                    <a:pt x="545433" y="391960"/>
                    <a:pt x="545433" y="875471"/>
                  </a:cubicBez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7106" rIns="87586" bIns="57107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الحفاظ على شيء ما أو إبقا</a:t>
              </a:r>
              <a:r>
                <a:rPr lang="ar-JO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ئ</a:t>
              </a:r>
              <a:r>
                <a:rPr lang="ar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ه مستمرًا في المستقبل.</a:t>
              </a:r>
              <a:endParaRPr lang="en-US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17E67AD-7966-96DB-AA07-7A662BF61F45}"/>
                </a:ext>
              </a:extLst>
            </p:cNvPr>
            <p:cNvSpPr/>
            <p:nvPr/>
          </p:nvSpPr>
          <p:spPr>
            <a:xfrm>
              <a:off x="505569" y="3492132"/>
              <a:ext cx="2954655" cy="681791"/>
            </a:xfrm>
            <a:custGeom>
              <a:avLst/>
              <a:gdLst>
                <a:gd name="connsiteX0" fmla="*/ 0 w 2954655"/>
                <a:gd name="connsiteY0" fmla="*/ 113634 h 681791"/>
                <a:gd name="connsiteX1" fmla="*/ 113634 w 2954655"/>
                <a:gd name="connsiteY1" fmla="*/ 0 h 681791"/>
                <a:gd name="connsiteX2" fmla="*/ 2841021 w 2954655"/>
                <a:gd name="connsiteY2" fmla="*/ 0 h 681791"/>
                <a:gd name="connsiteX3" fmla="*/ 2954655 w 2954655"/>
                <a:gd name="connsiteY3" fmla="*/ 113634 h 681791"/>
                <a:gd name="connsiteX4" fmla="*/ 2954655 w 2954655"/>
                <a:gd name="connsiteY4" fmla="*/ 568157 h 681791"/>
                <a:gd name="connsiteX5" fmla="*/ 2841021 w 2954655"/>
                <a:gd name="connsiteY5" fmla="*/ 681791 h 681791"/>
                <a:gd name="connsiteX6" fmla="*/ 113634 w 2954655"/>
                <a:gd name="connsiteY6" fmla="*/ 681791 h 681791"/>
                <a:gd name="connsiteX7" fmla="*/ 0 w 2954655"/>
                <a:gd name="connsiteY7" fmla="*/ 568157 h 681791"/>
                <a:gd name="connsiteX8" fmla="*/ 0 w 2954655"/>
                <a:gd name="connsiteY8" fmla="*/ 113634 h 681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4655" h="681791">
                  <a:moveTo>
                    <a:pt x="0" y="113634"/>
                  </a:moveTo>
                  <a:cubicBezTo>
                    <a:pt x="0" y="50876"/>
                    <a:pt x="50876" y="0"/>
                    <a:pt x="113634" y="0"/>
                  </a:cubicBezTo>
                  <a:lnTo>
                    <a:pt x="2841021" y="0"/>
                  </a:lnTo>
                  <a:cubicBezTo>
                    <a:pt x="2903779" y="0"/>
                    <a:pt x="2954655" y="50876"/>
                    <a:pt x="2954655" y="113634"/>
                  </a:cubicBezTo>
                  <a:lnTo>
                    <a:pt x="2954655" y="568157"/>
                  </a:lnTo>
                  <a:cubicBezTo>
                    <a:pt x="2954655" y="630915"/>
                    <a:pt x="2903779" y="681791"/>
                    <a:pt x="2841021" y="681791"/>
                  </a:cubicBezTo>
                  <a:lnTo>
                    <a:pt x="113634" y="681791"/>
                  </a:lnTo>
                  <a:cubicBezTo>
                    <a:pt x="50876" y="681791"/>
                    <a:pt x="0" y="630915"/>
                    <a:pt x="0" y="568157"/>
                  </a:cubicBezTo>
                  <a:lnTo>
                    <a:pt x="0" y="113634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9482" tIns="71382" rIns="109482" bIns="71382" numCol="1" spcCol="1270" rtlCol="1" anchor="ctr" anchorCtr="0">
              <a:noAutofit/>
            </a:bodyPr>
            <a:lstStyle/>
            <a:p>
              <a:pPr marL="0" lvl="0" indent="0" algn="ctr" defTabSz="8890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الاستدامة</a:t>
              </a:r>
              <a:endParaRPr lang="en-US" sz="22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C6D3405-4BE2-A409-3DFC-2A111852B2F2}"/>
                </a:ext>
              </a:extLst>
            </p:cNvPr>
            <p:cNvSpPr/>
            <p:nvPr/>
          </p:nvSpPr>
          <p:spPr>
            <a:xfrm>
              <a:off x="3460223" y="4276193"/>
              <a:ext cx="5252721" cy="545434"/>
            </a:xfrm>
            <a:custGeom>
              <a:avLst/>
              <a:gdLst>
                <a:gd name="connsiteX0" fmla="*/ 90907 w 545433"/>
                <a:gd name="connsiteY0" fmla="*/ 0 h 5252720"/>
                <a:gd name="connsiteX1" fmla="*/ 454526 w 545433"/>
                <a:gd name="connsiteY1" fmla="*/ 0 h 5252720"/>
                <a:gd name="connsiteX2" fmla="*/ 545433 w 545433"/>
                <a:gd name="connsiteY2" fmla="*/ 90907 h 5252720"/>
                <a:gd name="connsiteX3" fmla="*/ 545433 w 545433"/>
                <a:gd name="connsiteY3" fmla="*/ 5252720 h 5252720"/>
                <a:gd name="connsiteX4" fmla="*/ 545433 w 545433"/>
                <a:gd name="connsiteY4" fmla="*/ 5252720 h 5252720"/>
                <a:gd name="connsiteX5" fmla="*/ 0 w 545433"/>
                <a:gd name="connsiteY5" fmla="*/ 5252720 h 5252720"/>
                <a:gd name="connsiteX6" fmla="*/ 0 w 545433"/>
                <a:gd name="connsiteY6" fmla="*/ 5252720 h 5252720"/>
                <a:gd name="connsiteX7" fmla="*/ 0 w 545433"/>
                <a:gd name="connsiteY7" fmla="*/ 90907 h 5252720"/>
                <a:gd name="connsiteX8" fmla="*/ 90907 w 545433"/>
                <a:gd name="connsiteY8" fmla="*/ 0 h 525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5433" h="5252720">
                  <a:moveTo>
                    <a:pt x="545433" y="875471"/>
                  </a:moveTo>
                  <a:lnTo>
                    <a:pt x="545433" y="4377249"/>
                  </a:lnTo>
                  <a:cubicBezTo>
                    <a:pt x="545433" y="4860760"/>
                    <a:pt x="541207" y="5252715"/>
                    <a:pt x="535993" y="5252715"/>
                  </a:cubicBezTo>
                  <a:lnTo>
                    <a:pt x="0" y="5252715"/>
                  </a:lnTo>
                  <a:lnTo>
                    <a:pt x="0" y="5252715"/>
                  </a:lnTo>
                  <a:lnTo>
                    <a:pt x="0" y="5"/>
                  </a:lnTo>
                  <a:lnTo>
                    <a:pt x="0" y="5"/>
                  </a:lnTo>
                  <a:lnTo>
                    <a:pt x="535993" y="5"/>
                  </a:lnTo>
                  <a:cubicBezTo>
                    <a:pt x="541207" y="5"/>
                    <a:pt x="545433" y="391960"/>
                    <a:pt x="545433" y="875471"/>
                  </a:cubicBez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7106" rIns="87586" bIns="57107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دعوى غير مؤكدة أو مضللة بشأن المزايا البيئية لمنتج أو خدمة أو تقنية أو ممارسة لإحدى الشركات. </a:t>
              </a:r>
              <a:endParaRPr lang="en-US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5BFF310-1A62-527A-D330-DF1428C2B887}"/>
                </a:ext>
              </a:extLst>
            </p:cNvPr>
            <p:cNvSpPr/>
            <p:nvPr/>
          </p:nvSpPr>
          <p:spPr>
            <a:xfrm>
              <a:off x="505569" y="4208013"/>
              <a:ext cx="2954655" cy="681791"/>
            </a:xfrm>
            <a:custGeom>
              <a:avLst/>
              <a:gdLst>
                <a:gd name="connsiteX0" fmla="*/ 0 w 2954655"/>
                <a:gd name="connsiteY0" fmla="*/ 113634 h 681791"/>
                <a:gd name="connsiteX1" fmla="*/ 113634 w 2954655"/>
                <a:gd name="connsiteY1" fmla="*/ 0 h 681791"/>
                <a:gd name="connsiteX2" fmla="*/ 2841021 w 2954655"/>
                <a:gd name="connsiteY2" fmla="*/ 0 h 681791"/>
                <a:gd name="connsiteX3" fmla="*/ 2954655 w 2954655"/>
                <a:gd name="connsiteY3" fmla="*/ 113634 h 681791"/>
                <a:gd name="connsiteX4" fmla="*/ 2954655 w 2954655"/>
                <a:gd name="connsiteY4" fmla="*/ 568157 h 681791"/>
                <a:gd name="connsiteX5" fmla="*/ 2841021 w 2954655"/>
                <a:gd name="connsiteY5" fmla="*/ 681791 h 681791"/>
                <a:gd name="connsiteX6" fmla="*/ 113634 w 2954655"/>
                <a:gd name="connsiteY6" fmla="*/ 681791 h 681791"/>
                <a:gd name="connsiteX7" fmla="*/ 0 w 2954655"/>
                <a:gd name="connsiteY7" fmla="*/ 568157 h 681791"/>
                <a:gd name="connsiteX8" fmla="*/ 0 w 2954655"/>
                <a:gd name="connsiteY8" fmla="*/ 113634 h 681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4655" h="681791">
                  <a:moveTo>
                    <a:pt x="0" y="113634"/>
                  </a:moveTo>
                  <a:cubicBezTo>
                    <a:pt x="0" y="50876"/>
                    <a:pt x="50876" y="0"/>
                    <a:pt x="113634" y="0"/>
                  </a:cubicBezTo>
                  <a:lnTo>
                    <a:pt x="2841021" y="0"/>
                  </a:lnTo>
                  <a:cubicBezTo>
                    <a:pt x="2903779" y="0"/>
                    <a:pt x="2954655" y="50876"/>
                    <a:pt x="2954655" y="113634"/>
                  </a:cubicBezTo>
                  <a:lnTo>
                    <a:pt x="2954655" y="568157"/>
                  </a:lnTo>
                  <a:cubicBezTo>
                    <a:pt x="2954655" y="630915"/>
                    <a:pt x="2903779" y="681791"/>
                    <a:pt x="2841021" y="681791"/>
                  </a:cubicBezTo>
                  <a:lnTo>
                    <a:pt x="113634" y="681791"/>
                  </a:lnTo>
                  <a:cubicBezTo>
                    <a:pt x="50876" y="681791"/>
                    <a:pt x="0" y="630915"/>
                    <a:pt x="0" y="568157"/>
                  </a:cubicBezTo>
                  <a:lnTo>
                    <a:pt x="0" y="113634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9482" tIns="71382" rIns="109482" bIns="71382" numCol="1" spcCol="1270" rtlCol="1" anchor="ctr" anchorCtr="0">
              <a:noAutofit/>
            </a:bodyPr>
            <a:lstStyle/>
            <a:p>
              <a:pPr marL="0" lvl="0" indent="0" algn="ctr" defTabSz="8890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الغسل الأخضر</a:t>
              </a:r>
              <a:endParaRPr lang="en-US" sz="22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43902A8-1342-47D7-B1C0-BC46531B78BD}"/>
                </a:ext>
              </a:extLst>
            </p:cNvPr>
            <p:cNvSpPr/>
            <p:nvPr/>
          </p:nvSpPr>
          <p:spPr>
            <a:xfrm>
              <a:off x="3460223" y="4992073"/>
              <a:ext cx="5252721" cy="545434"/>
            </a:xfrm>
            <a:custGeom>
              <a:avLst/>
              <a:gdLst>
                <a:gd name="connsiteX0" fmla="*/ 90907 w 545433"/>
                <a:gd name="connsiteY0" fmla="*/ 0 h 5252720"/>
                <a:gd name="connsiteX1" fmla="*/ 454526 w 545433"/>
                <a:gd name="connsiteY1" fmla="*/ 0 h 5252720"/>
                <a:gd name="connsiteX2" fmla="*/ 545433 w 545433"/>
                <a:gd name="connsiteY2" fmla="*/ 90907 h 5252720"/>
                <a:gd name="connsiteX3" fmla="*/ 545433 w 545433"/>
                <a:gd name="connsiteY3" fmla="*/ 5252720 h 5252720"/>
                <a:gd name="connsiteX4" fmla="*/ 545433 w 545433"/>
                <a:gd name="connsiteY4" fmla="*/ 5252720 h 5252720"/>
                <a:gd name="connsiteX5" fmla="*/ 0 w 545433"/>
                <a:gd name="connsiteY5" fmla="*/ 5252720 h 5252720"/>
                <a:gd name="connsiteX6" fmla="*/ 0 w 545433"/>
                <a:gd name="connsiteY6" fmla="*/ 5252720 h 5252720"/>
                <a:gd name="connsiteX7" fmla="*/ 0 w 545433"/>
                <a:gd name="connsiteY7" fmla="*/ 90907 h 5252720"/>
                <a:gd name="connsiteX8" fmla="*/ 90907 w 545433"/>
                <a:gd name="connsiteY8" fmla="*/ 0 h 525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5433" h="5252720">
                  <a:moveTo>
                    <a:pt x="545433" y="875471"/>
                  </a:moveTo>
                  <a:lnTo>
                    <a:pt x="545433" y="4377249"/>
                  </a:lnTo>
                  <a:cubicBezTo>
                    <a:pt x="545433" y="4860760"/>
                    <a:pt x="541207" y="5252715"/>
                    <a:pt x="535993" y="5252715"/>
                  </a:cubicBezTo>
                  <a:lnTo>
                    <a:pt x="0" y="5252715"/>
                  </a:lnTo>
                  <a:lnTo>
                    <a:pt x="0" y="5252715"/>
                  </a:lnTo>
                  <a:lnTo>
                    <a:pt x="0" y="5"/>
                  </a:lnTo>
                  <a:lnTo>
                    <a:pt x="0" y="5"/>
                  </a:lnTo>
                  <a:lnTo>
                    <a:pt x="535993" y="5"/>
                  </a:lnTo>
                  <a:cubicBezTo>
                    <a:pt x="541207" y="5"/>
                    <a:pt x="545433" y="391960"/>
                    <a:pt x="545433" y="875471"/>
                  </a:cubicBez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7106" rIns="87586" bIns="57107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العميل الذي يختار المنتجات ذات التأثير الإيجابي على البيئة.</a:t>
              </a:r>
              <a:endParaRPr lang="en-US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28E0D79-0476-A4AC-6349-DBCFFED81682}"/>
                </a:ext>
              </a:extLst>
            </p:cNvPr>
            <p:cNvSpPr/>
            <p:nvPr/>
          </p:nvSpPr>
          <p:spPr>
            <a:xfrm>
              <a:off x="505569" y="4923894"/>
              <a:ext cx="2954655" cy="681791"/>
            </a:xfrm>
            <a:custGeom>
              <a:avLst/>
              <a:gdLst>
                <a:gd name="connsiteX0" fmla="*/ 0 w 2954655"/>
                <a:gd name="connsiteY0" fmla="*/ 113634 h 681791"/>
                <a:gd name="connsiteX1" fmla="*/ 113634 w 2954655"/>
                <a:gd name="connsiteY1" fmla="*/ 0 h 681791"/>
                <a:gd name="connsiteX2" fmla="*/ 2841021 w 2954655"/>
                <a:gd name="connsiteY2" fmla="*/ 0 h 681791"/>
                <a:gd name="connsiteX3" fmla="*/ 2954655 w 2954655"/>
                <a:gd name="connsiteY3" fmla="*/ 113634 h 681791"/>
                <a:gd name="connsiteX4" fmla="*/ 2954655 w 2954655"/>
                <a:gd name="connsiteY4" fmla="*/ 568157 h 681791"/>
                <a:gd name="connsiteX5" fmla="*/ 2841021 w 2954655"/>
                <a:gd name="connsiteY5" fmla="*/ 681791 h 681791"/>
                <a:gd name="connsiteX6" fmla="*/ 113634 w 2954655"/>
                <a:gd name="connsiteY6" fmla="*/ 681791 h 681791"/>
                <a:gd name="connsiteX7" fmla="*/ 0 w 2954655"/>
                <a:gd name="connsiteY7" fmla="*/ 568157 h 681791"/>
                <a:gd name="connsiteX8" fmla="*/ 0 w 2954655"/>
                <a:gd name="connsiteY8" fmla="*/ 113634 h 681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4655" h="681791">
                  <a:moveTo>
                    <a:pt x="0" y="113634"/>
                  </a:moveTo>
                  <a:cubicBezTo>
                    <a:pt x="0" y="50876"/>
                    <a:pt x="50876" y="0"/>
                    <a:pt x="113634" y="0"/>
                  </a:cubicBezTo>
                  <a:lnTo>
                    <a:pt x="2841021" y="0"/>
                  </a:lnTo>
                  <a:cubicBezTo>
                    <a:pt x="2903779" y="0"/>
                    <a:pt x="2954655" y="50876"/>
                    <a:pt x="2954655" y="113634"/>
                  </a:cubicBezTo>
                  <a:lnTo>
                    <a:pt x="2954655" y="568157"/>
                  </a:lnTo>
                  <a:cubicBezTo>
                    <a:pt x="2954655" y="630915"/>
                    <a:pt x="2903779" y="681791"/>
                    <a:pt x="2841021" y="681791"/>
                  </a:cubicBezTo>
                  <a:lnTo>
                    <a:pt x="113634" y="681791"/>
                  </a:lnTo>
                  <a:cubicBezTo>
                    <a:pt x="50876" y="681791"/>
                    <a:pt x="0" y="630915"/>
                    <a:pt x="0" y="568157"/>
                  </a:cubicBezTo>
                  <a:lnTo>
                    <a:pt x="0" y="113634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9482" tIns="71382" rIns="109482" bIns="71382" numCol="1" spcCol="1270" rtlCol="1" anchor="ctr" anchorCtr="0">
              <a:noAutofit/>
            </a:bodyPr>
            <a:lstStyle/>
            <a:p>
              <a:pPr marL="0" lvl="0" indent="0" algn="ctr" defTabSz="8890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العملاء الأخلاقيون</a:t>
              </a:r>
              <a:endParaRPr lang="en-US" sz="22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A079AD5-FACF-FB2D-00DA-A076A9302205}"/>
                </a:ext>
              </a:extLst>
            </p:cNvPr>
            <p:cNvSpPr/>
            <p:nvPr/>
          </p:nvSpPr>
          <p:spPr>
            <a:xfrm>
              <a:off x="3460223" y="5707954"/>
              <a:ext cx="5252721" cy="545434"/>
            </a:xfrm>
            <a:custGeom>
              <a:avLst/>
              <a:gdLst>
                <a:gd name="connsiteX0" fmla="*/ 90907 w 545433"/>
                <a:gd name="connsiteY0" fmla="*/ 0 h 5252720"/>
                <a:gd name="connsiteX1" fmla="*/ 454526 w 545433"/>
                <a:gd name="connsiteY1" fmla="*/ 0 h 5252720"/>
                <a:gd name="connsiteX2" fmla="*/ 545433 w 545433"/>
                <a:gd name="connsiteY2" fmla="*/ 90907 h 5252720"/>
                <a:gd name="connsiteX3" fmla="*/ 545433 w 545433"/>
                <a:gd name="connsiteY3" fmla="*/ 5252720 h 5252720"/>
                <a:gd name="connsiteX4" fmla="*/ 545433 w 545433"/>
                <a:gd name="connsiteY4" fmla="*/ 5252720 h 5252720"/>
                <a:gd name="connsiteX5" fmla="*/ 0 w 545433"/>
                <a:gd name="connsiteY5" fmla="*/ 5252720 h 5252720"/>
                <a:gd name="connsiteX6" fmla="*/ 0 w 545433"/>
                <a:gd name="connsiteY6" fmla="*/ 5252720 h 5252720"/>
                <a:gd name="connsiteX7" fmla="*/ 0 w 545433"/>
                <a:gd name="connsiteY7" fmla="*/ 90907 h 5252720"/>
                <a:gd name="connsiteX8" fmla="*/ 90907 w 545433"/>
                <a:gd name="connsiteY8" fmla="*/ 0 h 525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5433" h="5252720">
                  <a:moveTo>
                    <a:pt x="545433" y="875471"/>
                  </a:moveTo>
                  <a:lnTo>
                    <a:pt x="545433" y="4377249"/>
                  </a:lnTo>
                  <a:cubicBezTo>
                    <a:pt x="545433" y="4860760"/>
                    <a:pt x="541207" y="5252715"/>
                    <a:pt x="535993" y="5252715"/>
                  </a:cubicBezTo>
                  <a:lnTo>
                    <a:pt x="0" y="5252715"/>
                  </a:lnTo>
                  <a:lnTo>
                    <a:pt x="0" y="5252715"/>
                  </a:lnTo>
                  <a:lnTo>
                    <a:pt x="0" y="5"/>
                  </a:lnTo>
                  <a:lnTo>
                    <a:pt x="0" y="5"/>
                  </a:lnTo>
                  <a:lnTo>
                    <a:pt x="535993" y="5"/>
                  </a:lnTo>
                  <a:cubicBezTo>
                    <a:pt x="541207" y="5"/>
                    <a:pt x="545433" y="391960"/>
                    <a:pt x="545433" y="875471"/>
                  </a:cubicBez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7106" rIns="87586" bIns="57107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المسافة التي ينتقل عبرها منتج أو طعام ما من المنتج إلى المستهلك.</a:t>
              </a:r>
              <a:endParaRPr lang="en-US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BD3A4B3-7620-3CB8-1D36-E22F352CB568}"/>
                </a:ext>
              </a:extLst>
            </p:cNvPr>
            <p:cNvSpPr/>
            <p:nvPr/>
          </p:nvSpPr>
          <p:spPr>
            <a:xfrm>
              <a:off x="505569" y="5639775"/>
              <a:ext cx="2954655" cy="681791"/>
            </a:xfrm>
            <a:custGeom>
              <a:avLst/>
              <a:gdLst>
                <a:gd name="connsiteX0" fmla="*/ 0 w 2954655"/>
                <a:gd name="connsiteY0" fmla="*/ 113634 h 681791"/>
                <a:gd name="connsiteX1" fmla="*/ 113634 w 2954655"/>
                <a:gd name="connsiteY1" fmla="*/ 0 h 681791"/>
                <a:gd name="connsiteX2" fmla="*/ 2841021 w 2954655"/>
                <a:gd name="connsiteY2" fmla="*/ 0 h 681791"/>
                <a:gd name="connsiteX3" fmla="*/ 2954655 w 2954655"/>
                <a:gd name="connsiteY3" fmla="*/ 113634 h 681791"/>
                <a:gd name="connsiteX4" fmla="*/ 2954655 w 2954655"/>
                <a:gd name="connsiteY4" fmla="*/ 568157 h 681791"/>
                <a:gd name="connsiteX5" fmla="*/ 2841021 w 2954655"/>
                <a:gd name="connsiteY5" fmla="*/ 681791 h 681791"/>
                <a:gd name="connsiteX6" fmla="*/ 113634 w 2954655"/>
                <a:gd name="connsiteY6" fmla="*/ 681791 h 681791"/>
                <a:gd name="connsiteX7" fmla="*/ 0 w 2954655"/>
                <a:gd name="connsiteY7" fmla="*/ 568157 h 681791"/>
                <a:gd name="connsiteX8" fmla="*/ 0 w 2954655"/>
                <a:gd name="connsiteY8" fmla="*/ 113634 h 681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4655" h="681791">
                  <a:moveTo>
                    <a:pt x="0" y="113634"/>
                  </a:moveTo>
                  <a:cubicBezTo>
                    <a:pt x="0" y="50876"/>
                    <a:pt x="50876" y="0"/>
                    <a:pt x="113634" y="0"/>
                  </a:cubicBezTo>
                  <a:lnTo>
                    <a:pt x="2841021" y="0"/>
                  </a:lnTo>
                  <a:cubicBezTo>
                    <a:pt x="2903779" y="0"/>
                    <a:pt x="2954655" y="50876"/>
                    <a:pt x="2954655" y="113634"/>
                  </a:cubicBezTo>
                  <a:lnTo>
                    <a:pt x="2954655" y="568157"/>
                  </a:lnTo>
                  <a:cubicBezTo>
                    <a:pt x="2954655" y="630915"/>
                    <a:pt x="2903779" y="681791"/>
                    <a:pt x="2841021" y="681791"/>
                  </a:cubicBezTo>
                  <a:lnTo>
                    <a:pt x="113634" y="681791"/>
                  </a:lnTo>
                  <a:cubicBezTo>
                    <a:pt x="50876" y="681791"/>
                    <a:pt x="0" y="630915"/>
                    <a:pt x="0" y="568157"/>
                  </a:cubicBezTo>
                  <a:lnTo>
                    <a:pt x="0" y="113634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9482" tIns="71382" rIns="109482" bIns="71382" numCol="1" spcCol="1270" rtlCol="1" anchor="ctr" anchorCtr="0">
              <a:noAutofit/>
            </a:bodyPr>
            <a:lstStyle/>
            <a:p>
              <a:pPr marL="0" lvl="0" indent="0" algn="ctr" defTabSz="8890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الأميال التجارية ومسافات نقل الطعام</a:t>
              </a:r>
              <a:endParaRPr lang="en-US" sz="22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07B0FA83-72C5-9622-D288-536EA7A81FD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892571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البيئة (3)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F76B55-C330-68D8-179A-955FD4892CD3}"/>
              </a:ext>
            </a:extLst>
          </p:cNvPr>
          <p:cNvGrpSpPr/>
          <p:nvPr/>
        </p:nvGrpSpPr>
        <p:grpSpPr>
          <a:xfrm flipH="1">
            <a:off x="584453" y="2494810"/>
            <a:ext cx="7975094" cy="2165985"/>
            <a:chOff x="584453" y="2494810"/>
            <a:chExt cx="7975094" cy="2165985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4A42272-A688-54FB-0518-5D8F4192D2C4}"/>
                </a:ext>
              </a:extLst>
            </p:cNvPr>
            <p:cNvSpPr/>
            <p:nvPr/>
          </p:nvSpPr>
          <p:spPr>
            <a:xfrm>
              <a:off x="584453" y="2494810"/>
              <a:ext cx="1362447" cy="408734"/>
            </a:xfrm>
            <a:custGeom>
              <a:avLst/>
              <a:gdLst>
                <a:gd name="connsiteX0" fmla="*/ 0 w 1362447"/>
                <a:gd name="connsiteY0" fmla="*/ 0 h 408734"/>
                <a:gd name="connsiteX1" fmla="*/ 1239827 w 1362447"/>
                <a:gd name="connsiteY1" fmla="*/ 0 h 408734"/>
                <a:gd name="connsiteX2" fmla="*/ 1362447 w 1362447"/>
                <a:gd name="connsiteY2" fmla="*/ 204367 h 408734"/>
                <a:gd name="connsiteX3" fmla="*/ 1239827 w 1362447"/>
                <a:gd name="connsiteY3" fmla="*/ 408734 h 408734"/>
                <a:gd name="connsiteX4" fmla="*/ 0 w 1362447"/>
                <a:gd name="connsiteY4" fmla="*/ 408734 h 408734"/>
                <a:gd name="connsiteX5" fmla="*/ 122620 w 1362447"/>
                <a:gd name="connsiteY5" fmla="*/ 204367 h 408734"/>
                <a:gd name="connsiteX6" fmla="*/ 0 w 1362447"/>
                <a:gd name="connsiteY6" fmla="*/ 0 h 40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447" h="408734">
                  <a:moveTo>
                    <a:pt x="0" y="0"/>
                  </a:moveTo>
                  <a:lnTo>
                    <a:pt x="1239827" y="0"/>
                  </a:lnTo>
                  <a:lnTo>
                    <a:pt x="1362447" y="204367"/>
                  </a:lnTo>
                  <a:lnTo>
                    <a:pt x="1239827" y="408734"/>
                  </a:lnTo>
                  <a:lnTo>
                    <a:pt x="0" y="408734"/>
                  </a:lnTo>
                  <a:lnTo>
                    <a:pt x="122620" y="2043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3087" tIns="50467" rIns="173087" bIns="50467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b="1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إعادة التدوير</a:t>
              </a:r>
              <a:endParaRPr lang="en-GB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B6C7C48-176B-5250-B243-307383B11CCA}"/>
                </a:ext>
              </a:extLst>
            </p:cNvPr>
            <p:cNvSpPr/>
            <p:nvPr/>
          </p:nvSpPr>
          <p:spPr>
            <a:xfrm>
              <a:off x="584453" y="2903545"/>
              <a:ext cx="1239827" cy="1757250"/>
            </a:xfrm>
            <a:custGeom>
              <a:avLst/>
              <a:gdLst>
                <a:gd name="connsiteX0" fmla="*/ 0 w 1239827"/>
                <a:gd name="connsiteY0" fmla="*/ 0 h 1757250"/>
                <a:gd name="connsiteX1" fmla="*/ 1239827 w 1239827"/>
                <a:gd name="connsiteY1" fmla="*/ 0 h 1757250"/>
                <a:gd name="connsiteX2" fmla="*/ 1239827 w 1239827"/>
                <a:gd name="connsiteY2" fmla="*/ 1757250 h 1757250"/>
                <a:gd name="connsiteX3" fmla="*/ 0 w 1239827"/>
                <a:gd name="connsiteY3" fmla="*/ 1757250 h 1757250"/>
                <a:gd name="connsiteX4" fmla="*/ 0 w 1239827"/>
                <a:gd name="connsiteY4" fmla="*/ 0 h 17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9827" h="1757250">
                  <a:moveTo>
                    <a:pt x="0" y="0"/>
                  </a:moveTo>
                  <a:lnTo>
                    <a:pt x="1239827" y="0"/>
                  </a:lnTo>
                  <a:lnTo>
                    <a:pt x="1239827" y="1757250"/>
                  </a:lnTo>
                  <a:lnTo>
                    <a:pt x="0" y="1757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974" tIns="97974" rIns="97974" bIns="195948" numCol="1" spcCol="1270" rtlCol="1" anchor="t" anchorCtr="0">
              <a:noAutofit/>
            </a:bodyPr>
            <a:lstStyle/>
            <a:p>
              <a:pPr marL="0" lvl="0" indent="0" algn="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</a:t>
              </a:r>
              <a:r>
                <a:rPr lang="ar-JO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عد استخدام النفايات لإنتاج منتجات جديدة.</a:t>
              </a:r>
              <a:endParaRPr lang="ar" sz="16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5E96B92-2EA5-01A3-EE16-994077B7D332}"/>
                </a:ext>
              </a:extLst>
            </p:cNvPr>
            <p:cNvSpPr/>
            <p:nvPr/>
          </p:nvSpPr>
          <p:spPr>
            <a:xfrm>
              <a:off x="1906982" y="2494810"/>
              <a:ext cx="1362447" cy="408734"/>
            </a:xfrm>
            <a:custGeom>
              <a:avLst/>
              <a:gdLst>
                <a:gd name="connsiteX0" fmla="*/ 0 w 1362447"/>
                <a:gd name="connsiteY0" fmla="*/ 0 h 408734"/>
                <a:gd name="connsiteX1" fmla="*/ 1239827 w 1362447"/>
                <a:gd name="connsiteY1" fmla="*/ 0 h 408734"/>
                <a:gd name="connsiteX2" fmla="*/ 1362447 w 1362447"/>
                <a:gd name="connsiteY2" fmla="*/ 204367 h 408734"/>
                <a:gd name="connsiteX3" fmla="*/ 1239827 w 1362447"/>
                <a:gd name="connsiteY3" fmla="*/ 408734 h 408734"/>
                <a:gd name="connsiteX4" fmla="*/ 0 w 1362447"/>
                <a:gd name="connsiteY4" fmla="*/ 408734 h 408734"/>
                <a:gd name="connsiteX5" fmla="*/ 122620 w 1362447"/>
                <a:gd name="connsiteY5" fmla="*/ 204367 h 408734"/>
                <a:gd name="connsiteX6" fmla="*/ 0 w 1362447"/>
                <a:gd name="connsiteY6" fmla="*/ 0 h 40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447" h="408734">
                  <a:moveTo>
                    <a:pt x="0" y="0"/>
                  </a:moveTo>
                  <a:lnTo>
                    <a:pt x="1239827" y="0"/>
                  </a:lnTo>
                  <a:lnTo>
                    <a:pt x="1362447" y="204367"/>
                  </a:lnTo>
                  <a:lnTo>
                    <a:pt x="1239827" y="408734"/>
                  </a:lnTo>
                  <a:lnTo>
                    <a:pt x="0" y="408734"/>
                  </a:lnTo>
                  <a:lnTo>
                    <a:pt x="122620" y="2043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3087" tIns="50467" rIns="173087" bIns="50467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إعادة التفكير: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7BA41DE-5D78-ED3D-3F41-681E71E7C372}"/>
                </a:ext>
              </a:extLst>
            </p:cNvPr>
            <p:cNvSpPr/>
            <p:nvPr/>
          </p:nvSpPr>
          <p:spPr>
            <a:xfrm>
              <a:off x="1906982" y="2903545"/>
              <a:ext cx="1239827" cy="1757250"/>
            </a:xfrm>
            <a:custGeom>
              <a:avLst/>
              <a:gdLst>
                <a:gd name="connsiteX0" fmla="*/ 0 w 1239827"/>
                <a:gd name="connsiteY0" fmla="*/ 0 h 1757250"/>
                <a:gd name="connsiteX1" fmla="*/ 1239827 w 1239827"/>
                <a:gd name="connsiteY1" fmla="*/ 0 h 1757250"/>
                <a:gd name="connsiteX2" fmla="*/ 1239827 w 1239827"/>
                <a:gd name="connsiteY2" fmla="*/ 1757250 h 1757250"/>
                <a:gd name="connsiteX3" fmla="*/ 0 w 1239827"/>
                <a:gd name="connsiteY3" fmla="*/ 1757250 h 1757250"/>
                <a:gd name="connsiteX4" fmla="*/ 0 w 1239827"/>
                <a:gd name="connsiteY4" fmla="*/ 0 h 17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9827" h="1757250">
                  <a:moveTo>
                    <a:pt x="0" y="0"/>
                  </a:moveTo>
                  <a:lnTo>
                    <a:pt x="1239827" y="0"/>
                  </a:lnTo>
                  <a:lnTo>
                    <a:pt x="1239827" y="1757250"/>
                  </a:lnTo>
                  <a:lnTo>
                    <a:pt x="0" y="1757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974" tIns="97974" rIns="97974" bIns="195948" numCol="1" spcCol="1270" rtlCol="1" anchor="t" anchorCtr="0">
              <a:noAutofit/>
            </a:bodyPr>
            <a:lstStyle/>
            <a:p>
              <a:pPr marL="0" lvl="0" indent="0" algn="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فكّر مليًّا في ما نستخدمه.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0BEEBB9-0C60-EEB2-AB6E-38907934AA68}"/>
                </a:ext>
              </a:extLst>
            </p:cNvPr>
            <p:cNvSpPr/>
            <p:nvPr/>
          </p:nvSpPr>
          <p:spPr>
            <a:xfrm>
              <a:off x="3229511" y="2494810"/>
              <a:ext cx="1362447" cy="408734"/>
            </a:xfrm>
            <a:custGeom>
              <a:avLst/>
              <a:gdLst>
                <a:gd name="connsiteX0" fmla="*/ 0 w 1362447"/>
                <a:gd name="connsiteY0" fmla="*/ 0 h 408734"/>
                <a:gd name="connsiteX1" fmla="*/ 1239827 w 1362447"/>
                <a:gd name="connsiteY1" fmla="*/ 0 h 408734"/>
                <a:gd name="connsiteX2" fmla="*/ 1362447 w 1362447"/>
                <a:gd name="connsiteY2" fmla="*/ 204367 h 408734"/>
                <a:gd name="connsiteX3" fmla="*/ 1239827 w 1362447"/>
                <a:gd name="connsiteY3" fmla="*/ 408734 h 408734"/>
                <a:gd name="connsiteX4" fmla="*/ 0 w 1362447"/>
                <a:gd name="connsiteY4" fmla="*/ 408734 h 408734"/>
                <a:gd name="connsiteX5" fmla="*/ 122620 w 1362447"/>
                <a:gd name="connsiteY5" fmla="*/ 204367 h 408734"/>
                <a:gd name="connsiteX6" fmla="*/ 0 w 1362447"/>
                <a:gd name="connsiteY6" fmla="*/ 0 h 40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447" h="408734">
                  <a:moveTo>
                    <a:pt x="0" y="0"/>
                  </a:moveTo>
                  <a:lnTo>
                    <a:pt x="1239827" y="0"/>
                  </a:lnTo>
                  <a:lnTo>
                    <a:pt x="1362447" y="204367"/>
                  </a:lnTo>
                  <a:lnTo>
                    <a:pt x="1239827" y="408734"/>
                  </a:lnTo>
                  <a:lnTo>
                    <a:pt x="0" y="408734"/>
                  </a:lnTo>
                  <a:lnTo>
                    <a:pt x="122620" y="2043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3087" tIns="50467" rIns="173087" bIns="50467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الرفض: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81D1B60-F820-73C7-51D2-F0546B3E2873}"/>
                </a:ext>
              </a:extLst>
            </p:cNvPr>
            <p:cNvSpPr/>
            <p:nvPr/>
          </p:nvSpPr>
          <p:spPr>
            <a:xfrm>
              <a:off x="3229511" y="2903545"/>
              <a:ext cx="1239827" cy="1757250"/>
            </a:xfrm>
            <a:custGeom>
              <a:avLst/>
              <a:gdLst>
                <a:gd name="connsiteX0" fmla="*/ 0 w 1239827"/>
                <a:gd name="connsiteY0" fmla="*/ 0 h 1757250"/>
                <a:gd name="connsiteX1" fmla="*/ 1239827 w 1239827"/>
                <a:gd name="connsiteY1" fmla="*/ 0 h 1757250"/>
                <a:gd name="connsiteX2" fmla="*/ 1239827 w 1239827"/>
                <a:gd name="connsiteY2" fmla="*/ 1757250 h 1757250"/>
                <a:gd name="connsiteX3" fmla="*/ 0 w 1239827"/>
                <a:gd name="connsiteY3" fmla="*/ 1757250 h 1757250"/>
                <a:gd name="connsiteX4" fmla="*/ 0 w 1239827"/>
                <a:gd name="connsiteY4" fmla="*/ 0 h 17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9827" h="1757250">
                  <a:moveTo>
                    <a:pt x="0" y="0"/>
                  </a:moveTo>
                  <a:lnTo>
                    <a:pt x="1239827" y="0"/>
                  </a:lnTo>
                  <a:lnTo>
                    <a:pt x="1239827" y="1757250"/>
                  </a:lnTo>
                  <a:lnTo>
                    <a:pt x="0" y="1757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974" tIns="97974" rIns="97974" bIns="195948" numCol="1" spcCol="1270" rtlCol="1" anchor="t" anchorCtr="0">
              <a:noAutofit/>
            </a:bodyPr>
            <a:lstStyle/>
            <a:p>
              <a:pPr marL="0" lvl="0" indent="0" algn="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لا تقبل منتجًا لا تحتاج إليه أو لا تستطيع استخدامه.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6ED009D-B20B-26A6-9462-C20C2CD01C84}"/>
                </a:ext>
              </a:extLst>
            </p:cNvPr>
            <p:cNvSpPr/>
            <p:nvPr/>
          </p:nvSpPr>
          <p:spPr>
            <a:xfrm>
              <a:off x="4552041" y="2494810"/>
              <a:ext cx="1362447" cy="408734"/>
            </a:xfrm>
            <a:custGeom>
              <a:avLst/>
              <a:gdLst>
                <a:gd name="connsiteX0" fmla="*/ 0 w 1362447"/>
                <a:gd name="connsiteY0" fmla="*/ 0 h 408734"/>
                <a:gd name="connsiteX1" fmla="*/ 1239827 w 1362447"/>
                <a:gd name="connsiteY1" fmla="*/ 0 h 408734"/>
                <a:gd name="connsiteX2" fmla="*/ 1362447 w 1362447"/>
                <a:gd name="connsiteY2" fmla="*/ 204367 h 408734"/>
                <a:gd name="connsiteX3" fmla="*/ 1239827 w 1362447"/>
                <a:gd name="connsiteY3" fmla="*/ 408734 h 408734"/>
                <a:gd name="connsiteX4" fmla="*/ 0 w 1362447"/>
                <a:gd name="connsiteY4" fmla="*/ 408734 h 408734"/>
                <a:gd name="connsiteX5" fmla="*/ 122620 w 1362447"/>
                <a:gd name="connsiteY5" fmla="*/ 204367 h 408734"/>
                <a:gd name="connsiteX6" fmla="*/ 0 w 1362447"/>
                <a:gd name="connsiteY6" fmla="*/ 0 h 40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447" h="408734">
                  <a:moveTo>
                    <a:pt x="0" y="0"/>
                  </a:moveTo>
                  <a:lnTo>
                    <a:pt x="1239827" y="0"/>
                  </a:lnTo>
                  <a:lnTo>
                    <a:pt x="1362447" y="204367"/>
                  </a:lnTo>
                  <a:lnTo>
                    <a:pt x="1239827" y="408734"/>
                  </a:lnTo>
                  <a:lnTo>
                    <a:pt x="0" y="408734"/>
                  </a:lnTo>
                  <a:lnTo>
                    <a:pt x="122620" y="2043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3087" tIns="50467" rIns="173087" bIns="50467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إعادة الاستخدام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FF3D0C-D3C1-2C71-E71E-0362BBF84DAF}"/>
                </a:ext>
              </a:extLst>
            </p:cNvPr>
            <p:cNvSpPr/>
            <p:nvPr/>
          </p:nvSpPr>
          <p:spPr>
            <a:xfrm>
              <a:off x="4552041" y="2903545"/>
              <a:ext cx="1239827" cy="1757250"/>
            </a:xfrm>
            <a:custGeom>
              <a:avLst/>
              <a:gdLst>
                <a:gd name="connsiteX0" fmla="*/ 0 w 1239827"/>
                <a:gd name="connsiteY0" fmla="*/ 0 h 1757250"/>
                <a:gd name="connsiteX1" fmla="*/ 1239827 w 1239827"/>
                <a:gd name="connsiteY1" fmla="*/ 0 h 1757250"/>
                <a:gd name="connsiteX2" fmla="*/ 1239827 w 1239827"/>
                <a:gd name="connsiteY2" fmla="*/ 1757250 h 1757250"/>
                <a:gd name="connsiteX3" fmla="*/ 0 w 1239827"/>
                <a:gd name="connsiteY3" fmla="*/ 1757250 h 1757250"/>
                <a:gd name="connsiteX4" fmla="*/ 0 w 1239827"/>
                <a:gd name="connsiteY4" fmla="*/ 0 h 17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9827" h="1757250">
                  <a:moveTo>
                    <a:pt x="0" y="0"/>
                  </a:moveTo>
                  <a:lnTo>
                    <a:pt x="1239827" y="0"/>
                  </a:lnTo>
                  <a:lnTo>
                    <a:pt x="1239827" y="1757250"/>
                  </a:lnTo>
                  <a:lnTo>
                    <a:pt x="0" y="1757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974" tIns="97974" rIns="97974" bIns="195948" numCol="1" spcCol="1270" rtlCol="1" anchor="t" anchorCtr="0">
              <a:noAutofit/>
            </a:bodyPr>
            <a:lstStyle/>
            <a:p>
              <a:pPr marL="0" lvl="0" indent="0" algn="r" defTabSz="5334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تجنب المنتجات التي تستخدم لمرة واحدة واستخدم منتجات متعددة الاستخدامات بدل</a:t>
              </a:r>
              <a:r>
                <a:rPr lang="ar-JO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ًا</a:t>
              </a:r>
              <a:r>
                <a:rPr lang="ar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منها.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8BD63EF-AEE7-6F88-EA7E-12645924DC75}"/>
                </a:ext>
              </a:extLst>
            </p:cNvPr>
            <p:cNvSpPr/>
            <p:nvPr/>
          </p:nvSpPr>
          <p:spPr>
            <a:xfrm>
              <a:off x="5874570" y="2494810"/>
              <a:ext cx="1362447" cy="408734"/>
            </a:xfrm>
            <a:custGeom>
              <a:avLst/>
              <a:gdLst>
                <a:gd name="connsiteX0" fmla="*/ 0 w 1362447"/>
                <a:gd name="connsiteY0" fmla="*/ 0 h 408734"/>
                <a:gd name="connsiteX1" fmla="*/ 1239827 w 1362447"/>
                <a:gd name="connsiteY1" fmla="*/ 0 h 408734"/>
                <a:gd name="connsiteX2" fmla="*/ 1362447 w 1362447"/>
                <a:gd name="connsiteY2" fmla="*/ 204367 h 408734"/>
                <a:gd name="connsiteX3" fmla="*/ 1239827 w 1362447"/>
                <a:gd name="connsiteY3" fmla="*/ 408734 h 408734"/>
                <a:gd name="connsiteX4" fmla="*/ 0 w 1362447"/>
                <a:gd name="connsiteY4" fmla="*/ 408734 h 408734"/>
                <a:gd name="connsiteX5" fmla="*/ 122620 w 1362447"/>
                <a:gd name="connsiteY5" fmla="*/ 204367 h 408734"/>
                <a:gd name="connsiteX6" fmla="*/ 0 w 1362447"/>
                <a:gd name="connsiteY6" fmla="*/ 0 h 40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447" h="408734">
                  <a:moveTo>
                    <a:pt x="0" y="0"/>
                  </a:moveTo>
                  <a:lnTo>
                    <a:pt x="1239827" y="0"/>
                  </a:lnTo>
                  <a:lnTo>
                    <a:pt x="1362447" y="204367"/>
                  </a:lnTo>
                  <a:lnTo>
                    <a:pt x="1239827" y="408734"/>
                  </a:lnTo>
                  <a:lnTo>
                    <a:pt x="0" y="408734"/>
                  </a:lnTo>
                  <a:lnTo>
                    <a:pt x="122620" y="2043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3087" tIns="50467" rIns="173087" bIns="50467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الإصلاح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1B01A6-FF86-2E93-4819-DF24A9F2ED00}"/>
                </a:ext>
              </a:extLst>
            </p:cNvPr>
            <p:cNvSpPr/>
            <p:nvPr/>
          </p:nvSpPr>
          <p:spPr>
            <a:xfrm>
              <a:off x="5874570" y="2903545"/>
              <a:ext cx="1239827" cy="1757250"/>
            </a:xfrm>
            <a:custGeom>
              <a:avLst/>
              <a:gdLst>
                <a:gd name="connsiteX0" fmla="*/ 0 w 1239827"/>
                <a:gd name="connsiteY0" fmla="*/ 0 h 1757250"/>
                <a:gd name="connsiteX1" fmla="*/ 1239827 w 1239827"/>
                <a:gd name="connsiteY1" fmla="*/ 0 h 1757250"/>
                <a:gd name="connsiteX2" fmla="*/ 1239827 w 1239827"/>
                <a:gd name="connsiteY2" fmla="*/ 1757250 h 1757250"/>
                <a:gd name="connsiteX3" fmla="*/ 0 w 1239827"/>
                <a:gd name="connsiteY3" fmla="*/ 1757250 h 1757250"/>
                <a:gd name="connsiteX4" fmla="*/ 0 w 1239827"/>
                <a:gd name="connsiteY4" fmla="*/ 0 h 17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9827" h="1757250">
                  <a:moveTo>
                    <a:pt x="0" y="0"/>
                  </a:moveTo>
                  <a:lnTo>
                    <a:pt x="1239827" y="0"/>
                  </a:lnTo>
                  <a:lnTo>
                    <a:pt x="1239827" y="1757250"/>
                  </a:lnTo>
                  <a:lnTo>
                    <a:pt x="0" y="1757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974" tIns="97974" rIns="97974" bIns="195948" numCol="1" spcCol="1270" rtlCol="1" anchor="t" anchorCtr="0">
              <a:noAutofit/>
            </a:bodyPr>
            <a:lstStyle/>
            <a:p>
              <a:pPr marL="0" lvl="0" indent="0" algn="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أصلح منتج</a:t>
              </a:r>
              <a:r>
                <a:rPr lang="ar-JO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ًا</a:t>
              </a:r>
              <a:r>
                <a:rPr lang="ar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تالف</a:t>
              </a:r>
              <a:r>
                <a:rPr lang="ar-JO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ًا</a:t>
              </a:r>
              <a:r>
                <a:rPr lang="ar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بد</a:t>
              </a:r>
              <a:r>
                <a:rPr lang="ar-JO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لًا من</a:t>
              </a:r>
              <a:r>
                <a:rPr lang="ar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التخلص منه.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8EEED5-983B-F1AF-7D0B-0E1FFDE636DA}"/>
                </a:ext>
              </a:extLst>
            </p:cNvPr>
            <p:cNvSpPr/>
            <p:nvPr/>
          </p:nvSpPr>
          <p:spPr>
            <a:xfrm>
              <a:off x="7197100" y="2494810"/>
              <a:ext cx="1362447" cy="408734"/>
            </a:xfrm>
            <a:custGeom>
              <a:avLst/>
              <a:gdLst>
                <a:gd name="connsiteX0" fmla="*/ 0 w 1362447"/>
                <a:gd name="connsiteY0" fmla="*/ 0 h 408734"/>
                <a:gd name="connsiteX1" fmla="*/ 1239827 w 1362447"/>
                <a:gd name="connsiteY1" fmla="*/ 0 h 408734"/>
                <a:gd name="connsiteX2" fmla="*/ 1362447 w 1362447"/>
                <a:gd name="connsiteY2" fmla="*/ 204367 h 408734"/>
                <a:gd name="connsiteX3" fmla="*/ 1239827 w 1362447"/>
                <a:gd name="connsiteY3" fmla="*/ 408734 h 408734"/>
                <a:gd name="connsiteX4" fmla="*/ 0 w 1362447"/>
                <a:gd name="connsiteY4" fmla="*/ 408734 h 408734"/>
                <a:gd name="connsiteX5" fmla="*/ 122620 w 1362447"/>
                <a:gd name="connsiteY5" fmla="*/ 204367 h 408734"/>
                <a:gd name="connsiteX6" fmla="*/ 0 w 1362447"/>
                <a:gd name="connsiteY6" fmla="*/ 0 h 40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447" h="408734">
                  <a:moveTo>
                    <a:pt x="0" y="0"/>
                  </a:moveTo>
                  <a:lnTo>
                    <a:pt x="1239827" y="0"/>
                  </a:lnTo>
                  <a:lnTo>
                    <a:pt x="1362447" y="204367"/>
                  </a:lnTo>
                  <a:lnTo>
                    <a:pt x="1239827" y="408734"/>
                  </a:lnTo>
                  <a:lnTo>
                    <a:pt x="0" y="408734"/>
                  </a:lnTo>
                  <a:lnTo>
                    <a:pt x="122620" y="2043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3087" tIns="50467" rIns="173087" bIns="50467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التقليل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D535BDE-A676-D12B-6A32-134522FAED39}"/>
                </a:ext>
              </a:extLst>
            </p:cNvPr>
            <p:cNvSpPr/>
            <p:nvPr/>
          </p:nvSpPr>
          <p:spPr>
            <a:xfrm>
              <a:off x="7197100" y="2903545"/>
              <a:ext cx="1239827" cy="1757250"/>
            </a:xfrm>
            <a:custGeom>
              <a:avLst/>
              <a:gdLst>
                <a:gd name="connsiteX0" fmla="*/ 0 w 1239827"/>
                <a:gd name="connsiteY0" fmla="*/ 0 h 1757250"/>
                <a:gd name="connsiteX1" fmla="*/ 1239827 w 1239827"/>
                <a:gd name="connsiteY1" fmla="*/ 0 h 1757250"/>
                <a:gd name="connsiteX2" fmla="*/ 1239827 w 1239827"/>
                <a:gd name="connsiteY2" fmla="*/ 1757250 h 1757250"/>
                <a:gd name="connsiteX3" fmla="*/ 0 w 1239827"/>
                <a:gd name="connsiteY3" fmla="*/ 1757250 h 1757250"/>
                <a:gd name="connsiteX4" fmla="*/ 0 w 1239827"/>
                <a:gd name="connsiteY4" fmla="*/ 0 h 17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9827" h="1757250">
                  <a:moveTo>
                    <a:pt x="0" y="0"/>
                  </a:moveTo>
                  <a:lnTo>
                    <a:pt x="1239827" y="0"/>
                  </a:lnTo>
                  <a:lnTo>
                    <a:pt x="1239827" y="1757250"/>
                  </a:lnTo>
                  <a:lnTo>
                    <a:pt x="0" y="1757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974" tIns="97974" rIns="97974" bIns="195948" numCol="1" spcCol="1270" rtlCol="1" anchor="t" anchorCtr="0">
              <a:noAutofit/>
            </a:bodyPr>
            <a:lstStyle/>
            <a:p>
              <a:pPr marL="0" lvl="0" indent="0" algn="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قلل كمية المواد والطاقة المستخدمة في دورة حياة المنتج.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9438066-0259-142D-4619-4BEBB487EA54}"/>
              </a:ext>
            </a:extLst>
          </p:cNvPr>
          <p:cNvSpPr txBox="1"/>
          <p:nvPr/>
        </p:nvSpPr>
        <p:spPr>
          <a:xfrm>
            <a:off x="3841192" y="5551832"/>
            <a:ext cx="516840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فوائد عناصر الاستدامة الستة (Rs) لمجال الضيافة وعملائه؟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18AD922-DF14-8169-D780-0B28DF7A735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25561717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التأثيرات الإيجابية لمجال الضيافة في البيئة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endParaRPr lang="en-GB" sz="26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توعية الجمهور بشأن البيئة المحلية</a:t>
            </a:r>
          </a:p>
          <a:p>
            <a:pPr rtl="1"/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يسهم مجال الضيافة في الاقتصاد المحلي من خلال خلق فرص العمل والفرص التجارية</a:t>
            </a:r>
          </a:p>
          <a:p>
            <a:pPr rtl="1"/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تُصمم المباني بطريقة تقلل من تأثيرها </a:t>
            </a:r>
            <a:r>
              <a:rPr lang="ar-JO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في البيئة</a:t>
            </a:r>
            <a:endParaRPr lang="ar" sz="26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collage of icons&#10;&#10;Description automatically generated">
            <a:extLst>
              <a:ext uri="{FF2B5EF4-FFF2-40B4-BE49-F238E27FC236}">
                <a16:creationId xmlns:a16="http://schemas.microsoft.com/office/drawing/2014/main" id="{26B22832-4F1D-D75C-477F-AD4C5F48BC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314" y="2480847"/>
            <a:ext cx="3556249" cy="3556249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73DB052-40AE-1084-0F3C-BC6DD745150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118365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493591"/>
            <a:ext cx="8208712" cy="33123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أصبحت الممارسات المستدامة أمرًا شائعًا لتعزيز صورة صديقة للبيئة تجذب العملاء، إليكم بعض الأمثلة:</a:t>
            </a:r>
          </a:p>
          <a:p>
            <a:pPr rtl="1"/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المنتجات العضوية</a:t>
            </a:r>
          </a:p>
          <a:p>
            <a:pPr rtl="1"/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إعادة التدوير</a:t>
            </a:r>
          </a:p>
          <a:p>
            <a:pPr rtl="1"/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مواد كيميائية أقل</a:t>
            </a:r>
          </a:p>
          <a:p>
            <a:pPr rtl="1"/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أنظمة موفرة للطاقة والمياه</a:t>
            </a:r>
          </a:p>
          <a:p>
            <a:pPr rtl="1"/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6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سؤال</a:t>
            </a:r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: ما التأثيرات الإيجابية الأخرى لمجال الضيافة التي يمكنك التفكير فيها؟  </a:t>
            </a:r>
          </a:p>
          <a:p>
            <a:pPr indent="0" algn="ctr" rtl="1"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التأثيرات الإيجابية لمجال الضيافة في البيئة (2)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C484B36-FCC1-D46B-D6E6-3F576E9B6A2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3882342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التأثيرات السلبية لمجال الضيافة في البيئة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5545E02-77B6-F518-E2DB-C3EEE9008E31}"/>
              </a:ext>
            </a:extLst>
          </p:cNvPr>
          <p:cNvGrpSpPr/>
          <p:nvPr/>
        </p:nvGrpSpPr>
        <p:grpSpPr>
          <a:xfrm flipH="1">
            <a:off x="1259630" y="2196872"/>
            <a:ext cx="6602511" cy="4039567"/>
            <a:chOff x="1259630" y="2196872"/>
            <a:chExt cx="6602511" cy="403956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6AB4EEF-F95B-2181-756B-B95579E0ADFB}"/>
                </a:ext>
              </a:extLst>
            </p:cNvPr>
            <p:cNvSpPr/>
            <p:nvPr/>
          </p:nvSpPr>
          <p:spPr>
            <a:xfrm>
              <a:off x="1329232" y="2196872"/>
              <a:ext cx="2019783" cy="1211870"/>
            </a:xfrm>
            <a:custGeom>
              <a:avLst/>
              <a:gdLst>
                <a:gd name="connsiteX0" fmla="*/ 0 w 2019783"/>
                <a:gd name="connsiteY0" fmla="*/ 0 h 1211870"/>
                <a:gd name="connsiteX1" fmla="*/ 2019783 w 2019783"/>
                <a:gd name="connsiteY1" fmla="*/ 0 h 1211870"/>
                <a:gd name="connsiteX2" fmla="*/ 2019783 w 2019783"/>
                <a:gd name="connsiteY2" fmla="*/ 1211870 h 1211870"/>
                <a:gd name="connsiteX3" fmla="*/ 0 w 2019783"/>
                <a:gd name="connsiteY3" fmla="*/ 1211870 h 1211870"/>
                <a:gd name="connsiteX4" fmla="*/ 0 w 2019783"/>
                <a:gd name="connsiteY4" fmla="*/ 0 h 121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9783" h="1211870">
                  <a:moveTo>
                    <a:pt x="0" y="0"/>
                  </a:moveTo>
                  <a:lnTo>
                    <a:pt x="2019783" y="0"/>
                  </a:lnTo>
                  <a:lnTo>
                    <a:pt x="2019783" y="1211870"/>
                  </a:lnTo>
                  <a:lnTo>
                    <a:pt x="0" y="121187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b="1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انبعاثات ثاني أكسيد الكربون </a:t>
              </a:r>
              <a:r>
                <a:rPr lang="en-US" sz="1800" b="1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CO2</a:t>
              </a: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531F242-5D56-4730-6E54-1A11AE8F94ED}"/>
                </a:ext>
              </a:extLst>
            </p:cNvPr>
            <p:cNvSpPr/>
            <p:nvPr/>
          </p:nvSpPr>
          <p:spPr>
            <a:xfrm>
              <a:off x="3550994" y="2196872"/>
              <a:ext cx="2019783" cy="1211870"/>
            </a:xfrm>
            <a:custGeom>
              <a:avLst/>
              <a:gdLst>
                <a:gd name="connsiteX0" fmla="*/ 0 w 2019783"/>
                <a:gd name="connsiteY0" fmla="*/ 0 h 1211870"/>
                <a:gd name="connsiteX1" fmla="*/ 2019783 w 2019783"/>
                <a:gd name="connsiteY1" fmla="*/ 0 h 1211870"/>
                <a:gd name="connsiteX2" fmla="*/ 2019783 w 2019783"/>
                <a:gd name="connsiteY2" fmla="*/ 1211870 h 1211870"/>
                <a:gd name="connsiteX3" fmla="*/ 0 w 2019783"/>
                <a:gd name="connsiteY3" fmla="*/ 1211870 h 1211870"/>
                <a:gd name="connsiteX4" fmla="*/ 0 w 2019783"/>
                <a:gd name="connsiteY4" fmla="*/ 0 h 121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9783" h="1211870">
                  <a:moveTo>
                    <a:pt x="0" y="0"/>
                  </a:moveTo>
                  <a:lnTo>
                    <a:pt x="2019783" y="0"/>
                  </a:lnTo>
                  <a:lnTo>
                    <a:pt x="2019783" y="1211870"/>
                  </a:lnTo>
                  <a:lnTo>
                    <a:pt x="0" y="121187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طاقة مهدرة </a:t>
              </a:r>
              <a:endParaRPr lang="en-US" sz="1800" b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17C33F-CB09-4073-4232-273410CC9411}"/>
                </a:ext>
              </a:extLst>
            </p:cNvPr>
            <p:cNvSpPr/>
            <p:nvPr/>
          </p:nvSpPr>
          <p:spPr>
            <a:xfrm>
              <a:off x="5772756" y="2196872"/>
              <a:ext cx="2019783" cy="1211870"/>
            </a:xfrm>
            <a:custGeom>
              <a:avLst/>
              <a:gdLst>
                <a:gd name="connsiteX0" fmla="*/ 0 w 2019783"/>
                <a:gd name="connsiteY0" fmla="*/ 0 h 1211870"/>
                <a:gd name="connsiteX1" fmla="*/ 2019783 w 2019783"/>
                <a:gd name="connsiteY1" fmla="*/ 0 h 1211870"/>
                <a:gd name="connsiteX2" fmla="*/ 2019783 w 2019783"/>
                <a:gd name="connsiteY2" fmla="*/ 1211870 h 1211870"/>
                <a:gd name="connsiteX3" fmla="*/ 0 w 2019783"/>
                <a:gd name="connsiteY3" fmla="*/ 1211870 h 1211870"/>
                <a:gd name="connsiteX4" fmla="*/ 0 w 2019783"/>
                <a:gd name="connsiteY4" fmla="*/ 0 h 121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9783" h="1211870">
                  <a:moveTo>
                    <a:pt x="0" y="0"/>
                  </a:moveTo>
                  <a:lnTo>
                    <a:pt x="2019783" y="0"/>
                  </a:lnTo>
                  <a:lnTo>
                    <a:pt x="2019783" y="1211870"/>
                  </a:lnTo>
                  <a:lnTo>
                    <a:pt x="0" y="121187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مياه مهدرة </a:t>
              </a:r>
              <a:endParaRPr lang="en-US" sz="1800" b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FA7D9D1-AF8F-A8C1-D158-64BCCA0331E4}"/>
                </a:ext>
              </a:extLst>
            </p:cNvPr>
            <p:cNvSpPr/>
            <p:nvPr/>
          </p:nvSpPr>
          <p:spPr>
            <a:xfrm>
              <a:off x="1259630" y="3610720"/>
              <a:ext cx="2019783" cy="1211870"/>
            </a:xfrm>
            <a:custGeom>
              <a:avLst/>
              <a:gdLst>
                <a:gd name="connsiteX0" fmla="*/ 0 w 2019783"/>
                <a:gd name="connsiteY0" fmla="*/ 0 h 1211870"/>
                <a:gd name="connsiteX1" fmla="*/ 2019783 w 2019783"/>
                <a:gd name="connsiteY1" fmla="*/ 0 h 1211870"/>
                <a:gd name="connsiteX2" fmla="*/ 2019783 w 2019783"/>
                <a:gd name="connsiteY2" fmla="*/ 1211870 h 1211870"/>
                <a:gd name="connsiteX3" fmla="*/ 0 w 2019783"/>
                <a:gd name="connsiteY3" fmla="*/ 1211870 h 1211870"/>
                <a:gd name="connsiteX4" fmla="*/ 0 w 2019783"/>
                <a:gd name="connsiteY4" fmla="*/ 0 h 121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9783" h="1211870">
                  <a:moveTo>
                    <a:pt x="0" y="0"/>
                  </a:moveTo>
                  <a:lnTo>
                    <a:pt x="2019783" y="0"/>
                  </a:lnTo>
                  <a:lnTo>
                    <a:pt x="2019783" y="1211870"/>
                  </a:lnTo>
                  <a:lnTo>
                    <a:pt x="0" y="121187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طعام مهدر</a:t>
              </a:r>
              <a:endParaRPr lang="en-US" sz="1800" b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1F50021-3B51-18D3-1ABD-F2A1E1CD5D18}"/>
                </a:ext>
              </a:extLst>
            </p:cNvPr>
            <p:cNvSpPr/>
            <p:nvPr/>
          </p:nvSpPr>
          <p:spPr>
            <a:xfrm>
              <a:off x="3481392" y="3610720"/>
              <a:ext cx="2019783" cy="1211870"/>
            </a:xfrm>
            <a:custGeom>
              <a:avLst/>
              <a:gdLst>
                <a:gd name="connsiteX0" fmla="*/ 0 w 2019783"/>
                <a:gd name="connsiteY0" fmla="*/ 0 h 1211870"/>
                <a:gd name="connsiteX1" fmla="*/ 2019783 w 2019783"/>
                <a:gd name="connsiteY1" fmla="*/ 0 h 1211870"/>
                <a:gd name="connsiteX2" fmla="*/ 2019783 w 2019783"/>
                <a:gd name="connsiteY2" fmla="*/ 1211870 h 1211870"/>
                <a:gd name="connsiteX3" fmla="*/ 0 w 2019783"/>
                <a:gd name="connsiteY3" fmla="*/ 1211870 h 1211870"/>
                <a:gd name="connsiteX4" fmla="*/ 0 w 2019783"/>
                <a:gd name="connsiteY4" fmla="*/ 0 h 121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9783" h="1211870">
                  <a:moveTo>
                    <a:pt x="0" y="0"/>
                  </a:moveTo>
                  <a:lnTo>
                    <a:pt x="2019783" y="0"/>
                  </a:lnTo>
                  <a:lnTo>
                    <a:pt x="2019783" y="1211870"/>
                  </a:lnTo>
                  <a:lnTo>
                    <a:pt x="0" y="121187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التخلص من النفايات</a:t>
              </a:r>
              <a:endParaRPr lang="en-US" sz="1800" b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AE604-F2D6-6650-F3A2-2967BFD940A3}"/>
                </a:ext>
              </a:extLst>
            </p:cNvPr>
            <p:cNvSpPr/>
            <p:nvPr/>
          </p:nvSpPr>
          <p:spPr>
            <a:xfrm>
              <a:off x="5703154" y="3610720"/>
              <a:ext cx="2158987" cy="1211870"/>
            </a:xfrm>
            <a:custGeom>
              <a:avLst/>
              <a:gdLst>
                <a:gd name="connsiteX0" fmla="*/ 0 w 2158987"/>
                <a:gd name="connsiteY0" fmla="*/ 0 h 1211870"/>
                <a:gd name="connsiteX1" fmla="*/ 2158987 w 2158987"/>
                <a:gd name="connsiteY1" fmla="*/ 0 h 1211870"/>
                <a:gd name="connsiteX2" fmla="*/ 2158987 w 2158987"/>
                <a:gd name="connsiteY2" fmla="*/ 1211870 h 1211870"/>
                <a:gd name="connsiteX3" fmla="*/ 0 w 2158987"/>
                <a:gd name="connsiteY3" fmla="*/ 1211870 h 1211870"/>
                <a:gd name="connsiteX4" fmla="*/ 0 w 2158987"/>
                <a:gd name="connsiteY4" fmla="*/ 0 h 121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87" h="1211870">
                  <a:moveTo>
                    <a:pt x="0" y="0"/>
                  </a:moveTo>
                  <a:lnTo>
                    <a:pt x="2158987" y="0"/>
                  </a:lnTo>
                  <a:lnTo>
                    <a:pt x="2158987" y="1211870"/>
                  </a:lnTo>
                  <a:lnTo>
                    <a:pt x="0" y="121187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تدمير البيئة المحلية وموائل الحيوانات</a:t>
              </a:r>
              <a:endParaRPr lang="en-US" sz="1800" b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A3F5498-9377-CA98-3BAD-6BC835B2F79A}"/>
                </a:ext>
              </a:extLst>
            </p:cNvPr>
            <p:cNvSpPr/>
            <p:nvPr/>
          </p:nvSpPr>
          <p:spPr>
            <a:xfrm>
              <a:off x="2440113" y="5024569"/>
              <a:ext cx="2019783" cy="1211870"/>
            </a:xfrm>
            <a:custGeom>
              <a:avLst/>
              <a:gdLst>
                <a:gd name="connsiteX0" fmla="*/ 0 w 2019783"/>
                <a:gd name="connsiteY0" fmla="*/ 0 h 1211870"/>
                <a:gd name="connsiteX1" fmla="*/ 2019783 w 2019783"/>
                <a:gd name="connsiteY1" fmla="*/ 0 h 1211870"/>
                <a:gd name="connsiteX2" fmla="*/ 2019783 w 2019783"/>
                <a:gd name="connsiteY2" fmla="*/ 1211870 h 1211870"/>
                <a:gd name="connsiteX3" fmla="*/ 0 w 2019783"/>
                <a:gd name="connsiteY3" fmla="*/ 1211870 h 1211870"/>
                <a:gd name="connsiteX4" fmla="*/ 0 w 2019783"/>
                <a:gd name="connsiteY4" fmla="*/ 0 h 121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9783" h="1211870">
                  <a:moveTo>
                    <a:pt x="0" y="0"/>
                  </a:moveTo>
                  <a:lnTo>
                    <a:pt x="2019783" y="0"/>
                  </a:lnTo>
                  <a:lnTo>
                    <a:pt x="2019783" y="1211870"/>
                  </a:lnTo>
                  <a:lnTo>
                    <a:pt x="0" y="121187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الضوضاء</a:t>
              </a:r>
              <a:endParaRPr lang="en-US" sz="1800" b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3B4C23D-6199-7AFC-6172-CF13038FB601}"/>
                </a:ext>
              </a:extLst>
            </p:cNvPr>
            <p:cNvSpPr/>
            <p:nvPr/>
          </p:nvSpPr>
          <p:spPr>
            <a:xfrm>
              <a:off x="4661875" y="5024569"/>
              <a:ext cx="2019783" cy="1211870"/>
            </a:xfrm>
            <a:custGeom>
              <a:avLst/>
              <a:gdLst>
                <a:gd name="connsiteX0" fmla="*/ 0 w 2019783"/>
                <a:gd name="connsiteY0" fmla="*/ 0 h 1211870"/>
                <a:gd name="connsiteX1" fmla="*/ 2019783 w 2019783"/>
                <a:gd name="connsiteY1" fmla="*/ 0 h 1211870"/>
                <a:gd name="connsiteX2" fmla="*/ 2019783 w 2019783"/>
                <a:gd name="connsiteY2" fmla="*/ 1211870 h 1211870"/>
                <a:gd name="connsiteX3" fmla="*/ 0 w 2019783"/>
                <a:gd name="connsiteY3" fmla="*/ 1211870 h 1211870"/>
                <a:gd name="connsiteX4" fmla="*/ 0 w 2019783"/>
                <a:gd name="connsiteY4" fmla="*/ 0 h 121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9783" h="1211870">
                  <a:moveTo>
                    <a:pt x="0" y="0"/>
                  </a:moveTo>
                  <a:lnTo>
                    <a:pt x="2019783" y="0"/>
                  </a:lnTo>
                  <a:lnTo>
                    <a:pt x="2019783" y="1211870"/>
                  </a:lnTo>
                  <a:lnTo>
                    <a:pt x="0" y="121187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استخدام الطاقة بكميات كبيرة </a:t>
              </a:r>
              <a:endParaRPr lang="en-US" sz="1800" b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99C7636-3ED5-A223-FC1C-CA046357B59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5069150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نمو شركات الضيافة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A4862C4-AFDC-63F8-0942-397E52789E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4961538"/>
              </p:ext>
            </p:extLst>
          </p:nvPr>
        </p:nvGraphicFramePr>
        <p:xfrm>
          <a:off x="468312" y="2196001"/>
          <a:ext cx="4027488" cy="402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E64DE35F-4CC3-804B-8171-DB18FAC32C18}"/>
              </a:ext>
            </a:extLst>
          </p:cNvPr>
          <p:cNvGrpSpPr/>
          <p:nvPr/>
        </p:nvGrpSpPr>
        <p:grpSpPr>
          <a:xfrm flipH="1">
            <a:off x="4616392" y="2732499"/>
            <a:ext cx="4159687" cy="2677501"/>
            <a:chOff x="4616392" y="2732499"/>
            <a:chExt cx="4159687" cy="2677501"/>
          </a:xfrm>
        </p:grpSpPr>
        <p:sp>
          <p:nvSpPr>
            <p:cNvPr id="3" name="Rectangle: Diagonal Corners Rounded 2">
              <a:extLst>
                <a:ext uri="{FF2B5EF4-FFF2-40B4-BE49-F238E27FC236}">
                  <a16:creationId xmlns:a16="http://schemas.microsoft.com/office/drawing/2014/main" id="{F3227CF1-613B-22AC-6A76-69EB02588644}"/>
                </a:ext>
              </a:extLst>
            </p:cNvPr>
            <p:cNvSpPr/>
            <p:nvPr/>
          </p:nvSpPr>
          <p:spPr>
            <a:xfrm>
              <a:off x="4989329" y="2732499"/>
              <a:ext cx="1166625" cy="1166625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" name="Rectangle 3" descr="Business Growth">
              <a:extLst>
                <a:ext uri="{FF2B5EF4-FFF2-40B4-BE49-F238E27FC236}">
                  <a16:creationId xmlns:a16="http://schemas.microsoft.com/office/drawing/2014/main" id="{8B62CF14-88F3-0609-CBED-DE9776F2D3CB}"/>
                </a:ext>
              </a:extLst>
            </p:cNvPr>
            <p:cNvSpPr/>
            <p:nvPr/>
          </p:nvSpPr>
          <p:spPr>
            <a:xfrm>
              <a:off x="5237954" y="2981125"/>
              <a:ext cx="669375" cy="669375"/>
            </a:xfrm>
            <a:prstGeom prst="rect">
              <a:avLst/>
            </a:prstGeom>
            <a:blipFill>
              <a:blip r:embed="rId9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0012FA9-A4BB-E5CC-54DF-57F92ACDE40F}"/>
                </a:ext>
              </a:extLst>
            </p:cNvPr>
            <p:cNvSpPr/>
            <p:nvPr/>
          </p:nvSpPr>
          <p:spPr>
            <a:xfrm>
              <a:off x="4616392" y="4262500"/>
              <a:ext cx="1912500" cy="1147500"/>
            </a:xfrm>
            <a:custGeom>
              <a:avLst/>
              <a:gdLst>
                <a:gd name="connsiteX0" fmla="*/ 0 w 1912500"/>
                <a:gd name="connsiteY0" fmla="*/ 0 h 1147500"/>
                <a:gd name="connsiteX1" fmla="*/ 1912500 w 1912500"/>
                <a:gd name="connsiteY1" fmla="*/ 0 h 1147500"/>
                <a:gd name="connsiteX2" fmla="*/ 1912500 w 1912500"/>
                <a:gd name="connsiteY2" fmla="*/ 1147500 h 1147500"/>
                <a:gd name="connsiteX3" fmla="*/ 0 w 1912500"/>
                <a:gd name="connsiteY3" fmla="*/ 1147500 h 1147500"/>
                <a:gd name="connsiteX4" fmla="*/ 0 w 1912500"/>
                <a:gd name="connsiteY4" fmla="*/ 0 h 114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2500" h="1147500">
                  <a:moveTo>
                    <a:pt x="0" y="0"/>
                  </a:moveTo>
                  <a:lnTo>
                    <a:pt x="1912500" y="0"/>
                  </a:lnTo>
                  <a:lnTo>
                    <a:pt x="1912500" y="1147500"/>
                  </a:lnTo>
                  <a:lnTo>
                    <a:pt x="0" y="11475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7112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ar" sz="1600" i="0" kern="1200" cap="none">
                  <a:latin typeface="Sakkal Majalla" panose="02000000000000000000" pitchFamily="2" charset="-78"/>
                  <a:cs typeface="Sakkal Majalla" panose="02000000000000000000" pitchFamily="2" charset="-78"/>
                </a:rPr>
                <a:t>إذا رغبت شركات الضيافة في مواصلة النمو وزيادة عدد عملائها، يجب عليها أن تصبح أكثر اهتمامًا بالبيئة.</a:t>
              </a:r>
              <a:endParaRPr lang="en-US" sz="1600" i="0" kern="1200" cap="none" baseline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Rectangle: Diagonal Corners Rounded 6">
              <a:extLst>
                <a:ext uri="{FF2B5EF4-FFF2-40B4-BE49-F238E27FC236}">
                  <a16:creationId xmlns:a16="http://schemas.microsoft.com/office/drawing/2014/main" id="{8D1AFEED-3550-203B-684D-45E93ADBDCA8}"/>
                </a:ext>
              </a:extLst>
            </p:cNvPr>
            <p:cNvSpPr/>
            <p:nvPr/>
          </p:nvSpPr>
          <p:spPr>
            <a:xfrm>
              <a:off x="7236517" y="2732499"/>
              <a:ext cx="1166625" cy="1166625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Rectangle 7" descr="Footprints">
              <a:extLst>
                <a:ext uri="{FF2B5EF4-FFF2-40B4-BE49-F238E27FC236}">
                  <a16:creationId xmlns:a16="http://schemas.microsoft.com/office/drawing/2014/main" id="{B5BF2125-7054-5461-E39D-FA38444A2C9A}"/>
                </a:ext>
              </a:extLst>
            </p:cNvPr>
            <p:cNvSpPr/>
            <p:nvPr/>
          </p:nvSpPr>
          <p:spPr>
            <a:xfrm>
              <a:off x="7485142" y="2981125"/>
              <a:ext cx="669375" cy="669375"/>
            </a:xfrm>
            <a:prstGeom prst="rect">
              <a:avLst/>
            </a:prstGeom>
            <a:blipFill>
              <a:blip r:embed="rId11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92C4D66-F7A2-9B56-9E04-3B3571A9DAAD}"/>
                </a:ext>
              </a:extLst>
            </p:cNvPr>
            <p:cNvSpPr/>
            <p:nvPr/>
          </p:nvSpPr>
          <p:spPr>
            <a:xfrm>
              <a:off x="6863579" y="4262500"/>
              <a:ext cx="1912500" cy="1147500"/>
            </a:xfrm>
            <a:custGeom>
              <a:avLst/>
              <a:gdLst>
                <a:gd name="connsiteX0" fmla="*/ 0 w 1912500"/>
                <a:gd name="connsiteY0" fmla="*/ 0 h 1147500"/>
                <a:gd name="connsiteX1" fmla="*/ 1912500 w 1912500"/>
                <a:gd name="connsiteY1" fmla="*/ 0 h 1147500"/>
                <a:gd name="connsiteX2" fmla="*/ 1912500 w 1912500"/>
                <a:gd name="connsiteY2" fmla="*/ 1147500 h 1147500"/>
                <a:gd name="connsiteX3" fmla="*/ 0 w 1912500"/>
                <a:gd name="connsiteY3" fmla="*/ 1147500 h 1147500"/>
                <a:gd name="connsiteX4" fmla="*/ 0 w 1912500"/>
                <a:gd name="connsiteY4" fmla="*/ 0 h 114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2500" h="1147500">
                  <a:moveTo>
                    <a:pt x="0" y="0"/>
                  </a:moveTo>
                  <a:lnTo>
                    <a:pt x="1912500" y="0"/>
                  </a:lnTo>
                  <a:lnTo>
                    <a:pt x="1912500" y="1147500"/>
                  </a:lnTo>
                  <a:lnTo>
                    <a:pt x="0" y="11475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7112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ar" sz="1600" i="0" kern="1200" cap="none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تُخلف السلع والخدمات المختلفة بصمات كربونية مختلفة، ومن المهم أن يتمكن مجال الضيافة من التحقق من بصمته الكربونية.</a:t>
              </a:r>
              <a:endParaRPr lang="en-US" sz="1600" i="0" kern="1200" cap="none" baseline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0A343649-897B-9F88-B23E-DBC9C93B3DB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4990488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150" y="113543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الاحتياجات المتضاربة لأصحاب المصلحة المختلفين (1)</a:t>
            </a:r>
          </a:p>
        </p:txBody>
      </p:sp>
      <p:sp>
        <p:nvSpPr>
          <p:cNvPr id="34825" name="Text Placeholder 2">
            <a:extLst>
              <a:ext uri="{FF2B5EF4-FFF2-40B4-BE49-F238E27FC236}">
                <a16:creationId xmlns:a16="http://schemas.microsoft.com/office/drawing/2014/main" id="{DFA09F26-2018-8B20-ACAA-8FCAF5067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5723" y="1679549"/>
            <a:ext cx="2304256" cy="639762"/>
          </a:xfrm>
        </p:spPr>
        <p:txBody>
          <a:bodyPr rtlCol="1"/>
          <a:lstStyle/>
          <a:p>
            <a:pPr rtl="1"/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أصحاب المصلحة</a:t>
            </a: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E5CDEA-FA85-6FA3-FCEE-F7A9B15EB506}"/>
              </a:ext>
            </a:extLst>
          </p:cNvPr>
          <p:cNvGrpSpPr/>
          <p:nvPr/>
        </p:nvGrpSpPr>
        <p:grpSpPr>
          <a:xfrm flipH="1">
            <a:off x="3707904" y="2523086"/>
            <a:ext cx="5182075" cy="3936114"/>
            <a:chOff x="3707904" y="2523086"/>
            <a:chExt cx="5182075" cy="393611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5C61E76-642F-1001-3D7A-E44A95CFB48B}"/>
                </a:ext>
              </a:extLst>
            </p:cNvPr>
            <p:cNvSpPr/>
            <p:nvPr/>
          </p:nvSpPr>
          <p:spPr>
            <a:xfrm>
              <a:off x="5573450" y="2577006"/>
              <a:ext cx="3316529" cy="431356"/>
            </a:xfrm>
            <a:custGeom>
              <a:avLst/>
              <a:gdLst>
                <a:gd name="connsiteX0" fmla="*/ 71894 w 431355"/>
                <a:gd name="connsiteY0" fmla="*/ 0 h 3316528"/>
                <a:gd name="connsiteX1" fmla="*/ 359461 w 431355"/>
                <a:gd name="connsiteY1" fmla="*/ 0 h 3316528"/>
                <a:gd name="connsiteX2" fmla="*/ 431355 w 431355"/>
                <a:gd name="connsiteY2" fmla="*/ 71894 h 3316528"/>
                <a:gd name="connsiteX3" fmla="*/ 431355 w 431355"/>
                <a:gd name="connsiteY3" fmla="*/ 3316528 h 3316528"/>
                <a:gd name="connsiteX4" fmla="*/ 431355 w 431355"/>
                <a:gd name="connsiteY4" fmla="*/ 3316528 h 3316528"/>
                <a:gd name="connsiteX5" fmla="*/ 0 w 431355"/>
                <a:gd name="connsiteY5" fmla="*/ 3316528 h 3316528"/>
                <a:gd name="connsiteX6" fmla="*/ 0 w 431355"/>
                <a:gd name="connsiteY6" fmla="*/ 3316528 h 3316528"/>
                <a:gd name="connsiteX7" fmla="*/ 0 w 431355"/>
                <a:gd name="connsiteY7" fmla="*/ 71894 h 3316528"/>
                <a:gd name="connsiteX8" fmla="*/ 71894 w 431355"/>
                <a:gd name="connsiteY8" fmla="*/ 0 h 331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355" h="3316528">
                  <a:moveTo>
                    <a:pt x="431355" y="552769"/>
                  </a:moveTo>
                  <a:lnTo>
                    <a:pt x="431355" y="2763759"/>
                  </a:lnTo>
                  <a:cubicBezTo>
                    <a:pt x="431355" y="3069043"/>
                    <a:pt x="427168" y="3316524"/>
                    <a:pt x="422004" y="3316524"/>
                  </a:cubicBezTo>
                  <a:lnTo>
                    <a:pt x="0" y="3316524"/>
                  </a:lnTo>
                  <a:lnTo>
                    <a:pt x="0" y="3316524"/>
                  </a:lnTo>
                  <a:lnTo>
                    <a:pt x="0" y="4"/>
                  </a:lnTo>
                  <a:lnTo>
                    <a:pt x="0" y="4"/>
                  </a:lnTo>
                  <a:lnTo>
                    <a:pt x="422004" y="4"/>
                  </a:lnTo>
                  <a:cubicBezTo>
                    <a:pt x="427168" y="4"/>
                    <a:pt x="431355" y="247485"/>
                    <a:pt x="431355" y="552769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44882" rIns="268707" bIns="144883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لأشخاص الذين يمتلكون أسهمًا في شركة</a:t>
              </a: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B9B1B8A-3C49-C02C-4009-C7A1FF26F939}"/>
                </a:ext>
              </a:extLst>
            </p:cNvPr>
            <p:cNvSpPr/>
            <p:nvPr/>
          </p:nvSpPr>
          <p:spPr>
            <a:xfrm>
              <a:off x="3707904" y="2523086"/>
              <a:ext cx="1865547" cy="539193"/>
            </a:xfrm>
            <a:custGeom>
              <a:avLst/>
              <a:gdLst>
                <a:gd name="connsiteX0" fmla="*/ 0 w 1865547"/>
                <a:gd name="connsiteY0" fmla="*/ 89867 h 539193"/>
                <a:gd name="connsiteX1" fmla="*/ 89867 w 1865547"/>
                <a:gd name="connsiteY1" fmla="*/ 0 h 539193"/>
                <a:gd name="connsiteX2" fmla="*/ 1775680 w 1865547"/>
                <a:gd name="connsiteY2" fmla="*/ 0 h 539193"/>
                <a:gd name="connsiteX3" fmla="*/ 1865547 w 1865547"/>
                <a:gd name="connsiteY3" fmla="*/ 89867 h 539193"/>
                <a:gd name="connsiteX4" fmla="*/ 1865547 w 1865547"/>
                <a:gd name="connsiteY4" fmla="*/ 449326 h 539193"/>
                <a:gd name="connsiteX5" fmla="*/ 1775680 w 1865547"/>
                <a:gd name="connsiteY5" fmla="*/ 539193 h 539193"/>
                <a:gd name="connsiteX6" fmla="*/ 89867 w 1865547"/>
                <a:gd name="connsiteY6" fmla="*/ 539193 h 539193"/>
                <a:gd name="connsiteX7" fmla="*/ 0 w 1865547"/>
                <a:gd name="connsiteY7" fmla="*/ 449326 h 539193"/>
                <a:gd name="connsiteX8" fmla="*/ 0 w 1865547"/>
                <a:gd name="connsiteY8" fmla="*/ 89867 h 5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5547" h="539193">
                  <a:moveTo>
                    <a:pt x="0" y="89867"/>
                  </a:moveTo>
                  <a:cubicBezTo>
                    <a:pt x="0" y="40235"/>
                    <a:pt x="40235" y="0"/>
                    <a:pt x="89867" y="0"/>
                  </a:cubicBezTo>
                  <a:lnTo>
                    <a:pt x="1775680" y="0"/>
                  </a:lnTo>
                  <a:cubicBezTo>
                    <a:pt x="1825312" y="0"/>
                    <a:pt x="1865547" y="40235"/>
                    <a:pt x="1865547" y="89867"/>
                  </a:cubicBezTo>
                  <a:lnTo>
                    <a:pt x="1865547" y="449326"/>
                  </a:lnTo>
                  <a:cubicBezTo>
                    <a:pt x="1865547" y="498958"/>
                    <a:pt x="1825312" y="539193"/>
                    <a:pt x="1775680" y="539193"/>
                  </a:cubicBezTo>
                  <a:lnTo>
                    <a:pt x="89867" y="539193"/>
                  </a:lnTo>
                  <a:cubicBezTo>
                    <a:pt x="40235" y="539193"/>
                    <a:pt x="0" y="498958"/>
                    <a:pt x="0" y="449326"/>
                  </a:cubicBezTo>
                  <a:lnTo>
                    <a:pt x="0" y="8986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281" tIns="56801" rIns="87281" bIns="56801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المساهمون 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CA2B649-0BD8-7101-141B-EB9907269932}"/>
                </a:ext>
              </a:extLst>
            </p:cNvPr>
            <p:cNvSpPr/>
            <p:nvPr/>
          </p:nvSpPr>
          <p:spPr>
            <a:xfrm>
              <a:off x="5573450" y="3143159"/>
              <a:ext cx="3316529" cy="431356"/>
            </a:xfrm>
            <a:custGeom>
              <a:avLst/>
              <a:gdLst>
                <a:gd name="connsiteX0" fmla="*/ 71894 w 431355"/>
                <a:gd name="connsiteY0" fmla="*/ 0 h 3316528"/>
                <a:gd name="connsiteX1" fmla="*/ 359461 w 431355"/>
                <a:gd name="connsiteY1" fmla="*/ 0 h 3316528"/>
                <a:gd name="connsiteX2" fmla="*/ 431355 w 431355"/>
                <a:gd name="connsiteY2" fmla="*/ 71894 h 3316528"/>
                <a:gd name="connsiteX3" fmla="*/ 431355 w 431355"/>
                <a:gd name="connsiteY3" fmla="*/ 3316528 h 3316528"/>
                <a:gd name="connsiteX4" fmla="*/ 431355 w 431355"/>
                <a:gd name="connsiteY4" fmla="*/ 3316528 h 3316528"/>
                <a:gd name="connsiteX5" fmla="*/ 0 w 431355"/>
                <a:gd name="connsiteY5" fmla="*/ 3316528 h 3316528"/>
                <a:gd name="connsiteX6" fmla="*/ 0 w 431355"/>
                <a:gd name="connsiteY6" fmla="*/ 3316528 h 3316528"/>
                <a:gd name="connsiteX7" fmla="*/ 0 w 431355"/>
                <a:gd name="connsiteY7" fmla="*/ 71894 h 3316528"/>
                <a:gd name="connsiteX8" fmla="*/ 71894 w 431355"/>
                <a:gd name="connsiteY8" fmla="*/ 0 h 331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355" h="3316528">
                  <a:moveTo>
                    <a:pt x="431355" y="552769"/>
                  </a:moveTo>
                  <a:lnTo>
                    <a:pt x="431355" y="2763759"/>
                  </a:lnTo>
                  <a:cubicBezTo>
                    <a:pt x="431355" y="3069043"/>
                    <a:pt x="427168" y="3316524"/>
                    <a:pt x="422004" y="3316524"/>
                  </a:cubicBezTo>
                  <a:lnTo>
                    <a:pt x="0" y="3316524"/>
                  </a:lnTo>
                  <a:lnTo>
                    <a:pt x="0" y="3316524"/>
                  </a:lnTo>
                  <a:lnTo>
                    <a:pt x="0" y="4"/>
                  </a:lnTo>
                  <a:lnTo>
                    <a:pt x="0" y="4"/>
                  </a:lnTo>
                  <a:lnTo>
                    <a:pt x="422004" y="4"/>
                  </a:lnTo>
                  <a:cubicBezTo>
                    <a:pt x="427168" y="4"/>
                    <a:pt x="431355" y="247485"/>
                    <a:pt x="431355" y="552769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44882" rIns="268707" bIns="144883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الأشخاص الذين يشترون منتجات أو خدمات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61F5697-3EC4-4E93-8E49-AFEFA355FFB7}"/>
                </a:ext>
              </a:extLst>
            </p:cNvPr>
            <p:cNvSpPr/>
            <p:nvPr/>
          </p:nvSpPr>
          <p:spPr>
            <a:xfrm>
              <a:off x="3707904" y="3089239"/>
              <a:ext cx="1865547" cy="539193"/>
            </a:xfrm>
            <a:custGeom>
              <a:avLst/>
              <a:gdLst>
                <a:gd name="connsiteX0" fmla="*/ 0 w 1865547"/>
                <a:gd name="connsiteY0" fmla="*/ 89867 h 539193"/>
                <a:gd name="connsiteX1" fmla="*/ 89867 w 1865547"/>
                <a:gd name="connsiteY1" fmla="*/ 0 h 539193"/>
                <a:gd name="connsiteX2" fmla="*/ 1775680 w 1865547"/>
                <a:gd name="connsiteY2" fmla="*/ 0 h 539193"/>
                <a:gd name="connsiteX3" fmla="*/ 1865547 w 1865547"/>
                <a:gd name="connsiteY3" fmla="*/ 89867 h 539193"/>
                <a:gd name="connsiteX4" fmla="*/ 1865547 w 1865547"/>
                <a:gd name="connsiteY4" fmla="*/ 449326 h 539193"/>
                <a:gd name="connsiteX5" fmla="*/ 1775680 w 1865547"/>
                <a:gd name="connsiteY5" fmla="*/ 539193 h 539193"/>
                <a:gd name="connsiteX6" fmla="*/ 89867 w 1865547"/>
                <a:gd name="connsiteY6" fmla="*/ 539193 h 539193"/>
                <a:gd name="connsiteX7" fmla="*/ 0 w 1865547"/>
                <a:gd name="connsiteY7" fmla="*/ 449326 h 539193"/>
                <a:gd name="connsiteX8" fmla="*/ 0 w 1865547"/>
                <a:gd name="connsiteY8" fmla="*/ 89867 h 5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5547" h="539193">
                  <a:moveTo>
                    <a:pt x="0" y="89867"/>
                  </a:moveTo>
                  <a:cubicBezTo>
                    <a:pt x="0" y="40235"/>
                    <a:pt x="40235" y="0"/>
                    <a:pt x="89867" y="0"/>
                  </a:cubicBezTo>
                  <a:lnTo>
                    <a:pt x="1775680" y="0"/>
                  </a:lnTo>
                  <a:cubicBezTo>
                    <a:pt x="1825312" y="0"/>
                    <a:pt x="1865547" y="40235"/>
                    <a:pt x="1865547" y="89867"/>
                  </a:cubicBezTo>
                  <a:lnTo>
                    <a:pt x="1865547" y="449326"/>
                  </a:lnTo>
                  <a:cubicBezTo>
                    <a:pt x="1865547" y="498958"/>
                    <a:pt x="1825312" y="539193"/>
                    <a:pt x="1775680" y="539193"/>
                  </a:cubicBezTo>
                  <a:lnTo>
                    <a:pt x="89867" y="539193"/>
                  </a:lnTo>
                  <a:cubicBezTo>
                    <a:pt x="40235" y="539193"/>
                    <a:pt x="0" y="498958"/>
                    <a:pt x="0" y="449326"/>
                  </a:cubicBezTo>
                  <a:lnTo>
                    <a:pt x="0" y="8986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281" tIns="56801" rIns="87281" bIns="56801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العملاء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9AA79A-5CA9-DCBB-6341-2317F9195615}"/>
                </a:ext>
              </a:extLst>
            </p:cNvPr>
            <p:cNvSpPr/>
            <p:nvPr/>
          </p:nvSpPr>
          <p:spPr>
            <a:xfrm>
              <a:off x="5573450" y="3709313"/>
              <a:ext cx="3316529" cy="431356"/>
            </a:xfrm>
            <a:custGeom>
              <a:avLst/>
              <a:gdLst>
                <a:gd name="connsiteX0" fmla="*/ 71894 w 431355"/>
                <a:gd name="connsiteY0" fmla="*/ 0 h 3316528"/>
                <a:gd name="connsiteX1" fmla="*/ 359461 w 431355"/>
                <a:gd name="connsiteY1" fmla="*/ 0 h 3316528"/>
                <a:gd name="connsiteX2" fmla="*/ 431355 w 431355"/>
                <a:gd name="connsiteY2" fmla="*/ 71894 h 3316528"/>
                <a:gd name="connsiteX3" fmla="*/ 431355 w 431355"/>
                <a:gd name="connsiteY3" fmla="*/ 3316528 h 3316528"/>
                <a:gd name="connsiteX4" fmla="*/ 431355 w 431355"/>
                <a:gd name="connsiteY4" fmla="*/ 3316528 h 3316528"/>
                <a:gd name="connsiteX5" fmla="*/ 0 w 431355"/>
                <a:gd name="connsiteY5" fmla="*/ 3316528 h 3316528"/>
                <a:gd name="connsiteX6" fmla="*/ 0 w 431355"/>
                <a:gd name="connsiteY6" fmla="*/ 3316528 h 3316528"/>
                <a:gd name="connsiteX7" fmla="*/ 0 w 431355"/>
                <a:gd name="connsiteY7" fmla="*/ 71894 h 3316528"/>
                <a:gd name="connsiteX8" fmla="*/ 71894 w 431355"/>
                <a:gd name="connsiteY8" fmla="*/ 0 h 331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355" h="3316528">
                  <a:moveTo>
                    <a:pt x="431355" y="552769"/>
                  </a:moveTo>
                  <a:lnTo>
                    <a:pt x="431355" y="2763759"/>
                  </a:lnTo>
                  <a:cubicBezTo>
                    <a:pt x="431355" y="3069043"/>
                    <a:pt x="427168" y="3316524"/>
                    <a:pt x="422004" y="3316524"/>
                  </a:cubicBezTo>
                  <a:lnTo>
                    <a:pt x="0" y="3316524"/>
                  </a:lnTo>
                  <a:lnTo>
                    <a:pt x="0" y="3316524"/>
                  </a:lnTo>
                  <a:lnTo>
                    <a:pt x="0" y="4"/>
                  </a:lnTo>
                  <a:lnTo>
                    <a:pt x="0" y="4"/>
                  </a:lnTo>
                  <a:lnTo>
                    <a:pt x="422004" y="4"/>
                  </a:lnTo>
                  <a:cubicBezTo>
                    <a:pt x="427168" y="4"/>
                    <a:pt x="431355" y="247485"/>
                    <a:pt x="431355" y="552769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44882" rIns="268707" bIns="144883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شخص يعمل لصالح شركة 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8CCDD2-3A1E-7D95-FC82-3FCF97817BAE}"/>
                </a:ext>
              </a:extLst>
            </p:cNvPr>
            <p:cNvSpPr/>
            <p:nvPr/>
          </p:nvSpPr>
          <p:spPr>
            <a:xfrm>
              <a:off x="3707904" y="3655393"/>
              <a:ext cx="1865547" cy="539193"/>
            </a:xfrm>
            <a:custGeom>
              <a:avLst/>
              <a:gdLst>
                <a:gd name="connsiteX0" fmla="*/ 0 w 1865547"/>
                <a:gd name="connsiteY0" fmla="*/ 89867 h 539193"/>
                <a:gd name="connsiteX1" fmla="*/ 89867 w 1865547"/>
                <a:gd name="connsiteY1" fmla="*/ 0 h 539193"/>
                <a:gd name="connsiteX2" fmla="*/ 1775680 w 1865547"/>
                <a:gd name="connsiteY2" fmla="*/ 0 h 539193"/>
                <a:gd name="connsiteX3" fmla="*/ 1865547 w 1865547"/>
                <a:gd name="connsiteY3" fmla="*/ 89867 h 539193"/>
                <a:gd name="connsiteX4" fmla="*/ 1865547 w 1865547"/>
                <a:gd name="connsiteY4" fmla="*/ 449326 h 539193"/>
                <a:gd name="connsiteX5" fmla="*/ 1775680 w 1865547"/>
                <a:gd name="connsiteY5" fmla="*/ 539193 h 539193"/>
                <a:gd name="connsiteX6" fmla="*/ 89867 w 1865547"/>
                <a:gd name="connsiteY6" fmla="*/ 539193 h 539193"/>
                <a:gd name="connsiteX7" fmla="*/ 0 w 1865547"/>
                <a:gd name="connsiteY7" fmla="*/ 449326 h 539193"/>
                <a:gd name="connsiteX8" fmla="*/ 0 w 1865547"/>
                <a:gd name="connsiteY8" fmla="*/ 89867 h 5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5547" h="539193">
                  <a:moveTo>
                    <a:pt x="0" y="89867"/>
                  </a:moveTo>
                  <a:cubicBezTo>
                    <a:pt x="0" y="40235"/>
                    <a:pt x="40235" y="0"/>
                    <a:pt x="89867" y="0"/>
                  </a:cubicBezTo>
                  <a:lnTo>
                    <a:pt x="1775680" y="0"/>
                  </a:lnTo>
                  <a:cubicBezTo>
                    <a:pt x="1825312" y="0"/>
                    <a:pt x="1865547" y="40235"/>
                    <a:pt x="1865547" y="89867"/>
                  </a:cubicBezTo>
                  <a:lnTo>
                    <a:pt x="1865547" y="449326"/>
                  </a:lnTo>
                  <a:cubicBezTo>
                    <a:pt x="1865547" y="498958"/>
                    <a:pt x="1825312" y="539193"/>
                    <a:pt x="1775680" y="539193"/>
                  </a:cubicBezTo>
                  <a:lnTo>
                    <a:pt x="89867" y="539193"/>
                  </a:lnTo>
                  <a:cubicBezTo>
                    <a:pt x="40235" y="539193"/>
                    <a:pt x="0" y="498958"/>
                    <a:pt x="0" y="449326"/>
                  </a:cubicBezTo>
                  <a:lnTo>
                    <a:pt x="0" y="8986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281" tIns="56801" rIns="87281" bIns="56801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الموظفون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5A22D7D-CF17-9554-A8B7-1680E48ACFB3}"/>
                </a:ext>
              </a:extLst>
            </p:cNvPr>
            <p:cNvSpPr/>
            <p:nvPr/>
          </p:nvSpPr>
          <p:spPr>
            <a:xfrm>
              <a:off x="5573450" y="4275466"/>
              <a:ext cx="3316529" cy="431356"/>
            </a:xfrm>
            <a:custGeom>
              <a:avLst/>
              <a:gdLst>
                <a:gd name="connsiteX0" fmla="*/ 71894 w 431355"/>
                <a:gd name="connsiteY0" fmla="*/ 0 h 3316528"/>
                <a:gd name="connsiteX1" fmla="*/ 359461 w 431355"/>
                <a:gd name="connsiteY1" fmla="*/ 0 h 3316528"/>
                <a:gd name="connsiteX2" fmla="*/ 431355 w 431355"/>
                <a:gd name="connsiteY2" fmla="*/ 71894 h 3316528"/>
                <a:gd name="connsiteX3" fmla="*/ 431355 w 431355"/>
                <a:gd name="connsiteY3" fmla="*/ 3316528 h 3316528"/>
                <a:gd name="connsiteX4" fmla="*/ 431355 w 431355"/>
                <a:gd name="connsiteY4" fmla="*/ 3316528 h 3316528"/>
                <a:gd name="connsiteX5" fmla="*/ 0 w 431355"/>
                <a:gd name="connsiteY5" fmla="*/ 3316528 h 3316528"/>
                <a:gd name="connsiteX6" fmla="*/ 0 w 431355"/>
                <a:gd name="connsiteY6" fmla="*/ 3316528 h 3316528"/>
                <a:gd name="connsiteX7" fmla="*/ 0 w 431355"/>
                <a:gd name="connsiteY7" fmla="*/ 71894 h 3316528"/>
                <a:gd name="connsiteX8" fmla="*/ 71894 w 431355"/>
                <a:gd name="connsiteY8" fmla="*/ 0 h 331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355" h="3316528">
                  <a:moveTo>
                    <a:pt x="431355" y="552769"/>
                  </a:moveTo>
                  <a:lnTo>
                    <a:pt x="431355" y="2763759"/>
                  </a:lnTo>
                  <a:cubicBezTo>
                    <a:pt x="431355" y="3069043"/>
                    <a:pt x="427168" y="3316524"/>
                    <a:pt x="422004" y="3316524"/>
                  </a:cubicBezTo>
                  <a:lnTo>
                    <a:pt x="0" y="3316524"/>
                  </a:lnTo>
                  <a:lnTo>
                    <a:pt x="0" y="3316524"/>
                  </a:lnTo>
                  <a:lnTo>
                    <a:pt x="0" y="4"/>
                  </a:lnTo>
                  <a:lnTo>
                    <a:pt x="0" y="4"/>
                  </a:lnTo>
                  <a:lnTo>
                    <a:pt x="422004" y="4"/>
                  </a:lnTo>
                  <a:cubicBezTo>
                    <a:pt x="427168" y="4"/>
                    <a:pt x="431355" y="247485"/>
                    <a:pt x="431355" y="552769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44883" rIns="268707" bIns="144882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شركة تورد المنتجات أو الخدمات لشركة أخرى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E77A4DC-2FB5-012B-36D0-93939692864E}"/>
                </a:ext>
              </a:extLst>
            </p:cNvPr>
            <p:cNvSpPr/>
            <p:nvPr/>
          </p:nvSpPr>
          <p:spPr>
            <a:xfrm>
              <a:off x="3707904" y="4221547"/>
              <a:ext cx="1865547" cy="539193"/>
            </a:xfrm>
            <a:custGeom>
              <a:avLst/>
              <a:gdLst>
                <a:gd name="connsiteX0" fmla="*/ 0 w 1865547"/>
                <a:gd name="connsiteY0" fmla="*/ 89867 h 539193"/>
                <a:gd name="connsiteX1" fmla="*/ 89867 w 1865547"/>
                <a:gd name="connsiteY1" fmla="*/ 0 h 539193"/>
                <a:gd name="connsiteX2" fmla="*/ 1775680 w 1865547"/>
                <a:gd name="connsiteY2" fmla="*/ 0 h 539193"/>
                <a:gd name="connsiteX3" fmla="*/ 1865547 w 1865547"/>
                <a:gd name="connsiteY3" fmla="*/ 89867 h 539193"/>
                <a:gd name="connsiteX4" fmla="*/ 1865547 w 1865547"/>
                <a:gd name="connsiteY4" fmla="*/ 449326 h 539193"/>
                <a:gd name="connsiteX5" fmla="*/ 1775680 w 1865547"/>
                <a:gd name="connsiteY5" fmla="*/ 539193 h 539193"/>
                <a:gd name="connsiteX6" fmla="*/ 89867 w 1865547"/>
                <a:gd name="connsiteY6" fmla="*/ 539193 h 539193"/>
                <a:gd name="connsiteX7" fmla="*/ 0 w 1865547"/>
                <a:gd name="connsiteY7" fmla="*/ 449326 h 539193"/>
                <a:gd name="connsiteX8" fmla="*/ 0 w 1865547"/>
                <a:gd name="connsiteY8" fmla="*/ 89867 h 5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5547" h="539193">
                  <a:moveTo>
                    <a:pt x="0" y="89867"/>
                  </a:moveTo>
                  <a:cubicBezTo>
                    <a:pt x="0" y="40235"/>
                    <a:pt x="40235" y="0"/>
                    <a:pt x="89867" y="0"/>
                  </a:cubicBezTo>
                  <a:lnTo>
                    <a:pt x="1775680" y="0"/>
                  </a:lnTo>
                  <a:cubicBezTo>
                    <a:pt x="1825312" y="0"/>
                    <a:pt x="1865547" y="40235"/>
                    <a:pt x="1865547" y="89867"/>
                  </a:cubicBezTo>
                  <a:lnTo>
                    <a:pt x="1865547" y="449326"/>
                  </a:lnTo>
                  <a:cubicBezTo>
                    <a:pt x="1865547" y="498958"/>
                    <a:pt x="1825312" y="539193"/>
                    <a:pt x="1775680" y="539193"/>
                  </a:cubicBezTo>
                  <a:lnTo>
                    <a:pt x="89867" y="539193"/>
                  </a:lnTo>
                  <a:cubicBezTo>
                    <a:pt x="40235" y="539193"/>
                    <a:pt x="0" y="498958"/>
                    <a:pt x="0" y="449326"/>
                  </a:cubicBezTo>
                  <a:lnTo>
                    <a:pt x="0" y="8986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281" tIns="56801" rIns="87281" bIns="56801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الموردون 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F3983E-41B0-F2F1-307C-9044D16C4AA5}"/>
                </a:ext>
              </a:extLst>
            </p:cNvPr>
            <p:cNvSpPr/>
            <p:nvPr/>
          </p:nvSpPr>
          <p:spPr>
            <a:xfrm>
              <a:off x="5573450" y="4841619"/>
              <a:ext cx="3316529" cy="431356"/>
            </a:xfrm>
            <a:custGeom>
              <a:avLst/>
              <a:gdLst>
                <a:gd name="connsiteX0" fmla="*/ 71894 w 431355"/>
                <a:gd name="connsiteY0" fmla="*/ 0 h 3316528"/>
                <a:gd name="connsiteX1" fmla="*/ 359461 w 431355"/>
                <a:gd name="connsiteY1" fmla="*/ 0 h 3316528"/>
                <a:gd name="connsiteX2" fmla="*/ 431355 w 431355"/>
                <a:gd name="connsiteY2" fmla="*/ 71894 h 3316528"/>
                <a:gd name="connsiteX3" fmla="*/ 431355 w 431355"/>
                <a:gd name="connsiteY3" fmla="*/ 3316528 h 3316528"/>
                <a:gd name="connsiteX4" fmla="*/ 431355 w 431355"/>
                <a:gd name="connsiteY4" fmla="*/ 3316528 h 3316528"/>
                <a:gd name="connsiteX5" fmla="*/ 0 w 431355"/>
                <a:gd name="connsiteY5" fmla="*/ 3316528 h 3316528"/>
                <a:gd name="connsiteX6" fmla="*/ 0 w 431355"/>
                <a:gd name="connsiteY6" fmla="*/ 3316528 h 3316528"/>
                <a:gd name="connsiteX7" fmla="*/ 0 w 431355"/>
                <a:gd name="connsiteY7" fmla="*/ 71894 h 3316528"/>
                <a:gd name="connsiteX8" fmla="*/ 71894 w 431355"/>
                <a:gd name="connsiteY8" fmla="*/ 0 h 331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355" h="3316528">
                  <a:moveTo>
                    <a:pt x="431355" y="552769"/>
                  </a:moveTo>
                  <a:lnTo>
                    <a:pt x="431355" y="2763759"/>
                  </a:lnTo>
                  <a:cubicBezTo>
                    <a:pt x="431355" y="3069043"/>
                    <a:pt x="427168" y="3316524"/>
                    <a:pt x="422004" y="3316524"/>
                  </a:cubicBezTo>
                  <a:lnTo>
                    <a:pt x="0" y="3316524"/>
                  </a:lnTo>
                  <a:lnTo>
                    <a:pt x="0" y="3316524"/>
                  </a:lnTo>
                  <a:lnTo>
                    <a:pt x="0" y="4"/>
                  </a:lnTo>
                  <a:lnTo>
                    <a:pt x="0" y="4"/>
                  </a:lnTo>
                  <a:lnTo>
                    <a:pt x="422004" y="4"/>
                  </a:lnTo>
                  <a:cubicBezTo>
                    <a:pt x="427168" y="4"/>
                    <a:pt x="431355" y="247485"/>
                    <a:pt x="431355" y="552769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44883" rIns="268707" bIns="144882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مجموعة من الأفراد الذين يتفاعلون داخل محيطهم المباشر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C947715-3355-1437-9389-BA46DED4F6F0}"/>
                </a:ext>
              </a:extLst>
            </p:cNvPr>
            <p:cNvSpPr/>
            <p:nvPr/>
          </p:nvSpPr>
          <p:spPr>
            <a:xfrm>
              <a:off x="3707904" y="4787700"/>
              <a:ext cx="1865547" cy="539193"/>
            </a:xfrm>
            <a:custGeom>
              <a:avLst/>
              <a:gdLst>
                <a:gd name="connsiteX0" fmla="*/ 0 w 1865547"/>
                <a:gd name="connsiteY0" fmla="*/ 89867 h 539193"/>
                <a:gd name="connsiteX1" fmla="*/ 89867 w 1865547"/>
                <a:gd name="connsiteY1" fmla="*/ 0 h 539193"/>
                <a:gd name="connsiteX2" fmla="*/ 1775680 w 1865547"/>
                <a:gd name="connsiteY2" fmla="*/ 0 h 539193"/>
                <a:gd name="connsiteX3" fmla="*/ 1865547 w 1865547"/>
                <a:gd name="connsiteY3" fmla="*/ 89867 h 539193"/>
                <a:gd name="connsiteX4" fmla="*/ 1865547 w 1865547"/>
                <a:gd name="connsiteY4" fmla="*/ 449326 h 539193"/>
                <a:gd name="connsiteX5" fmla="*/ 1775680 w 1865547"/>
                <a:gd name="connsiteY5" fmla="*/ 539193 h 539193"/>
                <a:gd name="connsiteX6" fmla="*/ 89867 w 1865547"/>
                <a:gd name="connsiteY6" fmla="*/ 539193 h 539193"/>
                <a:gd name="connsiteX7" fmla="*/ 0 w 1865547"/>
                <a:gd name="connsiteY7" fmla="*/ 449326 h 539193"/>
                <a:gd name="connsiteX8" fmla="*/ 0 w 1865547"/>
                <a:gd name="connsiteY8" fmla="*/ 89867 h 5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5547" h="539193">
                  <a:moveTo>
                    <a:pt x="0" y="89867"/>
                  </a:moveTo>
                  <a:cubicBezTo>
                    <a:pt x="0" y="40235"/>
                    <a:pt x="40235" y="0"/>
                    <a:pt x="89867" y="0"/>
                  </a:cubicBezTo>
                  <a:lnTo>
                    <a:pt x="1775680" y="0"/>
                  </a:lnTo>
                  <a:cubicBezTo>
                    <a:pt x="1825312" y="0"/>
                    <a:pt x="1865547" y="40235"/>
                    <a:pt x="1865547" y="89867"/>
                  </a:cubicBezTo>
                  <a:lnTo>
                    <a:pt x="1865547" y="449326"/>
                  </a:lnTo>
                  <a:cubicBezTo>
                    <a:pt x="1865547" y="498958"/>
                    <a:pt x="1825312" y="539193"/>
                    <a:pt x="1775680" y="539193"/>
                  </a:cubicBezTo>
                  <a:lnTo>
                    <a:pt x="89867" y="539193"/>
                  </a:lnTo>
                  <a:cubicBezTo>
                    <a:pt x="40235" y="539193"/>
                    <a:pt x="0" y="498958"/>
                    <a:pt x="0" y="449326"/>
                  </a:cubicBezTo>
                  <a:lnTo>
                    <a:pt x="0" y="8986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281" tIns="56801" rIns="87281" bIns="56801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المجتمع المحلي 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E14BC8C-159A-092A-5AA1-5F0BB8668DAE}"/>
                </a:ext>
              </a:extLst>
            </p:cNvPr>
            <p:cNvSpPr/>
            <p:nvPr/>
          </p:nvSpPr>
          <p:spPr>
            <a:xfrm>
              <a:off x="5573450" y="5407773"/>
              <a:ext cx="3316529" cy="431356"/>
            </a:xfrm>
            <a:custGeom>
              <a:avLst/>
              <a:gdLst>
                <a:gd name="connsiteX0" fmla="*/ 71894 w 431355"/>
                <a:gd name="connsiteY0" fmla="*/ 0 h 3316528"/>
                <a:gd name="connsiteX1" fmla="*/ 359461 w 431355"/>
                <a:gd name="connsiteY1" fmla="*/ 0 h 3316528"/>
                <a:gd name="connsiteX2" fmla="*/ 431355 w 431355"/>
                <a:gd name="connsiteY2" fmla="*/ 71894 h 3316528"/>
                <a:gd name="connsiteX3" fmla="*/ 431355 w 431355"/>
                <a:gd name="connsiteY3" fmla="*/ 3316528 h 3316528"/>
                <a:gd name="connsiteX4" fmla="*/ 431355 w 431355"/>
                <a:gd name="connsiteY4" fmla="*/ 3316528 h 3316528"/>
                <a:gd name="connsiteX5" fmla="*/ 0 w 431355"/>
                <a:gd name="connsiteY5" fmla="*/ 3316528 h 3316528"/>
                <a:gd name="connsiteX6" fmla="*/ 0 w 431355"/>
                <a:gd name="connsiteY6" fmla="*/ 3316528 h 3316528"/>
                <a:gd name="connsiteX7" fmla="*/ 0 w 431355"/>
                <a:gd name="connsiteY7" fmla="*/ 71894 h 3316528"/>
                <a:gd name="connsiteX8" fmla="*/ 71894 w 431355"/>
                <a:gd name="connsiteY8" fmla="*/ 0 h 331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355" h="3316528">
                  <a:moveTo>
                    <a:pt x="431355" y="552769"/>
                  </a:moveTo>
                  <a:lnTo>
                    <a:pt x="431355" y="2763759"/>
                  </a:lnTo>
                  <a:cubicBezTo>
                    <a:pt x="431355" y="3069043"/>
                    <a:pt x="427168" y="3316524"/>
                    <a:pt x="422004" y="3316524"/>
                  </a:cubicBezTo>
                  <a:lnTo>
                    <a:pt x="0" y="3316524"/>
                  </a:lnTo>
                  <a:lnTo>
                    <a:pt x="0" y="3316524"/>
                  </a:lnTo>
                  <a:lnTo>
                    <a:pt x="0" y="4"/>
                  </a:lnTo>
                  <a:lnTo>
                    <a:pt x="0" y="4"/>
                  </a:lnTo>
                  <a:lnTo>
                    <a:pt x="422004" y="4"/>
                  </a:lnTo>
                  <a:cubicBezTo>
                    <a:pt x="427168" y="4"/>
                    <a:pt x="431355" y="247485"/>
                    <a:pt x="431355" y="552769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44883" rIns="268707" bIns="144882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المسؤولة عن تقديم الخدمات للأشخاص والشركات في مجال محدد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C930888-464F-1AD8-718B-F46A96299A6C}"/>
                </a:ext>
              </a:extLst>
            </p:cNvPr>
            <p:cNvSpPr/>
            <p:nvPr/>
          </p:nvSpPr>
          <p:spPr>
            <a:xfrm>
              <a:off x="3707904" y="5353854"/>
              <a:ext cx="1865547" cy="539193"/>
            </a:xfrm>
            <a:custGeom>
              <a:avLst/>
              <a:gdLst>
                <a:gd name="connsiteX0" fmla="*/ 0 w 1865547"/>
                <a:gd name="connsiteY0" fmla="*/ 89867 h 539193"/>
                <a:gd name="connsiteX1" fmla="*/ 89867 w 1865547"/>
                <a:gd name="connsiteY1" fmla="*/ 0 h 539193"/>
                <a:gd name="connsiteX2" fmla="*/ 1775680 w 1865547"/>
                <a:gd name="connsiteY2" fmla="*/ 0 h 539193"/>
                <a:gd name="connsiteX3" fmla="*/ 1865547 w 1865547"/>
                <a:gd name="connsiteY3" fmla="*/ 89867 h 539193"/>
                <a:gd name="connsiteX4" fmla="*/ 1865547 w 1865547"/>
                <a:gd name="connsiteY4" fmla="*/ 449326 h 539193"/>
                <a:gd name="connsiteX5" fmla="*/ 1775680 w 1865547"/>
                <a:gd name="connsiteY5" fmla="*/ 539193 h 539193"/>
                <a:gd name="connsiteX6" fmla="*/ 89867 w 1865547"/>
                <a:gd name="connsiteY6" fmla="*/ 539193 h 539193"/>
                <a:gd name="connsiteX7" fmla="*/ 0 w 1865547"/>
                <a:gd name="connsiteY7" fmla="*/ 449326 h 539193"/>
                <a:gd name="connsiteX8" fmla="*/ 0 w 1865547"/>
                <a:gd name="connsiteY8" fmla="*/ 89867 h 5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5547" h="539193">
                  <a:moveTo>
                    <a:pt x="0" y="89867"/>
                  </a:moveTo>
                  <a:cubicBezTo>
                    <a:pt x="0" y="40235"/>
                    <a:pt x="40235" y="0"/>
                    <a:pt x="89867" y="0"/>
                  </a:cubicBezTo>
                  <a:lnTo>
                    <a:pt x="1775680" y="0"/>
                  </a:lnTo>
                  <a:cubicBezTo>
                    <a:pt x="1825312" y="0"/>
                    <a:pt x="1865547" y="40235"/>
                    <a:pt x="1865547" y="89867"/>
                  </a:cubicBezTo>
                  <a:lnTo>
                    <a:pt x="1865547" y="449326"/>
                  </a:lnTo>
                  <a:cubicBezTo>
                    <a:pt x="1865547" y="498958"/>
                    <a:pt x="1825312" y="539193"/>
                    <a:pt x="1775680" y="539193"/>
                  </a:cubicBezTo>
                  <a:lnTo>
                    <a:pt x="89867" y="539193"/>
                  </a:lnTo>
                  <a:cubicBezTo>
                    <a:pt x="40235" y="539193"/>
                    <a:pt x="0" y="498958"/>
                    <a:pt x="0" y="449326"/>
                  </a:cubicBezTo>
                  <a:lnTo>
                    <a:pt x="0" y="8986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281" tIns="56801" rIns="87281" bIns="56801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الحكومة 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9B51DB0-23D5-FFEC-63EA-CB083589782A}"/>
                </a:ext>
              </a:extLst>
            </p:cNvPr>
            <p:cNvSpPr/>
            <p:nvPr/>
          </p:nvSpPr>
          <p:spPr>
            <a:xfrm>
              <a:off x="5573450" y="5973926"/>
              <a:ext cx="3316529" cy="431356"/>
            </a:xfrm>
            <a:custGeom>
              <a:avLst/>
              <a:gdLst>
                <a:gd name="connsiteX0" fmla="*/ 71894 w 431355"/>
                <a:gd name="connsiteY0" fmla="*/ 0 h 3316528"/>
                <a:gd name="connsiteX1" fmla="*/ 359461 w 431355"/>
                <a:gd name="connsiteY1" fmla="*/ 0 h 3316528"/>
                <a:gd name="connsiteX2" fmla="*/ 431355 w 431355"/>
                <a:gd name="connsiteY2" fmla="*/ 71894 h 3316528"/>
                <a:gd name="connsiteX3" fmla="*/ 431355 w 431355"/>
                <a:gd name="connsiteY3" fmla="*/ 3316528 h 3316528"/>
                <a:gd name="connsiteX4" fmla="*/ 431355 w 431355"/>
                <a:gd name="connsiteY4" fmla="*/ 3316528 h 3316528"/>
                <a:gd name="connsiteX5" fmla="*/ 0 w 431355"/>
                <a:gd name="connsiteY5" fmla="*/ 3316528 h 3316528"/>
                <a:gd name="connsiteX6" fmla="*/ 0 w 431355"/>
                <a:gd name="connsiteY6" fmla="*/ 3316528 h 3316528"/>
                <a:gd name="connsiteX7" fmla="*/ 0 w 431355"/>
                <a:gd name="connsiteY7" fmla="*/ 71894 h 3316528"/>
                <a:gd name="connsiteX8" fmla="*/ 71894 w 431355"/>
                <a:gd name="connsiteY8" fmla="*/ 0 h 331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355" h="3316528">
                  <a:moveTo>
                    <a:pt x="431355" y="552769"/>
                  </a:moveTo>
                  <a:lnTo>
                    <a:pt x="431355" y="2763759"/>
                  </a:lnTo>
                  <a:cubicBezTo>
                    <a:pt x="431355" y="3069043"/>
                    <a:pt x="427168" y="3316524"/>
                    <a:pt x="422004" y="3316524"/>
                  </a:cubicBezTo>
                  <a:lnTo>
                    <a:pt x="0" y="3316524"/>
                  </a:lnTo>
                  <a:lnTo>
                    <a:pt x="0" y="3316524"/>
                  </a:lnTo>
                  <a:lnTo>
                    <a:pt x="0" y="4"/>
                  </a:lnTo>
                  <a:lnTo>
                    <a:pt x="0" y="4"/>
                  </a:lnTo>
                  <a:lnTo>
                    <a:pt x="422004" y="4"/>
                  </a:lnTo>
                  <a:cubicBezTo>
                    <a:pt x="427168" y="4"/>
                    <a:pt x="431355" y="247485"/>
                    <a:pt x="431355" y="552769"/>
                  </a:cubicBez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44883" rIns="268707" bIns="144882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الظروف أو المحيط الخارجي</a:t>
              </a: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C70C8C-13F2-9E10-4F02-CE774424C6AC}"/>
                </a:ext>
              </a:extLst>
            </p:cNvPr>
            <p:cNvSpPr/>
            <p:nvPr/>
          </p:nvSpPr>
          <p:spPr>
            <a:xfrm>
              <a:off x="3707904" y="5920007"/>
              <a:ext cx="1865547" cy="539193"/>
            </a:xfrm>
            <a:custGeom>
              <a:avLst/>
              <a:gdLst>
                <a:gd name="connsiteX0" fmla="*/ 0 w 1865547"/>
                <a:gd name="connsiteY0" fmla="*/ 89867 h 539193"/>
                <a:gd name="connsiteX1" fmla="*/ 89867 w 1865547"/>
                <a:gd name="connsiteY1" fmla="*/ 0 h 539193"/>
                <a:gd name="connsiteX2" fmla="*/ 1775680 w 1865547"/>
                <a:gd name="connsiteY2" fmla="*/ 0 h 539193"/>
                <a:gd name="connsiteX3" fmla="*/ 1865547 w 1865547"/>
                <a:gd name="connsiteY3" fmla="*/ 89867 h 539193"/>
                <a:gd name="connsiteX4" fmla="*/ 1865547 w 1865547"/>
                <a:gd name="connsiteY4" fmla="*/ 449326 h 539193"/>
                <a:gd name="connsiteX5" fmla="*/ 1775680 w 1865547"/>
                <a:gd name="connsiteY5" fmla="*/ 539193 h 539193"/>
                <a:gd name="connsiteX6" fmla="*/ 89867 w 1865547"/>
                <a:gd name="connsiteY6" fmla="*/ 539193 h 539193"/>
                <a:gd name="connsiteX7" fmla="*/ 0 w 1865547"/>
                <a:gd name="connsiteY7" fmla="*/ 449326 h 539193"/>
                <a:gd name="connsiteX8" fmla="*/ 0 w 1865547"/>
                <a:gd name="connsiteY8" fmla="*/ 89867 h 5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5547" h="539193">
                  <a:moveTo>
                    <a:pt x="0" y="89867"/>
                  </a:moveTo>
                  <a:cubicBezTo>
                    <a:pt x="0" y="40235"/>
                    <a:pt x="40235" y="0"/>
                    <a:pt x="89867" y="0"/>
                  </a:cubicBezTo>
                  <a:lnTo>
                    <a:pt x="1775680" y="0"/>
                  </a:lnTo>
                  <a:cubicBezTo>
                    <a:pt x="1825312" y="0"/>
                    <a:pt x="1865547" y="40235"/>
                    <a:pt x="1865547" y="89867"/>
                  </a:cubicBezTo>
                  <a:lnTo>
                    <a:pt x="1865547" y="449326"/>
                  </a:lnTo>
                  <a:cubicBezTo>
                    <a:pt x="1865547" y="498958"/>
                    <a:pt x="1825312" y="539193"/>
                    <a:pt x="1775680" y="539193"/>
                  </a:cubicBezTo>
                  <a:lnTo>
                    <a:pt x="89867" y="539193"/>
                  </a:lnTo>
                  <a:cubicBezTo>
                    <a:pt x="40235" y="539193"/>
                    <a:pt x="0" y="498958"/>
                    <a:pt x="0" y="449326"/>
                  </a:cubicBezTo>
                  <a:lnTo>
                    <a:pt x="0" y="8986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281" tIns="56801" rIns="87281" bIns="56801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البيئة </a:t>
              </a:r>
            </a:p>
          </p:txBody>
        </p:sp>
      </p:grpSp>
      <p:pic>
        <p:nvPicPr>
          <p:cNvPr id="5" name="Picture 4" descr="A hands holding a pie chart&#10;&#10;Description automatically generated">
            <a:extLst>
              <a:ext uri="{FF2B5EF4-FFF2-40B4-BE49-F238E27FC236}">
                <a16:creationId xmlns:a16="http://schemas.microsoft.com/office/drawing/2014/main" id="{8A771470-0A4F-EB85-F816-CE7F342DC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021" y="3182397"/>
            <a:ext cx="3173294" cy="2538635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3C9301F-1DD6-489E-5F42-398953704A0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5047407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71864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الاحتياجات المتضاربة لأصحاب المصلحة المختلفين (2)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678B76-357A-DD4B-4831-7F0BFA468818}"/>
              </a:ext>
            </a:extLst>
          </p:cNvPr>
          <p:cNvGrpSpPr/>
          <p:nvPr/>
        </p:nvGrpSpPr>
        <p:grpSpPr>
          <a:xfrm flipH="1">
            <a:off x="485504" y="1881978"/>
            <a:ext cx="8207374" cy="4013714"/>
            <a:chOff x="485504" y="1881978"/>
            <a:chExt cx="8207374" cy="401371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7CDD7D3-CD68-F17B-1CD5-A0442AC1F41A}"/>
                </a:ext>
              </a:extLst>
            </p:cNvPr>
            <p:cNvSpPr/>
            <p:nvPr/>
          </p:nvSpPr>
          <p:spPr>
            <a:xfrm>
              <a:off x="485504" y="1881978"/>
              <a:ext cx="6565900" cy="889088"/>
            </a:xfrm>
            <a:custGeom>
              <a:avLst/>
              <a:gdLst>
                <a:gd name="connsiteX0" fmla="*/ 0 w 6565900"/>
                <a:gd name="connsiteY0" fmla="*/ 88909 h 889088"/>
                <a:gd name="connsiteX1" fmla="*/ 88909 w 6565900"/>
                <a:gd name="connsiteY1" fmla="*/ 0 h 889088"/>
                <a:gd name="connsiteX2" fmla="*/ 6476991 w 6565900"/>
                <a:gd name="connsiteY2" fmla="*/ 0 h 889088"/>
                <a:gd name="connsiteX3" fmla="*/ 6565900 w 6565900"/>
                <a:gd name="connsiteY3" fmla="*/ 88909 h 889088"/>
                <a:gd name="connsiteX4" fmla="*/ 6565900 w 6565900"/>
                <a:gd name="connsiteY4" fmla="*/ 800179 h 889088"/>
                <a:gd name="connsiteX5" fmla="*/ 6476991 w 6565900"/>
                <a:gd name="connsiteY5" fmla="*/ 889088 h 889088"/>
                <a:gd name="connsiteX6" fmla="*/ 88909 w 6565900"/>
                <a:gd name="connsiteY6" fmla="*/ 889088 h 889088"/>
                <a:gd name="connsiteX7" fmla="*/ 0 w 6565900"/>
                <a:gd name="connsiteY7" fmla="*/ 800179 h 889088"/>
                <a:gd name="connsiteX8" fmla="*/ 0 w 6565900"/>
                <a:gd name="connsiteY8" fmla="*/ 88909 h 88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65900" h="889088">
                  <a:moveTo>
                    <a:pt x="0" y="88909"/>
                  </a:moveTo>
                  <a:cubicBezTo>
                    <a:pt x="0" y="39806"/>
                    <a:pt x="39806" y="0"/>
                    <a:pt x="88909" y="0"/>
                  </a:cubicBezTo>
                  <a:lnTo>
                    <a:pt x="6476991" y="0"/>
                  </a:lnTo>
                  <a:cubicBezTo>
                    <a:pt x="6526094" y="0"/>
                    <a:pt x="6565900" y="39806"/>
                    <a:pt x="6565900" y="88909"/>
                  </a:cubicBezTo>
                  <a:lnTo>
                    <a:pt x="6565900" y="800179"/>
                  </a:lnTo>
                  <a:cubicBezTo>
                    <a:pt x="6565900" y="849282"/>
                    <a:pt x="6526094" y="889088"/>
                    <a:pt x="6476991" y="889088"/>
                  </a:cubicBezTo>
                  <a:lnTo>
                    <a:pt x="88909" y="889088"/>
                  </a:lnTo>
                  <a:cubicBezTo>
                    <a:pt x="39806" y="889088"/>
                    <a:pt x="0" y="849282"/>
                    <a:pt x="0" y="800179"/>
                  </a:cubicBezTo>
                  <a:lnTo>
                    <a:pt x="0" y="88909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050" tIns="106050" rIns="274320" bIns="106050" numCol="1" spcCol="1270" rtlCol="1" anchor="ctr" anchorCtr="0">
              <a:noAutofit/>
            </a:bodyPr>
            <a:lstStyle/>
            <a:p>
              <a:pPr marL="0" lvl="0" indent="0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1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تهديد يواجه النظم البيئية المعرضة للخطر بسبب نمو شركات الضيافة.</a:t>
              </a:r>
              <a:endParaRPr lang="en-US" sz="21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6DE650E-E630-6E60-D3FF-70ECBE1301F1}"/>
                </a:ext>
              </a:extLst>
            </p:cNvPr>
            <p:cNvSpPr/>
            <p:nvPr/>
          </p:nvSpPr>
          <p:spPr>
            <a:xfrm>
              <a:off x="1035398" y="2905122"/>
              <a:ext cx="6565900" cy="889088"/>
            </a:xfrm>
            <a:custGeom>
              <a:avLst/>
              <a:gdLst>
                <a:gd name="connsiteX0" fmla="*/ 0 w 6565900"/>
                <a:gd name="connsiteY0" fmla="*/ 88909 h 889088"/>
                <a:gd name="connsiteX1" fmla="*/ 88909 w 6565900"/>
                <a:gd name="connsiteY1" fmla="*/ 0 h 889088"/>
                <a:gd name="connsiteX2" fmla="*/ 6476991 w 6565900"/>
                <a:gd name="connsiteY2" fmla="*/ 0 h 889088"/>
                <a:gd name="connsiteX3" fmla="*/ 6565900 w 6565900"/>
                <a:gd name="connsiteY3" fmla="*/ 88909 h 889088"/>
                <a:gd name="connsiteX4" fmla="*/ 6565900 w 6565900"/>
                <a:gd name="connsiteY4" fmla="*/ 800179 h 889088"/>
                <a:gd name="connsiteX5" fmla="*/ 6476991 w 6565900"/>
                <a:gd name="connsiteY5" fmla="*/ 889088 h 889088"/>
                <a:gd name="connsiteX6" fmla="*/ 88909 w 6565900"/>
                <a:gd name="connsiteY6" fmla="*/ 889088 h 889088"/>
                <a:gd name="connsiteX7" fmla="*/ 0 w 6565900"/>
                <a:gd name="connsiteY7" fmla="*/ 800179 h 889088"/>
                <a:gd name="connsiteX8" fmla="*/ 0 w 6565900"/>
                <a:gd name="connsiteY8" fmla="*/ 88909 h 88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65900" h="889088">
                  <a:moveTo>
                    <a:pt x="0" y="88909"/>
                  </a:moveTo>
                  <a:cubicBezTo>
                    <a:pt x="0" y="39806"/>
                    <a:pt x="39806" y="0"/>
                    <a:pt x="88909" y="0"/>
                  </a:cubicBezTo>
                  <a:lnTo>
                    <a:pt x="6476991" y="0"/>
                  </a:lnTo>
                  <a:cubicBezTo>
                    <a:pt x="6526094" y="0"/>
                    <a:pt x="6565900" y="39806"/>
                    <a:pt x="6565900" y="88909"/>
                  </a:cubicBezTo>
                  <a:lnTo>
                    <a:pt x="6565900" y="800179"/>
                  </a:lnTo>
                  <a:cubicBezTo>
                    <a:pt x="6565900" y="849282"/>
                    <a:pt x="6526094" y="889088"/>
                    <a:pt x="6476991" y="889088"/>
                  </a:cubicBezTo>
                  <a:lnTo>
                    <a:pt x="88909" y="889088"/>
                  </a:lnTo>
                  <a:cubicBezTo>
                    <a:pt x="39806" y="889088"/>
                    <a:pt x="0" y="849282"/>
                    <a:pt x="0" y="800179"/>
                  </a:cubicBezTo>
                  <a:lnTo>
                    <a:pt x="0" y="88909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050" tIns="106050" rIns="274320" bIns="106050" numCol="1" spcCol="1270" rtlCol="1" anchor="ctr" anchorCtr="0">
              <a:noAutofit/>
            </a:bodyPr>
            <a:lstStyle/>
            <a:p>
              <a:pPr marL="0" lvl="0" indent="0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1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الأولوية لكسب المال أعلى من أولوية حماية البيئة.</a:t>
              </a:r>
              <a:endParaRPr lang="en-US" sz="21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5E17587-BA0C-5E7C-97A5-B34308E144BF}"/>
                </a:ext>
              </a:extLst>
            </p:cNvPr>
            <p:cNvSpPr/>
            <p:nvPr/>
          </p:nvSpPr>
          <p:spPr>
            <a:xfrm>
              <a:off x="1577084" y="3955863"/>
              <a:ext cx="6565900" cy="889088"/>
            </a:xfrm>
            <a:custGeom>
              <a:avLst/>
              <a:gdLst>
                <a:gd name="connsiteX0" fmla="*/ 0 w 6565900"/>
                <a:gd name="connsiteY0" fmla="*/ 88909 h 889088"/>
                <a:gd name="connsiteX1" fmla="*/ 88909 w 6565900"/>
                <a:gd name="connsiteY1" fmla="*/ 0 h 889088"/>
                <a:gd name="connsiteX2" fmla="*/ 6476991 w 6565900"/>
                <a:gd name="connsiteY2" fmla="*/ 0 h 889088"/>
                <a:gd name="connsiteX3" fmla="*/ 6565900 w 6565900"/>
                <a:gd name="connsiteY3" fmla="*/ 88909 h 889088"/>
                <a:gd name="connsiteX4" fmla="*/ 6565900 w 6565900"/>
                <a:gd name="connsiteY4" fmla="*/ 800179 h 889088"/>
                <a:gd name="connsiteX5" fmla="*/ 6476991 w 6565900"/>
                <a:gd name="connsiteY5" fmla="*/ 889088 h 889088"/>
                <a:gd name="connsiteX6" fmla="*/ 88909 w 6565900"/>
                <a:gd name="connsiteY6" fmla="*/ 889088 h 889088"/>
                <a:gd name="connsiteX7" fmla="*/ 0 w 6565900"/>
                <a:gd name="connsiteY7" fmla="*/ 800179 h 889088"/>
                <a:gd name="connsiteX8" fmla="*/ 0 w 6565900"/>
                <a:gd name="connsiteY8" fmla="*/ 88909 h 88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65900" h="889088">
                  <a:moveTo>
                    <a:pt x="0" y="88909"/>
                  </a:moveTo>
                  <a:cubicBezTo>
                    <a:pt x="0" y="39806"/>
                    <a:pt x="39806" y="0"/>
                    <a:pt x="88909" y="0"/>
                  </a:cubicBezTo>
                  <a:lnTo>
                    <a:pt x="6476991" y="0"/>
                  </a:lnTo>
                  <a:cubicBezTo>
                    <a:pt x="6526094" y="0"/>
                    <a:pt x="6565900" y="39806"/>
                    <a:pt x="6565900" y="88909"/>
                  </a:cubicBezTo>
                  <a:lnTo>
                    <a:pt x="6565900" y="800179"/>
                  </a:lnTo>
                  <a:cubicBezTo>
                    <a:pt x="6565900" y="849282"/>
                    <a:pt x="6526094" y="889088"/>
                    <a:pt x="6476991" y="889088"/>
                  </a:cubicBezTo>
                  <a:lnTo>
                    <a:pt x="88909" y="889088"/>
                  </a:lnTo>
                  <a:cubicBezTo>
                    <a:pt x="39806" y="889088"/>
                    <a:pt x="0" y="849282"/>
                    <a:pt x="0" y="800179"/>
                  </a:cubicBezTo>
                  <a:lnTo>
                    <a:pt x="0" y="88909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050" tIns="106050" rIns="274320" bIns="106050" numCol="1" spcCol="1270" rtlCol="1" anchor="ctr" anchorCtr="0">
              <a:noAutofit/>
            </a:bodyPr>
            <a:lstStyle/>
            <a:p>
              <a:pPr marL="0" lvl="0" indent="0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1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الموارد التي تحتاجها شركات الضيافة مثل المياه والطاقة</a:t>
              </a:r>
              <a:endParaRPr lang="en-US" sz="21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B6F9090-88EF-B6E2-058F-74EEEDBBAF13}"/>
                </a:ext>
              </a:extLst>
            </p:cNvPr>
            <p:cNvSpPr/>
            <p:nvPr/>
          </p:nvSpPr>
          <p:spPr>
            <a:xfrm>
              <a:off x="2126978" y="5006604"/>
              <a:ext cx="6565900" cy="889088"/>
            </a:xfrm>
            <a:custGeom>
              <a:avLst/>
              <a:gdLst>
                <a:gd name="connsiteX0" fmla="*/ 0 w 6565900"/>
                <a:gd name="connsiteY0" fmla="*/ 88909 h 889088"/>
                <a:gd name="connsiteX1" fmla="*/ 88909 w 6565900"/>
                <a:gd name="connsiteY1" fmla="*/ 0 h 889088"/>
                <a:gd name="connsiteX2" fmla="*/ 6476991 w 6565900"/>
                <a:gd name="connsiteY2" fmla="*/ 0 h 889088"/>
                <a:gd name="connsiteX3" fmla="*/ 6565900 w 6565900"/>
                <a:gd name="connsiteY3" fmla="*/ 88909 h 889088"/>
                <a:gd name="connsiteX4" fmla="*/ 6565900 w 6565900"/>
                <a:gd name="connsiteY4" fmla="*/ 800179 h 889088"/>
                <a:gd name="connsiteX5" fmla="*/ 6476991 w 6565900"/>
                <a:gd name="connsiteY5" fmla="*/ 889088 h 889088"/>
                <a:gd name="connsiteX6" fmla="*/ 88909 w 6565900"/>
                <a:gd name="connsiteY6" fmla="*/ 889088 h 889088"/>
                <a:gd name="connsiteX7" fmla="*/ 0 w 6565900"/>
                <a:gd name="connsiteY7" fmla="*/ 800179 h 889088"/>
                <a:gd name="connsiteX8" fmla="*/ 0 w 6565900"/>
                <a:gd name="connsiteY8" fmla="*/ 88909 h 88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65900" h="889088">
                  <a:moveTo>
                    <a:pt x="0" y="88909"/>
                  </a:moveTo>
                  <a:cubicBezTo>
                    <a:pt x="0" y="39806"/>
                    <a:pt x="39806" y="0"/>
                    <a:pt x="88909" y="0"/>
                  </a:cubicBezTo>
                  <a:lnTo>
                    <a:pt x="6476991" y="0"/>
                  </a:lnTo>
                  <a:cubicBezTo>
                    <a:pt x="6526094" y="0"/>
                    <a:pt x="6565900" y="39806"/>
                    <a:pt x="6565900" y="88909"/>
                  </a:cubicBezTo>
                  <a:lnTo>
                    <a:pt x="6565900" y="800179"/>
                  </a:lnTo>
                  <a:cubicBezTo>
                    <a:pt x="6565900" y="849282"/>
                    <a:pt x="6526094" y="889088"/>
                    <a:pt x="6476991" y="889088"/>
                  </a:cubicBezTo>
                  <a:lnTo>
                    <a:pt x="88909" y="889088"/>
                  </a:lnTo>
                  <a:cubicBezTo>
                    <a:pt x="39806" y="889088"/>
                    <a:pt x="0" y="849282"/>
                    <a:pt x="0" y="800179"/>
                  </a:cubicBezTo>
                  <a:lnTo>
                    <a:pt x="0" y="88909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06050" rIns="274320" bIns="106050" numCol="1" spcCol="1270" rtlCol="1" anchor="ctr" anchorCtr="0">
              <a:noAutofit/>
            </a:bodyPr>
            <a:lstStyle/>
            <a:p>
              <a:pPr lvl="0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1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قد يكون هناك صراع مع السكان المحليين بسبب القرارات التي تتخذها الشركة.</a:t>
              </a:r>
              <a:endParaRPr lang="en-US" sz="21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BA2671F-BA72-DD2E-8532-672ADC65992A}"/>
                </a:ext>
              </a:extLst>
            </p:cNvPr>
            <p:cNvSpPr/>
            <p:nvPr/>
          </p:nvSpPr>
          <p:spPr>
            <a:xfrm>
              <a:off x="6537294" y="2535342"/>
              <a:ext cx="577907" cy="577907"/>
            </a:xfrm>
            <a:custGeom>
              <a:avLst/>
              <a:gdLst>
                <a:gd name="connsiteX0" fmla="*/ 0 w 577907"/>
                <a:gd name="connsiteY0" fmla="*/ 317849 h 577907"/>
                <a:gd name="connsiteX1" fmla="*/ 130029 w 577907"/>
                <a:gd name="connsiteY1" fmla="*/ 317849 h 577907"/>
                <a:gd name="connsiteX2" fmla="*/ 130029 w 577907"/>
                <a:gd name="connsiteY2" fmla="*/ 0 h 577907"/>
                <a:gd name="connsiteX3" fmla="*/ 447878 w 577907"/>
                <a:gd name="connsiteY3" fmla="*/ 0 h 577907"/>
                <a:gd name="connsiteX4" fmla="*/ 447878 w 577907"/>
                <a:gd name="connsiteY4" fmla="*/ 317849 h 577907"/>
                <a:gd name="connsiteX5" fmla="*/ 577907 w 577907"/>
                <a:gd name="connsiteY5" fmla="*/ 317849 h 577907"/>
                <a:gd name="connsiteX6" fmla="*/ 288954 w 577907"/>
                <a:gd name="connsiteY6" fmla="*/ 577907 h 577907"/>
                <a:gd name="connsiteX7" fmla="*/ 0 w 577907"/>
                <a:gd name="connsiteY7" fmla="*/ 317849 h 577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7907" h="577907">
                  <a:moveTo>
                    <a:pt x="0" y="317849"/>
                  </a:moveTo>
                  <a:lnTo>
                    <a:pt x="130029" y="317849"/>
                  </a:lnTo>
                  <a:lnTo>
                    <a:pt x="130029" y="0"/>
                  </a:lnTo>
                  <a:lnTo>
                    <a:pt x="447878" y="0"/>
                  </a:lnTo>
                  <a:lnTo>
                    <a:pt x="447878" y="317849"/>
                  </a:lnTo>
                  <a:lnTo>
                    <a:pt x="577907" y="317849"/>
                  </a:lnTo>
                  <a:lnTo>
                    <a:pt x="288954" y="577907"/>
                  </a:lnTo>
                  <a:lnTo>
                    <a:pt x="0" y="317849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6699" tIns="26670" rIns="156699" bIns="169702" numCol="1" spcCol="1270" rtlCol="1" anchor="ctr" anchorCtr="0">
              <a:noAutofit/>
            </a:bodyPr>
            <a:lstStyle/>
            <a:p>
              <a:pPr marL="0" lvl="0" indent="0" algn="ctr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1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A55B738-9C89-6C75-EFD4-6FAD5A04F303}"/>
                </a:ext>
              </a:extLst>
            </p:cNvPr>
            <p:cNvSpPr/>
            <p:nvPr/>
          </p:nvSpPr>
          <p:spPr>
            <a:xfrm>
              <a:off x="7087188" y="3586083"/>
              <a:ext cx="577907" cy="577907"/>
            </a:xfrm>
            <a:custGeom>
              <a:avLst/>
              <a:gdLst>
                <a:gd name="connsiteX0" fmla="*/ 0 w 577907"/>
                <a:gd name="connsiteY0" fmla="*/ 317849 h 577907"/>
                <a:gd name="connsiteX1" fmla="*/ 130029 w 577907"/>
                <a:gd name="connsiteY1" fmla="*/ 317849 h 577907"/>
                <a:gd name="connsiteX2" fmla="*/ 130029 w 577907"/>
                <a:gd name="connsiteY2" fmla="*/ 0 h 577907"/>
                <a:gd name="connsiteX3" fmla="*/ 447878 w 577907"/>
                <a:gd name="connsiteY3" fmla="*/ 0 h 577907"/>
                <a:gd name="connsiteX4" fmla="*/ 447878 w 577907"/>
                <a:gd name="connsiteY4" fmla="*/ 317849 h 577907"/>
                <a:gd name="connsiteX5" fmla="*/ 577907 w 577907"/>
                <a:gd name="connsiteY5" fmla="*/ 317849 h 577907"/>
                <a:gd name="connsiteX6" fmla="*/ 288954 w 577907"/>
                <a:gd name="connsiteY6" fmla="*/ 577907 h 577907"/>
                <a:gd name="connsiteX7" fmla="*/ 0 w 577907"/>
                <a:gd name="connsiteY7" fmla="*/ 317849 h 577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7907" h="577907">
                  <a:moveTo>
                    <a:pt x="0" y="317849"/>
                  </a:moveTo>
                  <a:lnTo>
                    <a:pt x="130029" y="317849"/>
                  </a:lnTo>
                  <a:lnTo>
                    <a:pt x="130029" y="0"/>
                  </a:lnTo>
                  <a:lnTo>
                    <a:pt x="447878" y="0"/>
                  </a:lnTo>
                  <a:lnTo>
                    <a:pt x="447878" y="317849"/>
                  </a:lnTo>
                  <a:lnTo>
                    <a:pt x="577907" y="317849"/>
                  </a:lnTo>
                  <a:lnTo>
                    <a:pt x="288954" y="577907"/>
                  </a:lnTo>
                  <a:lnTo>
                    <a:pt x="0" y="317849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6699" tIns="26670" rIns="156699" bIns="169702" numCol="1" spcCol="1270" rtlCol="1" anchor="ctr" anchorCtr="0">
              <a:noAutofit/>
            </a:bodyPr>
            <a:lstStyle/>
            <a:p>
              <a:pPr marL="0" lvl="0" indent="0" algn="ctr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1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D7474AF-FF2A-F572-4908-7DB5138D659E}"/>
                </a:ext>
              </a:extLst>
            </p:cNvPr>
            <p:cNvSpPr/>
            <p:nvPr/>
          </p:nvSpPr>
          <p:spPr>
            <a:xfrm>
              <a:off x="7628875" y="4636824"/>
              <a:ext cx="577907" cy="577907"/>
            </a:xfrm>
            <a:custGeom>
              <a:avLst/>
              <a:gdLst>
                <a:gd name="connsiteX0" fmla="*/ 0 w 577907"/>
                <a:gd name="connsiteY0" fmla="*/ 317849 h 577907"/>
                <a:gd name="connsiteX1" fmla="*/ 130029 w 577907"/>
                <a:gd name="connsiteY1" fmla="*/ 317849 h 577907"/>
                <a:gd name="connsiteX2" fmla="*/ 130029 w 577907"/>
                <a:gd name="connsiteY2" fmla="*/ 0 h 577907"/>
                <a:gd name="connsiteX3" fmla="*/ 447878 w 577907"/>
                <a:gd name="connsiteY3" fmla="*/ 0 h 577907"/>
                <a:gd name="connsiteX4" fmla="*/ 447878 w 577907"/>
                <a:gd name="connsiteY4" fmla="*/ 317849 h 577907"/>
                <a:gd name="connsiteX5" fmla="*/ 577907 w 577907"/>
                <a:gd name="connsiteY5" fmla="*/ 317849 h 577907"/>
                <a:gd name="connsiteX6" fmla="*/ 288954 w 577907"/>
                <a:gd name="connsiteY6" fmla="*/ 577907 h 577907"/>
                <a:gd name="connsiteX7" fmla="*/ 0 w 577907"/>
                <a:gd name="connsiteY7" fmla="*/ 317849 h 577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7907" h="577907">
                  <a:moveTo>
                    <a:pt x="0" y="317849"/>
                  </a:moveTo>
                  <a:lnTo>
                    <a:pt x="130029" y="317849"/>
                  </a:lnTo>
                  <a:lnTo>
                    <a:pt x="130029" y="0"/>
                  </a:lnTo>
                  <a:lnTo>
                    <a:pt x="447878" y="0"/>
                  </a:lnTo>
                  <a:lnTo>
                    <a:pt x="447878" y="317849"/>
                  </a:lnTo>
                  <a:lnTo>
                    <a:pt x="577907" y="317849"/>
                  </a:lnTo>
                  <a:lnTo>
                    <a:pt x="288954" y="577907"/>
                  </a:lnTo>
                  <a:lnTo>
                    <a:pt x="0" y="317849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6699" tIns="26670" rIns="156699" bIns="169702" numCol="1" spcCol="1270" rtlCol="1" anchor="ctr" anchorCtr="0">
              <a:noAutofit/>
            </a:bodyPr>
            <a:lstStyle/>
            <a:p>
              <a:pPr marL="0" lvl="0" indent="0" algn="ctr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1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6714387-8B34-A96D-F13A-2EB517118F21}"/>
              </a:ext>
            </a:extLst>
          </p:cNvPr>
          <p:cNvSpPr txBox="1"/>
          <p:nvPr/>
        </p:nvSpPr>
        <p:spPr>
          <a:xfrm>
            <a:off x="4971988" y="6156012"/>
            <a:ext cx="3720891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التفكير في حلول لهذه النزاعات؟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46097C9F-CB97-3F2B-7D14-634A7D8AE8C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654055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72974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دور الحكومات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6925F2-F592-E601-4FCA-F73D42012D1C}"/>
              </a:ext>
            </a:extLst>
          </p:cNvPr>
          <p:cNvGrpSpPr/>
          <p:nvPr/>
        </p:nvGrpSpPr>
        <p:grpSpPr>
          <a:xfrm flipH="1">
            <a:off x="491236" y="1841588"/>
            <a:ext cx="8207374" cy="3846565"/>
            <a:chOff x="491236" y="1841588"/>
            <a:chExt cx="8207374" cy="3846565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945AC05-4F06-AC00-8E6F-69436D2F94E6}"/>
                </a:ext>
              </a:extLst>
            </p:cNvPr>
            <p:cNvSpPr/>
            <p:nvPr/>
          </p:nvSpPr>
          <p:spPr>
            <a:xfrm>
              <a:off x="7242248" y="3307374"/>
              <a:ext cx="91440" cy="6713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671337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50BF846-2385-D58C-7549-BC0ECFB72B63}"/>
                </a:ext>
              </a:extLst>
            </p:cNvPr>
            <p:cNvSpPr/>
            <p:nvPr/>
          </p:nvSpPr>
          <p:spPr>
            <a:xfrm>
              <a:off x="4420963" y="3307374"/>
              <a:ext cx="91440" cy="6713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671337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325FF07-D1D7-8C35-F320-0A1B28BB11A2}"/>
                </a:ext>
              </a:extLst>
            </p:cNvPr>
            <p:cNvSpPr/>
            <p:nvPr/>
          </p:nvSpPr>
          <p:spPr>
            <a:xfrm>
              <a:off x="491236" y="1841588"/>
              <a:ext cx="2308324" cy="1465785"/>
            </a:xfrm>
            <a:prstGeom prst="roundRect">
              <a:avLst>
                <a:gd name="adj" fmla="val 10000"/>
              </a:avLst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9CD530E-7B9B-1351-1CB1-37B0F3DDAC55}"/>
                </a:ext>
              </a:extLst>
            </p:cNvPr>
            <p:cNvSpPr/>
            <p:nvPr/>
          </p:nvSpPr>
          <p:spPr>
            <a:xfrm>
              <a:off x="747716" y="2085245"/>
              <a:ext cx="2308324" cy="1465785"/>
            </a:xfrm>
            <a:custGeom>
              <a:avLst/>
              <a:gdLst>
                <a:gd name="connsiteX0" fmla="*/ 0 w 2308324"/>
                <a:gd name="connsiteY0" fmla="*/ 146579 h 1465785"/>
                <a:gd name="connsiteX1" fmla="*/ 146579 w 2308324"/>
                <a:gd name="connsiteY1" fmla="*/ 0 h 1465785"/>
                <a:gd name="connsiteX2" fmla="*/ 2161746 w 2308324"/>
                <a:gd name="connsiteY2" fmla="*/ 0 h 1465785"/>
                <a:gd name="connsiteX3" fmla="*/ 2308325 w 2308324"/>
                <a:gd name="connsiteY3" fmla="*/ 146579 h 1465785"/>
                <a:gd name="connsiteX4" fmla="*/ 2308324 w 2308324"/>
                <a:gd name="connsiteY4" fmla="*/ 1319207 h 1465785"/>
                <a:gd name="connsiteX5" fmla="*/ 2161745 w 2308324"/>
                <a:gd name="connsiteY5" fmla="*/ 1465786 h 1465785"/>
                <a:gd name="connsiteX6" fmla="*/ 146579 w 2308324"/>
                <a:gd name="connsiteY6" fmla="*/ 1465785 h 1465785"/>
                <a:gd name="connsiteX7" fmla="*/ 0 w 2308324"/>
                <a:gd name="connsiteY7" fmla="*/ 1319206 h 1465785"/>
                <a:gd name="connsiteX8" fmla="*/ 0 w 2308324"/>
                <a:gd name="connsiteY8" fmla="*/ 146579 h 14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8324" h="1465785">
                  <a:moveTo>
                    <a:pt x="0" y="146579"/>
                  </a:moveTo>
                  <a:cubicBezTo>
                    <a:pt x="0" y="65626"/>
                    <a:pt x="65626" y="0"/>
                    <a:pt x="146579" y="0"/>
                  </a:cubicBezTo>
                  <a:lnTo>
                    <a:pt x="2161746" y="0"/>
                  </a:lnTo>
                  <a:cubicBezTo>
                    <a:pt x="2242699" y="0"/>
                    <a:pt x="2308325" y="65626"/>
                    <a:pt x="2308325" y="146579"/>
                  </a:cubicBezTo>
                  <a:cubicBezTo>
                    <a:pt x="2308325" y="537455"/>
                    <a:pt x="2308324" y="928331"/>
                    <a:pt x="2308324" y="1319207"/>
                  </a:cubicBezTo>
                  <a:cubicBezTo>
                    <a:pt x="2308324" y="1400160"/>
                    <a:pt x="2242698" y="1465786"/>
                    <a:pt x="2161745" y="1465786"/>
                  </a:cubicBezTo>
                  <a:lnTo>
                    <a:pt x="146579" y="1465785"/>
                  </a:lnTo>
                  <a:cubicBezTo>
                    <a:pt x="65626" y="1465785"/>
                    <a:pt x="0" y="1400159"/>
                    <a:pt x="0" y="1319206"/>
                  </a:cubicBezTo>
                  <a:lnTo>
                    <a:pt x="0" y="146579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511" tIns="111511" rIns="111511" bIns="111511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قد تهتم الحكومات بالأولويات المالية أكثر من المشكلات البيئية.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02D0A89-3A68-F8C4-EE30-70D43B7D7D3C}"/>
                </a:ext>
              </a:extLst>
            </p:cNvPr>
            <p:cNvSpPr/>
            <p:nvPr/>
          </p:nvSpPr>
          <p:spPr>
            <a:xfrm>
              <a:off x="3312521" y="1841588"/>
              <a:ext cx="2308324" cy="1465785"/>
            </a:xfrm>
            <a:prstGeom prst="roundRect">
              <a:avLst>
                <a:gd name="adj" fmla="val 10000"/>
              </a:avLst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A16EE10-2668-C218-1B7C-F6BE04AE007B}"/>
                </a:ext>
              </a:extLst>
            </p:cNvPr>
            <p:cNvSpPr/>
            <p:nvPr/>
          </p:nvSpPr>
          <p:spPr>
            <a:xfrm>
              <a:off x="3569001" y="2085245"/>
              <a:ext cx="2308324" cy="1465785"/>
            </a:xfrm>
            <a:custGeom>
              <a:avLst/>
              <a:gdLst>
                <a:gd name="connsiteX0" fmla="*/ 0 w 2308324"/>
                <a:gd name="connsiteY0" fmla="*/ 146579 h 1465785"/>
                <a:gd name="connsiteX1" fmla="*/ 146579 w 2308324"/>
                <a:gd name="connsiteY1" fmla="*/ 0 h 1465785"/>
                <a:gd name="connsiteX2" fmla="*/ 2161746 w 2308324"/>
                <a:gd name="connsiteY2" fmla="*/ 0 h 1465785"/>
                <a:gd name="connsiteX3" fmla="*/ 2308325 w 2308324"/>
                <a:gd name="connsiteY3" fmla="*/ 146579 h 1465785"/>
                <a:gd name="connsiteX4" fmla="*/ 2308324 w 2308324"/>
                <a:gd name="connsiteY4" fmla="*/ 1319207 h 1465785"/>
                <a:gd name="connsiteX5" fmla="*/ 2161745 w 2308324"/>
                <a:gd name="connsiteY5" fmla="*/ 1465786 h 1465785"/>
                <a:gd name="connsiteX6" fmla="*/ 146579 w 2308324"/>
                <a:gd name="connsiteY6" fmla="*/ 1465785 h 1465785"/>
                <a:gd name="connsiteX7" fmla="*/ 0 w 2308324"/>
                <a:gd name="connsiteY7" fmla="*/ 1319206 h 1465785"/>
                <a:gd name="connsiteX8" fmla="*/ 0 w 2308324"/>
                <a:gd name="connsiteY8" fmla="*/ 146579 h 14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8324" h="1465785">
                  <a:moveTo>
                    <a:pt x="0" y="146579"/>
                  </a:moveTo>
                  <a:cubicBezTo>
                    <a:pt x="0" y="65626"/>
                    <a:pt x="65626" y="0"/>
                    <a:pt x="146579" y="0"/>
                  </a:cubicBezTo>
                  <a:lnTo>
                    <a:pt x="2161746" y="0"/>
                  </a:lnTo>
                  <a:cubicBezTo>
                    <a:pt x="2242699" y="0"/>
                    <a:pt x="2308325" y="65626"/>
                    <a:pt x="2308325" y="146579"/>
                  </a:cubicBezTo>
                  <a:cubicBezTo>
                    <a:pt x="2308325" y="537455"/>
                    <a:pt x="2308324" y="928331"/>
                    <a:pt x="2308324" y="1319207"/>
                  </a:cubicBezTo>
                  <a:cubicBezTo>
                    <a:pt x="2308324" y="1400160"/>
                    <a:pt x="2242698" y="1465786"/>
                    <a:pt x="2161745" y="1465786"/>
                  </a:cubicBezTo>
                  <a:lnTo>
                    <a:pt x="146579" y="1465785"/>
                  </a:lnTo>
                  <a:cubicBezTo>
                    <a:pt x="65626" y="1465785"/>
                    <a:pt x="0" y="1400159"/>
                    <a:pt x="0" y="1319206"/>
                  </a:cubicBezTo>
                  <a:lnTo>
                    <a:pt x="0" y="146579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511" tIns="111511" rIns="111511" bIns="111511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وضع الأهداف البيئية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A1DBF31-AD8D-87F4-A0FF-B139E16B507F}"/>
                </a:ext>
              </a:extLst>
            </p:cNvPr>
            <p:cNvSpPr/>
            <p:nvPr/>
          </p:nvSpPr>
          <p:spPr>
            <a:xfrm>
              <a:off x="3312521" y="3978712"/>
              <a:ext cx="2308324" cy="1465785"/>
            </a:xfrm>
            <a:prstGeom prst="roundRect">
              <a:avLst>
                <a:gd name="adj" fmla="val 10000"/>
              </a:avLst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D0C0366-D050-58FB-90FC-2DEC811180E7}"/>
                </a:ext>
              </a:extLst>
            </p:cNvPr>
            <p:cNvSpPr/>
            <p:nvPr/>
          </p:nvSpPr>
          <p:spPr>
            <a:xfrm>
              <a:off x="3569001" y="4222368"/>
              <a:ext cx="2308324" cy="1465785"/>
            </a:xfrm>
            <a:custGeom>
              <a:avLst/>
              <a:gdLst>
                <a:gd name="connsiteX0" fmla="*/ 0 w 2308324"/>
                <a:gd name="connsiteY0" fmla="*/ 146579 h 1465785"/>
                <a:gd name="connsiteX1" fmla="*/ 146579 w 2308324"/>
                <a:gd name="connsiteY1" fmla="*/ 0 h 1465785"/>
                <a:gd name="connsiteX2" fmla="*/ 2161746 w 2308324"/>
                <a:gd name="connsiteY2" fmla="*/ 0 h 1465785"/>
                <a:gd name="connsiteX3" fmla="*/ 2308325 w 2308324"/>
                <a:gd name="connsiteY3" fmla="*/ 146579 h 1465785"/>
                <a:gd name="connsiteX4" fmla="*/ 2308324 w 2308324"/>
                <a:gd name="connsiteY4" fmla="*/ 1319207 h 1465785"/>
                <a:gd name="connsiteX5" fmla="*/ 2161745 w 2308324"/>
                <a:gd name="connsiteY5" fmla="*/ 1465786 h 1465785"/>
                <a:gd name="connsiteX6" fmla="*/ 146579 w 2308324"/>
                <a:gd name="connsiteY6" fmla="*/ 1465785 h 1465785"/>
                <a:gd name="connsiteX7" fmla="*/ 0 w 2308324"/>
                <a:gd name="connsiteY7" fmla="*/ 1319206 h 1465785"/>
                <a:gd name="connsiteX8" fmla="*/ 0 w 2308324"/>
                <a:gd name="connsiteY8" fmla="*/ 146579 h 14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8324" h="1465785">
                  <a:moveTo>
                    <a:pt x="0" y="146579"/>
                  </a:moveTo>
                  <a:cubicBezTo>
                    <a:pt x="0" y="65626"/>
                    <a:pt x="65626" y="0"/>
                    <a:pt x="146579" y="0"/>
                  </a:cubicBezTo>
                  <a:lnTo>
                    <a:pt x="2161746" y="0"/>
                  </a:lnTo>
                  <a:cubicBezTo>
                    <a:pt x="2242699" y="0"/>
                    <a:pt x="2308325" y="65626"/>
                    <a:pt x="2308325" y="146579"/>
                  </a:cubicBezTo>
                  <a:cubicBezTo>
                    <a:pt x="2308325" y="537455"/>
                    <a:pt x="2308324" y="928331"/>
                    <a:pt x="2308324" y="1319207"/>
                  </a:cubicBezTo>
                  <a:cubicBezTo>
                    <a:pt x="2308324" y="1400160"/>
                    <a:pt x="2242698" y="1465786"/>
                    <a:pt x="2161745" y="1465786"/>
                  </a:cubicBezTo>
                  <a:lnTo>
                    <a:pt x="146579" y="1465785"/>
                  </a:lnTo>
                  <a:cubicBezTo>
                    <a:pt x="65626" y="1465785"/>
                    <a:pt x="0" y="1400159"/>
                    <a:pt x="0" y="1319206"/>
                  </a:cubicBezTo>
                  <a:lnTo>
                    <a:pt x="0" y="146579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511" tIns="111511" rIns="111511" bIns="111511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وتشمل تحسين جودة الهواء، وإدارة النفايات، وحماية موارد النفايات، وضمان حماية الموائل الطبيعية.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76F0CA8-6259-51FB-D687-F2DA8948B648}"/>
                </a:ext>
              </a:extLst>
            </p:cNvPr>
            <p:cNvSpPr/>
            <p:nvPr/>
          </p:nvSpPr>
          <p:spPr>
            <a:xfrm>
              <a:off x="6133806" y="1841588"/>
              <a:ext cx="2308324" cy="1465785"/>
            </a:xfrm>
            <a:prstGeom prst="roundRect">
              <a:avLst>
                <a:gd name="adj" fmla="val 10000"/>
              </a:avLst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C248882-291B-5DD5-51D4-B4CA18C747A0}"/>
                </a:ext>
              </a:extLst>
            </p:cNvPr>
            <p:cNvSpPr/>
            <p:nvPr/>
          </p:nvSpPr>
          <p:spPr>
            <a:xfrm>
              <a:off x="6390286" y="2085245"/>
              <a:ext cx="2308324" cy="1465785"/>
            </a:xfrm>
            <a:custGeom>
              <a:avLst/>
              <a:gdLst>
                <a:gd name="connsiteX0" fmla="*/ 0 w 2308324"/>
                <a:gd name="connsiteY0" fmla="*/ 146579 h 1465785"/>
                <a:gd name="connsiteX1" fmla="*/ 146579 w 2308324"/>
                <a:gd name="connsiteY1" fmla="*/ 0 h 1465785"/>
                <a:gd name="connsiteX2" fmla="*/ 2161746 w 2308324"/>
                <a:gd name="connsiteY2" fmla="*/ 0 h 1465785"/>
                <a:gd name="connsiteX3" fmla="*/ 2308325 w 2308324"/>
                <a:gd name="connsiteY3" fmla="*/ 146579 h 1465785"/>
                <a:gd name="connsiteX4" fmla="*/ 2308324 w 2308324"/>
                <a:gd name="connsiteY4" fmla="*/ 1319207 h 1465785"/>
                <a:gd name="connsiteX5" fmla="*/ 2161745 w 2308324"/>
                <a:gd name="connsiteY5" fmla="*/ 1465786 h 1465785"/>
                <a:gd name="connsiteX6" fmla="*/ 146579 w 2308324"/>
                <a:gd name="connsiteY6" fmla="*/ 1465785 h 1465785"/>
                <a:gd name="connsiteX7" fmla="*/ 0 w 2308324"/>
                <a:gd name="connsiteY7" fmla="*/ 1319206 h 1465785"/>
                <a:gd name="connsiteX8" fmla="*/ 0 w 2308324"/>
                <a:gd name="connsiteY8" fmla="*/ 146579 h 14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8324" h="1465785">
                  <a:moveTo>
                    <a:pt x="0" y="146579"/>
                  </a:moveTo>
                  <a:cubicBezTo>
                    <a:pt x="0" y="65626"/>
                    <a:pt x="65626" y="0"/>
                    <a:pt x="146579" y="0"/>
                  </a:cubicBezTo>
                  <a:lnTo>
                    <a:pt x="2161746" y="0"/>
                  </a:lnTo>
                  <a:cubicBezTo>
                    <a:pt x="2242699" y="0"/>
                    <a:pt x="2308325" y="65626"/>
                    <a:pt x="2308325" y="146579"/>
                  </a:cubicBezTo>
                  <a:cubicBezTo>
                    <a:pt x="2308325" y="537455"/>
                    <a:pt x="2308324" y="928331"/>
                    <a:pt x="2308324" y="1319207"/>
                  </a:cubicBezTo>
                  <a:cubicBezTo>
                    <a:pt x="2308324" y="1400160"/>
                    <a:pt x="2242698" y="1465786"/>
                    <a:pt x="2161745" y="1465786"/>
                  </a:cubicBezTo>
                  <a:lnTo>
                    <a:pt x="146579" y="1465785"/>
                  </a:lnTo>
                  <a:cubicBezTo>
                    <a:pt x="65626" y="1465785"/>
                    <a:pt x="0" y="1400159"/>
                    <a:pt x="0" y="1319206"/>
                  </a:cubicBezTo>
                  <a:lnTo>
                    <a:pt x="0" y="146579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511" tIns="111511" rIns="111511" bIns="111511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وضع لوائح تنظيم البناء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E086EA2-9248-68F4-2938-19D606DCD4DA}"/>
                </a:ext>
              </a:extLst>
            </p:cNvPr>
            <p:cNvSpPr/>
            <p:nvPr/>
          </p:nvSpPr>
          <p:spPr>
            <a:xfrm>
              <a:off x="6133806" y="3978712"/>
              <a:ext cx="2308324" cy="1465785"/>
            </a:xfrm>
            <a:prstGeom prst="roundRect">
              <a:avLst>
                <a:gd name="adj" fmla="val 10000"/>
              </a:avLst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DD84A8-7916-BC97-77F2-DF3A7CBDA0A5}"/>
                </a:ext>
              </a:extLst>
            </p:cNvPr>
            <p:cNvSpPr/>
            <p:nvPr/>
          </p:nvSpPr>
          <p:spPr>
            <a:xfrm>
              <a:off x="6390286" y="4222368"/>
              <a:ext cx="2308324" cy="1465785"/>
            </a:xfrm>
            <a:custGeom>
              <a:avLst/>
              <a:gdLst>
                <a:gd name="connsiteX0" fmla="*/ 0 w 2308324"/>
                <a:gd name="connsiteY0" fmla="*/ 146579 h 1465785"/>
                <a:gd name="connsiteX1" fmla="*/ 146579 w 2308324"/>
                <a:gd name="connsiteY1" fmla="*/ 0 h 1465785"/>
                <a:gd name="connsiteX2" fmla="*/ 2161746 w 2308324"/>
                <a:gd name="connsiteY2" fmla="*/ 0 h 1465785"/>
                <a:gd name="connsiteX3" fmla="*/ 2308325 w 2308324"/>
                <a:gd name="connsiteY3" fmla="*/ 146579 h 1465785"/>
                <a:gd name="connsiteX4" fmla="*/ 2308324 w 2308324"/>
                <a:gd name="connsiteY4" fmla="*/ 1319207 h 1465785"/>
                <a:gd name="connsiteX5" fmla="*/ 2161745 w 2308324"/>
                <a:gd name="connsiteY5" fmla="*/ 1465786 h 1465785"/>
                <a:gd name="connsiteX6" fmla="*/ 146579 w 2308324"/>
                <a:gd name="connsiteY6" fmla="*/ 1465785 h 1465785"/>
                <a:gd name="connsiteX7" fmla="*/ 0 w 2308324"/>
                <a:gd name="connsiteY7" fmla="*/ 1319206 h 1465785"/>
                <a:gd name="connsiteX8" fmla="*/ 0 w 2308324"/>
                <a:gd name="connsiteY8" fmla="*/ 146579 h 14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8324" h="1465785">
                  <a:moveTo>
                    <a:pt x="0" y="146579"/>
                  </a:moveTo>
                  <a:cubicBezTo>
                    <a:pt x="0" y="65626"/>
                    <a:pt x="65626" y="0"/>
                    <a:pt x="146579" y="0"/>
                  </a:cubicBezTo>
                  <a:lnTo>
                    <a:pt x="2161746" y="0"/>
                  </a:lnTo>
                  <a:cubicBezTo>
                    <a:pt x="2242699" y="0"/>
                    <a:pt x="2308325" y="65626"/>
                    <a:pt x="2308325" y="146579"/>
                  </a:cubicBezTo>
                  <a:cubicBezTo>
                    <a:pt x="2308325" y="537455"/>
                    <a:pt x="2308324" y="928331"/>
                    <a:pt x="2308324" y="1319207"/>
                  </a:cubicBezTo>
                  <a:cubicBezTo>
                    <a:pt x="2308324" y="1400160"/>
                    <a:pt x="2242698" y="1465786"/>
                    <a:pt x="2161745" y="1465786"/>
                  </a:cubicBezTo>
                  <a:lnTo>
                    <a:pt x="146579" y="1465785"/>
                  </a:lnTo>
                  <a:cubicBezTo>
                    <a:pt x="65626" y="1465785"/>
                    <a:pt x="0" y="1400159"/>
                    <a:pt x="0" y="1319206"/>
                  </a:cubicBezTo>
                  <a:lnTo>
                    <a:pt x="0" y="146579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511" tIns="111511" rIns="111511" bIns="111511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قد تطلب ميزات صديقة للبيئة.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E32D8B-F33A-8EBA-32EC-27F7E5F7F461}"/>
              </a:ext>
            </a:extLst>
          </p:cNvPr>
          <p:cNvSpPr txBox="1"/>
          <p:nvPr/>
        </p:nvSpPr>
        <p:spPr>
          <a:xfrm>
            <a:off x="6084168" y="4005064"/>
            <a:ext cx="267292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buNone/>
            </a:pPr>
            <a:r>
              <a:rPr lang="ar" sz="24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الحكومات: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02C5C0-20E9-524A-DDBA-9990DC297D59}"/>
              </a:ext>
            </a:extLst>
          </p:cNvPr>
          <p:cNvSpPr txBox="1"/>
          <p:nvPr/>
        </p:nvSpPr>
        <p:spPr>
          <a:xfrm>
            <a:off x="5564198" y="5981137"/>
            <a:ext cx="3400290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المبادرات الحكومية المتعلقة بالبيئة؟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8F9C068C-A140-69B7-867F-AC8B558FB3F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43120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9629" y="2564904"/>
            <a:ext cx="8568950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إدارة شركة مستدامة سيجعلها أكثر جاذبية ويساعد على تحسين رضا العملاء عنها.</a:t>
            </a:r>
          </a:p>
          <a:p>
            <a:pPr marL="0" indent="0" rtl="1">
              <a:buNone/>
            </a:pPr>
            <a:r>
              <a:rPr lang="ar" sz="2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الفوائد: </a:t>
            </a:r>
          </a:p>
          <a:p>
            <a:pPr rtl="1"/>
            <a:r>
              <a:rPr lang="ar" sz="2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المسؤولية المجتمعية للشركات (CSR): سياسة داخلية لشركة تساعدها على أن تكون مسؤولة تجاه أصحاب المصلحة لديها بما في ذلكالمجتمع المحلي.</a:t>
            </a:r>
          </a:p>
          <a:p>
            <a:pPr rtl="1"/>
            <a:r>
              <a:rPr lang="ar" sz="2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سيكون لها تأثير على جودة البيئة 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</a:t>
            </a:r>
            <a:r>
              <a:rPr lang="ar" sz="2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البيئة المحلية </a:t>
            </a:r>
          </a:p>
          <a:p>
            <a:pPr rtl="1"/>
            <a:r>
              <a:rPr lang="ar" sz="2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طريقة أخلاقية لإدارة شركة</a:t>
            </a:r>
          </a:p>
          <a:p>
            <a:pPr marL="0" indent="0" rtl="1">
              <a:buNone/>
            </a:pPr>
            <a:endParaRPr lang="en-GB" sz="22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فوائد وتحديات إدارة شركة مستدامة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3B40CC6-00CE-327F-4B7B-8B5185E1B06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39912557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فوائد وتحديات إدارة شركة مستدامة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30991" y="2059200"/>
            <a:ext cx="4189481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marL="0" indent="0" rtl="1">
              <a:buNone/>
            </a:pPr>
            <a:endParaRPr lang="en-GB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الاعتبارات التجارية:</a:t>
            </a:r>
          </a:p>
          <a:p>
            <a:pPr rtl="1"/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التأثير على التكاليف</a:t>
            </a:r>
          </a:p>
          <a:p>
            <a:pPr lvl="1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المحتمل أن تكون التكاليف </a:t>
            </a: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المبدئية كبيرة، ومع ذلك سيتم تعويضها على المدى الطويل عن طريق تقليل استهلاك الطاقة، على سبيل المثال</a:t>
            </a:r>
          </a:p>
          <a:p>
            <a:pPr rtl="1"/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تحفيز الموظفين </a:t>
            </a:r>
          </a:p>
          <a:p>
            <a:pPr lvl="1" rtl="1"/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سيتم تحفيز الموظفين من خلال العمل في شركة ضيافة تهدف إلى أن تكون مستدامة.</a:t>
            </a:r>
          </a:p>
          <a:p>
            <a:pPr rtl="1"/>
            <a:endParaRPr lang="en-GB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green heart and coins on a scale">
            <a:extLst>
              <a:ext uri="{FF2B5EF4-FFF2-40B4-BE49-F238E27FC236}">
                <a16:creationId xmlns:a16="http://schemas.microsoft.com/office/drawing/2014/main" id="{31DC6D7F-765F-1BAE-E987-57E137BB44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518" y="2708920"/>
            <a:ext cx="4189482" cy="279298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563462F-FA8E-C58D-F560-5EBB4D28EC7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860124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فوائد وتحديات إدارة شركة مستدامة (3)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896F9A-2CEC-7D9C-E2B1-629660087AA7}"/>
              </a:ext>
            </a:extLst>
          </p:cNvPr>
          <p:cNvGrpSpPr/>
          <p:nvPr/>
        </p:nvGrpSpPr>
        <p:grpSpPr>
          <a:xfrm flipH="1">
            <a:off x="258874" y="2879773"/>
            <a:ext cx="8197032" cy="3057113"/>
            <a:chOff x="258874" y="2879773"/>
            <a:chExt cx="8197032" cy="3057113"/>
          </a:xfrm>
        </p:grpSpPr>
        <p:sp>
          <p:nvSpPr>
            <p:cNvPr id="3" name="Rectangle 2" descr="Business Growth">
              <a:extLst>
                <a:ext uri="{FF2B5EF4-FFF2-40B4-BE49-F238E27FC236}">
                  <a16:creationId xmlns:a16="http://schemas.microsoft.com/office/drawing/2014/main" id="{B455CBB5-A1B4-3CE0-421E-77A911B00220}"/>
                </a:ext>
              </a:extLst>
            </p:cNvPr>
            <p:cNvSpPr/>
            <p:nvPr/>
          </p:nvSpPr>
          <p:spPr>
            <a:xfrm>
              <a:off x="258874" y="2879773"/>
              <a:ext cx="856406" cy="856406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2DC4924-424C-3677-FA5A-28E1F4BA4971}"/>
                </a:ext>
              </a:extLst>
            </p:cNvPr>
            <p:cNvSpPr/>
            <p:nvPr/>
          </p:nvSpPr>
          <p:spPr>
            <a:xfrm>
              <a:off x="258874" y="3867635"/>
              <a:ext cx="2446875" cy="367031"/>
            </a:xfrm>
            <a:custGeom>
              <a:avLst/>
              <a:gdLst>
                <a:gd name="connsiteX0" fmla="*/ 0 w 2446875"/>
                <a:gd name="connsiteY0" fmla="*/ 0 h 367031"/>
                <a:gd name="connsiteX1" fmla="*/ 2446875 w 2446875"/>
                <a:gd name="connsiteY1" fmla="*/ 0 h 367031"/>
                <a:gd name="connsiteX2" fmla="*/ 2446875 w 2446875"/>
                <a:gd name="connsiteY2" fmla="*/ 367031 h 367031"/>
                <a:gd name="connsiteX3" fmla="*/ 0 w 2446875"/>
                <a:gd name="connsiteY3" fmla="*/ 367031 h 367031"/>
                <a:gd name="connsiteX4" fmla="*/ 0 w 2446875"/>
                <a:gd name="connsiteY4" fmla="*/ 0 h 36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6875" h="367031">
                  <a:moveTo>
                    <a:pt x="0" y="0"/>
                  </a:moveTo>
                  <a:lnTo>
                    <a:pt x="2446875" y="0"/>
                  </a:lnTo>
                  <a:lnTo>
                    <a:pt x="2446875" y="367031"/>
                  </a:lnTo>
                  <a:lnTo>
                    <a:pt x="0" y="3670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ar" sz="16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تصور العميل للشركة</a:t>
              </a:r>
              <a:endParaRPr lang="en-US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E1A247E-2D88-2175-854D-1BC2D1001063}"/>
                </a:ext>
              </a:extLst>
            </p:cNvPr>
            <p:cNvSpPr/>
            <p:nvPr/>
          </p:nvSpPr>
          <p:spPr>
            <a:xfrm>
              <a:off x="258874" y="4295808"/>
              <a:ext cx="2446875" cy="1641078"/>
            </a:xfrm>
            <a:custGeom>
              <a:avLst/>
              <a:gdLst>
                <a:gd name="connsiteX0" fmla="*/ 0 w 2446875"/>
                <a:gd name="connsiteY0" fmla="*/ 0 h 1641078"/>
                <a:gd name="connsiteX1" fmla="*/ 2446875 w 2446875"/>
                <a:gd name="connsiteY1" fmla="*/ 0 h 1641078"/>
                <a:gd name="connsiteX2" fmla="*/ 2446875 w 2446875"/>
                <a:gd name="connsiteY2" fmla="*/ 1641078 h 1641078"/>
                <a:gd name="connsiteX3" fmla="*/ 0 w 2446875"/>
                <a:gd name="connsiteY3" fmla="*/ 1641078 h 1641078"/>
                <a:gd name="connsiteX4" fmla="*/ 0 w 2446875"/>
                <a:gd name="connsiteY4" fmla="*/ 0 h 1641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6875" h="1641078">
                  <a:moveTo>
                    <a:pt x="0" y="0"/>
                  </a:moveTo>
                  <a:lnTo>
                    <a:pt x="2446875" y="0"/>
                  </a:lnTo>
                  <a:lnTo>
                    <a:pt x="2446875" y="1641078"/>
                  </a:lnTo>
                  <a:lnTo>
                    <a:pt x="0" y="164107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عندما تهتم الشركات بتعزيز الاستدامة، يتحسن تصور العملاء لها ويزداد إعجابهم بها. الأمر الذي يمكن أن يؤدي إلى زيادة عدد العملاء والإيرادات.</a:t>
              </a:r>
              <a:endParaRPr lang="en-US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Rectangle 6" descr="Deciduous tree">
              <a:extLst>
                <a:ext uri="{FF2B5EF4-FFF2-40B4-BE49-F238E27FC236}">
                  <a16:creationId xmlns:a16="http://schemas.microsoft.com/office/drawing/2014/main" id="{1C63EC7E-1CF8-0BFE-508E-B0D2B15091CB}"/>
                </a:ext>
              </a:extLst>
            </p:cNvPr>
            <p:cNvSpPr/>
            <p:nvPr/>
          </p:nvSpPr>
          <p:spPr>
            <a:xfrm>
              <a:off x="3133953" y="2879773"/>
              <a:ext cx="856406" cy="856406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08C5E0B-ACBD-5DF1-E364-C96167ECA21C}"/>
                </a:ext>
              </a:extLst>
            </p:cNvPr>
            <p:cNvSpPr/>
            <p:nvPr/>
          </p:nvSpPr>
          <p:spPr>
            <a:xfrm>
              <a:off x="3133953" y="3867635"/>
              <a:ext cx="2446875" cy="367031"/>
            </a:xfrm>
            <a:custGeom>
              <a:avLst/>
              <a:gdLst>
                <a:gd name="connsiteX0" fmla="*/ 0 w 2446875"/>
                <a:gd name="connsiteY0" fmla="*/ 0 h 367031"/>
                <a:gd name="connsiteX1" fmla="*/ 2446875 w 2446875"/>
                <a:gd name="connsiteY1" fmla="*/ 0 h 367031"/>
                <a:gd name="connsiteX2" fmla="*/ 2446875 w 2446875"/>
                <a:gd name="connsiteY2" fmla="*/ 367031 h 367031"/>
                <a:gd name="connsiteX3" fmla="*/ 0 w 2446875"/>
                <a:gd name="connsiteY3" fmla="*/ 367031 h 367031"/>
                <a:gd name="connsiteX4" fmla="*/ 0 w 2446875"/>
                <a:gd name="connsiteY4" fmla="*/ 0 h 36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6875" h="367031">
                  <a:moveTo>
                    <a:pt x="0" y="0"/>
                  </a:moveTo>
                  <a:lnTo>
                    <a:pt x="2446875" y="0"/>
                  </a:lnTo>
                  <a:lnTo>
                    <a:pt x="2446875" y="367031"/>
                  </a:lnTo>
                  <a:lnTo>
                    <a:pt x="0" y="3670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ar" sz="16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تحسين صورة العلامة التجارية </a:t>
              </a:r>
              <a:endParaRPr lang="en-US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7B2A7F9-C51C-8A61-6A3C-40DFF6B26D07}"/>
                </a:ext>
              </a:extLst>
            </p:cNvPr>
            <p:cNvSpPr/>
            <p:nvPr/>
          </p:nvSpPr>
          <p:spPr>
            <a:xfrm>
              <a:off x="3133953" y="4295808"/>
              <a:ext cx="2446875" cy="1641078"/>
            </a:xfrm>
            <a:custGeom>
              <a:avLst/>
              <a:gdLst>
                <a:gd name="connsiteX0" fmla="*/ 0 w 2446875"/>
                <a:gd name="connsiteY0" fmla="*/ 0 h 1641078"/>
                <a:gd name="connsiteX1" fmla="*/ 2446875 w 2446875"/>
                <a:gd name="connsiteY1" fmla="*/ 0 h 1641078"/>
                <a:gd name="connsiteX2" fmla="*/ 2446875 w 2446875"/>
                <a:gd name="connsiteY2" fmla="*/ 1641078 h 1641078"/>
                <a:gd name="connsiteX3" fmla="*/ 0 w 2446875"/>
                <a:gd name="connsiteY3" fmla="*/ 1641078 h 1641078"/>
                <a:gd name="connsiteX4" fmla="*/ 0 w 2446875"/>
                <a:gd name="connsiteY4" fmla="*/ 0 h 1641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6875" h="1641078">
                  <a:moveTo>
                    <a:pt x="0" y="0"/>
                  </a:moveTo>
                  <a:lnTo>
                    <a:pt x="2446875" y="0"/>
                  </a:lnTo>
                  <a:lnTo>
                    <a:pt x="2446875" y="1641078"/>
                  </a:lnTo>
                  <a:lnTo>
                    <a:pt x="0" y="164107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هناك توقع متزايد من الشركات للمساهمة في المجتمع وتحمل المسؤولية البيئية. </a:t>
              </a:r>
            </a:p>
            <a:p>
              <a:pPr marL="0" lvl="0" indent="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هذا يزيد الثقة في العلامة التجارية، ويجعل العملاء أكثر ولاءً، ويشجعهم على العودة، وغالبًا ما يدفعهم إلى دفع مبلغ إضافي مقابل العلامة التجارية الأخلاقية.</a:t>
              </a:r>
              <a:endParaRPr lang="en-US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Rectangle 9" descr="Money">
              <a:extLst>
                <a:ext uri="{FF2B5EF4-FFF2-40B4-BE49-F238E27FC236}">
                  <a16:creationId xmlns:a16="http://schemas.microsoft.com/office/drawing/2014/main" id="{19480272-74B4-9A44-33EA-2FA8050157F0}"/>
                </a:ext>
              </a:extLst>
            </p:cNvPr>
            <p:cNvSpPr/>
            <p:nvPr/>
          </p:nvSpPr>
          <p:spPr>
            <a:xfrm>
              <a:off x="6009031" y="2879773"/>
              <a:ext cx="856406" cy="856406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7EBE8E2-48B8-2B89-E3F0-8BF485D007A6}"/>
                </a:ext>
              </a:extLst>
            </p:cNvPr>
            <p:cNvSpPr/>
            <p:nvPr/>
          </p:nvSpPr>
          <p:spPr>
            <a:xfrm>
              <a:off x="6009031" y="3867635"/>
              <a:ext cx="2446875" cy="367031"/>
            </a:xfrm>
            <a:custGeom>
              <a:avLst/>
              <a:gdLst>
                <a:gd name="connsiteX0" fmla="*/ 0 w 2446875"/>
                <a:gd name="connsiteY0" fmla="*/ 0 h 367031"/>
                <a:gd name="connsiteX1" fmla="*/ 2446875 w 2446875"/>
                <a:gd name="connsiteY1" fmla="*/ 0 h 367031"/>
                <a:gd name="connsiteX2" fmla="*/ 2446875 w 2446875"/>
                <a:gd name="connsiteY2" fmla="*/ 367031 h 367031"/>
                <a:gd name="connsiteX3" fmla="*/ 0 w 2446875"/>
                <a:gd name="connsiteY3" fmla="*/ 367031 h 367031"/>
                <a:gd name="connsiteX4" fmla="*/ 0 w 2446875"/>
                <a:gd name="connsiteY4" fmla="*/ 0 h 36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6875" h="367031">
                  <a:moveTo>
                    <a:pt x="0" y="0"/>
                  </a:moveTo>
                  <a:lnTo>
                    <a:pt x="2446875" y="0"/>
                  </a:lnTo>
                  <a:lnTo>
                    <a:pt x="2446875" y="367031"/>
                  </a:lnTo>
                  <a:lnTo>
                    <a:pt x="0" y="3670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ar" sz="16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الدخل التشغيلي</a:t>
              </a:r>
              <a:endParaRPr lang="en-US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2B0846-7AA2-04D3-8401-3C9C5E524E07}"/>
                </a:ext>
              </a:extLst>
            </p:cNvPr>
            <p:cNvSpPr/>
            <p:nvPr/>
          </p:nvSpPr>
          <p:spPr>
            <a:xfrm>
              <a:off x="6009031" y="4295808"/>
              <a:ext cx="2446875" cy="1641078"/>
            </a:xfrm>
            <a:custGeom>
              <a:avLst/>
              <a:gdLst>
                <a:gd name="connsiteX0" fmla="*/ 0 w 2446875"/>
                <a:gd name="connsiteY0" fmla="*/ 0 h 1641078"/>
                <a:gd name="connsiteX1" fmla="*/ 2446875 w 2446875"/>
                <a:gd name="connsiteY1" fmla="*/ 0 h 1641078"/>
                <a:gd name="connsiteX2" fmla="*/ 2446875 w 2446875"/>
                <a:gd name="connsiteY2" fmla="*/ 1641078 h 1641078"/>
                <a:gd name="connsiteX3" fmla="*/ 0 w 2446875"/>
                <a:gd name="connsiteY3" fmla="*/ 1641078 h 1641078"/>
                <a:gd name="connsiteX4" fmla="*/ 0 w 2446875"/>
                <a:gd name="connsiteY4" fmla="*/ 0 h 1641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6875" h="1641078">
                  <a:moveTo>
                    <a:pt x="0" y="0"/>
                  </a:moveTo>
                  <a:lnTo>
                    <a:pt x="2446875" y="0"/>
                  </a:lnTo>
                  <a:lnTo>
                    <a:pt x="2446875" y="1641078"/>
                  </a:lnTo>
                  <a:lnTo>
                    <a:pt x="0" y="164107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قد يُنظر إلى شركات الضيافة المستدامة على أنها فرصة استثمارية ينبغي أن توفر مصدر دخل في المستقبل. </a:t>
              </a:r>
              <a:endParaRPr lang="en-US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0A061BD-32D8-4D09-B10B-AAA8C70AB515}"/>
              </a:ext>
            </a:extLst>
          </p:cNvPr>
          <p:cNvSpPr txBox="1"/>
          <p:nvPr/>
        </p:nvSpPr>
        <p:spPr>
          <a:xfrm>
            <a:off x="4248472" y="2208685"/>
            <a:ext cx="45720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buNone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الاعتبارات التجارية، ت</a:t>
            </a:r>
            <a:r>
              <a:rPr lang="ar-JO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</a:t>
            </a: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ابع: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343447AD-9AD0-22E0-3F61-641A69856D6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0905926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507288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تحديات إدارة شركة مستدامة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C6E9F6-AA37-48C9-1F5A-6AB31C660AD2}"/>
              </a:ext>
            </a:extLst>
          </p:cNvPr>
          <p:cNvGrpSpPr/>
          <p:nvPr/>
        </p:nvGrpSpPr>
        <p:grpSpPr>
          <a:xfrm flipH="1">
            <a:off x="1263092" y="2197405"/>
            <a:ext cx="6617812" cy="3875625"/>
            <a:chOff x="1263092" y="2197405"/>
            <a:chExt cx="6617812" cy="387562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38F7E22-68EE-57CF-951E-74FA7F42EB98}"/>
                </a:ext>
              </a:extLst>
            </p:cNvPr>
            <p:cNvSpPr/>
            <p:nvPr/>
          </p:nvSpPr>
          <p:spPr>
            <a:xfrm>
              <a:off x="1548279" y="2197405"/>
              <a:ext cx="892125" cy="892125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" name="Rectangle 3" descr="Handshake">
              <a:extLst>
                <a:ext uri="{FF2B5EF4-FFF2-40B4-BE49-F238E27FC236}">
                  <a16:creationId xmlns:a16="http://schemas.microsoft.com/office/drawing/2014/main" id="{5B59A270-9B80-5052-B76D-FA1790D8ED25}"/>
                </a:ext>
              </a:extLst>
            </p:cNvPr>
            <p:cNvSpPr/>
            <p:nvPr/>
          </p:nvSpPr>
          <p:spPr>
            <a:xfrm>
              <a:off x="1738404" y="2387530"/>
              <a:ext cx="511875" cy="511875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35F4E4D-E536-A572-D2B1-07B932703942}"/>
                </a:ext>
              </a:extLst>
            </p:cNvPr>
            <p:cNvSpPr/>
            <p:nvPr/>
          </p:nvSpPr>
          <p:spPr>
            <a:xfrm>
              <a:off x="1263092" y="3367405"/>
              <a:ext cx="1462500" cy="585000"/>
            </a:xfrm>
            <a:custGeom>
              <a:avLst/>
              <a:gdLst>
                <a:gd name="connsiteX0" fmla="*/ 0 w 1462500"/>
                <a:gd name="connsiteY0" fmla="*/ 0 h 585000"/>
                <a:gd name="connsiteX1" fmla="*/ 1462500 w 1462500"/>
                <a:gd name="connsiteY1" fmla="*/ 0 h 585000"/>
                <a:gd name="connsiteX2" fmla="*/ 1462500 w 1462500"/>
                <a:gd name="connsiteY2" fmla="*/ 585000 h 585000"/>
                <a:gd name="connsiteX3" fmla="*/ 0 w 1462500"/>
                <a:gd name="connsiteY3" fmla="*/ 585000 h 585000"/>
                <a:gd name="connsiteX4" fmla="*/ 0 w 1462500"/>
                <a:gd name="connsiteY4" fmla="*/ 0 h 58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500" h="585000">
                  <a:moveTo>
                    <a:pt x="0" y="0"/>
                  </a:moveTo>
                  <a:lnTo>
                    <a:pt x="1462500" y="0"/>
                  </a:lnTo>
                  <a:lnTo>
                    <a:pt x="1462500" y="585000"/>
                  </a:lnTo>
                  <a:lnTo>
                    <a:pt x="0" y="58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ar" sz="18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التزام العملاء والموظفين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DA200EB-5CC9-D5F6-F78C-2F6E0B340928}"/>
                </a:ext>
              </a:extLst>
            </p:cNvPr>
            <p:cNvSpPr/>
            <p:nvPr/>
          </p:nvSpPr>
          <p:spPr>
            <a:xfrm>
              <a:off x="3266717" y="2197405"/>
              <a:ext cx="892125" cy="892125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" name="Rectangle 6" descr="Laptop">
              <a:extLst>
                <a:ext uri="{FF2B5EF4-FFF2-40B4-BE49-F238E27FC236}">
                  <a16:creationId xmlns:a16="http://schemas.microsoft.com/office/drawing/2014/main" id="{D5DA586F-9EDA-45EB-086B-E8A3782D7EF4}"/>
                </a:ext>
              </a:extLst>
            </p:cNvPr>
            <p:cNvSpPr/>
            <p:nvPr/>
          </p:nvSpPr>
          <p:spPr>
            <a:xfrm>
              <a:off x="3456842" y="2387530"/>
              <a:ext cx="511875" cy="511875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09CDAF7-374F-1D21-A5A4-632D15AB7E23}"/>
                </a:ext>
              </a:extLst>
            </p:cNvPr>
            <p:cNvSpPr/>
            <p:nvPr/>
          </p:nvSpPr>
          <p:spPr>
            <a:xfrm>
              <a:off x="2981529" y="3367405"/>
              <a:ext cx="1462500" cy="585000"/>
            </a:xfrm>
            <a:custGeom>
              <a:avLst/>
              <a:gdLst>
                <a:gd name="connsiteX0" fmla="*/ 0 w 1462500"/>
                <a:gd name="connsiteY0" fmla="*/ 0 h 585000"/>
                <a:gd name="connsiteX1" fmla="*/ 1462500 w 1462500"/>
                <a:gd name="connsiteY1" fmla="*/ 0 h 585000"/>
                <a:gd name="connsiteX2" fmla="*/ 1462500 w 1462500"/>
                <a:gd name="connsiteY2" fmla="*/ 585000 h 585000"/>
                <a:gd name="connsiteX3" fmla="*/ 0 w 1462500"/>
                <a:gd name="connsiteY3" fmla="*/ 585000 h 585000"/>
                <a:gd name="connsiteX4" fmla="*/ 0 w 1462500"/>
                <a:gd name="connsiteY4" fmla="*/ 0 h 58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500" h="585000">
                  <a:moveTo>
                    <a:pt x="0" y="0"/>
                  </a:moveTo>
                  <a:lnTo>
                    <a:pt x="1462500" y="0"/>
                  </a:lnTo>
                  <a:lnTo>
                    <a:pt x="1462500" y="585000"/>
                  </a:lnTo>
                  <a:lnTo>
                    <a:pt x="0" y="58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ar" sz="18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توفُّر الموارد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EB2419-702D-36F1-0B0C-281A6AFB8535}"/>
                </a:ext>
              </a:extLst>
            </p:cNvPr>
            <p:cNvSpPr/>
            <p:nvPr/>
          </p:nvSpPr>
          <p:spPr>
            <a:xfrm>
              <a:off x="4985154" y="2197405"/>
              <a:ext cx="892125" cy="892125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Rectangle 9" descr="Dollar">
              <a:extLst>
                <a:ext uri="{FF2B5EF4-FFF2-40B4-BE49-F238E27FC236}">
                  <a16:creationId xmlns:a16="http://schemas.microsoft.com/office/drawing/2014/main" id="{1E0F41BB-3B0C-303C-5B21-88D272B53415}"/>
                </a:ext>
              </a:extLst>
            </p:cNvPr>
            <p:cNvSpPr/>
            <p:nvPr/>
          </p:nvSpPr>
          <p:spPr>
            <a:xfrm>
              <a:off x="5175279" y="2387530"/>
              <a:ext cx="511875" cy="511875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FAFA74-A71A-8052-5E47-26B2EC55936E}"/>
                </a:ext>
              </a:extLst>
            </p:cNvPr>
            <p:cNvSpPr/>
            <p:nvPr/>
          </p:nvSpPr>
          <p:spPr>
            <a:xfrm>
              <a:off x="4699967" y="3367405"/>
              <a:ext cx="1462500" cy="585000"/>
            </a:xfrm>
            <a:custGeom>
              <a:avLst/>
              <a:gdLst>
                <a:gd name="connsiteX0" fmla="*/ 0 w 1462500"/>
                <a:gd name="connsiteY0" fmla="*/ 0 h 585000"/>
                <a:gd name="connsiteX1" fmla="*/ 1462500 w 1462500"/>
                <a:gd name="connsiteY1" fmla="*/ 0 h 585000"/>
                <a:gd name="connsiteX2" fmla="*/ 1462500 w 1462500"/>
                <a:gd name="connsiteY2" fmla="*/ 585000 h 585000"/>
                <a:gd name="connsiteX3" fmla="*/ 0 w 1462500"/>
                <a:gd name="connsiteY3" fmla="*/ 585000 h 585000"/>
                <a:gd name="connsiteX4" fmla="*/ 0 w 1462500"/>
                <a:gd name="connsiteY4" fmla="*/ 0 h 58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500" h="585000">
                  <a:moveTo>
                    <a:pt x="0" y="0"/>
                  </a:moveTo>
                  <a:lnTo>
                    <a:pt x="1462500" y="0"/>
                  </a:lnTo>
                  <a:lnTo>
                    <a:pt x="1462500" y="585000"/>
                  </a:lnTo>
                  <a:lnTo>
                    <a:pt x="0" y="58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ar" sz="18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التكلفة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A9C654-4BE6-4A41-2CC7-03AEDB1645EB}"/>
                </a:ext>
              </a:extLst>
            </p:cNvPr>
            <p:cNvSpPr/>
            <p:nvPr/>
          </p:nvSpPr>
          <p:spPr>
            <a:xfrm>
              <a:off x="6703592" y="2197405"/>
              <a:ext cx="892125" cy="892125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 12" descr="Upward trend">
              <a:extLst>
                <a:ext uri="{FF2B5EF4-FFF2-40B4-BE49-F238E27FC236}">
                  <a16:creationId xmlns:a16="http://schemas.microsoft.com/office/drawing/2014/main" id="{0831F47E-C8A5-11DC-47C0-2618800B7414}"/>
                </a:ext>
              </a:extLst>
            </p:cNvPr>
            <p:cNvSpPr/>
            <p:nvPr/>
          </p:nvSpPr>
          <p:spPr>
            <a:xfrm>
              <a:off x="6893717" y="2387530"/>
              <a:ext cx="511875" cy="511875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273AB0-88F7-1FFD-3109-0B174F0842A9}"/>
                </a:ext>
              </a:extLst>
            </p:cNvPr>
            <p:cNvSpPr/>
            <p:nvPr/>
          </p:nvSpPr>
          <p:spPr>
            <a:xfrm>
              <a:off x="6418404" y="3367405"/>
              <a:ext cx="1462500" cy="585000"/>
            </a:xfrm>
            <a:custGeom>
              <a:avLst/>
              <a:gdLst>
                <a:gd name="connsiteX0" fmla="*/ 0 w 1462500"/>
                <a:gd name="connsiteY0" fmla="*/ 0 h 585000"/>
                <a:gd name="connsiteX1" fmla="*/ 1462500 w 1462500"/>
                <a:gd name="connsiteY1" fmla="*/ 0 h 585000"/>
                <a:gd name="connsiteX2" fmla="*/ 1462500 w 1462500"/>
                <a:gd name="connsiteY2" fmla="*/ 585000 h 585000"/>
                <a:gd name="connsiteX3" fmla="*/ 0 w 1462500"/>
                <a:gd name="connsiteY3" fmla="*/ 585000 h 585000"/>
                <a:gd name="connsiteX4" fmla="*/ 0 w 1462500"/>
                <a:gd name="connsiteY4" fmla="*/ 0 h 58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500" h="585000">
                  <a:moveTo>
                    <a:pt x="0" y="0"/>
                  </a:moveTo>
                  <a:lnTo>
                    <a:pt x="1462500" y="0"/>
                  </a:lnTo>
                  <a:lnTo>
                    <a:pt x="1462500" y="585000"/>
                  </a:lnTo>
                  <a:lnTo>
                    <a:pt x="0" y="58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ar" sz="18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التأثير على الربحية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AA3F0BA-8AB5-CBE4-1394-A56D0D8DB88D}"/>
                </a:ext>
              </a:extLst>
            </p:cNvPr>
            <p:cNvSpPr/>
            <p:nvPr/>
          </p:nvSpPr>
          <p:spPr>
            <a:xfrm>
              <a:off x="2984981" y="4318030"/>
              <a:ext cx="892125" cy="892125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15" descr="Head with Gears">
              <a:extLst>
                <a:ext uri="{FF2B5EF4-FFF2-40B4-BE49-F238E27FC236}">
                  <a16:creationId xmlns:a16="http://schemas.microsoft.com/office/drawing/2014/main" id="{4D38BF7F-C453-28C9-C2D9-A3D8E875E60C}"/>
                </a:ext>
              </a:extLst>
            </p:cNvPr>
            <p:cNvSpPr/>
            <p:nvPr/>
          </p:nvSpPr>
          <p:spPr>
            <a:xfrm>
              <a:off x="3175106" y="4508155"/>
              <a:ext cx="511875" cy="511875"/>
            </a:xfrm>
            <a:prstGeom prst="rect">
              <a:avLst/>
            </a:prstGeom>
            <a:blipFill>
              <a:blip r:embed="rId12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092EFF8-1053-EB15-DC14-9A44FF01766E}"/>
                </a:ext>
              </a:extLst>
            </p:cNvPr>
            <p:cNvSpPr/>
            <p:nvPr/>
          </p:nvSpPr>
          <p:spPr>
            <a:xfrm>
              <a:off x="2699793" y="5488030"/>
              <a:ext cx="1462500" cy="585000"/>
            </a:xfrm>
            <a:custGeom>
              <a:avLst/>
              <a:gdLst>
                <a:gd name="connsiteX0" fmla="*/ 0 w 1462500"/>
                <a:gd name="connsiteY0" fmla="*/ 0 h 585000"/>
                <a:gd name="connsiteX1" fmla="*/ 1462500 w 1462500"/>
                <a:gd name="connsiteY1" fmla="*/ 0 h 585000"/>
                <a:gd name="connsiteX2" fmla="*/ 1462500 w 1462500"/>
                <a:gd name="connsiteY2" fmla="*/ 585000 h 585000"/>
                <a:gd name="connsiteX3" fmla="*/ 0 w 1462500"/>
                <a:gd name="connsiteY3" fmla="*/ 585000 h 585000"/>
                <a:gd name="connsiteX4" fmla="*/ 0 w 1462500"/>
                <a:gd name="connsiteY4" fmla="*/ 0 h 58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500" h="585000">
                  <a:moveTo>
                    <a:pt x="0" y="0"/>
                  </a:moveTo>
                  <a:lnTo>
                    <a:pt x="1462500" y="0"/>
                  </a:lnTo>
                  <a:lnTo>
                    <a:pt x="1462500" y="585000"/>
                  </a:lnTo>
                  <a:lnTo>
                    <a:pt x="0" y="58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ar" sz="18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نقص المعلومات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ABA17A4-BD65-DAD3-76C7-2EE29EA16B52}"/>
                </a:ext>
              </a:extLst>
            </p:cNvPr>
            <p:cNvSpPr/>
            <p:nvPr/>
          </p:nvSpPr>
          <p:spPr>
            <a:xfrm>
              <a:off x="4985154" y="4318030"/>
              <a:ext cx="892125" cy="892125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18" descr="Warning">
              <a:extLst>
                <a:ext uri="{FF2B5EF4-FFF2-40B4-BE49-F238E27FC236}">
                  <a16:creationId xmlns:a16="http://schemas.microsoft.com/office/drawing/2014/main" id="{ECBB7867-5BED-D179-9DD2-62D2EEEB3746}"/>
                </a:ext>
              </a:extLst>
            </p:cNvPr>
            <p:cNvSpPr/>
            <p:nvPr/>
          </p:nvSpPr>
          <p:spPr>
            <a:xfrm>
              <a:off x="5175279" y="4508155"/>
              <a:ext cx="511875" cy="511875"/>
            </a:xfrm>
            <a:prstGeom prst="rect">
              <a:avLst/>
            </a:prstGeom>
            <a:blipFill>
              <a:blip r:embed="rId1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EE76DD7-A7C3-2445-0823-5AC3C008C37A}"/>
                </a:ext>
              </a:extLst>
            </p:cNvPr>
            <p:cNvSpPr/>
            <p:nvPr/>
          </p:nvSpPr>
          <p:spPr>
            <a:xfrm>
              <a:off x="4418231" y="5488030"/>
              <a:ext cx="2025972" cy="585000"/>
            </a:xfrm>
            <a:custGeom>
              <a:avLst/>
              <a:gdLst>
                <a:gd name="connsiteX0" fmla="*/ 0 w 2025972"/>
                <a:gd name="connsiteY0" fmla="*/ 0 h 585000"/>
                <a:gd name="connsiteX1" fmla="*/ 2025972 w 2025972"/>
                <a:gd name="connsiteY1" fmla="*/ 0 h 585000"/>
                <a:gd name="connsiteX2" fmla="*/ 2025972 w 2025972"/>
                <a:gd name="connsiteY2" fmla="*/ 585000 h 585000"/>
                <a:gd name="connsiteX3" fmla="*/ 0 w 2025972"/>
                <a:gd name="connsiteY3" fmla="*/ 585000 h 585000"/>
                <a:gd name="connsiteX4" fmla="*/ 0 w 2025972"/>
                <a:gd name="connsiteY4" fmla="*/ 0 h 58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5972" h="585000">
                  <a:moveTo>
                    <a:pt x="0" y="0"/>
                  </a:moveTo>
                  <a:lnTo>
                    <a:pt x="2025972" y="0"/>
                  </a:lnTo>
                  <a:lnTo>
                    <a:pt x="2025972" y="585000"/>
                  </a:lnTo>
                  <a:lnTo>
                    <a:pt x="0" y="58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ar" sz="18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مخاطر الغسل الأخضر</a:t>
              </a:r>
              <a:endParaRPr lang="en-US" sz="18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6D4F8F18-49FA-E640-63A9-5A929459393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704812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8945" y="1157053"/>
            <a:ext cx="8229600" cy="68259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</a:pP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التعلُّم ب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91" y="1506161"/>
            <a:ext cx="8892482" cy="1953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rtl="1"/>
            <a:r>
              <a:rPr lang="ar" sz="3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بحث في </a:t>
            </a:r>
            <a:r>
              <a:rPr lang="ar-JO" sz="3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قضية</a:t>
            </a:r>
            <a:r>
              <a:rPr lang="ar" sz="3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بيئية في مجال الضيافة</a:t>
            </a:r>
            <a:endParaRPr lang="en-GB" sz="3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A5F993-CE6D-85D2-03F3-9637CD46D084}"/>
              </a:ext>
            </a:extLst>
          </p:cNvPr>
          <p:cNvGrpSpPr/>
          <p:nvPr/>
        </p:nvGrpSpPr>
        <p:grpSpPr>
          <a:xfrm flipH="1">
            <a:off x="156191" y="3212976"/>
            <a:ext cx="8596879" cy="3178337"/>
            <a:chOff x="156191" y="3212976"/>
            <a:chExt cx="8596879" cy="317833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45AF541-BC18-63AC-AB1E-E9FA783B21C3}"/>
                </a:ext>
              </a:extLst>
            </p:cNvPr>
            <p:cNvSpPr/>
            <p:nvPr/>
          </p:nvSpPr>
          <p:spPr>
            <a:xfrm>
              <a:off x="156191" y="3212976"/>
              <a:ext cx="7307348" cy="953501"/>
            </a:xfrm>
            <a:custGeom>
              <a:avLst/>
              <a:gdLst>
                <a:gd name="connsiteX0" fmla="*/ 0 w 7307348"/>
                <a:gd name="connsiteY0" fmla="*/ 95350 h 953501"/>
                <a:gd name="connsiteX1" fmla="*/ 95350 w 7307348"/>
                <a:gd name="connsiteY1" fmla="*/ 0 h 953501"/>
                <a:gd name="connsiteX2" fmla="*/ 7211998 w 7307348"/>
                <a:gd name="connsiteY2" fmla="*/ 0 h 953501"/>
                <a:gd name="connsiteX3" fmla="*/ 7307348 w 7307348"/>
                <a:gd name="connsiteY3" fmla="*/ 95350 h 953501"/>
                <a:gd name="connsiteX4" fmla="*/ 7307348 w 7307348"/>
                <a:gd name="connsiteY4" fmla="*/ 858151 h 953501"/>
                <a:gd name="connsiteX5" fmla="*/ 7211998 w 7307348"/>
                <a:gd name="connsiteY5" fmla="*/ 953501 h 953501"/>
                <a:gd name="connsiteX6" fmla="*/ 95350 w 7307348"/>
                <a:gd name="connsiteY6" fmla="*/ 953501 h 953501"/>
                <a:gd name="connsiteX7" fmla="*/ 0 w 7307348"/>
                <a:gd name="connsiteY7" fmla="*/ 858151 h 953501"/>
                <a:gd name="connsiteX8" fmla="*/ 0 w 7307348"/>
                <a:gd name="connsiteY8" fmla="*/ 95350 h 953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07348" h="953501">
                  <a:moveTo>
                    <a:pt x="0" y="95350"/>
                  </a:moveTo>
                  <a:cubicBezTo>
                    <a:pt x="0" y="42690"/>
                    <a:pt x="42690" y="0"/>
                    <a:pt x="95350" y="0"/>
                  </a:cubicBezTo>
                  <a:lnTo>
                    <a:pt x="7211998" y="0"/>
                  </a:lnTo>
                  <a:cubicBezTo>
                    <a:pt x="7264658" y="0"/>
                    <a:pt x="7307348" y="42690"/>
                    <a:pt x="7307348" y="95350"/>
                  </a:cubicBezTo>
                  <a:lnTo>
                    <a:pt x="7307348" y="858151"/>
                  </a:lnTo>
                  <a:cubicBezTo>
                    <a:pt x="7307348" y="910811"/>
                    <a:pt x="7264658" y="953501"/>
                    <a:pt x="7211998" y="953501"/>
                  </a:cubicBezTo>
                  <a:lnTo>
                    <a:pt x="95350" y="953501"/>
                  </a:lnTo>
                  <a:cubicBezTo>
                    <a:pt x="42690" y="953501"/>
                    <a:pt x="0" y="910811"/>
                    <a:pt x="0" y="858151"/>
                  </a:cubicBezTo>
                  <a:lnTo>
                    <a:pt x="0" y="95350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9367" tIns="119367" rIns="274320" bIns="119367" numCol="1" spcCol="1270" rtlCol="1" anchor="ctr" anchorCtr="0">
              <a:noAutofit/>
            </a:bodyPr>
            <a:lstStyle/>
            <a:p>
              <a:pPr marL="0" lvl="0" indent="0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الإجراءات التي يتخذها القائمون على هذا المجال لضمان بيئة مستدامة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B3D68CA-0537-8F5E-7645-D03A67708965}"/>
                </a:ext>
              </a:extLst>
            </p:cNvPr>
            <p:cNvSpPr/>
            <p:nvPr/>
          </p:nvSpPr>
          <p:spPr>
            <a:xfrm>
              <a:off x="800956" y="4325394"/>
              <a:ext cx="7307348" cy="953501"/>
            </a:xfrm>
            <a:custGeom>
              <a:avLst/>
              <a:gdLst>
                <a:gd name="connsiteX0" fmla="*/ 0 w 7307348"/>
                <a:gd name="connsiteY0" fmla="*/ 95350 h 953501"/>
                <a:gd name="connsiteX1" fmla="*/ 95350 w 7307348"/>
                <a:gd name="connsiteY1" fmla="*/ 0 h 953501"/>
                <a:gd name="connsiteX2" fmla="*/ 7211998 w 7307348"/>
                <a:gd name="connsiteY2" fmla="*/ 0 h 953501"/>
                <a:gd name="connsiteX3" fmla="*/ 7307348 w 7307348"/>
                <a:gd name="connsiteY3" fmla="*/ 95350 h 953501"/>
                <a:gd name="connsiteX4" fmla="*/ 7307348 w 7307348"/>
                <a:gd name="connsiteY4" fmla="*/ 858151 h 953501"/>
                <a:gd name="connsiteX5" fmla="*/ 7211998 w 7307348"/>
                <a:gd name="connsiteY5" fmla="*/ 953501 h 953501"/>
                <a:gd name="connsiteX6" fmla="*/ 95350 w 7307348"/>
                <a:gd name="connsiteY6" fmla="*/ 953501 h 953501"/>
                <a:gd name="connsiteX7" fmla="*/ 0 w 7307348"/>
                <a:gd name="connsiteY7" fmla="*/ 858151 h 953501"/>
                <a:gd name="connsiteX8" fmla="*/ 0 w 7307348"/>
                <a:gd name="connsiteY8" fmla="*/ 95350 h 953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07348" h="953501">
                  <a:moveTo>
                    <a:pt x="0" y="95350"/>
                  </a:moveTo>
                  <a:cubicBezTo>
                    <a:pt x="0" y="42690"/>
                    <a:pt x="42690" y="0"/>
                    <a:pt x="95350" y="0"/>
                  </a:cubicBezTo>
                  <a:lnTo>
                    <a:pt x="7211998" y="0"/>
                  </a:lnTo>
                  <a:cubicBezTo>
                    <a:pt x="7264658" y="0"/>
                    <a:pt x="7307348" y="42690"/>
                    <a:pt x="7307348" y="95350"/>
                  </a:cubicBezTo>
                  <a:lnTo>
                    <a:pt x="7307348" y="858151"/>
                  </a:lnTo>
                  <a:cubicBezTo>
                    <a:pt x="7307348" y="910811"/>
                    <a:pt x="7264658" y="953501"/>
                    <a:pt x="7211998" y="953501"/>
                  </a:cubicBezTo>
                  <a:lnTo>
                    <a:pt x="95350" y="953501"/>
                  </a:lnTo>
                  <a:cubicBezTo>
                    <a:pt x="42690" y="953501"/>
                    <a:pt x="0" y="910811"/>
                    <a:pt x="0" y="858151"/>
                  </a:cubicBezTo>
                  <a:lnTo>
                    <a:pt x="0" y="95350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9367" tIns="119367" rIns="274320" bIns="119367" numCol="1" spcCol="1270" rtlCol="1" anchor="ctr" anchorCtr="0">
              <a:noAutofit/>
            </a:bodyPr>
            <a:lstStyle/>
            <a:p>
              <a:pPr marL="0" lvl="0" indent="0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إعداد خطة بحث في </a:t>
              </a:r>
              <a:r>
                <a:rPr lang="ar-JO" sz="2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قضية</a:t>
              </a:r>
              <a:r>
                <a:rPr lang="ar" sz="2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بيئية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CD5FC26-53CA-A541-A0F4-12C7554C3EAB}"/>
                </a:ext>
              </a:extLst>
            </p:cNvPr>
            <p:cNvSpPr/>
            <p:nvPr/>
          </p:nvSpPr>
          <p:spPr>
            <a:xfrm>
              <a:off x="1445722" y="5437812"/>
              <a:ext cx="7307348" cy="953501"/>
            </a:xfrm>
            <a:custGeom>
              <a:avLst/>
              <a:gdLst>
                <a:gd name="connsiteX0" fmla="*/ 0 w 7307348"/>
                <a:gd name="connsiteY0" fmla="*/ 95350 h 953501"/>
                <a:gd name="connsiteX1" fmla="*/ 95350 w 7307348"/>
                <a:gd name="connsiteY1" fmla="*/ 0 h 953501"/>
                <a:gd name="connsiteX2" fmla="*/ 7211998 w 7307348"/>
                <a:gd name="connsiteY2" fmla="*/ 0 h 953501"/>
                <a:gd name="connsiteX3" fmla="*/ 7307348 w 7307348"/>
                <a:gd name="connsiteY3" fmla="*/ 95350 h 953501"/>
                <a:gd name="connsiteX4" fmla="*/ 7307348 w 7307348"/>
                <a:gd name="connsiteY4" fmla="*/ 858151 h 953501"/>
                <a:gd name="connsiteX5" fmla="*/ 7211998 w 7307348"/>
                <a:gd name="connsiteY5" fmla="*/ 953501 h 953501"/>
                <a:gd name="connsiteX6" fmla="*/ 95350 w 7307348"/>
                <a:gd name="connsiteY6" fmla="*/ 953501 h 953501"/>
                <a:gd name="connsiteX7" fmla="*/ 0 w 7307348"/>
                <a:gd name="connsiteY7" fmla="*/ 858151 h 953501"/>
                <a:gd name="connsiteX8" fmla="*/ 0 w 7307348"/>
                <a:gd name="connsiteY8" fmla="*/ 95350 h 953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07348" h="953501">
                  <a:moveTo>
                    <a:pt x="0" y="95350"/>
                  </a:moveTo>
                  <a:cubicBezTo>
                    <a:pt x="0" y="42690"/>
                    <a:pt x="42690" y="0"/>
                    <a:pt x="95350" y="0"/>
                  </a:cubicBezTo>
                  <a:lnTo>
                    <a:pt x="7211998" y="0"/>
                  </a:lnTo>
                  <a:cubicBezTo>
                    <a:pt x="7264658" y="0"/>
                    <a:pt x="7307348" y="42690"/>
                    <a:pt x="7307348" y="95350"/>
                  </a:cubicBezTo>
                  <a:lnTo>
                    <a:pt x="7307348" y="858151"/>
                  </a:lnTo>
                  <a:cubicBezTo>
                    <a:pt x="7307348" y="910811"/>
                    <a:pt x="7264658" y="953501"/>
                    <a:pt x="7211998" y="953501"/>
                  </a:cubicBezTo>
                  <a:lnTo>
                    <a:pt x="95350" y="953501"/>
                  </a:lnTo>
                  <a:cubicBezTo>
                    <a:pt x="42690" y="953501"/>
                    <a:pt x="0" y="910811"/>
                    <a:pt x="0" y="858151"/>
                  </a:cubicBezTo>
                  <a:lnTo>
                    <a:pt x="0" y="95350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9367" tIns="119367" rIns="274320" bIns="119367" numCol="1" spcCol="1270" rtlCol="1" anchor="ctr" anchorCtr="0">
              <a:noAutofit/>
            </a:bodyPr>
            <a:lstStyle/>
            <a:p>
              <a:pPr marL="0" lvl="0" indent="0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إجراء بحث حول </a:t>
              </a:r>
              <a:r>
                <a:rPr lang="ar-JO" sz="2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قضية</a:t>
              </a:r>
              <a:r>
                <a:rPr lang="ar" sz="260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بيئية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466552E-2393-80D2-95D8-2FFBA79FEB78}"/>
                </a:ext>
              </a:extLst>
            </p:cNvPr>
            <p:cNvSpPr/>
            <p:nvPr/>
          </p:nvSpPr>
          <p:spPr>
            <a:xfrm>
              <a:off x="6843763" y="3936047"/>
              <a:ext cx="619775" cy="619775"/>
            </a:xfrm>
            <a:custGeom>
              <a:avLst/>
              <a:gdLst>
                <a:gd name="connsiteX0" fmla="*/ 0 w 619775"/>
                <a:gd name="connsiteY0" fmla="*/ 340876 h 619775"/>
                <a:gd name="connsiteX1" fmla="*/ 139449 w 619775"/>
                <a:gd name="connsiteY1" fmla="*/ 340876 h 619775"/>
                <a:gd name="connsiteX2" fmla="*/ 139449 w 619775"/>
                <a:gd name="connsiteY2" fmla="*/ 0 h 619775"/>
                <a:gd name="connsiteX3" fmla="*/ 480326 w 619775"/>
                <a:gd name="connsiteY3" fmla="*/ 0 h 619775"/>
                <a:gd name="connsiteX4" fmla="*/ 480326 w 619775"/>
                <a:gd name="connsiteY4" fmla="*/ 340876 h 619775"/>
                <a:gd name="connsiteX5" fmla="*/ 619775 w 619775"/>
                <a:gd name="connsiteY5" fmla="*/ 340876 h 619775"/>
                <a:gd name="connsiteX6" fmla="*/ 309888 w 619775"/>
                <a:gd name="connsiteY6" fmla="*/ 619775 h 619775"/>
                <a:gd name="connsiteX7" fmla="*/ 0 w 619775"/>
                <a:gd name="connsiteY7" fmla="*/ 340876 h 619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775" h="619775">
                  <a:moveTo>
                    <a:pt x="0" y="340876"/>
                  </a:moveTo>
                  <a:lnTo>
                    <a:pt x="139449" y="340876"/>
                  </a:lnTo>
                  <a:lnTo>
                    <a:pt x="139449" y="0"/>
                  </a:lnTo>
                  <a:lnTo>
                    <a:pt x="480326" y="0"/>
                  </a:lnTo>
                  <a:lnTo>
                    <a:pt x="480326" y="340876"/>
                  </a:lnTo>
                  <a:lnTo>
                    <a:pt x="619775" y="340876"/>
                  </a:lnTo>
                  <a:lnTo>
                    <a:pt x="309888" y="619775"/>
                  </a:lnTo>
                  <a:lnTo>
                    <a:pt x="0" y="340876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5009" tIns="35560" rIns="175009" bIns="188954" numCol="1" spcCol="1270" rtlCol="1" anchor="ctr" anchorCtr="0">
              <a:noAutofit/>
            </a:bodyPr>
            <a:lstStyle/>
            <a:p>
              <a:pPr marL="0" lvl="0" indent="0" algn="ctr" defTabSz="12446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CA6F1B9-585C-4555-2805-F1247F919343}"/>
                </a:ext>
              </a:extLst>
            </p:cNvPr>
            <p:cNvSpPr/>
            <p:nvPr/>
          </p:nvSpPr>
          <p:spPr>
            <a:xfrm>
              <a:off x="7488529" y="5042109"/>
              <a:ext cx="619775" cy="619775"/>
            </a:xfrm>
            <a:custGeom>
              <a:avLst/>
              <a:gdLst>
                <a:gd name="connsiteX0" fmla="*/ 0 w 619775"/>
                <a:gd name="connsiteY0" fmla="*/ 340876 h 619775"/>
                <a:gd name="connsiteX1" fmla="*/ 139449 w 619775"/>
                <a:gd name="connsiteY1" fmla="*/ 340876 h 619775"/>
                <a:gd name="connsiteX2" fmla="*/ 139449 w 619775"/>
                <a:gd name="connsiteY2" fmla="*/ 0 h 619775"/>
                <a:gd name="connsiteX3" fmla="*/ 480326 w 619775"/>
                <a:gd name="connsiteY3" fmla="*/ 0 h 619775"/>
                <a:gd name="connsiteX4" fmla="*/ 480326 w 619775"/>
                <a:gd name="connsiteY4" fmla="*/ 340876 h 619775"/>
                <a:gd name="connsiteX5" fmla="*/ 619775 w 619775"/>
                <a:gd name="connsiteY5" fmla="*/ 340876 h 619775"/>
                <a:gd name="connsiteX6" fmla="*/ 309888 w 619775"/>
                <a:gd name="connsiteY6" fmla="*/ 619775 h 619775"/>
                <a:gd name="connsiteX7" fmla="*/ 0 w 619775"/>
                <a:gd name="connsiteY7" fmla="*/ 340876 h 619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775" h="619775">
                  <a:moveTo>
                    <a:pt x="0" y="340876"/>
                  </a:moveTo>
                  <a:lnTo>
                    <a:pt x="139449" y="340876"/>
                  </a:lnTo>
                  <a:lnTo>
                    <a:pt x="139449" y="0"/>
                  </a:lnTo>
                  <a:lnTo>
                    <a:pt x="480326" y="0"/>
                  </a:lnTo>
                  <a:lnTo>
                    <a:pt x="480326" y="340876"/>
                  </a:lnTo>
                  <a:lnTo>
                    <a:pt x="619775" y="340876"/>
                  </a:lnTo>
                  <a:lnTo>
                    <a:pt x="309888" y="619775"/>
                  </a:lnTo>
                  <a:lnTo>
                    <a:pt x="0" y="340876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5009" tIns="35560" rIns="175009" bIns="188954" numCol="1" spcCol="1270" rtlCol="1" anchor="ctr" anchorCtr="0">
              <a:noAutofit/>
            </a:bodyPr>
            <a:lstStyle/>
            <a:p>
              <a:pPr marL="0" lvl="0" indent="0" algn="ctr" defTabSz="12446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7F8B577-8F00-2913-28C3-2354B83A12B1}"/>
              </a:ext>
            </a:extLst>
          </p:cNvPr>
          <p:cNvSpPr txBox="1"/>
          <p:nvPr/>
        </p:nvSpPr>
        <p:spPr>
          <a:xfrm>
            <a:off x="145039" y="2457893"/>
            <a:ext cx="889248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أهمية وهدف السياسات والإجراءات التي يجب وضعها لدعم الاستدامة. </a:t>
            </a:r>
          </a:p>
          <a:p>
            <a:pPr rtl="1"/>
            <a:endParaRPr lang="en-GB" sz="2000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63FFA61B-E98B-5F42-2A66-FB85A02DC93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5123432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1084141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الإجراءات المتخذة (1)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8190A3-0C09-F62E-B37C-BE67569A2A67}"/>
              </a:ext>
            </a:extLst>
          </p:cNvPr>
          <p:cNvGrpSpPr/>
          <p:nvPr/>
        </p:nvGrpSpPr>
        <p:grpSpPr>
          <a:xfrm flipH="1">
            <a:off x="468312" y="2068715"/>
            <a:ext cx="7991475" cy="4269847"/>
            <a:chOff x="468312" y="2068715"/>
            <a:chExt cx="7991475" cy="426984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0976FA5-CD97-B632-9937-E2847CFCA035}"/>
                </a:ext>
              </a:extLst>
            </p:cNvPr>
            <p:cNvSpPr/>
            <p:nvPr/>
          </p:nvSpPr>
          <p:spPr>
            <a:xfrm>
              <a:off x="468312" y="2319635"/>
              <a:ext cx="7991475" cy="937125"/>
            </a:xfrm>
            <a:custGeom>
              <a:avLst/>
              <a:gdLst>
                <a:gd name="connsiteX0" fmla="*/ 0 w 7991475"/>
                <a:gd name="connsiteY0" fmla="*/ 0 h 937125"/>
                <a:gd name="connsiteX1" fmla="*/ 7991475 w 7991475"/>
                <a:gd name="connsiteY1" fmla="*/ 0 h 937125"/>
                <a:gd name="connsiteX2" fmla="*/ 7991475 w 7991475"/>
                <a:gd name="connsiteY2" fmla="*/ 937125 h 937125"/>
                <a:gd name="connsiteX3" fmla="*/ 0 w 7991475"/>
                <a:gd name="connsiteY3" fmla="*/ 937125 h 937125"/>
                <a:gd name="connsiteX4" fmla="*/ 0 w 7991475"/>
                <a:gd name="connsiteY4" fmla="*/ 0 h 937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91475" h="937125">
                  <a:moveTo>
                    <a:pt x="0" y="0"/>
                  </a:moveTo>
                  <a:lnTo>
                    <a:pt x="7991475" y="0"/>
                  </a:lnTo>
                  <a:lnTo>
                    <a:pt x="7991475" y="937125"/>
                  </a:lnTo>
                  <a:lnTo>
                    <a:pt x="0" y="9371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20227" tIns="354076" rIns="620227" bIns="120904" numCol="1" spcCol="1270" rtlCol="1" anchor="t" anchorCtr="0">
              <a:noAutofit/>
            </a:bodyPr>
            <a:lstStyle/>
            <a:p>
              <a:pPr marL="171450" lvl="1" indent="-171450" defTabSz="7556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9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lang="ar" sz="19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تقع جميع الشركات في مجال الضيافة تحت الضغط المتزايد من أجل دمج الممارسات البيئية والمستدامة وبرامجها.</a:t>
              </a:r>
              <a:endParaRPr lang="en-US" sz="19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048D28F-61AC-1A28-AD6F-6E07CB6A0069}"/>
                </a:ext>
              </a:extLst>
            </p:cNvPr>
            <p:cNvSpPr/>
            <p:nvPr/>
          </p:nvSpPr>
          <p:spPr>
            <a:xfrm>
              <a:off x="867885" y="2068715"/>
              <a:ext cx="5594032" cy="501840"/>
            </a:xfrm>
            <a:custGeom>
              <a:avLst/>
              <a:gdLst>
                <a:gd name="connsiteX0" fmla="*/ 0 w 5594032"/>
                <a:gd name="connsiteY0" fmla="*/ 83642 h 501840"/>
                <a:gd name="connsiteX1" fmla="*/ 83642 w 5594032"/>
                <a:gd name="connsiteY1" fmla="*/ 0 h 501840"/>
                <a:gd name="connsiteX2" fmla="*/ 5510390 w 5594032"/>
                <a:gd name="connsiteY2" fmla="*/ 0 h 501840"/>
                <a:gd name="connsiteX3" fmla="*/ 5594032 w 5594032"/>
                <a:gd name="connsiteY3" fmla="*/ 83642 h 501840"/>
                <a:gd name="connsiteX4" fmla="*/ 5594032 w 5594032"/>
                <a:gd name="connsiteY4" fmla="*/ 418198 h 501840"/>
                <a:gd name="connsiteX5" fmla="*/ 5510390 w 5594032"/>
                <a:gd name="connsiteY5" fmla="*/ 501840 h 501840"/>
                <a:gd name="connsiteX6" fmla="*/ 83642 w 5594032"/>
                <a:gd name="connsiteY6" fmla="*/ 501840 h 501840"/>
                <a:gd name="connsiteX7" fmla="*/ 0 w 5594032"/>
                <a:gd name="connsiteY7" fmla="*/ 418198 h 501840"/>
                <a:gd name="connsiteX8" fmla="*/ 0 w 5594032"/>
                <a:gd name="connsiteY8" fmla="*/ 83642 h 501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94032" h="501840">
                  <a:moveTo>
                    <a:pt x="0" y="83642"/>
                  </a:moveTo>
                  <a:cubicBezTo>
                    <a:pt x="0" y="37448"/>
                    <a:pt x="37448" y="0"/>
                    <a:pt x="83642" y="0"/>
                  </a:cubicBezTo>
                  <a:lnTo>
                    <a:pt x="5510390" y="0"/>
                  </a:lnTo>
                  <a:cubicBezTo>
                    <a:pt x="5556584" y="0"/>
                    <a:pt x="5594032" y="37448"/>
                    <a:pt x="5594032" y="83642"/>
                  </a:cubicBezTo>
                  <a:lnTo>
                    <a:pt x="5594032" y="418198"/>
                  </a:lnTo>
                  <a:cubicBezTo>
                    <a:pt x="5594032" y="464392"/>
                    <a:pt x="5556584" y="501840"/>
                    <a:pt x="5510390" y="501840"/>
                  </a:cubicBezTo>
                  <a:lnTo>
                    <a:pt x="83642" y="501840"/>
                  </a:lnTo>
                  <a:cubicBezTo>
                    <a:pt x="37448" y="501840"/>
                    <a:pt x="0" y="464392"/>
                    <a:pt x="0" y="418198"/>
                  </a:cubicBezTo>
                  <a:lnTo>
                    <a:pt x="0" y="8364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5939" tIns="24498" rIns="235939" bIns="24498" numCol="1" spcCol="1270" rtlCol="1" anchor="ctr" anchorCtr="0">
              <a:noAutofit/>
            </a:bodyPr>
            <a:lstStyle/>
            <a:p>
              <a:pPr marL="0" lvl="0" indent="0" defTabSz="7556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b="1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الاستدامة في مجال الضيافة:</a:t>
              </a:r>
              <a:endParaRPr lang="en-US" sz="1900" b="1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FFD53E3-9E5C-8F85-AB6A-7B271CCD11DC}"/>
                </a:ext>
              </a:extLst>
            </p:cNvPr>
            <p:cNvSpPr/>
            <p:nvPr/>
          </p:nvSpPr>
          <p:spPr>
            <a:xfrm>
              <a:off x="468312" y="3599480"/>
              <a:ext cx="7991475" cy="1686825"/>
            </a:xfrm>
            <a:custGeom>
              <a:avLst/>
              <a:gdLst>
                <a:gd name="connsiteX0" fmla="*/ 0 w 7991475"/>
                <a:gd name="connsiteY0" fmla="*/ 0 h 1686825"/>
                <a:gd name="connsiteX1" fmla="*/ 7991475 w 7991475"/>
                <a:gd name="connsiteY1" fmla="*/ 0 h 1686825"/>
                <a:gd name="connsiteX2" fmla="*/ 7991475 w 7991475"/>
                <a:gd name="connsiteY2" fmla="*/ 1686825 h 1686825"/>
                <a:gd name="connsiteX3" fmla="*/ 0 w 7991475"/>
                <a:gd name="connsiteY3" fmla="*/ 1686825 h 1686825"/>
                <a:gd name="connsiteX4" fmla="*/ 0 w 7991475"/>
                <a:gd name="connsiteY4" fmla="*/ 0 h 168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91475" h="1686825">
                  <a:moveTo>
                    <a:pt x="0" y="0"/>
                  </a:moveTo>
                  <a:lnTo>
                    <a:pt x="7991475" y="0"/>
                  </a:lnTo>
                  <a:lnTo>
                    <a:pt x="7991475" y="1686825"/>
                  </a:lnTo>
                  <a:lnTo>
                    <a:pt x="0" y="16868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20227" tIns="354076" rIns="620227" bIns="120904" numCol="1" spcCol="1270" rtlCol="1" anchor="t" anchorCtr="0">
              <a:noAutofit/>
            </a:bodyPr>
            <a:lstStyle/>
            <a:p>
              <a:pPr marL="171450" lvl="1" indent="-171450" defTabSz="7556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900" b="1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البيئية،</a:t>
              </a:r>
              <a:r>
                <a:rPr lang="ar" sz="19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الحفاظ على معدلات الحصول على الموارد المتجددة مثل الطاقة الشمسية وطاقة الرياح.</a:t>
              </a:r>
              <a:endParaRPr lang="en-US" sz="19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171450" lvl="1" indent="-171450" defTabSz="7556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900" b="1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الاجتماعية،</a:t>
              </a:r>
              <a:r>
                <a:rPr lang="ar" sz="19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وتعني قدرة الشركة في أي مجتمع على العمل بالمستوى المطلوب من الرفاهية الاجتماعية إلى أجل غير مسمى.</a:t>
              </a:r>
              <a:endParaRPr lang="en-US" sz="19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171450" lvl="1" indent="-171450" defTabSz="7556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900" b="1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الاقتصادية،</a:t>
              </a:r>
              <a:r>
                <a:rPr lang="ar" sz="19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وتعني القدرة على دعم مستوى محدد من الإنتاج الاقتصادي إلى أجل غير مسمى، وفي</a:t>
              </a:r>
              <a:r>
                <a:rPr lang="ar-JO" sz="19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lang="ar" sz="19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الوقت </a:t>
              </a:r>
              <a:r>
                <a:rPr lang="ar-JO" sz="19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نفسه </a:t>
              </a:r>
              <a:r>
                <a:rPr lang="ar" sz="19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السماح بنمو ثابت للأرباح.</a:t>
              </a:r>
              <a:endParaRPr lang="en-US" sz="19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91DDF8-22AF-226B-3BB1-1F834DF67CE2}"/>
                </a:ext>
              </a:extLst>
            </p:cNvPr>
            <p:cNvSpPr/>
            <p:nvPr/>
          </p:nvSpPr>
          <p:spPr>
            <a:xfrm>
              <a:off x="867885" y="3348560"/>
              <a:ext cx="5594032" cy="501840"/>
            </a:xfrm>
            <a:custGeom>
              <a:avLst/>
              <a:gdLst>
                <a:gd name="connsiteX0" fmla="*/ 0 w 5594032"/>
                <a:gd name="connsiteY0" fmla="*/ 83642 h 501840"/>
                <a:gd name="connsiteX1" fmla="*/ 83642 w 5594032"/>
                <a:gd name="connsiteY1" fmla="*/ 0 h 501840"/>
                <a:gd name="connsiteX2" fmla="*/ 5510390 w 5594032"/>
                <a:gd name="connsiteY2" fmla="*/ 0 h 501840"/>
                <a:gd name="connsiteX3" fmla="*/ 5594032 w 5594032"/>
                <a:gd name="connsiteY3" fmla="*/ 83642 h 501840"/>
                <a:gd name="connsiteX4" fmla="*/ 5594032 w 5594032"/>
                <a:gd name="connsiteY4" fmla="*/ 418198 h 501840"/>
                <a:gd name="connsiteX5" fmla="*/ 5510390 w 5594032"/>
                <a:gd name="connsiteY5" fmla="*/ 501840 h 501840"/>
                <a:gd name="connsiteX6" fmla="*/ 83642 w 5594032"/>
                <a:gd name="connsiteY6" fmla="*/ 501840 h 501840"/>
                <a:gd name="connsiteX7" fmla="*/ 0 w 5594032"/>
                <a:gd name="connsiteY7" fmla="*/ 418198 h 501840"/>
                <a:gd name="connsiteX8" fmla="*/ 0 w 5594032"/>
                <a:gd name="connsiteY8" fmla="*/ 83642 h 501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94032" h="501840">
                  <a:moveTo>
                    <a:pt x="0" y="83642"/>
                  </a:moveTo>
                  <a:cubicBezTo>
                    <a:pt x="0" y="37448"/>
                    <a:pt x="37448" y="0"/>
                    <a:pt x="83642" y="0"/>
                  </a:cubicBezTo>
                  <a:lnTo>
                    <a:pt x="5510390" y="0"/>
                  </a:lnTo>
                  <a:cubicBezTo>
                    <a:pt x="5556584" y="0"/>
                    <a:pt x="5594032" y="37448"/>
                    <a:pt x="5594032" y="83642"/>
                  </a:cubicBezTo>
                  <a:lnTo>
                    <a:pt x="5594032" y="418198"/>
                  </a:lnTo>
                  <a:cubicBezTo>
                    <a:pt x="5594032" y="464392"/>
                    <a:pt x="5556584" y="501840"/>
                    <a:pt x="5510390" y="501840"/>
                  </a:cubicBezTo>
                  <a:lnTo>
                    <a:pt x="83642" y="501840"/>
                  </a:lnTo>
                  <a:cubicBezTo>
                    <a:pt x="37448" y="501840"/>
                    <a:pt x="0" y="464392"/>
                    <a:pt x="0" y="418198"/>
                  </a:cubicBezTo>
                  <a:lnTo>
                    <a:pt x="0" y="8364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5939" tIns="24498" rIns="235939" bIns="24498" numCol="1" spcCol="1270" rtlCol="1" anchor="ctr" anchorCtr="0">
              <a:noAutofit/>
            </a:bodyPr>
            <a:lstStyle/>
            <a:p>
              <a:pPr marL="0" lvl="0" indent="0" defTabSz="7556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b="1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مبادئ الاستدامة </a:t>
              </a:r>
              <a:endParaRPr lang="en-US" sz="1900" b="1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F28F811-519C-885D-6542-88AAF5339D5F}"/>
                </a:ext>
              </a:extLst>
            </p:cNvPr>
            <p:cNvSpPr/>
            <p:nvPr/>
          </p:nvSpPr>
          <p:spPr>
            <a:xfrm>
              <a:off x="468312" y="5629025"/>
              <a:ext cx="7991475" cy="709537"/>
            </a:xfrm>
            <a:custGeom>
              <a:avLst/>
              <a:gdLst>
                <a:gd name="connsiteX0" fmla="*/ 0 w 7991475"/>
                <a:gd name="connsiteY0" fmla="*/ 0 h 709537"/>
                <a:gd name="connsiteX1" fmla="*/ 7991475 w 7991475"/>
                <a:gd name="connsiteY1" fmla="*/ 0 h 709537"/>
                <a:gd name="connsiteX2" fmla="*/ 7991475 w 7991475"/>
                <a:gd name="connsiteY2" fmla="*/ 709537 h 709537"/>
                <a:gd name="connsiteX3" fmla="*/ 0 w 7991475"/>
                <a:gd name="connsiteY3" fmla="*/ 709537 h 709537"/>
                <a:gd name="connsiteX4" fmla="*/ 0 w 7991475"/>
                <a:gd name="connsiteY4" fmla="*/ 0 h 70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91475" h="709537">
                  <a:moveTo>
                    <a:pt x="0" y="0"/>
                  </a:moveTo>
                  <a:lnTo>
                    <a:pt x="7991475" y="0"/>
                  </a:lnTo>
                  <a:lnTo>
                    <a:pt x="7991475" y="709537"/>
                  </a:lnTo>
                  <a:lnTo>
                    <a:pt x="0" y="70953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20227" tIns="354076" rIns="620227" bIns="120904" numCol="1" spcCol="1270" rtlCol="1" anchor="t" anchorCtr="0">
              <a:noAutofit/>
            </a:bodyPr>
            <a:lstStyle/>
            <a:p>
              <a:pPr marL="171450" lvl="1" indent="-171450" defTabSz="7556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9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المصطلحات الأخرى التي يمكنك العثور عليها في</a:t>
              </a:r>
              <a:r>
                <a:rPr lang="ar-JO" sz="19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lang="ar" sz="19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يتعلق بالاستدامة؟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CD3BE54-D235-73DA-7ACF-E7622D29F213}"/>
                </a:ext>
              </a:extLst>
            </p:cNvPr>
            <p:cNvSpPr/>
            <p:nvPr/>
          </p:nvSpPr>
          <p:spPr>
            <a:xfrm>
              <a:off x="867885" y="5378105"/>
              <a:ext cx="5594032" cy="501840"/>
            </a:xfrm>
            <a:custGeom>
              <a:avLst/>
              <a:gdLst>
                <a:gd name="connsiteX0" fmla="*/ 0 w 5594032"/>
                <a:gd name="connsiteY0" fmla="*/ 83642 h 501840"/>
                <a:gd name="connsiteX1" fmla="*/ 83642 w 5594032"/>
                <a:gd name="connsiteY1" fmla="*/ 0 h 501840"/>
                <a:gd name="connsiteX2" fmla="*/ 5510390 w 5594032"/>
                <a:gd name="connsiteY2" fmla="*/ 0 h 501840"/>
                <a:gd name="connsiteX3" fmla="*/ 5594032 w 5594032"/>
                <a:gd name="connsiteY3" fmla="*/ 83642 h 501840"/>
                <a:gd name="connsiteX4" fmla="*/ 5594032 w 5594032"/>
                <a:gd name="connsiteY4" fmla="*/ 418198 h 501840"/>
                <a:gd name="connsiteX5" fmla="*/ 5510390 w 5594032"/>
                <a:gd name="connsiteY5" fmla="*/ 501840 h 501840"/>
                <a:gd name="connsiteX6" fmla="*/ 83642 w 5594032"/>
                <a:gd name="connsiteY6" fmla="*/ 501840 h 501840"/>
                <a:gd name="connsiteX7" fmla="*/ 0 w 5594032"/>
                <a:gd name="connsiteY7" fmla="*/ 418198 h 501840"/>
                <a:gd name="connsiteX8" fmla="*/ 0 w 5594032"/>
                <a:gd name="connsiteY8" fmla="*/ 83642 h 501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94032" h="501840">
                  <a:moveTo>
                    <a:pt x="0" y="83642"/>
                  </a:moveTo>
                  <a:cubicBezTo>
                    <a:pt x="0" y="37448"/>
                    <a:pt x="37448" y="0"/>
                    <a:pt x="83642" y="0"/>
                  </a:cubicBezTo>
                  <a:lnTo>
                    <a:pt x="5510390" y="0"/>
                  </a:lnTo>
                  <a:cubicBezTo>
                    <a:pt x="5556584" y="0"/>
                    <a:pt x="5594032" y="37448"/>
                    <a:pt x="5594032" y="83642"/>
                  </a:cubicBezTo>
                  <a:lnTo>
                    <a:pt x="5594032" y="418198"/>
                  </a:lnTo>
                  <a:cubicBezTo>
                    <a:pt x="5594032" y="464392"/>
                    <a:pt x="5556584" y="501840"/>
                    <a:pt x="5510390" y="501840"/>
                  </a:cubicBezTo>
                  <a:lnTo>
                    <a:pt x="83642" y="501840"/>
                  </a:lnTo>
                  <a:cubicBezTo>
                    <a:pt x="37448" y="501840"/>
                    <a:pt x="0" y="464392"/>
                    <a:pt x="0" y="418198"/>
                  </a:cubicBezTo>
                  <a:lnTo>
                    <a:pt x="0" y="8364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5939" tIns="24498" rIns="235939" bIns="24498" numCol="1" spcCol="1270" rtlCol="1" anchor="ctr" anchorCtr="0">
              <a:noAutofit/>
            </a:bodyPr>
            <a:lstStyle/>
            <a:p>
              <a:pPr marL="0" lvl="0" indent="0" defTabSz="7556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المصطلحات البديلة </a:t>
              </a:r>
              <a:endParaRPr lang="en-US" sz="19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AF07EAC-A6A0-64AF-AAA0-1FED84EDACC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الإجراءات المتخذة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139953" y="2196000"/>
            <a:ext cx="4546847" cy="393016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</a:t>
            </a:r>
            <a:r>
              <a:rPr lang="ar-JO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أمثلة أعمال الضيافة 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التي تضمن بيئة مستدام</a:t>
            </a:r>
            <a:r>
              <a:rPr lang="ar-JO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ة، والتي قمت بالفعل بالبحث عنها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، وهل يمكنك البحث </a:t>
            </a:r>
            <a:r>
              <a:rPr lang="ar-JO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عن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أمثلة إضافية؟ </a:t>
            </a:r>
          </a:p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راجع التكاليف والفوائد (من وجهات نظر مختلفة) لتخطيط وتنفيذ التغييرات نتيجة لتقييمات التأثير البيئي </a:t>
            </a:r>
            <a:r>
              <a:rPr lang="ar-JO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أعمال 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الضيافة.</a:t>
            </a:r>
          </a:p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سنتناول الخطوات اللازمة لتحقيق ذلك في الشرائح التالية.</a:t>
            </a:r>
          </a:p>
          <a:p>
            <a:pPr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person with trees and a planet">
            <a:extLst>
              <a:ext uri="{FF2B5EF4-FFF2-40B4-BE49-F238E27FC236}">
                <a16:creationId xmlns:a16="http://schemas.microsoft.com/office/drawing/2014/main" id="{B6FB6C4B-0355-3BC7-B4FF-2CE675A8480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562" t="-1174" r="-6986" b="1174"/>
          <a:stretch/>
        </p:blipFill>
        <p:spPr>
          <a:xfrm>
            <a:off x="395536" y="2573192"/>
            <a:ext cx="4063899" cy="308960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F60D8BA-9636-9A24-41B9-1979C961411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924089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097664"/>
            <a:ext cx="8784976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الإجراءات المتخذة (3)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00567-C1A8-E9E1-651C-B862ED136C49}"/>
              </a:ext>
            </a:extLst>
          </p:cNvPr>
          <p:cNvSpPr txBox="1"/>
          <p:nvPr/>
        </p:nvSpPr>
        <p:spPr bwMode="auto">
          <a:xfrm>
            <a:off x="1935029" y="2039152"/>
            <a:ext cx="6876256" cy="86564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" sz="2600" dirty="0">
                <a:effectLst/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الإجراءات المتخذة لضمان بيئة مستدامة: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F85476-0CC7-F116-B348-5923130D160F}"/>
              </a:ext>
            </a:extLst>
          </p:cNvPr>
          <p:cNvGrpSpPr/>
          <p:nvPr/>
        </p:nvGrpSpPr>
        <p:grpSpPr>
          <a:xfrm flipH="1">
            <a:off x="1321295" y="2710427"/>
            <a:ext cx="6347049" cy="3628701"/>
            <a:chOff x="1321295" y="2710427"/>
            <a:chExt cx="6347049" cy="36287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84352CA-B14E-70DE-2F91-2B1E35BFB5B8}"/>
                </a:ext>
              </a:extLst>
            </p:cNvPr>
            <p:cNvSpPr/>
            <p:nvPr/>
          </p:nvSpPr>
          <p:spPr>
            <a:xfrm>
              <a:off x="1321295" y="2710427"/>
              <a:ext cx="6347049" cy="76393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" name="Rectangle 3" descr="Thumbs Up Sign">
              <a:extLst>
                <a:ext uri="{FF2B5EF4-FFF2-40B4-BE49-F238E27FC236}">
                  <a16:creationId xmlns:a16="http://schemas.microsoft.com/office/drawing/2014/main" id="{0051D931-8423-DCDD-63D3-D1F4775E41F2}"/>
                </a:ext>
              </a:extLst>
            </p:cNvPr>
            <p:cNvSpPr/>
            <p:nvPr/>
          </p:nvSpPr>
          <p:spPr>
            <a:xfrm>
              <a:off x="1552385" y="2882313"/>
              <a:ext cx="420165" cy="420165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7A89D12-033E-C8B6-B0DC-3FA4220DA896}"/>
                </a:ext>
              </a:extLst>
            </p:cNvPr>
            <p:cNvSpPr/>
            <p:nvPr/>
          </p:nvSpPr>
          <p:spPr>
            <a:xfrm>
              <a:off x="2203642" y="2710427"/>
              <a:ext cx="5464701" cy="763937"/>
            </a:xfrm>
            <a:custGeom>
              <a:avLst/>
              <a:gdLst>
                <a:gd name="connsiteX0" fmla="*/ 0 w 5464701"/>
                <a:gd name="connsiteY0" fmla="*/ 0 h 763937"/>
                <a:gd name="connsiteX1" fmla="*/ 5464701 w 5464701"/>
                <a:gd name="connsiteY1" fmla="*/ 0 h 763937"/>
                <a:gd name="connsiteX2" fmla="*/ 5464701 w 5464701"/>
                <a:gd name="connsiteY2" fmla="*/ 763937 h 763937"/>
                <a:gd name="connsiteX3" fmla="*/ 0 w 5464701"/>
                <a:gd name="connsiteY3" fmla="*/ 763937 h 763937"/>
                <a:gd name="connsiteX4" fmla="*/ 0 w 5464701"/>
                <a:gd name="connsiteY4" fmla="*/ 0 h 76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4701" h="763937">
                  <a:moveTo>
                    <a:pt x="0" y="0"/>
                  </a:moveTo>
                  <a:lnTo>
                    <a:pt x="5464701" y="0"/>
                  </a:lnTo>
                  <a:lnTo>
                    <a:pt x="5464701" y="763937"/>
                  </a:lnTo>
                  <a:lnTo>
                    <a:pt x="0" y="76393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850" tIns="80850" rIns="80850" bIns="80850" numCol="1" spcCol="1270" rtlCol="1" anchor="ctr" anchorCtr="0">
              <a:noAutofit/>
            </a:bodyPr>
            <a:lstStyle/>
            <a:p>
              <a:pPr marL="0" lvl="0" indent="0" algn="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أمثلة على الممارسات السليمة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C198DDF-C20D-82C7-135B-2BCAED866D2E}"/>
                </a:ext>
              </a:extLst>
            </p:cNvPr>
            <p:cNvSpPr/>
            <p:nvPr/>
          </p:nvSpPr>
          <p:spPr>
            <a:xfrm>
              <a:off x="1321295" y="3665348"/>
              <a:ext cx="6347049" cy="76393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Rectangle 7" descr="Marker">
              <a:extLst>
                <a:ext uri="{FF2B5EF4-FFF2-40B4-BE49-F238E27FC236}">
                  <a16:creationId xmlns:a16="http://schemas.microsoft.com/office/drawing/2014/main" id="{9D072965-58EF-5A3B-D54B-03ACD9BB48D2}"/>
                </a:ext>
              </a:extLst>
            </p:cNvPr>
            <p:cNvSpPr/>
            <p:nvPr/>
          </p:nvSpPr>
          <p:spPr>
            <a:xfrm>
              <a:off x="1552385" y="3837234"/>
              <a:ext cx="420165" cy="420165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0712C53-70BA-0A1D-DE5E-EA3E0F9F63C8}"/>
                </a:ext>
              </a:extLst>
            </p:cNvPr>
            <p:cNvSpPr/>
            <p:nvPr/>
          </p:nvSpPr>
          <p:spPr>
            <a:xfrm>
              <a:off x="2203642" y="3665348"/>
              <a:ext cx="5464701" cy="763937"/>
            </a:xfrm>
            <a:custGeom>
              <a:avLst/>
              <a:gdLst>
                <a:gd name="connsiteX0" fmla="*/ 0 w 5464701"/>
                <a:gd name="connsiteY0" fmla="*/ 0 h 763937"/>
                <a:gd name="connsiteX1" fmla="*/ 5464701 w 5464701"/>
                <a:gd name="connsiteY1" fmla="*/ 0 h 763937"/>
                <a:gd name="connsiteX2" fmla="*/ 5464701 w 5464701"/>
                <a:gd name="connsiteY2" fmla="*/ 763937 h 763937"/>
                <a:gd name="connsiteX3" fmla="*/ 0 w 5464701"/>
                <a:gd name="connsiteY3" fmla="*/ 763937 h 763937"/>
                <a:gd name="connsiteX4" fmla="*/ 0 w 5464701"/>
                <a:gd name="connsiteY4" fmla="*/ 0 h 76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4701" h="763937">
                  <a:moveTo>
                    <a:pt x="0" y="0"/>
                  </a:moveTo>
                  <a:lnTo>
                    <a:pt x="5464701" y="0"/>
                  </a:lnTo>
                  <a:lnTo>
                    <a:pt x="5464701" y="763937"/>
                  </a:lnTo>
                  <a:lnTo>
                    <a:pt x="0" y="76393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850" tIns="80850" rIns="80850" bIns="80850" numCol="1" spcCol="1270" rtlCol="1" anchor="ctr" anchorCtr="0">
              <a:noAutofit/>
            </a:bodyPr>
            <a:lstStyle/>
            <a:p>
              <a:pPr marL="0" lvl="0" indent="0" algn="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المصادر المحلية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1A74011-F8BF-6839-91A2-C15867D5C753}"/>
                </a:ext>
              </a:extLst>
            </p:cNvPr>
            <p:cNvSpPr/>
            <p:nvPr/>
          </p:nvSpPr>
          <p:spPr>
            <a:xfrm>
              <a:off x="1321295" y="4620270"/>
              <a:ext cx="6347049" cy="76393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Rectangle 10" descr="Handshake">
              <a:extLst>
                <a:ext uri="{FF2B5EF4-FFF2-40B4-BE49-F238E27FC236}">
                  <a16:creationId xmlns:a16="http://schemas.microsoft.com/office/drawing/2014/main" id="{2E6AF9A7-4BEE-B57C-90FF-4A650278C7C5}"/>
                </a:ext>
              </a:extLst>
            </p:cNvPr>
            <p:cNvSpPr/>
            <p:nvPr/>
          </p:nvSpPr>
          <p:spPr>
            <a:xfrm>
              <a:off x="1552385" y="4792155"/>
              <a:ext cx="420165" cy="420165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802313D-B103-116E-FCC4-229AEB98C269}"/>
                </a:ext>
              </a:extLst>
            </p:cNvPr>
            <p:cNvSpPr/>
            <p:nvPr/>
          </p:nvSpPr>
          <p:spPr>
            <a:xfrm>
              <a:off x="2203642" y="4620270"/>
              <a:ext cx="5464701" cy="763937"/>
            </a:xfrm>
            <a:custGeom>
              <a:avLst/>
              <a:gdLst>
                <a:gd name="connsiteX0" fmla="*/ 0 w 5464701"/>
                <a:gd name="connsiteY0" fmla="*/ 0 h 763937"/>
                <a:gd name="connsiteX1" fmla="*/ 5464701 w 5464701"/>
                <a:gd name="connsiteY1" fmla="*/ 0 h 763937"/>
                <a:gd name="connsiteX2" fmla="*/ 5464701 w 5464701"/>
                <a:gd name="connsiteY2" fmla="*/ 763937 h 763937"/>
                <a:gd name="connsiteX3" fmla="*/ 0 w 5464701"/>
                <a:gd name="connsiteY3" fmla="*/ 763937 h 763937"/>
                <a:gd name="connsiteX4" fmla="*/ 0 w 5464701"/>
                <a:gd name="connsiteY4" fmla="*/ 0 h 76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4701" h="763937">
                  <a:moveTo>
                    <a:pt x="0" y="0"/>
                  </a:moveTo>
                  <a:lnTo>
                    <a:pt x="5464701" y="0"/>
                  </a:lnTo>
                  <a:lnTo>
                    <a:pt x="5464701" y="763937"/>
                  </a:lnTo>
                  <a:lnTo>
                    <a:pt x="0" y="76393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850" tIns="80850" rIns="80850" bIns="80850" numCol="1" spcCol="1270" rtlCol="1" anchor="ctr" anchorCtr="0">
              <a:noAutofit/>
            </a:bodyPr>
            <a:lstStyle/>
            <a:p>
              <a:pPr marL="0" lvl="0" indent="0" algn="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الآثار المترتبة على الشركات و العملاء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5510763-AD2B-449E-B52E-D91EAFBFFD87}"/>
                </a:ext>
              </a:extLst>
            </p:cNvPr>
            <p:cNvSpPr/>
            <p:nvPr/>
          </p:nvSpPr>
          <p:spPr>
            <a:xfrm>
              <a:off x="1321295" y="5575191"/>
              <a:ext cx="6347049" cy="76393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Rectangle 13" descr="Fork and knife">
              <a:extLst>
                <a:ext uri="{FF2B5EF4-FFF2-40B4-BE49-F238E27FC236}">
                  <a16:creationId xmlns:a16="http://schemas.microsoft.com/office/drawing/2014/main" id="{35C5E8A9-3970-B652-EB6A-1E01712C2979}"/>
                </a:ext>
              </a:extLst>
            </p:cNvPr>
            <p:cNvSpPr/>
            <p:nvPr/>
          </p:nvSpPr>
          <p:spPr>
            <a:xfrm>
              <a:off x="1552385" y="5747077"/>
              <a:ext cx="420165" cy="420165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748766-4724-4065-7722-0B39B0458B51}"/>
                </a:ext>
              </a:extLst>
            </p:cNvPr>
            <p:cNvSpPr/>
            <p:nvPr/>
          </p:nvSpPr>
          <p:spPr>
            <a:xfrm>
              <a:off x="2203642" y="5575191"/>
              <a:ext cx="5464701" cy="763937"/>
            </a:xfrm>
            <a:custGeom>
              <a:avLst/>
              <a:gdLst>
                <a:gd name="connsiteX0" fmla="*/ 0 w 5464701"/>
                <a:gd name="connsiteY0" fmla="*/ 0 h 763937"/>
                <a:gd name="connsiteX1" fmla="*/ 5464701 w 5464701"/>
                <a:gd name="connsiteY1" fmla="*/ 0 h 763937"/>
                <a:gd name="connsiteX2" fmla="*/ 5464701 w 5464701"/>
                <a:gd name="connsiteY2" fmla="*/ 763937 h 763937"/>
                <a:gd name="connsiteX3" fmla="*/ 0 w 5464701"/>
                <a:gd name="connsiteY3" fmla="*/ 763937 h 763937"/>
                <a:gd name="connsiteX4" fmla="*/ 0 w 5464701"/>
                <a:gd name="connsiteY4" fmla="*/ 0 h 76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4701" h="763937">
                  <a:moveTo>
                    <a:pt x="0" y="0"/>
                  </a:moveTo>
                  <a:lnTo>
                    <a:pt x="5464701" y="0"/>
                  </a:lnTo>
                  <a:lnTo>
                    <a:pt x="5464701" y="763937"/>
                  </a:lnTo>
                  <a:lnTo>
                    <a:pt x="0" y="76393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850" tIns="80850" rIns="80850" bIns="80850" numCol="1" spcCol="1270" rtlCol="1" anchor="ctr" anchorCtr="0">
              <a:noAutofit/>
            </a:bodyPr>
            <a:lstStyle/>
            <a:p>
              <a:pPr marL="0" lvl="0" indent="0" algn="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العمليات الصديقة للبيئة في سياق </a:t>
              </a:r>
              <a:r>
                <a:rPr lang="ar-JO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مجال</a:t>
              </a: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الضيافة 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4D32DCA1-36D0-CAE6-839F-DC89322D68B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4846047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211960" y="2492896"/>
            <a:ext cx="4612704" cy="149591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حدد مشكلة بيئية ذات صلة بالبنية التحتية وممارسات الشركات وخيارات المستهلكين أو أي منها. </a:t>
            </a:r>
          </a:p>
          <a:p>
            <a:pPr indent="0" rtl="1">
              <a:buNone/>
            </a:pPr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التخطيط للبحث : </a:t>
            </a:r>
          </a:p>
          <a:p>
            <a:pPr rtl="1"/>
            <a:r>
              <a:rPr lang="ar" sz="26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النتاجات</a:t>
            </a:r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أول خطوة لإجراء بحث هي التحقق من أسباب إجراء هذا البحث. إن تحديد الهدف المنشود من البحث سيوضح لك الخطوات التالية.</a:t>
            </a: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إعداد خطة بحث (1)</a:t>
            </a:r>
          </a:p>
        </p:txBody>
      </p:sp>
      <p:pic>
        <p:nvPicPr>
          <p:cNvPr id="5" name="Picture 4" descr="A person talking to another person">
            <a:extLst>
              <a:ext uri="{FF2B5EF4-FFF2-40B4-BE49-F238E27FC236}">
                <a16:creationId xmlns:a16="http://schemas.microsoft.com/office/drawing/2014/main" id="{1B3E492C-9BBC-9669-D576-C20F8B1EB8E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0463"/>
          <a:stretch/>
        </p:blipFill>
        <p:spPr>
          <a:xfrm>
            <a:off x="295748" y="2531628"/>
            <a:ext cx="3866343" cy="3240733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38B8196-490E-CA45-0116-E64ADAB2212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740253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إعداد خطة بحث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47FD6-3964-F309-39BE-77E5993AC1A1}"/>
              </a:ext>
            </a:extLst>
          </p:cNvPr>
          <p:cNvSpPr txBox="1"/>
          <p:nvPr/>
        </p:nvSpPr>
        <p:spPr bwMode="auto">
          <a:xfrm>
            <a:off x="241176" y="2801679"/>
            <a:ext cx="3322712" cy="2812744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algn="ctr" rtl="1">
              <a:spcBef>
                <a:spcPct val="20000"/>
              </a:spcBef>
            </a:pPr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أدوات جمع البيانات</a:t>
            </a:r>
          </a:p>
          <a:p>
            <a:pPr marL="342900" indent="-342900" algn="ctr" rtl="1">
              <a:spcBef>
                <a:spcPct val="20000"/>
              </a:spcBef>
              <a:buFont typeface="Wingdings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المقابلات الشخصية</a:t>
            </a:r>
          </a:p>
          <a:p>
            <a:pPr marL="342900" indent="-342900" algn="ctr" rtl="1">
              <a:spcBef>
                <a:spcPct val="20000"/>
              </a:spcBef>
              <a:buFont typeface="Wingdings" pitchFamily="2" charset="2"/>
              <a:buChar char="§"/>
            </a:pPr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مجموعات التركيز</a:t>
            </a:r>
          </a:p>
          <a:p>
            <a:pPr marL="342900" indent="-342900" algn="ctr" rtl="1">
              <a:spcBef>
                <a:spcPct val="20000"/>
              </a:spcBef>
              <a:buFont typeface="Wingdings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استطلاع الرأي</a:t>
            </a:r>
          </a:p>
          <a:p>
            <a:pPr marL="342900" indent="-342900" algn="ctr" rtl="1">
              <a:spcBef>
                <a:spcPct val="20000"/>
              </a:spcBef>
              <a:buFont typeface="Wingdings" pitchFamily="2" charset="2"/>
              <a:buChar char="§"/>
            </a:pPr>
            <a:r>
              <a:rPr lang="ar" sz="2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الملاحظة</a:t>
            </a:r>
          </a:p>
          <a:p>
            <a:pPr marL="342900" indent="-342900" algn="ctr" rtl="1">
              <a:spcBef>
                <a:spcPct val="20000"/>
              </a:spcBef>
              <a:buFont typeface="Wingdings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بيانات الاستخدام</a:t>
            </a:r>
            <a:endParaRPr lang="en-US" sz="26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429FF0-9E41-0854-D520-F8F8AD2870E8}"/>
              </a:ext>
            </a:extLst>
          </p:cNvPr>
          <p:cNvGrpSpPr/>
          <p:nvPr/>
        </p:nvGrpSpPr>
        <p:grpSpPr>
          <a:xfrm flipH="1">
            <a:off x="3791026" y="2197965"/>
            <a:ext cx="4884660" cy="4020171"/>
            <a:chOff x="3791026" y="2197965"/>
            <a:chExt cx="4884660" cy="402017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1EE005C-56C7-6EF5-AA1D-63DB51BD30DF}"/>
                </a:ext>
              </a:extLst>
            </p:cNvPr>
            <p:cNvSpPr/>
            <p:nvPr/>
          </p:nvSpPr>
          <p:spPr>
            <a:xfrm>
              <a:off x="5549503" y="2327649"/>
              <a:ext cx="3126183" cy="1037464"/>
            </a:xfrm>
            <a:custGeom>
              <a:avLst/>
              <a:gdLst>
                <a:gd name="connsiteX0" fmla="*/ 172914 w 1037463"/>
                <a:gd name="connsiteY0" fmla="*/ 0 h 3126182"/>
                <a:gd name="connsiteX1" fmla="*/ 864549 w 1037463"/>
                <a:gd name="connsiteY1" fmla="*/ 0 h 3126182"/>
                <a:gd name="connsiteX2" fmla="*/ 1037463 w 1037463"/>
                <a:gd name="connsiteY2" fmla="*/ 172914 h 3126182"/>
                <a:gd name="connsiteX3" fmla="*/ 1037463 w 1037463"/>
                <a:gd name="connsiteY3" fmla="*/ 3126182 h 3126182"/>
                <a:gd name="connsiteX4" fmla="*/ 1037463 w 1037463"/>
                <a:gd name="connsiteY4" fmla="*/ 3126182 h 3126182"/>
                <a:gd name="connsiteX5" fmla="*/ 0 w 1037463"/>
                <a:gd name="connsiteY5" fmla="*/ 3126182 h 3126182"/>
                <a:gd name="connsiteX6" fmla="*/ 0 w 1037463"/>
                <a:gd name="connsiteY6" fmla="*/ 3126182 h 3126182"/>
                <a:gd name="connsiteX7" fmla="*/ 0 w 1037463"/>
                <a:gd name="connsiteY7" fmla="*/ 172914 h 3126182"/>
                <a:gd name="connsiteX8" fmla="*/ 172914 w 1037463"/>
                <a:gd name="connsiteY8" fmla="*/ 0 h 312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463" h="3126182">
                  <a:moveTo>
                    <a:pt x="1037463" y="521042"/>
                  </a:moveTo>
                  <a:lnTo>
                    <a:pt x="1037463" y="2605140"/>
                  </a:lnTo>
                  <a:cubicBezTo>
                    <a:pt x="1037463" y="2892903"/>
                    <a:pt x="1011771" y="3126180"/>
                    <a:pt x="980079" y="3126180"/>
                  </a:cubicBezTo>
                  <a:lnTo>
                    <a:pt x="0" y="3126180"/>
                  </a:lnTo>
                  <a:lnTo>
                    <a:pt x="0" y="3126180"/>
                  </a:lnTo>
                  <a:lnTo>
                    <a:pt x="0" y="2"/>
                  </a:lnTo>
                  <a:lnTo>
                    <a:pt x="0" y="2"/>
                  </a:lnTo>
                  <a:lnTo>
                    <a:pt x="980079" y="2"/>
                  </a:lnTo>
                  <a:cubicBezTo>
                    <a:pt x="1011771" y="2"/>
                    <a:pt x="1037463" y="233279"/>
                    <a:pt x="1037463" y="521042"/>
                  </a:cubicBezTo>
                  <a:close/>
                </a:path>
              </a:pathLst>
            </a:custGeom>
          </p:spPr>
          <p:style>
            <a:ln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74470" rIns="298295" bIns="174471" numCol="1" spcCol="1270" rtlCol="1" anchor="ctr" anchorCtr="0">
              <a:noAutofit/>
            </a:bodyPr>
            <a:lstStyle/>
            <a:p>
              <a:pPr marL="114300" lvl="1" indent="-114300" algn="r" defTabSz="6223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يجب تحديد نتائجك وطرق تحقيقها بوضوح. </a:t>
              </a:r>
              <a:endParaRPr lang="en-US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114300" lvl="1" indent="-114300" algn="r" defTabSz="6223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حدد المهام الواجب إنجازها. </a:t>
              </a:r>
              <a:endParaRPr lang="en-US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65FE263-9732-A070-15E5-2EA6F404289B}"/>
                </a:ext>
              </a:extLst>
            </p:cNvPr>
            <p:cNvSpPr/>
            <p:nvPr/>
          </p:nvSpPr>
          <p:spPr>
            <a:xfrm>
              <a:off x="3791026" y="2197965"/>
              <a:ext cx="1758477" cy="1296829"/>
            </a:xfrm>
            <a:custGeom>
              <a:avLst/>
              <a:gdLst>
                <a:gd name="connsiteX0" fmla="*/ 0 w 1758477"/>
                <a:gd name="connsiteY0" fmla="*/ 216142 h 1296829"/>
                <a:gd name="connsiteX1" fmla="*/ 216142 w 1758477"/>
                <a:gd name="connsiteY1" fmla="*/ 0 h 1296829"/>
                <a:gd name="connsiteX2" fmla="*/ 1542335 w 1758477"/>
                <a:gd name="connsiteY2" fmla="*/ 0 h 1296829"/>
                <a:gd name="connsiteX3" fmla="*/ 1758477 w 1758477"/>
                <a:gd name="connsiteY3" fmla="*/ 216142 h 1296829"/>
                <a:gd name="connsiteX4" fmla="*/ 1758477 w 1758477"/>
                <a:gd name="connsiteY4" fmla="*/ 1080687 h 1296829"/>
                <a:gd name="connsiteX5" fmla="*/ 1542335 w 1758477"/>
                <a:gd name="connsiteY5" fmla="*/ 1296829 h 1296829"/>
                <a:gd name="connsiteX6" fmla="*/ 216142 w 1758477"/>
                <a:gd name="connsiteY6" fmla="*/ 1296829 h 1296829"/>
                <a:gd name="connsiteX7" fmla="*/ 0 w 1758477"/>
                <a:gd name="connsiteY7" fmla="*/ 1080687 h 1296829"/>
                <a:gd name="connsiteX8" fmla="*/ 0 w 1758477"/>
                <a:gd name="connsiteY8" fmla="*/ 216142 h 129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8477" h="1296829">
                  <a:moveTo>
                    <a:pt x="0" y="216142"/>
                  </a:moveTo>
                  <a:cubicBezTo>
                    <a:pt x="0" y="96770"/>
                    <a:pt x="96770" y="0"/>
                    <a:pt x="216142" y="0"/>
                  </a:cubicBezTo>
                  <a:lnTo>
                    <a:pt x="1542335" y="0"/>
                  </a:lnTo>
                  <a:cubicBezTo>
                    <a:pt x="1661707" y="0"/>
                    <a:pt x="1758477" y="96770"/>
                    <a:pt x="1758477" y="216142"/>
                  </a:cubicBezTo>
                  <a:lnTo>
                    <a:pt x="1758477" y="1080687"/>
                  </a:lnTo>
                  <a:cubicBezTo>
                    <a:pt x="1758477" y="1200059"/>
                    <a:pt x="1661707" y="1296829"/>
                    <a:pt x="1542335" y="1296829"/>
                  </a:cubicBezTo>
                  <a:lnTo>
                    <a:pt x="216142" y="1296829"/>
                  </a:lnTo>
                  <a:cubicBezTo>
                    <a:pt x="96770" y="1296829"/>
                    <a:pt x="0" y="1200059"/>
                    <a:pt x="0" y="1080687"/>
                  </a:cubicBezTo>
                  <a:lnTo>
                    <a:pt x="0" y="21614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7126" tIns="105216" rIns="147126" bIns="105216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النتائج المخطط لها</a:t>
              </a:r>
              <a:endParaRPr lang="en-US" sz="25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90A6040-7661-DEF6-221C-B857D2444377}"/>
                </a:ext>
              </a:extLst>
            </p:cNvPr>
            <p:cNvSpPr/>
            <p:nvPr/>
          </p:nvSpPr>
          <p:spPr>
            <a:xfrm>
              <a:off x="5549503" y="3689318"/>
              <a:ext cx="3126183" cy="1037464"/>
            </a:xfrm>
            <a:custGeom>
              <a:avLst/>
              <a:gdLst>
                <a:gd name="connsiteX0" fmla="*/ 172914 w 1037463"/>
                <a:gd name="connsiteY0" fmla="*/ 0 h 3126182"/>
                <a:gd name="connsiteX1" fmla="*/ 864549 w 1037463"/>
                <a:gd name="connsiteY1" fmla="*/ 0 h 3126182"/>
                <a:gd name="connsiteX2" fmla="*/ 1037463 w 1037463"/>
                <a:gd name="connsiteY2" fmla="*/ 172914 h 3126182"/>
                <a:gd name="connsiteX3" fmla="*/ 1037463 w 1037463"/>
                <a:gd name="connsiteY3" fmla="*/ 3126182 h 3126182"/>
                <a:gd name="connsiteX4" fmla="*/ 1037463 w 1037463"/>
                <a:gd name="connsiteY4" fmla="*/ 3126182 h 3126182"/>
                <a:gd name="connsiteX5" fmla="*/ 0 w 1037463"/>
                <a:gd name="connsiteY5" fmla="*/ 3126182 h 3126182"/>
                <a:gd name="connsiteX6" fmla="*/ 0 w 1037463"/>
                <a:gd name="connsiteY6" fmla="*/ 3126182 h 3126182"/>
                <a:gd name="connsiteX7" fmla="*/ 0 w 1037463"/>
                <a:gd name="connsiteY7" fmla="*/ 172914 h 3126182"/>
                <a:gd name="connsiteX8" fmla="*/ 172914 w 1037463"/>
                <a:gd name="connsiteY8" fmla="*/ 0 h 312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463" h="3126182">
                  <a:moveTo>
                    <a:pt x="1037463" y="521042"/>
                  </a:moveTo>
                  <a:lnTo>
                    <a:pt x="1037463" y="2605140"/>
                  </a:lnTo>
                  <a:cubicBezTo>
                    <a:pt x="1037463" y="2892903"/>
                    <a:pt x="1011771" y="3126180"/>
                    <a:pt x="980079" y="3126180"/>
                  </a:cubicBezTo>
                  <a:lnTo>
                    <a:pt x="0" y="3126180"/>
                  </a:lnTo>
                  <a:lnTo>
                    <a:pt x="0" y="3126180"/>
                  </a:lnTo>
                  <a:lnTo>
                    <a:pt x="0" y="2"/>
                  </a:lnTo>
                  <a:lnTo>
                    <a:pt x="0" y="2"/>
                  </a:lnTo>
                  <a:lnTo>
                    <a:pt x="980079" y="2"/>
                  </a:lnTo>
                  <a:cubicBezTo>
                    <a:pt x="1011771" y="2"/>
                    <a:pt x="1037463" y="233279"/>
                    <a:pt x="1037463" y="521042"/>
                  </a:cubicBezTo>
                  <a:close/>
                </a:path>
              </a:pathLst>
            </a:custGeom>
          </p:spPr>
          <p:style>
            <a:ln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74471" rIns="298295" bIns="174470" numCol="1" spcCol="1270" rtlCol="1" anchor="ctr" anchorCtr="0">
              <a:noAutofit/>
            </a:bodyPr>
            <a:lstStyle/>
            <a:p>
              <a:pPr marL="114300" lvl="1" indent="-114300" algn="r" defTabSz="6223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ضع خطة العمل. ويجب أن تتضمن المهام والتواريخ اللازمة لمراجعة وإتمام البحث. </a:t>
              </a:r>
              <a:endParaRPr lang="en-US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9150541-8396-5CBF-89F4-799D7554CBEA}"/>
                </a:ext>
              </a:extLst>
            </p:cNvPr>
            <p:cNvSpPr/>
            <p:nvPr/>
          </p:nvSpPr>
          <p:spPr>
            <a:xfrm>
              <a:off x="3791026" y="3559636"/>
              <a:ext cx="1758477" cy="1296829"/>
            </a:xfrm>
            <a:custGeom>
              <a:avLst/>
              <a:gdLst>
                <a:gd name="connsiteX0" fmla="*/ 0 w 1758477"/>
                <a:gd name="connsiteY0" fmla="*/ 216142 h 1296829"/>
                <a:gd name="connsiteX1" fmla="*/ 216142 w 1758477"/>
                <a:gd name="connsiteY1" fmla="*/ 0 h 1296829"/>
                <a:gd name="connsiteX2" fmla="*/ 1542335 w 1758477"/>
                <a:gd name="connsiteY2" fmla="*/ 0 h 1296829"/>
                <a:gd name="connsiteX3" fmla="*/ 1758477 w 1758477"/>
                <a:gd name="connsiteY3" fmla="*/ 216142 h 1296829"/>
                <a:gd name="connsiteX4" fmla="*/ 1758477 w 1758477"/>
                <a:gd name="connsiteY4" fmla="*/ 1080687 h 1296829"/>
                <a:gd name="connsiteX5" fmla="*/ 1542335 w 1758477"/>
                <a:gd name="connsiteY5" fmla="*/ 1296829 h 1296829"/>
                <a:gd name="connsiteX6" fmla="*/ 216142 w 1758477"/>
                <a:gd name="connsiteY6" fmla="*/ 1296829 h 1296829"/>
                <a:gd name="connsiteX7" fmla="*/ 0 w 1758477"/>
                <a:gd name="connsiteY7" fmla="*/ 1080687 h 1296829"/>
                <a:gd name="connsiteX8" fmla="*/ 0 w 1758477"/>
                <a:gd name="connsiteY8" fmla="*/ 216142 h 129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8477" h="1296829">
                  <a:moveTo>
                    <a:pt x="0" y="216142"/>
                  </a:moveTo>
                  <a:cubicBezTo>
                    <a:pt x="0" y="96770"/>
                    <a:pt x="96770" y="0"/>
                    <a:pt x="216142" y="0"/>
                  </a:cubicBezTo>
                  <a:lnTo>
                    <a:pt x="1542335" y="0"/>
                  </a:lnTo>
                  <a:cubicBezTo>
                    <a:pt x="1661707" y="0"/>
                    <a:pt x="1758477" y="96770"/>
                    <a:pt x="1758477" y="216142"/>
                  </a:cubicBezTo>
                  <a:lnTo>
                    <a:pt x="1758477" y="1080687"/>
                  </a:lnTo>
                  <a:cubicBezTo>
                    <a:pt x="1758477" y="1200059"/>
                    <a:pt x="1661707" y="1296829"/>
                    <a:pt x="1542335" y="1296829"/>
                  </a:cubicBezTo>
                  <a:lnTo>
                    <a:pt x="216142" y="1296829"/>
                  </a:lnTo>
                  <a:cubicBezTo>
                    <a:pt x="96770" y="1296829"/>
                    <a:pt x="0" y="1200059"/>
                    <a:pt x="0" y="1080687"/>
                  </a:cubicBezTo>
                  <a:lnTo>
                    <a:pt x="0" y="21614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7126" tIns="105216" rIns="147126" bIns="105216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تاريخ المراجعة/المهمة</a:t>
              </a:r>
              <a:endParaRPr lang="en-US" sz="25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802EB1C-ECC2-C064-7682-888BC702CEAD}"/>
                </a:ext>
              </a:extLst>
            </p:cNvPr>
            <p:cNvSpPr/>
            <p:nvPr/>
          </p:nvSpPr>
          <p:spPr>
            <a:xfrm>
              <a:off x="5549503" y="5050989"/>
              <a:ext cx="3126183" cy="1037464"/>
            </a:xfrm>
            <a:custGeom>
              <a:avLst/>
              <a:gdLst>
                <a:gd name="connsiteX0" fmla="*/ 172914 w 1037463"/>
                <a:gd name="connsiteY0" fmla="*/ 0 h 3126182"/>
                <a:gd name="connsiteX1" fmla="*/ 864549 w 1037463"/>
                <a:gd name="connsiteY1" fmla="*/ 0 h 3126182"/>
                <a:gd name="connsiteX2" fmla="*/ 1037463 w 1037463"/>
                <a:gd name="connsiteY2" fmla="*/ 172914 h 3126182"/>
                <a:gd name="connsiteX3" fmla="*/ 1037463 w 1037463"/>
                <a:gd name="connsiteY3" fmla="*/ 3126182 h 3126182"/>
                <a:gd name="connsiteX4" fmla="*/ 1037463 w 1037463"/>
                <a:gd name="connsiteY4" fmla="*/ 3126182 h 3126182"/>
                <a:gd name="connsiteX5" fmla="*/ 0 w 1037463"/>
                <a:gd name="connsiteY5" fmla="*/ 3126182 h 3126182"/>
                <a:gd name="connsiteX6" fmla="*/ 0 w 1037463"/>
                <a:gd name="connsiteY6" fmla="*/ 3126182 h 3126182"/>
                <a:gd name="connsiteX7" fmla="*/ 0 w 1037463"/>
                <a:gd name="connsiteY7" fmla="*/ 172914 h 3126182"/>
                <a:gd name="connsiteX8" fmla="*/ 172914 w 1037463"/>
                <a:gd name="connsiteY8" fmla="*/ 0 h 312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463" h="3126182">
                  <a:moveTo>
                    <a:pt x="1037463" y="521042"/>
                  </a:moveTo>
                  <a:lnTo>
                    <a:pt x="1037463" y="2605140"/>
                  </a:lnTo>
                  <a:cubicBezTo>
                    <a:pt x="1037463" y="2892903"/>
                    <a:pt x="1011771" y="3126180"/>
                    <a:pt x="980079" y="3126180"/>
                  </a:cubicBezTo>
                  <a:lnTo>
                    <a:pt x="0" y="3126180"/>
                  </a:lnTo>
                  <a:lnTo>
                    <a:pt x="0" y="3126180"/>
                  </a:lnTo>
                  <a:lnTo>
                    <a:pt x="0" y="2"/>
                  </a:lnTo>
                  <a:lnTo>
                    <a:pt x="0" y="2"/>
                  </a:lnTo>
                  <a:lnTo>
                    <a:pt x="980079" y="2"/>
                  </a:lnTo>
                  <a:cubicBezTo>
                    <a:pt x="1011771" y="2"/>
                    <a:pt x="1037463" y="233279"/>
                    <a:pt x="1037463" y="521042"/>
                  </a:cubicBezTo>
                  <a:close/>
                </a:path>
              </a:pathLst>
            </a:custGeom>
          </p:spPr>
          <p:style>
            <a:ln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74471" rIns="298295" bIns="174470" numCol="1" spcCol="1270" rtlCol="1" anchor="ctr" anchorCtr="0">
              <a:noAutofit/>
            </a:bodyPr>
            <a:lstStyle/>
            <a:p>
              <a:pPr marL="114300" lvl="1" indent="-114300" algn="r" defTabSz="6223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تأكد من تحقق نتاجات البحث، وقم بتعديل الخطة إذ لم يتم ذلك.</a:t>
              </a:r>
              <a:endParaRPr lang="en-US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39F43B5-7ACA-1B88-F140-B49C962443DD}"/>
                </a:ext>
              </a:extLst>
            </p:cNvPr>
            <p:cNvSpPr/>
            <p:nvPr/>
          </p:nvSpPr>
          <p:spPr>
            <a:xfrm>
              <a:off x="3791026" y="4921307"/>
              <a:ext cx="1758477" cy="1296829"/>
            </a:xfrm>
            <a:custGeom>
              <a:avLst/>
              <a:gdLst>
                <a:gd name="connsiteX0" fmla="*/ 0 w 1758477"/>
                <a:gd name="connsiteY0" fmla="*/ 216142 h 1296829"/>
                <a:gd name="connsiteX1" fmla="*/ 216142 w 1758477"/>
                <a:gd name="connsiteY1" fmla="*/ 0 h 1296829"/>
                <a:gd name="connsiteX2" fmla="*/ 1542335 w 1758477"/>
                <a:gd name="connsiteY2" fmla="*/ 0 h 1296829"/>
                <a:gd name="connsiteX3" fmla="*/ 1758477 w 1758477"/>
                <a:gd name="connsiteY3" fmla="*/ 216142 h 1296829"/>
                <a:gd name="connsiteX4" fmla="*/ 1758477 w 1758477"/>
                <a:gd name="connsiteY4" fmla="*/ 1080687 h 1296829"/>
                <a:gd name="connsiteX5" fmla="*/ 1542335 w 1758477"/>
                <a:gd name="connsiteY5" fmla="*/ 1296829 h 1296829"/>
                <a:gd name="connsiteX6" fmla="*/ 216142 w 1758477"/>
                <a:gd name="connsiteY6" fmla="*/ 1296829 h 1296829"/>
                <a:gd name="connsiteX7" fmla="*/ 0 w 1758477"/>
                <a:gd name="connsiteY7" fmla="*/ 1080687 h 1296829"/>
                <a:gd name="connsiteX8" fmla="*/ 0 w 1758477"/>
                <a:gd name="connsiteY8" fmla="*/ 216142 h 129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8477" h="1296829">
                  <a:moveTo>
                    <a:pt x="0" y="216142"/>
                  </a:moveTo>
                  <a:cubicBezTo>
                    <a:pt x="0" y="96770"/>
                    <a:pt x="96770" y="0"/>
                    <a:pt x="216142" y="0"/>
                  </a:cubicBezTo>
                  <a:lnTo>
                    <a:pt x="1542335" y="0"/>
                  </a:lnTo>
                  <a:cubicBezTo>
                    <a:pt x="1661707" y="0"/>
                    <a:pt x="1758477" y="96770"/>
                    <a:pt x="1758477" y="216142"/>
                  </a:cubicBezTo>
                  <a:lnTo>
                    <a:pt x="1758477" y="1080687"/>
                  </a:lnTo>
                  <a:cubicBezTo>
                    <a:pt x="1758477" y="1200059"/>
                    <a:pt x="1661707" y="1296829"/>
                    <a:pt x="1542335" y="1296829"/>
                  </a:cubicBezTo>
                  <a:lnTo>
                    <a:pt x="216142" y="1296829"/>
                  </a:lnTo>
                  <a:cubicBezTo>
                    <a:pt x="96770" y="1296829"/>
                    <a:pt x="0" y="1200059"/>
                    <a:pt x="0" y="1080687"/>
                  </a:cubicBezTo>
                  <a:lnTo>
                    <a:pt x="0" y="21614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7126" tIns="105216" rIns="147126" bIns="105216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المراقبة </a:t>
              </a:r>
              <a:endParaRPr lang="en-US" sz="25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4BBD1DD-095A-7E85-FEFC-AB9848EA516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7777728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بحث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436097" y="2129956"/>
            <a:ext cx="3480344" cy="2602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marL="0" indent="0" rtl="1">
              <a:buNone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أجرِ بحث</a:t>
            </a:r>
            <a:r>
              <a:rPr lang="ar-JO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ًا</a:t>
            </a: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حول قضية بيئية معينة ولخص النتائج. </a:t>
            </a:r>
            <a:endParaRPr lang="en-US" sz="20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ar" sz="20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عند استكمال البحث في مشكلة بيئية، من المهم إجراء البحث بشكل كامل واستخلاص النتائج في نهاية البحث.</a:t>
            </a:r>
          </a:p>
          <a:p>
            <a:pPr marL="0" indent="0" rtl="1">
              <a:buNone/>
            </a:pPr>
            <a:endParaRPr lang="en-GB" sz="20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/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D4A4EA-84D5-69CF-23AB-B5EF75981C85}"/>
              </a:ext>
            </a:extLst>
          </p:cNvPr>
          <p:cNvGrpSpPr/>
          <p:nvPr/>
        </p:nvGrpSpPr>
        <p:grpSpPr>
          <a:xfrm flipH="1">
            <a:off x="264170" y="2087193"/>
            <a:ext cx="4955901" cy="4237325"/>
            <a:chOff x="264170" y="2087193"/>
            <a:chExt cx="4955901" cy="4237325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8CFFAC5-9930-5582-0D55-2564DA1955D6}"/>
                </a:ext>
              </a:extLst>
            </p:cNvPr>
            <p:cNvSpPr/>
            <p:nvPr/>
          </p:nvSpPr>
          <p:spPr>
            <a:xfrm>
              <a:off x="264170" y="2087193"/>
              <a:ext cx="1085055" cy="1550078"/>
            </a:xfrm>
            <a:custGeom>
              <a:avLst/>
              <a:gdLst>
                <a:gd name="connsiteX0" fmla="*/ 0 w 1550077"/>
                <a:gd name="connsiteY0" fmla="*/ 0 h 1085054"/>
                <a:gd name="connsiteX1" fmla="*/ 1007550 w 1550077"/>
                <a:gd name="connsiteY1" fmla="*/ 0 h 1085054"/>
                <a:gd name="connsiteX2" fmla="*/ 1550077 w 1550077"/>
                <a:gd name="connsiteY2" fmla="*/ 542527 h 1085054"/>
                <a:gd name="connsiteX3" fmla="*/ 1007550 w 1550077"/>
                <a:gd name="connsiteY3" fmla="*/ 1085054 h 1085054"/>
                <a:gd name="connsiteX4" fmla="*/ 0 w 1550077"/>
                <a:gd name="connsiteY4" fmla="*/ 1085054 h 1085054"/>
                <a:gd name="connsiteX5" fmla="*/ 542527 w 1550077"/>
                <a:gd name="connsiteY5" fmla="*/ 542527 h 1085054"/>
                <a:gd name="connsiteX6" fmla="*/ 0 w 1550077"/>
                <a:gd name="connsiteY6" fmla="*/ 0 h 1085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0077" h="1085054">
                  <a:moveTo>
                    <a:pt x="1550076" y="0"/>
                  </a:moveTo>
                  <a:lnTo>
                    <a:pt x="1550076" y="705285"/>
                  </a:lnTo>
                  <a:lnTo>
                    <a:pt x="775039" y="1085054"/>
                  </a:lnTo>
                  <a:lnTo>
                    <a:pt x="1" y="705285"/>
                  </a:lnTo>
                  <a:lnTo>
                    <a:pt x="1" y="0"/>
                  </a:lnTo>
                  <a:lnTo>
                    <a:pt x="775039" y="379769"/>
                  </a:lnTo>
                  <a:lnTo>
                    <a:pt x="1550076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61" tIns="552687" rIns="10160" bIns="552688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بحث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6761FF9-7BBE-E038-D1AE-C90D6B24031F}"/>
                </a:ext>
              </a:extLst>
            </p:cNvPr>
            <p:cNvSpPr/>
            <p:nvPr/>
          </p:nvSpPr>
          <p:spPr>
            <a:xfrm>
              <a:off x="1312613" y="2087200"/>
              <a:ext cx="3907458" cy="1007551"/>
            </a:xfrm>
            <a:custGeom>
              <a:avLst/>
              <a:gdLst>
                <a:gd name="connsiteX0" fmla="*/ 167928 w 1007550"/>
                <a:gd name="connsiteY0" fmla="*/ 0 h 3907457"/>
                <a:gd name="connsiteX1" fmla="*/ 839622 w 1007550"/>
                <a:gd name="connsiteY1" fmla="*/ 0 h 3907457"/>
                <a:gd name="connsiteX2" fmla="*/ 1007550 w 1007550"/>
                <a:gd name="connsiteY2" fmla="*/ 167928 h 3907457"/>
                <a:gd name="connsiteX3" fmla="*/ 1007550 w 1007550"/>
                <a:gd name="connsiteY3" fmla="*/ 3907457 h 3907457"/>
                <a:gd name="connsiteX4" fmla="*/ 1007550 w 1007550"/>
                <a:gd name="connsiteY4" fmla="*/ 3907457 h 3907457"/>
                <a:gd name="connsiteX5" fmla="*/ 0 w 1007550"/>
                <a:gd name="connsiteY5" fmla="*/ 3907457 h 3907457"/>
                <a:gd name="connsiteX6" fmla="*/ 0 w 1007550"/>
                <a:gd name="connsiteY6" fmla="*/ 3907457 h 3907457"/>
                <a:gd name="connsiteX7" fmla="*/ 0 w 1007550"/>
                <a:gd name="connsiteY7" fmla="*/ 167928 h 3907457"/>
                <a:gd name="connsiteX8" fmla="*/ 167928 w 1007550"/>
                <a:gd name="connsiteY8" fmla="*/ 0 h 3907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7550" h="3907457">
                  <a:moveTo>
                    <a:pt x="1007550" y="651256"/>
                  </a:moveTo>
                  <a:lnTo>
                    <a:pt x="1007550" y="3256201"/>
                  </a:lnTo>
                  <a:cubicBezTo>
                    <a:pt x="1007550" y="3615879"/>
                    <a:pt x="988163" y="3907455"/>
                    <a:pt x="964249" y="3907455"/>
                  </a:cubicBezTo>
                  <a:lnTo>
                    <a:pt x="0" y="3907455"/>
                  </a:lnTo>
                  <a:lnTo>
                    <a:pt x="0" y="3907455"/>
                  </a:lnTo>
                  <a:lnTo>
                    <a:pt x="0" y="2"/>
                  </a:lnTo>
                  <a:lnTo>
                    <a:pt x="0" y="2"/>
                  </a:lnTo>
                  <a:lnTo>
                    <a:pt x="964249" y="2"/>
                  </a:lnTo>
                  <a:cubicBezTo>
                    <a:pt x="988163" y="2"/>
                    <a:pt x="1007550" y="291578"/>
                    <a:pt x="1007550" y="651256"/>
                  </a:cubicBez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3793" tIns="59345" rIns="59345" bIns="59346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بيانات أولية، </a:t>
              </a:r>
              <a:r>
                <a:rPr lang="ar" sz="16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التي يتم جمعها بشكل مباشر ولم تُستخدم من قبل، على سبيل المثال، المقابلات والاستبيانات.</a:t>
              </a:r>
              <a:endParaRPr lang="en-GB" sz="16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-JO" sz="16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البحث الثانوي الذي تم جمعه بواسطة ش</a:t>
              </a:r>
              <a:r>
                <a:rPr lang="ar" sz="1600" i="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خص آخر، على سبيل المثال، الكتب والإنترنت. </a:t>
              </a:r>
              <a:endParaRPr lang="en-GB" sz="16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E6BDB15-2BD0-9D6A-D618-0A117370C6C9}"/>
                </a:ext>
              </a:extLst>
            </p:cNvPr>
            <p:cNvSpPr/>
            <p:nvPr/>
          </p:nvSpPr>
          <p:spPr>
            <a:xfrm>
              <a:off x="264170" y="3442598"/>
              <a:ext cx="1085055" cy="1550078"/>
            </a:xfrm>
            <a:custGeom>
              <a:avLst/>
              <a:gdLst>
                <a:gd name="connsiteX0" fmla="*/ 0 w 1550077"/>
                <a:gd name="connsiteY0" fmla="*/ 0 h 1085054"/>
                <a:gd name="connsiteX1" fmla="*/ 1007550 w 1550077"/>
                <a:gd name="connsiteY1" fmla="*/ 0 h 1085054"/>
                <a:gd name="connsiteX2" fmla="*/ 1550077 w 1550077"/>
                <a:gd name="connsiteY2" fmla="*/ 542527 h 1085054"/>
                <a:gd name="connsiteX3" fmla="*/ 1007550 w 1550077"/>
                <a:gd name="connsiteY3" fmla="*/ 1085054 h 1085054"/>
                <a:gd name="connsiteX4" fmla="*/ 0 w 1550077"/>
                <a:gd name="connsiteY4" fmla="*/ 1085054 h 1085054"/>
                <a:gd name="connsiteX5" fmla="*/ 542527 w 1550077"/>
                <a:gd name="connsiteY5" fmla="*/ 542527 h 1085054"/>
                <a:gd name="connsiteX6" fmla="*/ 0 w 1550077"/>
                <a:gd name="connsiteY6" fmla="*/ 0 h 1085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0077" h="1085054">
                  <a:moveTo>
                    <a:pt x="1550076" y="0"/>
                  </a:moveTo>
                  <a:lnTo>
                    <a:pt x="1550076" y="705285"/>
                  </a:lnTo>
                  <a:lnTo>
                    <a:pt x="775039" y="1085054"/>
                  </a:lnTo>
                  <a:lnTo>
                    <a:pt x="1" y="705285"/>
                  </a:lnTo>
                  <a:lnTo>
                    <a:pt x="1" y="0"/>
                  </a:lnTo>
                  <a:lnTo>
                    <a:pt x="775039" y="379769"/>
                  </a:lnTo>
                  <a:lnTo>
                    <a:pt x="1550076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61" tIns="552687" rIns="10160" bIns="552688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جمع البيانات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6839734-80C0-2B15-D8D4-707DB0D2F41F}"/>
                </a:ext>
              </a:extLst>
            </p:cNvPr>
            <p:cNvSpPr/>
            <p:nvPr/>
          </p:nvSpPr>
          <p:spPr>
            <a:xfrm>
              <a:off x="1312613" y="3442604"/>
              <a:ext cx="3907458" cy="1007551"/>
            </a:xfrm>
            <a:custGeom>
              <a:avLst/>
              <a:gdLst>
                <a:gd name="connsiteX0" fmla="*/ 167928 w 1007550"/>
                <a:gd name="connsiteY0" fmla="*/ 0 h 3907457"/>
                <a:gd name="connsiteX1" fmla="*/ 839622 w 1007550"/>
                <a:gd name="connsiteY1" fmla="*/ 0 h 3907457"/>
                <a:gd name="connsiteX2" fmla="*/ 1007550 w 1007550"/>
                <a:gd name="connsiteY2" fmla="*/ 167928 h 3907457"/>
                <a:gd name="connsiteX3" fmla="*/ 1007550 w 1007550"/>
                <a:gd name="connsiteY3" fmla="*/ 3907457 h 3907457"/>
                <a:gd name="connsiteX4" fmla="*/ 1007550 w 1007550"/>
                <a:gd name="connsiteY4" fmla="*/ 3907457 h 3907457"/>
                <a:gd name="connsiteX5" fmla="*/ 0 w 1007550"/>
                <a:gd name="connsiteY5" fmla="*/ 3907457 h 3907457"/>
                <a:gd name="connsiteX6" fmla="*/ 0 w 1007550"/>
                <a:gd name="connsiteY6" fmla="*/ 3907457 h 3907457"/>
                <a:gd name="connsiteX7" fmla="*/ 0 w 1007550"/>
                <a:gd name="connsiteY7" fmla="*/ 167928 h 3907457"/>
                <a:gd name="connsiteX8" fmla="*/ 167928 w 1007550"/>
                <a:gd name="connsiteY8" fmla="*/ 0 h 3907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7550" h="3907457">
                  <a:moveTo>
                    <a:pt x="1007550" y="651256"/>
                  </a:moveTo>
                  <a:lnTo>
                    <a:pt x="1007550" y="3256201"/>
                  </a:lnTo>
                  <a:cubicBezTo>
                    <a:pt x="1007550" y="3615879"/>
                    <a:pt x="988163" y="3907455"/>
                    <a:pt x="964249" y="3907455"/>
                  </a:cubicBezTo>
                  <a:lnTo>
                    <a:pt x="0" y="3907455"/>
                  </a:lnTo>
                  <a:lnTo>
                    <a:pt x="0" y="3907455"/>
                  </a:lnTo>
                  <a:lnTo>
                    <a:pt x="0" y="2"/>
                  </a:lnTo>
                  <a:lnTo>
                    <a:pt x="0" y="2"/>
                  </a:lnTo>
                  <a:lnTo>
                    <a:pt x="964249" y="2"/>
                  </a:lnTo>
                  <a:cubicBezTo>
                    <a:pt x="988163" y="2"/>
                    <a:pt x="1007550" y="291578"/>
                    <a:pt x="1007550" y="651256"/>
                  </a:cubicBez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3793" tIns="59345" rIns="59345" bIns="59346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GB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جمع هذه البيانات</a:t>
              </a:r>
            </a:p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تلبية أي تشريعات ذات صلة</a:t>
              </a:r>
            </a:p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GB" sz="16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649CE33-448D-690B-5B35-2C5EB9E036D1}"/>
                </a:ext>
              </a:extLst>
            </p:cNvPr>
            <p:cNvSpPr/>
            <p:nvPr/>
          </p:nvSpPr>
          <p:spPr>
            <a:xfrm>
              <a:off x="264170" y="4774440"/>
              <a:ext cx="1085055" cy="1550078"/>
            </a:xfrm>
            <a:custGeom>
              <a:avLst/>
              <a:gdLst>
                <a:gd name="connsiteX0" fmla="*/ 0 w 1550077"/>
                <a:gd name="connsiteY0" fmla="*/ 0 h 1085054"/>
                <a:gd name="connsiteX1" fmla="*/ 1007550 w 1550077"/>
                <a:gd name="connsiteY1" fmla="*/ 0 h 1085054"/>
                <a:gd name="connsiteX2" fmla="*/ 1550077 w 1550077"/>
                <a:gd name="connsiteY2" fmla="*/ 542527 h 1085054"/>
                <a:gd name="connsiteX3" fmla="*/ 1007550 w 1550077"/>
                <a:gd name="connsiteY3" fmla="*/ 1085054 h 1085054"/>
                <a:gd name="connsiteX4" fmla="*/ 0 w 1550077"/>
                <a:gd name="connsiteY4" fmla="*/ 1085054 h 1085054"/>
                <a:gd name="connsiteX5" fmla="*/ 542527 w 1550077"/>
                <a:gd name="connsiteY5" fmla="*/ 542527 h 1085054"/>
                <a:gd name="connsiteX6" fmla="*/ 0 w 1550077"/>
                <a:gd name="connsiteY6" fmla="*/ 0 h 1085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0077" h="1085054">
                  <a:moveTo>
                    <a:pt x="1550076" y="0"/>
                  </a:moveTo>
                  <a:lnTo>
                    <a:pt x="1550076" y="705285"/>
                  </a:lnTo>
                  <a:lnTo>
                    <a:pt x="775039" y="1085054"/>
                  </a:lnTo>
                  <a:lnTo>
                    <a:pt x="1" y="705285"/>
                  </a:lnTo>
                  <a:lnTo>
                    <a:pt x="1" y="0"/>
                  </a:lnTo>
                  <a:lnTo>
                    <a:pt x="775039" y="379769"/>
                  </a:lnTo>
                  <a:lnTo>
                    <a:pt x="1550076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61" tIns="552687" rIns="10160" bIns="552688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العرض التقديمي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FA08B7-ED17-30D7-8D42-B55877E4FFCF}"/>
                </a:ext>
              </a:extLst>
            </p:cNvPr>
            <p:cNvSpPr/>
            <p:nvPr/>
          </p:nvSpPr>
          <p:spPr>
            <a:xfrm>
              <a:off x="1312613" y="4798007"/>
              <a:ext cx="3907458" cy="1007551"/>
            </a:xfrm>
            <a:custGeom>
              <a:avLst/>
              <a:gdLst>
                <a:gd name="connsiteX0" fmla="*/ 167928 w 1007550"/>
                <a:gd name="connsiteY0" fmla="*/ 0 h 3907457"/>
                <a:gd name="connsiteX1" fmla="*/ 839622 w 1007550"/>
                <a:gd name="connsiteY1" fmla="*/ 0 h 3907457"/>
                <a:gd name="connsiteX2" fmla="*/ 1007550 w 1007550"/>
                <a:gd name="connsiteY2" fmla="*/ 167928 h 3907457"/>
                <a:gd name="connsiteX3" fmla="*/ 1007550 w 1007550"/>
                <a:gd name="connsiteY3" fmla="*/ 3907457 h 3907457"/>
                <a:gd name="connsiteX4" fmla="*/ 1007550 w 1007550"/>
                <a:gd name="connsiteY4" fmla="*/ 3907457 h 3907457"/>
                <a:gd name="connsiteX5" fmla="*/ 0 w 1007550"/>
                <a:gd name="connsiteY5" fmla="*/ 3907457 h 3907457"/>
                <a:gd name="connsiteX6" fmla="*/ 0 w 1007550"/>
                <a:gd name="connsiteY6" fmla="*/ 3907457 h 3907457"/>
                <a:gd name="connsiteX7" fmla="*/ 0 w 1007550"/>
                <a:gd name="connsiteY7" fmla="*/ 167928 h 3907457"/>
                <a:gd name="connsiteX8" fmla="*/ 167928 w 1007550"/>
                <a:gd name="connsiteY8" fmla="*/ 0 h 3907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7550" h="3907457">
                  <a:moveTo>
                    <a:pt x="1007550" y="651256"/>
                  </a:moveTo>
                  <a:lnTo>
                    <a:pt x="1007550" y="3256201"/>
                  </a:lnTo>
                  <a:cubicBezTo>
                    <a:pt x="1007550" y="3615879"/>
                    <a:pt x="988163" y="3907455"/>
                    <a:pt x="964249" y="3907455"/>
                  </a:cubicBezTo>
                  <a:lnTo>
                    <a:pt x="0" y="3907455"/>
                  </a:lnTo>
                  <a:lnTo>
                    <a:pt x="0" y="3907455"/>
                  </a:lnTo>
                  <a:lnTo>
                    <a:pt x="0" y="2"/>
                  </a:lnTo>
                  <a:lnTo>
                    <a:pt x="0" y="2"/>
                  </a:lnTo>
                  <a:lnTo>
                    <a:pt x="964249" y="2"/>
                  </a:lnTo>
                  <a:cubicBezTo>
                    <a:pt x="988163" y="2"/>
                    <a:pt x="1007550" y="291578"/>
                    <a:pt x="1007550" y="651256"/>
                  </a:cubicBez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3793" tIns="59346" rIns="59345" bIns="59345" numCol="1" spcCol="1270" rtlCol="1" anchor="ctr" anchorCtr="0">
              <a:noAutofit/>
            </a:bodyPr>
            <a:lstStyle/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تحليل البيانات</a:t>
              </a:r>
            </a:p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استخلاص النتائج</a:t>
              </a:r>
            </a:p>
            <a:p>
              <a:pPr marL="171450" lvl="1" indent="-171450" algn="r" defTabSz="7112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6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عرض البيانات والنتائج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18701F2-58D1-74F2-3347-EA6EC077897F}"/>
              </a:ext>
            </a:extLst>
          </p:cNvPr>
          <p:cNvSpPr txBox="1"/>
          <p:nvPr/>
        </p:nvSpPr>
        <p:spPr>
          <a:xfrm>
            <a:off x="5580882" y="5001080"/>
            <a:ext cx="3311598" cy="144655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rtl="1"/>
            <a:r>
              <a:rPr lang="ar" sz="2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مصادر البحث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استطلاعات الرأي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أوراق الملاحظات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أسئلة المقابلة الشخصية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AECF06B-CB27-21A2-3796-3B79B528F6E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5519178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105092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إجراء بحث (2)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FCE161D6-5F65-CE55-5398-F158DA5D5A2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18742536"/>
              </p:ext>
            </p:extLst>
          </p:nvPr>
        </p:nvGraphicFramePr>
        <p:xfrm>
          <a:off x="479736" y="1961832"/>
          <a:ext cx="7991475" cy="4400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484C229-57B3-7236-D5D7-7FCA3B5D43C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975762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159557"/>
            <a:ext cx="8229600" cy="68259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</a:pP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التعلم ج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5921"/>
            <a:ext cx="8892482" cy="1953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rtl="1"/>
            <a:r>
              <a:rPr lang="ar" sz="3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وضع سياسة بيئية </a:t>
            </a:r>
            <a:r>
              <a:rPr lang="ar-JO" sz="3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لأعمال</a:t>
            </a:r>
            <a:r>
              <a:rPr lang="ar" sz="3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الضيافة</a:t>
            </a:r>
            <a:endParaRPr lang="en-GB" sz="3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1E43F3-E7BD-D9F1-F2D7-2B7A56191077}"/>
              </a:ext>
            </a:extLst>
          </p:cNvPr>
          <p:cNvGrpSpPr/>
          <p:nvPr/>
        </p:nvGrpSpPr>
        <p:grpSpPr>
          <a:xfrm flipH="1">
            <a:off x="372674" y="3452242"/>
            <a:ext cx="8398651" cy="2456192"/>
            <a:chOff x="372674" y="3452242"/>
            <a:chExt cx="8398651" cy="245619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69C4A23-7B10-D105-05F6-852DD1625E79}"/>
                </a:ext>
              </a:extLst>
            </p:cNvPr>
            <p:cNvSpPr/>
            <p:nvPr/>
          </p:nvSpPr>
          <p:spPr>
            <a:xfrm>
              <a:off x="372674" y="3452242"/>
              <a:ext cx="7138854" cy="736857"/>
            </a:xfrm>
            <a:custGeom>
              <a:avLst/>
              <a:gdLst>
                <a:gd name="connsiteX0" fmla="*/ 0 w 7138854"/>
                <a:gd name="connsiteY0" fmla="*/ 73686 h 736857"/>
                <a:gd name="connsiteX1" fmla="*/ 73686 w 7138854"/>
                <a:gd name="connsiteY1" fmla="*/ 0 h 736857"/>
                <a:gd name="connsiteX2" fmla="*/ 7065168 w 7138854"/>
                <a:gd name="connsiteY2" fmla="*/ 0 h 736857"/>
                <a:gd name="connsiteX3" fmla="*/ 7138854 w 7138854"/>
                <a:gd name="connsiteY3" fmla="*/ 73686 h 736857"/>
                <a:gd name="connsiteX4" fmla="*/ 7138854 w 7138854"/>
                <a:gd name="connsiteY4" fmla="*/ 663171 h 736857"/>
                <a:gd name="connsiteX5" fmla="*/ 7065168 w 7138854"/>
                <a:gd name="connsiteY5" fmla="*/ 736857 h 736857"/>
                <a:gd name="connsiteX6" fmla="*/ 73686 w 7138854"/>
                <a:gd name="connsiteY6" fmla="*/ 736857 h 736857"/>
                <a:gd name="connsiteX7" fmla="*/ 0 w 7138854"/>
                <a:gd name="connsiteY7" fmla="*/ 663171 h 736857"/>
                <a:gd name="connsiteX8" fmla="*/ 0 w 7138854"/>
                <a:gd name="connsiteY8" fmla="*/ 73686 h 736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38854" h="736857">
                  <a:moveTo>
                    <a:pt x="0" y="73686"/>
                  </a:moveTo>
                  <a:cubicBezTo>
                    <a:pt x="0" y="32990"/>
                    <a:pt x="32990" y="0"/>
                    <a:pt x="73686" y="0"/>
                  </a:cubicBezTo>
                  <a:lnTo>
                    <a:pt x="7065168" y="0"/>
                  </a:lnTo>
                  <a:cubicBezTo>
                    <a:pt x="7105864" y="0"/>
                    <a:pt x="7138854" y="32990"/>
                    <a:pt x="7138854" y="73686"/>
                  </a:cubicBezTo>
                  <a:lnTo>
                    <a:pt x="7138854" y="663171"/>
                  </a:lnTo>
                  <a:cubicBezTo>
                    <a:pt x="7138854" y="703867"/>
                    <a:pt x="7105864" y="736857"/>
                    <a:pt x="7065168" y="736857"/>
                  </a:cubicBezTo>
                  <a:lnTo>
                    <a:pt x="73686" y="736857"/>
                  </a:lnTo>
                  <a:cubicBezTo>
                    <a:pt x="32990" y="736857"/>
                    <a:pt x="0" y="703867"/>
                    <a:pt x="0" y="663171"/>
                  </a:cubicBezTo>
                  <a:lnTo>
                    <a:pt x="0" y="73686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882" tIns="135882" rIns="274320" bIns="135882" numCol="1" spcCol="1270" rtlCol="1" anchor="ctr" anchorCtr="0">
              <a:noAutofit/>
            </a:bodyPr>
            <a:lstStyle/>
            <a:p>
              <a:pPr marL="0" lvl="0" indent="0" defTabSz="13335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30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السياسة البيئية</a:t>
              </a:r>
              <a:endParaRPr lang="en-US" sz="30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601D25C-66C7-43F7-22EC-67A92C280E9C}"/>
                </a:ext>
              </a:extLst>
            </p:cNvPr>
            <p:cNvSpPr/>
            <p:nvPr/>
          </p:nvSpPr>
          <p:spPr>
            <a:xfrm>
              <a:off x="1002572" y="4311909"/>
              <a:ext cx="7138854" cy="736857"/>
            </a:xfrm>
            <a:custGeom>
              <a:avLst/>
              <a:gdLst>
                <a:gd name="connsiteX0" fmla="*/ 0 w 7138854"/>
                <a:gd name="connsiteY0" fmla="*/ 73686 h 736857"/>
                <a:gd name="connsiteX1" fmla="*/ 73686 w 7138854"/>
                <a:gd name="connsiteY1" fmla="*/ 0 h 736857"/>
                <a:gd name="connsiteX2" fmla="*/ 7065168 w 7138854"/>
                <a:gd name="connsiteY2" fmla="*/ 0 h 736857"/>
                <a:gd name="connsiteX3" fmla="*/ 7138854 w 7138854"/>
                <a:gd name="connsiteY3" fmla="*/ 73686 h 736857"/>
                <a:gd name="connsiteX4" fmla="*/ 7138854 w 7138854"/>
                <a:gd name="connsiteY4" fmla="*/ 663171 h 736857"/>
                <a:gd name="connsiteX5" fmla="*/ 7065168 w 7138854"/>
                <a:gd name="connsiteY5" fmla="*/ 736857 h 736857"/>
                <a:gd name="connsiteX6" fmla="*/ 73686 w 7138854"/>
                <a:gd name="connsiteY6" fmla="*/ 736857 h 736857"/>
                <a:gd name="connsiteX7" fmla="*/ 0 w 7138854"/>
                <a:gd name="connsiteY7" fmla="*/ 663171 h 736857"/>
                <a:gd name="connsiteX8" fmla="*/ 0 w 7138854"/>
                <a:gd name="connsiteY8" fmla="*/ 73686 h 736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38854" h="736857">
                  <a:moveTo>
                    <a:pt x="0" y="73686"/>
                  </a:moveTo>
                  <a:cubicBezTo>
                    <a:pt x="0" y="32990"/>
                    <a:pt x="32990" y="0"/>
                    <a:pt x="73686" y="0"/>
                  </a:cubicBezTo>
                  <a:lnTo>
                    <a:pt x="7065168" y="0"/>
                  </a:lnTo>
                  <a:cubicBezTo>
                    <a:pt x="7105864" y="0"/>
                    <a:pt x="7138854" y="32990"/>
                    <a:pt x="7138854" y="73686"/>
                  </a:cubicBezTo>
                  <a:lnTo>
                    <a:pt x="7138854" y="663171"/>
                  </a:lnTo>
                  <a:cubicBezTo>
                    <a:pt x="7138854" y="703867"/>
                    <a:pt x="7105864" y="736857"/>
                    <a:pt x="7065168" y="736857"/>
                  </a:cubicBezTo>
                  <a:lnTo>
                    <a:pt x="73686" y="736857"/>
                  </a:lnTo>
                  <a:cubicBezTo>
                    <a:pt x="32990" y="736857"/>
                    <a:pt x="0" y="703867"/>
                    <a:pt x="0" y="663171"/>
                  </a:cubicBezTo>
                  <a:lnTo>
                    <a:pt x="0" y="73686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882" tIns="135882" rIns="274320" bIns="135882" numCol="1" spcCol="1270" rtlCol="1" anchor="ctr" anchorCtr="0">
              <a:noAutofit/>
            </a:bodyPr>
            <a:lstStyle/>
            <a:p>
              <a:pPr marL="0" lvl="0" indent="0" defTabSz="13335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30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إجراءات تنفيذ السياسات البيئية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CD6EB6C-61DB-B7C4-358B-58E61094DC54}"/>
                </a:ext>
              </a:extLst>
            </p:cNvPr>
            <p:cNvSpPr/>
            <p:nvPr/>
          </p:nvSpPr>
          <p:spPr>
            <a:xfrm>
              <a:off x="1632471" y="5171577"/>
              <a:ext cx="7138854" cy="736857"/>
            </a:xfrm>
            <a:custGeom>
              <a:avLst/>
              <a:gdLst>
                <a:gd name="connsiteX0" fmla="*/ 0 w 7138854"/>
                <a:gd name="connsiteY0" fmla="*/ 73686 h 736857"/>
                <a:gd name="connsiteX1" fmla="*/ 73686 w 7138854"/>
                <a:gd name="connsiteY1" fmla="*/ 0 h 736857"/>
                <a:gd name="connsiteX2" fmla="*/ 7065168 w 7138854"/>
                <a:gd name="connsiteY2" fmla="*/ 0 h 736857"/>
                <a:gd name="connsiteX3" fmla="*/ 7138854 w 7138854"/>
                <a:gd name="connsiteY3" fmla="*/ 73686 h 736857"/>
                <a:gd name="connsiteX4" fmla="*/ 7138854 w 7138854"/>
                <a:gd name="connsiteY4" fmla="*/ 663171 h 736857"/>
                <a:gd name="connsiteX5" fmla="*/ 7065168 w 7138854"/>
                <a:gd name="connsiteY5" fmla="*/ 736857 h 736857"/>
                <a:gd name="connsiteX6" fmla="*/ 73686 w 7138854"/>
                <a:gd name="connsiteY6" fmla="*/ 736857 h 736857"/>
                <a:gd name="connsiteX7" fmla="*/ 0 w 7138854"/>
                <a:gd name="connsiteY7" fmla="*/ 663171 h 736857"/>
                <a:gd name="connsiteX8" fmla="*/ 0 w 7138854"/>
                <a:gd name="connsiteY8" fmla="*/ 73686 h 736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38854" h="736857">
                  <a:moveTo>
                    <a:pt x="0" y="73686"/>
                  </a:moveTo>
                  <a:cubicBezTo>
                    <a:pt x="0" y="32990"/>
                    <a:pt x="32990" y="0"/>
                    <a:pt x="73686" y="0"/>
                  </a:cubicBezTo>
                  <a:lnTo>
                    <a:pt x="7065168" y="0"/>
                  </a:lnTo>
                  <a:cubicBezTo>
                    <a:pt x="7105864" y="0"/>
                    <a:pt x="7138854" y="32990"/>
                    <a:pt x="7138854" y="73686"/>
                  </a:cubicBezTo>
                  <a:lnTo>
                    <a:pt x="7138854" y="663171"/>
                  </a:lnTo>
                  <a:cubicBezTo>
                    <a:pt x="7138854" y="703867"/>
                    <a:pt x="7105864" y="736857"/>
                    <a:pt x="7065168" y="736857"/>
                  </a:cubicBezTo>
                  <a:lnTo>
                    <a:pt x="73686" y="736857"/>
                  </a:lnTo>
                  <a:cubicBezTo>
                    <a:pt x="32990" y="736857"/>
                    <a:pt x="0" y="703867"/>
                    <a:pt x="0" y="663171"/>
                  </a:cubicBezTo>
                  <a:lnTo>
                    <a:pt x="0" y="73686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882" tIns="135882" rIns="274320" bIns="135882" numCol="1" spcCol="1270" rtlCol="1" anchor="ctr" anchorCtr="0">
              <a:noAutofit/>
            </a:bodyPr>
            <a:lstStyle/>
            <a:p>
              <a:pPr marL="0" lvl="0" indent="0" defTabSz="13335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30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مقاييس النجاح والتقدم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2FDE0F-6A20-CEB6-537E-41D9D152F9E8}"/>
                </a:ext>
              </a:extLst>
            </p:cNvPr>
            <p:cNvSpPr/>
            <p:nvPr/>
          </p:nvSpPr>
          <p:spPr>
            <a:xfrm>
              <a:off x="7032570" y="4011025"/>
              <a:ext cx="478957" cy="478957"/>
            </a:xfrm>
            <a:custGeom>
              <a:avLst/>
              <a:gdLst>
                <a:gd name="connsiteX0" fmla="*/ 0 w 478957"/>
                <a:gd name="connsiteY0" fmla="*/ 263426 h 478957"/>
                <a:gd name="connsiteX1" fmla="*/ 107765 w 478957"/>
                <a:gd name="connsiteY1" fmla="*/ 263426 h 478957"/>
                <a:gd name="connsiteX2" fmla="*/ 107765 w 478957"/>
                <a:gd name="connsiteY2" fmla="*/ 0 h 478957"/>
                <a:gd name="connsiteX3" fmla="*/ 371192 w 478957"/>
                <a:gd name="connsiteY3" fmla="*/ 0 h 478957"/>
                <a:gd name="connsiteX4" fmla="*/ 371192 w 478957"/>
                <a:gd name="connsiteY4" fmla="*/ 263426 h 478957"/>
                <a:gd name="connsiteX5" fmla="*/ 478957 w 478957"/>
                <a:gd name="connsiteY5" fmla="*/ 263426 h 478957"/>
                <a:gd name="connsiteX6" fmla="*/ 239479 w 478957"/>
                <a:gd name="connsiteY6" fmla="*/ 478957 h 478957"/>
                <a:gd name="connsiteX7" fmla="*/ 0 w 478957"/>
                <a:gd name="connsiteY7" fmla="*/ 263426 h 478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957" h="478957">
                  <a:moveTo>
                    <a:pt x="0" y="263426"/>
                  </a:moveTo>
                  <a:lnTo>
                    <a:pt x="107765" y="263426"/>
                  </a:lnTo>
                  <a:lnTo>
                    <a:pt x="107765" y="0"/>
                  </a:lnTo>
                  <a:lnTo>
                    <a:pt x="371192" y="0"/>
                  </a:lnTo>
                  <a:lnTo>
                    <a:pt x="371192" y="263426"/>
                  </a:lnTo>
                  <a:lnTo>
                    <a:pt x="478957" y="263426"/>
                  </a:lnTo>
                  <a:lnTo>
                    <a:pt x="239479" y="478957"/>
                  </a:lnTo>
                  <a:lnTo>
                    <a:pt x="0" y="263426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5865" tIns="38100" rIns="274320" bIns="156642" numCol="1" spcCol="1270" rtlCol="1" anchor="ctr" anchorCtr="0">
              <a:noAutofit/>
            </a:bodyPr>
            <a:lstStyle/>
            <a:p>
              <a:pPr marL="0" lvl="0" indent="0" defTabSz="13335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0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F0504F-131F-110E-D12D-F4A0F0187BFC}"/>
                </a:ext>
              </a:extLst>
            </p:cNvPr>
            <p:cNvSpPr/>
            <p:nvPr/>
          </p:nvSpPr>
          <p:spPr>
            <a:xfrm>
              <a:off x="7662469" y="4865781"/>
              <a:ext cx="478957" cy="478957"/>
            </a:xfrm>
            <a:custGeom>
              <a:avLst/>
              <a:gdLst>
                <a:gd name="connsiteX0" fmla="*/ 0 w 478957"/>
                <a:gd name="connsiteY0" fmla="*/ 263426 h 478957"/>
                <a:gd name="connsiteX1" fmla="*/ 107765 w 478957"/>
                <a:gd name="connsiteY1" fmla="*/ 263426 h 478957"/>
                <a:gd name="connsiteX2" fmla="*/ 107765 w 478957"/>
                <a:gd name="connsiteY2" fmla="*/ 0 h 478957"/>
                <a:gd name="connsiteX3" fmla="*/ 371192 w 478957"/>
                <a:gd name="connsiteY3" fmla="*/ 0 h 478957"/>
                <a:gd name="connsiteX4" fmla="*/ 371192 w 478957"/>
                <a:gd name="connsiteY4" fmla="*/ 263426 h 478957"/>
                <a:gd name="connsiteX5" fmla="*/ 478957 w 478957"/>
                <a:gd name="connsiteY5" fmla="*/ 263426 h 478957"/>
                <a:gd name="connsiteX6" fmla="*/ 239479 w 478957"/>
                <a:gd name="connsiteY6" fmla="*/ 478957 h 478957"/>
                <a:gd name="connsiteX7" fmla="*/ 0 w 478957"/>
                <a:gd name="connsiteY7" fmla="*/ 263426 h 478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957" h="478957">
                  <a:moveTo>
                    <a:pt x="0" y="263426"/>
                  </a:moveTo>
                  <a:lnTo>
                    <a:pt x="107765" y="263426"/>
                  </a:lnTo>
                  <a:lnTo>
                    <a:pt x="107765" y="0"/>
                  </a:lnTo>
                  <a:lnTo>
                    <a:pt x="371192" y="0"/>
                  </a:lnTo>
                  <a:lnTo>
                    <a:pt x="371192" y="263426"/>
                  </a:lnTo>
                  <a:lnTo>
                    <a:pt x="478957" y="263426"/>
                  </a:lnTo>
                  <a:lnTo>
                    <a:pt x="239479" y="478957"/>
                  </a:lnTo>
                  <a:lnTo>
                    <a:pt x="0" y="263426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5865" tIns="38100" rIns="274320" bIns="156642" numCol="1" spcCol="1270" rtlCol="1" anchor="ctr" anchorCtr="0">
              <a:noAutofit/>
            </a:bodyPr>
            <a:lstStyle/>
            <a:p>
              <a:pPr marL="0" lvl="0" indent="0" defTabSz="13335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0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7F8B577-8F00-2913-28C3-2354B83A12B1}"/>
              </a:ext>
            </a:extLst>
          </p:cNvPr>
          <p:cNvSpPr txBox="1"/>
          <p:nvPr/>
        </p:nvSpPr>
        <p:spPr>
          <a:xfrm>
            <a:off x="493830" y="2452460"/>
            <a:ext cx="839865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تعرف كيفية تصميم وتطبيق سياسة بيئية لتحسين الأداء البيئي. 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5C5A3740-E058-FA1B-F282-15ECA35111B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622913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9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الغرض من السياسة البيئية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2A3C62-2BEF-FD7A-27F4-E1F7E5D6A158}"/>
              </a:ext>
            </a:extLst>
          </p:cNvPr>
          <p:cNvGrpSpPr/>
          <p:nvPr/>
        </p:nvGrpSpPr>
        <p:grpSpPr>
          <a:xfrm flipH="1">
            <a:off x="180549" y="2368280"/>
            <a:ext cx="8494098" cy="3397073"/>
            <a:chOff x="180549" y="2368280"/>
            <a:chExt cx="8494098" cy="339707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EEFD4AF-8E88-12C7-0442-2C3A6DFD3C11}"/>
                </a:ext>
              </a:extLst>
            </p:cNvPr>
            <p:cNvSpPr/>
            <p:nvPr/>
          </p:nvSpPr>
          <p:spPr>
            <a:xfrm>
              <a:off x="6183046" y="3662781"/>
              <a:ext cx="1245801" cy="59288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404036"/>
                  </a:lnTo>
                  <a:lnTo>
                    <a:pt x="1245801" y="404036"/>
                  </a:lnTo>
                  <a:lnTo>
                    <a:pt x="1245801" y="592888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494959D-76AA-5410-FEC5-491898FE565F}"/>
                </a:ext>
              </a:extLst>
            </p:cNvPr>
            <p:cNvSpPr/>
            <p:nvPr/>
          </p:nvSpPr>
          <p:spPr>
            <a:xfrm>
              <a:off x="4937244" y="3662781"/>
              <a:ext cx="1245801" cy="59288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245801" y="0"/>
                  </a:moveTo>
                  <a:lnTo>
                    <a:pt x="1245801" y="404036"/>
                  </a:lnTo>
                  <a:lnTo>
                    <a:pt x="0" y="404036"/>
                  </a:lnTo>
                  <a:lnTo>
                    <a:pt x="0" y="592888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7CC1F87-554A-1055-E5C4-986FE9D374E6}"/>
                </a:ext>
              </a:extLst>
            </p:cNvPr>
            <p:cNvSpPr/>
            <p:nvPr/>
          </p:nvSpPr>
          <p:spPr>
            <a:xfrm>
              <a:off x="180549" y="2368280"/>
              <a:ext cx="2038583" cy="129450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979C33A-AD55-ACFF-7640-8BED69415D6A}"/>
                </a:ext>
              </a:extLst>
            </p:cNvPr>
            <p:cNvSpPr/>
            <p:nvPr/>
          </p:nvSpPr>
          <p:spPr>
            <a:xfrm>
              <a:off x="407058" y="2583464"/>
              <a:ext cx="2038583" cy="1294500"/>
            </a:xfrm>
            <a:custGeom>
              <a:avLst/>
              <a:gdLst>
                <a:gd name="connsiteX0" fmla="*/ 0 w 2038583"/>
                <a:gd name="connsiteY0" fmla="*/ 129450 h 1294500"/>
                <a:gd name="connsiteX1" fmla="*/ 129450 w 2038583"/>
                <a:gd name="connsiteY1" fmla="*/ 0 h 1294500"/>
                <a:gd name="connsiteX2" fmla="*/ 1909133 w 2038583"/>
                <a:gd name="connsiteY2" fmla="*/ 0 h 1294500"/>
                <a:gd name="connsiteX3" fmla="*/ 2038583 w 2038583"/>
                <a:gd name="connsiteY3" fmla="*/ 129450 h 1294500"/>
                <a:gd name="connsiteX4" fmla="*/ 2038583 w 2038583"/>
                <a:gd name="connsiteY4" fmla="*/ 1165050 h 1294500"/>
                <a:gd name="connsiteX5" fmla="*/ 1909133 w 2038583"/>
                <a:gd name="connsiteY5" fmla="*/ 1294500 h 1294500"/>
                <a:gd name="connsiteX6" fmla="*/ 129450 w 2038583"/>
                <a:gd name="connsiteY6" fmla="*/ 1294500 h 1294500"/>
                <a:gd name="connsiteX7" fmla="*/ 0 w 2038583"/>
                <a:gd name="connsiteY7" fmla="*/ 1165050 h 1294500"/>
                <a:gd name="connsiteX8" fmla="*/ 0 w 2038583"/>
                <a:gd name="connsiteY8" fmla="*/ 129450 h 129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583" h="1294500">
                  <a:moveTo>
                    <a:pt x="0" y="129450"/>
                  </a:moveTo>
                  <a:cubicBezTo>
                    <a:pt x="0" y="57957"/>
                    <a:pt x="57957" y="0"/>
                    <a:pt x="129450" y="0"/>
                  </a:cubicBezTo>
                  <a:lnTo>
                    <a:pt x="1909133" y="0"/>
                  </a:lnTo>
                  <a:cubicBezTo>
                    <a:pt x="1980626" y="0"/>
                    <a:pt x="2038583" y="57957"/>
                    <a:pt x="2038583" y="129450"/>
                  </a:cubicBezTo>
                  <a:lnTo>
                    <a:pt x="2038583" y="1165050"/>
                  </a:lnTo>
                  <a:cubicBezTo>
                    <a:pt x="2038583" y="1236543"/>
                    <a:pt x="1980626" y="1294500"/>
                    <a:pt x="1909133" y="1294500"/>
                  </a:cubicBezTo>
                  <a:lnTo>
                    <a:pt x="129450" y="1294500"/>
                  </a:lnTo>
                  <a:cubicBezTo>
                    <a:pt x="57957" y="1294500"/>
                    <a:pt x="0" y="1236543"/>
                    <a:pt x="0" y="1165050"/>
                  </a:cubicBezTo>
                  <a:lnTo>
                    <a:pt x="0" y="12945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255" tIns="91255" rIns="91255" bIns="91255" numCol="1" spcCol="1270" rtlCol="1" anchor="ctr" anchorCtr="0">
              <a:noAutofit/>
            </a:bodyPr>
            <a:lstStyle/>
            <a:p>
              <a:pPr marL="0" lvl="0" indent="0" algn="ct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تتبع معظم شركات الضيافة سياسة بيئية لأنها توضح كيف تحقق الاستدامة.</a:t>
              </a:r>
              <a:endParaRPr lang="en-US" sz="1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C6173AF-32F2-6D1D-58FF-DB2F17FCDE3D}"/>
                </a:ext>
              </a:extLst>
            </p:cNvPr>
            <p:cNvSpPr/>
            <p:nvPr/>
          </p:nvSpPr>
          <p:spPr>
            <a:xfrm>
              <a:off x="2672151" y="2368280"/>
              <a:ext cx="2038583" cy="147564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F57FF65-EFCC-01ED-A925-04DCCED4E450}"/>
                </a:ext>
              </a:extLst>
            </p:cNvPr>
            <p:cNvSpPr/>
            <p:nvPr/>
          </p:nvSpPr>
          <p:spPr>
            <a:xfrm>
              <a:off x="2898661" y="2583464"/>
              <a:ext cx="2038583" cy="1475640"/>
            </a:xfrm>
            <a:custGeom>
              <a:avLst/>
              <a:gdLst>
                <a:gd name="connsiteX0" fmla="*/ 0 w 2038583"/>
                <a:gd name="connsiteY0" fmla="*/ 147564 h 1475640"/>
                <a:gd name="connsiteX1" fmla="*/ 147564 w 2038583"/>
                <a:gd name="connsiteY1" fmla="*/ 0 h 1475640"/>
                <a:gd name="connsiteX2" fmla="*/ 1891019 w 2038583"/>
                <a:gd name="connsiteY2" fmla="*/ 0 h 1475640"/>
                <a:gd name="connsiteX3" fmla="*/ 2038583 w 2038583"/>
                <a:gd name="connsiteY3" fmla="*/ 147564 h 1475640"/>
                <a:gd name="connsiteX4" fmla="*/ 2038583 w 2038583"/>
                <a:gd name="connsiteY4" fmla="*/ 1328076 h 1475640"/>
                <a:gd name="connsiteX5" fmla="*/ 1891019 w 2038583"/>
                <a:gd name="connsiteY5" fmla="*/ 1475640 h 1475640"/>
                <a:gd name="connsiteX6" fmla="*/ 147564 w 2038583"/>
                <a:gd name="connsiteY6" fmla="*/ 1475640 h 1475640"/>
                <a:gd name="connsiteX7" fmla="*/ 0 w 2038583"/>
                <a:gd name="connsiteY7" fmla="*/ 1328076 h 1475640"/>
                <a:gd name="connsiteX8" fmla="*/ 0 w 2038583"/>
                <a:gd name="connsiteY8" fmla="*/ 147564 h 1475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583" h="1475640">
                  <a:moveTo>
                    <a:pt x="0" y="147564"/>
                  </a:moveTo>
                  <a:cubicBezTo>
                    <a:pt x="0" y="66067"/>
                    <a:pt x="66067" y="0"/>
                    <a:pt x="147564" y="0"/>
                  </a:cubicBezTo>
                  <a:lnTo>
                    <a:pt x="1891019" y="0"/>
                  </a:lnTo>
                  <a:cubicBezTo>
                    <a:pt x="1972516" y="0"/>
                    <a:pt x="2038583" y="66067"/>
                    <a:pt x="2038583" y="147564"/>
                  </a:cubicBezTo>
                  <a:lnTo>
                    <a:pt x="2038583" y="1328076"/>
                  </a:lnTo>
                  <a:cubicBezTo>
                    <a:pt x="2038583" y="1409573"/>
                    <a:pt x="1972516" y="1475640"/>
                    <a:pt x="1891019" y="1475640"/>
                  </a:cubicBezTo>
                  <a:lnTo>
                    <a:pt x="147564" y="1475640"/>
                  </a:lnTo>
                  <a:cubicBezTo>
                    <a:pt x="66067" y="1475640"/>
                    <a:pt x="0" y="1409573"/>
                    <a:pt x="0" y="1328076"/>
                  </a:cubicBezTo>
                  <a:lnTo>
                    <a:pt x="0" y="147564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560" tIns="96560" rIns="96560" bIns="96560" numCol="1" spcCol="1270" rtlCol="1" anchor="ctr" anchorCtr="0">
              <a:noAutofit/>
            </a:bodyPr>
            <a:lstStyle/>
            <a:p>
              <a:pPr marL="0" lvl="0" indent="0" algn="ct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kern="1200">
                  <a:latin typeface="Arial" panose="020B0604020202020204" pitchFamily="34" charset="0"/>
                  <a:cs typeface="Arial" panose="020B0604020202020204" pitchFamily="34" charset="0"/>
                </a:rPr>
                <a:t>والسياسة البيئية هي بيان متفق عليه يوضح وجهة نظر الشركة تجاه البيئة التي تعمل فيها.</a:t>
              </a:r>
              <a:endParaRPr lang="en-US" sz="1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DAA0C36-8562-95A8-2A5C-585BFFA5AF1B}"/>
                </a:ext>
              </a:extLst>
            </p:cNvPr>
            <p:cNvSpPr/>
            <p:nvPr/>
          </p:nvSpPr>
          <p:spPr>
            <a:xfrm>
              <a:off x="5163754" y="2368280"/>
              <a:ext cx="2038583" cy="129450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EFD4F7C-ACE3-3235-7E4F-9152AAD44417}"/>
                </a:ext>
              </a:extLst>
            </p:cNvPr>
            <p:cNvSpPr/>
            <p:nvPr/>
          </p:nvSpPr>
          <p:spPr>
            <a:xfrm>
              <a:off x="5390263" y="2583464"/>
              <a:ext cx="2038583" cy="1294500"/>
            </a:xfrm>
            <a:custGeom>
              <a:avLst/>
              <a:gdLst>
                <a:gd name="connsiteX0" fmla="*/ 0 w 2038583"/>
                <a:gd name="connsiteY0" fmla="*/ 129450 h 1294500"/>
                <a:gd name="connsiteX1" fmla="*/ 129450 w 2038583"/>
                <a:gd name="connsiteY1" fmla="*/ 0 h 1294500"/>
                <a:gd name="connsiteX2" fmla="*/ 1909133 w 2038583"/>
                <a:gd name="connsiteY2" fmla="*/ 0 h 1294500"/>
                <a:gd name="connsiteX3" fmla="*/ 2038583 w 2038583"/>
                <a:gd name="connsiteY3" fmla="*/ 129450 h 1294500"/>
                <a:gd name="connsiteX4" fmla="*/ 2038583 w 2038583"/>
                <a:gd name="connsiteY4" fmla="*/ 1165050 h 1294500"/>
                <a:gd name="connsiteX5" fmla="*/ 1909133 w 2038583"/>
                <a:gd name="connsiteY5" fmla="*/ 1294500 h 1294500"/>
                <a:gd name="connsiteX6" fmla="*/ 129450 w 2038583"/>
                <a:gd name="connsiteY6" fmla="*/ 1294500 h 1294500"/>
                <a:gd name="connsiteX7" fmla="*/ 0 w 2038583"/>
                <a:gd name="connsiteY7" fmla="*/ 1165050 h 1294500"/>
                <a:gd name="connsiteX8" fmla="*/ 0 w 2038583"/>
                <a:gd name="connsiteY8" fmla="*/ 129450 h 129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583" h="1294500">
                  <a:moveTo>
                    <a:pt x="0" y="129450"/>
                  </a:moveTo>
                  <a:cubicBezTo>
                    <a:pt x="0" y="57957"/>
                    <a:pt x="57957" y="0"/>
                    <a:pt x="129450" y="0"/>
                  </a:cubicBezTo>
                  <a:lnTo>
                    <a:pt x="1909133" y="0"/>
                  </a:lnTo>
                  <a:cubicBezTo>
                    <a:pt x="1980626" y="0"/>
                    <a:pt x="2038583" y="57957"/>
                    <a:pt x="2038583" y="129450"/>
                  </a:cubicBezTo>
                  <a:lnTo>
                    <a:pt x="2038583" y="1165050"/>
                  </a:lnTo>
                  <a:cubicBezTo>
                    <a:pt x="2038583" y="1236543"/>
                    <a:pt x="1980626" y="1294500"/>
                    <a:pt x="1909133" y="1294500"/>
                  </a:cubicBezTo>
                  <a:lnTo>
                    <a:pt x="129450" y="1294500"/>
                  </a:lnTo>
                  <a:cubicBezTo>
                    <a:pt x="57957" y="1294500"/>
                    <a:pt x="0" y="1236543"/>
                    <a:pt x="0" y="1165050"/>
                  </a:cubicBezTo>
                  <a:lnTo>
                    <a:pt x="0" y="12945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255" tIns="91255" rIns="91255" bIns="91255" numCol="1" spcCol="1270" rtlCol="1" anchor="ctr" anchorCtr="0">
              <a:noAutofit/>
            </a:bodyPr>
            <a:lstStyle/>
            <a:p>
              <a:pPr marL="0" lvl="0" indent="0" algn="ct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kern="1200">
                  <a:latin typeface="Arial" panose="020B0604020202020204" pitchFamily="34" charset="0"/>
                  <a:cs typeface="Arial" panose="020B0604020202020204" pitchFamily="34" charset="0"/>
                </a:rPr>
                <a:t>الغرض من السياسة البيئية:</a:t>
              </a:r>
              <a:endParaRPr lang="en-US" sz="1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0F18CA6-26A9-51D7-50E1-365E61055578}"/>
                </a:ext>
              </a:extLst>
            </p:cNvPr>
            <p:cNvSpPr/>
            <p:nvPr/>
          </p:nvSpPr>
          <p:spPr>
            <a:xfrm>
              <a:off x="3917953" y="4255669"/>
              <a:ext cx="2038583" cy="129450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6C29BCE-C210-C0C9-6215-A73AEBC476AA}"/>
                </a:ext>
              </a:extLst>
            </p:cNvPr>
            <p:cNvSpPr/>
            <p:nvPr/>
          </p:nvSpPr>
          <p:spPr>
            <a:xfrm>
              <a:off x="4144462" y="4470853"/>
              <a:ext cx="2038583" cy="1294500"/>
            </a:xfrm>
            <a:custGeom>
              <a:avLst/>
              <a:gdLst>
                <a:gd name="connsiteX0" fmla="*/ 0 w 2038583"/>
                <a:gd name="connsiteY0" fmla="*/ 129450 h 1294500"/>
                <a:gd name="connsiteX1" fmla="*/ 129450 w 2038583"/>
                <a:gd name="connsiteY1" fmla="*/ 0 h 1294500"/>
                <a:gd name="connsiteX2" fmla="*/ 1909133 w 2038583"/>
                <a:gd name="connsiteY2" fmla="*/ 0 h 1294500"/>
                <a:gd name="connsiteX3" fmla="*/ 2038583 w 2038583"/>
                <a:gd name="connsiteY3" fmla="*/ 129450 h 1294500"/>
                <a:gd name="connsiteX4" fmla="*/ 2038583 w 2038583"/>
                <a:gd name="connsiteY4" fmla="*/ 1165050 h 1294500"/>
                <a:gd name="connsiteX5" fmla="*/ 1909133 w 2038583"/>
                <a:gd name="connsiteY5" fmla="*/ 1294500 h 1294500"/>
                <a:gd name="connsiteX6" fmla="*/ 129450 w 2038583"/>
                <a:gd name="connsiteY6" fmla="*/ 1294500 h 1294500"/>
                <a:gd name="connsiteX7" fmla="*/ 0 w 2038583"/>
                <a:gd name="connsiteY7" fmla="*/ 1165050 h 1294500"/>
                <a:gd name="connsiteX8" fmla="*/ 0 w 2038583"/>
                <a:gd name="connsiteY8" fmla="*/ 129450 h 129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583" h="1294500">
                  <a:moveTo>
                    <a:pt x="0" y="129450"/>
                  </a:moveTo>
                  <a:cubicBezTo>
                    <a:pt x="0" y="57957"/>
                    <a:pt x="57957" y="0"/>
                    <a:pt x="129450" y="0"/>
                  </a:cubicBezTo>
                  <a:lnTo>
                    <a:pt x="1909133" y="0"/>
                  </a:lnTo>
                  <a:cubicBezTo>
                    <a:pt x="1980626" y="0"/>
                    <a:pt x="2038583" y="57957"/>
                    <a:pt x="2038583" y="129450"/>
                  </a:cubicBezTo>
                  <a:lnTo>
                    <a:pt x="2038583" y="1165050"/>
                  </a:lnTo>
                  <a:cubicBezTo>
                    <a:pt x="2038583" y="1236543"/>
                    <a:pt x="1980626" y="1294500"/>
                    <a:pt x="1909133" y="1294500"/>
                  </a:cubicBezTo>
                  <a:lnTo>
                    <a:pt x="129450" y="1294500"/>
                  </a:lnTo>
                  <a:cubicBezTo>
                    <a:pt x="57957" y="1294500"/>
                    <a:pt x="0" y="1236543"/>
                    <a:pt x="0" y="1165050"/>
                  </a:cubicBezTo>
                  <a:lnTo>
                    <a:pt x="0" y="12945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255" tIns="91255" rIns="91255" bIns="91255" numCol="1" spcCol="1270" rtlCol="1" anchor="ctr" anchorCtr="0">
              <a:noAutofit/>
            </a:bodyPr>
            <a:lstStyle/>
            <a:p>
              <a:pPr marL="0" lvl="0" indent="0" algn="ct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kern="1200">
                  <a:latin typeface="Arial" panose="020B0604020202020204" pitchFamily="34" charset="0"/>
                  <a:cs typeface="Arial" panose="020B0604020202020204" pitchFamily="34" charset="0"/>
                </a:rPr>
                <a:t>توفير معلومات عن أداء الشركة</a:t>
              </a:r>
              <a:endParaRPr lang="en-US" sz="1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19E51BA-E240-922C-E9A1-F71D9450C725}"/>
                </a:ext>
              </a:extLst>
            </p:cNvPr>
            <p:cNvSpPr/>
            <p:nvPr/>
          </p:nvSpPr>
          <p:spPr>
            <a:xfrm>
              <a:off x="6409555" y="4255669"/>
              <a:ext cx="2038583" cy="129450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91D190E-282E-9DD4-8202-E8BDFD49C3AC}"/>
                </a:ext>
              </a:extLst>
            </p:cNvPr>
            <p:cNvSpPr/>
            <p:nvPr/>
          </p:nvSpPr>
          <p:spPr>
            <a:xfrm>
              <a:off x="6636064" y="4470853"/>
              <a:ext cx="2038583" cy="1294500"/>
            </a:xfrm>
            <a:custGeom>
              <a:avLst/>
              <a:gdLst>
                <a:gd name="connsiteX0" fmla="*/ 0 w 2038583"/>
                <a:gd name="connsiteY0" fmla="*/ 129450 h 1294500"/>
                <a:gd name="connsiteX1" fmla="*/ 129450 w 2038583"/>
                <a:gd name="connsiteY1" fmla="*/ 0 h 1294500"/>
                <a:gd name="connsiteX2" fmla="*/ 1909133 w 2038583"/>
                <a:gd name="connsiteY2" fmla="*/ 0 h 1294500"/>
                <a:gd name="connsiteX3" fmla="*/ 2038583 w 2038583"/>
                <a:gd name="connsiteY3" fmla="*/ 129450 h 1294500"/>
                <a:gd name="connsiteX4" fmla="*/ 2038583 w 2038583"/>
                <a:gd name="connsiteY4" fmla="*/ 1165050 h 1294500"/>
                <a:gd name="connsiteX5" fmla="*/ 1909133 w 2038583"/>
                <a:gd name="connsiteY5" fmla="*/ 1294500 h 1294500"/>
                <a:gd name="connsiteX6" fmla="*/ 129450 w 2038583"/>
                <a:gd name="connsiteY6" fmla="*/ 1294500 h 1294500"/>
                <a:gd name="connsiteX7" fmla="*/ 0 w 2038583"/>
                <a:gd name="connsiteY7" fmla="*/ 1165050 h 1294500"/>
                <a:gd name="connsiteX8" fmla="*/ 0 w 2038583"/>
                <a:gd name="connsiteY8" fmla="*/ 129450 h 129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583" h="1294500">
                  <a:moveTo>
                    <a:pt x="0" y="129450"/>
                  </a:moveTo>
                  <a:cubicBezTo>
                    <a:pt x="0" y="57957"/>
                    <a:pt x="57957" y="0"/>
                    <a:pt x="129450" y="0"/>
                  </a:cubicBezTo>
                  <a:lnTo>
                    <a:pt x="1909133" y="0"/>
                  </a:lnTo>
                  <a:cubicBezTo>
                    <a:pt x="1980626" y="0"/>
                    <a:pt x="2038583" y="57957"/>
                    <a:pt x="2038583" y="129450"/>
                  </a:cubicBezTo>
                  <a:lnTo>
                    <a:pt x="2038583" y="1165050"/>
                  </a:lnTo>
                  <a:cubicBezTo>
                    <a:pt x="2038583" y="1236543"/>
                    <a:pt x="1980626" y="1294500"/>
                    <a:pt x="1909133" y="1294500"/>
                  </a:cubicBezTo>
                  <a:lnTo>
                    <a:pt x="129450" y="1294500"/>
                  </a:lnTo>
                  <a:cubicBezTo>
                    <a:pt x="57957" y="1294500"/>
                    <a:pt x="0" y="1236543"/>
                    <a:pt x="0" y="1165050"/>
                  </a:cubicBezTo>
                  <a:lnTo>
                    <a:pt x="0" y="12945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255" tIns="91255" rIns="91255" bIns="91255" numCol="1" spcCol="1270" rtlCol="1" anchor="ctr" anchorCtr="0">
              <a:noAutofit/>
            </a:bodyPr>
            <a:lstStyle/>
            <a:p>
              <a:pPr marL="0" lvl="0" indent="0" algn="ct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kern="1200">
                  <a:latin typeface="Arial" panose="020B0604020202020204" pitchFamily="34" charset="0"/>
                  <a:cs typeface="Arial" panose="020B0604020202020204" pitchFamily="34" charset="0"/>
                </a:rPr>
                <a:t>تقييم مدى الضرر الذي تسببه الأنشطة والنفايات والضوضاء على البيئة. </a:t>
              </a:r>
              <a:endParaRPr lang="en-US" sz="1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21BCA57-82E7-A468-C8D6-2130F5A98142}"/>
              </a:ext>
            </a:extLst>
          </p:cNvPr>
          <p:cNvSpPr txBox="1"/>
          <p:nvPr/>
        </p:nvSpPr>
        <p:spPr>
          <a:xfrm>
            <a:off x="5292080" y="4458610"/>
            <a:ext cx="367240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buNone/>
            </a:pPr>
            <a:r>
              <a:rPr lang="ar" sz="16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1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العثور على السياسات البيئية التي تطبقها الشركات المحلية في مجال الضيافة، وما المشكلات البيئية التي تهمها؟ 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7BCCFFC4-8676-9CB3-7DE3-D93C9301EB7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المزايا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D8CB33-0E59-7DE3-76B0-F01124887FE4}"/>
              </a:ext>
            </a:extLst>
          </p:cNvPr>
          <p:cNvGrpSpPr/>
          <p:nvPr/>
        </p:nvGrpSpPr>
        <p:grpSpPr>
          <a:xfrm flipH="1">
            <a:off x="1471790" y="2197588"/>
            <a:ext cx="6200415" cy="3875258"/>
            <a:chOff x="1471790" y="2197588"/>
            <a:chExt cx="6200415" cy="387525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420D044-B014-BB40-015A-73BE1B874E74}"/>
                </a:ext>
              </a:extLst>
            </p:cNvPr>
            <p:cNvSpPr/>
            <p:nvPr/>
          </p:nvSpPr>
          <p:spPr>
            <a:xfrm>
              <a:off x="1471790" y="2197588"/>
              <a:ext cx="1937629" cy="1162577"/>
            </a:xfrm>
            <a:custGeom>
              <a:avLst/>
              <a:gdLst>
                <a:gd name="connsiteX0" fmla="*/ 0 w 1937629"/>
                <a:gd name="connsiteY0" fmla="*/ 0 h 1162577"/>
                <a:gd name="connsiteX1" fmla="*/ 1937629 w 1937629"/>
                <a:gd name="connsiteY1" fmla="*/ 0 h 1162577"/>
                <a:gd name="connsiteX2" fmla="*/ 1937629 w 1937629"/>
                <a:gd name="connsiteY2" fmla="*/ 1162577 h 1162577"/>
                <a:gd name="connsiteX3" fmla="*/ 0 w 1937629"/>
                <a:gd name="connsiteY3" fmla="*/ 1162577 h 1162577"/>
                <a:gd name="connsiteX4" fmla="*/ 0 w 1937629"/>
                <a:gd name="connsiteY4" fmla="*/ 0 h 1162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7629" h="1162577">
                  <a:moveTo>
                    <a:pt x="0" y="0"/>
                  </a:moveTo>
                  <a:lnTo>
                    <a:pt x="1937629" y="0"/>
                  </a:lnTo>
                  <a:lnTo>
                    <a:pt x="1937629" y="1162577"/>
                  </a:lnTo>
                  <a:lnTo>
                    <a:pt x="0" y="116257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الحد من المشكلات البيئية</a:t>
              </a:r>
              <a:endParaRPr lang="en-US" sz="24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C77E073-1C5A-4306-67C4-47FF9EE92BF6}"/>
                </a:ext>
              </a:extLst>
            </p:cNvPr>
            <p:cNvSpPr/>
            <p:nvPr/>
          </p:nvSpPr>
          <p:spPr>
            <a:xfrm>
              <a:off x="3603183" y="2197588"/>
              <a:ext cx="1937629" cy="1162577"/>
            </a:xfrm>
            <a:custGeom>
              <a:avLst/>
              <a:gdLst>
                <a:gd name="connsiteX0" fmla="*/ 0 w 1937629"/>
                <a:gd name="connsiteY0" fmla="*/ 0 h 1162577"/>
                <a:gd name="connsiteX1" fmla="*/ 1937629 w 1937629"/>
                <a:gd name="connsiteY1" fmla="*/ 0 h 1162577"/>
                <a:gd name="connsiteX2" fmla="*/ 1937629 w 1937629"/>
                <a:gd name="connsiteY2" fmla="*/ 1162577 h 1162577"/>
                <a:gd name="connsiteX3" fmla="*/ 0 w 1937629"/>
                <a:gd name="connsiteY3" fmla="*/ 1162577 h 1162577"/>
                <a:gd name="connsiteX4" fmla="*/ 0 w 1937629"/>
                <a:gd name="connsiteY4" fmla="*/ 0 h 1162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7629" h="1162577">
                  <a:moveTo>
                    <a:pt x="0" y="0"/>
                  </a:moveTo>
                  <a:lnTo>
                    <a:pt x="1937629" y="0"/>
                  </a:lnTo>
                  <a:lnTo>
                    <a:pt x="1937629" y="1162577"/>
                  </a:lnTo>
                  <a:lnTo>
                    <a:pt x="0" y="116257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تحسين صورة الشركة</a:t>
              </a:r>
              <a:endParaRPr lang="en-US" sz="24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1ED07B0-30BE-C675-D79E-457D7350C198}"/>
                </a:ext>
              </a:extLst>
            </p:cNvPr>
            <p:cNvSpPr/>
            <p:nvPr/>
          </p:nvSpPr>
          <p:spPr>
            <a:xfrm>
              <a:off x="5734576" y="2197588"/>
              <a:ext cx="1937629" cy="1162577"/>
            </a:xfrm>
            <a:custGeom>
              <a:avLst/>
              <a:gdLst>
                <a:gd name="connsiteX0" fmla="*/ 0 w 1937629"/>
                <a:gd name="connsiteY0" fmla="*/ 0 h 1162577"/>
                <a:gd name="connsiteX1" fmla="*/ 1937629 w 1937629"/>
                <a:gd name="connsiteY1" fmla="*/ 0 h 1162577"/>
                <a:gd name="connsiteX2" fmla="*/ 1937629 w 1937629"/>
                <a:gd name="connsiteY2" fmla="*/ 1162577 h 1162577"/>
                <a:gd name="connsiteX3" fmla="*/ 0 w 1937629"/>
                <a:gd name="connsiteY3" fmla="*/ 1162577 h 1162577"/>
                <a:gd name="connsiteX4" fmla="*/ 0 w 1937629"/>
                <a:gd name="connsiteY4" fmla="*/ 0 h 1162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7629" h="1162577">
                  <a:moveTo>
                    <a:pt x="0" y="0"/>
                  </a:moveTo>
                  <a:lnTo>
                    <a:pt x="1937629" y="0"/>
                  </a:lnTo>
                  <a:lnTo>
                    <a:pt x="1937629" y="1162577"/>
                  </a:lnTo>
                  <a:lnTo>
                    <a:pt x="0" y="116257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الاستخدام الفعال للموارد المستدامة</a:t>
              </a:r>
              <a:endParaRPr lang="en-US" sz="24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DBDC49F-1909-92F9-E50E-FE89A88FEE6D}"/>
                </a:ext>
              </a:extLst>
            </p:cNvPr>
            <p:cNvSpPr/>
            <p:nvPr/>
          </p:nvSpPr>
          <p:spPr>
            <a:xfrm>
              <a:off x="1471790" y="3553929"/>
              <a:ext cx="1937629" cy="1162577"/>
            </a:xfrm>
            <a:custGeom>
              <a:avLst/>
              <a:gdLst>
                <a:gd name="connsiteX0" fmla="*/ 0 w 1937629"/>
                <a:gd name="connsiteY0" fmla="*/ 0 h 1162577"/>
                <a:gd name="connsiteX1" fmla="*/ 1937629 w 1937629"/>
                <a:gd name="connsiteY1" fmla="*/ 0 h 1162577"/>
                <a:gd name="connsiteX2" fmla="*/ 1937629 w 1937629"/>
                <a:gd name="connsiteY2" fmla="*/ 1162577 h 1162577"/>
                <a:gd name="connsiteX3" fmla="*/ 0 w 1937629"/>
                <a:gd name="connsiteY3" fmla="*/ 1162577 h 1162577"/>
                <a:gd name="connsiteX4" fmla="*/ 0 w 1937629"/>
                <a:gd name="connsiteY4" fmla="*/ 0 h 1162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7629" h="1162577">
                  <a:moveTo>
                    <a:pt x="0" y="0"/>
                  </a:moveTo>
                  <a:lnTo>
                    <a:pt x="1937629" y="0"/>
                  </a:lnTo>
                  <a:lnTo>
                    <a:pt x="1937629" y="1162577"/>
                  </a:lnTo>
                  <a:lnTo>
                    <a:pt x="0" y="116257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زيادة الوعي</a:t>
              </a:r>
              <a:endParaRPr lang="en-US" sz="24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D55ACFB-5BA3-AA05-82FF-C5A29635FE9D}"/>
                </a:ext>
              </a:extLst>
            </p:cNvPr>
            <p:cNvSpPr/>
            <p:nvPr/>
          </p:nvSpPr>
          <p:spPr>
            <a:xfrm>
              <a:off x="3603183" y="3553929"/>
              <a:ext cx="1937629" cy="1162577"/>
            </a:xfrm>
            <a:custGeom>
              <a:avLst/>
              <a:gdLst>
                <a:gd name="connsiteX0" fmla="*/ 0 w 1937629"/>
                <a:gd name="connsiteY0" fmla="*/ 0 h 1162577"/>
                <a:gd name="connsiteX1" fmla="*/ 1937629 w 1937629"/>
                <a:gd name="connsiteY1" fmla="*/ 0 h 1162577"/>
                <a:gd name="connsiteX2" fmla="*/ 1937629 w 1937629"/>
                <a:gd name="connsiteY2" fmla="*/ 1162577 h 1162577"/>
                <a:gd name="connsiteX3" fmla="*/ 0 w 1937629"/>
                <a:gd name="connsiteY3" fmla="*/ 1162577 h 1162577"/>
                <a:gd name="connsiteX4" fmla="*/ 0 w 1937629"/>
                <a:gd name="connsiteY4" fmla="*/ 0 h 1162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7629" h="1162577">
                  <a:moveTo>
                    <a:pt x="0" y="0"/>
                  </a:moveTo>
                  <a:lnTo>
                    <a:pt x="1937629" y="0"/>
                  </a:lnTo>
                  <a:lnTo>
                    <a:pt x="1937629" y="1162577"/>
                  </a:lnTo>
                  <a:lnTo>
                    <a:pt x="0" y="116257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جذب العملاء والاحتفاظ بهم</a:t>
              </a:r>
              <a:endParaRPr lang="en-US" sz="24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D3645D8-0252-0921-3ADE-5279B115EB68}"/>
                </a:ext>
              </a:extLst>
            </p:cNvPr>
            <p:cNvSpPr/>
            <p:nvPr/>
          </p:nvSpPr>
          <p:spPr>
            <a:xfrm>
              <a:off x="5734576" y="3553929"/>
              <a:ext cx="1937629" cy="1162577"/>
            </a:xfrm>
            <a:custGeom>
              <a:avLst/>
              <a:gdLst>
                <a:gd name="connsiteX0" fmla="*/ 0 w 1937629"/>
                <a:gd name="connsiteY0" fmla="*/ 0 h 1162577"/>
                <a:gd name="connsiteX1" fmla="*/ 1937629 w 1937629"/>
                <a:gd name="connsiteY1" fmla="*/ 0 h 1162577"/>
                <a:gd name="connsiteX2" fmla="*/ 1937629 w 1937629"/>
                <a:gd name="connsiteY2" fmla="*/ 1162577 h 1162577"/>
                <a:gd name="connsiteX3" fmla="*/ 0 w 1937629"/>
                <a:gd name="connsiteY3" fmla="*/ 1162577 h 1162577"/>
                <a:gd name="connsiteX4" fmla="*/ 0 w 1937629"/>
                <a:gd name="connsiteY4" fmla="*/ 0 h 1162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7629" h="1162577">
                  <a:moveTo>
                    <a:pt x="0" y="0"/>
                  </a:moveTo>
                  <a:lnTo>
                    <a:pt x="1937629" y="0"/>
                  </a:lnTo>
                  <a:lnTo>
                    <a:pt x="1937629" y="1162577"/>
                  </a:lnTo>
                  <a:lnTo>
                    <a:pt x="0" y="116257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الحوافز المالية</a:t>
              </a:r>
              <a:endParaRPr lang="en-US" sz="24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FC61065-E9C3-C13E-449D-B3FBAD3D026A}"/>
                </a:ext>
              </a:extLst>
            </p:cNvPr>
            <p:cNvSpPr/>
            <p:nvPr/>
          </p:nvSpPr>
          <p:spPr>
            <a:xfrm>
              <a:off x="3603183" y="4910269"/>
              <a:ext cx="1937629" cy="1162577"/>
            </a:xfrm>
            <a:custGeom>
              <a:avLst/>
              <a:gdLst>
                <a:gd name="connsiteX0" fmla="*/ 0 w 1937629"/>
                <a:gd name="connsiteY0" fmla="*/ 0 h 1162577"/>
                <a:gd name="connsiteX1" fmla="*/ 1937629 w 1937629"/>
                <a:gd name="connsiteY1" fmla="*/ 0 h 1162577"/>
                <a:gd name="connsiteX2" fmla="*/ 1937629 w 1937629"/>
                <a:gd name="connsiteY2" fmla="*/ 1162577 h 1162577"/>
                <a:gd name="connsiteX3" fmla="*/ 0 w 1937629"/>
                <a:gd name="connsiteY3" fmla="*/ 1162577 h 1162577"/>
                <a:gd name="connsiteX4" fmla="*/ 0 w 1937629"/>
                <a:gd name="connsiteY4" fmla="*/ 0 h 1162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7629" h="1162577">
                  <a:moveTo>
                    <a:pt x="0" y="0"/>
                  </a:moveTo>
                  <a:lnTo>
                    <a:pt x="1937629" y="0"/>
                  </a:lnTo>
                  <a:lnTo>
                    <a:pt x="1937629" y="1162577"/>
                  </a:lnTo>
                  <a:lnTo>
                    <a:pt x="0" y="116257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الوضع التنافسي</a:t>
              </a:r>
              <a:endParaRPr lang="en-US" sz="24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8168A0E-07FC-5CA8-EBB8-03EA9035978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7877711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1093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9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وضع سياسة بيئية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E67A61-A430-681E-3A6E-A71A07662927}"/>
              </a:ext>
            </a:extLst>
          </p:cNvPr>
          <p:cNvGrpSpPr/>
          <p:nvPr/>
        </p:nvGrpSpPr>
        <p:grpSpPr>
          <a:xfrm flipH="1">
            <a:off x="468311" y="2495694"/>
            <a:ext cx="8207375" cy="3575943"/>
            <a:chOff x="468311" y="2495694"/>
            <a:chExt cx="8207375" cy="357594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54D4BCF-19F7-82B2-7ADB-99E7E688D102}"/>
                </a:ext>
              </a:extLst>
            </p:cNvPr>
            <p:cNvSpPr/>
            <p:nvPr/>
          </p:nvSpPr>
          <p:spPr>
            <a:xfrm>
              <a:off x="468311" y="2495694"/>
              <a:ext cx="8207375" cy="59599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" name="Rectangle 6" descr="City">
              <a:extLst>
                <a:ext uri="{FF2B5EF4-FFF2-40B4-BE49-F238E27FC236}">
                  <a16:creationId xmlns:a16="http://schemas.microsoft.com/office/drawing/2014/main" id="{8E4985BF-DB6A-9F82-6F62-F7891ADE2D86}"/>
                </a:ext>
              </a:extLst>
            </p:cNvPr>
            <p:cNvSpPr/>
            <p:nvPr/>
          </p:nvSpPr>
          <p:spPr>
            <a:xfrm>
              <a:off x="648598" y="2629791"/>
              <a:ext cx="327794" cy="327794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1304E8F-3743-2A7F-94AA-A192FC96E189}"/>
                </a:ext>
              </a:extLst>
            </p:cNvPr>
            <p:cNvSpPr/>
            <p:nvPr/>
          </p:nvSpPr>
          <p:spPr>
            <a:xfrm>
              <a:off x="1156680" y="2501081"/>
              <a:ext cx="7519005" cy="595990"/>
            </a:xfrm>
            <a:custGeom>
              <a:avLst/>
              <a:gdLst>
                <a:gd name="connsiteX0" fmla="*/ 0 w 7519005"/>
                <a:gd name="connsiteY0" fmla="*/ 0 h 595990"/>
                <a:gd name="connsiteX1" fmla="*/ 7519005 w 7519005"/>
                <a:gd name="connsiteY1" fmla="*/ 0 h 595990"/>
                <a:gd name="connsiteX2" fmla="*/ 7519005 w 7519005"/>
                <a:gd name="connsiteY2" fmla="*/ 595990 h 595990"/>
                <a:gd name="connsiteX3" fmla="*/ 0 w 7519005"/>
                <a:gd name="connsiteY3" fmla="*/ 595990 h 595990"/>
                <a:gd name="connsiteX4" fmla="*/ 0 w 7519005"/>
                <a:gd name="connsiteY4" fmla="*/ 0 h 59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9005" h="595990">
                  <a:moveTo>
                    <a:pt x="0" y="0"/>
                  </a:moveTo>
                  <a:lnTo>
                    <a:pt x="7519005" y="0"/>
                  </a:lnTo>
                  <a:lnTo>
                    <a:pt x="7519005" y="595990"/>
                  </a:lnTo>
                  <a:lnTo>
                    <a:pt x="0" y="5959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076" tIns="63076" rIns="63076" bIns="63076" numCol="1" spcCol="1270" rtlCol="1" anchor="ctr" anchorCtr="0">
              <a:noAutofit/>
            </a:bodyPr>
            <a:lstStyle/>
            <a:p>
              <a:pPr marL="0" lvl="0" indent="0" algn="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يمكن لشركات الضيافة تقليل بصمتها الكربونية إلى أدنى حد ممكن.</a:t>
              </a:r>
              <a:endParaRPr lang="en-US" sz="18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9390FD7-5C06-65F5-38DF-2E0130EA9BB1}"/>
                </a:ext>
              </a:extLst>
            </p:cNvPr>
            <p:cNvSpPr/>
            <p:nvPr/>
          </p:nvSpPr>
          <p:spPr>
            <a:xfrm>
              <a:off x="468311" y="3240682"/>
              <a:ext cx="8207375" cy="59599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Rectangle 9" descr="Recycle">
              <a:extLst>
                <a:ext uri="{FF2B5EF4-FFF2-40B4-BE49-F238E27FC236}">
                  <a16:creationId xmlns:a16="http://schemas.microsoft.com/office/drawing/2014/main" id="{93ACAE4E-9412-28D4-B82E-4B6E7B40163A}"/>
                </a:ext>
              </a:extLst>
            </p:cNvPr>
            <p:cNvSpPr/>
            <p:nvPr/>
          </p:nvSpPr>
          <p:spPr>
            <a:xfrm>
              <a:off x="648598" y="3374780"/>
              <a:ext cx="327794" cy="327794"/>
            </a:xfrm>
            <a:prstGeom prst="rect">
              <a:avLst/>
            </a:prstGeom>
            <a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720A3A0-67CC-FA89-4E50-53EB8EFDE6DB}"/>
                </a:ext>
              </a:extLst>
            </p:cNvPr>
            <p:cNvSpPr/>
            <p:nvPr/>
          </p:nvSpPr>
          <p:spPr>
            <a:xfrm>
              <a:off x="1156680" y="3240682"/>
              <a:ext cx="7519005" cy="595990"/>
            </a:xfrm>
            <a:custGeom>
              <a:avLst/>
              <a:gdLst>
                <a:gd name="connsiteX0" fmla="*/ 0 w 7519005"/>
                <a:gd name="connsiteY0" fmla="*/ 0 h 595990"/>
                <a:gd name="connsiteX1" fmla="*/ 7519005 w 7519005"/>
                <a:gd name="connsiteY1" fmla="*/ 0 h 595990"/>
                <a:gd name="connsiteX2" fmla="*/ 7519005 w 7519005"/>
                <a:gd name="connsiteY2" fmla="*/ 595990 h 595990"/>
                <a:gd name="connsiteX3" fmla="*/ 0 w 7519005"/>
                <a:gd name="connsiteY3" fmla="*/ 595990 h 595990"/>
                <a:gd name="connsiteX4" fmla="*/ 0 w 7519005"/>
                <a:gd name="connsiteY4" fmla="*/ 0 h 59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9005" h="595990">
                  <a:moveTo>
                    <a:pt x="0" y="0"/>
                  </a:moveTo>
                  <a:lnTo>
                    <a:pt x="7519005" y="0"/>
                  </a:lnTo>
                  <a:lnTo>
                    <a:pt x="7519005" y="595990"/>
                  </a:lnTo>
                  <a:lnTo>
                    <a:pt x="0" y="5959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076" tIns="63076" rIns="63076" bIns="63076" numCol="1" spcCol="1270" rtlCol="1" anchor="ctr" anchorCtr="0">
              <a:noAutofit/>
            </a:bodyPr>
            <a:lstStyle/>
            <a:p>
              <a:pPr marL="0" lvl="0" indent="0" algn="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كيفية تقليل كمية النفايات التي تذهب إلى مكب النفايات.</a:t>
              </a:r>
              <a:endParaRPr lang="en-US" sz="18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2912ADF-F1BA-7FDD-3314-4C018029182C}"/>
                </a:ext>
              </a:extLst>
            </p:cNvPr>
            <p:cNvSpPr/>
            <p:nvPr/>
          </p:nvSpPr>
          <p:spPr>
            <a:xfrm>
              <a:off x="468311" y="3985670"/>
              <a:ext cx="8207375" cy="59599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 12" descr="Lightbulb">
              <a:extLst>
                <a:ext uri="{FF2B5EF4-FFF2-40B4-BE49-F238E27FC236}">
                  <a16:creationId xmlns:a16="http://schemas.microsoft.com/office/drawing/2014/main" id="{2FF3DDB9-6C2B-0E92-E46D-3894B6D00F44}"/>
                </a:ext>
              </a:extLst>
            </p:cNvPr>
            <p:cNvSpPr/>
            <p:nvPr/>
          </p:nvSpPr>
          <p:spPr>
            <a:xfrm>
              <a:off x="648598" y="4119768"/>
              <a:ext cx="327794" cy="327794"/>
            </a:xfrm>
            <a:prstGeom prst="rect">
              <a:avLst/>
            </a:prstGeom>
            <a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E12162-61F5-7068-51A3-F9D6CB121342}"/>
                </a:ext>
              </a:extLst>
            </p:cNvPr>
            <p:cNvSpPr/>
            <p:nvPr/>
          </p:nvSpPr>
          <p:spPr>
            <a:xfrm>
              <a:off x="1156680" y="3985670"/>
              <a:ext cx="7519005" cy="595990"/>
            </a:xfrm>
            <a:custGeom>
              <a:avLst/>
              <a:gdLst>
                <a:gd name="connsiteX0" fmla="*/ 0 w 7519005"/>
                <a:gd name="connsiteY0" fmla="*/ 0 h 595990"/>
                <a:gd name="connsiteX1" fmla="*/ 7519005 w 7519005"/>
                <a:gd name="connsiteY1" fmla="*/ 0 h 595990"/>
                <a:gd name="connsiteX2" fmla="*/ 7519005 w 7519005"/>
                <a:gd name="connsiteY2" fmla="*/ 595990 h 595990"/>
                <a:gd name="connsiteX3" fmla="*/ 0 w 7519005"/>
                <a:gd name="connsiteY3" fmla="*/ 595990 h 595990"/>
                <a:gd name="connsiteX4" fmla="*/ 0 w 7519005"/>
                <a:gd name="connsiteY4" fmla="*/ 0 h 59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9005" h="595990">
                  <a:moveTo>
                    <a:pt x="0" y="0"/>
                  </a:moveTo>
                  <a:lnTo>
                    <a:pt x="7519005" y="0"/>
                  </a:lnTo>
                  <a:lnTo>
                    <a:pt x="7519005" y="595990"/>
                  </a:lnTo>
                  <a:lnTo>
                    <a:pt x="0" y="5959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076" tIns="63076" rIns="63076" bIns="63076" numCol="1" spcCol="1270" rtlCol="1" anchor="ctr" anchorCtr="0">
              <a:noAutofit/>
            </a:bodyPr>
            <a:lstStyle/>
            <a:p>
              <a:pPr marL="0" lvl="0" indent="0" algn="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يمكن للشركة الحصول على منتجاتها وخدماتها بطريقة مستدامة.</a:t>
              </a:r>
              <a:endParaRPr lang="en-US" sz="18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2D53FDD-6EFB-A268-13E8-1EF400FE325F}"/>
                </a:ext>
              </a:extLst>
            </p:cNvPr>
            <p:cNvSpPr/>
            <p:nvPr/>
          </p:nvSpPr>
          <p:spPr>
            <a:xfrm>
              <a:off x="468311" y="4730658"/>
              <a:ext cx="8207375" cy="59599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15" descr="Meeting">
              <a:extLst>
                <a:ext uri="{FF2B5EF4-FFF2-40B4-BE49-F238E27FC236}">
                  <a16:creationId xmlns:a16="http://schemas.microsoft.com/office/drawing/2014/main" id="{9D69BCAC-3A27-E0D2-A3AF-7697CC9B44D3}"/>
                </a:ext>
              </a:extLst>
            </p:cNvPr>
            <p:cNvSpPr/>
            <p:nvPr/>
          </p:nvSpPr>
          <p:spPr>
            <a:xfrm>
              <a:off x="648598" y="4864756"/>
              <a:ext cx="327794" cy="327794"/>
            </a:xfrm>
            <a:prstGeom prst="rect">
              <a:avLst/>
            </a:prstGeom>
            <a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E36F0EA-D0C9-C458-68C3-5159A5F8947D}"/>
                </a:ext>
              </a:extLst>
            </p:cNvPr>
            <p:cNvSpPr/>
            <p:nvPr/>
          </p:nvSpPr>
          <p:spPr>
            <a:xfrm>
              <a:off x="1156680" y="4730658"/>
              <a:ext cx="7519005" cy="595990"/>
            </a:xfrm>
            <a:custGeom>
              <a:avLst/>
              <a:gdLst>
                <a:gd name="connsiteX0" fmla="*/ 0 w 7519005"/>
                <a:gd name="connsiteY0" fmla="*/ 0 h 595990"/>
                <a:gd name="connsiteX1" fmla="*/ 7519005 w 7519005"/>
                <a:gd name="connsiteY1" fmla="*/ 0 h 595990"/>
                <a:gd name="connsiteX2" fmla="*/ 7519005 w 7519005"/>
                <a:gd name="connsiteY2" fmla="*/ 595990 h 595990"/>
                <a:gd name="connsiteX3" fmla="*/ 0 w 7519005"/>
                <a:gd name="connsiteY3" fmla="*/ 595990 h 595990"/>
                <a:gd name="connsiteX4" fmla="*/ 0 w 7519005"/>
                <a:gd name="connsiteY4" fmla="*/ 0 h 59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9005" h="595990">
                  <a:moveTo>
                    <a:pt x="0" y="0"/>
                  </a:moveTo>
                  <a:lnTo>
                    <a:pt x="7519005" y="0"/>
                  </a:lnTo>
                  <a:lnTo>
                    <a:pt x="7519005" y="595990"/>
                  </a:lnTo>
                  <a:lnTo>
                    <a:pt x="0" y="5959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076" tIns="63076" rIns="63076" bIns="63076" numCol="1" spcCol="1270" rtlCol="1" anchor="ctr" anchorCtr="0">
              <a:noAutofit/>
            </a:bodyPr>
            <a:lstStyle/>
            <a:p>
              <a:pPr marL="0" lvl="0" indent="0" algn="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كيفية تثقيف النزلاء والموظفين بشأن مشكلات الاستدامة.</a:t>
              </a:r>
              <a:endParaRPr lang="en-US" sz="18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882D933-78D2-582F-5F79-E73E7C99ED8A}"/>
                </a:ext>
              </a:extLst>
            </p:cNvPr>
            <p:cNvSpPr/>
            <p:nvPr/>
          </p:nvSpPr>
          <p:spPr>
            <a:xfrm>
              <a:off x="468311" y="5475647"/>
              <a:ext cx="8207375" cy="59599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18" descr="Truck">
              <a:extLst>
                <a:ext uri="{FF2B5EF4-FFF2-40B4-BE49-F238E27FC236}">
                  <a16:creationId xmlns:a16="http://schemas.microsoft.com/office/drawing/2014/main" id="{A5D70A38-81D2-22DE-4DF2-2EEF7226B47C}"/>
                </a:ext>
              </a:extLst>
            </p:cNvPr>
            <p:cNvSpPr/>
            <p:nvPr/>
          </p:nvSpPr>
          <p:spPr>
            <a:xfrm>
              <a:off x="648598" y="5609745"/>
              <a:ext cx="327794" cy="327794"/>
            </a:xfrm>
            <a:prstGeom prst="rect">
              <a:avLst/>
            </a:prstGeom>
            <a:blipFill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2BB4DC7-2FB2-46DE-DF19-F7928DA5B1FA}"/>
                </a:ext>
              </a:extLst>
            </p:cNvPr>
            <p:cNvSpPr/>
            <p:nvPr/>
          </p:nvSpPr>
          <p:spPr>
            <a:xfrm>
              <a:off x="1156680" y="5475647"/>
              <a:ext cx="7519005" cy="595990"/>
            </a:xfrm>
            <a:custGeom>
              <a:avLst/>
              <a:gdLst>
                <a:gd name="connsiteX0" fmla="*/ 0 w 7519005"/>
                <a:gd name="connsiteY0" fmla="*/ 0 h 595990"/>
                <a:gd name="connsiteX1" fmla="*/ 7519005 w 7519005"/>
                <a:gd name="connsiteY1" fmla="*/ 0 h 595990"/>
                <a:gd name="connsiteX2" fmla="*/ 7519005 w 7519005"/>
                <a:gd name="connsiteY2" fmla="*/ 595990 h 595990"/>
                <a:gd name="connsiteX3" fmla="*/ 0 w 7519005"/>
                <a:gd name="connsiteY3" fmla="*/ 595990 h 595990"/>
                <a:gd name="connsiteX4" fmla="*/ 0 w 7519005"/>
                <a:gd name="connsiteY4" fmla="*/ 0 h 59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9005" h="595990">
                  <a:moveTo>
                    <a:pt x="0" y="0"/>
                  </a:moveTo>
                  <a:lnTo>
                    <a:pt x="7519005" y="0"/>
                  </a:lnTo>
                  <a:lnTo>
                    <a:pt x="7519005" y="595990"/>
                  </a:lnTo>
                  <a:lnTo>
                    <a:pt x="0" y="5959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076" tIns="63076" rIns="63076" bIns="63076" numCol="1" spcCol="1270" rtlCol="1" anchor="ctr" anchorCtr="0">
              <a:noAutofit/>
            </a:bodyPr>
            <a:lstStyle/>
            <a:p>
              <a:pPr marL="0" lvl="0" indent="0" algn="r" defTabSz="8001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i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كيفية تقليل الأميال التجارية ومسافات نقل الطعام باستخدام المنتجات المحلية.</a:t>
              </a:r>
              <a:endParaRPr lang="en-US" sz="1800" i="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418A314-9ED0-B07D-5D73-4B18031652D0}"/>
              </a:ext>
            </a:extLst>
          </p:cNvPr>
          <p:cNvGrpSpPr/>
          <p:nvPr/>
        </p:nvGrpSpPr>
        <p:grpSpPr>
          <a:xfrm>
            <a:off x="1302581" y="1974930"/>
            <a:ext cx="7589899" cy="534610"/>
            <a:chOff x="617475" y="1254"/>
            <a:chExt cx="7589899" cy="53461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5536FB-FEC6-66A8-259E-93B02F6135D6}"/>
                </a:ext>
              </a:extLst>
            </p:cNvPr>
            <p:cNvSpPr/>
            <p:nvPr/>
          </p:nvSpPr>
          <p:spPr>
            <a:xfrm>
              <a:off x="617475" y="1254"/>
              <a:ext cx="7589899" cy="53461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rtlCol="1"/>
            <a:lstStyle/>
            <a:p>
              <a:pPr rtl="1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31EDF20-0D1A-9B70-5DE1-847FD312EAE2}"/>
                </a:ext>
              </a:extLst>
            </p:cNvPr>
            <p:cNvSpPr txBox="1"/>
            <p:nvPr/>
          </p:nvSpPr>
          <p:spPr>
            <a:xfrm>
              <a:off x="617475" y="1254"/>
              <a:ext cx="7589899" cy="5346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580" tIns="56580" rIns="56580" bIns="56580" numCol="1" spcCol="1270" rtlCol="1" anchor="ctr" anchorCtr="0">
              <a:noAutofit/>
            </a:bodyPr>
            <a:lstStyle/>
            <a:p>
              <a:pPr marL="0" lvl="0" indent="0" defTabSz="6667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النقاط الرئيسة التي يجب تضمينها في سياسة بيئية:</a:t>
              </a:r>
              <a:endParaRPr lang="en-US" sz="17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6DA03E77-B0D4-06B9-089B-641C8B3960F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037881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28" y="1084482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المجالات التي يجب تضمينها (1)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C4CF2760-5BD0-DD1A-EEA3-053375E13E6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89391119"/>
              </p:ext>
            </p:extLst>
          </p:nvPr>
        </p:nvGraphicFramePr>
        <p:xfrm>
          <a:off x="576263" y="2058989"/>
          <a:ext cx="7991475" cy="3603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6822965-BAD7-52FA-25CD-83F09CBAE0D1}"/>
              </a:ext>
            </a:extLst>
          </p:cNvPr>
          <p:cNvSpPr txBox="1"/>
          <p:nvPr/>
        </p:nvSpPr>
        <p:spPr>
          <a:xfrm>
            <a:off x="687810" y="5813207"/>
            <a:ext cx="799147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النقاط الأخرى التي يمكن تضمينها في سياسة الاستدامة للمجالات الثلاثة؟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F51C160-DDE0-A3FF-AF60-91A57D52F29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7544041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س"/>
              </a:rPr>
              <a:t>المجالات التي يجب تضمينها (2)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4D258F2-09E8-0598-126A-6492123B460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29116821"/>
              </p:ext>
            </p:extLst>
          </p:nvPr>
        </p:nvGraphicFramePr>
        <p:xfrm>
          <a:off x="4937001" y="1602882"/>
          <a:ext cx="4027487" cy="402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C39CD6E-E383-DFA7-CB62-08C35FED2F6B}"/>
              </a:ext>
            </a:extLst>
          </p:cNvPr>
          <p:cNvSpPr txBox="1"/>
          <p:nvPr/>
        </p:nvSpPr>
        <p:spPr>
          <a:xfrm>
            <a:off x="4392488" y="5574688"/>
            <a:ext cx="4572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-JO" sz="20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ما </a:t>
            </a: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النقاط الأخرى التي يمكن تضمينها في سياسة الاستدامة الخاصة بجودة الهواء</a:t>
            </a:r>
            <a:r>
              <a:rPr lang="ar-JO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؟</a:t>
            </a:r>
            <a:endParaRPr lang="ar" sz="20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7" name="Picture 6" descr="A black and white icon with a magnifying glass and a clipboard&#10;&#10;Description automatically generated">
            <a:extLst>
              <a:ext uri="{FF2B5EF4-FFF2-40B4-BE49-F238E27FC236}">
                <a16:creationId xmlns:a16="http://schemas.microsoft.com/office/drawing/2014/main" id="{F36C6A0B-9814-7A57-1BC0-FCE1D0D9890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888" y="2375329"/>
            <a:ext cx="3768080" cy="376808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AD380E5-F7A7-D44C-EC51-41C592823A3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239647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المجالات التي يجب تضمينها (3)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72ECCF0-D63F-89AE-A6D6-4DC238AFFD31}"/>
              </a:ext>
            </a:extLst>
          </p:cNvPr>
          <p:cNvGrpSpPr/>
          <p:nvPr/>
        </p:nvGrpSpPr>
        <p:grpSpPr>
          <a:xfrm flipH="1">
            <a:off x="460284" y="2238140"/>
            <a:ext cx="8201203" cy="3596991"/>
            <a:chOff x="460284" y="2238140"/>
            <a:chExt cx="8201203" cy="359699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BF143C1-0425-8D7C-F981-26AD6902A860}"/>
                </a:ext>
              </a:extLst>
            </p:cNvPr>
            <p:cNvSpPr/>
            <p:nvPr/>
          </p:nvSpPr>
          <p:spPr>
            <a:xfrm>
              <a:off x="460284" y="2238140"/>
              <a:ext cx="1855475" cy="742190"/>
            </a:xfrm>
            <a:custGeom>
              <a:avLst/>
              <a:gdLst>
                <a:gd name="connsiteX0" fmla="*/ 0 w 1855475"/>
                <a:gd name="connsiteY0" fmla="*/ 0 h 742190"/>
                <a:gd name="connsiteX1" fmla="*/ 1855475 w 1855475"/>
                <a:gd name="connsiteY1" fmla="*/ 0 h 742190"/>
                <a:gd name="connsiteX2" fmla="*/ 1855475 w 1855475"/>
                <a:gd name="connsiteY2" fmla="*/ 742190 h 742190"/>
                <a:gd name="connsiteX3" fmla="*/ 0 w 1855475"/>
                <a:gd name="connsiteY3" fmla="*/ 742190 h 742190"/>
                <a:gd name="connsiteX4" fmla="*/ 0 w 1855475"/>
                <a:gd name="connsiteY4" fmla="*/ 0 h 74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475" h="742190">
                  <a:moveTo>
                    <a:pt x="0" y="0"/>
                  </a:moveTo>
                  <a:lnTo>
                    <a:pt x="1855475" y="0"/>
                  </a:lnTo>
                  <a:lnTo>
                    <a:pt x="1855475" y="742190"/>
                  </a:lnTo>
                  <a:lnTo>
                    <a:pt x="0" y="7421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128" tIns="77216" rIns="135128" bIns="77216" numCol="1" spcCol="1270" rtlCol="1" anchor="ctr" anchorCtr="0">
              <a:noAutofit/>
            </a:bodyPr>
            <a:lstStyle/>
            <a:p>
              <a:pPr marL="0" lvl="0" indent="0" algn="ct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b="1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سلامة الغذاء </a:t>
              </a:r>
              <a:endParaRPr lang="en-US" sz="1900" b="1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2A6EB7-1656-DBE9-9C55-32805CCEECE3}"/>
                </a:ext>
              </a:extLst>
            </p:cNvPr>
            <p:cNvSpPr/>
            <p:nvPr/>
          </p:nvSpPr>
          <p:spPr>
            <a:xfrm>
              <a:off x="460284" y="2980331"/>
              <a:ext cx="1855475" cy="2854800"/>
            </a:xfrm>
            <a:custGeom>
              <a:avLst/>
              <a:gdLst>
                <a:gd name="connsiteX0" fmla="*/ 0 w 1855475"/>
                <a:gd name="connsiteY0" fmla="*/ 0 h 2854800"/>
                <a:gd name="connsiteX1" fmla="*/ 1855475 w 1855475"/>
                <a:gd name="connsiteY1" fmla="*/ 0 h 2854800"/>
                <a:gd name="connsiteX2" fmla="*/ 1855475 w 1855475"/>
                <a:gd name="connsiteY2" fmla="*/ 2854800 h 2854800"/>
                <a:gd name="connsiteX3" fmla="*/ 0 w 1855475"/>
                <a:gd name="connsiteY3" fmla="*/ 2854800 h 2854800"/>
                <a:gd name="connsiteX4" fmla="*/ 0 w 1855475"/>
                <a:gd name="connsiteY4" fmla="*/ 0 h 285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475" h="2854800">
                  <a:moveTo>
                    <a:pt x="0" y="0"/>
                  </a:moveTo>
                  <a:lnTo>
                    <a:pt x="1855475" y="0"/>
                  </a:lnTo>
                  <a:lnTo>
                    <a:pt x="1855475" y="2854800"/>
                  </a:lnTo>
                  <a:lnTo>
                    <a:pt x="0" y="2854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1346" tIns="101346" rIns="135128" bIns="152019" numCol="1" spcCol="1270" rtlCol="1" anchor="t" anchorCtr="0">
              <a:noAutofit/>
            </a:bodyPr>
            <a:lstStyle/>
            <a:p>
              <a:pPr marL="171450" lvl="1" indent="-171450" algn="r" defTabSz="8445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9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سلاسل الشراء والتوريد، واستخدام المواد الكيميائية والمواد الخطرة الأخرى، وكيفية تخزينها والتخلص منها</a:t>
              </a:r>
              <a:endParaRPr lang="en-US" sz="19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64BFA5D-F057-B224-993C-BA7ADC7DC235}"/>
                </a:ext>
              </a:extLst>
            </p:cNvPr>
            <p:cNvSpPr/>
            <p:nvPr/>
          </p:nvSpPr>
          <p:spPr>
            <a:xfrm>
              <a:off x="2575527" y="2238140"/>
              <a:ext cx="1855475" cy="742190"/>
            </a:xfrm>
            <a:custGeom>
              <a:avLst/>
              <a:gdLst>
                <a:gd name="connsiteX0" fmla="*/ 0 w 1855475"/>
                <a:gd name="connsiteY0" fmla="*/ 0 h 742190"/>
                <a:gd name="connsiteX1" fmla="*/ 1855475 w 1855475"/>
                <a:gd name="connsiteY1" fmla="*/ 0 h 742190"/>
                <a:gd name="connsiteX2" fmla="*/ 1855475 w 1855475"/>
                <a:gd name="connsiteY2" fmla="*/ 742190 h 742190"/>
                <a:gd name="connsiteX3" fmla="*/ 0 w 1855475"/>
                <a:gd name="connsiteY3" fmla="*/ 742190 h 742190"/>
                <a:gd name="connsiteX4" fmla="*/ 0 w 1855475"/>
                <a:gd name="connsiteY4" fmla="*/ 0 h 74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475" h="742190">
                  <a:moveTo>
                    <a:pt x="0" y="0"/>
                  </a:moveTo>
                  <a:lnTo>
                    <a:pt x="1855475" y="0"/>
                  </a:lnTo>
                  <a:lnTo>
                    <a:pt x="1855475" y="742190"/>
                  </a:lnTo>
                  <a:lnTo>
                    <a:pt x="0" y="7421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128" tIns="77216" rIns="135128" bIns="77216" numCol="1" spcCol="1270" rtlCol="1" anchor="ctr" anchorCtr="0">
              <a:noAutofit/>
            </a:bodyPr>
            <a:lstStyle/>
            <a:p>
              <a:pPr marL="0" lvl="0" indent="0" algn="ct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b="1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البنية التحتية</a:t>
              </a:r>
              <a:endParaRPr lang="en-US" sz="1900" b="1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5B7C103-8BD0-112B-0D0A-49605F4DD3ED}"/>
                </a:ext>
              </a:extLst>
            </p:cNvPr>
            <p:cNvSpPr/>
            <p:nvPr/>
          </p:nvSpPr>
          <p:spPr>
            <a:xfrm>
              <a:off x="2575527" y="2980331"/>
              <a:ext cx="1855475" cy="2854800"/>
            </a:xfrm>
            <a:custGeom>
              <a:avLst/>
              <a:gdLst>
                <a:gd name="connsiteX0" fmla="*/ 0 w 1855475"/>
                <a:gd name="connsiteY0" fmla="*/ 0 h 2854800"/>
                <a:gd name="connsiteX1" fmla="*/ 1855475 w 1855475"/>
                <a:gd name="connsiteY1" fmla="*/ 0 h 2854800"/>
                <a:gd name="connsiteX2" fmla="*/ 1855475 w 1855475"/>
                <a:gd name="connsiteY2" fmla="*/ 2854800 h 2854800"/>
                <a:gd name="connsiteX3" fmla="*/ 0 w 1855475"/>
                <a:gd name="connsiteY3" fmla="*/ 2854800 h 2854800"/>
                <a:gd name="connsiteX4" fmla="*/ 0 w 1855475"/>
                <a:gd name="connsiteY4" fmla="*/ 0 h 285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475" h="2854800">
                  <a:moveTo>
                    <a:pt x="0" y="0"/>
                  </a:moveTo>
                  <a:lnTo>
                    <a:pt x="1855475" y="0"/>
                  </a:lnTo>
                  <a:lnTo>
                    <a:pt x="1855475" y="2854800"/>
                  </a:lnTo>
                  <a:lnTo>
                    <a:pt x="0" y="2854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1346" tIns="101346" rIns="135128" bIns="152019" numCol="1" spcCol="1270" rtlCol="1" anchor="t" anchorCtr="0">
              <a:noAutofit/>
            </a:bodyPr>
            <a:lstStyle/>
            <a:p>
              <a:pPr marL="171450" lvl="1" indent="-171450" algn="r" defTabSz="8445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9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أعمال ترميم المباني والمحافظة على المرافق والمناطق المحيطة بها</a:t>
              </a:r>
              <a:endParaRPr lang="en-US" sz="19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869797D-8D85-BC50-1932-A29656D61382}"/>
                </a:ext>
              </a:extLst>
            </p:cNvPr>
            <p:cNvSpPr/>
            <p:nvPr/>
          </p:nvSpPr>
          <p:spPr>
            <a:xfrm>
              <a:off x="4690769" y="2238140"/>
              <a:ext cx="1855475" cy="742190"/>
            </a:xfrm>
            <a:custGeom>
              <a:avLst/>
              <a:gdLst>
                <a:gd name="connsiteX0" fmla="*/ 0 w 1855475"/>
                <a:gd name="connsiteY0" fmla="*/ 0 h 742190"/>
                <a:gd name="connsiteX1" fmla="*/ 1855475 w 1855475"/>
                <a:gd name="connsiteY1" fmla="*/ 0 h 742190"/>
                <a:gd name="connsiteX2" fmla="*/ 1855475 w 1855475"/>
                <a:gd name="connsiteY2" fmla="*/ 742190 h 742190"/>
                <a:gd name="connsiteX3" fmla="*/ 0 w 1855475"/>
                <a:gd name="connsiteY3" fmla="*/ 742190 h 742190"/>
                <a:gd name="connsiteX4" fmla="*/ 0 w 1855475"/>
                <a:gd name="connsiteY4" fmla="*/ 0 h 74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475" h="742190">
                  <a:moveTo>
                    <a:pt x="0" y="0"/>
                  </a:moveTo>
                  <a:lnTo>
                    <a:pt x="1855475" y="0"/>
                  </a:lnTo>
                  <a:lnTo>
                    <a:pt x="1855475" y="742190"/>
                  </a:lnTo>
                  <a:lnTo>
                    <a:pt x="0" y="7421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128" tIns="77216" rIns="135128" bIns="77216" numCol="1" spcCol="1270" rtlCol="1" anchor="ctr" anchorCtr="0">
              <a:noAutofit/>
            </a:bodyPr>
            <a:lstStyle/>
            <a:p>
              <a:pPr marL="0" lvl="0" indent="0" algn="ct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b="1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التشريعات</a:t>
              </a:r>
              <a:endParaRPr lang="en-US" sz="1900" b="1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3FE1294-9CA8-8081-C5F2-A1724411DE91}"/>
                </a:ext>
              </a:extLst>
            </p:cNvPr>
            <p:cNvSpPr/>
            <p:nvPr/>
          </p:nvSpPr>
          <p:spPr>
            <a:xfrm>
              <a:off x="4690769" y="2980331"/>
              <a:ext cx="1855475" cy="2854800"/>
            </a:xfrm>
            <a:custGeom>
              <a:avLst/>
              <a:gdLst>
                <a:gd name="connsiteX0" fmla="*/ 0 w 1855475"/>
                <a:gd name="connsiteY0" fmla="*/ 0 h 2854800"/>
                <a:gd name="connsiteX1" fmla="*/ 1855475 w 1855475"/>
                <a:gd name="connsiteY1" fmla="*/ 0 h 2854800"/>
                <a:gd name="connsiteX2" fmla="*/ 1855475 w 1855475"/>
                <a:gd name="connsiteY2" fmla="*/ 2854800 h 2854800"/>
                <a:gd name="connsiteX3" fmla="*/ 0 w 1855475"/>
                <a:gd name="connsiteY3" fmla="*/ 2854800 h 2854800"/>
                <a:gd name="connsiteX4" fmla="*/ 0 w 1855475"/>
                <a:gd name="connsiteY4" fmla="*/ 0 h 285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475" h="2854800">
                  <a:moveTo>
                    <a:pt x="0" y="0"/>
                  </a:moveTo>
                  <a:lnTo>
                    <a:pt x="1855475" y="0"/>
                  </a:lnTo>
                  <a:lnTo>
                    <a:pt x="1855475" y="2854800"/>
                  </a:lnTo>
                  <a:lnTo>
                    <a:pt x="0" y="2854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1346" tIns="101346" rIns="135128" bIns="152019" numCol="1" spcCol="1270" rtlCol="1" anchor="t" anchorCtr="0">
              <a:noAutofit/>
            </a:bodyPr>
            <a:lstStyle/>
            <a:p>
              <a:pPr marL="171450" lvl="1" indent="-171450" algn="r" defTabSz="8445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90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اتباع اللوائح البيئية المطبقة على المؤسسة </a:t>
              </a:r>
              <a:endParaRPr lang="en-US" sz="19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AB11575-BA8C-72F3-2093-5AB37FDF4323}"/>
                </a:ext>
              </a:extLst>
            </p:cNvPr>
            <p:cNvSpPr/>
            <p:nvPr/>
          </p:nvSpPr>
          <p:spPr>
            <a:xfrm>
              <a:off x="6806012" y="2238140"/>
              <a:ext cx="1855475" cy="742190"/>
            </a:xfrm>
            <a:custGeom>
              <a:avLst/>
              <a:gdLst>
                <a:gd name="connsiteX0" fmla="*/ 0 w 1855475"/>
                <a:gd name="connsiteY0" fmla="*/ 0 h 742190"/>
                <a:gd name="connsiteX1" fmla="*/ 1855475 w 1855475"/>
                <a:gd name="connsiteY1" fmla="*/ 0 h 742190"/>
                <a:gd name="connsiteX2" fmla="*/ 1855475 w 1855475"/>
                <a:gd name="connsiteY2" fmla="*/ 742190 h 742190"/>
                <a:gd name="connsiteX3" fmla="*/ 0 w 1855475"/>
                <a:gd name="connsiteY3" fmla="*/ 742190 h 742190"/>
                <a:gd name="connsiteX4" fmla="*/ 0 w 1855475"/>
                <a:gd name="connsiteY4" fmla="*/ 0 h 74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475" h="742190">
                  <a:moveTo>
                    <a:pt x="0" y="0"/>
                  </a:moveTo>
                  <a:lnTo>
                    <a:pt x="1855475" y="0"/>
                  </a:lnTo>
                  <a:lnTo>
                    <a:pt x="1855475" y="742190"/>
                  </a:lnTo>
                  <a:lnTo>
                    <a:pt x="0" y="7421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128" tIns="77216" rIns="135128" bIns="77216" numCol="1" spcCol="1270" rtlCol="1" anchor="ctr" anchorCtr="0">
              <a:noAutofit/>
            </a:bodyPr>
            <a:lstStyle/>
            <a:p>
              <a:pPr marL="0" lvl="0" indent="0" algn="ct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b="1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المنطقة المحلية</a:t>
              </a:r>
              <a:endParaRPr lang="en-US" sz="1900" b="1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8C70C3E-7473-562B-26F4-A10341AF83F9}"/>
                </a:ext>
              </a:extLst>
            </p:cNvPr>
            <p:cNvSpPr/>
            <p:nvPr/>
          </p:nvSpPr>
          <p:spPr>
            <a:xfrm>
              <a:off x="6806012" y="2980331"/>
              <a:ext cx="1855475" cy="2854800"/>
            </a:xfrm>
            <a:custGeom>
              <a:avLst/>
              <a:gdLst>
                <a:gd name="connsiteX0" fmla="*/ 0 w 1855475"/>
                <a:gd name="connsiteY0" fmla="*/ 0 h 2854800"/>
                <a:gd name="connsiteX1" fmla="*/ 1855475 w 1855475"/>
                <a:gd name="connsiteY1" fmla="*/ 0 h 2854800"/>
                <a:gd name="connsiteX2" fmla="*/ 1855475 w 1855475"/>
                <a:gd name="connsiteY2" fmla="*/ 2854800 h 2854800"/>
                <a:gd name="connsiteX3" fmla="*/ 0 w 1855475"/>
                <a:gd name="connsiteY3" fmla="*/ 2854800 h 2854800"/>
                <a:gd name="connsiteX4" fmla="*/ 0 w 1855475"/>
                <a:gd name="connsiteY4" fmla="*/ 0 h 285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475" h="2854800">
                  <a:moveTo>
                    <a:pt x="0" y="0"/>
                  </a:moveTo>
                  <a:lnTo>
                    <a:pt x="1855475" y="0"/>
                  </a:lnTo>
                  <a:lnTo>
                    <a:pt x="1855475" y="2854800"/>
                  </a:lnTo>
                  <a:lnTo>
                    <a:pt x="0" y="2854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1346" tIns="101346" rIns="135128" bIns="152019" numCol="1" spcCol="1270" rtlCol="1" anchor="t" anchorCtr="0">
              <a:noAutofit/>
            </a:bodyPr>
            <a:lstStyle/>
            <a:p>
              <a:pPr marL="171450" lvl="1" indent="-171450" algn="r" defTabSz="84455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19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أثر شركة الضيافة </a:t>
              </a:r>
              <a:r>
                <a:rPr lang="ar-JO" sz="19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في</a:t>
              </a:r>
              <a:r>
                <a:rPr lang="ar" sz="19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المجتمع المحلي وموائل الحياة البرية والمناظر الطبيعية </a:t>
              </a:r>
              <a:endParaRPr lang="en-US" sz="190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7101082-DE3E-6FCF-78B1-C81F06B3D1AC}"/>
              </a:ext>
            </a:extLst>
          </p:cNvPr>
          <p:cNvSpPr txBox="1"/>
          <p:nvPr/>
        </p:nvSpPr>
        <p:spPr>
          <a:xfrm>
            <a:off x="837929" y="5877272"/>
            <a:ext cx="784887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النقاط الأخرى التي يمكن تضمينها في سياسة الاستدامة للمجالات الأربعة.؟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33C1ADE0-DA66-5E1E-0780-DF13B56044B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79068114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16A53E-4B8D-4BC8-DFED-974C03A8A61B}"/>
              </a:ext>
            </a:extLst>
          </p:cNvPr>
          <p:cNvGrpSpPr/>
          <p:nvPr/>
        </p:nvGrpSpPr>
        <p:grpSpPr>
          <a:xfrm flipH="1">
            <a:off x="1782921" y="2204864"/>
            <a:ext cx="5578157" cy="3960440"/>
            <a:chOff x="1782921" y="2204864"/>
            <a:chExt cx="5578157" cy="3960440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A824DA97-AAE4-EAAE-4897-5D5367219065}"/>
                </a:ext>
              </a:extLst>
            </p:cNvPr>
            <p:cNvSpPr/>
            <p:nvPr/>
          </p:nvSpPr>
          <p:spPr>
            <a:xfrm>
              <a:off x="1782921" y="2204864"/>
              <a:ext cx="3960440" cy="3960440"/>
            </a:xfrm>
            <a:prstGeom prst="triangl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6BCA3E0-48E5-184F-3374-B5714AF41C42}"/>
                </a:ext>
              </a:extLst>
            </p:cNvPr>
            <p:cNvSpPr/>
            <p:nvPr/>
          </p:nvSpPr>
          <p:spPr>
            <a:xfrm>
              <a:off x="3656359" y="2601294"/>
              <a:ext cx="2787848" cy="563125"/>
            </a:xfrm>
            <a:custGeom>
              <a:avLst/>
              <a:gdLst>
                <a:gd name="connsiteX0" fmla="*/ 0 w 2787848"/>
                <a:gd name="connsiteY0" fmla="*/ 93856 h 563125"/>
                <a:gd name="connsiteX1" fmla="*/ 93856 w 2787848"/>
                <a:gd name="connsiteY1" fmla="*/ 0 h 563125"/>
                <a:gd name="connsiteX2" fmla="*/ 2693992 w 2787848"/>
                <a:gd name="connsiteY2" fmla="*/ 0 h 563125"/>
                <a:gd name="connsiteX3" fmla="*/ 2787848 w 2787848"/>
                <a:gd name="connsiteY3" fmla="*/ 93856 h 563125"/>
                <a:gd name="connsiteX4" fmla="*/ 2787848 w 2787848"/>
                <a:gd name="connsiteY4" fmla="*/ 469269 h 563125"/>
                <a:gd name="connsiteX5" fmla="*/ 2693992 w 2787848"/>
                <a:gd name="connsiteY5" fmla="*/ 563125 h 563125"/>
                <a:gd name="connsiteX6" fmla="*/ 93856 w 2787848"/>
                <a:gd name="connsiteY6" fmla="*/ 563125 h 563125"/>
                <a:gd name="connsiteX7" fmla="*/ 0 w 2787848"/>
                <a:gd name="connsiteY7" fmla="*/ 469269 h 563125"/>
                <a:gd name="connsiteX8" fmla="*/ 0 w 2787848"/>
                <a:gd name="connsiteY8" fmla="*/ 93856 h 56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87848" h="563125">
                  <a:moveTo>
                    <a:pt x="0" y="93856"/>
                  </a:moveTo>
                  <a:cubicBezTo>
                    <a:pt x="0" y="42021"/>
                    <a:pt x="42021" y="0"/>
                    <a:pt x="93856" y="0"/>
                  </a:cubicBezTo>
                  <a:lnTo>
                    <a:pt x="2693992" y="0"/>
                  </a:lnTo>
                  <a:cubicBezTo>
                    <a:pt x="2745827" y="0"/>
                    <a:pt x="2787848" y="42021"/>
                    <a:pt x="2787848" y="93856"/>
                  </a:cubicBezTo>
                  <a:lnTo>
                    <a:pt x="2787848" y="469269"/>
                  </a:lnTo>
                  <a:cubicBezTo>
                    <a:pt x="2787848" y="521104"/>
                    <a:pt x="2745827" y="563125"/>
                    <a:pt x="2693992" y="563125"/>
                  </a:cubicBezTo>
                  <a:lnTo>
                    <a:pt x="93856" y="563125"/>
                  </a:lnTo>
                  <a:cubicBezTo>
                    <a:pt x="42021" y="563125"/>
                    <a:pt x="0" y="521104"/>
                    <a:pt x="0" y="469269"/>
                  </a:cubicBezTo>
                  <a:lnTo>
                    <a:pt x="0" y="9385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449" tIns="88449" rIns="88449" bIns="88449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الذي ينطبق عليه الهدف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BF948DA-1451-1571-F7B4-DB19688BE94F}"/>
                </a:ext>
              </a:extLst>
            </p:cNvPr>
            <p:cNvSpPr/>
            <p:nvPr/>
          </p:nvSpPr>
          <p:spPr>
            <a:xfrm>
              <a:off x="3286923" y="3234810"/>
              <a:ext cx="3526720" cy="563125"/>
            </a:xfrm>
            <a:custGeom>
              <a:avLst/>
              <a:gdLst>
                <a:gd name="connsiteX0" fmla="*/ 0 w 3526720"/>
                <a:gd name="connsiteY0" fmla="*/ 93856 h 563125"/>
                <a:gd name="connsiteX1" fmla="*/ 93856 w 3526720"/>
                <a:gd name="connsiteY1" fmla="*/ 0 h 563125"/>
                <a:gd name="connsiteX2" fmla="*/ 3432864 w 3526720"/>
                <a:gd name="connsiteY2" fmla="*/ 0 h 563125"/>
                <a:gd name="connsiteX3" fmla="*/ 3526720 w 3526720"/>
                <a:gd name="connsiteY3" fmla="*/ 93856 h 563125"/>
                <a:gd name="connsiteX4" fmla="*/ 3526720 w 3526720"/>
                <a:gd name="connsiteY4" fmla="*/ 469269 h 563125"/>
                <a:gd name="connsiteX5" fmla="*/ 3432864 w 3526720"/>
                <a:gd name="connsiteY5" fmla="*/ 563125 h 563125"/>
                <a:gd name="connsiteX6" fmla="*/ 93856 w 3526720"/>
                <a:gd name="connsiteY6" fmla="*/ 563125 h 563125"/>
                <a:gd name="connsiteX7" fmla="*/ 0 w 3526720"/>
                <a:gd name="connsiteY7" fmla="*/ 469269 h 563125"/>
                <a:gd name="connsiteX8" fmla="*/ 0 w 3526720"/>
                <a:gd name="connsiteY8" fmla="*/ 93856 h 56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26720" h="563125">
                  <a:moveTo>
                    <a:pt x="0" y="93856"/>
                  </a:moveTo>
                  <a:cubicBezTo>
                    <a:pt x="0" y="42021"/>
                    <a:pt x="42021" y="0"/>
                    <a:pt x="93856" y="0"/>
                  </a:cubicBezTo>
                  <a:lnTo>
                    <a:pt x="3432864" y="0"/>
                  </a:lnTo>
                  <a:cubicBezTo>
                    <a:pt x="3484699" y="0"/>
                    <a:pt x="3526720" y="42021"/>
                    <a:pt x="3526720" y="93856"/>
                  </a:cubicBezTo>
                  <a:lnTo>
                    <a:pt x="3526720" y="469269"/>
                  </a:lnTo>
                  <a:cubicBezTo>
                    <a:pt x="3526720" y="521104"/>
                    <a:pt x="3484699" y="563125"/>
                    <a:pt x="3432864" y="563125"/>
                  </a:cubicBezTo>
                  <a:lnTo>
                    <a:pt x="93856" y="563125"/>
                  </a:lnTo>
                  <a:cubicBezTo>
                    <a:pt x="42021" y="563125"/>
                    <a:pt x="0" y="521104"/>
                    <a:pt x="0" y="469269"/>
                  </a:cubicBezTo>
                  <a:lnTo>
                    <a:pt x="0" y="9385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449" tIns="88449" rIns="88449" bIns="88449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متى يُتوقع تحقيق الهدف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86E91B-1C6C-05E1-DF79-D01F9C5D666F}"/>
                </a:ext>
              </a:extLst>
            </p:cNvPr>
            <p:cNvSpPr/>
            <p:nvPr/>
          </p:nvSpPr>
          <p:spPr>
            <a:xfrm>
              <a:off x="2777948" y="3868326"/>
              <a:ext cx="4544670" cy="563125"/>
            </a:xfrm>
            <a:custGeom>
              <a:avLst/>
              <a:gdLst>
                <a:gd name="connsiteX0" fmla="*/ 0 w 4544670"/>
                <a:gd name="connsiteY0" fmla="*/ 93856 h 563125"/>
                <a:gd name="connsiteX1" fmla="*/ 93856 w 4544670"/>
                <a:gd name="connsiteY1" fmla="*/ 0 h 563125"/>
                <a:gd name="connsiteX2" fmla="*/ 4450814 w 4544670"/>
                <a:gd name="connsiteY2" fmla="*/ 0 h 563125"/>
                <a:gd name="connsiteX3" fmla="*/ 4544670 w 4544670"/>
                <a:gd name="connsiteY3" fmla="*/ 93856 h 563125"/>
                <a:gd name="connsiteX4" fmla="*/ 4544670 w 4544670"/>
                <a:gd name="connsiteY4" fmla="*/ 469269 h 563125"/>
                <a:gd name="connsiteX5" fmla="*/ 4450814 w 4544670"/>
                <a:gd name="connsiteY5" fmla="*/ 563125 h 563125"/>
                <a:gd name="connsiteX6" fmla="*/ 93856 w 4544670"/>
                <a:gd name="connsiteY6" fmla="*/ 563125 h 563125"/>
                <a:gd name="connsiteX7" fmla="*/ 0 w 4544670"/>
                <a:gd name="connsiteY7" fmla="*/ 469269 h 563125"/>
                <a:gd name="connsiteX8" fmla="*/ 0 w 4544670"/>
                <a:gd name="connsiteY8" fmla="*/ 93856 h 56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44670" h="563125">
                  <a:moveTo>
                    <a:pt x="0" y="93856"/>
                  </a:moveTo>
                  <a:cubicBezTo>
                    <a:pt x="0" y="42021"/>
                    <a:pt x="42021" y="0"/>
                    <a:pt x="93856" y="0"/>
                  </a:cubicBezTo>
                  <a:lnTo>
                    <a:pt x="4450814" y="0"/>
                  </a:lnTo>
                  <a:cubicBezTo>
                    <a:pt x="4502649" y="0"/>
                    <a:pt x="4544670" y="42021"/>
                    <a:pt x="4544670" y="93856"/>
                  </a:cubicBezTo>
                  <a:lnTo>
                    <a:pt x="4544670" y="469269"/>
                  </a:lnTo>
                  <a:cubicBezTo>
                    <a:pt x="4544670" y="521104"/>
                    <a:pt x="4502649" y="563125"/>
                    <a:pt x="4450814" y="563125"/>
                  </a:cubicBezTo>
                  <a:lnTo>
                    <a:pt x="93856" y="563125"/>
                  </a:lnTo>
                  <a:cubicBezTo>
                    <a:pt x="42021" y="563125"/>
                    <a:pt x="0" y="521104"/>
                    <a:pt x="0" y="469269"/>
                  </a:cubicBezTo>
                  <a:lnTo>
                    <a:pt x="0" y="9385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449" tIns="88449" rIns="88449" bIns="88449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من سيكون مسؤولًا عن إدارة الجهد لتحقيق التغييرات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4194CFA-ECAF-C42F-F199-B787B4DE2B86}"/>
                </a:ext>
              </a:extLst>
            </p:cNvPr>
            <p:cNvSpPr/>
            <p:nvPr/>
          </p:nvSpPr>
          <p:spPr>
            <a:xfrm>
              <a:off x="3800378" y="4501841"/>
              <a:ext cx="2499811" cy="563125"/>
            </a:xfrm>
            <a:custGeom>
              <a:avLst/>
              <a:gdLst>
                <a:gd name="connsiteX0" fmla="*/ 0 w 2499811"/>
                <a:gd name="connsiteY0" fmla="*/ 93856 h 563125"/>
                <a:gd name="connsiteX1" fmla="*/ 93856 w 2499811"/>
                <a:gd name="connsiteY1" fmla="*/ 0 h 563125"/>
                <a:gd name="connsiteX2" fmla="*/ 2405955 w 2499811"/>
                <a:gd name="connsiteY2" fmla="*/ 0 h 563125"/>
                <a:gd name="connsiteX3" fmla="*/ 2499811 w 2499811"/>
                <a:gd name="connsiteY3" fmla="*/ 93856 h 563125"/>
                <a:gd name="connsiteX4" fmla="*/ 2499811 w 2499811"/>
                <a:gd name="connsiteY4" fmla="*/ 469269 h 563125"/>
                <a:gd name="connsiteX5" fmla="*/ 2405955 w 2499811"/>
                <a:gd name="connsiteY5" fmla="*/ 563125 h 563125"/>
                <a:gd name="connsiteX6" fmla="*/ 93856 w 2499811"/>
                <a:gd name="connsiteY6" fmla="*/ 563125 h 563125"/>
                <a:gd name="connsiteX7" fmla="*/ 0 w 2499811"/>
                <a:gd name="connsiteY7" fmla="*/ 469269 h 563125"/>
                <a:gd name="connsiteX8" fmla="*/ 0 w 2499811"/>
                <a:gd name="connsiteY8" fmla="*/ 93856 h 56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99811" h="563125">
                  <a:moveTo>
                    <a:pt x="0" y="93856"/>
                  </a:moveTo>
                  <a:cubicBezTo>
                    <a:pt x="0" y="42021"/>
                    <a:pt x="42021" y="0"/>
                    <a:pt x="93856" y="0"/>
                  </a:cubicBezTo>
                  <a:lnTo>
                    <a:pt x="2405955" y="0"/>
                  </a:lnTo>
                  <a:cubicBezTo>
                    <a:pt x="2457790" y="0"/>
                    <a:pt x="2499811" y="42021"/>
                    <a:pt x="2499811" y="93856"/>
                  </a:cubicBezTo>
                  <a:lnTo>
                    <a:pt x="2499811" y="469269"/>
                  </a:lnTo>
                  <a:cubicBezTo>
                    <a:pt x="2499811" y="521104"/>
                    <a:pt x="2457790" y="563125"/>
                    <a:pt x="2405955" y="563125"/>
                  </a:cubicBezTo>
                  <a:lnTo>
                    <a:pt x="93856" y="563125"/>
                  </a:lnTo>
                  <a:cubicBezTo>
                    <a:pt x="42021" y="563125"/>
                    <a:pt x="0" y="521104"/>
                    <a:pt x="0" y="469269"/>
                  </a:cubicBezTo>
                  <a:lnTo>
                    <a:pt x="0" y="9385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449" tIns="88449" rIns="88449" bIns="88449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مراقبة الامتثال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CCEA2AF-2D61-B14E-5A3E-7B5220655FFB}"/>
                </a:ext>
              </a:extLst>
            </p:cNvPr>
            <p:cNvSpPr/>
            <p:nvPr/>
          </p:nvSpPr>
          <p:spPr>
            <a:xfrm>
              <a:off x="2739489" y="5135357"/>
              <a:ext cx="4621589" cy="563125"/>
            </a:xfrm>
            <a:custGeom>
              <a:avLst/>
              <a:gdLst>
                <a:gd name="connsiteX0" fmla="*/ 0 w 4621589"/>
                <a:gd name="connsiteY0" fmla="*/ 93856 h 563125"/>
                <a:gd name="connsiteX1" fmla="*/ 93856 w 4621589"/>
                <a:gd name="connsiteY1" fmla="*/ 0 h 563125"/>
                <a:gd name="connsiteX2" fmla="*/ 4527733 w 4621589"/>
                <a:gd name="connsiteY2" fmla="*/ 0 h 563125"/>
                <a:gd name="connsiteX3" fmla="*/ 4621589 w 4621589"/>
                <a:gd name="connsiteY3" fmla="*/ 93856 h 563125"/>
                <a:gd name="connsiteX4" fmla="*/ 4621589 w 4621589"/>
                <a:gd name="connsiteY4" fmla="*/ 469269 h 563125"/>
                <a:gd name="connsiteX5" fmla="*/ 4527733 w 4621589"/>
                <a:gd name="connsiteY5" fmla="*/ 563125 h 563125"/>
                <a:gd name="connsiteX6" fmla="*/ 93856 w 4621589"/>
                <a:gd name="connsiteY6" fmla="*/ 563125 h 563125"/>
                <a:gd name="connsiteX7" fmla="*/ 0 w 4621589"/>
                <a:gd name="connsiteY7" fmla="*/ 469269 h 563125"/>
                <a:gd name="connsiteX8" fmla="*/ 0 w 4621589"/>
                <a:gd name="connsiteY8" fmla="*/ 93856 h 56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21589" h="563125">
                  <a:moveTo>
                    <a:pt x="0" y="93856"/>
                  </a:moveTo>
                  <a:cubicBezTo>
                    <a:pt x="0" y="42021"/>
                    <a:pt x="42021" y="0"/>
                    <a:pt x="93856" y="0"/>
                  </a:cubicBezTo>
                  <a:lnTo>
                    <a:pt x="4527733" y="0"/>
                  </a:lnTo>
                  <a:cubicBezTo>
                    <a:pt x="4579568" y="0"/>
                    <a:pt x="4621589" y="42021"/>
                    <a:pt x="4621589" y="93856"/>
                  </a:cubicBezTo>
                  <a:lnTo>
                    <a:pt x="4621589" y="469269"/>
                  </a:lnTo>
                  <a:cubicBezTo>
                    <a:pt x="4621589" y="521104"/>
                    <a:pt x="4579568" y="563125"/>
                    <a:pt x="4527733" y="563125"/>
                  </a:cubicBezTo>
                  <a:lnTo>
                    <a:pt x="93856" y="563125"/>
                  </a:lnTo>
                  <a:cubicBezTo>
                    <a:pt x="42021" y="563125"/>
                    <a:pt x="0" y="521104"/>
                    <a:pt x="0" y="469269"/>
                  </a:cubicBezTo>
                  <a:lnTo>
                    <a:pt x="0" y="9385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449" tIns="88449" rIns="88449" bIns="88449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مراقبة تحقيق الأهداف </a:t>
              </a:r>
            </a:p>
          </p:txBody>
        </p:sp>
      </p:grp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الأهداف</a:t>
            </a: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B401B-DB6A-094E-8D40-836727242357}"/>
              </a:ext>
            </a:extLst>
          </p:cNvPr>
          <p:cNvSpPr txBox="1"/>
          <p:nvPr/>
        </p:nvSpPr>
        <p:spPr>
          <a:xfrm>
            <a:off x="6327700" y="2265553"/>
            <a:ext cx="259228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لماذا من المهم تحديد الأهداف للسياسة البيئية؟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168C020-5F44-8B34-FEA7-8EC05B03C12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74530072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73" y="1064338"/>
            <a:ext cx="8219255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تحفيز الموظفين وتدريبهم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DA6EB8E-DCB9-D55D-9576-924D13174A14}"/>
              </a:ext>
            </a:extLst>
          </p:cNvPr>
          <p:cNvGrpSpPr/>
          <p:nvPr/>
        </p:nvGrpSpPr>
        <p:grpSpPr>
          <a:xfrm flipH="1">
            <a:off x="1239253" y="3009273"/>
            <a:ext cx="6943182" cy="3221571"/>
            <a:chOff x="1239253" y="3009273"/>
            <a:chExt cx="6943182" cy="3221571"/>
          </a:xfrm>
        </p:grpSpPr>
        <p:sp>
          <p:nvSpPr>
            <p:cNvPr id="3" name="Rectangle 2" descr="Chat">
              <a:extLst>
                <a:ext uri="{FF2B5EF4-FFF2-40B4-BE49-F238E27FC236}">
                  <a16:creationId xmlns:a16="http://schemas.microsoft.com/office/drawing/2014/main" id="{4E55A9B0-F96B-0BE5-D950-DEDABD99F728}"/>
                </a:ext>
              </a:extLst>
            </p:cNvPr>
            <p:cNvSpPr/>
            <p:nvPr/>
          </p:nvSpPr>
          <p:spPr>
            <a:xfrm>
              <a:off x="1912429" y="3009273"/>
              <a:ext cx="633603" cy="633603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4A1CBD4-A72A-A1B2-E766-6C2AD64C1F30}"/>
                </a:ext>
              </a:extLst>
            </p:cNvPr>
            <p:cNvSpPr/>
            <p:nvPr/>
          </p:nvSpPr>
          <p:spPr>
            <a:xfrm>
              <a:off x="1239253" y="3880854"/>
              <a:ext cx="1979954" cy="563203"/>
            </a:xfrm>
            <a:custGeom>
              <a:avLst/>
              <a:gdLst>
                <a:gd name="connsiteX0" fmla="*/ 0 w 1979954"/>
                <a:gd name="connsiteY0" fmla="*/ 0 h 563203"/>
                <a:gd name="connsiteX1" fmla="*/ 1979954 w 1979954"/>
                <a:gd name="connsiteY1" fmla="*/ 0 h 563203"/>
                <a:gd name="connsiteX2" fmla="*/ 1979954 w 1979954"/>
                <a:gd name="connsiteY2" fmla="*/ 563203 h 563203"/>
                <a:gd name="connsiteX3" fmla="*/ 0 w 1979954"/>
                <a:gd name="connsiteY3" fmla="*/ 563203 h 563203"/>
                <a:gd name="connsiteX4" fmla="*/ 0 w 1979954"/>
                <a:gd name="connsiteY4" fmla="*/ 0 h 56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9954" h="563203">
                  <a:moveTo>
                    <a:pt x="0" y="0"/>
                  </a:moveTo>
                  <a:lnTo>
                    <a:pt x="1979954" y="0"/>
                  </a:lnTo>
                  <a:lnTo>
                    <a:pt x="1979954" y="563203"/>
                  </a:lnTo>
                  <a:lnTo>
                    <a:pt x="0" y="5632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الوعي والتواصل</a:t>
              </a:r>
              <a:endParaRPr lang="en-US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Rectangle 5" descr="Teacher">
              <a:extLst>
                <a:ext uri="{FF2B5EF4-FFF2-40B4-BE49-F238E27FC236}">
                  <a16:creationId xmlns:a16="http://schemas.microsoft.com/office/drawing/2014/main" id="{584E9BC2-9630-B445-48A1-8F7C5AB2535E}"/>
                </a:ext>
              </a:extLst>
            </p:cNvPr>
            <p:cNvSpPr/>
            <p:nvPr/>
          </p:nvSpPr>
          <p:spPr>
            <a:xfrm>
              <a:off x="3852812" y="3009273"/>
              <a:ext cx="633603" cy="633603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F8442E0-3025-640E-4D9B-9A17D3C358D8}"/>
                </a:ext>
              </a:extLst>
            </p:cNvPr>
            <p:cNvSpPr/>
            <p:nvPr/>
          </p:nvSpPr>
          <p:spPr>
            <a:xfrm>
              <a:off x="3465609" y="3880854"/>
              <a:ext cx="1408007" cy="563203"/>
            </a:xfrm>
            <a:custGeom>
              <a:avLst/>
              <a:gdLst>
                <a:gd name="connsiteX0" fmla="*/ 0 w 1408007"/>
                <a:gd name="connsiteY0" fmla="*/ 0 h 563203"/>
                <a:gd name="connsiteX1" fmla="*/ 1408007 w 1408007"/>
                <a:gd name="connsiteY1" fmla="*/ 0 h 563203"/>
                <a:gd name="connsiteX2" fmla="*/ 1408007 w 1408007"/>
                <a:gd name="connsiteY2" fmla="*/ 563203 h 563203"/>
                <a:gd name="connsiteX3" fmla="*/ 0 w 1408007"/>
                <a:gd name="connsiteY3" fmla="*/ 563203 h 563203"/>
                <a:gd name="connsiteX4" fmla="*/ 0 w 1408007"/>
                <a:gd name="connsiteY4" fmla="*/ 0 h 56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8007" h="563203">
                  <a:moveTo>
                    <a:pt x="0" y="0"/>
                  </a:moveTo>
                  <a:lnTo>
                    <a:pt x="1408007" y="0"/>
                  </a:lnTo>
                  <a:lnTo>
                    <a:pt x="1408007" y="563203"/>
                  </a:lnTo>
                  <a:lnTo>
                    <a:pt x="0" y="5632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التدريب</a:t>
              </a:r>
              <a:endParaRPr lang="en-US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Rectangle 7" descr="Money">
              <a:extLst>
                <a:ext uri="{FF2B5EF4-FFF2-40B4-BE49-F238E27FC236}">
                  <a16:creationId xmlns:a16="http://schemas.microsoft.com/office/drawing/2014/main" id="{0DBB3104-2A66-E40B-DAA9-78C663E96E6C}"/>
                </a:ext>
              </a:extLst>
            </p:cNvPr>
            <p:cNvSpPr/>
            <p:nvPr/>
          </p:nvSpPr>
          <p:spPr>
            <a:xfrm>
              <a:off x="5507221" y="3009273"/>
              <a:ext cx="633603" cy="633603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BEB3097-3168-E179-D23D-AF6D7FFCB49B}"/>
                </a:ext>
              </a:extLst>
            </p:cNvPr>
            <p:cNvSpPr/>
            <p:nvPr/>
          </p:nvSpPr>
          <p:spPr>
            <a:xfrm>
              <a:off x="5120019" y="3880854"/>
              <a:ext cx="1408007" cy="563203"/>
            </a:xfrm>
            <a:custGeom>
              <a:avLst/>
              <a:gdLst>
                <a:gd name="connsiteX0" fmla="*/ 0 w 1408007"/>
                <a:gd name="connsiteY0" fmla="*/ 0 h 563203"/>
                <a:gd name="connsiteX1" fmla="*/ 1408007 w 1408007"/>
                <a:gd name="connsiteY1" fmla="*/ 0 h 563203"/>
                <a:gd name="connsiteX2" fmla="*/ 1408007 w 1408007"/>
                <a:gd name="connsiteY2" fmla="*/ 563203 h 563203"/>
                <a:gd name="connsiteX3" fmla="*/ 0 w 1408007"/>
                <a:gd name="connsiteY3" fmla="*/ 563203 h 563203"/>
                <a:gd name="connsiteX4" fmla="*/ 0 w 1408007"/>
                <a:gd name="connsiteY4" fmla="*/ 0 h 56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8007" h="563203">
                  <a:moveTo>
                    <a:pt x="0" y="0"/>
                  </a:moveTo>
                  <a:lnTo>
                    <a:pt x="1408007" y="0"/>
                  </a:lnTo>
                  <a:lnTo>
                    <a:pt x="1408007" y="563203"/>
                  </a:lnTo>
                  <a:lnTo>
                    <a:pt x="0" y="5632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الدعم المادي والفني</a:t>
              </a:r>
              <a:endParaRPr lang="en-US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Rectangle 9" descr="Group">
              <a:extLst>
                <a:ext uri="{FF2B5EF4-FFF2-40B4-BE49-F238E27FC236}">
                  <a16:creationId xmlns:a16="http://schemas.microsoft.com/office/drawing/2014/main" id="{74D4D173-BDA1-99C3-FC00-767556E97950}"/>
                </a:ext>
              </a:extLst>
            </p:cNvPr>
            <p:cNvSpPr/>
            <p:nvPr/>
          </p:nvSpPr>
          <p:spPr>
            <a:xfrm>
              <a:off x="7161630" y="3009273"/>
              <a:ext cx="633603" cy="633603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93C1788-9596-B873-4200-3E437BC45E44}"/>
                </a:ext>
              </a:extLst>
            </p:cNvPr>
            <p:cNvSpPr/>
            <p:nvPr/>
          </p:nvSpPr>
          <p:spPr>
            <a:xfrm>
              <a:off x="6774428" y="3880854"/>
              <a:ext cx="1408007" cy="563203"/>
            </a:xfrm>
            <a:custGeom>
              <a:avLst/>
              <a:gdLst>
                <a:gd name="connsiteX0" fmla="*/ 0 w 1408007"/>
                <a:gd name="connsiteY0" fmla="*/ 0 h 563203"/>
                <a:gd name="connsiteX1" fmla="*/ 1408007 w 1408007"/>
                <a:gd name="connsiteY1" fmla="*/ 0 h 563203"/>
                <a:gd name="connsiteX2" fmla="*/ 1408007 w 1408007"/>
                <a:gd name="connsiteY2" fmla="*/ 563203 h 563203"/>
                <a:gd name="connsiteX3" fmla="*/ 0 w 1408007"/>
                <a:gd name="connsiteY3" fmla="*/ 563203 h 563203"/>
                <a:gd name="connsiteX4" fmla="*/ 0 w 1408007"/>
                <a:gd name="connsiteY4" fmla="*/ 0 h 56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8007" h="563203">
                  <a:moveTo>
                    <a:pt x="0" y="0"/>
                  </a:moveTo>
                  <a:lnTo>
                    <a:pt x="1408007" y="0"/>
                  </a:lnTo>
                  <a:lnTo>
                    <a:pt x="1408007" y="563203"/>
                  </a:lnTo>
                  <a:lnTo>
                    <a:pt x="0" y="5632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بناء الفريق</a:t>
              </a:r>
              <a:endParaRPr lang="en-US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Rectangle 11" descr="Ribbon">
              <a:extLst>
                <a:ext uri="{FF2B5EF4-FFF2-40B4-BE49-F238E27FC236}">
                  <a16:creationId xmlns:a16="http://schemas.microsoft.com/office/drawing/2014/main" id="{C8E8A5B8-D646-B776-3671-5A58A51FEFB9}"/>
                </a:ext>
              </a:extLst>
            </p:cNvPr>
            <p:cNvSpPr/>
            <p:nvPr/>
          </p:nvSpPr>
          <p:spPr>
            <a:xfrm>
              <a:off x="3566838" y="4796059"/>
              <a:ext cx="633603" cy="633603"/>
            </a:xfrm>
            <a:prstGeom prst="rect">
              <a:avLst/>
            </a:prstGeom>
            <a:blipFill>
              <a:blip r:embed="rId12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BBC90A-EE87-3EC2-C66D-EAA0CC06E591}"/>
                </a:ext>
              </a:extLst>
            </p:cNvPr>
            <p:cNvSpPr/>
            <p:nvPr/>
          </p:nvSpPr>
          <p:spPr>
            <a:xfrm>
              <a:off x="3179636" y="5667641"/>
              <a:ext cx="1408007" cy="563203"/>
            </a:xfrm>
            <a:custGeom>
              <a:avLst/>
              <a:gdLst>
                <a:gd name="connsiteX0" fmla="*/ 0 w 1408007"/>
                <a:gd name="connsiteY0" fmla="*/ 0 h 563203"/>
                <a:gd name="connsiteX1" fmla="*/ 1408007 w 1408007"/>
                <a:gd name="connsiteY1" fmla="*/ 0 h 563203"/>
                <a:gd name="connsiteX2" fmla="*/ 1408007 w 1408007"/>
                <a:gd name="connsiteY2" fmla="*/ 563203 h 563203"/>
                <a:gd name="connsiteX3" fmla="*/ 0 w 1408007"/>
                <a:gd name="connsiteY3" fmla="*/ 563203 h 563203"/>
                <a:gd name="connsiteX4" fmla="*/ 0 w 1408007"/>
                <a:gd name="connsiteY4" fmla="*/ 0 h 56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8007" h="563203">
                  <a:moveTo>
                    <a:pt x="0" y="0"/>
                  </a:moveTo>
                  <a:lnTo>
                    <a:pt x="1408007" y="0"/>
                  </a:lnTo>
                  <a:lnTo>
                    <a:pt x="1408007" y="563203"/>
                  </a:lnTo>
                  <a:lnTo>
                    <a:pt x="0" y="5632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الإشادة بالجهود المبذولة ومكافأتها</a:t>
              </a:r>
              <a:endParaRPr lang="en-US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Rectangle 13" descr="Medal">
              <a:extLst>
                <a:ext uri="{FF2B5EF4-FFF2-40B4-BE49-F238E27FC236}">
                  <a16:creationId xmlns:a16="http://schemas.microsoft.com/office/drawing/2014/main" id="{DE6AC87F-C511-EA4B-56EE-C168F86EFEEB}"/>
                </a:ext>
              </a:extLst>
            </p:cNvPr>
            <p:cNvSpPr/>
            <p:nvPr/>
          </p:nvSpPr>
          <p:spPr>
            <a:xfrm>
              <a:off x="5221247" y="4796059"/>
              <a:ext cx="633603" cy="633603"/>
            </a:xfrm>
            <a:prstGeom prst="rect">
              <a:avLst/>
            </a:prstGeom>
            <a:blipFill>
              <a:blip r:embed="rId1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FC692E7-9A8F-D7EA-72FD-E360287B2A8A}"/>
                </a:ext>
              </a:extLst>
            </p:cNvPr>
            <p:cNvSpPr/>
            <p:nvPr/>
          </p:nvSpPr>
          <p:spPr>
            <a:xfrm>
              <a:off x="4834045" y="5667641"/>
              <a:ext cx="1408007" cy="563203"/>
            </a:xfrm>
            <a:custGeom>
              <a:avLst/>
              <a:gdLst>
                <a:gd name="connsiteX0" fmla="*/ 0 w 1408007"/>
                <a:gd name="connsiteY0" fmla="*/ 0 h 563203"/>
                <a:gd name="connsiteX1" fmla="*/ 1408007 w 1408007"/>
                <a:gd name="connsiteY1" fmla="*/ 0 h 563203"/>
                <a:gd name="connsiteX2" fmla="*/ 1408007 w 1408007"/>
                <a:gd name="connsiteY2" fmla="*/ 563203 h 563203"/>
                <a:gd name="connsiteX3" fmla="*/ 0 w 1408007"/>
                <a:gd name="connsiteY3" fmla="*/ 563203 h 563203"/>
                <a:gd name="connsiteX4" fmla="*/ 0 w 1408007"/>
                <a:gd name="connsiteY4" fmla="*/ 0 h 56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8007" h="563203">
                  <a:moveTo>
                    <a:pt x="0" y="0"/>
                  </a:moveTo>
                  <a:lnTo>
                    <a:pt x="1408007" y="0"/>
                  </a:lnTo>
                  <a:lnTo>
                    <a:pt x="1408007" y="563203"/>
                  </a:lnTo>
                  <a:lnTo>
                    <a:pt x="0" y="5632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تسليط الضوء على النجاح. </a:t>
              </a:r>
              <a:endParaRPr lang="en-US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3D4DE02-9BD9-F380-042D-05E6B26199D1}"/>
              </a:ext>
            </a:extLst>
          </p:cNvPr>
          <p:cNvSpPr txBox="1"/>
          <p:nvPr/>
        </p:nvSpPr>
        <p:spPr>
          <a:xfrm>
            <a:off x="1115616" y="2132856"/>
            <a:ext cx="756601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من المهم أن يكون جميع الموظفين على دراية بالغايات التي حددتها الشركة. ويمكن تحقيق ذلك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وتشجيعه من خلال:</a:t>
            </a:r>
            <a:endParaRPr lang="en-GB" sz="20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938DE209-429D-7AA7-C42C-B2172C9B6BF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7820753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268760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ED6DB-1193-D7D6-14BD-76307D6EB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الصور:</a:t>
            </a:r>
            <a:endParaRPr lang="en-GB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en-US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123RF</a:t>
            </a: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: 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فيرلي (الشريحة 23)؛ </a:t>
            </a:r>
          </a:p>
          <a:p>
            <a:pPr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شوترستوك: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ليلينابسل (شريحة 5)، أيديل ديزاين (شريحة 8)، جريبويدوف (شريحة 12)، دبليو كيه</a:t>
            </a:r>
            <a:r>
              <a:rPr 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1003مايك (شريحة 16)، ميتامووركس (شريحة 21)، فيباتبيج (شريحة 32)</a:t>
            </a:r>
            <a:endParaRPr lang="en-GB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384099-199B-EAC7-99A2-7F2873C23D8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A103000399992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Land-based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46F8CF-8A81-40C7-AC6A-7ECC72B43E7D}"/>
</file>

<file path=customXml/itemProps3.xml><?xml version="1.0" encoding="utf-8"?>
<ds:datastoreItem xmlns:ds="http://schemas.openxmlformats.org/officeDocument/2006/customXml" ds:itemID="{AC23B947-7365-46E6-97D8-39CC3AB7528F}">
  <ds:schemaRefs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c1bd8dc-4e40-424f-a15f-9ffcd522197f"/>
    <ds:schemaRef ds:uri="6125ffc9-2c56-435e-8267-1393444907b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12265</TotalTime>
  <Words>2035</Words>
  <Application>Microsoft Office PowerPoint</Application>
  <PresentationFormat>On-screen Show (4:3)</PresentationFormat>
  <Paragraphs>358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36</vt:i4>
      </vt:variant>
    </vt:vector>
  </HeadingPairs>
  <TitlesOfParts>
    <vt:vector size="52" baseType="lpstr">
      <vt:lpstr>Arial</vt:lpstr>
      <vt:lpstr>Calibri</vt:lpstr>
      <vt:lpstr>Sakkal Majalla</vt:lpstr>
      <vt:lpstr>Verdana</vt:lpstr>
      <vt:lpstr>Wingdings</vt:lpstr>
      <vt:lpstr>س</vt:lpstr>
      <vt:lpstr>1_Art and Design</vt:lpstr>
      <vt:lpstr>2_Beauty Therapy</vt:lpstr>
      <vt:lpstr>3_Business</vt:lpstr>
      <vt:lpstr>4_Construction</vt:lpstr>
      <vt:lpstr>5_Creative Media</vt:lpstr>
      <vt:lpstr>6_Engineering</vt:lpstr>
      <vt:lpstr>7_Hospitality</vt:lpstr>
      <vt:lpstr>8_Information Technology</vt:lpstr>
      <vt:lpstr>9_Land-based</vt:lpstr>
      <vt:lpstr>10_Travel and Tourism</vt:lpstr>
      <vt:lpstr>الوحدة 02 البيئة والاستدامة في مجال الضيافة  </vt:lpstr>
      <vt:lpstr>البيئة والاستدامة في مجال الضيافة </vt:lpstr>
      <vt:lpstr>نتاجات التعلم</vt:lpstr>
      <vt:lpstr>نتاج التعلُّم أ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نتاج التعلُّم ب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نتاج التعلم ج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131</cp:revision>
  <dcterms:created xsi:type="dcterms:W3CDTF">2020-07-15T07:14:47Z</dcterms:created>
  <dcterms:modified xsi:type="dcterms:W3CDTF">2024-09-10T15:19:37Z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