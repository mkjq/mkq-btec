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256" r:id="rId14"/>
    <p:sldId id="257" r:id="rId15"/>
    <p:sldId id="258" r:id="rId16"/>
    <p:sldId id="272" r:id="rId17"/>
    <p:sldId id="305" r:id="rId18"/>
    <p:sldId id="306" r:id="rId19"/>
    <p:sldId id="307" r:id="rId20"/>
    <p:sldId id="308" r:id="rId21"/>
    <p:sldId id="331" r:id="rId22"/>
    <p:sldId id="309" r:id="rId23"/>
    <p:sldId id="332" r:id="rId24"/>
    <p:sldId id="310" r:id="rId25"/>
    <p:sldId id="333" r:id="rId26"/>
    <p:sldId id="311" r:id="rId27"/>
    <p:sldId id="312" r:id="rId28"/>
    <p:sldId id="313" r:id="rId29"/>
    <p:sldId id="314" r:id="rId30"/>
    <p:sldId id="315" r:id="rId31"/>
    <p:sldId id="330" r:id="rId32"/>
    <p:sldId id="317" r:id="rId33"/>
    <p:sldId id="316" r:id="rId34"/>
    <p:sldId id="334" r:id="rId35"/>
    <p:sldId id="318" r:id="rId36"/>
    <p:sldId id="329" r:id="rId37"/>
    <p:sldId id="319" r:id="rId38"/>
    <p:sldId id="337" r:id="rId39"/>
    <p:sldId id="325" r:id="rId40"/>
    <p:sldId id="320" r:id="rId41"/>
    <p:sldId id="321" r:id="rId42"/>
    <p:sldId id="322" r:id="rId43"/>
    <p:sldId id="326" r:id="rId44"/>
    <p:sldId id="323" r:id="rId45"/>
    <p:sldId id="335" r:id="rId46"/>
    <p:sldId id="327" r:id="rId47"/>
    <p:sldId id="328" r:id="rId48"/>
    <p:sldId id="336"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41DDE3-949C-40A2-92EF-19187C061ED6}" v="77" dt="2024-11-12T13:28:15.021"/>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647" autoAdjust="0"/>
    <p:restoredTop sz="87614" autoAdjust="0"/>
  </p:normalViewPr>
  <p:slideViewPr>
    <p:cSldViewPr>
      <p:cViewPr varScale="1">
        <p:scale>
          <a:sx n="138" d="100"/>
          <a:sy n="138" d="100"/>
        </p:scale>
        <p:origin x="2316" y="11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213BAF-B527-4713-B998-339A4CB994B7}" type="doc">
      <dgm:prSet loTypeId="urn:microsoft.com/office/officeart/2005/8/layout/hProcess9" loCatId="process" qsTypeId="urn:microsoft.com/office/officeart/2005/8/quickstyle/simple1" qsCatId="simple" csTypeId="urn:microsoft.com/office/officeart/2005/8/colors/accent1_2" csCatId="accent1" phldr="1"/>
      <dgm:spPr/>
    </dgm:pt>
    <dgm:pt modelId="{A613A5B8-01A1-411D-AA6E-738961DB7ACA}">
      <dgm:prSet phldrT="[Text]" custT="1"/>
      <dgm:spPr/>
      <dgm:t>
        <a:bodyPr rtlCol="1"/>
        <a:lstStyle/>
        <a:p>
          <a:pPr rtl="1"/>
          <a:r>
            <a:rPr lang="ar" sz="1400" dirty="0">
              <a:solidFill>
                <a:schemeClr val="tx1"/>
              </a:solidFill>
              <a:latin typeface="Sakkal Majalla" panose="02000000000000000000" pitchFamily="2" charset="-78"/>
              <a:cs typeface="Sakkal Majalla" panose="02000000000000000000" pitchFamily="2" charset="-78"/>
            </a:rPr>
            <a:t>الدائرة القلابة R-S</a:t>
          </a:r>
        </a:p>
      </dgm:t>
    </dgm:pt>
    <dgm:pt modelId="{42F46697-56BA-42D0-B060-F4EEB499E26E}" type="parTrans" cxnId="{36CFC106-DCC1-4AE6-B2CD-8F0D4C8C34AC}">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1192C09E-FE5B-4568-8038-66DB3F2C9C48}" type="sibTrans" cxnId="{36CFC106-DCC1-4AE6-B2CD-8F0D4C8C34AC}">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253B161A-7E0C-4330-8FE9-4931C106997A}">
      <dgm:prSet phldrT="[Text]" custT="1"/>
      <dgm:spPr/>
      <dgm:t>
        <a:bodyPr rtlCol="1"/>
        <a:lstStyle/>
        <a:p>
          <a:pPr rtl="1"/>
          <a:r>
            <a:rPr lang="ar" sz="1400" dirty="0">
              <a:solidFill>
                <a:schemeClr val="tx1"/>
              </a:solidFill>
              <a:latin typeface="Sakkal Majalla" panose="02000000000000000000" pitchFamily="2" charset="-78"/>
              <a:cs typeface="Sakkal Majalla" panose="02000000000000000000" pitchFamily="2" charset="-78"/>
            </a:rPr>
            <a:t>الدائرة القلابة من </a:t>
          </a:r>
          <a:br>
            <a:rPr lang="en-US" sz="1400" dirty="0">
              <a:solidFill>
                <a:schemeClr val="tx1"/>
              </a:solidFill>
              <a:latin typeface="Sakkal Majalla" panose="02000000000000000000" pitchFamily="2" charset="-78"/>
              <a:cs typeface="Sakkal Majalla" panose="02000000000000000000" pitchFamily="2" charset="-78"/>
            </a:rPr>
          </a:br>
          <a:r>
            <a:rPr lang="ar" sz="1400" dirty="0">
              <a:solidFill>
                <a:schemeClr val="tx1"/>
              </a:solidFill>
              <a:latin typeface="Sakkal Majalla" panose="02000000000000000000" pitchFamily="2" charset="-78"/>
              <a:cs typeface="Sakkal Majalla" panose="02000000000000000000" pitchFamily="2" charset="-78"/>
            </a:rPr>
            <a:t>النوع D</a:t>
          </a:r>
        </a:p>
      </dgm:t>
    </dgm:pt>
    <dgm:pt modelId="{8292CF4D-00D3-41AB-8B65-7FE3369AAFF1}" type="parTrans" cxnId="{0671477C-CF4A-44DB-B2B0-BB1524F8199F}">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B0870819-35F3-4880-B3C9-8FC5AB787F47}" type="sibTrans" cxnId="{0671477C-CF4A-44DB-B2B0-BB1524F8199F}">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7AAB258E-31B8-46E0-A4F7-92EDD017456D}">
      <dgm:prSet phldrT="[Text]" custT="1"/>
      <dgm:spPr/>
      <dgm:t>
        <a:bodyPr rtlCol="1"/>
        <a:lstStyle/>
        <a:p>
          <a:pPr rtl="1"/>
          <a:r>
            <a:rPr lang="ar" sz="1400" dirty="0">
              <a:solidFill>
                <a:schemeClr val="tx1"/>
              </a:solidFill>
              <a:latin typeface="Sakkal Majalla" panose="02000000000000000000" pitchFamily="2" charset="-78"/>
              <a:cs typeface="Sakkal Majalla" panose="02000000000000000000" pitchFamily="2" charset="-78"/>
            </a:rPr>
            <a:t>الدائرة القلابة JK</a:t>
          </a:r>
        </a:p>
      </dgm:t>
    </dgm:pt>
    <dgm:pt modelId="{CDDCF12F-D345-4C42-B933-6ADEDFABEF92}" type="parTrans" cxnId="{7BE7F9CE-0373-419E-9243-0088ACF22DB8}">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6BE9073D-AE66-45A3-859F-7262481BA499}" type="sibTrans" cxnId="{7BE7F9CE-0373-419E-9243-0088ACF22DB8}">
      <dgm:prSet/>
      <dgm:spPr/>
      <dgm:t>
        <a:bodyPr rtlCol="1"/>
        <a:lstStyle/>
        <a:p>
          <a:pPr rtl="1"/>
          <a:endParaRPr lang="en-GB" sz="1400">
            <a:latin typeface="Sakkal Majalla" panose="02000000000000000000" pitchFamily="2" charset="-78"/>
            <a:cs typeface="Sakkal Majalla" panose="02000000000000000000" pitchFamily="2" charset="-78"/>
          </a:endParaRPr>
        </a:p>
      </dgm:t>
    </dgm:pt>
    <dgm:pt modelId="{A6A38060-30FE-4F27-953D-DEAC5AC2B269}" type="pres">
      <dgm:prSet presAssocID="{F3213BAF-B527-4713-B998-339A4CB994B7}" presName="CompostProcess" presStyleCnt="0">
        <dgm:presLayoutVars>
          <dgm:dir val="rev"/>
          <dgm:resizeHandles val="exact"/>
        </dgm:presLayoutVars>
      </dgm:prSet>
      <dgm:spPr/>
    </dgm:pt>
    <dgm:pt modelId="{AB27F733-ECD0-4DA4-AA64-599F021D6DC5}" type="pres">
      <dgm:prSet presAssocID="{F3213BAF-B527-4713-B998-339A4CB994B7}" presName="arrow" presStyleLbl="bgShp" presStyleIdx="0" presStyleCnt="1" custFlipHor="0" custScaleX="117647" custLinFactNeighborX="1783"/>
      <dgm:spPr/>
    </dgm:pt>
    <dgm:pt modelId="{A7B69A37-C7B4-4B53-AD3B-CBC8EAE77C4A}" type="pres">
      <dgm:prSet presAssocID="{F3213BAF-B527-4713-B998-339A4CB994B7}" presName="linearProcess" presStyleCnt="0"/>
      <dgm:spPr/>
    </dgm:pt>
    <dgm:pt modelId="{DAD6FEB7-DE97-4B94-A214-254F3C4E195F}" type="pres">
      <dgm:prSet presAssocID="{A613A5B8-01A1-411D-AA6E-738961DB7ACA}" presName="textNode" presStyleLbl="node1" presStyleIdx="0" presStyleCnt="3" custFlipHor="1" custLinFactNeighborX="0">
        <dgm:presLayoutVars>
          <dgm:bulletEnabled val="1"/>
        </dgm:presLayoutVars>
      </dgm:prSet>
      <dgm:spPr/>
    </dgm:pt>
    <dgm:pt modelId="{AD049681-9BAA-4DA7-A790-5F3E9FC5DF0A}" type="pres">
      <dgm:prSet presAssocID="{1192C09E-FE5B-4568-8038-66DB3F2C9C48}" presName="sibTrans" presStyleCnt="0"/>
      <dgm:spPr/>
    </dgm:pt>
    <dgm:pt modelId="{E0FBB6BD-E4D9-47A4-99D6-B885E5B8741F}" type="pres">
      <dgm:prSet presAssocID="{253B161A-7E0C-4330-8FE9-4931C106997A}" presName="textNode" presStyleLbl="node1" presStyleIdx="1" presStyleCnt="3" custFlipHor="1" custLinFactNeighborX="87879">
        <dgm:presLayoutVars>
          <dgm:bulletEnabled val="1"/>
        </dgm:presLayoutVars>
      </dgm:prSet>
      <dgm:spPr/>
    </dgm:pt>
    <dgm:pt modelId="{C09341B2-312F-4EA8-A87A-D832E8A9DCA8}" type="pres">
      <dgm:prSet presAssocID="{B0870819-35F3-4880-B3C9-8FC5AB787F47}" presName="sibTrans" presStyleCnt="0"/>
      <dgm:spPr/>
    </dgm:pt>
    <dgm:pt modelId="{6E660CF8-B46B-4A44-855D-6933148045F6}" type="pres">
      <dgm:prSet presAssocID="{7AAB258E-31B8-46E0-A4F7-92EDD017456D}" presName="textNode" presStyleLbl="node1" presStyleIdx="2" presStyleCnt="3" custFlipHor="1" custLinFactX="13636" custLinFactNeighborX="100000">
        <dgm:presLayoutVars>
          <dgm:bulletEnabled val="1"/>
        </dgm:presLayoutVars>
      </dgm:prSet>
      <dgm:spPr/>
    </dgm:pt>
  </dgm:ptLst>
  <dgm:cxnLst>
    <dgm:cxn modelId="{36CFC106-DCC1-4AE6-B2CD-8F0D4C8C34AC}" srcId="{F3213BAF-B527-4713-B998-339A4CB994B7}" destId="{A613A5B8-01A1-411D-AA6E-738961DB7ACA}" srcOrd="0" destOrd="0" parTransId="{42F46697-56BA-42D0-B060-F4EEB499E26E}" sibTransId="{1192C09E-FE5B-4568-8038-66DB3F2C9C48}"/>
    <dgm:cxn modelId="{84A2B93A-71AB-4081-B122-FCCB4C305319}" type="presOf" srcId="{253B161A-7E0C-4330-8FE9-4931C106997A}" destId="{E0FBB6BD-E4D9-47A4-99D6-B885E5B8741F}" srcOrd="0" destOrd="0" presId="urn:microsoft.com/office/officeart/2005/8/layout/hProcess9"/>
    <dgm:cxn modelId="{9352393B-C0DF-4F35-8F09-6303F3F42E26}" type="presOf" srcId="{A613A5B8-01A1-411D-AA6E-738961DB7ACA}" destId="{DAD6FEB7-DE97-4B94-A214-254F3C4E195F}" srcOrd="0" destOrd="0" presId="urn:microsoft.com/office/officeart/2005/8/layout/hProcess9"/>
    <dgm:cxn modelId="{0671477C-CF4A-44DB-B2B0-BB1524F8199F}" srcId="{F3213BAF-B527-4713-B998-339A4CB994B7}" destId="{253B161A-7E0C-4330-8FE9-4931C106997A}" srcOrd="1" destOrd="0" parTransId="{8292CF4D-00D3-41AB-8B65-7FE3369AAFF1}" sibTransId="{B0870819-35F3-4880-B3C9-8FC5AB787F47}"/>
    <dgm:cxn modelId="{2E90D5B2-7255-447E-B074-F6A5056E59D3}" type="presOf" srcId="{F3213BAF-B527-4713-B998-339A4CB994B7}" destId="{A6A38060-30FE-4F27-953D-DEAC5AC2B269}" srcOrd="0" destOrd="0" presId="urn:microsoft.com/office/officeart/2005/8/layout/hProcess9"/>
    <dgm:cxn modelId="{7BE7F9CE-0373-419E-9243-0088ACF22DB8}" srcId="{F3213BAF-B527-4713-B998-339A4CB994B7}" destId="{7AAB258E-31B8-46E0-A4F7-92EDD017456D}" srcOrd="2" destOrd="0" parTransId="{CDDCF12F-D345-4C42-B933-6ADEDFABEF92}" sibTransId="{6BE9073D-AE66-45A3-859F-7262481BA499}"/>
    <dgm:cxn modelId="{9E2B2CF9-4800-4440-BF0B-CB8386517465}" type="presOf" srcId="{7AAB258E-31B8-46E0-A4F7-92EDD017456D}" destId="{6E660CF8-B46B-4A44-855D-6933148045F6}" srcOrd="0" destOrd="0" presId="urn:microsoft.com/office/officeart/2005/8/layout/hProcess9"/>
    <dgm:cxn modelId="{139BDA07-F955-455D-AA72-BF9D955DFE97}" type="presParOf" srcId="{A6A38060-30FE-4F27-953D-DEAC5AC2B269}" destId="{AB27F733-ECD0-4DA4-AA64-599F021D6DC5}" srcOrd="0" destOrd="0" presId="urn:microsoft.com/office/officeart/2005/8/layout/hProcess9"/>
    <dgm:cxn modelId="{6B929B14-59DE-4F70-8956-073F048DBF7E}" type="presParOf" srcId="{A6A38060-30FE-4F27-953D-DEAC5AC2B269}" destId="{A7B69A37-C7B4-4B53-AD3B-CBC8EAE77C4A}" srcOrd="1" destOrd="0" presId="urn:microsoft.com/office/officeart/2005/8/layout/hProcess9"/>
    <dgm:cxn modelId="{C6B8DE57-8DE9-43AC-95CA-22CE8F342A33}" type="presParOf" srcId="{A7B69A37-C7B4-4B53-AD3B-CBC8EAE77C4A}" destId="{DAD6FEB7-DE97-4B94-A214-254F3C4E195F}" srcOrd="0" destOrd="0" presId="urn:microsoft.com/office/officeart/2005/8/layout/hProcess9"/>
    <dgm:cxn modelId="{8DE6AA01-FB50-4140-B3B4-97B6EE7FCD4C}" type="presParOf" srcId="{A7B69A37-C7B4-4B53-AD3B-CBC8EAE77C4A}" destId="{AD049681-9BAA-4DA7-A790-5F3E9FC5DF0A}" srcOrd="1" destOrd="0" presId="urn:microsoft.com/office/officeart/2005/8/layout/hProcess9"/>
    <dgm:cxn modelId="{5D38550D-44F2-47ED-88E1-8E4A451048F7}" type="presParOf" srcId="{A7B69A37-C7B4-4B53-AD3B-CBC8EAE77C4A}" destId="{E0FBB6BD-E4D9-47A4-99D6-B885E5B8741F}" srcOrd="2" destOrd="0" presId="urn:microsoft.com/office/officeart/2005/8/layout/hProcess9"/>
    <dgm:cxn modelId="{AD5B870D-962A-4FA5-8C33-F64B3CB80B3E}" type="presParOf" srcId="{A7B69A37-C7B4-4B53-AD3B-CBC8EAE77C4A}" destId="{C09341B2-312F-4EA8-A87A-D832E8A9DCA8}" srcOrd="3" destOrd="0" presId="urn:microsoft.com/office/officeart/2005/8/layout/hProcess9"/>
    <dgm:cxn modelId="{75183D8D-1E84-45D1-99CB-618231E79FE8}" type="presParOf" srcId="{A7B69A37-C7B4-4B53-AD3B-CBC8EAE77C4A}" destId="{6E660CF8-B46B-4A44-855D-6933148045F6}"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7F733-ECD0-4DA4-AA64-599F021D6DC5}">
      <dsp:nvSpPr>
        <dsp:cNvPr id="0" name=""/>
        <dsp:cNvSpPr/>
      </dsp:nvSpPr>
      <dsp:spPr>
        <a:xfrm>
          <a:off x="2" y="0"/>
          <a:ext cx="4752525" cy="2160240"/>
        </a:xfrm>
        <a:prstGeom prst="lef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D6FEB7-DE97-4B94-A214-254F3C4E195F}">
      <dsp:nvSpPr>
        <dsp:cNvPr id="0" name=""/>
        <dsp:cNvSpPr/>
      </dsp:nvSpPr>
      <dsp:spPr>
        <a:xfrm flipH="1">
          <a:off x="3326769" y="648072"/>
          <a:ext cx="1425758" cy="8640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1" anchor="ctr" anchorCtr="0">
          <a:noAutofit/>
        </a:bodyPr>
        <a:lstStyle/>
        <a:p>
          <a:pPr marL="0" lvl="0" indent="0" algn="ctr" defTabSz="622300" rtl="1">
            <a:lnSpc>
              <a:spcPct val="90000"/>
            </a:lnSpc>
            <a:spcBef>
              <a:spcPct val="0"/>
            </a:spcBef>
            <a:spcAft>
              <a:spcPct val="35000"/>
            </a:spcAft>
            <a:buNone/>
          </a:pPr>
          <a:r>
            <a:rPr lang="ar" sz="1400" kern="1200" dirty="0">
              <a:solidFill>
                <a:schemeClr val="tx1"/>
              </a:solidFill>
              <a:latin typeface="Sakkal Majalla" panose="02000000000000000000" pitchFamily="2" charset="-78"/>
              <a:cs typeface="Sakkal Majalla" panose="02000000000000000000" pitchFamily="2" charset="-78"/>
            </a:rPr>
            <a:t>الدائرة القلابة R-S</a:t>
          </a:r>
        </a:p>
      </dsp:txBody>
      <dsp:txXfrm>
        <a:off x="3368951" y="690254"/>
        <a:ext cx="1341394" cy="779732"/>
      </dsp:txXfrm>
    </dsp:sp>
    <dsp:sp modelId="{E0FBB6BD-E4D9-47A4-99D6-B885E5B8741F}">
      <dsp:nvSpPr>
        <dsp:cNvPr id="0" name=""/>
        <dsp:cNvSpPr/>
      </dsp:nvSpPr>
      <dsp:spPr>
        <a:xfrm flipH="1">
          <a:off x="1872208" y="648072"/>
          <a:ext cx="1425758" cy="8640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1" anchor="ctr" anchorCtr="0">
          <a:noAutofit/>
        </a:bodyPr>
        <a:lstStyle/>
        <a:p>
          <a:pPr marL="0" lvl="0" indent="0" algn="ctr" defTabSz="622300" rtl="1">
            <a:lnSpc>
              <a:spcPct val="90000"/>
            </a:lnSpc>
            <a:spcBef>
              <a:spcPct val="0"/>
            </a:spcBef>
            <a:spcAft>
              <a:spcPct val="35000"/>
            </a:spcAft>
            <a:buNone/>
          </a:pPr>
          <a:r>
            <a:rPr lang="ar" sz="1400" kern="1200" dirty="0">
              <a:solidFill>
                <a:schemeClr val="tx1"/>
              </a:solidFill>
              <a:latin typeface="Sakkal Majalla" panose="02000000000000000000" pitchFamily="2" charset="-78"/>
              <a:cs typeface="Sakkal Majalla" panose="02000000000000000000" pitchFamily="2" charset="-78"/>
            </a:rPr>
            <a:t>الدائرة القلابة من </a:t>
          </a:r>
          <a:br>
            <a:rPr lang="en-US" sz="1400" kern="1200" dirty="0">
              <a:solidFill>
                <a:schemeClr val="tx1"/>
              </a:solidFill>
              <a:latin typeface="Sakkal Majalla" panose="02000000000000000000" pitchFamily="2" charset="-78"/>
              <a:cs typeface="Sakkal Majalla" panose="02000000000000000000" pitchFamily="2" charset="-78"/>
            </a:rPr>
          </a:br>
          <a:r>
            <a:rPr lang="ar" sz="1400" kern="1200" dirty="0">
              <a:solidFill>
                <a:schemeClr val="tx1"/>
              </a:solidFill>
              <a:latin typeface="Sakkal Majalla" panose="02000000000000000000" pitchFamily="2" charset="-78"/>
              <a:cs typeface="Sakkal Majalla" panose="02000000000000000000" pitchFamily="2" charset="-78"/>
            </a:rPr>
            <a:t>النوع D</a:t>
          </a:r>
        </a:p>
      </dsp:txBody>
      <dsp:txXfrm>
        <a:off x="1914390" y="690254"/>
        <a:ext cx="1341394" cy="779732"/>
      </dsp:txXfrm>
    </dsp:sp>
    <dsp:sp modelId="{6E660CF8-B46B-4A44-855D-6933148045F6}">
      <dsp:nvSpPr>
        <dsp:cNvPr id="0" name=""/>
        <dsp:cNvSpPr/>
      </dsp:nvSpPr>
      <dsp:spPr>
        <a:xfrm flipH="1">
          <a:off x="432042" y="648072"/>
          <a:ext cx="1425758" cy="8640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1" anchor="ctr" anchorCtr="0">
          <a:noAutofit/>
        </a:bodyPr>
        <a:lstStyle/>
        <a:p>
          <a:pPr marL="0" lvl="0" indent="0" algn="ctr" defTabSz="622300" rtl="1">
            <a:lnSpc>
              <a:spcPct val="90000"/>
            </a:lnSpc>
            <a:spcBef>
              <a:spcPct val="0"/>
            </a:spcBef>
            <a:spcAft>
              <a:spcPct val="35000"/>
            </a:spcAft>
            <a:buNone/>
          </a:pPr>
          <a:r>
            <a:rPr lang="ar" sz="1400" kern="1200" dirty="0">
              <a:solidFill>
                <a:schemeClr val="tx1"/>
              </a:solidFill>
              <a:latin typeface="Sakkal Majalla" panose="02000000000000000000" pitchFamily="2" charset="-78"/>
              <a:cs typeface="Sakkal Majalla" panose="02000000000000000000" pitchFamily="2" charset="-78"/>
            </a:rPr>
            <a:t>الدائرة القلابة JK</a:t>
          </a:r>
        </a:p>
      </dsp:txBody>
      <dsp:txXfrm>
        <a:off x="474224" y="690254"/>
        <a:ext cx="1341394" cy="77973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66588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2266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04046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10034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38466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862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65320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56960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95454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48678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99549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25080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17097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05347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857482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19561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61547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42334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216827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45334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709328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277410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428658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3635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209784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927574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67747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364667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0384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09287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8.jpeg"/><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8" name="Group 7">
            <a:extLst>
              <a:ext uri="{FF2B5EF4-FFF2-40B4-BE49-F238E27FC236}">
                <a16:creationId xmlns:a16="http://schemas.microsoft.com/office/drawing/2014/main" id="{09492302-22E3-4D32-8506-6C729D2828BD}"/>
              </a:ext>
            </a:extLst>
          </p:cNvPr>
          <p:cNvGrpSpPr/>
          <p:nvPr userDrawn="1"/>
        </p:nvGrpSpPr>
        <p:grpSpPr>
          <a:xfrm>
            <a:off x="0" y="44624"/>
            <a:ext cx="9144000" cy="1075944"/>
            <a:chOff x="0" y="190"/>
            <a:chExt cx="9144000" cy="1075944"/>
          </a:xfrm>
        </p:grpSpPr>
        <p:pic>
          <p:nvPicPr>
            <p:cNvPr id="9" name="Picture 8">
              <a:extLst>
                <a:ext uri="{FF2B5EF4-FFF2-40B4-BE49-F238E27FC236}">
                  <a16:creationId xmlns:a16="http://schemas.microsoft.com/office/drawing/2014/main" id="{D638CEC1-A4A0-40E9-AB40-3926D78FFCC3}"/>
                </a:ext>
              </a:extLst>
            </p:cNvPr>
            <p:cNvPicPr>
              <a:picLocks noChangeAspect="1" noChangeArrowheads="1"/>
            </p:cNvPicPr>
            <p:nvPr userDrawn="1"/>
          </p:nvPicPr>
          <p:blipFill>
            <a:blip r:embed="rId17"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E0C6AF32-CDF3-4C37-AB4B-543B40D94898}"/>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a:t>
              </a:r>
              <a:r>
                <a:rPr lang="ar-MA" sz="2500" b="1" dirty="0">
                  <a:latin typeface="Sakkal Majalla" panose="02000000000000000000" pitchFamily="2" charset="-78"/>
                  <a:cs typeface="Sakkal Majalla" panose="02000000000000000000" pitchFamily="2" charset="-78"/>
                </a:rPr>
                <a:t>للمستوى</a:t>
              </a:r>
              <a:r>
                <a:rPr lang="ar" sz="2500" b="1" dirty="0">
                  <a:latin typeface="Sakkal Majalla" panose="02000000000000000000" pitchFamily="2" charset="-78"/>
                  <a:cs typeface="Sakkal Majalla" panose="02000000000000000000" pitchFamily="2" charset="-78"/>
                </a:rPr>
                <a:t>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grpSp>
      <p:sp>
        <p:nvSpPr>
          <p:cNvPr id="11" name="Rectangle 10">
            <a:extLst>
              <a:ext uri="{FF2B5EF4-FFF2-40B4-BE49-F238E27FC236}">
                <a16:creationId xmlns:a16="http://schemas.microsoft.com/office/drawing/2014/main" id="{1D826EE4-302F-43DB-AD02-E8312E0CD27A}"/>
              </a:ext>
            </a:extLst>
          </p:cNvPr>
          <p:cNvSpPr/>
          <p:nvPr userDrawn="1"/>
        </p:nvSpPr>
        <p:spPr>
          <a:xfrm>
            <a:off x="5528151" y="155384"/>
            <a:ext cx="3529584" cy="874713"/>
          </a:xfrm>
          <a:prstGeom prst="rect">
            <a:avLst/>
          </a:prstGeom>
          <a:solidFill>
            <a:srgbClr val="33B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23.xml"/><Relationship Id="rId1" Type="http://schemas.openxmlformats.org/officeDocument/2006/relationships/slideLayout" Target="../slideLayouts/slideLayout7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31.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32.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33.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5" Type="http://schemas.openxmlformats.org/officeDocument/2006/relationships/image" Target="../media/image35.jpeg"/><Relationship Id="rId4" Type="http://schemas.openxmlformats.org/officeDocument/2006/relationships/image" Target="../media/image34.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36.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68.xml"/><Relationship Id="rId4" Type="http://schemas.openxmlformats.org/officeDocument/2006/relationships/image" Target="../media/image37.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090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19</a:t>
            </a:r>
            <a:br>
              <a:rPr lang="en-GB" altLang="en-US" sz="4600" dirty="0"/>
            </a:br>
            <a:r>
              <a:rPr lang="ar" sz="4600" dirty="0"/>
              <a:t>الأجهزة الإلكترونية </a:t>
            </a:r>
            <a:br>
              <a:rPr lang="en-GB" altLang="en-US" sz="4600" dirty="0"/>
            </a:br>
            <a:r>
              <a:rPr lang="ar" sz="4600" dirty="0"/>
              <a:t>والدوائر الكهربائية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Autofit/>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40A02B4D-EEA1-C5F0-9BC7-ACF246D639D4}"/>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179512"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الأجهزة والدوائر الإلكترونية</a:t>
            </a:r>
            <a:endParaRPr lang="en-GB" altLang="en-US" sz="4600" dirty="0">
              <a:highlight>
                <a:srgbClr val="FFFF00"/>
              </a:highlight>
            </a:endParaRP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6" y="2420888"/>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dirty="0"/>
              <a:t>مقدمة </a:t>
            </a:r>
            <a:r>
              <a:rPr lang="ar-EG" sz="2200" b="1" dirty="0" err="1"/>
              <a:t>لل</a:t>
            </a:r>
            <a:r>
              <a:rPr lang="ar" sz="2200" b="1" dirty="0"/>
              <a:t>وحدة</a:t>
            </a:r>
          </a:p>
          <a:p>
            <a:pPr marL="0" indent="0" rtl="1">
              <a:buNone/>
            </a:pPr>
            <a:endParaRPr lang="en-GB" altLang="en-US" sz="2200" dirty="0"/>
          </a:p>
          <a:p>
            <a:pPr marL="0" indent="0" rtl="1">
              <a:buNone/>
            </a:pPr>
            <a:r>
              <a:rPr lang="ar" sz="2200" dirty="0"/>
              <a:t>تعد الأجهزة والدوائر الإلكترونية التناظرية والرقمية مكونًا أساسيًا للمنتجات المنزلية المعروفة وعمليات التشغيل المعقدة عالية السرعة في التطبيقات الصناعية. تعرض هذه الوحدة محاكاة وبناء واختبار وتقييم الدوائر الإلكترونية التناظرية التي تعمل بالصمامات الثنائية (الدايودات) والترانزستورات والدوائر الرقمية المنطقية التوافقية والتسلسلية. سيستخدم المتعلمون برنامجًا لمحاكاة الدوائر والأدوات المخبريّة النموذجية لاختبارها. وسيفكرون أيضًا في المهارات والفهم الذي اكتسبوه في أثناء دراسة الوحدة.</a:t>
            </a:r>
            <a:endParaRPr lang="en-GB" altLang="en-US" sz="2200" dirty="0">
              <a:solidFill>
                <a:srgbClr val="FF0000"/>
              </a:solidFill>
            </a:endParaRPr>
          </a:p>
        </p:txBody>
      </p:sp>
      <p:sp>
        <p:nvSpPr>
          <p:cNvPr id="2" name="Footer Placeholder 2">
            <a:extLst>
              <a:ext uri="{FF2B5EF4-FFF2-40B4-BE49-F238E27FC236}">
                <a16:creationId xmlns:a16="http://schemas.microsoft.com/office/drawing/2014/main" id="{B9BF8EAA-2D88-2E65-4DCB-F57A77E3CDE8}"/>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t>أ	استكشاف التشغيل الآمن وتطبيقات الأجهزة والدوائر التناظرية التي تشكل اللبنات الأساسية للدوائر التجارية</a:t>
            </a:r>
          </a:p>
          <a:p>
            <a:pPr marL="404813" indent="-387350" defTabSz="431800" rtl="1">
              <a:buNone/>
            </a:pPr>
            <a:endParaRPr lang="en-GB" altLang="en-US" sz="2200" b="1" dirty="0"/>
          </a:p>
          <a:p>
            <a:pPr marL="404813" indent="-387350" defTabSz="431800" rtl="1">
              <a:buNone/>
            </a:pPr>
            <a:r>
              <a:rPr lang="ar" sz="2200" b="1" dirty="0"/>
              <a:t>ب	استكشاف التشغيل الآمن وتطبيقات الأجهزة والدوائر المنطقية الرقمية التي تشكل اللبنات الأساسية للدوائر التجارية</a:t>
            </a:r>
          </a:p>
          <a:p>
            <a:pPr marL="404813" indent="-387350" defTabSz="431800" rtl="1">
              <a:buNone/>
            </a:pPr>
            <a:endParaRPr lang="en-GB" altLang="en-US" sz="2200" b="1" dirty="0"/>
          </a:p>
          <a:p>
            <a:pPr marL="404813" indent="-387350" defTabSz="431800" rtl="1">
              <a:buNone/>
            </a:pPr>
            <a:r>
              <a:rPr lang="ar" sz="2200" b="1" dirty="0"/>
              <a:t>ج	مراجعة تطوير الدوائر الإلكترونية التناظرية والرقمية وتقييم الأداء الشخصي.</a:t>
            </a:r>
            <a:endParaRPr lang="en-GB" altLang="en-US" sz="2200" dirty="0"/>
          </a:p>
        </p:txBody>
      </p:sp>
      <p:sp>
        <p:nvSpPr>
          <p:cNvPr id="2" name="Footer Placeholder 2">
            <a:extLst>
              <a:ext uri="{FF2B5EF4-FFF2-40B4-BE49-F238E27FC236}">
                <a16:creationId xmlns:a16="http://schemas.microsoft.com/office/drawing/2014/main" id="{776B72D2-3B7B-196B-FDED-FC4CA509E4EF}"/>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3023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استكشاف التشغيل الآمن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وتطبيقات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الأجهزة والدوائر التناظرية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التي تشكل اللبنات الأساسية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للدوائر التجارية</a:t>
            </a:r>
          </a:p>
        </p:txBody>
      </p:sp>
      <p:sp>
        <p:nvSpPr>
          <p:cNvPr id="2" name="Footer Placeholder 2">
            <a:extLst>
              <a:ext uri="{FF2B5EF4-FFF2-40B4-BE49-F238E27FC236}">
                <a16:creationId xmlns:a16="http://schemas.microsoft.com/office/drawing/2014/main" id="{4AFDF018-F998-D3D7-9C22-9B5E3151010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96752"/>
            <a:ext cx="9143878" cy="56694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1800" b="1" dirty="0"/>
              <a:t>ممارسات العمل الإلكتروني الآمن</a:t>
            </a:r>
          </a:p>
          <a:p>
            <a:pPr indent="0" rtl="1">
              <a:buFont typeface="Wingdings" panose="05000000000000000000" pitchFamily="2" charset="2"/>
              <a:buNone/>
            </a:pPr>
            <a:endParaRPr lang="en-GB" altLang="en-US" sz="1800" dirty="0"/>
          </a:p>
          <a:p>
            <a:pPr indent="0" rtl="1">
              <a:buFont typeface="Wingdings" panose="05000000000000000000" pitchFamily="2" charset="2"/>
              <a:buNone/>
            </a:pPr>
            <a:r>
              <a:rPr lang="ar" sz="1800" b="1" dirty="0"/>
              <a:t>الاستجابة في حالات الطوارئ: </a:t>
            </a:r>
            <a:r>
              <a:rPr lang="ar" sz="1800" dirty="0"/>
              <a:t>في حالة الطوارئ، من المهم عزل إمدادات الطاقة أو الحرارة أو كليهما لمنع حدوث أي أضرار إضافية. وعليك إبلاغ الشخص المسؤول واتباع تعليماته، ومن أهمها إطلاق الإنذار وإخطار المسعفين وإخلاء المنطقة.</a:t>
            </a:r>
          </a:p>
          <a:p>
            <a:pPr indent="0" rtl="1">
              <a:buFont typeface="Wingdings" panose="05000000000000000000" pitchFamily="2" charset="2"/>
              <a:buNone/>
            </a:pPr>
            <a:r>
              <a:rPr lang="ar" sz="1800" b="1" dirty="0"/>
              <a:t>ممارسات العمل الآمن: </a:t>
            </a:r>
            <a:r>
              <a:rPr lang="ar" sz="1800" dirty="0"/>
              <a:t>الحفاظ على الوعي والامتثال لتحديد مصادر الأخطار وتقييمات الأخطار وإجراءات التشغيل القياسية المرتبطة بالمهام الإلكترونية. وهذا يشمل بناء الدوائر الإلكترونية وقياسها واختبارها.</a:t>
            </a:r>
          </a:p>
          <a:p>
            <a:pPr marL="685800" rtl="1"/>
            <a:endParaRPr lang="en-GB" altLang="en-US" sz="1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pic>
        <p:nvPicPr>
          <p:cNvPr id="5" name="Picture 4" descr="A collection of warning signs&#10;&#10;Description automatically generated">
            <a:extLst>
              <a:ext uri="{FF2B5EF4-FFF2-40B4-BE49-F238E27FC236}">
                <a16:creationId xmlns:a16="http://schemas.microsoft.com/office/drawing/2014/main" id="{E51031AA-049B-8835-97F2-B01B3A177AF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6620" y="3789040"/>
            <a:ext cx="5381684" cy="2463672"/>
          </a:xfrm>
          <a:prstGeom prst="rect">
            <a:avLst/>
          </a:prstGeom>
        </p:spPr>
      </p:pic>
      <p:sp>
        <p:nvSpPr>
          <p:cNvPr id="2" name="Footer Placeholder 2">
            <a:extLst>
              <a:ext uri="{FF2B5EF4-FFF2-40B4-BE49-F238E27FC236}">
                <a16:creationId xmlns:a16="http://schemas.microsoft.com/office/drawing/2014/main" id="{630721BB-475C-5866-94A4-B56CF592247B}"/>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9114486"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1800" b="1" dirty="0"/>
              <a:t>أجهزة الصمام الثنائي والدوائر التي تعمل بالصمام الثنائي</a:t>
            </a:r>
          </a:p>
          <a:p>
            <a:pPr indent="0" rtl="1">
              <a:buFont typeface="Wingdings" panose="05000000000000000000" pitchFamily="2" charset="2"/>
              <a:buNone/>
            </a:pPr>
            <a:endParaRPr lang="en-GB" sz="1100" dirty="0"/>
          </a:p>
          <a:p>
            <a:pPr indent="0" rtl="1">
              <a:buFont typeface="Wingdings" panose="05000000000000000000" pitchFamily="2" charset="2"/>
              <a:buNone/>
            </a:pPr>
            <a:r>
              <a:rPr lang="ar" sz="1800" b="1" dirty="0"/>
              <a:t>أنواع الصمامات الثنائية (الدايود): </a:t>
            </a:r>
            <a:r>
              <a:rPr lang="ar" sz="1800" dirty="0"/>
              <a:t>دايود الإشارة، دايود المقوم، دايود زينر، الدايود الباعث للضوء (LED).</a:t>
            </a:r>
          </a:p>
          <a:p>
            <a:pPr indent="0" rtl="1">
              <a:buFont typeface="Wingdings" panose="05000000000000000000" pitchFamily="2" charset="2"/>
              <a:buNone/>
            </a:pPr>
            <a:endParaRPr lang="en-GB" sz="1200" dirty="0"/>
          </a:p>
          <a:p>
            <a:pPr indent="0" rtl="1">
              <a:buFont typeface="Wingdings" panose="05000000000000000000" pitchFamily="2" charset="2"/>
              <a:buNone/>
            </a:pPr>
            <a:r>
              <a:rPr lang="ar" sz="1800" b="1" dirty="0"/>
              <a:t>تشغيل الصمامات الثنائية (الدايود): </a:t>
            </a:r>
            <a:r>
              <a:rPr lang="ar" sz="1800" dirty="0"/>
              <a:t>أشباه الموصلات: المواد، الأصيلة، الخارجية، المنشطات، النوع p، النوع n، النوع: وصلة PN، الخصائص: الانحياز الأمامي والعكسي</a:t>
            </a:r>
          </a:p>
          <a:p>
            <a:pPr indent="0" rtl="1">
              <a:buFont typeface="Wingdings" panose="05000000000000000000" pitchFamily="2" charset="2"/>
              <a:buNone/>
            </a:pPr>
            <a:endParaRPr lang="en-GB" sz="1100" dirty="0"/>
          </a:p>
          <a:p>
            <a:pPr indent="0" rtl="1">
              <a:buFont typeface="Wingdings" panose="05000000000000000000" pitchFamily="2" charset="2"/>
              <a:buNone/>
            </a:pPr>
            <a:r>
              <a:rPr lang="ar" sz="1800" b="1" dirty="0"/>
              <a:t>بناء الدوائر القائمة على الصمام الثنائي (الدايود): </a:t>
            </a:r>
            <a:r>
              <a:rPr lang="ar" sz="1800" dirty="0"/>
              <a:t>استخدام لوحة التجارب أو لوحة الشرائح بأمان، التطبيقات المختلفة: التقويم (نصف الموجي، كامل الموجة)، استقرار الجهد، وتنظيم الجهد</a:t>
            </a:r>
            <a:endParaRPr lang="en-GB" altLang="en-US" sz="1800" dirty="0"/>
          </a:p>
        </p:txBody>
      </p:sp>
      <p:pic>
        <p:nvPicPr>
          <p:cNvPr id="5" name="Picture 4" descr="A black and white symbol in a circle&#10;&#10;Description automatically generated">
            <a:extLst>
              <a:ext uri="{FF2B5EF4-FFF2-40B4-BE49-F238E27FC236}">
                <a16:creationId xmlns:a16="http://schemas.microsoft.com/office/drawing/2014/main" id="{ABF7656E-0A94-0133-02E6-7EF627DB14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08465" y="3991704"/>
            <a:ext cx="2563368" cy="1813560"/>
          </a:xfrm>
          <a:prstGeom prst="rect">
            <a:avLst/>
          </a:prstGeom>
        </p:spPr>
      </p:pic>
      <p:sp>
        <p:nvSpPr>
          <p:cNvPr id="6" name="Rectangle 1">
            <a:extLst>
              <a:ext uri="{FF2B5EF4-FFF2-40B4-BE49-F238E27FC236}">
                <a16:creationId xmlns:a16="http://schemas.microsoft.com/office/drawing/2014/main" id="{60234CC6-E21F-43DB-B5A4-C9EBD5597581}"/>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36BE4138-ED47-9ACE-374E-C2A4552ED961}"/>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248193591"/>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1412776"/>
            <a:ext cx="820891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أجهزة الترانزستور والدوائر التي تعمل بالترانزستور</a:t>
            </a:r>
          </a:p>
          <a:p>
            <a:pPr marL="0" indent="0" rtl="1">
              <a:buNone/>
            </a:pPr>
            <a:endParaRPr lang="en-GB" sz="1800" b="1" dirty="0"/>
          </a:p>
          <a:p>
            <a:pPr rtl="1"/>
            <a:r>
              <a:rPr lang="ar" sz="1800" dirty="0">
                <a:effectLst/>
              </a:rPr>
              <a:t>تعد أجهزة الترانزستور والدوائر التي تعمل بالترانزستور مكونات أساسية في الدوائر التجارية. هناك أنواع مختلفة من الترانزستورات، منها ترانزستورات الوصلة ثنائية القطب (BJT) مثل NPN وPNP، وترانزستورات الأثر الحقلي (FET) مثل قناة N وقناة P. يمكن استخدام هذه الترانزستورات في العديد من التطبيقات المختلفة.</a:t>
            </a:r>
          </a:p>
          <a:p>
            <a:pPr rtl="1"/>
            <a:r>
              <a:rPr lang="ar" sz="1800" dirty="0">
                <a:effectLst/>
              </a:rPr>
              <a:t>تعمل الترانزستورات بناءً على توصيلاتها، بما في ذلك القاعدة المشتركة والباعث المشترك وتكوينات المجمع المشترك. يعمل الترانزستور ضمن مناطق تشغيل مختلفة: منطقة القطع (لا يوجد تيار في المجمع)، والمنطقة الفعالة (يوجد تيار معين في المجمع)، ومنطقة التشبع (يكون تيار المجمع أكبر من تيار الباعث). ويُعد الانحياز مهمًا لتحديد نقطة تشغيل جهاز الترانزستور.</a:t>
            </a:r>
          </a:p>
          <a:p>
            <a:pPr rtl="1"/>
            <a:r>
              <a:rPr lang="ar" sz="1800" dirty="0">
                <a:effectLst/>
              </a:rPr>
              <a:t>لإنشاء الدوائر الفعلية القائمة على الترانزستورات بأمان، يمكن استخدام لوحة التجارب أو لوحة الشرائح. ويمكن تصميم هذه الدوائر للاستفادة منها في تطبيقات مختلفة، مثل التبديل، والمقارنات، والدوائر الرقمية (ذات نقاط الضبط)، والمكبرات أحادية المرحلة. وتؤدي هذه الدوائر وظائف مثل كسب التيار والجهد، وعكس الطور، وعرض النطاق الترددي.</a:t>
            </a:r>
            <a:endParaRPr lang="en-GB" sz="1800" dirty="0"/>
          </a:p>
        </p:txBody>
      </p:sp>
      <p:sp>
        <p:nvSpPr>
          <p:cNvPr id="4" name="Rectangle 1">
            <a:extLst>
              <a:ext uri="{FF2B5EF4-FFF2-40B4-BE49-F238E27FC236}">
                <a16:creationId xmlns:a16="http://schemas.microsoft.com/office/drawing/2014/main" id="{A0E5D660-7053-45F9-948D-3AD08FC9C2BE}"/>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69F933EC-DD39-5A24-DD06-04E29B3E6D6F}"/>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42478840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268760"/>
            <a:ext cx="8712968"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t>دوائر المُكبر العملياتي</a:t>
            </a:r>
          </a:p>
          <a:p>
            <a:pPr marL="0" indent="0" rtl="1">
              <a:buNone/>
            </a:pPr>
            <a:endParaRPr lang="en-GB" sz="1800" b="1" dirty="0"/>
          </a:p>
          <a:p>
            <a:pPr rtl="1"/>
            <a:r>
              <a:rPr lang="ar" sz="1800" b="1" dirty="0">
                <a:effectLst/>
              </a:rPr>
              <a:t>مقارن الجهد</a:t>
            </a:r>
          </a:p>
          <a:p>
            <a:pPr marL="360000" lvl="1" indent="0" rtl="1">
              <a:buNone/>
            </a:pPr>
            <a:r>
              <a:rPr lang="ar" sz="1800" dirty="0">
                <a:effectLst/>
              </a:rPr>
              <a:t>يمكن استخدام دائرة المكبر العملياتي كمقارن للجهد لمقارنة جهدين من جهد الإدخال وإنتاج خرج مرتفع أو منخفض اعتمادًا على نتيجة المقارنة.</a:t>
            </a:r>
          </a:p>
          <a:p>
            <a:pPr rtl="1"/>
            <a:r>
              <a:rPr lang="ar" sz="1800" b="1" dirty="0">
                <a:effectLst/>
              </a:rPr>
              <a:t>مكبر عاكس وغير عاكس</a:t>
            </a:r>
          </a:p>
          <a:p>
            <a:pPr marL="360000" lvl="1" indent="0" rtl="1">
              <a:buNone/>
            </a:pPr>
            <a:r>
              <a:rPr lang="ar" sz="1800" dirty="0">
                <a:effectLst/>
              </a:rPr>
              <a:t>يمكن أيضًا تكوين دوائر المكبر العملياتي بوصفها مكبرات عاكسة وغير عاكسة، تعمل على تضخيم إشارة الدخل بقيمة كسب معينة. ويمكن ضبط الكسب عن طريق تحديد قيم المقاوم المناسبة.</a:t>
            </a:r>
            <a:endParaRPr lang="en-GB" sz="1800" dirty="0"/>
          </a:p>
          <a:p>
            <a:pPr rtl="1"/>
            <a:endParaRPr lang="en-GB" sz="1800" dirty="0"/>
          </a:p>
          <a:p>
            <a:pPr rtl="1"/>
            <a:endParaRPr lang="en-GB" sz="1800" dirty="0"/>
          </a:p>
          <a:p>
            <a:pPr rtl="1"/>
            <a:endParaRPr lang="en-GB" sz="1800" dirty="0"/>
          </a:p>
          <a:p>
            <a:pPr rtl="1"/>
            <a:endParaRPr lang="en-GB" sz="1800" dirty="0"/>
          </a:p>
        </p:txBody>
      </p:sp>
      <p:pic>
        <p:nvPicPr>
          <p:cNvPr id="5" name="Picture 4" descr="A close up of a circuit board&#10;&#10;Description automatically generated">
            <a:extLst>
              <a:ext uri="{FF2B5EF4-FFF2-40B4-BE49-F238E27FC236}">
                <a16:creationId xmlns:a16="http://schemas.microsoft.com/office/drawing/2014/main" id="{EBAAF2D8-9708-8881-1972-6186A6CE90D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10036" y="4293096"/>
            <a:ext cx="3923928" cy="2207863"/>
          </a:xfrm>
          <a:prstGeom prst="rect">
            <a:avLst/>
          </a:prstGeom>
        </p:spPr>
      </p:pic>
      <p:sp>
        <p:nvSpPr>
          <p:cNvPr id="6" name="Rectangle 1">
            <a:extLst>
              <a:ext uri="{FF2B5EF4-FFF2-40B4-BE49-F238E27FC236}">
                <a16:creationId xmlns:a16="http://schemas.microsoft.com/office/drawing/2014/main" id="{5FE2232C-F363-49E6-9536-44936E634147}"/>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6DEEBFAF-7F91-7F27-E29B-A2B313336F0F}"/>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150545785"/>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329478"/>
            <a:ext cx="8496944" cy="2658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دوائر المُكبر العملياتي</a:t>
            </a:r>
          </a:p>
          <a:p>
            <a:pPr marL="0" indent="0" rtl="1">
              <a:buNone/>
            </a:pPr>
            <a:endParaRPr lang="en-GB" sz="1600" b="1" dirty="0"/>
          </a:p>
          <a:p>
            <a:pPr rtl="1"/>
            <a:r>
              <a:rPr lang="ar" sz="1600" b="1" dirty="0">
                <a:effectLst/>
              </a:rPr>
              <a:t>التغذية الراجعة السلبية</a:t>
            </a:r>
          </a:p>
          <a:p>
            <a:pPr marL="360000" lvl="1" indent="0" rtl="1">
              <a:buNone/>
            </a:pPr>
            <a:r>
              <a:rPr lang="ar" sz="1600" dirty="0">
                <a:effectLst/>
              </a:rPr>
              <a:t>تستخدم دوائر المكبر العملياتي التغذية الراجعة السلبية، حيث يجري إعادة جزء من إشارة الخرج إلى الدخل بغرض استقرار أداء المكبر وتحسين الخطية.</a:t>
            </a:r>
            <a:endParaRPr lang="en-GB" sz="1600" dirty="0"/>
          </a:p>
          <a:p>
            <a:pPr rtl="1"/>
            <a:endParaRPr lang="en-GB" sz="1600" dirty="0"/>
          </a:p>
          <a:p>
            <a:pPr rtl="1"/>
            <a:r>
              <a:rPr lang="ar" sz="1600" b="1" dirty="0">
                <a:effectLst/>
              </a:rPr>
              <a:t>خصائص التشغيل</a:t>
            </a:r>
          </a:p>
          <a:p>
            <a:pPr marL="360000" lvl="1" indent="0" rtl="1">
              <a:buNone/>
            </a:pPr>
            <a:r>
              <a:rPr lang="ar" sz="1600" dirty="0">
                <a:effectLst/>
              </a:rPr>
              <a:t>تتميز المكبرات العملياتية بخصائص مختلفة، مثل تردد الرنين، وتردد القطع، والكسب، وعرض النطاق الترددي، ونتاج كسب النطاق الترددي. وتعتمد هذه الخصائص على قيم المكونات المستخدمة في الدائرة.</a:t>
            </a:r>
            <a:endParaRPr lang="en-GB" sz="1600" dirty="0"/>
          </a:p>
          <a:p>
            <a:pPr rtl="1"/>
            <a:endParaRPr lang="en-GB" sz="1600" dirty="0"/>
          </a:p>
          <a:p>
            <a:pPr rtl="1"/>
            <a:endParaRPr lang="en-GB" sz="1600" dirty="0"/>
          </a:p>
          <a:p>
            <a:pPr rtl="1"/>
            <a:endParaRPr lang="en-GB" sz="1600" dirty="0"/>
          </a:p>
        </p:txBody>
      </p:sp>
      <p:grpSp>
        <p:nvGrpSpPr>
          <p:cNvPr id="14" name="Group 13">
            <a:extLst>
              <a:ext uri="{FF2B5EF4-FFF2-40B4-BE49-F238E27FC236}">
                <a16:creationId xmlns:a16="http://schemas.microsoft.com/office/drawing/2014/main" id="{B3E1A25A-E742-4993-B313-46EC2ACFB9D9}"/>
              </a:ext>
            </a:extLst>
          </p:cNvPr>
          <p:cNvGrpSpPr/>
          <p:nvPr/>
        </p:nvGrpSpPr>
        <p:grpSpPr>
          <a:xfrm>
            <a:off x="3844280" y="4242732"/>
            <a:ext cx="3860068" cy="2399295"/>
            <a:chOff x="1439652" y="4242732"/>
            <a:chExt cx="3860068" cy="2399295"/>
          </a:xfrm>
        </p:grpSpPr>
        <p:grpSp>
          <p:nvGrpSpPr>
            <p:cNvPr id="12" name="Group 11">
              <a:extLst>
                <a:ext uri="{FF2B5EF4-FFF2-40B4-BE49-F238E27FC236}">
                  <a16:creationId xmlns:a16="http://schemas.microsoft.com/office/drawing/2014/main" id="{8914E819-2FE7-4124-948D-BE585FB09D02}"/>
                </a:ext>
              </a:extLst>
            </p:cNvPr>
            <p:cNvGrpSpPr/>
            <p:nvPr/>
          </p:nvGrpSpPr>
          <p:grpSpPr>
            <a:xfrm>
              <a:off x="1908448" y="4242732"/>
              <a:ext cx="3391272" cy="2399295"/>
              <a:chOff x="1908448" y="4242732"/>
              <a:chExt cx="3391272" cy="2399295"/>
            </a:xfrm>
          </p:grpSpPr>
          <p:pic>
            <p:nvPicPr>
              <p:cNvPr id="13" name="Picture 12" descr="A diagram of a chip&#10;&#10;Description automatically generated">
                <a:extLst>
                  <a:ext uri="{FF2B5EF4-FFF2-40B4-BE49-F238E27FC236}">
                    <a16:creationId xmlns:a16="http://schemas.microsoft.com/office/drawing/2014/main" id="{203D38AC-85D0-8BB4-CB5D-C6166D325B0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08448" y="4242732"/>
                <a:ext cx="3391272" cy="2399295"/>
              </a:xfrm>
              <a:prstGeom prst="rect">
                <a:avLst/>
              </a:prstGeom>
            </p:spPr>
          </p:pic>
          <p:sp>
            <p:nvSpPr>
              <p:cNvPr id="4" name="TextBox 3">
                <a:extLst>
                  <a:ext uri="{FF2B5EF4-FFF2-40B4-BE49-F238E27FC236}">
                    <a16:creationId xmlns:a16="http://schemas.microsoft.com/office/drawing/2014/main" id="{5C660E7E-6CE2-4D5E-DD00-B3A4977D4B08}"/>
                  </a:ext>
                </a:extLst>
              </p:cNvPr>
              <p:cNvSpPr txBox="1"/>
              <p:nvPr/>
            </p:nvSpPr>
            <p:spPr>
              <a:xfrm>
                <a:off x="3486194" y="4535790"/>
                <a:ext cx="1018153" cy="400110"/>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التوصيل من "الشريحة" إلى الدبوس</a:t>
                </a:r>
              </a:p>
            </p:txBody>
          </p:sp>
        </p:grpSp>
        <p:grpSp>
          <p:nvGrpSpPr>
            <p:cNvPr id="2" name="Group 1">
              <a:extLst>
                <a:ext uri="{FF2B5EF4-FFF2-40B4-BE49-F238E27FC236}">
                  <a16:creationId xmlns:a16="http://schemas.microsoft.com/office/drawing/2014/main" id="{A6E13359-1675-4CB3-A814-D56B76132010}"/>
                </a:ext>
              </a:extLst>
            </p:cNvPr>
            <p:cNvGrpSpPr/>
            <p:nvPr/>
          </p:nvGrpSpPr>
          <p:grpSpPr>
            <a:xfrm>
              <a:off x="1439652" y="4689679"/>
              <a:ext cx="3039831" cy="1433814"/>
              <a:chOff x="1439652" y="4689679"/>
              <a:chExt cx="3039831" cy="1433814"/>
            </a:xfrm>
          </p:grpSpPr>
          <p:sp>
            <p:nvSpPr>
              <p:cNvPr id="5" name="TextBox 4">
                <a:extLst>
                  <a:ext uri="{FF2B5EF4-FFF2-40B4-BE49-F238E27FC236}">
                    <a16:creationId xmlns:a16="http://schemas.microsoft.com/office/drawing/2014/main" id="{CFB4EF33-A97B-AB2E-9928-B6426B4D372E}"/>
                  </a:ext>
                </a:extLst>
              </p:cNvPr>
              <p:cNvSpPr txBox="1"/>
              <p:nvPr/>
            </p:nvSpPr>
            <p:spPr>
              <a:xfrm>
                <a:off x="3615387" y="5752170"/>
                <a:ext cx="864096" cy="246221"/>
              </a:xfrm>
              <a:prstGeom prst="rect">
                <a:avLst/>
              </a:prstGeom>
              <a:solidFill>
                <a:schemeClr val="bg1"/>
              </a:solidFill>
            </p:spPr>
            <p:txBody>
              <a:bodyPr wrap="square" rtlCol="1">
                <a:spAutoFit/>
              </a:bodyPr>
              <a:lstStyle/>
              <a:p>
                <a:pPr algn="l" rtl="1"/>
                <a:r>
                  <a:rPr lang="ar" sz="1000" dirty="0">
                    <a:latin typeface="Sakkal Majalla" panose="02000000000000000000" pitchFamily="2" charset="-78"/>
                    <a:cs typeface="Sakkal Majalla" panose="02000000000000000000" pitchFamily="2" charset="-78"/>
                  </a:rPr>
                  <a:t>دبوس معدني</a:t>
                </a:r>
              </a:p>
            </p:txBody>
          </p:sp>
          <p:sp>
            <p:nvSpPr>
              <p:cNvPr id="6" name="TextBox 5">
                <a:extLst>
                  <a:ext uri="{FF2B5EF4-FFF2-40B4-BE49-F238E27FC236}">
                    <a16:creationId xmlns:a16="http://schemas.microsoft.com/office/drawing/2014/main" id="{8FE11307-21DF-A0C6-BE3D-93AD2F1F08C0}"/>
                  </a:ext>
                </a:extLst>
              </p:cNvPr>
              <p:cNvSpPr txBox="1"/>
              <p:nvPr/>
            </p:nvSpPr>
            <p:spPr>
              <a:xfrm>
                <a:off x="2402054" y="4689679"/>
                <a:ext cx="864096" cy="246221"/>
              </a:xfrm>
              <a:prstGeom prst="rect">
                <a:avLst/>
              </a:prstGeom>
              <a:solidFill>
                <a:schemeClr val="bg1"/>
              </a:solidFill>
            </p:spPr>
            <p:txBody>
              <a:bodyPr wrap="square" rtlCol="1">
                <a:spAutoFit/>
              </a:bodyPr>
              <a:lstStyle/>
              <a:p>
                <a:pPr algn="ctr" rtl="1"/>
                <a:r>
                  <a:rPr lang="ar" sz="1000" dirty="0">
                    <a:latin typeface="Sakkal Majalla" panose="02000000000000000000" pitchFamily="2" charset="-78"/>
                    <a:cs typeface="Sakkal Majalla" panose="02000000000000000000" pitchFamily="2" charset="-78"/>
                  </a:rPr>
                  <a:t>"الشريحة"</a:t>
                </a:r>
              </a:p>
            </p:txBody>
          </p:sp>
          <p:sp>
            <p:nvSpPr>
              <p:cNvPr id="7" name="TextBox 6">
                <a:extLst>
                  <a:ext uri="{FF2B5EF4-FFF2-40B4-BE49-F238E27FC236}">
                    <a16:creationId xmlns:a16="http://schemas.microsoft.com/office/drawing/2014/main" id="{A24379D0-5680-A8D7-1760-AA70843E76BC}"/>
                  </a:ext>
                </a:extLst>
              </p:cNvPr>
              <p:cNvSpPr txBox="1"/>
              <p:nvPr/>
            </p:nvSpPr>
            <p:spPr>
              <a:xfrm>
                <a:off x="1586993" y="4827191"/>
                <a:ext cx="864096"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حافظة بلاستيكية</a:t>
                </a:r>
              </a:p>
            </p:txBody>
          </p:sp>
          <p:sp>
            <p:nvSpPr>
              <p:cNvPr id="8" name="TextBox 7">
                <a:extLst>
                  <a:ext uri="{FF2B5EF4-FFF2-40B4-BE49-F238E27FC236}">
                    <a16:creationId xmlns:a16="http://schemas.microsoft.com/office/drawing/2014/main" id="{777EEE56-A428-8E23-65FC-D8DE7351BF80}"/>
                  </a:ext>
                </a:extLst>
              </p:cNvPr>
              <p:cNvSpPr txBox="1"/>
              <p:nvPr/>
            </p:nvSpPr>
            <p:spPr>
              <a:xfrm>
                <a:off x="2887452" y="5808339"/>
                <a:ext cx="697426"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0.1 بوصة</a:t>
                </a:r>
              </a:p>
            </p:txBody>
          </p:sp>
          <p:sp>
            <p:nvSpPr>
              <p:cNvPr id="9" name="TextBox 8">
                <a:extLst>
                  <a:ext uri="{FF2B5EF4-FFF2-40B4-BE49-F238E27FC236}">
                    <a16:creationId xmlns:a16="http://schemas.microsoft.com/office/drawing/2014/main" id="{01902F60-869F-CA12-735E-F590071B897D}"/>
                  </a:ext>
                </a:extLst>
              </p:cNvPr>
              <p:cNvSpPr txBox="1"/>
              <p:nvPr/>
            </p:nvSpPr>
            <p:spPr>
              <a:xfrm>
                <a:off x="1939410" y="5877272"/>
                <a:ext cx="760382"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الدبوس 1</a:t>
                </a:r>
              </a:p>
            </p:txBody>
          </p:sp>
          <p:sp>
            <p:nvSpPr>
              <p:cNvPr id="10" name="TextBox 9">
                <a:extLst>
                  <a:ext uri="{FF2B5EF4-FFF2-40B4-BE49-F238E27FC236}">
                    <a16:creationId xmlns:a16="http://schemas.microsoft.com/office/drawing/2014/main" id="{8C99B1D7-EC20-2491-4242-70ED6DE0BE53}"/>
                  </a:ext>
                </a:extLst>
              </p:cNvPr>
              <p:cNvSpPr txBox="1"/>
              <p:nvPr/>
            </p:nvSpPr>
            <p:spPr>
              <a:xfrm>
                <a:off x="1439652" y="5282301"/>
                <a:ext cx="648072"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الحز</a:t>
                </a:r>
              </a:p>
            </p:txBody>
          </p:sp>
          <p:sp>
            <p:nvSpPr>
              <p:cNvPr id="11" name="TextBox 10">
                <a:extLst>
                  <a:ext uri="{FF2B5EF4-FFF2-40B4-BE49-F238E27FC236}">
                    <a16:creationId xmlns:a16="http://schemas.microsoft.com/office/drawing/2014/main" id="{504163A5-49B4-A459-E889-A6FE6072DF71}"/>
                  </a:ext>
                </a:extLst>
              </p:cNvPr>
              <p:cNvSpPr txBox="1"/>
              <p:nvPr/>
            </p:nvSpPr>
            <p:spPr>
              <a:xfrm>
                <a:off x="1466000" y="5657871"/>
                <a:ext cx="864096"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نقطة صغيرة</a:t>
                </a:r>
              </a:p>
            </p:txBody>
          </p:sp>
        </p:grpSp>
      </p:grpSp>
      <p:sp>
        <p:nvSpPr>
          <p:cNvPr id="17" name="Rectangle 1">
            <a:extLst>
              <a:ext uri="{FF2B5EF4-FFF2-40B4-BE49-F238E27FC236}">
                <a16:creationId xmlns:a16="http://schemas.microsoft.com/office/drawing/2014/main" id="{368B6C31-EA67-47C2-A2B3-3431ED6C45D2}"/>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3" name="Footer Placeholder 2">
            <a:extLst>
              <a:ext uri="{FF2B5EF4-FFF2-40B4-BE49-F238E27FC236}">
                <a16:creationId xmlns:a16="http://schemas.microsoft.com/office/drawing/2014/main" id="{B8904816-3660-3DBC-F554-C7F748C27FB3}"/>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81630821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196752"/>
            <a:ext cx="8784976"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الإدخال التخطيطي ومحاكاة الدوائر التناظرية</a:t>
            </a:r>
          </a:p>
          <a:p>
            <a:pPr marL="0" indent="0" rtl="1">
              <a:buNone/>
            </a:pPr>
            <a:endParaRPr lang="en-GB" sz="1600" b="1" dirty="0"/>
          </a:p>
          <a:p>
            <a:pPr rtl="1"/>
            <a:r>
              <a:rPr lang="ar" sz="1600" b="1" dirty="0">
                <a:effectLst/>
              </a:rPr>
              <a:t>الإدخال التخطيطي</a:t>
            </a:r>
          </a:p>
          <a:p>
            <a:pPr marL="324000" lvl="1" indent="0" rtl="1">
              <a:buNone/>
            </a:pPr>
            <a:r>
              <a:rPr lang="ar" sz="1600" dirty="0">
                <a:effectLst/>
                <a:latin typeface="Sakkal Majalla" panose="02000000000000000000" pitchFamily="2" charset="-78"/>
              </a:rPr>
              <a:t>الإدخال التخطيطي هو عملية إنشاء تمثيل رسومي لدائرة تناظرية باستخدام معايير رسم الدوائر الكهربائية مثل BS 8888 أو </a:t>
            </a:r>
            <a:r>
              <a:rPr lang="en-US" sz="1600" dirty="0">
                <a:effectLst/>
                <a:latin typeface="Sakkal Majalla" panose="02000000000000000000" pitchFamily="2" charset="-78"/>
              </a:rPr>
              <a:t>BS 3939</a:t>
            </a:r>
            <a:r>
              <a:rPr lang="ar" sz="1600" dirty="0">
                <a:effectLst/>
                <a:latin typeface="Sakkal Majalla" panose="02000000000000000000" pitchFamily="2" charset="-78"/>
              </a:rPr>
              <a:t> أو غيرها من المعايير الدولية ذات الصلة.</a:t>
            </a:r>
          </a:p>
          <a:p>
            <a:pPr rtl="1"/>
            <a:r>
              <a:rPr lang="ar" sz="1600" b="1" dirty="0">
                <a:effectLst/>
              </a:rPr>
              <a:t>طرق المحاكاة</a:t>
            </a:r>
          </a:p>
          <a:p>
            <a:pPr marL="324000" lvl="1" indent="0" rtl="1">
              <a:buNone/>
            </a:pPr>
            <a:r>
              <a:rPr lang="ar" sz="1600" dirty="0">
                <a:effectLst/>
                <a:latin typeface="Sakkal Majalla" panose="02000000000000000000" pitchFamily="2" charset="-78"/>
              </a:rPr>
              <a:t>تُستخدم طرق المحاكاة لاختبار الدوائر التناظرية وتحليلها افتراضيًّا. وتسمح هذه الطرق باستخراج البيانات والقياسات، مثل الجهد والتيار والطاقة وإشارات الدخل والخرج والكسب وتحليل التردد.</a:t>
            </a:r>
          </a:p>
          <a:p>
            <a:pPr marL="0" indent="0" rtl="1">
              <a:buNone/>
            </a:pPr>
            <a:endParaRPr lang="en-GB" sz="1600" b="1" dirty="0"/>
          </a:p>
        </p:txBody>
      </p:sp>
      <p:pic>
        <p:nvPicPr>
          <p:cNvPr id="5" name="Picture 4" descr="A blue background with a white button&#10;&#10;Description automatically generated">
            <a:extLst>
              <a:ext uri="{FF2B5EF4-FFF2-40B4-BE49-F238E27FC236}">
                <a16:creationId xmlns:a16="http://schemas.microsoft.com/office/drawing/2014/main" id="{43756178-2360-8819-CAC9-485F34AA054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87824" y="4077072"/>
            <a:ext cx="3203848" cy="2281140"/>
          </a:xfrm>
          <a:prstGeom prst="rect">
            <a:avLst/>
          </a:prstGeom>
        </p:spPr>
      </p:pic>
      <p:sp>
        <p:nvSpPr>
          <p:cNvPr id="6" name="Rectangle 1">
            <a:extLst>
              <a:ext uri="{FF2B5EF4-FFF2-40B4-BE49-F238E27FC236}">
                <a16:creationId xmlns:a16="http://schemas.microsoft.com/office/drawing/2014/main" id="{3173DBB0-B017-4ECE-BB3E-C89814A6C156}"/>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CC53D95C-716E-2F49-A96A-415A192AB111}"/>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69079449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568952"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t>الإدخال التخطيطي ومحاكاة الدوائر التناظرية</a:t>
            </a:r>
          </a:p>
          <a:p>
            <a:pPr marL="0" indent="0" rtl="1">
              <a:buNone/>
            </a:pPr>
            <a:endParaRPr lang="en-GB" sz="1800" b="1" dirty="0"/>
          </a:p>
          <a:p>
            <a:pPr rtl="1"/>
            <a:r>
              <a:rPr lang="ar" sz="1800" b="1" dirty="0">
                <a:effectLst/>
              </a:rPr>
              <a:t>الأجهزة الافتراضية</a:t>
            </a:r>
          </a:p>
          <a:p>
            <a:pPr marL="360000" lvl="1" indent="0" rtl="1">
              <a:buNone/>
            </a:pPr>
            <a:r>
              <a:rPr lang="ar" sz="1800" dirty="0">
                <a:effectLst/>
              </a:rPr>
              <a:t>تُستخدم الأجهزة الافتراضية في محاكاة الدوائر التناظرية لاستخراج البيانات والقياسات. وتوفر بيئة افتراضية لإجراء الاختبارات والتحليل.</a:t>
            </a:r>
          </a:p>
          <a:p>
            <a:pPr marL="0" indent="0" rtl="1">
              <a:buNone/>
            </a:pPr>
            <a:endParaRPr lang="en-GB" sz="1800" b="1" dirty="0"/>
          </a:p>
          <a:p>
            <a:pPr rtl="1"/>
            <a:r>
              <a:rPr lang="ar" sz="1800" b="1" dirty="0">
                <a:effectLst/>
              </a:rPr>
              <a:t>تحليل التردد</a:t>
            </a:r>
          </a:p>
          <a:p>
            <a:pPr marL="360000" lvl="1" indent="0" rtl="1">
              <a:buNone/>
            </a:pPr>
            <a:r>
              <a:rPr lang="ar" sz="1800" dirty="0">
                <a:effectLst/>
              </a:rPr>
              <a:t>يعد تحليل التردد، مثل مخططات بود، أداة مهمة تُستخدم في محاكاة الدوائر التناظرية. ويسمح بتحليل مدى استجابة تردد الدائرة وأدائها.</a:t>
            </a:r>
            <a:endParaRPr lang="en-GB" sz="1800" b="1" dirty="0"/>
          </a:p>
        </p:txBody>
      </p:sp>
      <p:pic>
        <p:nvPicPr>
          <p:cNvPr id="5" name="Picture 4" descr="A blue sound wave with lights&#10;&#10;Description automatically generated">
            <a:extLst>
              <a:ext uri="{FF2B5EF4-FFF2-40B4-BE49-F238E27FC236}">
                <a16:creationId xmlns:a16="http://schemas.microsoft.com/office/drawing/2014/main" id="{CA416787-4AC5-86DD-E8F9-EDAB8236E1A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82044" y="4525954"/>
            <a:ext cx="3779912" cy="2126571"/>
          </a:xfrm>
          <a:prstGeom prst="rect">
            <a:avLst/>
          </a:prstGeom>
        </p:spPr>
      </p:pic>
      <p:sp>
        <p:nvSpPr>
          <p:cNvPr id="6" name="Rectangle 1">
            <a:extLst>
              <a:ext uri="{FF2B5EF4-FFF2-40B4-BE49-F238E27FC236}">
                <a16:creationId xmlns:a16="http://schemas.microsoft.com/office/drawing/2014/main" id="{D57028D2-0CCF-4B4E-A772-5DB927C1C76D}"/>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598B5671-E5A0-9588-458E-642A131E8093}"/>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75457892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268760"/>
            <a:ext cx="8352928" cy="235105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استخدام معدات الاختبار المادية بأمان</a:t>
            </a:r>
          </a:p>
          <a:p>
            <a:pPr marL="0" indent="0" rtl="1">
              <a:buNone/>
            </a:pPr>
            <a:endParaRPr lang="en-GB" sz="1600" b="1" dirty="0"/>
          </a:p>
          <a:p>
            <a:pPr rtl="1"/>
            <a:r>
              <a:rPr lang="ar" sz="1600" b="1" dirty="0">
                <a:effectLst/>
              </a:rPr>
              <a:t>أجهزة القياس متعددة الأغراض</a:t>
            </a:r>
            <a:endParaRPr lang="en-GB" sz="1600" b="1" dirty="0">
              <a:effectLst/>
            </a:endParaRPr>
          </a:p>
          <a:p>
            <a:pPr marL="360000" lvl="1" indent="0" rtl="1">
              <a:buNone/>
            </a:pPr>
            <a:r>
              <a:rPr lang="ar" sz="1600" dirty="0">
                <a:effectLst/>
              </a:rPr>
              <a:t>تأكد من ضبط جهاز القياس متعدد الأغراض على النطاق الصحيح قبل إجراء القياسات.</a:t>
            </a:r>
          </a:p>
          <a:p>
            <a:pPr marL="360000" lvl="1" indent="0" rtl="1">
              <a:buNone/>
            </a:pPr>
            <a:r>
              <a:rPr lang="ar" sz="1600" dirty="0">
                <a:effectLst/>
              </a:rPr>
              <a:t>واحرص دائمًا على استخدام المجسات المناسبة لنوع القياس الذي يجري تنفيذه.</a:t>
            </a:r>
          </a:p>
          <a:p>
            <a:pPr rtl="1"/>
            <a:r>
              <a:rPr lang="ar" sz="1600" b="1" dirty="0">
                <a:effectLst/>
              </a:rPr>
              <a:t>مولدات ال</a:t>
            </a:r>
            <a:r>
              <a:rPr lang="ar-EG" sz="1600" b="1" dirty="0">
                <a:effectLst/>
              </a:rPr>
              <a:t>إشارة</a:t>
            </a:r>
            <a:endParaRPr lang="ar" sz="1600" b="1" dirty="0">
              <a:effectLst/>
            </a:endParaRPr>
          </a:p>
          <a:p>
            <a:pPr marL="360000" lvl="1" indent="0" rtl="1">
              <a:buNone/>
            </a:pPr>
            <a:r>
              <a:rPr lang="ar" sz="1600" dirty="0"/>
              <a:t>تعرف على عناصر التحكم والإعدادات الخاصة بمولد ال</a:t>
            </a:r>
            <a:r>
              <a:rPr lang="ar-EG" sz="1600" dirty="0"/>
              <a:t>إشارات</a:t>
            </a:r>
            <a:r>
              <a:rPr lang="ar" sz="1600" dirty="0"/>
              <a:t> قبل الاستخدام.</a:t>
            </a:r>
          </a:p>
          <a:p>
            <a:pPr marL="360000" lvl="1" indent="0" rtl="1">
              <a:buNone/>
            </a:pPr>
            <a:r>
              <a:rPr lang="ar" sz="1600" dirty="0"/>
              <a:t>تحقق جيدًا من شكل موجة الخرج والسعة قبل توصيلها بالدائرة.</a:t>
            </a:r>
          </a:p>
          <a:p>
            <a:pPr marL="0" indent="0" rtl="1">
              <a:buNone/>
            </a:pPr>
            <a:endParaRPr lang="en-GB" sz="1600" b="1" dirty="0"/>
          </a:p>
          <a:p>
            <a:pPr marL="0" indent="0" rtl="1">
              <a:buNone/>
            </a:pPr>
            <a:endParaRPr lang="en-GB" sz="1600" b="1" dirty="0"/>
          </a:p>
        </p:txBody>
      </p:sp>
      <p:pic>
        <p:nvPicPr>
          <p:cNvPr id="6" name="Picture 5" descr="A group of multimeters&#10;&#10;Description automatically generated">
            <a:extLst>
              <a:ext uri="{FF2B5EF4-FFF2-40B4-BE49-F238E27FC236}">
                <a16:creationId xmlns:a16="http://schemas.microsoft.com/office/drawing/2014/main" id="{DADB26AF-B7A1-ADE1-5580-52347A6BA3F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18048" y="3619814"/>
            <a:ext cx="3707904" cy="2351749"/>
          </a:xfrm>
          <a:prstGeom prst="rect">
            <a:avLst/>
          </a:prstGeom>
        </p:spPr>
      </p:pic>
      <p:sp>
        <p:nvSpPr>
          <p:cNvPr id="5" name="Rectangle 1">
            <a:extLst>
              <a:ext uri="{FF2B5EF4-FFF2-40B4-BE49-F238E27FC236}">
                <a16:creationId xmlns:a16="http://schemas.microsoft.com/office/drawing/2014/main" id="{CD300BB2-A9D5-41FA-B9A0-08F3A66D35E7}"/>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D5B5F1BE-D065-D711-14BC-62BE2F4086A1}"/>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928558513"/>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352928"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استخدام معدات الاختبار المادية بأمان</a:t>
            </a:r>
          </a:p>
          <a:p>
            <a:pPr marL="0" indent="0" rtl="1">
              <a:buNone/>
            </a:pPr>
            <a:endParaRPr lang="en-GB" sz="1600" b="1" dirty="0"/>
          </a:p>
          <a:p>
            <a:pPr rtl="1"/>
            <a:r>
              <a:rPr lang="ar" sz="1600" b="1" dirty="0">
                <a:effectLst/>
              </a:rPr>
              <a:t>راسمات الذبذبات</a:t>
            </a:r>
          </a:p>
          <a:p>
            <a:pPr marL="360000" lvl="1" indent="0" rtl="1">
              <a:buNone/>
            </a:pPr>
            <a:r>
              <a:rPr lang="ar" sz="1600" dirty="0">
                <a:effectLst/>
              </a:rPr>
              <a:t>استخدم المجسات المناسبة وتأكد من أنها متصلة براسم الذبذبات اتصالًا صحيحًا.</a:t>
            </a:r>
          </a:p>
          <a:p>
            <a:pPr marL="360000" lvl="1" indent="0" rtl="1">
              <a:buNone/>
            </a:pPr>
            <a:r>
              <a:rPr lang="ar" sz="1600" dirty="0">
                <a:effectLst/>
              </a:rPr>
              <a:t>واضبط القاعدة الزمنية ومقاييس الجهد للحصول على عرض واضح لشكل الموجة.</a:t>
            </a:r>
          </a:p>
          <a:p>
            <a:pPr rtl="1"/>
            <a:r>
              <a:rPr lang="ar" sz="1600" b="1" dirty="0">
                <a:effectLst/>
              </a:rPr>
              <a:t>مخططات بود</a:t>
            </a:r>
          </a:p>
          <a:p>
            <a:pPr marL="360000" lvl="1" indent="0" rtl="1">
              <a:buNone/>
            </a:pPr>
            <a:r>
              <a:rPr lang="ar" sz="1600" dirty="0">
                <a:effectLst/>
              </a:rPr>
              <a:t>اتبع إرشادات الشركة المصنعة بعناية لإعداد مخطط بود واستخدامه، إذا كان ذلك متاحًا.</a:t>
            </a:r>
          </a:p>
          <a:p>
            <a:pPr marL="360000" lvl="1" indent="0" rtl="1">
              <a:buNone/>
            </a:pPr>
            <a:r>
              <a:rPr lang="ar" sz="1600" dirty="0">
                <a:effectLst/>
              </a:rPr>
              <a:t>واتخذ الاحتياطات اللازمة لمنع حدوث صدمة كهربائية عند إجراء التوصيلات.</a:t>
            </a:r>
          </a:p>
          <a:p>
            <a:pPr marL="0" indent="0" rtl="1">
              <a:buNone/>
            </a:pPr>
            <a:endParaRPr lang="en-GB" sz="1600" b="1" dirty="0"/>
          </a:p>
        </p:txBody>
      </p:sp>
      <p:pic>
        <p:nvPicPr>
          <p:cNvPr id="5" name="Picture 4" descr="A graph of a wave&#10;&#10;Description automatically generated with medium confidence">
            <a:extLst>
              <a:ext uri="{FF2B5EF4-FFF2-40B4-BE49-F238E27FC236}">
                <a16:creationId xmlns:a16="http://schemas.microsoft.com/office/drawing/2014/main" id="{7ABC14E2-3AF1-1A32-1430-9C3CC682EB0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58369" y="4221088"/>
            <a:ext cx="3027263" cy="2301212"/>
          </a:xfrm>
          <a:prstGeom prst="rect">
            <a:avLst/>
          </a:prstGeom>
        </p:spPr>
      </p:pic>
      <p:sp>
        <p:nvSpPr>
          <p:cNvPr id="6" name="Rectangle 1">
            <a:extLst>
              <a:ext uri="{FF2B5EF4-FFF2-40B4-BE49-F238E27FC236}">
                <a16:creationId xmlns:a16="http://schemas.microsoft.com/office/drawing/2014/main" id="{79216DF9-DD13-47A3-A4C0-3D04B6B90A52}"/>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E7D1B519-2A05-88C7-4B95-9F3351EF577C}"/>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72268404"/>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5606" y="1477324"/>
            <a:ext cx="5614547" cy="16495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t>أ6 اختبار الدوائر التناظرية الفعلية </a:t>
            </a:r>
          </a:p>
          <a:p>
            <a:pPr marL="0" indent="0" rtl="1">
              <a:buNone/>
            </a:pPr>
            <a:endParaRPr lang="en-GB" sz="1800" dirty="0"/>
          </a:p>
          <a:p>
            <a:pPr marL="0" indent="0" rtl="1">
              <a:buNone/>
            </a:pPr>
            <a:r>
              <a:rPr lang="ar" sz="1800" dirty="0"/>
              <a:t>الاستخدام الآمن لمعدات الاختبار المادي، وعلى رأسها أجهزة القياس متعددة الأغراض ومولدات ال</a:t>
            </a:r>
            <a:r>
              <a:rPr lang="ar-EG" sz="1800" dirty="0"/>
              <a:t>إشارة</a:t>
            </a:r>
            <a:r>
              <a:rPr lang="ar" sz="1800" dirty="0"/>
              <a:t> وراسمات الذبذبات والمعدات الأكثر تعقيدًا، مثل راسمات بود، إذا توافرت. </a:t>
            </a:r>
            <a:endParaRPr lang="en-GB" sz="1800" b="1" dirty="0"/>
          </a:p>
        </p:txBody>
      </p:sp>
      <p:pic>
        <p:nvPicPr>
          <p:cNvPr id="6" name="Picture 5" descr="A person working on a circuit board&#10;&#10;Description automatically generated">
            <a:extLst>
              <a:ext uri="{FF2B5EF4-FFF2-40B4-BE49-F238E27FC236}">
                <a16:creationId xmlns:a16="http://schemas.microsoft.com/office/drawing/2014/main" id="{25AB8A3B-8616-8CCF-FB78-B906F4DE109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72200" y="2060848"/>
            <a:ext cx="2160240" cy="3246462"/>
          </a:xfrm>
          <a:prstGeom prst="rect">
            <a:avLst/>
          </a:prstGeom>
        </p:spPr>
      </p:pic>
      <p:sp>
        <p:nvSpPr>
          <p:cNvPr id="7" name="Rectangle 1">
            <a:extLst>
              <a:ext uri="{FF2B5EF4-FFF2-40B4-BE49-F238E27FC236}">
                <a16:creationId xmlns:a16="http://schemas.microsoft.com/office/drawing/2014/main" id="{C129F11A-83EC-4E0C-B5A8-6268AA724C15}"/>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8" name="Content Placeholder 3">
            <a:extLst>
              <a:ext uri="{FF2B5EF4-FFF2-40B4-BE49-F238E27FC236}">
                <a16:creationId xmlns:a16="http://schemas.microsoft.com/office/drawing/2014/main" id="{8194F05B-6A6D-4802-B4CB-FBFE95B93CAA}"/>
              </a:ext>
            </a:extLst>
          </p:cNvPr>
          <p:cNvSpPr txBox="1">
            <a:spLocks noChangeArrowheads="1"/>
          </p:cNvSpPr>
          <p:nvPr/>
        </p:nvSpPr>
        <p:spPr bwMode="auto">
          <a:xfrm>
            <a:off x="541629" y="3501008"/>
            <a:ext cx="5614547"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Sakkal Majalla" panose="02000000000000000000" pitchFamily="2" charset="-78"/>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buFont typeface="Wingdings" panose="05000000000000000000" pitchFamily="2" charset="2"/>
              <a:buNone/>
            </a:pPr>
            <a:r>
              <a:rPr lang="ar-EG" sz="1600" kern="0" dirty="0"/>
              <a:t>تشمل الحسابات باستخدام القيم المقاسة:</a:t>
            </a:r>
            <a:endParaRPr lang="en-GB" sz="1600" kern="0" dirty="0"/>
          </a:p>
        </p:txBody>
      </p:sp>
      <p:sp>
        <p:nvSpPr>
          <p:cNvPr id="9" name="Content Placeholder 3">
            <a:extLst>
              <a:ext uri="{FF2B5EF4-FFF2-40B4-BE49-F238E27FC236}">
                <a16:creationId xmlns:a16="http://schemas.microsoft.com/office/drawing/2014/main" id="{31023F96-6FBF-4412-8EF7-DB982EC93DF4}"/>
              </a:ext>
            </a:extLst>
          </p:cNvPr>
          <p:cNvSpPr txBox="1">
            <a:spLocks noChangeArrowheads="1"/>
          </p:cNvSpPr>
          <p:nvPr/>
        </p:nvSpPr>
        <p:spPr bwMode="auto">
          <a:xfrm>
            <a:off x="786586" y="3825044"/>
            <a:ext cx="5398523" cy="9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Sakkal Majalla" panose="02000000000000000000" pitchFamily="2" charset="-78"/>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228600" indent="-228600">
              <a:spcAft>
                <a:spcPts val="600"/>
              </a:spcAft>
              <a:buFont typeface="Courier New" panose="02070309020205020404" pitchFamily="49" charset="0"/>
              <a:buChar char="o"/>
            </a:pPr>
            <a:r>
              <a:rPr lang="ar-EG" sz="1400" kern="0" dirty="0"/>
              <a:t>كسب التيار في الترانزستور</a:t>
            </a:r>
            <a:endParaRPr lang="en-US" sz="1400" kern="0" dirty="0"/>
          </a:p>
          <a:p>
            <a:pPr marL="228600" indent="-228600">
              <a:spcAft>
                <a:spcPts val="600"/>
              </a:spcAft>
              <a:buFont typeface="Courier New" panose="02070309020205020404" pitchFamily="49" charset="0"/>
              <a:buChar char="o"/>
            </a:pPr>
            <a:r>
              <a:rPr lang="ar-EG" sz="1400" kern="0" dirty="0"/>
              <a:t>كسب الجهد في الدائرة (مكبر الترانزستور، المكبر العملياتي غير العاكس والعاكس)</a:t>
            </a:r>
            <a:endParaRPr lang="en-GB" sz="1400" kern="0" dirty="0"/>
          </a:p>
        </p:txBody>
      </p:sp>
      <p:pic>
        <p:nvPicPr>
          <p:cNvPr id="10" name="Picture 9">
            <a:extLst>
              <a:ext uri="{FF2B5EF4-FFF2-40B4-BE49-F238E27FC236}">
                <a16:creationId xmlns:a16="http://schemas.microsoft.com/office/drawing/2014/main" id="{6BDFE15F-2317-4A04-8754-36591C683A18}"/>
              </a:ext>
            </a:extLst>
          </p:cNvPr>
          <p:cNvPicPr>
            <a:picLocks noChangeAspect="1"/>
          </p:cNvPicPr>
          <p:nvPr/>
        </p:nvPicPr>
        <p:blipFill>
          <a:blip r:embed="rId5"/>
          <a:stretch>
            <a:fillRect/>
          </a:stretch>
        </p:blipFill>
        <p:spPr>
          <a:xfrm>
            <a:off x="1187624" y="4149080"/>
            <a:ext cx="648072" cy="450564"/>
          </a:xfrm>
          <a:prstGeom prst="rect">
            <a:avLst/>
          </a:prstGeom>
        </p:spPr>
      </p:pic>
      <p:pic>
        <p:nvPicPr>
          <p:cNvPr id="11" name="Picture 10">
            <a:extLst>
              <a:ext uri="{FF2B5EF4-FFF2-40B4-BE49-F238E27FC236}">
                <a16:creationId xmlns:a16="http://schemas.microsoft.com/office/drawing/2014/main" id="{DAA49E94-3AFB-4810-948E-EE211EBC2C88}"/>
              </a:ext>
            </a:extLst>
          </p:cNvPr>
          <p:cNvPicPr>
            <a:picLocks noChangeAspect="1"/>
          </p:cNvPicPr>
          <p:nvPr/>
        </p:nvPicPr>
        <p:blipFill>
          <a:blip r:embed="rId6"/>
          <a:stretch>
            <a:fillRect/>
          </a:stretch>
        </p:blipFill>
        <p:spPr>
          <a:xfrm>
            <a:off x="3695768" y="3770549"/>
            <a:ext cx="822885" cy="414536"/>
          </a:xfrm>
          <a:prstGeom prst="rect">
            <a:avLst/>
          </a:prstGeom>
        </p:spPr>
      </p:pic>
      <p:pic>
        <p:nvPicPr>
          <p:cNvPr id="12" name="Picture 11">
            <a:extLst>
              <a:ext uri="{FF2B5EF4-FFF2-40B4-BE49-F238E27FC236}">
                <a16:creationId xmlns:a16="http://schemas.microsoft.com/office/drawing/2014/main" id="{2162A0C4-91F0-41D9-AE83-D76309F250A2}"/>
              </a:ext>
            </a:extLst>
          </p:cNvPr>
          <p:cNvPicPr>
            <a:picLocks noChangeAspect="1"/>
          </p:cNvPicPr>
          <p:nvPr/>
        </p:nvPicPr>
        <p:blipFill>
          <a:blip r:embed="rId7"/>
          <a:stretch>
            <a:fillRect/>
          </a:stretch>
        </p:blipFill>
        <p:spPr>
          <a:xfrm>
            <a:off x="3332077" y="4466777"/>
            <a:ext cx="867332" cy="413954"/>
          </a:xfrm>
          <a:prstGeom prst="rect">
            <a:avLst/>
          </a:prstGeom>
        </p:spPr>
      </p:pic>
      <p:sp>
        <p:nvSpPr>
          <p:cNvPr id="13" name="Content Placeholder 3">
            <a:extLst>
              <a:ext uri="{FF2B5EF4-FFF2-40B4-BE49-F238E27FC236}">
                <a16:creationId xmlns:a16="http://schemas.microsoft.com/office/drawing/2014/main" id="{0CC24025-5A11-40DC-9DF2-FA12B346707F}"/>
              </a:ext>
            </a:extLst>
          </p:cNvPr>
          <p:cNvSpPr txBox="1">
            <a:spLocks noChangeArrowheads="1"/>
          </p:cNvSpPr>
          <p:nvPr/>
        </p:nvSpPr>
        <p:spPr bwMode="auto">
          <a:xfrm>
            <a:off x="570562" y="4499756"/>
            <a:ext cx="5614547"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Sakkal Majalla" panose="02000000000000000000" pitchFamily="2" charset="-78"/>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buFont typeface="Wingdings" panose="05000000000000000000" pitchFamily="2" charset="2"/>
              <a:buNone/>
            </a:pPr>
            <a:r>
              <a:rPr lang="ar-EG" sz="1400" kern="0" dirty="0"/>
              <a:t>تردد القطع لمرشحات المكبر العملياتي</a:t>
            </a:r>
            <a:endParaRPr lang="en-GB" sz="1400" kern="0" dirty="0"/>
          </a:p>
        </p:txBody>
      </p:sp>
      <p:sp>
        <p:nvSpPr>
          <p:cNvPr id="2" name="Footer Placeholder 2">
            <a:extLst>
              <a:ext uri="{FF2B5EF4-FFF2-40B4-BE49-F238E27FC236}">
                <a16:creationId xmlns:a16="http://schemas.microsoft.com/office/drawing/2014/main" id="{2A066F9E-4B23-A48C-9E1A-BC4EB14CCEF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912766484"/>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3023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استكشاف التشغيل الآمن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وتطبيقات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الأجهزة والدوائر المنطقية الرقمية التي تشكل اللبنات الأساسية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للدوائر التجارية</a:t>
            </a:r>
          </a:p>
        </p:txBody>
      </p:sp>
      <p:sp>
        <p:nvSpPr>
          <p:cNvPr id="2" name="Footer Placeholder 2">
            <a:extLst>
              <a:ext uri="{FF2B5EF4-FFF2-40B4-BE49-F238E27FC236}">
                <a16:creationId xmlns:a16="http://schemas.microsoft.com/office/drawing/2014/main" id="{FCAECABD-C8D9-5899-6CBB-84B75B045755}"/>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592484887"/>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340768"/>
            <a:ext cx="8568952"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البوابات المنطقية والجبر البولياني (المنطقي)</a:t>
            </a:r>
          </a:p>
          <a:p>
            <a:pPr marL="0" indent="0" rtl="1">
              <a:buNone/>
            </a:pPr>
            <a:endParaRPr lang="en-GB" sz="1600" b="1" dirty="0"/>
          </a:p>
          <a:p>
            <a:pPr marL="0" indent="0" rtl="1">
              <a:buNone/>
            </a:pPr>
            <a:r>
              <a:rPr lang="ar" sz="1600" b="1" dirty="0">
                <a:effectLst/>
              </a:rPr>
              <a:t>البوابات المنطقية</a:t>
            </a:r>
          </a:p>
          <a:p>
            <a:pPr rtl="1"/>
            <a:r>
              <a:rPr lang="ar" sz="1600" dirty="0">
                <a:effectLst/>
              </a:rPr>
              <a:t>البوابات المنطقية هي اللبنات الأساسية للدوائر الرقمية.</a:t>
            </a:r>
          </a:p>
          <a:p>
            <a:pPr rtl="1"/>
            <a:r>
              <a:rPr lang="ar" sz="1600" dirty="0">
                <a:effectLst/>
              </a:rPr>
              <a:t>وهي تؤدي مجموعة من العمليات المنطقية الأساسية مثل AND وOR وNOT.</a:t>
            </a:r>
          </a:p>
          <a:p>
            <a:pPr rtl="1"/>
            <a:r>
              <a:rPr lang="ar" sz="1600" dirty="0">
                <a:effectLst/>
              </a:rPr>
              <a:t>وتُنفَّذ هذه البوابات باستخدام مكونات إلكترونية مثل الترانزستورات.</a:t>
            </a:r>
          </a:p>
          <a:p>
            <a:pPr rtl="1">
              <a:buFont typeface="Arial" panose="020B0604020202020204" pitchFamily="34" charset="0"/>
              <a:buChar char="•"/>
            </a:pPr>
            <a:endParaRPr lang="en-GB" sz="1600" dirty="0">
              <a:effectLst/>
            </a:endParaRPr>
          </a:p>
          <a:p>
            <a:pPr marL="0" indent="0" rtl="1">
              <a:buNone/>
            </a:pPr>
            <a:r>
              <a:rPr lang="ar" sz="1600" b="1" dirty="0">
                <a:effectLst/>
              </a:rPr>
              <a:t>الجبر البولياني (المنطقي)</a:t>
            </a:r>
          </a:p>
          <a:p>
            <a:pPr marL="0" indent="0" rtl="1">
              <a:buNone/>
            </a:pPr>
            <a:r>
              <a:rPr lang="ar" sz="1600" dirty="0">
                <a:effectLst/>
              </a:rPr>
              <a:t>الجبر البولياني (المنطقي) هو نظام رياضي يُستخدم لتحليل التعبيرات المنطقية وتبسيطها.</a:t>
            </a:r>
          </a:p>
          <a:p>
            <a:pPr marL="0" indent="0" rtl="1">
              <a:buNone/>
            </a:pPr>
            <a:r>
              <a:rPr lang="ar" sz="1600" dirty="0">
                <a:effectLst/>
              </a:rPr>
              <a:t>ويتألف من عدة عوامل تشغيل، مثل AND وOR وNOT، تتوافق مع البوابات المنطقية.</a:t>
            </a:r>
          </a:p>
          <a:p>
            <a:pPr marL="0" indent="0" rtl="1">
              <a:buNone/>
            </a:pPr>
            <a:r>
              <a:rPr lang="ar" sz="1600" dirty="0">
                <a:effectLst/>
              </a:rPr>
              <a:t>يسمح لنا الجبر البولياني بالتعبير عن العلاقات المنطقية ومعالجتها باستخدام المعادلات الجبرية.</a:t>
            </a:r>
          </a:p>
          <a:p>
            <a:pPr marL="0" indent="0" rtl="1">
              <a:buNone/>
            </a:pPr>
            <a:endParaRPr lang="en-GB" sz="1600" b="1" dirty="0"/>
          </a:p>
          <a:p>
            <a:pPr marL="0" indent="0" rtl="1">
              <a:buNone/>
            </a:pPr>
            <a:endParaRPr lang="en-GB" sz="1600" b="1" dirty="0"/>
          </a:p>
          <a:p>
            <a:pPr marL="0" indent="0" rtl="1">
              <a:buNone/>
            </a:pPr>
            <a:endParaRPr lang="en-GB" sz="1600" b="1" dirty="0"/>
          </a:p>
        </p:txBody>
      </p:sp>
      <p:graphicFrame>
        <p:nvGraphicFramePr>
          <p:cNvPr id="4" name="Table 4">
            <a:extLst>
              <a:ext uri="{FF2B5EF4-FFF2-40B4-BE49-F238E27FC236}">
                <a16:creationId xmlns:a16="http://schemas.microsoft.com/office/drawing/2014/main" id="{9B2C0457-12DD-4C7B-A11D-4BBDA6614669}"/>
              </a:ext>
            </a:extLst>
          </p:cNvPr>
          <p:cNvGraphicFramePr>
            <a:graphicFrameLocks noGrp="1"/>
          </p:cNvGraphicFramePr>
          <p:nvPr>
            <p:extLst>
              <p:ext uri="{D42A27DB-BD31-4B8C-83A1-F6EECF244321}">
                <p14:modId xmlns:p14="http://schemas.microsoft.com/office/powerpoint/2010/main" val="1426518289"/>
              </p:ext>
            </p:extLst>
          </p:nvPr>
        </p:nvGraphicFramePr>
        <p:xfrm>
          <a:off x="1763689" y="4688160"/>
          <a:ext cx="5760639" cy="1981200"/>
        </p:xfrm>
        <a:graphic>
          <a:graphicData uri="http://schemas.openxmlformats.org/drawingml/2006/table">
            <a:tbl>
              <a:tblPr rtl="1" firstRow="1" bandRow="1">
                <a:tableStyleId>{5C22544A-7EE6-4342-B048-85BDC9FD1C3A}</a:tableStyleId>
              </a:tblPr>
              <a:tblGrid>
                <a:gridCol w="1920213">
                  <a:extLst>
                    <a:ext uri="{9D8B030D-6E8A-4147-A177-3AD203B41FA5}">
                      <a16:colId xmlns:a16="http://schemas.microsoft.com/office/drawing/2014/main" val="2808471597"/>
                    </a:ext>
                  </a:extLst>
                </a:gridCol>
                <a:gridCol w="1920213">
                  <a:extLst>
                    <a:ext uri="{9D8B030D-6E8A-4147-A177-3AD203B41FA5}">
                      <a16:colId xmlns:a16="http://schemas.microsoft.com/office/drawing/2014/main" val="3027356452"/>
                    </a:ext>
                  </a:extLst>
                </a:gridCol>
                <a:gridCol w="1920213">
                  <a:extLst>
                    <a:ext uri="{9D8B030D-6E8A-4147-A177-3AD203B41FA5}">
                      <a16:colId xmlns:a16="http://schemas.microsoft.com/office/drawing/2014/main" val="3795550554"/>
                    </a:ext>
                  </a:extLst>
                </a:gridCol>
              </a:tblGrid>
              <a:tr h="316430">
                <a:tc gridSpan="3">
                  <a:txBody>
                    <a:bodyPr/>
                    <a:lstStyle/>
                    <a:p>
                      <a:pPr algn="ctr" rtl="1"/>
                      <a:r>
                        <a:rPr lang="ar" sz="1600" b="1" dirty="0">
                          <a:solidFill>
                            <a:schemeClr val="tx1"/>
                          </a:solidFill>
                          <a:latin typeface="Sakkal Majalla" panose="02000000000000000000" pitchFamily="2" charset="-78"/>
                          <a:cs typeface="Sakkal Majalla" panose="02000000000000000000" pitchFamily="2" charset="-78"/>
                        </a:rPr>
                        <a:t>رموز البوابات</a:t>
                      </a:r>
                    </a:p>
                  </a:txBody>
                  <a:tcPr/>
                </a:tc>
                <a:tc hMerge="1">
                  <a:txBody>
                    <a:bodyPr/>
                    <a:lstStyle/>
                    <a:p>
                      <a:pPr rtl="1"/>
                      <a:endParaRPr lang="en-GB"/>
                    </a:p>
                  </a:txBody>
                  <a:tcPr/>
                </a:tc>
                <a:tc hMerge="1">
                  <a:txBody>
                    <a:bodyPr/>
                    <a:lstStyle/>
                    <a:p>
                      <a:pPr rtl="1"/>
                      <a:endParaRPr lang="en-GB"/>
                    </a:p>
                  </a:txBody>
                  <a:tcPr/>
                </a:tc>
                <a:extLst>
                  <a:ext uri="{0D108BD9-81ED-4DB2-BD59-A6C34878D82A}">
                    <a16:rowId xmlns:a16="http://schemas.microsoft.com/office/drawing/2014/main" val="2158959366"/>
                  </a:ext>
                </a:extLst>
              </a:tr>
              <a:tr h="558591">
                <a:tc>
                  <a:txBody>
                    <a:bodyPr/>
                    <a:lstStyle/>
                    <a:p>
                      <a:pPr rtl="1"/>
                      <a:r>
                        <a:rPr lang="ar" sz="1600">
                          <a:latin typeface="Sakkal Majalla" panose="02000000000000000000" pitchFamily="2" charset="-78"/>
                          <a:cs typeface="Sakkal Majalla" panose="02000000000000000000" pitchFamily="2" charset="-78"/>
                        </a:rPr>
                        <a:t>المعيار البريطاني (BS)</a:t>
                      </a:r>
                    </a:p>
                  </a:txBody>
                  <a:tcPr/>
                </a:tc>
                <a:tc>
                  <a:txBody>
                    <a:bodyPr/>
                    <a:lstStyle/>
                    <a:p>
                      <a:pPr rtl="1"/>
                      <a:r>
                        <a:rPr lang="ar" sz="1600" dirty="0">
                          <a:latin typeface="Sakkal Majalla" panose="02000000000000000000" pitchFamily="2" charset="-78"/>
                          <a:cs typeface="Sakkal Majalla" panose="02000000000000000000" pitchFamily="2" charset="-78"/>
                        </a:rPr>
                        <a:t>اللجنة الكهروتقنية الدولية (IEC)</a:t>
                      </a:r>
                    </a:p>
                  </a:txBody>
                  <a:tcPr/>
                </a:tc>
                <a:tc>
                  <a:txBody>
                    <a:bodyPr/>
                    <a:lstStyle/>
                    <a:p>
                      <a:pPr rtl="1"/>
                      <a:r>
                        <a:rPr lang="ar" sz="1600" dirty="0">
                          <a:latin typeface="Sakkal Majalla" panose="02000000000000000000" pitchFamily="2" charset="-78"/>
                          <a:cs typeface="Sakkal Majalla" panose="02000000000000000000" pitchFamily="2" charset="-78"/>
                        </a:rPr>
                        <a:t>المعهد الوطني الأمريكي للمعايير (ANSI)</a:t>
                      </a:r>
                    </a:p>
                  </a:txBody>
                  <a:tcPr/>
                </a:tc>
                <a:extLst>
                  <a:ext uri="{0D108BD9-81ED-4DB2-BD59-A6C34878D82A}">
                    <a16:rowId xmlns:a16="http://schemas.microsoft.com/office/drawing/2014/main" val="4246279706"/>
                  </a:ext>
                </a:extLst>
              </a:tr>
              <a:tr h="997188">
                <a:tc>
                  <a:txBody>
                    <a:bodyPr/>
                    <a:lstStyle/>
                    <a:p>
                      <a:pPr rtl="1"/>
                      <a:r>
                        <a:rPr lang="ar" sz="1600">
                          <a:effectLst/>
                          <a:latin typeface="Sakkal Majalla" panose="02000000000000000000" pitchFamily="2" charset="-78"/>
                          <a:cs typeface="Sakkal Majalla" panose="02000000000000000000" pitchFamily="2" charset="-78"/>
                        </a:rPr>
                        <a:t>بوابة AND: </a:t>
                      </a:r>
                    </a:p>
                    <a:p>
                      <a:pPr rtl="1"/>
                      <a:r>
                        <a:rPr lang="ar" sz="1600">
                          <a:effectLst/>
                          <a:latin typeface="Sakkal Majalla" panose="02000000000000000000" pitchFamily="2" charset="-78"/>
                          <a:cs typeface="Sakkal Majalla" panose="02000000000000000000" pitchFamily="2" charset="-78"/>
                        </a:rPr>
                        <a:t>بوابة OR: </a:t>
                      </a:r>
                    </a:p>
                    <a:p>
                      <a:pPr rtl="1"/>
                      <a:r>
                        <a:rPr lang="ar" sz="1600">
                          <a:effectLst/>
                          <a:latin typeface="Sakkal Majalla" panose="02000000000000000000" pitchFamily="2" charset="-78"/>
                          <a:cs typeface="Sakkal Majalla" panose="02000000000000000000" pitchFamily="2" charset="-78"/>
                        </a:rPr>
                        <a:t>بوابة NOT: </a:t>
                      </a:r>
                    </a:p>
                    <a:p>
                      <a:pPr rtl="1"/>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a:effectLst/>
                          <a:latin typeface="Sakkal Majalla" panose="02000000000000000000" pitchFamily="2" charset="-78"/>
                          <a:cs typeface="Sakkal Majalla" panose="02000000000000000000" pitchFamily="2" charset="-78"/>
                        </a:rPr>
                        <a:t>بوابة AND: </a:t>
                      </a:r>
                    </a:p>
                    <a:p>
                      <a:pPr rtl="1"/>
                      <a:r>
                        <a:rPr lang="ar" sz="1600">
                          <a:effectLst/>
                          <a:latin typeface="Sakkal Majalla" panose="02000000000000000000" pitchFamily="2" charset="-78"/>
                          <a:cs typeface="Sakkal Majalla" panose="02000000000000000000" pitchFamily="2" charset="-78"/>
                        </a:rPr>
                        <a:t>بوابة OR: </a:t>
                      </a:r>
                    </a:p>
                    <a:p>
                      <a:pPr rtl="1"/>
                      <a:r>
                        <a:rPr lang="ar" sz="1600">
                          <a:effectLst/>
                          <a:latin typeface="Sakkal Majalla" panose="02000000000000000000" pitchFamily="2" charset="-78"/>
                          <a:cs typeface="Sakkal Majalla" panose="02000000000000000000" pitchFamily="2" charset="-78"/>
                        </a:rPr>
                        <a:t>بوابة NOT: </a:t>
                      </a:r>
                    </a:p>
                    <a:p>
                      <a:pPr rtl="1"/>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dirty="0">
                          <a:effectLst/>
                          <a:latin typeface="Sakkal Majalla" panose="02000000000000000000" pitchFamily="2" charset="-78"/>
                          <a:cs typeface="Sakkal Majalla" panose="02000000000000000000" pitchFamily="2" charset="-78"/>
                        </a:rPr>
                        <a:t>بوابة AND: </a:t>
                      </a:r>
                    </a:p>
                    <a:p>
                      <a:pPr rtl="1"/>
                      <a:r>
                        <a:rPr lang="ar" sz="1600" dirty="0">
                          <a:effectLst/>
                          <a:latin typeface="Sakkal Majalla" panose="02000000000000000000" pitchFamily="2" charset="-78"/>
                          <a:cs typeface="Sakkal Majalla" panose="02000000000000000000" pitchFamily="2" charset="-78"/>
                        </a:rPr>
                        <a:t>بوابة OR: </a:t>
                      </a:r>
                    </a:p>
                    <a:p>
                      <a:pPr rtl="1"/>
                      <a:r>
                        <a:rPr lang="ar" sz="1600" dirty="0">
                          <a:effectLst/>
                          <a:latin typeface="Sakkal Majalla" panose="02000000000000000000" pitchFamily="2" charset="-78"/>
                          <a:cs typeface="Sakkal Majalla" panose="02000000000000000000" pitchFamily="2" charset="-78"/>
                        </a:rPr>
                        <a:t>بوابة NOT: </a:t>
                      </a:r>
                    </a:p>
                    <a:p>
                      <a:pPr rtl="1"/>
                      <a:endParaRPr lang="en-GB" sz="16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180496496"/>
                  </a:ext>
                </a:extLst>
              </a:tr>
            </a:tbl>
          </a:graphicData>
        </a:graphic>
      </p:graphicFrame>
      <p:sp>
        <p:nvSpPr>
          <p:cNvPr id="5" name="Rectangle 1">
            <a:extLst>
              <a:ext uri="{FF2B5EF4-FFF2-40B4-BE49-F238E27FC236}">
                <a16:creationId xmlns:a16="http://schemas.microsoft.com/office/drawing/2014/main" id="{235EACB5-92D4-4A69-9DAC-69E7AF7A3B1D}"/>
              </a:ext>
            </a:extLst>
          </p:cNvPr>
          <p:cNvSpPr>
            <a:spLocks noChangeArrowheads="1"/>
          </p:cNvSpPr>
          <p:nvPr/>
        </p:nvSpPr>
        <p:spPr bwMode="auto">
          <a:xfrm>
            <a:off x="5220072" y="188640"/>
            <a:ext cx="39239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نتاج التعلم أ: التشغيل الآمن وتطبيقات الأجهزة والدوائر التناظرية</a:t>
            </a:r>
          </a:p>
        </p:txBody>
      </p:sp>
      <p:sp>
        <p:nvSpPr>
          <p:cNvPr id="2" name="Footer Placeholder 2">
            <a:extLst>
              <a:ext uri="{FF2B5EF4-FFF2-40B4-BE49-F238E27FC236}">
                <a16:creationId xmlns:a16="http://schemas.microsoft.com/office/drawing/2014/main" id="{B02C92F3-F59C-1A29-0809-B8A50CEFB140}"/>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84980348"/>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851920" y="548680"/>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البوابات المنطقية وجدول الحقيقة </a:t>
            </a:r>
            <a:r>
              <a:rPr lang="ar-EG" sz="2200" b="1" dirty="0">
                <a:latin typeface="Sakkal Majalla" panose="02000000000000000000" pitchFamily="2" charset="-78"/>
                <a:cs typeface="Sakkal Majalla" panose="02000000000000000000" pitchFamily="2" charset="-78"/>
              </a:rPr>
              <a:t>لكل بوابة</a:t>
            </a:r>
            <a:endParaRPr lang="ar" sz="2200" b="1" dirty="0">
              <a:latin typeface="Sakkal Majalla" panose="02000000000000000000" pitchFamily="2" charset="-78"/>
              <a:cs typeface="Sakkal Majalla" panose="02000000000000000000" pitchFamily="2" charset="-78"/>
            </a:endParaRPr>
          </a:p>
        </p:txBody>
      </p:sp>
      <p:graphicFrame>
        <p:nvGraphicFramePr>
          <p:cNvPr id="6" name="Table 7">
            <a:extLst>
              <a:ext uri="{FF2B5EF4-FFF2-40B4-BE49-F238E27FC236}">
                <a16:creationId xmlns:a16="http://schemas.microsoft.com/office/drawing/2014/main" id="{88361712-C0B3-4ACF-A69A-731272EA6FDB}"/>
              </a:ext>
            </a:extLst>
          </p:cNvPr>
          <p:cNvGraphicFramePr>
            <a:graphicFrameLocks noGrp="1"/>
          </p:cNvGraphicFramePr>
          <p:nvPr>
            <p:extLst>
              <p:ext uri="{D42A27DB-BD31-4B8C-83A1-F6EECF244321}">
                <p14:modId xmlns:p14="http://schemas.microsoft.com/office/powerpoint/2010/main" val="2361205156"/>
              </p:ext>
            </p:extLst>
          </p:nvPr>
        </p:nvGraphicFramePr>
        <p:xfrm>
          <a:off x="5076055" y="1340768"/>
          <a:ext cx="3456383" cy="5308600"/>
        </p:xfrm>
        <a:graphic>
          <a:graphicData uri="http://schemas.openxmlformats.org/drawingml/2006/table">
            <a:tbl>
              <a:tblPr rtl="1" firstRow="1" bandRow="1">
                <a:tableStyleId>{073A0DAA-6AF3-43AB-8588-CEC1D06C72B9}</a:tableStyleId>
              </a:tblPr>
              <a:tblGrid>
                <a:gridCol w="1036915">
                  <a:extLst>
                    <a:ext uri="{9D8B030D-6E8A-4147-A177-3AD203B41FA5}">
                      <a16:colId xmlns:a16="http://schemas.microsoft.com/office/drawing/2014/main" val="1941782"/>
                    </a:ext>
                  </a:extLst>
                </a:gridCol>
                <a:gridCol w="864096">
                  <a:extLst>
                    <a:ext uri="{9D8B030D-6E8A-4147-A177-3AD203B41FA5}">
                      <a16:colId xmlns:a16="http://schemas.microsoft.com/office/drawing/2014/main" val="550577321"/>
                    </a:ext>
                  </a:extLst>
                </a:gridCol>
                <a:gridCol w="777686">
                  <a:extLst>
                    <a:ext uri="{9D8B030D-6E8A-4147-A177-3AD203B41FA5}">
                      <a16:colId xmlns:a16="http://schemas.microsoft.com/office/drawing/2014/main" val="2076362943"/>
                    </a:ext>
                  </a:extLst>
                </a:gridCol>
                <a:gridCol w="777686">
                  <a:extLst>
                    <a:ext uri="{9D8B030D-6E8A-4147-A177-3AD203B41FA5}">
                      <a16:colId xmlns:a16="http://schemas.microsoft.com/office/drawing/2014/main" val="1946393296"/>
                    </a:ext>
                  </a:extLst>
                </a:gridCol>
              </a:tblGrid>
              <a:tr h="370840">
                <a:tc>
                  <a:txBody>
                    <a:bodyPr/>
                    <a:lstStyle/>
                    <a:p>
                      <a:pPr rtl="1"/>
                      <a:r>
                        <a:rPr lang="ar" sz="1300" dirty="0">
                          <a:latin typeface="Sakkal Majalla" panose="02000000000000000000" pitchFamily="2" charset="-78"/>
                          <a:cs typeface="Sakkal Majalla" panose="02000000000000000000" pitchFamily="2" charset="-78"/>
                        </a:rPr>
                        <a:t>البوابة المنطقية</a:t>
                      </a:r>
                    </a:p>
                  </a:txBody>
                  <a:tcPr/>
                </a:tc>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450795088"/>
                  </a:ext>
                </a:extLst>
              </a:tr>
              <a:tr h="370840">
                <a:tc>
                  <a:txBody>
                    <a:bodyPr/>
                    <a:lstStyle/>
                    <a:p>
                      <a:pPr rtl="1"/>
                      <a:r>
                        <a:rPr lang="ar" sz="1300" dirty="0">
                          <a:latin typeface="Sakkal Majalla" panose="02000000000000000000" pitchFamily="2" charset="-78"/>
                          <a:cs typeface="Sakkal Majalla" panose="02000000000000000000" pitchFamily="2" charset="-78"/>
                        </a:rPr>
                        <a:t>بوابة AND</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982410029"/>
                  </a:ext>
                </a:extLst>
              </a:tr>
              <a:tr h="370840">
                <a:tc>
                  <a:txBody>
                    <a:bodyPr/>
                    <a:lstStyle/>
                    <a:p>
                      <a:pPr rtl="1"/>
                      <a:r>
                        <a:rPr lang="ar" sz="1300">
                          <a:latin typeface="Sakkal Majalla" panose="02000000000000000000" pitchFamily="2" charset="-78"/>
                          <a:cs typeface="Sakkal Majalla" panose="02000000000000000000" pitchFamily="2" charset="-78"/>
                        </a:rPr>
                        <a:t>بوابة AND</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212812639"/>
                  </a:ext>
                </a:extLst>
              </a:tr>
              <a:tr h="370840">
                <a:tc>
                  <a:txBody>
                    <a:bodyPr/>
                    <a:lstStyle/>
                    <a:p>
                      <a:pPr rtl="1"/>
                      <a:r>
                        <a:rPr lang="ar" sz="1300" dirty="0">
                          <a:latin typeface="Sakkal Majalla" panose="02000000000000000000" pitchFamily="2" charset="-78"/>
                          <a:cs typeface="Sakkal Majalla" panose="02000000000000000000" pitchFamily="2" charset="-78"/>
                        </a:rPr>
                        <a:t>بوابة AND</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937282833"/>
                  </a:ext>
                </a:extLst>
              </a:tr>
              <a:tr h="370840">
                <a:tc>
                  <a:txBody>
                    <a:bodyPr/>
                    <a:lstStyle/>
                    <a:p>
                      <a:pPr rtl="1"/>
                      <a:r>
                        <a:rPr lang="ar" sz="1300">
                          <a:latin typeface="Sakkal Majalla" panose="02000000000000000000" pitchFamily="2" charset="-78"/>
                          <a:cs typeface="Sakkal Majalla" panose="02000000000000000000" pitchFamily="2" charset="-78"/>
                        </a:rPr>
                        <a:t>بوابة AND</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640546859"/>
                  </a:ext>
                </a:extLst>
              </a:tr>
              <a:tr h="370840">
                <a:tc>
                  <a:txBody>
                    <a:bodyPr/>
                    <a:lstStyle/>
                    <a:p>
                      <a:pPr rtl="1"/>
                      <a:r>
                        <a:rPr lang="ar" sz="1300">
                          <a:latin typeface="Sakkal Majalla" panose="02000000000000000000" pitchFamily="2" charset="-78"/>
                          <a:cs typeface="Sakkal Majalla" panose="02000000000000000000" pitchFamily="2" charset="-78"/>
                        </a:rPr>
                        <a:t>بوابة OR</a:t>
                      </a:r>
                    </a:p>
                  </a:txBody>
                  <a:tcPr/>
                </a:tc>
                <a:tc>
                  <a:txBody>
                    <a:bodyPr/>
                    <a:lstStyle/>
                    <a:p>
                      <a:pPr rtl="1"/>
                      <a:r>
                        <a:rPr lang="ar" sz="1300" dirty="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4126637607"/>
                  </a:ext>
                </a:extLst>
              </a:tr>
              <a:tr h="370840">
                <a:tc>
                  <a:txBody>
                    <a:bodyPr/>
                    <a:lstStyle/>
                    <a:p>
                      <a:pPr rtl="1"/>
                      <a:r>
                        <a:rPr lang="ar" sz="1300">
                          <a:latin typeface="Sakkal Majalla" panose="02000000000000000000" pitchFamily="2" charset="-78"/>
                          <a:cs typeface="Sakkal Majalla" panose="02000000000000000000" pitchFamily="2" charset="-78"/>
                        </a:rPr>
                        <a:t>بوابة OR</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2909549204"/>
                  </a:ext>
                </a:extLst>
              </a:tr>
              <a:tr h="370840">
                <a:tc>
                  <a:txBody>
                    <a:bodyPr/>
                    <a:lstStyle/>
                    <a:p>
                      <a:pPr rtl="1"/>
                      <a:r>
                        <a:rPr lang="ar" sz="1300">
                          <a:latin typeface="Sakkal Majalla" panose="02000000000000000000" pitchFamily="2" charset="-78"/>
                          <a:cs typeface="Sakkal Majalla" panose="02000000000000000000" pitchFamily="2" charset="-78"/>
                        </a:rPr>
                        <a:t>بوابة OR</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894655189"/>
                  </a:ext>
                </a:extLst>
              </a:tr>
              <a:tr h="370840">
                <a:tc>
                  <a:txBody>
                    <a:bodyPr/>
                    <a:lstStyle/>
                    <a:p>
                      <a:pPr rtl="1"/>
                      <a:r>
                        <a:rPr lang="ar" sz="1300">
                          <a:latin typeface="Sakkal Majalla" panose="02000000000000000000" pitchFamily="2" charset="-78"/>
                          <a:cs typeface="Sakkal Majalla" panose="02000000000000000000" pitchFamily="2" charset="-78"/>
                        </a:rPr>
                        <a:t>بوابة OR</a:t>
                      </a:r>
                    </a:p>
                  </a:txBody>
                  <a:tcPr/>
                </a:tc>
                <a:tc>
                  <a:txBody>
                    <a:bodyPr/>
                    <a:lstStyle/>
                    <a:p>
                      <a:pPr rtl="1"/>
                      <a:r>
                        <a:rPr lang="ar" sz="1300" dirty="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05579879"/>
                  </a:ext>
                </a:extLst>
              </a:tr>
              <a:tr h="370840">
                <a:tc>
                  <a:txBody>
                    <a:bodyPr/>
                    <a:lstStyle/>
                    <a:p>
                      <a:pPr rtl="1"/>
                      <a:r>
                        <a:rPr lang="ar" sz="1300">
                          <a:latin typeface="Sakkal Majalla" panose="02000000000000000000" pitchFamily="2" charset="-78"/>
                          <a:cs typeface="Sakkal Majalla" panose="02000000000000000000" pitchFamily="2" charset="-78"/>
                        </a:rPr>
                        <a:t>بوابة NOT</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endParaRPr lang="en-GB" sz="1300" dirty="0">
                        <a:latin typeface="Sakkal Majalla" panose="02000000000000000000" pitchFamily="2" charset="-78"/>
                        <a:cs typeface="Sakkal Majalla" panose="02000000000000000000" pitchFamily="2" charset="-78"/>
                      </a:endParaRP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467609762"/>
                  </a:ext>
                </a:extLst>
              </a:tr>
              <a:tr h="370840">
                <a:tc>
                  <a:txBody>
                    <a:bodyPr/>
                    <a:lstStyle/>
                    <a:p>
                      <a:pPr rtl="1"/>
                      <a:r>
                        <a:rPr lang="ar" sz="1300">
                          <a:latin typeface="Sakkal Majalla" panose="02000000000000000000" pitchFamily="2" charset="-78"/>
                          <a:cs typeface="Sakkal Majalla" panose="02000000000000000000" pitchFamily="2" charset="-78"/>
                        </a:rPr>
                        <a:t>بوابة NOT</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endParaRPr lang="en-GB" sz="1300" dirty="0">
                        <a:latin typeface="Sakkal Majalla" panose="02000000000000000000" pitchFamily="2" charset="-78"/>
                        <a:cs typeface="Sakkal Majalla" panose="02000000000000000000" pitchFamily="2" charset="-78"/>
                      </a:endParaRP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056750682"/>
                  </a:ext>
                </a:extLst>
              </a:tr>
              <a:tr h="370840">
                <a:tc>
                  <a:txBody>
                    <a:bodyPr/>
                    <a:lstStyle/>
                    <a:p>
                      <a:pPr rtl="1"/>
                      <a:r>
                        <a:rPr lang="ar" sz="1300">
                          <a:latin typeface="Sakkal Majalla" panose="02000000000000000000" pitchFamily="2" charset="-78"/>
                          <a:cs typeface="Sakkal Majalla" panose="02000000000000000000" pitchFamily="2" charset="-78"/>
                        </a:rPr>
                        <a:t>بوابة NOT</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151880486"/>
                  </a:ext>
                </a:extLst>
              </a:tr>
              <a:tr h="370840">
                <a:tc>
                  <a:txBody>
                    <a:bodyPr/>
                    <a:lstStyle/>
                    <a:p>
                      <a:pPr rtl="1"/>
                      <a:r>
                        <a:rPr lang="ar" sz="1300">
                          <a:latin typeface="Sakkal Majalla" panose="02000000000000000000" pitchFamily="2" charset="-78"/>
                          <a:cs typeface="Sakkal Majalla" panose="02000000000000000000" pitchFamily="2" charset="-78"/>
                        </a:rPr>
                        <a:t>بوابة NAND</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4156820977"/>
                  </a:ext>
                </a:extLst>
              </a:tr>
              <a:tr h="370840">
                <a:tc>
                  <a: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ar" sz="1300">
                          <a:latin typeface="Sakkal Majalla" panose="02000000000000000000" pitchFamily="2" charset="-78"/>
                          <a:cs typeface="Sakkal Majalla" panose="02000000000000000000" pitchFamily="2" charset="-78"/>
                        </a:rPr>
                        <a:t>بوابة NAND</a:t>
                      </a:r>
                    </a:p>
                    <a:p>
                      <a:pPr rtl="1"/>
                      <a:endParaRPr lang="en-GB" sz="1300" dirty="0">
                        <a:latin typeface="Sakkal Majalla" panose="02000000000000000000" pitchFamily="2" charset="-78"/>
                        <a:cs typeface="Sakkal Majalla" panose="02000000000000000000" pitchFamily="2" charset="-78"/>
                      </a:endParaRPr>
                    </a:p>
                  </a:txBody>
                  <a:tcPr/>
                </a:tc>
                <a:tc>
                  <a:txBody>
                    <a:bodyPr/>
                    <a:lstStyle/>
                    <a:p>
                      <a:pPr rtl="1"/>
                      <a:r>
                        <a:rPr lang="ar" sz="1300">
                          <a:latin typeface="Sakkal Majalla" panose="02000000000000000000" pitchFamily="2" charset="-78"/>
                          <a:cs typeface="Sakkal Majalla" panose="02000000000000000000" pitchFamily="2" charset="-78"/>
                        </a:rPr>
                        <a:t>1</a:t>
                      </a:r>
                    </a:p>
                  </a:txBody>
                  <a:tcPr/>
                </a:tc>
                <a:tc>
                  <a:txBody>
                    <a:bodyPr/>
                    <a:lstStyle/>
                    <a:p>
                      <a:pPr rtl="1"/>
                      <a:r>
                        <a:rPr lang="ar" sz="1300">
                          <a:latin typeface="Sakkal Majalla" panose="02000000000000000000" pitchFamily="2" charset="-78"/>
                          <a:cs typeface="Sakkal Majalla" panose="02000000000000000000" pitchFamily="2" charset="-78"/>
                        </a:rPr>
                        <a:t>0</a:t>
                      </a:r>
                    </a:p>
                  </a:txBody>
                  <a:tcPr/>
                </a:tc>
                <a:tc>
                  <a:txBody>
                    <a:bodyPr/>
                    <a:lstStyle/>
                    <a:p>
                      <a:pP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16335499"/>
                  </a:ext>
                </a:extLst>
              </a:tr>
            </a:tbl>
          </a:graphicData>
        </a:graphic>
      </p:graphicFrame>
      <p:graphicFrame>
        <p:nvGraphicFramePr>
          <p:cNvPr id="10" name="Table 7">
            <a:extLst>
              <a:ext uri="{FF2B5EF4-FFF2-40B4-BE49-F238E27FC236}">
                <a16:creationId xmlns:a16="http://schemas.microsoft.com/office/drawing/2014/main" id="{8C10310B-9366-4008-996D-1C950322EEBA}"/>
              </a:ext>
            </a:extLst>
          </p:cNvPr>
          <p:cNvGraphicFramePr>
            <a:graphicFrameLocks noGrp="1"/>
          </p:cNvGraphicFramePr>
          <p:nvPr>
            <p:extLst>
              <p:ext uri="{D42A27DB-BD31-4B8C-83A1-F6EECF244321}">
                <p14:modId xmlns:p14="http://schemas.microsoft.com/office/powerpoint/2010/main" val="4160322587"/>
              </p:ext>
            </p:extLst>
          </p:nvPr>
        </p:nvGraphicFramePr>
        <p:xfrm>
          <a:off x="611562" y="2880008"/>
          <a:ext cx="3672407" cy="3708400"/>
        </p:xfrm>
        <a:graphic>
          <a:graphicData uri="http://schemas.openxmlformats.org/drawingml/2006/table">
            <a:tbl>
              <a:tblPr rtl="1" firstRow="1" bandRow="1">
                <a:tableStyleId>{073A0DAA-6AF3-43AB-8588-CEC1D06C72B9}</a:tableStyleId>
              </a:tblPr>
              <a:tblGrid>
                <a:gridCol w="1101721">
                  <a:extLst>
                    <a:ext uri="{9D8B030D-6E8A-4147-A177-3AD203B41FA5}">
                      <a16:colId xmlns:a16="http://schemas.microsoft.com/office/drawing/2014/main" val="1941782"/>
                    </a:ext>
                  </a:extLst>
                </a:gridCol>
                <a:gridCol w="918102">
                  <a:extLst>
                    <a:ext uri="{9D8B030D-6E8A-4147-A177-3AD203B41FA5}">
                      <a16:colId xmlns:a16="http://schemas.microsoft.com/office/drawing/2014/main" val="550577321"/>
                    </a:ext>
                  </a:extLst>
                </a:gridCol>
                <a:gridCol w="826292">
                  <a:extLst>
                    <a:ext uri="{9D8B030D-6E8A-4147-A177-3AD203B41FA5}">
                      <a16:colId xmlns:a16="http://schemas.microsoft.com/office/drawing/2014/main" val="2076362943"/>
                    </a:ext>
                  </a:extLst>
                </a:gridCol>
                <a:gridCol w="826292">
                  <a:extLst>
                    <a:ext uri="{9D8B030D-6E8A-4147-A177-3AD203B41FA5}">
                      <a16:colId xmlns:a16="http://schemas.microsoft.com/office/drawing/2014/main" val="1946393296"/>
                    </a:ext>
                  </a:extLst>
                </a:gridCol>
              </a:tblGrid>
              <a:tr h="370840">
                <a:tc>
                  <a:txBody>
                    <a:bodyPr/>
                    <a:lstStyle/>
                    <a:p>
                      <a:pPr rtl="1"/>
                      <a:r>
                        <a:rPr lang="ar" sz="1400">
                          <a:latin typeface="Sakkal Majalla" panose="02000000000000000000" pitchFamily="2" charset="-78"/>
                          <a:cs typeface="Sakkal Majalla" panose="02000000000000000000" pitchFamily="2" charset="-78"/>
                        </a:rPr>
                        <a:t>البوابة المنطقية</a:t>
                      </a:r>
                    </a:p>
                  </a:txBody>
                  <a:tcPr/>
                </a:tc>
                <a:tc>
                  <a:txBody>
                    <a:bodyPr/>
                    <a:lstStyle/>
                    <a:p>
                      <a:pPr rtl="1"/>
                      <a:r>
                        <a:rPr lang="ar" sz="1400">
                          <a:latin typeface="Sakkal Majalla" panose="02000000000000000000" pitchFamily="2" charset="-78"/>
                          <a:cs typeface="Sakkal Majalla" panose="02000000000000000000" pitchFamily="2" charset="-78"/>
                        </a:rPr>
                        <a:t>الدخل أ</a:t>
                      </a:r>
                    </a:p>
                  </a:txBody>
                  <a:tcPr/>
                </a:tc>
                <a:tc>
                  <a:txBody>
                    <a:bodyPr/>
                    <a:lstStyle/>
                    <a:p>
                      <a:pPr rtl="1"/>
                      <a:r>
                        <a:rPr lang="ar" sz="1400" dirty="0">
                          <a:latin typeface="Sakkal Majalla" panose="02000000000000000000" pitchFamily="2" charset="-78"/>
                          <a:cs typeface="Sakkal Majalla" panose="02000000000000000000" pitchFamily="2" charset="-78"/>
                        </a:rPr>
                        <a:t>الدخل ب</a:t>
                      </a:r>
                    </a:p>
                  </a:txBody>
                  <a:tcPr/>
                </a:tc>
                <a:tc>
                  <a:txBody>
                    <a:bodyPr/>
                    <a:lstStyle/>
                    <a:p>
                      <a:pPr rtl="1"/>
                      <a:r>
                        <a:rPr lang="ar" sz="1400" dirty="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450795088"/>
                  </a:ext>
                </a:extLst>
              </a:tr>
              <a:tr h="370840">
                <a:tc>
                  <a:txBody>
                    <a:bodyPr/>
                    <a:lstStyle/>
                    <a:p>
                      <a:pPr rtl="1"/>
                      <a:r>
                        <a:rPr lang="ar" sz="1400">
                          <a:latin typeface="Sakkal Majalla" panose="02000000000000000000" pitchFamily="2" charset="-78"/>
                          <a:cs typeface="Sakkal Majalla" panose="02000000000000000000" pitchFamily="2" charset="-78"/>
                        </a:rPr>
                        <a:t>بوابة NAND</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982410029"/>
                  </a:ext>
                </a:extLst>
              </a:tr>
              <a:tr h="370840">
                <a:tc>
                  <a:txBody>
                    <a:bodyPr/>
                    <a:lstStyle/>
                    <a:p>
                      <a:pPr rtl="1"/>
                      <a:r>
                        <a:rPr lang="ar" sz="1400">
                          <a:latin typeface="Sakkal Majalla" panose="02000000000000000000" pitchFamily="2" charset="-78"/>
                          <a:cs typeface="Sakkal Majalla" panose="02000000000000000000" pitchFamily="2" charset="-78"/>
                        </a:rPr>
                        <a:t>بوابة NOR</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2212812639"/>
                  </a:ext>
                </a:extLst>
              </a:tr>
              <a:tr h="370840">
                <a:tc>
                  <a:txBody>
                    <a:bodyPr/>
                    <a:lstStyle/>
                    <a:p>
                      <a:pPr rtl="1"/>
                      <a:r>
                        <a:rPr lang="ar" sz="1400">
                          <a:latin typeface="Sakkal Majalla" panose="02000000000000000000" pitchFamily="2" charset="-78"/>
                          <a:cs typeface="Sakkal Majalla" panose="02000000000000000000" pitchFamily="2" charset="-78"/>
                        </a:rPr>
                        <a:t>بوابة NOR</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937282833"/>
                  </a:ext>
                </a:extLst>
              </a:tr>
              <a:tr h="370840">
                <a:tc>
                  <a:txBody>
                    <a:bodyPr/>
                    <a:lstStyle/>
                    <a:p>
                      <a:pPr rtl="1"/>
                      <a:r>
                        <a:rPr lang="ar" sz="1400">
                          <a:latin typeface="Sakkal Majalla" panose="02000000000000000000" pitchFamily="2" charset="-78"/>
                          <a:cs typeface="Sakkal Majalla" panose="02000000000000000000" pitchFamily="2" charset="-78"/>
                        </a:rPr>
                        <a:t>بوابة NOR</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640546859"/>
                  </a:ext>
                </a:extLst>
              </a:tr>
              <a:tr h="370840">
                <a:tc>
                  <a:txBody>
                    <a:bodyPr/>
                    <a:lstStyle/>
                    <a:p>
                      <a:pPr rtl="1"/>
                      <a:r>
                        <a:rPr lang="ar" sz="1400">
                          <a:latin typeface="Sakkal Majalla" panose="02000000000000000000" pitchFamily="2" charset="-78"/>
                          <a:cs typeface="Sakkal Majalla" panose="02000000000000000000" pitchFamily="2" charset="-78"/>
                        </a:rPr>
                        <a:t>بوابة NOR</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4126637607"/>
                  </a:ext>
                </a:extLst>
              </a:tr>
              <a:tr h="370840">
                <a:tc>
                  <a:txBody>
                    <a:bodyPr/>
                    <a:lstStyle/>
                    <a:p>
                      <a:pPr rtl="1"/>
                      <a:r>
                        <a:rPr lang="ar" sz="1400">
                          <a:latin typeface="Sakkal Majalla" panose="02000000000000000000" pitchFamily="2" charset="-78"/>
                          <a:cs typeface="Sakkal Majalla" panose="02000000000000000000" pitchFamily="2" charset="-78"/>
                        </a:rPr>
                        <a:t>بوابة XOR</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909549204"/>
                  </a:ext>
                </a:extLst>
              </a:tr>
              <a:tr h="370840">
                <a:tc>
                  <a:txBody>
                    <a:bodyPr/>
                    <a:lstStyle/>
                    <a:p>
                      <a:pPr rtl="1"/>
                      <a:r>
                        <a:rPr lang="ar" sz="1400">
                          <a:latin typeface="Sakkal Majalla" panose="02000000000000000000" pitchFamily="2" charset="-78"/>
                          <a:cs typeface="Sakkal Majalla" panose="02000000000000000000" pitchFamily="2" charset="-78"/>
                        </a:rPr>
                        <a:t>بوابة XOR</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894655189"/>
                  </a:ext>
                </a:extLst>
              </a:tr>
              <a:tr h="370840">
                <a:tc>
                  <a:txBody>
                    <a:bodyPr/>
                    <a:lstStyle/>
                    <a:p>
                      <a:pPr rtl="1"/>
                      <a:r>
                        <a:rPr lang="ar" sz="1400">
                          <a:latin typeface="Sakkal Majalla" panose="02000000000000000000" pitchFamily="2" charset="-78"/>
                          <a:cs typeface="Sakkal Majalla" panose="02000000000000000000" pitchFamily="2" charset="-78"/>
                        </a:rPr>
                        <a:t>بوابة XOR</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0</a:t>
                      </a:r>
                    </a:p>
                  </a:txBody>
                  <a:tcPr/>
                </a:tc>
                <a:tc>
                  <a:txBody>
                    <a:bodyPr/>
                    <a:lstStyle/>
                    <a:p>
                      <a:pPr rtl="1"/>
                      <a:r>
                        <a:rPr lang="ar" sz="14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05579879"/>
                  </a:ext>
                </a:extLst>
              </a:tr>
              <a:tr h="370840">
                <a:tc>
                  <a:txBody>
                    <a:bodyPr/>
                    <a:lstStyle/>
                    <a:p>
                      <a:pPr rtl="1"/>
                      <a:r>
                        <a:rPr lang="ar" sz="1400">
                          <a:latin typeface="Sakkal Majalla" panose="02000000000000000000" pitchFamily="2" charset="-78"/>
                          <a:cs typeface="Sakkal Majalla" panose="02000000000000000000" pitchFamily="2" charset="-78"/>
                        </a:rPr>
                        <a:t>بوابة XOR</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a:latin typeface="Sakkal Majalla" panose="02000000000000000000" pitchFamily="2" charset="-78"/>
                          <a:cs typeface="Sakkal Majalla" panose="02000000000000000000" pitchFamily="2" charset="-78"/>
                        </a:rPr>
                        <a:t>1</a:t>
                      </a:r>
                    </a:p>
                  </a:txBody>
                  <a:tcPr/>
                </a:tc>
                <a:tc>
                  <a:txBody>
                    <a:bodyPr/>
                    <a:lstStyle/>
                    <a:p>
                      <a:pPr rtl="1"/>
                      <a:r>
                        <a:rPr lang="ar" sz="14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467609762"/>
                  </a:ext>
                </a:extLst>
              </a:tr>
            </a:tbl>
          </a:graphicData>
        </a:graphic>
      </p:graphicFrame>
      <p:sp>
        <p:nvSpPr>
          <p:cNvPr id="12" name="TextBox 11">
            <a:extLst>
              <a:ext uri="{FF2B5EF4-FFF2-40B4-BE49-F238E27FC236}">
                <a16:creationId xmlns:a16="http://schemas.microsoft.com/office/drawing/2014/main" id="{4DE8CE18-A185-4769-B33E-A9E1A4C5DB84}"/>
              </a:ext>
            </a:extLst>
          </p:cNvPr>
          <p:cNvSpPr txBox="1"/>
          <p:nvPr/>
        </p:nvSpPr>
        <p:spPr>
          <a:xfrm>
            <a:off x="611562" y="1410582"/>
            <a:ext cx="3672407" cy="830997"/>
          </a:xfrm>
          <a:prstGeom prst="rect">
            <a:avLst/>
          </a:prstGeom>
          <a:noFill/>
        </p:spPr>
        <p:txBody>
          <a:bodyPr wrap="square" rtlCol="1">
            <a:spAutoFit/>
          </a:bodyPr>
          <a:lstStyle/>
          <a:p>
            <a:pPr algn="ctr" rtl="1"/>
            <a:r>
              <a:rPr lang="ar" sz="1600" dirty="0">
                <a:latin typeface="Sakkal Majalla" panose="02000000000000000000" pitchFamily="2" charset="-78"/>
                <a:cs typeface="Sakkal Majalla" panose="02000000000000000000" pitchFamily="2" charset="-78"/>
              </a:rPr>
              <a:t>تُستخدم جداول الحقيقة لتمثيل سلوك البوابات المنطقية، التي تمثل اللبنات الأساسية للدوائر الرقمية. ولكل بوابة منطقية جدول حقيقة معين يحدد علاقة الدخل والخرج.</a:t>
            </a:r>
          </a:p>
        </p:txBody>
      </p:sp>
      <p:sp>
        <p:nvSpPr>
          <p:cNvPr id="2" name="Footer Placeholder 2">
            <a:extLst>
              <a:ext uri="{FF2B5EF4-FFF2-40B4-BE49-F238E27FC236}">
                <a16:creationId xmlns:a16="http://schemas.microsoft.com/office/drawing/2014/main" id="{19F4D1D0-AB78-2CF4-32FB-654252989507}"/>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7338922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340768"/>
            <a:ext cx="4896544"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rPr>
              <a:t>أنواع العائلات المنطقية</a:t>
            </a:r>
          </a:p>
          <a:p>
            <a:pPr rtl="1"/>
            <a:endParaRPr lang="en-GB" sz="1600" b="1" dirty="0"/>
          </a:p>
          <a:p>
            <a:pPr marL="0" indent="0" rtl="1">
              <a:buNone/>
            </a:pPr>
            <a:r>
              <a:rPr lang="ar" sz="1600" b="1" dirty="0">
                <a:effectLst/>
              </a:rPr>
              <a:t>منطق ترانزستور-ترانزستور (TTL)</a:t>
            </a:r>
          </a:p>
          <a:p>
            <a:pPr rtl="1"/>
            <a:r>
              <a:rPr lang="ar" sz="1600" dirty="0">
                <a:effectLst/>
              </a:rPr>
              <a:t>منطق ترانزستور-ترانزستور (TTL) هو نوع من العائلات المنطقية التي تستخدم ترانزستورات الوصل ثنائية القطب.</a:t>
            </a:r>
          </a:p>
          <a:p>
            <a:pPr rtl="1"/>
            <a:r>
              <a:rPr lang="ar" sz="1600" dirty="0">
                <a:effectLst/>
              </a:rPr>
              <a:t>وهو معروف بسرعته العالية واستهلاكه المنخفض للطاقة.</a:t>
            </a:r>
          </a:p>
          <a:p>
            <a:pPr rtl="1"/>
            <a:r>
              <a:rPr lang="ar" sz="1600" dirty="0">
                <a:effectLst/>
              </a:rPr>
              <a:t>تستخدم دوائر TTL على نطاق واسع في عددٍ من التطبيقات مثل أجهزة الحاسوب والآلات الحاسبة وأنظمة الاتصالات.</a:t>
            </a:r>
          </a:p>
          <a:p>
            <a:pPr rtl="1">
              <a:buFont typeface="Arial" panose="020B0604020202020204" pitchFamily="34" charset="0"/>
              <a:buChar char="•"/>
            </a:pPr>
            <a:endParaRPr lang="en-GB" sz="1600" dirty="0">
              <a:effectLst/>
            </a:endParaRPr>
          </a:p>
          <a:p>
            <a:pPr marL="0" indent="0" rtl="1">
              <a:buNone/>
            </a:pPr>
            <a:r>
              <a:rPr lang="ar" sz="1600" b="1" dirty="0">
                <a:effectLst/>
              </a:rPr>
              <a:t>أشباه الموصلات ذات الأكاسيد المعدنية المتتامة (CMOS)</a:t>
            </a:r>
          </a:p>
          <a:p>
            <a:pPr rtl="1"/>
            <a:r>
              <a:rPr lang="ar" sz="1600" dirty="0">
                <a:effectLst/>
              </a:rPr>
              <a:t>منطق أشباه الموصلات ذات الأكاسيد المعدنية المتتامة (CMOS) هو نوع من العائلات المنطقية التي تستخدم كلاً من ترانزستورات أشباه الموصلات المصنوعة من أكسيد المعادن من النوع p والنوع n.</a:t>
            </a:r>
          </a:p>
          <a:p>
            <a:pPr rtl="1"/>
            <a:r>
              <a:rPr lang="ar" sz="1600" dirty="0">
                <a:effectLst/>
              </a:rPr>
              <a:t>وهو معروف باستهلاكه المنخفض للطاقة ومناعته العالية ضد الضوضاء.</a:t>
            </a:r>
          </a:p>
          <a:p>
            <a:pPr rtl="1"/>
            <a:r>
              <a:rPr lang="ar" sz="1600" dirty="0">
                <a:effectLst/>
              </a:rPr>
              <a:t>تُستخدم دوائر CMOS على نطاق واسع في تطبيقات مثل المعالجات الدقيقة وشرائح الذاكرة ومعالجات الإشارات الرقمية.</a:t>
            </a:r>
          </a:p>
          <a:p>
            <a:pPr marL="0"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418788"/>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أنواع العائلات المنطقية</a:t>
            </a:r>
          </a:p>
        </p:txBody>
      </p:sp>
      <p:pic>
        <p:nvPicPr>
          <p:cNvPr id="5" name="Picture 4" descr="A close-up of a transistor&#10;&#10;Description automatically generated">
            <a:extLst>
              <a:ext uri="{FF2B5EF4-FFF2-40B4-BE49-F238E27FC236}">
                <a16:creationId xmlns:a16="http://schemas.microsoft.com/office/drawing/2014/main" id="{D83B12DA-F222-9554-8489-32BAC787222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9636" y="2385232"/>
            <a:ext cx="2852936" cy="2852936"/>
          </a:xfrm>
          <a:prstGeom prst="rect">
            <a:avLst/>
          </a:prstGeom>
        </p:spPr>
      </p:pic>
      <p:sp>
        <p:nvSpPr>
          <p:cNvPr id="2" name="Footer Placeholder 2">
            <a:extLst>
              <a:ext uri="{FF2B5EF4-FFF2-40B4-BE49-F238E27FC236}">
                <a16:creationId xmlns:a16="http://schemas.microsoft.com/office/drawing/2014/main" id="{5B0F4014-6038-B57F-1F77-60878690033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07431839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6493" y="1225219"/>
            <a:ext cx="8931014" cy="360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خصائص العائلات المنطقية</a:t>
            </a:r>
          </a:p>
          <a:p>
            <a:pPr rtl="1">
              <a:buFont typeface="Arial" panose="020B0604020202020204" pitchFamily="34" charset="0"/>
              <a:buChar char="•"/>
            </a:pPr>
            <a:endParaRPr lang="en-GB" sz="1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418788"/>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أنواع العائلات المنطقية</a:t>
            </a:r>
          </a:p>
        </p:txBody>
      </p:sp>
      <p:pic>
        <p:nvPicPr>
          <p:cNvPr id="5" name="Picture 4" descr="Close-up of a computer port&#10;&#10;Description automatically generated">
            <a:extLst>
              <a:ext uri="{FF2B5EF4-FFF2-40B4-BE49-F238E27FC236}">
                <a16:creationId xmlns:a16="http://schemas.microsoft.com/office/drawing/2014/main" id="{A8F4DDF0-F42D-D72E-9296-88ED5CAAECA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6975" y="2924944"/>
            <a:ext cx="3238921" cy="2087886"/>
          </a:xfrm>
          <a:prstGeom prst="rect">
            <a:avLst/>
          </a:prstGeom>
        </p:spPr>
      </p:pic>
      <p:sp>
        <p:nvSpPr>
          <p:cNvPr id="6" name="Content Placeholder 3">
            <a:extLst>
              <a:ext uri="{FF2B5EF4-FFF2-40B4-BE49-F238E27FC236}">
                <a16:creationId xmlns:a16="http://schemas.microsoft.com/office/drawing/2014/main" id="{38AF1385-2612-2CA1-673C-CC559794A26C}"/>
              </a:ext>
            </a:extLst>
          </p:cNvPr>
          <p:cNvSpPr txBox="1">
            <a:spLocks noChangeArrowheads="1"/>
          </p:cNvSpPr>
          <p:nvPr/>
        </p:nvSpPr>
        <p:spPr bwMode="auto">
          <a:xfrm>
            <a:off x="4021653" y="2204864"/>
            <a:ext cx="4870827" cy="3888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600" b="1" kern="0" dirty="0">
                <a:latin typeface="Sakkal Majalla" panose="02000000000000000000" pitchFamily="2" charset="-78"/>
                <a:cs typeface="Sakkal Majalla" panose="02000000000000000000" pitchFamily="2" charset="-78"/>
              </a:rPr>
              <a:t>جهد الإمداد: </a:t>
            </a:r>
            <a:r>
              <a:rPr lang="ar" sz="1600" kern="0" dirty="0">
                <a:latin typeface="Sakkal Majalla" panose="02000000000000000000" pitchFamily="2" charset="-78"/>
                <a:cs typeface="Sakkal Majalla" panose="02000000000000000000" pitchFamily="2" charset="-78"/>
              </a:rPr>
              <a:t>للعائلات المنطقية متطلبات مختلفة من حيث جهد الإمداد، ما يحدد مستويات الجهد التي تعمل عندها.</a:t>
            </a:r>
          </a:p>
          <a:p>
            <a:pPr rtl="1"/>
            <a:r>
              <a:rPr lang="ar" sz="1600" b="1" kern="0" dirty="0">
                <a:latin typeface="Sakkal Majalla" panose="02000000000000000000" pitchFamily="2" charset="-78"/>
                <a:cs typeface="Sakkal Majalla" panose="02000000000000000000" pitchFamily="2" charset="-78"/>
              </a:rPr>
              <a:t>الجهد التشغيلي للدخل والخرج: </a:t>
            </a:r>
            <a:r>
              <a:rPr lang="ar" sz="1600" kern="0" dirty="0">
                <a:latin typeface="Sakkal Majalla" panose="02000000000000000000" pitchFamily="2" charset="-78"/>
                <a:cs typeface="Sakkal Majalla" panose="02000000000000000000" pitchFamily="2" charset="-78"/>
              </a:rPr>
              <a:t>للعائلات المنطقية مستويات جهد محددة لإشارات الدخل والخرج يجب مراعاتها عند تصميم الدوائر.</a:t>
            </a:r>
          </a:p>
          <a:p>
            <a:pPr rtl="1"/>
            <a:r>
              <a:rPr lang="ar" sz="1600" b="1" kern="0" dirty="0">
                <a:latin typeface="Sakkal Majalla" panose="02000000000000000000" pitchFamily="2" charset="-78"/>
                <a:cs typeface="Sakkal Majalla" panose="02000000000000000000" pitchFamily="2" charset="-78"/>
              </a:rPr>
              <a:t>مقاومة الدخل والخرج: </a:t>
            </a:r>
            <a:r>
              <a:rPr lang="ar" sz="1600" kern="0" dirty="0">
                <a:latin typeface="Sakkal Majalla" panose="02000000000000000000" pitchFamily="2" charset="-78"/>
                <a:cs typeface="Sakkal Majalla" panose="02000000000000000000" pitchFamily="2" charset="-78"/>
              </a:rPr>
              <a:t>تتميز العائلات المنطقية بخصائص مقاومة الدخل والخرج مختلفة، وتؤثر هذه الخصائص على تفاعل الإشارات بين الأجهزة.</a:t>
            </a:r>
          </a:p>
          <a:p>
            <a:pPr rtl="1"/>
            <a:r>
              <a:rPr lang="ar" sz="1600" b="1" kern="0" dirty="0">
                <a:latin typeface="Sakkal Majalla" panose="02000000000000000000" pitchFamily="2" charset="-78"/>
                <a:cs typeface="Sakkal Majalla" panose="02000000000000000000" pitchFamily="2" charset="-78"/>
              </a:rPr>
              <a:t>تأخير الانتشار: </a:t>
            </a:r>
            <a:r>
              <a:rPr lang="ar" sz="1600" kern="0" dirty="0">
                <a:latin typeface="Sakkal Majalla" panose="02000000000000000000" pitchFamily="2" charset="-78"/>
                <a:cs typeface="Sakkal Majalla" panose="02000000000000000000" pitchFamily="2" charset="-78"/>
              </a:rPr>
              <a:t>تتميز العائلات المنطقية بتأخيرات متفاوتة في الانتشار، وهو الوقت الذي تستغرقه الإشارة للانتقال عبر الدائرة من الدخل إلى الخرج.</a:t>
            </a:r>
          </a:p>
          <a:p>
            <a:pPr rtl="1"/>
            <a:r>
              <a:rPr lang="ar" sz="1600" b="1" kern="0" dirty="0">
                <a:latin typeface="Sakkal Majalla" panose="02000000000000000000" pitchFamily="2" charset="-78"/>
                <a:cs typeface="Sakkal Majalla" panose="02000000000000000000" pitchFamily="2" charset="-78"/>
              </a:rPr>
              <a:t>استهلاك الطاقة: </a:t>
            </a:r>
            <a:r>
              <a:rPr lang="ar" sz="1600" kern="0" dirty="0">
                <a:latin typeface="Sakkal Majalla" panose="02000000000000000000" pitchFamily="2" charset="-78"/>
                <a:cs typeface="Sakkal Majalla" panose="02000000000000000000" pitchFamily="2" charset="-78"/>
              </a:rPr>
              <a:t>تتميز العائلات المنطقية بمستويات مختلفة من استهلاك الطاقة، ما يؤثر في كفاءة الطاقة والمتطلبات الإجمالية للطاقة في الدائرة.</a:t>
            </a:r>
          </a:p>
          <a:p>
            <a:pPr rtl="1">
              <a:buFont typeface="Arial" panose="020B0604020202020204" pitchFamily="34" charset="0"/>
              <a:buChar char="•"/>
            </a:pPr>
            <a:endParaRPr lang="en-GB" sz="1600" b="1"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0A171FA-3194-7D14-9D61-B92CC21BB092}"/>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526542774"/>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26285" y="452571"/>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الدوائر المنطقية التوافقية</a:t>
            </a:r>
          </a:p>
        </p:txBody>
      </p:sp>
      <p:graphicFrame>
        <p:nvGraphicFramePr>
          <p:cNvPr id="2" name="Table 2">
            <a:extLst>
              <a:ext uri="{FF2B5EF4-FFF2-40B4-BE49-F238E27FC236}">
                <a16:creationId xmlns:a16="http://schemas.microsoft.com/office/drawing/2014/main" id="{BCB998A4-146F-42DE-89E3-3911AD3C207F}"/>
              </a:ext>
            </a:extLst>
          </p:cNvPr>
          <p:cNvGraphicFramePr>
            <a:graphicFrameLocks noGrp="1"/>
          </p:cNvGraphicFramePr>
          <p:nvPr>
            <p:extLst>
              <p:ext uri="{D42A27DB-BD31-4B8C-83A1-F6EECF244321}">
                <p14:modId xmlns:p14="http://schemas.microsoft.com/office/powerpoint/2010/main" val="3259247149"/>
              </p:ext>
            </p:extLst>
          </p:nvPr>
        </p:nvGraphicFramePr>
        <p:xfrm>
          <a:off x="6833211" y="1189447"/>
          <a:ext cx="2181709" cy="2331720"/>
        </p:xfrm>
        <a:graphic>
          <a:graphicData uri="http://schemas.openxmlformats.org/drawingml/2006/table">
            <a:tbl>
              <a:tblPr rtl="1" firstRow="1" bandRow="1">
                <a:tableStyleId>{073A0DAA-6AF3-43AB-8588-CEC1D06C72B9}</a:tableStyleId>
              </a:tblPr>
              <a:tblGrid>
                <a:gridCol w="747842">
                  <a:extLst>
                    <a:ext uri="{9D8B030D-6E8A-4147-A177-3AD203B41FA5}">
                      <a16:colId xmlns:a16="http://schemas.microsoft.com/office/drawing/2014/main" val="1533274840"/>
                    </a:ext>
                  </a:extLst>
                </a:gridCol>
                <a:gridCol w="747842">
                  <a:extLst>
                    <a:ext uri="{9D8B030D-6E8A-4147-A177-3AD203B41FA5}">
                      <a16:colId xmlns:a16="http://schemas.microsoft.com/office/drawing/2014/main" val="2772070875"/>
                    </a:ext>
                  </a:extLst>
                </a:gridCol>
                <a:gridCol w="686025">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AND</a:t>
                      </a:r>
                      <a:endParaRPr lang="en-GB" sz="1300" b="1" dirty="0">
                        <a:latin typeface="Sakkal Majalla" panose="02000000000000000000" pitchFamily="2" charset="-78"/>
                        <a:cs typeface="Sakkal Majalla" panose="02000000000000000000" pitchFamily="2" charset="-78"/>
                      </a:endParaRPr>
                    </a:p>
                    <a:p>
                      <a:pPr rtl="1"/>
                      <a:r>
                        <a:rPr lang="ar" sz="1300" dirty="0">
                          <a:effectLst/>
                          <a:latin typeface="Sakkal Majalla" panose="02000000000000000000" pitchFamily="2" charset="-78"/>
                          <a:cs typeface="Sakkal Majalla" panose="02000000000000000000" pitchFamily="2" charset="-78"/>
                        </a:rPr>
                        <a:t>تنتج بوابة AND خرجًا مرتفعًا فقط عندما تكون جميع مدخلاتها مرتفعة.</a:t>
                      </a:r>
                    </a:p>
                    <a:p>
                      <a:pPr rtl="1"/>
                      <a:r>
                        <a:rPr lang="ar" sz="1300" dirty="0">
                          <a:effectLst/>
                          <a:latin typeface="Sakkal Majalla" panose="02000000000000000000" pitchFamily="2" charset="-78"/>
                          <a:cs typeface="Sakkal Majalla" panose="02000000000000000000" pitchFamily="2" charset="-78"/>
                        </a:rPr>
                        <a:t>جداول الحقيقة</a:t>
                      </a: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1678107672"/>
                  </a:ext>
                </a:extLst>
              </a:tr>
            </a:tbl>
          </a:graphicData>
        </a:graphic>
      </p:graphicFrame>
      <p:graphicFrame>
        <p:nvGraphicFramePr>
          <p:cNvPr id="8" name="Table 2">
            <a:extLst>
              <a:ext uri="{FF2B5EF4-FFF2-40B4-BE49-F238E27FC236}">
                <a16:creationId xmlns:a16="http://schemas.microsoft.com/office/drawing/2014/main" id="{63888E0A-CC4C-4836-A522-E2AEE1B44EBF}"/>
              </a:ext>
            </a:extLst>
          </p:cNvPr>
          <p:cNvGraphicFramePr>
            <a:graphicFrameLocks noGrp="1"/>
          </p:cNvGraphicFramePr>
          <p:nvPr>
            <p:extLst>
              <p:ext uri="{D42A27DB-BD31-4B8C-83A1-F6EECF244321}">
                <p14:modId xmlns:p14="http://schemas.microsoft.com/office/powerpoint/2010/main" val="4260600579"/>
              </p:ext>
            </p:extLst>
          </p:nvPr>
        </p:nvGraphicFramePr>
        <p:xfrm>
          <a:off x="4427984" y="1189447"/>
          <a:ext cx="2310789" cy="2331720"/>
        </p:xfrm>
        <a:graphic>
          <a:graphicData uri="http://schemas.openxmlformats.org/drawingml/2006/table">
            <a:tbl>
              <a:tblPr rtl="1" firstRow="1" bandRow="1">
                <a:tableStyleId>{073A0DAA-6AF3-43AB-8588-CEC1D06C72B9}</a:tableStyleId>
              </a:tblPr>
              <a:tblGrid>
                <a:gridCol w="792088">
                  <a:extLst>
                    <a:ext uri="{9D8B030D-6E8A-4147-A177-3AD203B41FA5}">
                      <a16:colId xmlns:a16="http://schemas.microsoft.com/office/drawing/2014/main" val="1533274840"/>
                    </a:ext>
                  </a:extLst>
                </a:gridCol>
                <a:gridCol w="792088">
                  <a:extLst>
                    <a:ext uri="{9D8B030D-6E8A-4147-A177-3AD203B41FA5}">
                      <a16:colId xmlns:a16="http://schemas.microsoft.com/office/drawing/2014/main" val="2772070875"/>
                    </a:ext>
                  </a:extLst>
                </a:gridCol>
                <a:gridCol w="726613">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OR</a:t>
                      </a:r>
                    </a:p>
                    <a:p>
                      <a:pPr rtl="1"/>
                      <a:r>
                        <a:rPr lang="ar" sz="1300" b="1" dirty="0">
                          <a:effectLst/>
                          <a:latin typeface="Sakkal Majalla" panose="02000000000000000000" pitchFamily="2" charset="-78"/>
                          <a:cs typeface="Sakkal Majalla" panose="02000000000000000000" pitchFamily="2" charset="-78"/>
                        </a:rPr>
                        <a:t>تنتج بوابة OR خرجًا مرتفعًا عندما يكون أي من مدخلاتها مرتفعًا.</a:t>
                      </a:r>
                    </a:p>
                    <a:p>
                      <a:pPr rtl="1"/>
                      <a:r>
                        <a:rPr lang="ar" sz="1300" b="1" dirty="0">
                          <a:effectLst/>
                          <a:latin typeface="Sakkal Majalla" panose="02000000000000000000" pitchFamily="2" charset="-78"/>
                          <a:cs typeface="Sakkal Majalla" panose="02000000000000000000" pitchFamily="2" charset="-78"/>
                        </a:rPr>
                        <a:t>جداول الحقيقة</a:t>
                      </a: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1678107672"/>
                  </a:ext>
                </a:extLst>
              </a:tr>
            </a:tbl>
          </a:graphicData>
        </a:graphic>
      </p:graphicFrame>
      <p:graphicFrame>
        <p:nvGraphicFramePr>
          <p:cNvPr id="9" name="Table 2">
            <a:extLst>
              <a:ext uri="{FF2B5EF4-FFF2-40B4-BE49-F238E27FC236}">
                <a16:creationId xmlns:a16="http://schemas.microsoft.com/office/drawing/2014/main" id="{90F3CB9D-6143-44D6-A3B4-2F438CC4FA34}"/>
              </a:ext>
            </a:extLst>
          </p:cNvPr>
          <p:cNvGraphicFramePr>
            <a:graphicFrameLocks noGrp="1"/>
          </p:cNvGraphicFramePr>
          <p:nvPr>
            <p:extLst>
              <p:ext uri="{D42A27DB-BD31-4B8C-83A1-F6EECF244321}">
                <p14:modId xmlns:p14="http://schemas.microsoft.com/office/powerpoint/2010/main" val="2175110828"/>
              </p:ext>
            </p:extLst>
          </p:nvPr>
        </p:nvGraphicFramePr>
        <p:xfrm>
          <a:off x="2418082" y="1189447"/>
          <a:ext cx="1943820" cy="1752600"/>
        </p:xfrm>
        <a:graphic>
          <a:graphicData uri="http://schemas.openxmlformats.org/drawingml/2006/table">
            <a:tbl>
              <a:tblPr rtl="1" firstRow="1" bandRow="1">
                <a:tableStyleId>{073A0DAA-6AF3-43AB-8588-CEC1D06C72B9}</a:tableStyleId>
              </a:tblPr>
              <a:tblGrid>
                <a:gridCol w="971910">
                  <a:extLst>
                    <a:ext uri="{9D8B030D-6E8A-4147-A177-3AD203B41FA5}">
                      <a16:colId xmlns:a16="http://schemas.microsoft.com/office/drawing/2014/main" val="1533274840"/>
                    </a:ext>
                  </a:extLst>
                </a:gridCol>
                <a:gridCol w="971910">
                  <a:extLst>
                    <a:ext uri="{9D8B030D-6E8A-4147-A177-3AD203B41FA5}">
                      <a16:colId xmlns:a16="http://schemas.microsoft.com/office/drawing/2014/main" val="2772070875"/>
                    </a:ext>
                  </a:extLst>
                </a:gridCol>
              </a:tblGrid>
              <a:tr h="0">
                <a:tc gridSpan="2">
                  <a:txBody>
                    <a:bodyPr/>
                    <a:lstStyle/>
                    <a:p>
                      <a:pPr rtl="1"/>
                      <a:r>
                        <a:rPr lang="ar" sz="1300" b="1" dirty="0">
                          <a:effectLst/>
                          <a:latin typeface="Sakkal Majalla" panose="02000000000000000000" pitchFamily="2" charset="-78"/>
                          <a:cs typeface="Sakkal Majalla" panose="02000000000000000000" pitchFamily="2" charset="-78"/>
                        </a:rPr>
                        <a:t>بوابة NOT</a:t>
                      </a:r>
                    </a:p>
                    <a:p>
                      <a:pPr rtl="1"/>
                      <a:r>
                        <a:rPr lang="ar" sz="1300" b="1" dirty="0">
                          <a:effectLst/>
                          <a:latin typeface="Sakkal Majalla" panose="02000000000000000000" pitchFamily="2" charset="-78"/>
                          <a:cs typeface="Sakkal Majalla" panose="02000000000000000000" pitchFamily="2" charset="-78"/>
                        </a:rPr>
                        <a:t>تنتج بوابة NOT (وتسمى أيضًا العاكس) الخرج المعاكس لدخلها. جداول الحقيقة</a:t>
                      </a:r>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926683969"/>
                  </a:ext>
                </a:extLst>
              </a:tr>
            </a:tbl>
          </a:graphicData>
        </a:graphic>
      </p:graphicFrame>
      <p:graphicFrame>
        <p:nvGraphicFramePr>
          <p:cNvPr id="10" name="Table 2">
            <a:extLst>
              <a:ext uri="{FF2B5EF4-FFF2-40B4-BE49-F238E27FC236}">
                <a16:creationId xmlns:a16="http://schemas.microsoft.com/office/drawing/2014/main" id="{A9EDCDC1-34CB-4BFA-A8DC-E3B23FA407F4}"/>
              </a:ext>
            </a:extLst>
          </p:cNvPr>
          <p:cNvGraphicFramePr>
            <a:graphicFrameLocks noGrp="1"/>
          </p:cNvGraphicFramePr>
          <p:nvPr>
            <p:extLst>
              <p:ext uri="{D42A27DB-BD31-4B8C-83A1-F6EECF244321}">
                <p14:modId xmlns:p14="http://schemas.microsoft.com/office/powerpoint/2010/main" val="589984027"/>
              </p:ext>
            </p:extLst>
          </p:nvPr>
        </p:nvGraphicFramePr>
        <p:xfrm>
          <a:off x="35496" y="1189447"/>
          <a:ext cx="2310789" cy="2331720"/>
        </p:xfrm>
        <a:graphic>
          <a:graphicData uri="http://schemas.openxmlformats.org/drawingml/2006/table">
            <a:tbl>
              <a:tblPr rtl="1" firstRow="1" bandRow="1">
                <a:tableStyleId>{073A0DAA-6AF3-43AB-8588-CEC1D06C72B9}</a:tableStyleId>
              </a:tblPr>
              <a:tblGrid>
                <a:gridCol w="792088">
                  <a:extLst>
                    <a:ext uri="{9D8B030D-6E8A-4147-A177-3AD203B41FA5}">
                      <a16:colId xmlns:a16="http://schemas.microsoft.com/office/drawing/2014/main" val="1533274840"/>
                    </a:ext>
                  </a:extLst>
                </a:gridCol>
                <a:gridCol w="792088">
                  <a:extLst>
                    <a:ext uri="{9D8B030D-6E8A-4147-A177-3AD203B41FA5}">
                      <a16:colId xmlns:a16="http://schemas.microsoft.com/office/drawing/2014/main" val="2772070875"/>
                    </a:ext>
                  </a:extLst>
                </a:gridCol>
                <a:gridCol w="726613">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XOR</a:t>
                      </a:r>
                    </a:p>
                    <a:p>
                      <a:pPr rtl="1"/>
                      <a:r>
                        <a:rPr lang="ar" sz="1300" b="1" dirty="0">
                          <a:effectLst/>
                          <a:latin typeface="Sakkal Majalla" panose="02000000000000000000" pitchFamily="2" charset="-78"/>
                          <a:cs typeface="Sakkal Majalla" panose="02000000000000000000" pitchFamily="2" charset="-78"/>
                        </a:rPr>
                        <a:t>تنتج بوابة XOR خرجًا مرتفعًا عندما يكون عدد المدخلات العالية فرديًا.</a:t>
                      </a:r>
                    </a:p>
                    <a:p>
                      <a:pPr rtl="1"/>
                      <a:r>
                        <a:rPr lang="ar" sz="1300" b="1" dirty="0">
                          <a:effectLst/>
                          <a:latin typeface="Sakkal Majalla" panose="02000000000000000000" pitchFamily="2" charset="-78"/>
                          <a:cs typeface="Sakkal Majalla" panose="02000000000000000000" pitchFamily="2" charset="-78"/>
                        </a:rPr>
                        <a:t>جداول الحقيقة</a:t>
                      </a: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678107672"/>
                  </a:ext>
                </a:extLst>
              </a:tr>
            </a:tbl>
          </a:graphicData>
        </a:graphic>
      </p:graphicFrame>
      <p:graphicFrame>
        <p:nvGraphicFramePr>
          <p:cNvPr id="11" name="Table 2">
            <a:extLst>
              <a:ext uri="{FF2B5EF4-FFF2-40B4-BE49-F238E27FC236}">
                <a16:creationId xmlns:a16="http://schemas.microsoft.com/office/drawing/2014/main" id="{239E90FE-FAB0-4A05-85D3-8025A37A8FE3}"/>
              </a:ext>
            </a:extLst>
          </p:cNvPr>
          <p:cNvGraphicFramePr>
            <a:graphicFrameLocks noGrp="1"/>
          </p:cNvGraphicFramePr>
          <p:nvPr>
            <p:extLst>
              <p:ext uri="{D42A27DB-BD31-4B8C-83A1-F6EECF244321}">
                <p14:modId xmlns:p14="http://schemas.microsoft.com/office/powerpoint/2010/main" val="3892922938"/>
              </p:ext>
            </p:extLst>
          </p:nvPr>
        </p:nvGraphicFramePr>
        <p:xfrm>
          <a:off x="6704131" y="3956680"/>
          <a:ext cx="2310789" cy="2331720"/>
        </p:xfrm>
        <a:graphic>
          <a:graphicData uri="http://schemas.openxmlformats.org/drawingml/2006/table">
            <a:tbl>
              <a:tblPr rtl="1" firstRow="1" bandRow="1">
                <a:tableStyleId>{073A0DAA-6AF3-43AB-8588-CEC1D06C72B9}</a:tableStyleId>
              </a:tblPr>
              <a:tblGrid>
                <a:gridCol w="792088">
                  <a:extLst>
                    <a:ext uri="{9D8B030D-6E8A-4147-A177-3AD203B41FA5}">
                      <a16:colId xmlns:a16="http://schemas.microsoft.com/office/drawing/2014/main" val="1533274840"/>
                    </a:ext>
                  </a:extLst>
                </a:gridCol>
                <a:gridCol w="792088">
                  <a:extLst>
                    <a:ext uri="{9D8B030D-6E8A-4147-A177-3AD203B41FA5}">
                      <a16:colId xmlns:a16="http://schemas.microsoft.com/office/drawing/2014/main" val="2772070875"/>
                    </a:ext>
                  </a:extLst>
                </a:gridCol>
                <a:gridCol w="726613">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NAND</a:t>
                      </a:r>
                    </a:p>
                    <a:p>
                      <a:pPr rtl="1"/>
                      <a:r>
                        <a:rPr lang="ar" sz="1300" b="1" dirty="0">
                          <a:effectLst/>
                          <a:latin typeface="Sakkal Majalla" panose="02000000000000000000" pitchFamily="2" charset="-78"/>
                          <a:cs typeface="Sakkal Majalla" panose="02000000000000000000" pitchFamily="2" charset="-78"/>
                        </a:rPr>
                        <a:t>تنتج بوابة NAND خرجًا منخفضًا فقط عندما تكون جميع مدخلاتها مرتفعة.</a:t>
                      </a:r>
                    </a:p>
                    <a:p>
                      <a:pPr rtl="1"/>
                      <a:r>
                        <a:rPr lang="ar" sz="1300" b="1" dirty="0">
                          <a:effectLst/>
                          <a:latin typeface="Sakkal Majalla" panose="02000000000000000000" pitchFamily="2" charset="-78"/>
                          <a:cs typeface="Sakkal Majalla" panose="02000000000000000000" pitchFamily="2" charset="-78"/>
                        </a:rPr>
                        <a:t>جداول الحقيقة</a:t>
                      </a:r>
                      <a:endParaRPr lang="en-GB" sz="1300" dirty="0">
                        <a:effectLst/>
                        <a:latin typeface="Sakkal Majalla" panose="02000000000000000000" pitchFamily="2" charset="-78"/>
                        <a:cs typeface="Sakkal Majalla" panose="02000000000000000000" pitchFamily="2" charset="-78"/>
                      </a:endParaRP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dirty="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678107672"/>
                  </a:ext>
                </a:extLst>
              </a:tr>
            </a:tbl>
          </a:graphicData>
        </a:graphic>
      </p:graphicFrame>
      <p:graphicFrame>
        <p:nvGraphicFramePr>
          <p:cNvPr id="12" name="Table 2">
            <a:extLst>
              <a:ext uri="{FF2B5EF4-FFF2-40B4-BE49-F238E27FC236}">
                <a16:creationId xmlns:a16="http://schemas.microsoft.com/office/drawing/2014/main" id="{AF844841-65F4-4EAA-B238-5AE484FBB353}"/>
              </a:ext>
            </a:extLst>
          </p:cNvPr>
          <p:cNvGraphicFramePr>
            <a:graphicFrameLocks noGrp="1"/>
          </p:cNvGraphicFramePr>
          <p:nvPr>
            <p:extLst>
              <p:ext uri="{D42A27DB-BD31-4B8C-83A1-F6EECF244321}">
                <p14:modId xmlns:p14="http://schemas.microsoft.com/office/powerpoint/2010/main" val="2215777955"/>
              </p:ext>
            </p:extLst>
          </p:nvPr>
        </p:nvGraphicFramePr>
        <p:xfrm>
          <a:off x="3416606" y="3956680"/>
          <a:ext cx="2310789" cy="2331720"/>
        </p:xfrm>
        <a:graphic>
          <a:graphicData uri="http://schemas.openxmlformats.org/drawingml/2006/table">
            <a:tbl>
              <a:tblPr rtl="1" firstRow="1" bandRow="1">
                <a:tableStyleId>{073A0DAA-6AF3-43AB-8588-CEC1D06C72B9}</a:tableStyleId>
              </a:tblPr>
              <a:tblGrid>
                <a:gridCol w="792088">
                  <a:extLst>
                    <a:ext uri="{9D8B030D-6E8A-4147-A177-3AD203B41FA5}">
                      <a16:colId xmlns:a16="http://schemas.microsoft.com/office/drawing/2014/main" val="1533274840"/>
                    </a:ext>
                  </a:extLst>
                </a:gridCol>
                <a:gridCol w="792088">
                  <a:extLst>
                    <a:ext uri="{9D8B030D-6E8A-4147-A177-3AD203B41FA5}">
                      <a16:colId xmlns:a16="http://schemas.microsoft.com/office/drawing/2014/main" val="2772070875"/>
                    </a:ext>
                  </a:extLst>
                </a:gridCol>
                <a:gridCol w="726613">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NOR</a:t>
                      </a:r>
                      <a:endParaRPr lang="en-GB" sz="1300" b="1" dirty="0">
                        <a:latin typeface="Sakkal Majalla" panose="02000000000000000000" pitchFamily="2" charset="-78"/>
                        <a:cs typeface="Sakkal Majalla" panose="02000000000000000000" pitchFamily="2" charset="-78"/>
                      </a:endParaRPr>
                    </a:p>
                    <a:p>
                      <a:pPr rtl="1"/>
                      <a:r>
                        <a:rPr lang="ar" sz="1300" dirty="0">
                          <a:effectLst/>
                          <a:latin typeface="Sakkal Majalla" panose="02000000000000000000" pitchFamily="2" charset="-78"/>
                          <a:cs typeface="Sakkal Majalla" panose="02000000000000000000" pitchFamily="2" charset="-78"/>
                        </a:rPr>
                        <a:t>تنتج بوابة NOR خرجًا منخفضًا عندما تكون جميع مدخلاتها مرتفعة.</a:t>
                      </a:r>
                    </a:p>
                    <a:p>
                      <a:pPr rtl="1"/>
                      <a:r>
                        <a:rPr lang="ar" sz="1300" dirty="0">
                          <a:effectLst/>
                          <a:latin typeface="Sakkal Majalla" panose="02000000000000000000" pitchFamily="2" charset="-78"/>
                          <a:cs typeface="Sakkal Majalla" panose="02000000000000000000" pitchFamily="2" charset="-78"/>
                        </a:rPr>
                        <a:t>جداول الحقيقة</a:t>
                      </a: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1678107672"/>
                  </a:ext>
                </a:extLst>
              </a:tr>
            </a:tbl>
          </a:graphicData>
        </a:graphic>
      </p:graphicFrame>
      <p:graphicFrame>
        <p:nvGraphicFramePr>
          <p:cNvPr id="13" name="Table 2">
            <a:extLst>
              <a:ext uri="{FF2B5EF4-FFF2-40B4-BE49-F238E27FC236}">
                <a16:creationId xmlns:a16="http://schemas.microsoft.com/office/drawing/2014/main" id="{D3807BDC-8AC2-4A7E-B1C3-1C815611AE97}"/>
              </a:ext>
            </a:extLst>
          </p:cNvPr>
          <p:cNvGraphicFramePr>
            <a:graphicFrameLocks noGrp="1"/>
          </p:cNvGraphicFramePr>
          <p:nvPr>
            <p:extLst>
              <p:ext uri="{D42A27DB-BD31-4B8C-83A1-F6EECF244321}">
                <p14:modId xmlns:p14="http://schemas.microsoft.com/office/powerpoint/2010/main" val="1452442163"/>
              </p:ext>
            </p:extLst>
          </p:nvPr>
        </p:nvGraphicFramePr>
        <p:xfrm>
          <a:off x="129081" y="3789040"/>
          <a:ext cx="2310789" cy="2331720"/>
        </p:xfrm>
        <a:graphic>
          <a:graphicData uri="http://schemas.openxmlformats.org/drawingml/2006/table">
            <a:tbl>
              <a:tblPr rtl="1" firstRow="1" bandRow="1">
                <a:tableStyleId>{073A0DAA-6AF3-43AB-8588-CEC1D06C72B9}</a:tableStyleId>
              </a:tblPr>
              <a:tblGrid>
                <a:gridCol w="792088">
                  <a:extLst>
                    <a:ext uri="{9D8B030D-6E8A-4147-A177-3AD203B41FA5}">
                      <a16:colId xmlns:a16="http://schemas.microsoft.com/office/drawing/2014/main" val="1533274840"/>
                    </a:ext>
                  </a:extLst>
                </a:gridCol>
                <a:gridCol w="792088">
                  <a:extLst>
                    <a:ext uri="{9D8B030D-6E8A-4147-A177-3AD203B41FA5}">
                      <a16:colId xmlns:a16="http://schemas.microsoft.com/office/drawing/2014/main" val="2772070875"/>
                    </a:ext>
                  </a:extLst>
                </a:gridCol>
                <a:gridCol w="726613">
                  <a:extLst>
                    <a:ext uri="{9D8B030D-6E8A-4147-A177-3AD203B41FA5}">
                      <a16:colId xmlns:a16="http://schemas.microsoft.com/office/drawing/2014/main" val="1383205748"/>
                    </a:ext>
                  </a:extLst>
                </a:gridCol>
              </a:tblGrid>
              <a:tr h="0">
                <a:tc gridSpan="3">
                  <a:txBody>
                    <a:bodyPr/>
                    <a:lstStyle/>
                    <a:p>
                      <a:pPr rtl="1"/>
                      <a:r>
                        <a:rPr lang="ar" sz="1300" b="1" dirty="0">
                          <a:effectLst/>
                          <a:latin typeface="Sakkal Majalla" panose="02000000000000000000" pitchFamily="2" charset="-78"/>
                          <a:cs typeface="Sakkal Majalla" panose="02000000000000000000" pitchFamily="2" charset="-78"/>
                        </a:rPr>
                        <a:t>بوابة XNOR</a:t>
                      </a:r>
                      <a:endParaRPr lang="en-GB" sz="1300" b="1" dirty="0">
                        <a:latin typeface="Sakkal Majalla" panose="02000000000000000000" pitchFamily="2" charset="-78"/>
                        <a:cs typeface="Sakkal Majalla" panose="02000000000000000000" pitchFamily="2" charset="-78"/>
                      </a:endParaRPr>
                    </a:p>
                    <a:p>
                      <a:pPr rtl="1"/>
                      <a:r>
                        <a:rPr lang="ar" sz="1300" dirty="0">
                          <a:effectLst/>
                          <a:latin typeface="Sakkal Majalla" panose="02000000000000000000" pitchFamily="2" charset="-78"/>
                          <a:cs typeface="Sakkal Majalla" panose="02000000000000000000" pitchFamily="2" charset="-78"/>
                        </a:rPr>
                        <a:t>تنتج بوابة XOR خرجًا مرتفعًا عندما يكون عدد المدخلات العالية زوجيًا.</a:t>
                      </a:r>
                    </a:p>
                    <a:p>
                      <a:pPr rtl="1"/>
                      <a:r>
                        <a:rPr lang="ar" sz="1300" dirty="0">
                          <a:effectLst/>
                          <a:latin typeface="Sakkal Majalla" panose="02000000000000000000" pitchFamily="2" charset="-78"/>
                          <a:cs typeface="Sakkal Majalla" panose="02000000000000000000" pitchFamily="2" charset="-78"/>
                        </a:rPr>
                        <a:t>جداول الحقيقة</a:t>
                      </a:r>
                    </a:p>
                  </a:txBody>
                  <a:tcPr/>
                </a:tc>
                <a:tc hMerge="1">
                  <a:txBody>
                    <a:bodyPr/>
                    <a:lstStyle/>
                    <a:p>
                      <a:pPr rtl="1"/>
                      <a:endParaRPr lang="en-GB" sz="1400" dirty="0"/>
                    </a:p>
                  </a:txBody>
                  <a:tcPr/>
                </a:tc>
                <a:tc hMerge="1">
                  <a:txBody>
                    <a:bodyPr/>
                    <a:lstStyle/>
                    <a:p>
                      <a:pPr rtl="1"/>
                      <a:endParaRPr lang="en-GB" sz="1400" dirty="0"/>
                    </a:p>
                  </a:txBody>
                  <a:tcPr/>
                </a:tc>
                <a:extLst>
                  <a:ext uri="{0D108BD9-81ED-4DB2-BD59-A6C34878D82A}">
                    <a16:rowId xmlns:a16="http://schemas.microsoft.com/office/drawing/2014/main" val="2899546261"/>
                  </a:ext>
                </a:extLst>
              </a:tr>
              <a:tr h="266973">
                <a:tc>
                  <a:txBody>
                    <a:bodyPr/>
                    <a:lstStyle/>
                    <a:p>
                      <a:pPr rtl="1"/>
                      <a:r>
                        <a:rPr lang="ar" sz="1300">
                          <a:latin typeface="Sakkal Majalla" panose="02000000000000000000" pitchFamily="2" charset="-78"/>
                          <a:cs typeface="Sakkal Majalla" panose="02000000000000000000" pitchFamily="2" charset="-78"/>
                        </a:rPr>
                        <a:t>الدخل أ</a:t>
                      </a:r>
                    </a:p>
                  </a:txBody>
                  <a:tcPr/>
                </a:tc>
                <a:tc>
                  <a:txBody>
                    <a:bodyPr/>
                    <a:lstStyle/>
                    <a:p>
                      <a:pPr rtl="1"/>
                      <a:r>
                        <a:rPr lang="ar" sz="1300">
                          <a:latin typeface="Sakkal Majalla" panose="02000000000000000000" pitchFamily="2" charset="-78"/>
                          <a:cs typeface="Sakkal Majalla" panose="02000000000000000000" pitchFamily="2" charset="-78"/>
                        </a:rPr>
                        <a:t>الدخل ب</a:t>
                      </a:r>
                    </a:p>
                  </a:txBody>
                  <a:tcPr/>
                </a:tc>
                <a:tc>
                  <a:txBody>
                    <a:bodyPr/>
                    <a:lstStyle/>
                    <a:p>
                      <a:pPr rtl="1"/>
                      <a:r>
                        <a:rPr lang="ar" sz="1300">
                          <a:latin typeface="Sakkal Majalla" panose="02000000000000000000" pitchFamily="2" charset="-78"/>
                          <a:cs typeface="Sakkal Majalla" panose="02000000000000000000" pitchFamily="2" charset="-78"/>
                        </a:rPr>
                        <a:t>الخرج</a:t>
                      </a:r>
                    </a:p>
                  </a:txBody>
                  <a:tcPr/>
                </a:tc>
                <a:extLst>
                  <a:ext uri="{0D108BD9-81ED-4DB2-BD59-A6C34878D82A}">
                    <a16:rowId xmlns:a16="http://schemas.microsoft.com/office/drawing/2014/main" val="3182340465"/>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985385962"/>
                  </a:ext>
                </a:extLst>
              </a:tr>
              <a:tr h="266973">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926683969"/>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tc>
                  <a:txBody>
                    <a:bodyPr/>
                    <a:lstStyle/>
                    <a:p>
                      <a:pPr algn="ctr" rtl="1"/>
                      <a:r>
                        <a:rPr lang="ar" sz="13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592858304"/>
                  </a:ext>
                </a:extLst>
              </a:tr>
              <a:tr h="266973">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a:latin typeface="Sakkal Majalla" panose="02000000000000000000" pitchFamily="2" charset="-78"/>
                          <a:cs typeface="Sakkal Majalla" panose="02000000000000000000" pitchFamily="2" charset="-78"/>
                        </a:rPr>
                        <a:t>1</a:t>
                      </a:r>
                    </a:p>
                  </a:txBody>
                  <a:tcPr/>
                </a:tc>
                <a:tc>
                  <a:txBody>
                    <a:bodyPr/>
                    <a:lstStyle/>
                    <a:p>
                      <a:pPr algn="ctr" rtl="1"/>
                      <a:r>
                        <a:rPr lang="ar" sz="13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1678107672"/>
                  </a:ext>
                </a:extLst>
              </a:tr>
            </a:tbl>
          </a:graphicData>
        </a:graphic>
      </p:graphicFrame>
      <p:sp>
        <p:nvSpPr>
          <p:cNvPr id="3" name="Footer Placeholder 2">
            <a:extLst>
              <a:ext uri="{FF2B5EF4-FFF2-40B4-BE49-F238E27FC236}">
                <a16:creationId xmlns:a16="http://schemas.microsoft.com/office/drawing/2014/main" id="{2D12F226-9BBF-1DBA-A4F7-6ADD7500B2FB}"/>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28125622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5974" y="1268760"/>
            <a:ext cx="4758512" cy="4824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dirty="0">
                <a:effectLst/>
              </a:rPr>
              <a:t>الجبر البولياني (المنطقي) هو نظام رياضي يُستخدم لتحليل الدوائر المنطقية الرقمية وتبسيطها. وهو يعتمد على مفهوم المتغيرات الثنائية التي يمكن أن تأخذ قيمتين: صحيحة (1) أو خاطئة (0). يتبع الجبر البولياني (المنطقي) مجموعة من القواعد التي تحكم معالجة التعبيرات المنطقية وتبسيطها. وتعد هذه القواعد ضرورية لتصميم الدوائر الرقمية وتحليلها.</a:t>
            </a:r>
          </a:p>
          <a:p>
            <a:pPr rtl="1"/>
            <a:endParaRPr lang="en-GB" sz="1600" dirty="0"/>
          </a:p>
          <a:p>
            <a:pPr marL="0" indent="0" rtl="1">
              <a:buNone/>
            </a:pPr>
            <a:r>
              <a:rPr lang="ar" sz="1600" b="1" dirty="0">
                <a:effectLst/>
              </a:rPr>
              <a:t>تتضمن بعض القواعد الأساسية للجبر البولياني ما يلي:</a:t>
            </a:r>
          </a:p>
          <a:p>
            <a:pPr rtl="1"/>
            <a:r>
              <a:rPr lang="ar" sz="1600" dirty="0">
                <a:effectLst/>
              </a:rPr>
              <a:t>القوانين التبادلية: لا يؤثر ترتيب المعاملات في نتيجة العملية. على سبيل المثال، أ + ب = ب + أ و أ • ب = ب • أ.</a:t>
            </a:r>
          </a:p>
          <a:p>
            <a:pPr rtl="1"/>
            <a:r>
              <a:rPr lang="ar" sz="1600" dirty="0">
                <a:effectLst/>
              </a:rPr>
              <a:t>القوانين الترابطية: لا يؤثر تجميع المعاملات في نتيجة العملية. على سبيل المثال، (أ + ب) + ج = أ + (ب + ج) و(أ • ب) • ج = أ • (ب • ج).</a:t>
            </a:r>
          </a:p>
          <a:p>
            <a:pPr rtl="1"/>
            <a:r>
              <a:rPr lang="ar" sz="1600" dirty="0">
                <a:effectLst/>
              </a:rPr>
              <a:t>القوانين التوزيعية: توزيع العملية على معاملات متعددة. على سبيل المثال، </a:t>
            </a:r>
            <a:br>
              <a:rPr lang="en-US" sz="1600" dirty="0">
                <a:effectLst/>
              </a:rPr>
            </a:br>
            <a:r>
              <a:rPr lang="ar" sz="1600" dirty="0">
                <a:effectLst/>
              </a:rPr>
              <a:t>أ • (ب + ج) = (أ • ب) + (أ • ج) و أ + (ب • ج) = (أ + ب) • (أ + ج).</a:t>
            </a:r>
          </a:p>
          <a:p>
            <a:pPr rtl="1"/>
            <a:r>
              <a:rPr lang="ar" sz="1600" dirty="0">
                <a:effectLst/>
              </a:rPr>
              <a:t>قوانين دي مورغان: نفي التعبير المنطقي. على سبيل المثال، !(أ + ب) = !أ • </a:t>
            </a:r>
            <a:br>
              <a:rPr lang="en-US" sz="1600" dirty="0">
                <a:effectLst/>
              </a:rPr>
            </a:br>
            <a:r>
              <a:rPr lang="ar" sz="1600" dirty="0">
                <a:effectLst/>
              </a:rPr>
              <a:t>!ب و !(أ • ب) = !أ + !ب.</a:t>
            </a:r>
          </a:p>
          <a:p>
            <a:pPr rtl="1"/>
            <a:r>
              <a:rPr lang="ar" sz="1600" dirty="0">
                <a:effectLst/>
              </a:rPr>
              <a:t>يمكن استخدام هذه القواعد لتبسيط التعبيرات المنطقية المعقدة وتحسين تصميم الدوائر الرقمية. من خلال تطبيق هذه القواعد، يمكن للمهندسين تقليل عدد البوابات المنطقية المطلوبة وتحسين الكفاءة الإجمالية للدائرة.</a:t>
            </a: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55974" y="425807"/>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قواعد الجبر البولياني (المنطقي)</a:t>
            </a:r>
          </a:p>
        </p:txBody>
      </p:sp>
      <p:grpSp>
        <p:nvGrpSpPr>
          <p:cNvPr id="2" name="Group 1">
            <a:extLst>
              <a:ext uri="{FF2B5EF4-FFF2-40B4-BE49-F238E27FC236}">
                <a16:creationId xmlns:a16="http://schemas.microsoft.com/office/drawing/2014/main" id="{EF06E26A-C5E3-4F1F-9E9A-D34537037BFC}"/>
              </a:ext>
            </a:extLst>
          </p:cNvPr>
          <p:cNvGrpSpPr/>
          <p:nvPr/>
        </p:nvGrpSpPr>
        <p:grpSpPr>
          <a:xfrm>
            <a:off x="0" y="2192393"/>
            <a:ext cx="4131586" cy="2977269"/>
            <a:chOff x="4887162" y="2192393"/>
            <a:chExt cx="4131586" cy="2977269"/>
          </a:xfrm>
        </p:grpSpPr>
        <p:pic>
          <p:nvPicPr>
            <p:cNvPr id="11" name="Picture 10" descr="A diagram of a circuit">
              <a:extLst>
                <a:ext uri="{FF2B5EF4-FFF2-40B4-BE49-F238E27FC236}">
                  <a16:creationId xmlns:a16="http://schemas.microsoft.com/office/drawing/2014/main" id="{0C7D3CF9-CE7C-FA98-F18C-30F2DD2B2B6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165812" y="2192393"/>
              <a:ext cx="3852936" cy="2977269"/>
            </a:xfrm>
            <a:prstGeom prst="rect">
              <a:avLst/>
            </a:prstGeom>
          </p:spPr>
        </p:pic>
        <p:sp>
          <p:nvSpPr>
            <p:cNvPr id="5" name="TextBox 4">
              <a:extLst>
                <a:ext uri="{FF2B5EF4-FFF2-40B4-BE49-F238E27FC236}">
                  <a16:creationId xmlns:a16="http://schemas.microsoft.com/office/drawing/2014/main" id="{446BC3EE-791A-4753-ABAC-6DE54A18A31A}"/>
                </a:ext>
              </a:extLst>
            </p:cNvPr>
            <p:cNvSpPr txBox="1"/>
            <p:nvPr/>
          </p:nvSpPr>
          <p:spPr>
            <a:xfrm>
              <a:off x="7092280" y="3273191"/>
              <a:ext cx="576064" cy="246221"/>
            </a:xfrm>
            <a:prstGeom prst="rect">
              <a:avLst/>
            </a:prstGeom>
            <a:solidFill>
              <a:schemeClr val="bg1"/>
            </a:solidFill>
          </p:spPr>
          <p:txBody>
            <a:bodyPr wrap="square" rtlCol="1">
              <a:spAutoFit/>
            </a:bodyPr>
            <a:lstStyle/>
            <a:p>
              <a:pPr algn="l" rtl="1"/>
              <a:r>
                <a:rPr lang="ar" sz="1000" dirty="0">
                  <a:latin typeface="Sakkal Majalla" panose="02000000000000000000" pitchFamily="2" charset="-78"/>
                  <a:cs typeface="Sakkal Majalla" panose="02000000000000000000" pitchFamily="2" charset="-78"/>
                </a:rPr>
                <a:t>الخرج</a:t>
              </a:r>
            </a:p>
          </p:txBody>
        </p:sp>
        <p:sp>
          <p:nvSpPr>
            <p:cNvPr id="8" name="TextBox 7">
              <a:extLst>
                <a:ext uri="{FF2B5EF4-FFF2-40B4-BE49-F238E27FC236}">
                  <a16:creationId xmlns:a16="http://schemas.microsoft.com/office/drawing/2014/main" id="{A3614C50-77AC-DB88-D5DD-73B856DE06FF}"/>
                </a:ext>
              </a:extLst>
            </p:cNvPr>
            <p:cNvSpPr txBox="1"/>
            <p:nvPr/>
          </p:nvSpPr>
          <p:spPr>
            <a:xfrm>
              <a:off x="6646158" y="3758843"/>
              <a:ext cx="684584" cy="246221"/>
            </a:xfrm>
            <a:prstGeom prst="rect">
              <a:avLst/>
            </a:prstGeom>
            <a:solidFill>
              <a:schemeClr val="bg1"/>
            </a:solidFill>
          </p:spPr>
          <p:txBody>
            <a:bodyPr wrap="square" rtlCol="1">
              <a:spAutoFit/>
            </a:bodyPr>
            <a:lstStyle/>
            <a:p>
              <a:pPr algn="l" rtl="1"/>
              <a:r>
                <a:rPr lang="ar" sz="1000" dirty="0">
                  <a:latin typeface="Sakkal Majalla" panose="02000000000000000000" pitchFamily="2" charset="-78"/>
                  <a:cs typeface="Sakkal Majalla" panose="02000000000000000000" pitchFamily="2" charset="-78"/>
                </a:rPr>
                <a:t>الخرج</a:t>
              </a:r>
            </a:p>
          </p:txBody>
        </p:sp>
        <p:sp>
          <p:nvSpPr>
            <p:cNvPr id="9" name="TextBox 8">
              <a:extLst>
                <a:ext uri="{FF2B5EF4-FFF2-40B4-BE49-F238E27FC236}">
                  <a16:creationId xmlns:a16="http://schemas.microsoft.com/office/drawing/2014/main" id="{11AEE8E0-CE93-7375-CD50-3B680D518B16}"/>
                </a:ext>
              </a:extLst>
            </p:cNvPr>
            <p:cNvSpPr txBox="1"/>
            <p:nvPr/>
          </p:nvSpPr>
          <p:spPr>
            <a:xfrm>
              <a:off x="4887162" y="3273191"/>
              <a:ext cx="684584"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الدخل</a:t>
              </a:r>
            </a:p>
          </p:txBody>
        </p:sp>
        <p:sp>
          <p:nvSpPr>
            <p:cNvPr id="10" name="TextBox 9">
              <a:extLst>
                <a:ext uri="{FF2B5EF4-FFF2-40B4-BE49-F238E27FC236}">
                  <a16:creationId xmlns:a16="http://schemas.microsoft.com/office/drawing/2014/main" id="{5266EFAF-471D-E391-A598-8C90B8C5CD5F}"/>
                </a:ext>
              </a:extLst>
            </p:cNvPr>
            <p:cNvSpPr txBox="1"/>
            <p:nvPr/>
          </p:nvSpPr>
          <p:spPr>
            <a:xfrm>
              <a:off x="5652120" y="4027557"/>
              <a:ext cx="1224136" cy="246221"/>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بوابة NAND</a:t>
              </a:r>
            </a:p>
          </p:txBody>
        </p:sp>
      </p:grpSp>
      <p:sp>
        <p:nvSpPr>
          <p:cNvPr id="3" name="Footer Placeholder 2">
            <a:extLst>
              <a:ext uri="{FF2B5EF4-FFF2-40B4-BE49-F238E27FC236}">
                <a16:creationId xmlns:a16="http://schemas.microsoft.com/office/drawing/2014/main" id="{2765B988-DB2B-6F9A-3A13-98AC813D513F}"/>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4076316691"/>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55974" y="425807"/>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قواعد الجبر البولياني (المنطقي)</a:t>
            </a:r>
          </a:p>
        </p:txBody>
      </p:sp>
      <p:graphicFrame>
        <p:nvGraphicFramePr>
          <p:cNvPr id="2" name="Table 2">
            <a:extLst>
              <a:ext uri="{FF2B5EF4-FFF2-40B4-BE49-F238E27FC236}">
                <a16:creationId xmlns:a16="http://schemas.microsoft.com/office/drawing/2014/main" id="{78E55C3F-4489-4707-8D0C-733260106FCF}"/>
              </a:ext>
            </a:extLst>
          </p:cNvPr>
          <p:cNvGraphicFramePr>
            <a:graphicFrameLocks noGrp="1"/>
          </p:cNvGraphicFramePr>
          <p:nvPr>
            <p:extLst>
              <p:ext uri="{D42A27DB-BD31-4B8C-83A1-F6EECF244321}">
                <p14:modId xmlns:p14="http://schemas.microsoft.com/office/powerpoint/2010/main" val="370241225"/>
              </p:ext>
            </p:extLst>
          </p:nvPr>
        </p:nvGraphicFramePr>
        <p:xfrm>
          <a:off x="1259633" y="1268761"/>
          <a:ext cx="6840759" cy="5394960"/>
        </p:xfrm>
        <a:graphic>
          <a:graphicData uri="http://schemas.openxmlformats.org/drawingml/2006/table">
            <a:tbl>
              <a:tblPr rtl="1" firstRow="1" bandRow="1">
                <a:tableStyleId>{5C22544A-7EE6-4342-B048-85BDC9FD1C3A}</a:tableStyleId>
              </a:tblPr>
              <a:tblGrid>
                <a:gridCol w="3253215">
                  <a:extLst>
                    <a:ext uri="{9D8B030D-6E8A-4147-A177-3AD203B41FA5}">
                      <a16:colId xmlns:a16="http://schemas.microsoft.com/office/drawing/2014/main" val="1768410428"/>
                    </a:ext>
                  </a:extLst>
                </a:gridCol>
                <a:gridCol w="3587544">
                  <a:extLst>
                    <a:ext uri="{9D8B030D-6E8A-4147-A177-3AD203B41FA5}">
                      <a16:colId xmlns:a16="http://schemas.microsoft.com/office/drawing/2014/main" val="1398677210"/>
                    </a:ext>
                  </a:extLst>
                </a:gridCol>
              </a:tblGrid>
              <a:tr h="360039">
                <a:tc>
                  <a:txBody>
                    <a:bodyPr/>
                    <a:lstStyle/>
                    <a:p>
                      <a:pPr rtl="1"/>
                      <a:r>
                        <a:rPr lang="ar" sz="1800" dirty="0">
                          <a:solidFill>
                            <a:schemeClr val="tx1"/>
                          </a:solidFill>
                          <a:latin typeface="Sakkal Majalla" panose="02000000000000000000" pitchFamily="2" charset="-78"/>
                          <a:cs typeface="Sakkal Majalla" panose="02000000000000000000" pitchFamily="2" charset="-78"/>
                        </a:rPr>
                        <a:t>التعبير البولياني</a:t>
                      </a:r>
                    </a:p>
                  </a:txBody>
                  <a:tcPr/>
                </a:tc>
                <a:tc>
                  <a:txBody>
                    <a:bodyPr/>
                    <a:lstStyle/>
                    <a:p>
                      <a:pPr rtl="1"/>
                      <a:r>
                        <a:rPr lang="ar" sz="1800" dirty="0">
                          <a:solidFill>
                            <a:schemeClr val="tx1"/>
                          </a:solidFill>
                          <a:latin typeface="Sakkal Majalla" panose="02000000000000000000" pitchFamily="2" charset="-78"/>
                          <a:cs typeface="Sakkal Majalla" panose="02000000000000000000" pitchFamily="2" charset="-78"/>
                        </a:rPr>
                        <a:t>جداول الحقيقة</a:t>
                      </a:r>
                    </a:p>
                  </a:txBody>
                  <a:tcPr/>
                </a:tc>
                <a:extLst>
                  <a:ext uri="{0D108BD9-81ED-4DB2-BD59-A6C34878D82A}">
                    <a16:rowId xmlns:a16="http://schemas.microsoft.com/office/drawing/2014/main" val="3972721262"/>
                  </a:ext>
                </a:extLst>
              </a:tr>
              <a:tr h="4828725">
                <a:tc>
                  <a:txBody>
                    <a:bodyPr/>
                    <a:lstStyle/>
                    <a:p>
                      <a:pPr rtl="1"/>
                      <a:r>
                        <a:rPr lang="ar" sz="1800" b="1" dirty="0">
                          <a:effectLst/>
                          <a:latin typeface="Sakkal Majalla" panose="02000000000000000000" pitchFamily="2" charset="-78"/>
                          <a:cs typeface="Sakkal Majalla" panose="02000000000000000000" pitchFamily="2" charset="-78"/>
                        </a:rPr>
                        <a:t>(أ • ب) + (ج • د) </a:t>
                      </a:r>
                      <a:endParaRPr lang="en-GB" sz="1800" dirty="0">
                        <a:latin typeface="Sakkal Majalla" panose="02000000000000000000" pitchFamily="2" charset="-78"/>
                        <a:cs typeface="Sakkal Majalla" panose="02000000000000000000" pitchFamily="2" charset="-78"/>
                      </a:endParaRPr>
                    </a:p>
                  </a:txBody>
                  <a:tcPr/>
                </a:tc>
                <a:tc>
                  <a:txBody>
                    <a:bodyPr/>
                    <a:lstStyle/>
                    <a:p>
                      <a:pPr rtl="1"/>
                      <a:r>
                        <a:rPr lang="ar" sz="1800" dirty="0">
                          <a:latin typeface="Sakkal Majalla" panose="02000000000000000000" pitchFamily="2" charset="-78"/>
                          <a:cs typeface="Sakkal Majalla" panose="02000000000000000000" pitchFamily="2" charset="-78"/>
                        </a:rPr>
                        <a:t>أ | ب | ج | د | الخرج </a:t>
                      </a:r>
                    </a:p>
                    <a:p>
                      <a:pPr rtl="1"/>
                      <a:r>
                        <a:rPr lang="ar" sz="1800" dirty="0">
                          <a:latin typeface="Sakkal Majalla" panose="02000000000000000000" pitchFamily="2" charset="-78"/>
                          <a:cs typeface="Sakkal Majalla" panose="02000000000000000000" pitchFamily="2" charset="-78"/>
                        </a:rPr>
                        <a:t>--|---|---|---|------- </a:t>
                      </a:r>
                    </a:p>
                    <a:p>
                      <a:pPr rtl="1"/>
                      <a:r>
                        <a:rPr lang="ar" sz="1800" dirty="0">
                          <a:latin typeface="Sakkal Majalla" panose="02000000000000000000" pitchFamily="2" charset="-78"/>
                          <a:cs typeface="Sakkal Majalla" panose="02000000000000000000" pitchFamily="2" charset="-78"/>
                        </a:rPr>
                        <a:t>0 | 0 | 0 | 0 | 0 </a:t>
                      </a:r>
                    </a:p>
                    <a:p>
                      <a:pPr rtl="1"/>
                      <a:r>
                        <a:rPr lang="ar" sz="1800" dirty="0">
                          <a:latin typeface="Sakkal Majalla" panose="02000000000000000000" pitchFamily="2" charset="-78"/>
                          <a:cs typeface="Sakkal Majalla" panose="02000000000000000000" pitchFamily="2" charset="-78"/>
                        </a:rPr>
                        <a:t>0 | 0 | 0 | 1 | 0 </a:t>
                      </a:r>
                    </a:p>
                    <a:p>
                      <a:pPr rtl="1"/>
                      <a:r>
                        <a:rPr lang="ar" sz="1800" dirty="0">
                          <a:latin typeface="Sakkal Majalla" panose="02000000000000000000" pitchFamily="2" charset="-78"/>
                          <a:cs typeface="Sakkal Majalla" panose="02000000000000000000" pitchFamily="2" charset="-78"/>
                        </a:rPr>
                        <a:t>0 | 0 | 1 | 0 | 0 </a:t>
                      </a:r>
                    </a:p>
                    <a:p>
                      <a:pPr rtl="1"/>
                      <a:r>
                        <a:rPr lang="ar" sz="1800" dirty="0">
                          <a:latin typeface="Sakkal Majalla" panose="02000000000000000000" pitchFamily="2" charset="-78"/>
                          <a:cs typeface="Sakkal Majalla" panose="02000000000000000000" pitchFamily="2" charset="-78"/>
                        </a:rPr>
                        <a:t>0 | 0 | 1 | 1 | 0 </a:t>
                      </a:r>
                    </a:p>
                    <a:p>
                      <a:pPr rtl="1"/>
                      <a:r>
                        <a:rPr lang="ar" sz="1800" dirty="0">
                          <a:latin typeface="Sakkal Majalla" panose="02000000000000000000" pitchFamily="2" charset="-78"/>
                          <a:cs typeface="Sakkal Majalla" panose="02000000000000000000" pitchFamily="2" charset="-78"/>
                        </a:rPr>
                        <a:t>0 | 1 | 0 | 0 | 0 </a:t>
                      </a:r>
                    </a:p>
                    <a:p>
                      <a:pPr rtl="1"/>
                      <a:r>
                        <a:rPr lang="ar" sz="1800" dirty="0">
                          <a:latin typeface="Sakkal Majalla" panose="02000000000000000000" pitchFamily="2" charset="-78"/>
                          <a:cs typeface="Sakkal Majalla" panose="02000000000000000000" pitchFamily="2" charset="-78"/>
                        </a:rPr>
                        <a:t>0 | 1 | 0 | 1 | 0 </a:t>
                      </a:r>
                    </a:p>
                    <a:p>
                      <a:pPr rtl="1"/>
                      <a:r>
                        <a:rPr lang="ar" sz="1800" dirty="0">
                          <a:latin typeface="Sakkal Majalla" panose="02000000000000000000" pitchFamily="2" charset="-78"/>
                          <a:cs typeface="Sakkal Majalla" panose="02000000000000000000" pitchFamily="2" charset="-78"/>
                        </a:rPr>
                        <a:t>0 | 1 | 1 | 0 | 0 </a:t>
                      </a:r>
                    </a:p>
                    <a:p>
                      <a:pPr rtl="1"/>
                      <a:r>
                        <a:rPr lang="ar" sz="1800" dirty="0">
                          <a:latin typeface="Sakkal Majalla" panose="02000000000000000000" pitchFamily="2" charset="-78"/>
                          <a:cs typeface="Sakkal Majalla" panose="02000000000000000000" pitchFamily="2" charset="-78"/>
                        </a:rPr>
                        <a:t>0 | 1 | 1 | 1 | 1 </a:t>
                      </a:r>
                    </a:p>
                    <a:p>
                      <a:pPr rtl="1"/>
                      <a:r>
                        <a:rPr lang="ar" sz="1800" dirty="0">
                          <a:latin typeface="Sakkal Majalla" panose="02000000000000000000" pitchFamily="2" charset="-78"/>
                          <a:cs typeface="Sakkal Majalla" panose="02000000000000000000" pitchFamily="2" charset="-78"/>
                        </a:rPr>
                        <a:t>1 | 0 | 0 | 0 | 0 </a:t>
                      </a:r>
                    </a:p>
                    <a:p>
                      <a:pPr rtl="1"/>
                      <a:r>
                        <a:rPr lang="ar" sz="1800" dirty="0">
                          <a:latin typeface="Sakkal Majalla" panose="02000000000000000000" pitchFamily="2" charset="-78"/>
                          <a:cs typeface="Sakkal Majalla" panose="02000000000000000000" pitchFamily="2" charset="-78"/>
                        </a:rPr>
                        <a:t>1 | 0 | 0 | 1 | 0 </a:t>
                      </a:r>
                    </a:p>
                    <a:p>
                      <a:pPr rtl="1"/>
                      <a:r>
                        <a:rPr lang="ar" sz="1800" dirty="0">
                          <a:latin typeface="Sakkal Majalla" panose="02000000000000000000" pitchFamily="2" charset="-78"/>
                          <a:cs typeface="Sakkal Majalla" panose="02000000000000000000" pitchFamily="2" charset="-78"/>
                        </a:rPr>
                        <a:t>1 | 0 | 1 | 0 | 0 </a:t>
                      </a:r>
                    </a:p>
                    <a:p>
                      <a:pPr rtl="1"/>
                      <a:r>
                        <a:rPr lang="ar" sz="1800" dirty="0">
                          <a:latin typeface="Sakkal Majalla" panose="02000000000000000000" pitchFamily="2" charset="-78"/>
                          <a:cs typeface="Sakkal Majalla" panose="02000000000000000000" pitchFamily="2" charset="-78"/>
                        </a:rPr>
                        <a:t>1 | 0 | 1 | 1 | 0 </a:t>
                      </a:r>
                    </a:p>
                    <a:p>
                      <a:pPr rtl="1"/>
                      <a:r>
                        <a:rPr lang="ar" sz="1800" dirty="0">
                          <a:latin typeface="Sakkal Majalla" panose="02000000000000000000" pitchFamily="2" charset="-78"/>
                          <a:cs typeface="Sakkal Majalla" panose="02000000000000000000" pitchFamily="2" charset="-78"/>
                        </a:rPr>
                        <a:t>1 | 1 | 0 | 0 | 0 </a:t>
                      </a:r>
                    </a:p>
                    <a:p>
                      <a:pPr rtl="1"/>
                      <a:r>
                        <a:rPr lang="ar" sz="1800" dirty="0">
                          <a:latin typeface="Sakkal Majalla" panose="02000000000000000000" pitchFamily="2" charset="-78"/>
                          <a:cs typeface="Sakkal Majalla" panose="02000000000000000000" pitchFamily="2" charset="-78"/>
                        </a:rPr>
                        <a:t>1 | 1 | 0 | 1 | 0 </a:t>
                      </a:r>
                    </a:p>
                    <a:p>
                      <a:pPr rtl="1"/>
                      <a:r>
                        <a:rPr lang="ar" sz="1800" dirty="0">
                          <a:latin typeface="Sakkal Majalla" panose="02000000000000000000" pitchFamily="2" charset="-78"/>
                          <a:cs typeface="Sakkal Majalla" panose="02000000000000000000" pitchFamily="2" charset="-78"/>
                        </a:rPr>
                        <a:t>1 | 1 | 1 | 0 | 0 </a:t>
                      </a:r>
                    </a:p>
                    <a:p>
                      <a:pPr rtl="1"/>
                      <a:r>
                        <a:rPr lang="ar" sz="1800" dirty="0">
                          <a:latin typeface="Sakkal Majalla" panose="02000000000000000000" pitchFamily="2" charset="-78"/>
                          <a:cs typeface="Sakkal Majalla" panose="02000000000000000000" pitchFamily="2" charset="-78"/>
                        </a:rPr>
                        <a:t>1 | 1 | 1 | 1 | 1</a:t>
                      </a:r>
                    </a:p>
                  </a:txBody>
                  <a:tcPr/>
                </a:tc>
                <a:extLst>
                  <a:ext uri="{0D108BD9-81ED-4DB2-BD59-A6C34878D82A}">
                    <a16:rowId xmlns:a16="http://schemas.microsoft.com/office/drawing/2014/main" val="2295488773"/>
                  </a:ext>
                </a:extLst>
              </a:tr>
            </a:tbl>
          </a:graphicData>
        </a:graphic>
      </p:graphicFrame>
      <p:sp>
        <p:nvSpPr>
          <p:cNvPr id="3" name="Footer Placeholder 2">
            <a:extLst>
              <a:ext uri="{FF2B5EF4-FFF2-40B4-BE49-F238E27FC236}">
                <a16:creationId xmlns:a16="http://schemas.microsoft.com/office/drawing/2014/main" id="{D9D82C82-0849-3430-4FF1-3DD81862DFF9}"/>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266168081"/>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76056" y="1268760"/>
            <a:ext cx="3888432"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1800" b="1" dirty="0"/>
              <a:t>تعد الأجهزة ثنائية الاستقرار، والمعروفة أيضًا باسم الدوائر القلابة</a:t>
            </a:r>
            <a:r>
              <a:rPr lang="ar" sz="1800" dirty="0"/>
              <a:t>، مكونًا مهمًا بالنسبة للدوائر المنطقية التسلسلية. وتتميز بالقدرة على تخزين المعلومات الثنائية والاحتفاظ بها، ما يجعلها ضرورية للذاكرة والتخزين في الأنظمة الرقمية. وتشمل الأنواع المختلفة من الأجهزة ثنائية الاستقرار R-S ونوع D (بما في ذلك النوع D المسجل) وJK (بما في ذلك JK الرئيس-التابع). وينطوي كل نوع على خصائصه وتطبيقاته الفريدة في تصميم الدوائر الرقمية.</a:t>
            </a:r>
          </a:p>
          <a:p>
            <a:pPr marL="0" indent="0" rtl="1">
              <a:buNone/>
            </a:pPr>
            <a:endParaRPr lang="en-GB" sz="1800" b="1" dirty="0"/>
          </a:p>
          <a:p>
            <a:pPr rtl="1"/>
            <a:r>
              <a:rPr lang="ar" sz="1800" dirty="0"/>
              <a:t>أنواع الدوائر المنطقية التسلسلية</a:t>
            </a:r>
          </a:p>
          <a:p>
            <a:pPr rtl="1"/>
            <a:endParaRPr lang="en-GB" sz="1800" b="1" dirty="0"/>
          </a:p>
          <a:p>
            <a:pPr rtl="1"/>
            <a:r>
              <a:rPr lang="ar" sz="1800" dirty="0"/>
              <a:t>يمكن تصنيف الدوائر المنطقية التسلسلية إلى أنواع مختلفة، مثل:</a:t>
            </a:r>
            <a:endParaRPr lang="en-GB" sz="1800" b="1" dirty="0"/>
          </a:p>
          <a:p>
            <a:pPr rtl="1"/>
            <a:endParaRPr lang="en-GB" sz="1800" b="1" dirty="0"/>
          </a:p>
          <a:p>
            <a:pPr rtl="1"/>
            <a:endParaRPr lang="en-GB" sz="18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998927" y="188640"/>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الأجهزة ثنائية الاستقرار (الدوائر القلابة)</a:t>
            </a:r>
          </a:p>
        </p:txBody>
      </p:sp>
      <p:graphicFrame>
        <p:nvGraphicFramePr>
          <p:cNvPr id="3" name="Diagram 2">
            <a:extLst>
              <a:ext uri="{FF2B5EF4-FFF2-40B4-BE49-F238E27FC236}">
                <a16:creationId xmlns:a16="http://schemas.microsoft.com/office/drawing/2014/main" id="{265BFDCC-AD06-4F94-98F5-16F9D7974E39}"/>
              </a:ext>
            </a:extLst>
          </p:cNvPr>
          <p:cNvGraphicFramePr/>
          <p:nvPr>
            <p:extLst>
              <p:ext uri="{D42A27DB-BD31-4B8C-83A1-F6EECF244321}">
                <p14:modId xmlns:p14="http://schemas.microsoft.com/office/powerpoint/2010/main" val="803181395"/>
              </p:ext>
            </p:extLst>
          </p:nvPr>
        </p:nvGraphicFramePr>
        <p:xfrm>
          <a:off x="179512" y="3356992"/>
          <a:ext cx="4752528" cy="2160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9" name="Table 10">
            <a:extLst>
              <a:ext uri="{FF2B5EF4-FFF2-40B4-BE49-F238E27FC236}">
                <a16:creationId xmlns:a16="http://schemas.microsoft.com/office/drawing/2014/main" id="{3FC78CC9-FA84-4165-B70C-935B0E76ADAA}"/>
              </a:ext>
            </a:extLst>
          </p:cNvPr>
          <p:cNvGraphicFramePr>
            <a:graphicFrameLocks noGrp="1"/>
          </p:cNvGraphicFramePr>
          <p:nvPr>
            <p:extLst>
              <p:ext uri="{D42A27DB-BD31-4B8C-83A1-F6EECF244321}">
                <p14:modId xmlns:p14="http://schemas.microsoft.com/office/powerpoint/2010/main" val="3001185629"/>
              </p:ext>
            </p:extLst>
          </p:nvPr>
        </p:nvGraphicFramePr>
        <p:xfrm>
          <a:off x="457993" y="1581655"/>
          <a:ext cx="4195566" cy="1030022"/>
        </p:xfrm>
        <a:graphic>
          <a:graphicData uri="http://schemas.openxmlformats.org/drawingml/2006/table">
            <a:tbl>
              <a:tblPr rtl="1" firstRow="1" bandRow="1">
                <a:tableStyleId>{073A0DAA-6AF3-43AB-8588-CEC1D06C72B9}</a:tableStyleId>
              </a:tblPr>
              <a:tblGrid>
                <a:gridCol w="1398522">
                  <a:extLst>
                    <a:ext uri="{9D8B030D-6E8A-4147-A177-3AD203B41FA5}">
                      <a16:colId xmlns:a16="http://schemas.microsoft.com/office/drawing/2014/main" val="692895873"/>
                    </a:ext>
                  </a:extLst>
                </a:gridCol>
                <a:gridCol w="1398522">
                  <a:extLst>
                    <a:ext uri="{9D8B030D-6E8A-4147-A177-3AD203B41FA5}">
                      <a16:colId xmlns:a16="http://schemas.microsoft.com/office/drawing/2014/main" val="27288701"/>
                    </a:ext>
                  </a:extLst>
                </a:gridCol>
                <a:gridCol w="1398522">
                  <a:extLst>
                    <a:ext uri="{9D8B030D-6E8A-4147-A177-3AD203B41FA5}">
                      <a16:colId xmlns:a16="http://schemas.microsoft.com/office/drawing/2014/main" val="2974773861"/>
                    </a:ext>
                  </a:extLst>
                </a:gridCol>
              </a:tblGrid>
              <a:tr h="1030022">
                <a:tc>
                  <a:txBody>
                    <a:bodyPr/>
                    <a:lstStyle/>
                    <a:p>
                      <a:pPr rtl="1"/>
                      <a:r>
                        <a:rPr lang="ar" sz="1300" dirty="0">
                          <a:latin typeface="Sakkal Majalla" panose="02000000000000000000" pitchFamily="2" charset="-78"/>
                          <a:cs typeface="Sakkal Majalla" panose="02000000000000000000" pitchFamily="2" charset="-78"/>
                        </a:rPr>
                        <a:t>عداد غير متزامن ثلاثي المراحل</a:t>
                      </a:r>
                    </a:p>
                  </a:txBody>
                  <a:tcPr/>
                </a:tc>
                <a:tc>
                  <a:txBody>
                    <a:bodyPr/>
                    <a:lstStyle/>
                    <a:p>
                      <a:pPr rtl="1"/>
                      <a:r>
                        <a:rPr lang="ar" sz="1300">
                          <a:latin typeface="Sakkal Majalla" panose="02000000000000000000" pitchFamily="2" charset="-78"/>
                          <a:cs typeface="Sakkal Majalla" panose="02000000000000000000" pitchFamily="2" charset="-78"/>
                        </a:rPr>
                        <a:t>عداد متزامن ثلاثي المراحل</a:t>
                      </a:r>
                    </a:p>
                  </a:txBody>
                  <a:tcPr/>
                </a:tc>
                <a:tc>
                  <a:txBody>
                    <a:bodyPr/>
                    <a:lstStyle/>
                    <a:p>
                      <a:pPr rtl="1"/>
                      <a:r>
                        <a:rPr lang="ar" sz="1300" dirty="0">
                          <a:latin typeface="Sakkal Majalla" panose="02000000000000000000" pitchFamily="2" charset="-78"/>
                          <a:cs typeface="Sakkal Majalla" panose="02000000000000000000" pitchFamily="2" charset="-78"/>
                        </a:rPr>
                        <a:t>سجل إزاحة ثلاثي المراحل</a:t>
                      </a:r>
                    </a:p>
                  </a:txBody>
                  <a:tcPr/>
                </a:tc>
                <a:extLst>
                  <a:ext uri="{0D108BD9-81ED-4DB2-BD59-A6C34878D82A}">
                    <a16:rowId xmlns:a16="http://schemas.microsoft.com/office/drawing/2014/main" val="792090091"/>
                  </a:ext>
                </a:extLst>
              </a:tr>
            </a:tbl>
          </a:graphicData>
        </a:graphic>
      </p:graphicFrame>
      <p:sp>
        <p:nvSpPr>
          <p:cNvPr id="2" name="Footer Placeholder 2">
            <a:extLst>
              <a:ext uri="{FF2B5EF4-FFF2-40B4-BE49-F238E27FC236}">
                <a16:creationId xmlns:a16="http://schemas.microsoft.com/office/drawing/2014/main" id="{AF26F58A-4ECF-F221-6E08-BCE282D6F163}"/>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89060183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998927" y="188640"/>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latin typeface="Sakkal Majalla" panose="02000000000000000000" pitchFamily="2" charset="-78"/>
                <a:cs typeface="Sakkal Majalla" panose="02000000000000000000" pitchFamily="2" charset="-78"/>
              </a:rPr>
              <a:t>الأجهزة ثنائية الاستقرار (الدوائر القلابة)</a:t>
            </a:r>
          </a:p>
        </p:txBody>
      </p:sp>
      <p:sp>
        <p:nvSpPr>
          <p:cNvPr id="15" name="TextBox 14">
            <a:extLst>
              <a:ext uri="{FF2B5EF4-FFF2-40B4-BE49-F238E27FC236}">
                <a16:creationId xmlns:a16="http://schemas.microsoft.com/office/drawing/2014/main" id="{D74CDCD6-0BBC-4741-9EF6-324445F85EAA}"/>
              </a:ext>
            </a:extLst>
          </p:cNvPr>
          <p:cNvSpPr txBox="1"/>
          <p:nvPr/>
        </p:nvSpPr>
        <p:spPr>
          <a:xfrm>
            <a:off x="251520" y="1123018"/>
            <a:ext cx="4464496" cy="5693866"/>
          </a:xfrm>
          <a:prstGeom prst="rect">
            <a:avLst/>
          </a:prstGeom>
          <a:noFill/>
        </p:spPr>
        <p:txBody>
          <a:bodyPr wrap="square" rtlCol="1">
            <a:spAutoFit/>
          </a:bodyPr>
          <a:lstStyle/>
          <a:p>
            <a:pPr rtl="1"/>
            <a:r>
              <a:rPr lang="ar" sz="1400" b="1" dirty="0">
                <a:latin typeface="Sakkal Majalla" panose="02000000000000000000" pitchFamily="2" charset="-78"/>
                <a:cs typeface="Sakkal Majalla" panose="02000000000000000000" pitchFamily="2" charset="-78"/>
              </a:rPr>
              <a:t>إنشاء الدوائر المنطقية ال</a:t>
            </a:r>
            <a:r>
              <a:rPr lang="ar-EG" sz="1400" b="1" dirty="0">
                <a:latin typeface="Sakkal Majalla" panose="02000000000000000000" pitchFamily="2" charset="-78"/>
                <a:cs typeface="Sakkal Majalla" panose="02000000000000000000" pitchFamily="2" charset="-78"/>
              </a:rPr>
              <a:t>مادية</a:t>
            </a:r>
            <a:r>
              <a:rPr lang="ar" sz="1400" b="1" dirty="0">
                <a:latin typeface="Sakkal Majalla" panose="02000000000000000000" pitchFamily="2" charset="-78"/>
                <a:cs typeface="Sakkal Majalla" panose="02000000000000000000" pitchFamily="2" charset="-78"/>
              </a:rPr>
              <a:t> التسلسلية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ألواح التجارب أو ألواح الشرائح</a:t>
            </a:r>
          </a:p>
          <a:p>
            <a:pPr rtl="1"/>
            <a:endParaRPr lang="en-GB" sz="1400" b="1" dirty="0">
              <a:latin typeface="Sakkal Majalla" panose="02000000000000000000" pitchFamily="2" charset="-78"/>
              <a:cs typeface="Sakkal Majalla" panose="02000000000000000000" pitchFamily="2" charset="-78"/>
            </a:endParaRPr>
          </a:p>
          <a:p>
            <a:pPr marL="171450" indent="-17145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استخدم ألواح التجارب أو ألواح الشرائح لإنشاء مخطط دائرة سواءً مؤقتًا أم دائمًا.</a:t>
            </a:r>
          </a:p>
          <a:p>
            <a:pPr marL="171450" indent="-17145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تسمح ألواح التجارب بإدخال المكونات وإزالتها بسهولة، بينما توفر ألواح الشرائح حلاً أكثر ديمومة.</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أجهزة R-S ثنائية الاستقرار</a:t>
            </a:r>
          </a:p>
          <a:p>
            <a:pPr rtl="1"/>
            <a:endParaRPr lang="en-GB" sz="1400" b="1" dirty="0">
              <a:latin typeface="Sakkal Majalla" panose="02000000000000000000" pitchFamily="2" charset="-78"/>
              <a:cs typeface="Sakkal Majalla" panose="02000000000000000000" pitchFamily="2" charset="-78"/>
            </a:endParaRPr>
          </a:p>
          <a:p>
            <a:pPr marL="171450" indent="-171450" rtl="1">
              <a:buFont typeface="Arial" panose="020B0604020202020204" pitchFamily="34" charset="0"/>
              <a:buChar char="•"/>
            </a:pPr>
            <a:r>
              <a:rPr lang="ar-EG" sz="1400" dirty="0">
                <a:latin typeface="Sakkal Majalla" panose="02000000000000000000" pitchFamily="2" charset="-78"/>
                <a:cs typeface="Sakkal Majalla" panose="02000000000000000000" pitchFamily="2" charset="-78"/>
              </a:rPr>
              <a:t>يشيع استخدام</a:t>
            </a:r>
            <a:r>
              <a:rPr lang="ar" sz="1400" dirty="0">
                <a:effectLst/>
                <a:latin typeface="Sakkal Majalla" panose="02000000000000000000" pitchFamily="2" charset="-78"/>
                <a:cs typeface="Sakkal Majalla" panose="02000000000000000000" pitchFamily="2" charset="-78"/>
              </a:rPr>
              <a:t> أجهزة R-S (إعادة التعيين "Reset" - التعيين "Set") ثنائية الاستقرار</a:t>
            </a:r>
            <a:r>
              <a:rPr lang="ar-EG" sz="1400" dirty="0">
                <a:effectLst/>
                <a:latin typeface="Sakkal Majalla" panose="02000000000000000000" pitchFamily="2" charset="-78"/>
                <a:cs typeface="Sakkal Majalla" panose="02000000000000000000" pitchFamily="2" charset="-78"/>
              </a:rPr>
              <a:t> في إ</a:t>
            </a:r>
            <a:r>
              <a:rPr lang="ar" sz="1400" dirty="0">
                <a:effectLst/>
                <a:latin typeface="Sakkal Majalla" panose="02000000000000000000" pitchFamily="2" charset="-78"/>
                <a:cs typeface="Sakkal Majalla" panose="02000000000000000000" pitchFamily="2" charset="-78"/>
              </a:rPr>
              <a:t>نشاء دوائر منطقية تسلسلية.</a:t>
            </a:r>
          </a:p>
          <a:p>
            <a:pPr marL="171450" indent="-171450" rtl="1">
              <a:buFont typeface="Arial" panose="020B0604020202020204" pitchFamily="34" charset="0"/>
              <a:buChar char="•"/>
            </a:pPr>
            <a:r>
              <a:rPr lang="ar-EG" sz="1400" dirty="0">
                <a:effectLst/>
                <a:latin typeface="Sakkal Majalla" panose="02000000000000000000" pitchFamily="2" charset="-78"/>
                <a:cs typeface="Sakkal Majalla" panose="02000000000000000000" pitchFamily="2" charset="-78"/>
              </a:rPr>
              <a:t>ل</a:t>
            </a:r>
            <a:r>
              <a:rPr lang="ar" sz="1400" dirty="0">
                <a:effectLst/>
                <a:latin typeface="Sakkal Majalla" panose="02000000000000000000" pitchFamily="2" charset="-78"/>
                <a:cs typeface="Sakkal Majalla" panose="02000000000000000000" pitchFamily="2" charset="-78"/>
              </a:rPr>
              <a:t>أجهزة R-S حالتين ثابتتين ويمكن تعيينهما أو إعادة تعيينهما بناءً على إشارات الدخل.</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الأجهزة ثنائية الاستقرار من النوع D</a:t>
            </a:r>
          </a:p>
          <a:p>
            <a:pPr rtl="1"/>
            <a:endParaRPr lang="en-GB" sz="1400" b="1" dirty="0">
              <a:latin typeface="Sakkal Majalla" panose="02000000000000000000" pitchFamily="2" charset="-78"/>
              <a:cs typeface="Sakkal Majalla" panose="02000000000000000000" pitchFamily="2" charset="-78"/>
            </a:endParaRPr>
          </a:p>
          <a:p>
            <a:pPr marL="171450" indent="-17145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تعد الأجهزة ثنائية الاستقرار من النوع D (البيانات) نوعًا آخر من المكونات المستخدمة في الدوائر المنطقية التسلسلية.</a:t>
            </a:r>
          </a:p>
          <a:p>
            <a:pPr marL="171450" indent="-171450" rtl="1">
              <a:buFont typeface="Arial" panose="020B0604020202020204" pitchFamily="34" charset="0"/>
              <a:buChar char="•"/>
            </a:pPr>
            <a:r>
              <a:rPr lang="ar-EG" sz="1400" dirty="0">
                <a:effectLst/>
                <a:latin typeface="Sakkal Majalla" panose="02000000000000000000" pitchFamily="2" charset="-78"/>
                <a:cs typeface="Sakkal Majalla" panose="02000000000000000000" pitchFamily="2" charset="-78"/>
              </a:rPr>
              <a:t>تخزِّن </a:t>
            </a:r>
            <a:r>
              <a:rPr lang="ar" sz="1400" dirty="0">
                <a:effectLst/>
                <a:latin typeface="Sakkal Majalla" panose="02000000000000000000" pitchFamily="2" charset="-78"/>
                <a:cs typeface="Sakkal Majalla" panose="02000000000000000000" pitchFamily="2" charset="-78"/>
              </a:rPr>
              <a:t>البيانات و</a:t>
            </a:r>
            <a:r>
              <a:rPr lang="ar-EG" sz="1400" dirty="0">
                <a:effectLst/>
                <a:latin typeface="Sakkal Majalla" panose="02000000000000000000" pitchFamily="2" charset="-78"/>
                <a:cs typeface="Sakkal Majalla" panose="02000000000000000000" pitchFamily="2" charset="-78"/>
              </a:rPr>
              <a:t>تنقلها</a:t>
            </a:r>
            <a:r>
              <a:rPr lang="ar" sz="1400" dirty="0">
                <a:effectLst/>
                <a:latin typeface="Sakkal Majalla" panose="02000000000000000000" pitchFamily="2" charset="-78"/>
                <a:cs typeface="Sakkal Majalla" panose="02000000000000000000" pitchFamily="2" charset="-78"/>
              </a:rPr>
              <a:t> بناءً على إشارات الدخل.</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أجهزة JK ثنائية الاستقرار</a:t>
            </a:r>
          </a:p>
          <a:p>
            <a:pPr rtl="1"/>
            <a:endParaRPr lang="en-GB" sz="1400" b="1" dirty="0">
              <a:latin typeface="Sakkal Majalla" panose="02000000000000000000" pitchFamily="2" charset="-78"/>
              <a:cs typeface="Sakkal Majalla" panose="02000000000000000000" pitchFamily="2" charset="-78"/>
            </a:endParaRPr>
          </a:p>
          <a:p>
            <a:pPr marL="171450" indent="-17145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أجهزة JK ثنائية الاستقرار عبارة عن مكونات متعددة الاستخدامات يمكن تهيئتها لتعمل كأجهزة ثنائية الاستقرار من النوع R-S أو D.</a:t>
            </a:r>
          </a:p>
          <a:p>
            <a:pPr marL="171450" indent="-17145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توفر خيارات تحكم إضافية لإنشاء دوائر منطقية تسلسلية معقدة.</a:t>
            </a:r>
          </a:p>
          <a:p>
            <a:pPr rtl="1"/>
            <a:endParaRPr lang="en-GB" sz="1400" dirty="0">
              <a:latin typeface="Sakkal Majalla" panose="02000000000000000000" pitchFamily="2" charset="-78"/>
              <a:cs typeface="Sakkal Majalla" panose="02000000000000000000" pitchFamily="2" charset="-78"/>
            </a:endParaRPr>
          </a:p>
        </p:txBody>
      </p:sp>
      <p:pic>
        <p:nvPicPr>
          <p:cNvPr id="4" name="Picture 3" descr="A close-up of a circuit board&#10;&#10;Description automatically generated">
            <a:extLst>
              <a:ext uri="{FF2B5EF4-FFF2-40B4-BE49-F238E27FC236}">
                <a16:creationId xmlns:a16="http://schemas.microsoft.com/office/drawing/2014/main" id="{7722E771-B336-A8E8-5703-48EDCC5894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60540" y="2420888"/>
            <a:ext cx="4031940" cy="2687960"/>
          </a:xfrm>
          <a:prstGeom prst="rect">
            <a:avLst/>
          </a:prstGeom>
        </p:spPr>
      </p:pic>
      <p:sp>
        <p:nvSpPr>
          <p:cNvPr id="2" name="Footer Placeholder 2">
            <a:extLst>
              <a:ext uri="{FF2B5EF4-FFF2-40B4-BE49-F238E27FC236}">
                <a16:creationId xmlns:a16="http://schemas.microsoft.com/office/drawing/2014/main" id="{DCB47476-0D67-05B2-0E62-4BC406095E95}"/>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33790232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67944" y="1484784"/>
            <a:ext cx="4833732" cy="2304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700" b="1" dirty="0">
                <a:effectLst/>
              </a:rPr>
              <a:t>العدادات الثنائية</a:t>
            </a:r>
            <a:endParaRPr lang="en-GB" sz="1700" b="1" dirty="0"/>
          </a:p>
          <a:p>
            <a:pPr marL="0" indent="0" rtl="1">
              <a:buNone/>
            </a:pPr>
            <a:r>
              <a:rPr lang="ar" sz="1700" dirty="0">
                <a:effectLst/>
              </a:rPr>
              <a:t>العدادات الثنائية عبارة عن دوائر تسلسلية يمكنها العد بشكل ثنائي من 0 إلى </a:t>
            </a:r>
            <a:r>
              <a:rPr lang="en-US" sz="1700" dirty="0">
                <a:effectLst/>
              </a:rPr>
              <a:t>2^n - 1</a:t>
            </a:r>
            <a:r>
              <a:rPr lang="ar" sz="1700" dirty="0">
                <a:effectLst/>
              </a:rPr>
              <a:t>، حيث n هو عدد الدوائر القلابة المستخدمة. ويجري استخدامها بشكلٍ شائع في عددٍ من الاستخدامات مثل تقسيم التردد وتوقيت الأحداث والساعات الرقمية.</a:t>
            </a:r>
            <a:endParaRPr lang="en-GB" sz="1700" dirty="0"/>
          </a:p>
          <a:p>
            <a:pPr rtl="1"/>
            <a:endParaRPr lang="en-GB" sz="1700" b="1" dirty="0"/>
          </a:p>
          <a:p>
            <a:pPr marL="0" indent="0" rtl="1">
              <a:buNone/>
            </a:pPr>
            <a:r>
              <a:rPr lang="ar" sz="1700" b="1" dirty="0">
                <a:effectLst/>
              </a:rPr>
              <a:t>مسجلات الإزاحة</a:t>
            </a:r>
            <a:endParaRPr lang="en-GB" sz="1700" b="1" dirty="0"/>
          </a:p>
          <a:p>
            <a:pPr marL="0" indent="0" rtl="1">
              <a:buNone/>
            </a:pPr>
            <a:r>
              <a:rPr lang="ar" sz="1700" dirty="0">
                <a:effectLst/>
              </a:rPr>
              <a:t>مسجلات الإزاحة عبارة عن دوائر تسلسلية يمكنها نقل البيانات إلى الداخل أو الخارج بطريقة تسلسلية. ويمكن استخدامها في مجموعة من المهام مثل تخزين البيانات ونقل البيانات والتحويل الموازي إلى التسلسلي أو التسلسلي إلى الموازي.</a:t>
            </a:r>
            <a:endParaRPr lang="en-GB" sz="1700" dirty="0"/>
          </a:p>
          <a:p>
            <a:pPr marL="0" indent="0" rtl="1">
              <a:buNone/>
            </a:pPr>
            <a:endParaRPr lang="en-GB" sz="1700" b="1" dirty="0"/>
          </a:p>
        </p:txBody>
      </p:sp>
      <p:pic>
        <p:nvPicPr>
          <p:cNvPr id="4" name="Picture 3" descr="A computer code with white lines&#10;&#10;Description automatically generated with medium confidence">
            <a:extLst>
              <a:ext uri="{FF2B5EF4-FFF2-40B4-BE49-F238E27FC236}">
                <a16:creationId xmlns:a16="http://schemas.microsoft.com/office/drawing/2014/main" id="{80381B25-0C4C-0BEC-6A42-872B5E0208E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3375" y="3429000"/>
            <a:ext cx="3359292" cy="2369840"/>
          </a:xfrm>
          <a:prstGeom prst="rect">
            <a:avLst/>
          </a:prstGeom>
        </p:spPr>
      </p:pic>
      <p:sp>
        <p:nvSpPr>
          <p:cNvPr id="6" name="Rectangle 1">
            <a:extLst>
              <a:ext uri="{FF2B5EF4-FFF2-40B4-BE49-F238E27FC236}">
                <a16:creationId xmlns:a16="http://schemas.microsoft.com/office/drawing/2014/main" id="{2E95AEAB-15A3-4DB3-A57B-629893FB6C8D}"/>
              </a:ext>
            </a:extLst>
          </p:cNvPr>
          <p:cNvSpPr>
            <a:spLocks noChangeArrowheads="1"/>
          </p:cNvSpPr>
          <p:nvPr/>
        </p:nvSpPr>
        <p:spPr bwMode="auto">
          <a:xfrm>
            <a:off x="5165204" y="188640"/>
            <a:ext cx="37272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الدوائر المتكاملة العملية التي تستخدم الدوائر القلابة</a:t>
            </a:r>
          </a:p>
        </p:txBody>
      </p:sp>
      <p:sp>
        <p:nvSpPr>
          <p:cNvPr id="2" name="Footer Placeholder 2">
            <a:extLst>
              <a:ext uri="{FF2B5EF4-FFF2-40B4-BE49-F238E27FC236}">
                <a16:creationId xmlns:a16="http://schemas.microsoft.com/office/drawing/2014/main" id="{88B2B4FB-81B2-6B67-97D0-9CFC62E4CB08}"/>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27328769"/>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12776"/>
            <a:ext cx="8568952"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الإدخال التخطيطي للدوائر الرقمية</a:t>
            </a:r>
          </a:p>
          <a:p>
            <a:pPr rtl="1"/>
            <a:endParaRPr lang="en-GB" sz="1600" b="1" dirty="0"/>
          </a:p>
          <a:p>
            <a:pPr marL="0" indent="0" rtl="1">
              <a:buNone/>
            </a:pPr>
            <a:r>
              <a:rPr lang="ar" sz="1600" b="1" dirty="0">
                <a:effectLst/>
              </a:rPr>
              <a:t>معايير رسم الدوائر الكهربائية</a:t>
            </a:r>
            <a:endParaRPr lang="en-GB" sz="1600" b="1" dirty="0"/>
          </a:p>
          <a:p>
            <a:pPr marL="0" indent="0" rtl="1">
              <a:buNone/>
            </a:pPr>
            <a:r>
              <a:rPr lang="ar" sz="1600" dirty="0">
                <a:effectLst/>
              </a:rPr>
              <a:t>عند إدخال الدوائر الرقمية، لا بد من الالتزام بمعايير رسم الدوائر الكهربائية مثل BS 8888 أو </a:t>
            </a:r>
            <a:r>
              <a:rPr lang="en-US" sz="1600" dirty="0">
                <a:effectLst/>
              </a:rPr>
              <a:t>BS 3939</a:t>
            </a:r>
            <a:r>
              <a:rPr lang="ar" sz="1600" dirty="0">
                <a:effectLst/>
              </a:rPr>
              <a:t> أو غيرها  </a:t>
            </a:r>
            <a:br>
              <a:rPr lang="en-GB" sz="1600" dirty="0">
                <a:effectLst/>
              </a:rPr>
            </a:br>
            <a:r>
              <a:rPr lang="ar" sz="1600" dirty="0">
                <a:effectLst/>
              </a:rPr>
              <a:t>من المعايير الدولية المكافئة ذات الصلة.</a:t>
            </a:r>
            <a:endParaRPr lang="en-GB" sz="1600" dirty="0"/>
          </a:p>
          <a:p>
            <a:pPr rtl="1"/>
            <a:endParaRPr lang="en-GB" sz="1600" b="1" dirty="0"/>
          </a:p>
          <a:p>
            <a:pPr marL="0" indent="0" rtl="1">
              <a:buNone/>
            </a:pPr>
            <a:r>
              <a:rPr lang="ar" sz="1600" b="1" dirty="0"/>
              <a:t>طرق المحاكاة والأجهزة الافتراضية</a:t>
            </a:r>
          </a:p>
          <a:p>
            <a:pPr marL="0" indent="0" rtl="1">
              <a:buNone/>
            </a:pPr>
            <a:r>
              <a:rPr lang="ar" sz="1600" b="1" dirty="0">
                <a:effectLst/>
              </a:rPr>
              <a:t>طرق المحاكاة</a:t>
            </a:r>
            <a:endParaRPr lang="en-GB" sz="1600" b="1" dirty="0"/>
          </a:p>
          <a:p>
            <a:pPr marL="0" indent="0" rtl="1">
              <a:buNone/>
            </a:pPr>
            <a:r>
              <a:rPr lang="ar" sz="1600" dirty="0">
                <a:effectLst/>
              </a:rPr>
              <a:t>تُستخدم طرق المحاكاة في اختبار الدوائر الرقمية قبل التنفيذ الفعلي لها. وتسمح بالتحقق من صحة تصاميم الدوائر والتأكد من أدائها ووظيفتها بشكل صحيح.</a:t>
            </a:r>
            <a:endParaRPr lang="en-GB" sz="1600" dirty="0"/>
          </a:p>
          <a:p>
            <a:pPr rtl="1"/>
            <a:endParaRPr lang="en-GB" sz="1600" b="1" dirty="0"/>
          </a:p>
          <a:p>
            <a:pPr marL="0" indent="0" rtl="1">
              <a:buNone/>
            </a:pPr>
            <a:r>
              <a:rPr lang="ar" sz="1600" b="1" dirty="0">
                <a:effectLst/>
              </a:rPr>
              <a:t>الأجهزة الافتراضية</a:t>
            </a:r>
            <a:endParaRPr lang="en-GB" sz="1600" b="1" dirty="0"/>
          </a:p>
          <a:p>
            <a:pPr marL="0" indent="0" rtl="1">
              <a:buNone/>
            </a:pPr>
            <a:r>
              <a:rPr lang="ar" sz="1600" dirty="0">
                <a:effectLst/>
              </a:rPr>
              <a:t>تُستخدم الأجهزة الافتراضية، مثل المجسات المنطقية، والمُنبِّهات المنطقية، والمحللات المنطقية، للتفاعل مع الدوائر الرقمية وتحليلها في بيئة افتراضية. توفر هذه الأدوات إمكانيات المراقبة في الوقت الفعلي وتصحيح الأخطاء، ما يساعد على تطوير الدوائر الرقمية واختبارها.</a:t>
            </a:r>
            <a:endParaRPr lang="en-GB" sz="1600" dirty="0"/>
          </a:p>
          <a:p>
            <a:pPr rtl="1"/>
            <a:endParaRPr lang="en-GB" sz="1600" b="1" dirty="0"/>
          </a:p>
        </p:txBody>
      </p:sp>
      <p:sp>
        <p:nvSpPr>
          <p:cNvPr id="4" name="Rectangle 1">
            <a:extLst>
              <a:ext uri="{FF2B5EF4-FFF2-40B4-BE49-F238E27FC236}">
                <a16:creationId xmlns:a16="http://schemas.microsoft.com/office/drawing/2014/main" id="{EA7DB696-FC0D-49A6-B522-CBBBEA1AB2DA}"/>
              </a:ext>
            </a:extLst>
          </p:cNvPr>
          <p:cNvSpPr>
            <a:spLocks noChangeArrowheads="1"/>
          </p:cNvSpPr>
          <p:nvPr/>
        </p:nvSpPr>
        <p:spPr bwMode="auto">
          <a:xfrm>
            <a:off x="5165204" y="188640"/>
            <a:ext cx="37272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الدوائر المتكاملة العملية التي تستخدم الدوائر القلابة</a:t>
            </a:r>
          </a:p>
        </p:txBody>
      </p:sp>
      <p:sp>
        <p:nvSpPr>
          <p:cNvPr id="2" name="Footer Placeholder 2">
            <a:extLst>
              <a:ext uri="{FF2B5EF4-FFF2-40B4-BE49-F238E27FC236}">
                <a16:creationId xmlns:a16="http://schemas.microsoft.com/office/drawing/2014/main" id="{4DEDC8EF-7160-63D1-56D9-E91AAFEC1FF1}"/>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60054425"/>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97AB08A1-E5EF-4AB3-B75D-67A611AF2A9C}"/>
              </a:ext>
            </a:extLst>
          </p:cNvPr>
          <p:cNvSpPr txBox="1">
            <a:spLocks noChangeArrowheads="1"/>
          </p:cNvSpPr>
          <p:nvPr/>
        </p:nvSpPr>
        <p:spPr bwMode="auto">
          <a:xfrm>
            <a:off x="3563889" y="1268760"/>
            <a:ext cx="5384617"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200" b="1" dirty="0">
                <a:latin typeface="Sakkal Majalla" panose="02000000000000000000" pitchFamily="2" charset="-78"/>
                <a:cs typeface="Sakkal Majalla" panose="02000000000000000000" pitchFamily="2" charset="-78"/>
              </a:rPr>
              <a:t>استخراج البيانات/القياسات</a:t>
            </a:r>
            <a:endParaRPr lang="en-GB" sz="1200" b="1" kern="0" dirty="0">
              <a:latin typeface="Sakkal Majalla" panose="02000000000000000000" pitchFamily="2" charset="-78"/>
              <a:cs typeface="Sakkal Majalla" panose="02000000000000000000" pitchFamily="2" charset="-78"/>
            </a:endParaRPr>
          </a:p>
          <a:p>
            <a:pPr rtl="1"/>
            <a:endParaRPr lang="en-GB" sz="1200" b="1" kern="0" dirty="0">
              <a:latin typeface="Sakkal Majalla" panose="02000000000000000000" pitchFamily="2" charset="-78"/>
              <a:cs typeface="Sakkal Majalla" panose="02000000000000000000" pitchFamily="2" charset="-78"/>
            </a:endParaRPr>
          </a:p>
        </p:txBody>
      </p:sp>
      <p:pic>
        <p:nvPicPr>
          <p:cNvPr id="3" name="Picture 2" descr="A person using a multimeter to measure the voltage&#10;&#10;Description automatically generated">
            <a:extLst>
              <a:ext uri="{FF2B5EF4-FFF2-40B4-BE49-F238E27FC236}">
                <a16:creationId xmlns:a16="http://schemas.microsoft.com/office/drawing/2014/main" id="{03F70DEE-B519-5263-8CA9-57265BCA2B7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29524" y="2852936"/>
            <a:ext cx="3218940" cy="2145960"/>
          </a:xfrm>
          <a:prstGeom prst="rect">
            <a:avLst/>
          </a:prstGeom>
        </p:spPr>
      </p:pic>
      <p:sp>
        <p:nvSpPr>
          <p:cNvPr id="5" name="Content Placeholder 3">
            <a:extLst>
              <a:ext uri="{FF2B5EF4-FFF2-40B4-BE49-F238E27FC236}">
                <a16:creationId xmlns:a16="http://schemas.microsoft.com/office/drawing/2014/main" id="{3E94AC02-FBEE-440B-B504-9547B97B83FB}"/>
              </a:ext>
            </a:extLst>
          </p:cNvPr>
          <p:cNvSpPr txBox="1">
            <a:spLocks noChangeArrowheads="1"/>
          </p:cNvSpPr>
          <p:nvPr/>
        </p:nvSpPr>
        <p:spPr bwMode="auto">
          <a:xfrm>
            <a:off x="288032" y="1700808"/>
            <a:ext cx="4716016"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200" b="1" dirty="0">
                <a:effectLst/>
                <a:latin typeface="Sakkal Majalla" panose="02000000000000000000" pitchFamily="2" charset="-78"/>
                <a:cs typeface="Sakkal Majalla" panose="02000000000000000000" pitchFamily="2" charset="-78"/>
              </a:rPr>
              <a:t>حالات منطق الدخل</a:t>
            </a:r>
            <a:endParaRPr lang="en-GB" sz="1200" b="1" dirty="0">
              <a:latin typeface="Sakkal Majalla" panose="02000000000000000000" pitchFamily="2" charset="-78"/>
              <a:cs typeface="Sakkal Majalla" panose="02000000000000000000" pitchFamily="2" charset="-78"/>
            </a:endParaRPr>
          </a:p>
          <a:p>
            <a:pPr rtl="1"/>
            <a:r>
              <a:rPr lang="ar" sz="1200" dirty="0">
                <a:effectLst/>
                <a:latin typeface="Sakkal Majalla" panose="02000000000000000000" pitchFamily="2" charset="-78"/>
                <a:cs typeface="Sakkal Majalla" panose="02000000000000000000" pitchFamily="2" charset="-78"/>
              </a:rPr>
              <a:t>استخدم المجسات المنطقية لتحديد الحالات المنطقية الخاصة بإشارات الدخل.</a:t>
            </a:r>
          </a:p>
          <a:p>
            <a:pPr rtl="1"/>
            <a:r>
              <a:rPr lang="ar" sz="1200" dirty="0">
                <a:effectLst/>
                <a:latin typeface="Sakkal Majalla" panose="02000000000000000000" pitchFamily="2" charset="-78"/>
                <a:cs typeface="Sakkal Majalla" panose="02000000000000000000" pitchFamily="2" charset="-78"/>
              </a:rPr>
              <a:t>ووصل المسبار المنطقي بدبوس الدخل الخاص بالدائرة الرقمية ولاحظ مستوى المنطق المعروض على المسبار.</a:t>
            </a:r>
            <a:endParaRPr lang="en-GB" sz="1200" b="1" kern="0" dirty="0">
              <a:latin typeface="Sakkal Majalla" panose="02000000000000000000" pitchFamily="2" charset="-78"/>
              <a:cs typeface="Sakkal Majalla" panose="02000000000000000000" pitchFamily="2" charset="-78"/>
            </a:endParaRPr>
          </a:p>
          <a:p>
            <a:pPr marL="0" indent="0" rtl="1">
              <a:buNone/>
            </a:pPr>
            <a:endParaRPr lang="en-GB" sz="1200" b="1" dirty="0">
              <a:effectLst/>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حالات منطق الخرج</a:t>
            </a:r>
            <a:endParaRPr lang="en-GB" sz="1200" b="1" dirty="0">
              <a:latin typeface="Sakkal Majalla" panose="02000000000000000000" pitchFamily="2" charset="-78"/>
              <a:cs typeface="Sakkal Majalla" panose="02000000000000000000" pitchFamily="2" charset="-78"/>
            </a:endParaRPr>
          </a:p>
          <a:p>
            <a:pPr rtl="1"/>
            <a:r>
              <a:rPr lang="ar" sz="1200" dirty="0">
                <a:effectLst/>
                <a:latin typeface="Sakkal Majalla" panose="02000000000000000000" pitchFamily="2" charset="-78"/>
                <a:cs typeface="Sakkal Majalla" panose="02000000000000000000" pitchFamily="2" charset="-78"/>
              </a:rPr>
              <a:t>استخدم المجسات المنطقية لتحديد الحالات المنطقية الخاصة بإشارات الخرج.</a:t>
            </a:r>
          </a:p>
          <a:p>
            <a:pPr rtl="1"/>
            <a:r>
              <a:rPr lang="ar" sz="1200" dirty="0">
                <a:effectLst/>
                <a:latin typeface="Sakkal Majalla" panose="02000000000000000000" pitchFamily="2" charset="-78"/>
                <a:cs typeface="Sakkal Majalla" panose="02000000000000000000" pitchFamily="2" charset="-78"/>
              </a:rPr>
              <a:t>ووصل المسبار المنطقي بدبوس الخرج الخاص بالدائرة الرقمية ولاحظ مستوى المنطق المعروض على المسبار.</a:t>
            </a:r>
          </a:p>
          <a:p>
            <a:pPr rtl="1"/>
            <a:endParaRPr lang="en-GB" sz="1200" b="1" kern="0" dirty="0">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قياس البيانات</a:t>
            </a:r>
            <a:endParaRPr lang="en-GB" sz="1200" b="1" dirty="0">
              <a:latin typeface="Sakkal Majalla" panose="02000000000000000000" pitchFamily="2" charset="-78"/>
              <a:cs typeface="Sakkal Majalla" panose="02000000000000000000" pitchFamily="2" charset="-78"/>
            </a:endParaRPr>
          </a:p>
          <a:p>
            <a:pPr rtl="1"/>
            <a:r>
              <a:rPr lang="ar" sz="1200" dirty="0">
                <a:effectLst/>
                <a:latin typeface="Sakkal Majalla" panose="02000000000000000000" pitchFamily="2" charset="-78"/>
                <a:cs typeface="Sakkal Majalla" panose="02000000000000000000" pitchFamily="2" charset="-78"/>
              </a:rPr>
              <a:t>استخدم أجهزة القياس المتعددة لقياس مستويات الجهد وتدفق التيار في الدوائر الرقمية.</a:t>
            </a:r>
          </a:p>
          <a:p>
            <a:pPr rtl="1"/>
            <a:r>
              <a:rPr lang="ar" sz="1200" dirty="0">
                <a:effectLst/>
                <a:latin typeface="Sakkal Majalla" panose="02000000000000000000" pitchFamily="2" charset="-78"/>
                <a:cs typeface="Sakkal Majalla" panose="02000000000000000000" pitchFamily="2" charset="-78"/>
              </a:rPr>
              <a:t>ووصل جهاز القياس المتعدد بالدبابيس أو العقد المناسبة في الدائرة وحدد وضع القياس المناسب على جهاز القياس المتعدد الأغراض.</a:t>
            </a:r>
          </a:p>
          <a:p>
            <a:pPr rtl="1"/>
            <a:endParaRPr lang="en-GB" sz="1200" b="1" kern="0" dirty="0">
              <a:latin typeface="Sakkal Majalla" panose="02000000000000000000" pitchFamily="2" charset="-78"/>
              <a:cs typeface="Sakkal Majalla" panose="02000000000000000000" pitchFamily="2" charset="-78"/>
            </a:endParaRPr>
          </a:p>
          <a:p>
            <a:pPr marL="0" indent="0" rtl="1">
              <a:buNone/>
            </a:pPr>
            <a:r>
              <a:rPr lang="ar" sz="1200" b="1" dirty="0">
                <a:effectLst/>
                <a:latin typeface="Sakkal Majalla" panose="02000000000000000000" pitchFamily="2" charset="-78"/>
                <a:cs typeface="Sakkal Majalla" panose="02000000000000000000" pitchFamily="2" charset="-78"/>
              </a:rPr>
              <a:t>التحليل المنطقي</a:t>
            </a:r>
            <a:endParaRPr lang="en-GB" sz="1200" b="1" dirty="0">
              <a:latin typeface="Sakkal Majalla" panose="02000000000000000000" pitchFamily="2" charset="-78"/>
              <a:cs typeface="Sakkal Majalla" panose="02000000000000000000" pitchFamily="2" charset="-78"/>
            </a:endParaRPr>
          </a:p>
          <a:p>
            <a:pPr rtl="1"/>
            <a:r>
              <a:rPr lang="ar" sz="1200" dirty="0">
                <a:effectLst/>
                <a:latin typeface="Sakkal Majalla" panose="02000000000000000000" pitchFamily="2" charset="-78"/>
                <a:cs typeface="Sakkal Majalla" panose="02000000000000000000" pitchFamily="2" charset="-78"/>
              </a:rPr>
              <a:t>استخدم أجهزة التحليل المنطقي لإدخال الإشارات الرقمية وتحليلها في الوقت الفعلي.</a:t>
            </a:r>
          </a:p>
          <a:p>
            <a:pPr rtl="1"/>
            <a:r>
              <a:rPr lang="ar" sz="1200" dirty="0">
                <a:effectLst/>
                <a:latin typeface="Sakkal Majalla" panose="02000000000000000000" pitchFamily="2" charset="-78"/>
                <a:cs typeface="Sakkal Majalla" panose="02000000000000000000" pitchFamily="2" charset="-78"/>
              </a:rPr>
              <a:t>ووصل المحلل المنطقي بالدائرة الرقمية وكوِّن المحلل لإدخال الإشارات المطلوبة.</a:t>
            </a:r>
          </a:p>
          <a:p>
            <a:pPr rtl="1"/>
            <a:endParaRPr lang="en-GB" sz="1200" b="1"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16044C9E-B1F7-48BC-A453-5D02C2B4EDDD}"/>
              </a:ext>
            </a:extLst>
          </p:cNvPr>
          <p:cNvSpPr>
            <a:spLocks noChangeArrowheads="1"/>
          </p:cNvSpPr>
          <p:nvPr/>
        </p:nvSpPr>
        <p:spPr bwMode="auto">
          <a:xfrm>
            <a:off x="5275356" y="188640"/>
            <a:ext cx="37272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الدوائر المتكاملة العملية التي تستخدم الدوائر القلابة</a:t>
            </a:r>
          </a:p>
        </p:txBody>
      </p:sp>
      <p:sp>
        <p:nvSpPr>
          <p:cNvPr id="2" name="Footer Placeholder 2">
            <a:extLst>
              <a:ext uri="{FF2B5EF4-FFF2-40B4-BE49-F238E27FC236}">
                <a16:creationId xmlns:a16="http://schemas.microsoft.com/office/drawing/2014/main" id="{6469D34B-A5CD-6B72-0F60-6130710E8284}"/>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184945960"/>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82042" y="1152128"/>
            <a:ext cx="4326462" cy="308561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effectLst/>
              </a:rPr>
              <a:t>إجراء الحسابات باستخدام الجداول الجبرية المنطقية وجداول الحقيقة</a:t>
            </a:r>
            <a:endParaRPr lang="en-GB" sz="1400" b="1" dirty="0"/>
          </a:p>
          <a:p>
            <a:pPr marL="0" indent="0" rtl="1">
              <a:buNone/>
            </a:pPr>
            <a:r>
              <a:rPr lang="ar" sz="1400" dirty="0">
                <a:effectLst/>
              </a:rPr>
              <a:t>يعد الجبر البولياني (المنطقي) وجداول الحقيقة أدوات أساسية لإجراء العمليات الحسابية وتحليل الدوائر الرقمية. فمن خلال استخدام التعبيرات الجبرية المنطقية وجداول الحقيقة، يمكنك فهم ومعالجة منطق الدوائر الرقمية، التي تتكون من بوابات منطقية وعناصر منطقية تسلسلية.</a:t>
            </a:r>
          </a:p>
          <a:p>
            <a:pPr rtl="1"/>
            <a:endParaRPr lang="en-GB" sz="1400" dirty="0"/>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03848" y="188640"/>
            <a:ext cx="590465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إجراء الحسابات باستخدام الجداول الجبرية </a:t>
            </a:r>
            <a:br>
              <a:rPr 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المنطقية وجداول الحقيقة</a:t>
            </a:r>
          </a:p>
        </p:txBody>
      </p:sp>
      <p:sp>
        <p:nvSpPr>
          <p:cNvPr id="7" name="Content Placeholder 3">
            <a:extLst>
              <a:ext uri="{FF2B5EF4-FFF2-40B4-BE49-F238E27FC236}">
                <a16:creationId xmlns:a16="http://schemas.microsoft.com/office/drawing/2014/main" id="{97AB08A1-E5EF-4AB3-B75D-67A611AF2A9C}"/>
              </a:ext>
            </a:extLst>
          </p:cNvPr>
          <p:cNvSpPr txBox="1">
            <a:spLocks noChangeArrowheads="1"/>
          </p:cNvSpPr>
          <p:nvPr/>
        </p:nvSpPr>
        <p:spPr bwMode="auto">
          <a:xfrm>
            <a:off x="0" y="1152128"/>
            <a:ext cx="4572000" cy="5805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400" b="1" dirty="0">
                <a:effectLst/>
                <a:latin typeface="Sakkal Majalla" panose="02000000000000000000" pitchFamily="2" charset="-78"/>
                <a:cs typeface="Sakkal Majalla" panose="02000000000000000000" pitchFamily="2" charset="-78"/>
              </a:rPr>
              <a:t>التعبيرات الجبرية البوليانية</a:t>
            </a:r>
            <a:endParaRPr lang="en-GB" sz="1400" b="1" dirty="0">
              <a:latin typeface="Sakkal Majalla" panose="02000000000000000000" pitchFamily="2" charset="-78"/>
              <a:cs typeface="Sakkal Majalla" panose="02000000000000000000" pitchFamily="2" charset="-78"/>
            </a:endParaRPr>
          </a:p>
          <a:p>
            <a:pPr marL="0" indent="0" rtl="1">
              <a:buNone/>
            </a:pPr>
            <a:r>
              <a:rPr lang="ar" sz="1400" dirty="0">
                <a:effectLst/>
                <a:latin typeface="Sakkal Majalla" panose="02000000000000000000" pitchFamily="2" charset="-78"/>
                <a:cs typeface="Sakkal Majalla" panose="02000000000000000000" pitchFamily="2" charset="-78"/>
              </a:rPr>
              <a:t>التعبيرات الجبرية البوليانية (المنطقية) هي تعبيرات رياضية تستخدم المتغيرات المنطقية والعوامل المنطقية بغرض تمثيل منطق الدائرة الرقمية. يمكن استخدام هذه التعبيرات لتبسيط الدوائر المنطقية المعقدة وإجراء العمليات الحسابية. العوامل المنطقية المستخدمة بشكلٍ شائع في الجبر البولياني هي AND وOR وNOT.</a:t>
            </a:r>
            <a:endParaRPr lang="en-GB" sz="1400" dirty="0">
              <a:latin typeface="Sakkal Majalla" panose="02000000000000000000" pitchFamily="2" charset="-78"/>
              <a:cs typeface="Sakkal Majalla" panose="02000000000000000000" pitchFamily="2" charset="-78"/>
            </a:endParaRPr>
          </a:p>
          <a:p>
            <a:pPr rtl="1"/>
            <a:endParaRPr lang="en-GB" sz="1400" b="1" kern="0" dirty="0">
              <a:latin typeface="Sakkal Majalla" panose="02000000000000000000" pitchFamily="2" charset="-78"/>
              <a:cs typeface="Sakkal Majalla" panose="02000000000000000000" pitchFamily="2" charset="-78"/>
            </a:endParaRPr>
          </a:p>
          <a:p>
            <a:pPr marL="0" indent="0" rtl="1">
              <a:buNone/>
            </a:pPr>
            <a:r>
              <a:rPr lang="ar" sz="1400" b="1" dirty="0">
                <a:effectLst/>
                <a:latin typeface="Sakkal Majalla" panose="02000000000000000000" pitchFamily="2" charset="-78"/>
                <a:cs typeface="Sakkal Majalla" panose="02000000000000000000" pitchFamily="2" charset="-78"/>
              </a:rPr>
              <a:t>جداول الحقيقة</a:t>
            </a:r>
            <a:endParaRPr lang="en-GB" sz="1400" b="1" dirty="0">
              <a:latin typeface="Sakkal Majalla" panose="02000000000000000000" pitchFamily="2" charset="-78"/>
              <a:cs typeface="Sakkal Majalla" panose="02000000000000000000" pitchFamily="2" charset="-78"/>
            </a:endParaRPr>
          </a:p>
          <a:p>
            <a:pPr marL="0" indent="0" rtl="1">
              <a:buNone/>
            </a:pPr>
            <a:r>
              <a:rPr lang="ar" sz="1400" dirty="0">
                <a:effectLst/>
                <a:latin typeface="Sakkal Majalla" panose="02000000000000000000" pitchFamily="2" charset="-78"/>
                <a:cs typeface="Sakkal Majalla" panose="02000000000000000000" pitchFamily="2" charset="-78"/>
              </a:rPr>
              <a:t>جداول الحقيقة هي جداول تعرض خرج الدائرة الرقمية لكافة المجموعات الممكنة لقيم الدخل. يمثل كل صف في جدول الحقيقة مجموعة دخل فريدة، ويجري سرد قيم الخرج المقابلة في الجدول. تُستخدم جداول الحقيقة بغرض تحليل سلوك الدوائر الرقمية والتحقق منها.</a:t>
            </a:r>
            <a:endParaRPr lang="en-GB" sz="1400" dirty="0">
              <a:latin typeface="Sakkal Majalla" panose="02000000000000000000" pitchFamily="2" charset="-78"/>
              <a:cs typeface="Sakkal Majalla" panose="02000000000000000000" pitchFamily="2" charset="-78"/>
            </a:endParaRPr>
          </a:p>
          <a:p>
            <a:pPr rtl="1"/>
            <a:endParaRPr lang="en-GB" sz="1400" b="1" kern="0" dirty="0">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929E721F-F0A8-415A-BEF9-2EE7966228B8}"/>
              </a:ext>
            </a:extLst>
          </p:cNvPr>
          <p:cNvGraphicFramePr>
            <a:graphicFrameLocks noGrp="1"/>
          </p:cNvGraphicFramePr>
          <p:nvPr>
            <p:extLst>
              <p:ext uri="{D42A27DB-BD31-4B8C-83A1-F6EECF244321}">
                <p14:modId xmlns:p14="http://schemas.microsoft.com/office/powerpoint/2010/main" val="203554348"/>
              </p:ext>
            </p:extLst>
          </p:nvPr>
        </p:nvGraphicFramePr>
        <p:xfrm>
          <a:off x="4788024" y="2971800"/>
          <a:ext cx="4110438" cy="388724"/>
        </p:xfrm>
        <a:graphic>
          <a:graphicData uri="http://schemas.openxmlformats.org/drawingml/2006/table">
            <a:tbl>
              <a:tblPr rtl="1" firstRow="1" bandRow="1">
                <a:tableStyleId>{073A0DAA-6AF3-43AB-8588-CEC1D06C72B9}</a:tableStyleId>
              </a:tblPr>
              <a:tblGrid>
                <a:gridCol w="2055219">
                  <a:extLst>
                    <a:ext uri="{9D8B030D-6E8A-4147-A177-3AD203B41FA5}">
                      <a16:colId xmlns:a16="http://schemas.microsoft.com/office/drawing/2014/main" val="4161200426"/>
                    </a:ext>
                  </a:extLst>
                </a:gridCol>
                <a:gridCol w="2055219">
                  <a:extLst>
                    <a:ext uri="{9D8B030D-6E8A-4147-A177-3AD203B41FA5}">
                      <a16:colId xmlns:a16="http://schemas.microsoft.com/office/drawing/2014/main" val="644831759"/>
                    </a:ext>
                  </a:extLst>
                </a:gridCol>
              </a:tblGrid>
              <a:tr h="388724">
                <a:tc>
                  <a:txBody>
                    <a:bodyPr/>
                    <a:lstStyle/>
                    <a:p>
                      <a:pPr rtl="1"/>
                      <a:r>
                        <a:rPr lang="ar" sz="1400" dirty="0">
                          <a:latin typeface="Sakkal Majalla" panose="02000000000000000000" pitchFamily="2" charset="-78"/>
                          <a:cs typeface="Sakkal Majalla" panose="02000000000000000000" pitchFamily="2" charset="-78"/>
                        </a:rPr>
                        <a:t>التعبيرات الجبرية البوليانية</a:t>
                      </a:r>
                    </a:p>
                  </a:txBody>
                  <a:tcPr/>
                </a:tc>
                <a:tc>
                  <a:txBody>
                    <a:bodyPr/>
                    <a:lstStyle/>
                    <a:p>
                      <a:pPr rtl="1"/>
                      <a:r>
                        <a:rPr lang="ar" sz="1400" dirty="0">
                          <a:latin typeface="Sakkal Majalla" panose="02000000000000000000" pitchFamily="2" charset="-78"/>
                          <a:cs typeface="Sakkal Majalla" panose="02000000000000000000" pitchFamily="2" charset="-78"/>
                        </a:rPr>
                        <a:t>جداول الحقيقة</a:t>
                      </a:r>
                    </a:p>
                  </a:txBody>
                  <a:tcPr/>
                </a:tc>
                <a:extLst>
                  <a:ext uri="{0D108BD9-81ED-4DB2-BD59-A6C34878D82A}">
                    <a16:rowId xmlns:a16="http://schemas.microsoft.com/office/drawing/2014/main" val="75926085"/>
                  </a:ext>
                </a:extLst>
              </a:tr>
            </a:tbl>
          </a:graphicData>
        </a:graphic>
      </p:graphicFrame>
      <p:grpSp>
        <p:nvGrpSpPr>
          <p:cNvPr id="4" name="Group 3">
            <a:extLst>
              <a:ext uri="{FF2B5EF4-FFF2-40B4-BE49-F238E27FC236}">
                <a16:creationId xmlns:a16="http://schemas.microsoft.com/office/drawing/2014/main" id="{0904E3AA-339F-4ED8-9C3B-9E48F0CE74B2}"/>
              </a:ext>
            </a:extLst>
          </p:cNvPr>
          <p:cNvGrpSpPr/>
          <p:nvPr/>
        </p:nvGrpSpPr>
        <p:grpSpPr>
          <a:xfrm>
            <a:off x="1475656" y="4366845"/>
            <a:ext cx="5112060" cy="2245509"/>
            <a:chOff x="2484276" y="4366845"/>
            <a:chExt cx="5112060" cy="2245509"/>
          </a:xfrm>
        </p:grpSpPr>
        <p:pic>
          <p:nvPicPr>
            <p:cNvPr id="9" name="Picture 8" descr="A diagram of truth table and an input table&#10;&#10;Description automatically generated">
              <a:extLst>
                <a:ext uri="{FF2B5EF4-FFF2-40B4-BE49-F238E27FC236}">
                  <a16:creationId xmlns:a16="http://schemas.microsoft.com/office/drawing/2014/main" id="{A72598D5-E080-F58B-96FA-97C33E70AA0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75122" y="4387315"/>
              <a:ext cx="3144971" cy="2225039"/>
            </a:xfrm>
            <a:prstGeom prst="rect">
              <a:avLst/>
            </a:prstGeom>
          </p:spPr>
        </p:pic>
        <p:sp>
          <p:nvSpPr>
            <p:cNvPr id="6" name="TextBox 5">
              <a:extLst>
                <a:ext uri="{FF2B5EF4-FFF2-40B4-BE49-F238E27FC236}">
                  <a16:creationId xmlns:a16="http://schemas.microsoft.com/office/drawing/2014/main" id="{A1BC8EDE-6917-BDE5-D36F-1C0FF2FB9E63}"/>
                </a:ext>
              </a:extLst>
            </p:cNvPr>
            <p:cNvSpPr txBox="1"/>
            <p:nvPr/>
          </p:nvSpPr>
          <p:spPr>
            <a:xfrm>
              <a:off x="6300192" y="4366845"/>
              <a:ext cx="1296144" cy="523220"/>
            </a:xfrm>
            <a:prstGeom prst="rect">
              <a:avLst/>
            </a:prstGeom>
            <a:noFill/>
          </p:spPr>
          <p:txBody>
            <a:bodyPr wrap="square" rtlCol="1">
              <a:spAutoFit/>
            </a:bodyPr>
            <a:lstStyle/>
            <a:p>
              <a:pPr rtl="1"/>
              <a:r>
                <a:rPr lang="ar" sz="1400" b="1" dirty="0">
                  <a:latin typeface="Sakkal Majalla" panose="02000000000000000000" pitchFamily="2" charset="-78"/>
                  <a:cs typeface="Sakkal Majalla" panose="02000000000000000000" pitchFamily="2" charset="-78"/>
                </a:rPr>
                <a:t>جداول الحقيقة</a:t>
              </a:r>
            </a:p>
            <a:p>
              <a:pPr rtl="1"/>
              <a:r>
                <a:rPr lang="ar" sz="1400" b="1" dirty="0">
                  <a:latin typeface="Sakkal Majalla" panose="02000000000000000000" pitchFamily="2" charset="-78"/>
                  <a:cs typeface="Sakkal Majalla" panose="02000000000000000000" pitchFamily="2" charset="-78"/>
                </a:rPr>
                <a:t>بوابة NOR الحصرية</a:t>
              </a:r>
            </a:p>
          </p:txBody>
        </p:sp>
        <p:sp>
          <p:nvSpPr>
            <p:cNvPr id="10" name="TextBox 9">
              <a:extLst>
                <a:ext uri="{FF2B5EF4-FFF2-40B4-BE49-F238E27FC236}">
                  <a16:creationId xmlns:a16="http://schemas.microsoft.com/office/drawing/2014/main" id="{20B4DA51-8ABC-253F-9DC5-02F69FFB20E9}"/>
                </a:ext>
              </a:extLst>
            </p:cNvPr>
            <p:cNvSpPr txBox="1"/>
            <p:nvPr/>
          </p:nvSpPr>
          <p:spPr>
            <a:xfrm>
              <a:off x="2555638" y="4509120"/>
              <a:ext cx="1368797" cy="461665"/>
            </a:xfrm>
            <a:prstGeom prst="rect">
              <a:avLst/>
            </a:prstGeom>
            <a:solidFill>
              <a:schemeClr val="bg1"/>
            </a:solidFill>
          </p:spPr>
          <p:txBody>
            <a:bodyPr wrap="square" rtlCol="1">
              <a:spAutoFit/>
            </a:bodyPr>
            <a:lstStyle/>
            <a:p>
              <a:pPr rtl="1"/>
              <a:r>
                <a:rPr lang="ar" sz="1200" b="1" dirty="0">
                  <a:latin typeface="Sakkal Majalla" panose="02000000000000000000" pitchFamily="2" charset="-78"/>
                  <a:cs typeface="Sakkal Majalla" panose="02000000000000000000" pitchFamily="2" charset="-78"/>
                </a:rPr>
                <a:t>الرمز</a:t>
              </a:r>
              <a:endParaRPr lang="en-US" sz="1200" b="1" dirty="0">
                <a:latin typeface="Sakkal Majalla" panose="02000000000000000000" pitchFamily="2" charset="-78"/>
                <a:cs typeface="Sakkal Majalla" panose="02000000000000000000" pitchFamily="2" charset="-78"/>
              </a:endParaRPr>
            </a:p>
            <a:p>
              <a:pPr rtl="1"/>
              <a:r>
                <a:rPr lang="en-US" sz="1200" b="1" dirty="0">
                  <a:latin typeface="Sakkal Majalla" panose="02000000000000000000" pitchFamily="2" charset="-78"/>
                  <a:cs typeface="Sakkal Majalla" panose="02000000000000000000" pitchFamily="2" charset="-78"/>
                </a:rPr>
                <a:t>              </a:t>
              </a:r>
              <a:r>
                <a:rPr lang="ar" sz="1000" i="1" dirty="0">
                  <a:latin typeface="Sakkal Majalla" panose="02000000000000000000" pitchFamily="2" charset="-78"/>
                  <a:cs typeface="Sakkal Majalla" panose="02000000000000000000" pitchFamily="2" charset="-78"/>
                </a:rPr>
                <a:t>بريطاني</a:t>
              </a:r>
            </a:p>
          </p:txBody>
        </p:sp>
        <p:sp>
          <p:nvSpPr>
            <p:cNvPr id="11" name="TextBox 10">
              <a:extLst>
                <a:ext uri="{FF2B5EF4-FFF2-40B4-BE49-F238E27FC236}">
                  <a16:creationId xmlns:a16="http://schemas.microsoft.com/office/drawing/2014/main" id="{18293440-0D4F-31C0-8A29-C3AF844488EB}"/>
                </a:ext>
              </a:extLst>
            </p:cNvPr>
            <p:cNvSpPr txBox="1"/>
            <p:nvPr/>
          </p:nvSpPr>
          <p:spPr>
            <a:xfrm>
              <a:off x="2484276" y="5484832"/>
              <a:ext cx="1080120" cy="246221"/>
            </a:xfrm>
            <a:prstGeom prst="rect">
              <a:avLst/>
            </a:prstGeom>
            <a:solidFill>
              <a:schemeClr val="bg1"/>
            </a:solidFill>
          </p:spPr>
          <p:txBody>
            <a:bodyPr wrap="square" rtlCol="1">
              <a:spAutoFit/>
            </a:bodyPr>
            <a:lstStyle/>
            <a:p>
              <a:pPr algn="r" rtl="1"/>
              <a:r>
                <a:rPr lang="ar" sz="1000" i="1" dirty="0">
                  <a:latin typeface="Sakkal Majalla" panose="02000000000000000000" pitchFamily="2" charset="-78"/>
                  <a:cs typeface="Sakkal Majalla" panose="02000000000000000000" pitchFamily="2" charset="-78"/>
                </a:rPr>
                <a:t>أمريكي</a:t>
              </a:r>
            </a:p>
          </p:txBody>
        </p:sp>
      </p:grpSp>
      <p:graphicFrame>
        <p:nvGraphicFramePr>
          <p:cNvPr id="13" name="Table 5">
            <a:extLst>
              <a:ext uri="{FF2B5EF4-FFF2-40B4-BE49-F238E27FC236}">
                <a16:creationId xmlns:a16="http://schemas.microsoft.com/office/drawing/2014/main" id="{D769CBC4-6F23-40CB-933B-A6C03A59EC09}"/>
              </a:ext>
            </a:extLst>
          </p:cNvPr>
          <p:cNvGraphicFramePr>
            <a:graphicFrameLocks noGrp="1"/>
          </p:cNvGraphicFramePr>
          <p:nvPr>
            <p:extLst>
              <p:ext uri="{D42A27DB-BD31-4B8C-83A1-F6EECF244321}">
                <p14:modId xmlns:p14="http://schemas.microsoft.com/office/powerpoint/2010/main" val="3009017810"/>
              </p:ext>
            </p:extLst>
          </p:nvPr>
        </p:nvGraphicFramePr>
        <p:xfrm>
          <a:off x="3487776" y="4372312"/>
          <a:ext cx="1684499" cy="2225040"/>
        </p:xfrm>
        <a:graphic>
          <a:graphicData uri="http://schemas.openxmlformats.org/drawingml/2006/table">
            <a:tbl>
              <a:tblPr rtl="1" firstRow="1" bandRow="1">
                <a:tableStyleId>{5C22544A-7EE6-4342-B048-85BDC9FD1C3A}</a:tableStyleId>
              </a:tblPr>
              <a:tblGrid>
                <a:gridCol w="383704">
                  <a:extLst>
                    <a:ext uri="{9D8B030D-6E8A-4147-A177-3AD203B41FA5}">
                      <a16:colId xmlns:a16="http://schemas.microsoft.com/office/drawing/2014/main" val="3840594513"/>
                    </a:ext>
                  </a:extLst>
                </a:gridCol>
                <a:gridCol w="288032">
                  <a:extLst>
                    <a:ext uri="{9D8B030D-6E8A-4147-A177-3AD203B41FA5}">
                      <a16:colId xmlns:a16="http://schemas.microsoft.com/office/drawing/2014/main" val="2583386343"/>
                    </a:ext>
                  </a:extLst>
                </a:gridCol>
                <a:gridCol w="1012763">
                  <a:extLst>
                    <a:ext uri="{9D8B030D-6E8A-4147-A177-3AD203B41FA5}">
                      <a16:colId xmlns:a16="http://schemas.microsoft.com/office/drawing/2014/main" val="3420492530"/>
                    </a:ext>
                  </a:extLst>
                </a:gridCol>
              </a:tblGrid>
              <a:tr h="370840">
                <a:tc gridSpan="2">
                  <a:txBody>
                    <a:bodyPr/>
                    <a:lstStyle/>
                    <a:p>
                      <a:pPr rtl="1"/>
                      <a:r>
                        <a:rPr lang="ar" sz="1400">
                          <a:latin typeface="Sakkal Majalla" panose="02000000000000000000" pitchFamily="2" charset="-78"/>
                          <a:cs typeface="Sakkal Majalla" panose="02000000000000000000" pitchFamily="2" charset="-78"/>
                        </a:rPr>
                        <a:t>الدخل</a:t>
                      </a:r>
                    </a:p>
                  </a:txBody>
                  <a:tcPr>
                    <a:solidFill>
                      <a:schemeClr val="accent5">
                        <a:lumMod val="50000"/>
                      </a:schemeClr>
                    </a:solidFill>
                  </a:tcPr>
                </a:tc>
                <a:tc hMerge="1">
                  <a:txBody>
                    <a:bodyPr/>
                    <a:lstStyle/>
                    <a:p>
                      <a:pPr rtl="1"/>
                      <a:endParaRPr lang="en-GB" dirty="0"/>
                    </a:p>
                  </a:txBody>
                  <a:tcPr/>
                </a:tc>
                <a:tc>
                  <a:txBody>
                    <a:bodyPr/>
                    <a:lstStyle/>
                    <a:p>
                      <a:pPr rtl="1"/>
                      <a:r>
                        <a:rPr lang="ar" sz="1400" dirty="0">
                          <a:latin typeface="Sakkal Majalla" panose="02000000000000000000" pitchFamily="2" charset="-78"/>
                          <a:cs typeface="Sakkal Majalla" panose="02000000000000000000" pitchFamily="2" charset="-78"/>
                        </a:rPr>
                        <a:t>الخرج</a:t>
                      </a:r>
                    </a:p>
                  </a:txBody>
                  <a:tcPr>
                    <a:solidFill>
                      <a:schemeClr val="accent5">
                        <a:lumMod val="50000"/>
                      </a:schemeClr>
                    </a:solidFill>
                  </a:tcPr>
                </a:tc>
                <a:extLst>
                  <a:ext uri="{0D108BD9-81ED-4DB2-BD59-A6C34878D82A}">
                    <a16:rowId xmlns:a16="http://schemas.microsoft.com/office/drawing/2014/main" val="2460747708"/>
                  </a:ext>
                </a:extLst>
              </a:tr>
              <a:tr h="370840">
                <a:tc>
                  <a:txBody>
                    <a:bodyPr/>
                    <a:lstStyle/>
                    <a:p>
                      <a:pPr algn="ctr" rtl="1"/>
                      <a:r>
                        <a:rPr lang="ar" sz="1400">
                          <a:latin typeface="Sakkal Majalla" panose="02000000000000000000" pitchFamily="2" charset="-78"/>
                          <a:cs typeface="Sakkal Majalla" panose="02000000000000000000" pitchFamily="2" charset="-78"/>
                        </a:rPr>
                        <a:t>أ</a:t>
                      </a:r>
                    </a:p>
                  </a:txBody>
                  <a:tcPr/>
                </a:tc>
                <a:tc>
                  <a:txBody>
                    <a:bodyPr/>
                    <a:lstStyle/>
                    <a:p>
                      <a:pPr algn="ctr" rtl="1"/>
                      <a:r>
                        <a:rPr lang="ar" sz="1400">
                          <a:latin typeface="Sakkal Majalla" panose="02000000000000000000" pitchFamily="2" charset="-78"/>
                          <a:cs typeface="Sakkal Majalla" panose="02000000000000000000" pitchFamily="2" charset="-78"/>
                        </a:rPr>
                        <a:t>ب</a:t>
                      </a:r>
                    </a:p>
                  </a:txBody>
                  <a:tcPr/>
                </a:tc>
                <a:tc>
                  <a:txBody>
                    <a:bodyPr/>
                    <a:lstStyle/>
                    <a:p>
                      <a:pPr algn="ctr" rtl="1"/>
                      <a:endParaRPr lang="en-GB" sz="14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425330030"/>
                  </a:ext>
                </a:extLst>
              </a:tr>
              <a:tr h="370840">
                <a:tc>
                  <a:txBody>
                    <a:bodyPr/>
                    <a:lstStyle/>
                    <a:p>
                      <a:pPr algn="ctr" rtl="1"/>
                      <a:r>
                        <a:rPr lang="ar" sz="1400">
                          <a:latin typeface="Sakkal Majalla" panose="02000000000000000000" pitchFamily="2" charset="-78"/>
                          <a:cs typeface="Sakkal Majalla" panose="02000000000000000000" pitchFamily="2" charset="-78"/>
                        </a:rPr>
                        <a:t>0</a:t>
                      </a:r>
                    </a:p>
                  </a:txBody>
                  <a:tcPr/>
                </a:tc>
                <a:tc>
                  <a:txBody>
                    <a:bodyPr/>
                    <a:lstStyle/>
                    <a:p>
                      <a:pPr algn="ctr" rtl="1"/>
                      <a:r>
                        <a:rPr lang="ar" sz="1400">
                          <a:latin typeface="Sakkal Majalla" panose="02000000000000000000" pitchFamily="2" charset="-78"/>
                          <a:cs typeface="Sakkal Majalla" panose="02000000000000000000" pitchFamily="2" charset="-78"/>
                        </a:rPr>
                        <a:t>0</a:t>
                      </a:r>
                    </a:p>
                  </a:txBody>
                  <a:tcPr/>
                </a:tc>
                <a:tc>
                  <a:txBody>
                    <a:bodyPr/>
                    <a:lstStyle/>
                    <a:p>
                      <a:pPr algn="ctr" rtl="1"/>
                      <a:r>
                        <a:rPr lang="ar" sz="140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769174110"/>
                  </a:ext>
                </a:extLst>
              </a:tr>
              <a:tr h="370840">
                <a:tc>
                  <a:txBody>
                    <a:bodyPr/>
                    <a:lstStyle/>
                    <a:p>
                      <a:pPr algn="ctr" rtl="1"/>
                      <a:r>
                        <a:rPr lang="ar" sz="1400">
                          <a:latin typeface="Sakkal Majalla" panose="02000000000000000000" pitchFamily="2" charset="-78"/>
                          <a:cs typeface="Sakkal Majalla" panose="02000000000000000000" pitchFamily="2" charset="-78"/>
                        </a:rPr>
                        <a:t>0</a:t>
                      </a:r>
                    </a:p>
                  </a:txBody>
                  <a:tcPr/>
                </a:tc>
                <a:tc>
                  <a:txBody>
                    <a:bodyPr/>
                    <a:lstStyle/>
                    <a:p>
                      <a:pPr algn="ctr" rtl="1"/>
                      <a:r>
                        <a:rPr lang="ar" sz="1400">
                          <a:latin typeface="Sakkal Majalla" panose="02000000000000000000" pitchFamily="2" charset="-78"/>
                          <a:cs typeface="Sakkal Majalla" panose="02000000000000000000" pitchFamily="2" charset="-78"/>
                        </a:rPr>
                        <a:t>1</a:t>
                      </a:r>
                    </a:p>
                  </a:txBody>
                  <a:tcPr/>
                </a:tc>
                <a:tc>
                  <a:txBody>
                    <a:bodyPr/>
                    <a:lstStyle/>
                    <a:p>
                      <a:pPr algn="ctr" rtl="1"/>
                      <a:r>
                        <a:rPr lang="ar" sz="14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3981829540"/>
                  </a:ext>
                </a:extLst>
              </a:tr>
              <a:tr h="370840">
                <a:tc>
                  <a:txBody>
                    <a:bodyPr/>
                    <a:lstStyle/>
                    <a:p>
                      <a:pPr algn="ctr" rtl="1"/>
                      <a:r>
                        <a:rPr lang="ar" sz="1400">
                          <a:latin typeface="Sakkal Majalla" panose="02000000000000000000" pitchFamily="2" charset="-78"/>
                          <a:cs typeface="Sakkal Majalla" panose="02000000000000000000" pitchFamily="2" charset="-78"/>
                        </a:rPr>
                        <a:t>1</a:t>
                      </a:r>
                    </a:p>
                  </a:txBody>
                  <a:tcPr/>
                </a:tc>
                <a:tc>
                  <a:txBody>
                    <a:bodyPr/>
                    <a:lstStyle/>
                    <a:p>
                      <a:pPr algn="ctr" rtl="1"/>
                      <a:r>
                        <a:rPr lang="ar" sz="1400">
                          <a:latin typeface="Sakkal Majalla" panose="02000000000000000000" pitchFamily="2" charset="-78"/>
                          <a:cs typeface="Sakkal Majalla" panose="02000000000000000000" pitchFamily="2" charset="-78"/>
                        </a:rPr>
                        <a:t>1</a:t>
                      </a:r>
                    </a:p>
                  </a:txBody>
                  <a:tcPr/>
                </a:tc>
                <a:tc>
                  <a:txBody>
                    <a:bodyPr/>
                    <a:lstStyle/>
                    <a:p>
                      <a:pPr algn="ctr" rtl="1"/>
                      <a:r>
                        <a:rPr lang="ar" sz="1400">
                          <a:latin typeface="Sakkal Majalla" panose="02000000000000000000" pitchFamily="2" charset="-78"/>
                          <a:cs typeface="Sakkal Majalla" panose="02000000000000000000" pitchFamily="2" charset="-78"/>
                        </a:rPr>
                        <a:t>0</a:t>
                      </a:r>
                    </a:p>
                  </a:txBody>
                  <a:tcPr/>
                </a:tc>
                <a:extLst>
                  <a:ext uri="{0D108BD9-81ED-4DB2-BD59-A6C34878D82A}">
                    <a16:rowId xmlns:a16="http://schemas.microsoft.com/office/drawing/2014/main" val="2050494817"/>
                  </a:ext>
                </a:extLst>
              </a:tr>
              <a:tr h="370840">
                <a:tc>
                  <a:txBody>
                    <a:bodyPr/>
                    <a:lstStyle/>
                    <a:p>
                      <a:pPr algn="ctr" rtl="1"/>
                      <a:r>
                        <a:rPr lang="ar" sz="1400">
                          <a:latin typeface="Sakkal Majalla" panose="02000000000000000000" pitchFamily="2" charset="-78"/>
                          <a:cs typeface="Sakkal Majalla" panose="02000000000000000000" pitchFamily="2" charset="-78"/>
                        </a:rPr>
                        <a:t>1</a:t>
                      </a:r>
                    </a:p>
                  </a:txBody>
                  <a:tcPr/>
                </a:tc>
                <a:tc>
                  <a:txBody>
                    <a:bodyPr/>
                    <a:lstStyle/>
                    <a:p>
                      <a:pPr algn="ctr" rtl="1"/>
                      <a:r>
                        <a:rPr lang="ar" sz="1400">
                          <a:latin typeface="Sakkal Majalla" panose="02000000000000000000" pitchFamily="2" charset="-78"/>
                          <a:cs typeface="Sakkal Majalla" panose="02000000000000000000" pitchFamily="2" charset="-78"/>
                        </a:rPr>
                        <a:t>1</a:t>
                      </a:r>
                    </a:p>
                  </a:txBody>
                  <a:tcPr/>
                </a:tc>
                <a:tc>
                  <a:txBody>
                    <a:bodyPr/>
                    <a:lstStyle/>
                    <a:p>
                      <a:pPr algn="ctr" rtl="1"/>
                      <a:r>
                        <a:rPr lang="ar" sz="1400" dirty="0">
                          <a:latin typeface="Sakkal Majalla" panose="02000000000000000000" pitchFamily="2" charset="-78"/>
                          <a:cs typeface="Sakkal Majalla" panose="02000000000000000000" pitchFamily="2" charset="-78"/>
                        </a:rPr>
                        <a:t>1</a:t>
                      </a:r>
                    </a:p>
                  </a:txBody>
                  <a:tcPr/>
                </a:tc>
                <a:extLst>
                  <a:ext uri="{0D108BD9-81ED-4DB2-BD59-A6C34878D82A}">
                    <a16:rowId xmlns:a16="http://schemas.microsoft.com/office/drawing/2014/main" val="3800705002"/>
                  </a:ext>
                </a:extLst>
              </a:tr>
            </a:tbl>
          </a:graphicData>
        </a:graphic>
      </p:graphicFrame>
      <p:sp>
        <p:nvSpPr>
          <p:cNvPr id="3" name="Footer Placeholder 2">
            <a:extLst>
              <a:ext uri="{FF2B5EF4-FFF2-40B4-BE49-F238E27FC236}">
                <a16:creationId xmlns:a16="http://schemas.microsoft.com/office/drawing/2014/main" id="{1C66A40F-0F6E-8B05-770E-2EAD83A1C603}"/>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81208605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237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مراجعة تطوير </a:t>
            </a:r>
          </a:p>
          <a:p>
            <a:pPr algn="ctr" rtl="1"/>
            <a:r>
              <a:rPr lang="ar" sz="3800" b="1" dirty="0">
                <a:latin typeface="Sakkal Majalla" panose="02000000000000000000" pitchFamily="2" charset="-78"/>
                <a:cs typeface="Sakkal Majalla" panose="02000000000000000000" pitchFamily="2" charset="-78"/>
              </a:rPr>
              <a:t>الدوائر الإلكترونية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التناظرية والرقمية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وتقييم الأداء الشخصي</a:t>
            </a:r>
          </a:p>
        </p:txBody>
      </p:sp>
      <p:sp>
        <p:nvSpPr>
          <p:cNvPr id="2" name="Footer Placeholder 2">
            <a:extLst>
              <a:ext uri="{FF2B5EF4-FFF2-40B4-BE49-F238E27FC236}">
                <a16:creationId xmlns:a16="http://schemas.microsoft.com/office/drawing/2014/main" id="{B953E07D-1522-2F42-46D7-7AF97741E601}"/>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881900160"/>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8820472" cy="1440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إدارة مصادر الأخطار الكهربائية</a:t>
            </a:r>
          </a:p>
          <a:p>
            <a:pPr marL="0" indent="0" rtl="1">
              <a:buNone/>
            </a:pPr>
            <a:r>
              <a:rPr lang="ar" sz="1800" dirty="0">
                <a:effectLst/>
              </a:rPr>
              <a:t>الدروس المستفادة في إدارة مصادر الأخطار الكهربائية لضمان السلامة في مكان العمل.</a:t>
            </a:r>
          </a:p>
          <a:p>
            <a:pPr marL="0" indent="0" rtl="1">
              <a:buNone/>
            </a:pPr>
            <a:r>
              <a:rPr lang="ar" sz="1800" dirty="0">
                <a:effectLst/>
              </a:rPr>
              <a:t>إدراك المخاطر المرتبطة بالكهرباء وتنفيذ تدابير السلامة المناسبة.</a:t>
            </a:r>
          </a:p>
          <a:p>
            <a:pPr rtl="1"/>
            <a:endParaRPr lang="en-GB" sz="1800" b="1" dirty="0"/>
          </a:p>
          <a:p>
            <a:pPr rtl="1"/>
            <a:endParaRPr lang="en-GB" sz="1800" b="1" dirty="0"/>
          </a:p>
          <a:p>
            <a:pPr marL="0" indent="0" rtl="1">
              <a:buNone/>
            </a:pPr>
            <a:endParaRPr lang="en-GB" sz="18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428521"/>
            <a:ext cx="459137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مهارات الصحة والسلامة</a:t>
            </a:r>
          </a:p>
        </p:txBody>
      </p:sp>
      <p:pic>
        <p:nvPicPr>
          <p:cNvPr id="5" name="Picture 4" descr="A person wearing protective gear and gloves&#10;&#10;Description automatically generated">
            <a:extLst>
              <a:ext uri="{FF2B5EF4-FFF2-40B4-BE49-F238E27FC236}">
                <a16:creationId xmlns:a16="http://schemas.microsoft.com/office/drawing/2014/main" id="{948B358A-5EC4-47B2-66F7-76D485E1F4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2048" y="3014679"/>
            <a:ext cx="3779912" cy="2519942"/>
          </a:xfrm>
          <a:prstGeom prst="rect">
            <a:avLst/>
          </a:prstGeom>
        </p:spPr>
      </p:pic>
      <p:sp>
        <p:nvSpPr>
          <p:cNvPr id="6" name="Content Placeholder 3">
            <a:extLst>
              <a:ext uri="{FF2B5EF4-FFF2-40B4-BE49-F238E27FC236}">
                <a16:creationId xmlns:a16="http://schemas.microsoft.com/office/drawing/2014/main" id="{E1171A86-3F54-1946-6A29-CCE3C5D9E7B4}"/>
              </a:ext>
            </a:extLst>
          </p:cNvPr>
          <p:cNvSpPr txBox="1">
            <a:spLocks noChangeArrowheads="1"/>
          </p:cNvSpPr>
          <p:nvPr/>
        </p:nvSpPr>
        <p:spPr bwMode="auto">
          <a:xfrm>
            <a:off x="4445124" y="2684658"/>
            <a:ext cx="4591372" cy="196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800" b="1" dirty="0">
                <a:effectLst/>
                <a:latin typeface="Sakkal Majalla" panose="02000000000000000000" pitchFamily="2" charset="-78"/>
                <a:cs typeface="Sakkal Majalla" panose="02000000000000000000" pitchFamily="2" charset="-78"/>
              </a:rPr>
              <a:t>استخدام معدات الحماية الشخصية: </a:t>
            </a:r>
            <a:r>
              <a:rPr lang="ar" sz="1800" dirty="0">
                <a:effectLst/>
                <a:latin typeface="Sakkal Majalla" panose="02000000000000000000" pitchFamily="2" charset="-78"/>
                <a:cs typeface="Sakkal Majalla" panose="02000000000000000000" pitchFamily="2" charset="-78"/>
              </a:rPr>
              <a:t>أهمية استخدام معدات الحماية الشخصية المناسبة</a:t>
            </a:r>
            <a:r>
              <a:rPr lang="ar-EG" sz="1800" dirty="0">
                <a:effectLst/>
                <a:latin typeface="Sakkal Majalla" panose="02000000000000000000" pitchFamily="2" charset="-78"/>
                <a:cs typeface="Sakkal Majalla" panose="02000000000000000000" pitchFamily="2" charset="-78"/>
              </a:rPr>
              <a:t> </a:t>
            </a:r>
            <a:r>
              <a:rPr lang="ar" sz="1800" dirty="0">
                <a:effectLst/>
                <a:latin typeface="Sakkal Majalla" panose="02000000000000000000" pitchFamily="2" charset="-78"/>
                <a:cs typeface="Sakkal Majalla" panose="02000000000000000000" pitchFamily="2" charset="-78"/>
              </a:rPr>
              <a:t>لمنع الإصابات. الدروس المستفادة عند اختيار معدات الوقاية الشخصية واستخدامها بفعالية.</a:t>
            </a:r>
          </a:p>
          <a:p>
            <a:pPr rtl="1"/>
            <a:r>
              <a:rPr lang="ar" sz="1800" b="1" kern="0" dirty="0">
                <a:latin typeface="Sakkal Majalla" panose="02000000000000000000" pitchFamily="2" charset="-78"/>
                <a:cs typeface="Sakkal Majalla" panose="02000000000000000000" pitchFamily="2" charset="-78"/>
              </a:rPr>
              <a:t>الحفاظ على منطقة العمل نظيفة ومرتبة: </a:t>
            </a:r>
            <a:r>
              <a:rPr lang="ar" sz="1800" kern="0" dirty="0">
                <a:latin typeface="Sakkal Majalla" panose="02000000000000000000" pitchFamily="2" charset="-78"/>
                <a:cs typeface="Sakkal Majalla" panose="02000000000000000000" pitchFamily="2" charset="-78"/>
              </a:rPr>
              <a:t>أهمية الحفاظ على منطقة عمل نظيفة ومرتبة لمنع وقوع الحوادث وضمان الكفاءة. الدروس المستفادة في تنظيم مساحة عمل آمنة والحفاظ عليها.</a:t>
            </a:r>
          </a:p>
          <a:p>
            <a:pPr rtl="1"/>
            <a:r>
              <a:rPr lang="ar" sz="1800" b="1" kern="0" dirty="0">
                <a:latin typeface="Sakkal Majalla" panose="02000000000000000000" pitchFamily="2" charset="-78"/>
                <a:cs typeface="Sakkal Majalla" panose="02000000000000000000" pitchFamily="2" charset="-78"/>
              </a:rPr>
              <a:t>التزام بروتوكولات السلامة: </a:t>
            </a:r>
            <a:r>
              <a:rPr lang="ar" sz="1800" kern="0" dirty="0">
                <a:latin typeface="Sakkal Majalla" panose="02000000000000000000" pitchFamily="2" charset="-78"/>
                <a:cs typeface="Sakkal Majalla" panose="02000000000000000000" pitchFamily="2" charset="-78"/>
              </a:rPr>
              <a:t>الدروس المستفادة في اتباع بروتوكولات وإجراءات السلامة لتقليل المخاطر. أهمية إدراك لوائح الصحة والسلامة والامتثال لها.</a:t>
            </a:r>
          </a:p>
          <a:p>
            <a:pPr rtl="1"/>
            <a:endParaRPr lang="en-GB" sz="1800" b="1"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AC3A3C9-E8B9-D856-B825-D6F8DEC8C81C}"/>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842493346"/>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428521"/>
            <a:ext cx="451936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المهارات الإلكترونية</a:t>
            </a:r>
          </a:p>
        </p:txBody>
      </p:sp>
      <p:sp>
        <p:nvSpPr>
          <p:cNvPr id="7" name="Content Placeholder 3">
            <a:extLst>
              <a:ext uri="{FF2B5EF4-FFF2-40B4-BE49-F238E27FC236}">
                <a16:creationId xmlns:a16="http://schemas.microsoft.com/office/drawing/2014/main" id="{97AB08A1-E5EF-4AB3-B75D-67A611AF2A9C}"/>
              </a:ext>
            </a:extLst>
          </p:cNvPr>
          <p:cNvSpPr txBox="1">
            <a:spLocks noChangeArrowheads="1"/>
          </p:cNvSpPr>
          <p:nvPr/>
        </p:nvSpPr>
        <p:spPr bwMode="auto">
          <a:xfrm>
            <a:off x="323528" y="1352510"/>
            <a:ext cx="5046542"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600" b="1" dirty="0">
                <a:effectLst/>
                <a:latin typeface="Sakkal Majalla" panose="02000000000000000000" pitchFamily="2" charset="-78"/>
                <a:cs typeface="Sakkal Majalla" panose="02000000000000000000" pitchFamily="2" charset="-78"/>
              </a:rPr>
              <a:t>الإدخال التخطيطي</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فهم مخططات الدوائر وإنشاؤها.</a:t>
            </a:r>
          </a:p>
          <a:p>
            <a:pPr rtl="1"/>
            <a:r>
              <a:rPr lang="ar" sz="1600" dirty="0">
                <a:effectLst/>
                <a:latin typeface="Sakkal Majalla" panose="02000000000000000000" pitchFamily="2" charset="-78"/>
                <a:cs typeface="Sakkal Majalla" panose="02000000000000000000" pitchFamily="2" charset="-78"/>
              </a:rPr>
              <a:t>تحويل مفاهيم التصميم إلى تمثيلات مرئية.</a:t>
            </a:r>
          </a:p>
          <a:p>
            <a:pPr rtl="1"/>
            <a:r>
              <a:rPr lang="ar" sz="1600" dirty="0">
                <a:effectLst/>
                <a:latin typeface="Sakkal Majalla" panose="02000000000000000000" pitchFamily="2" charset="-78"/>
                <a:cs typeface="Sakkal Majalla" panose="02000000000000000000" pitchFamily="2" charset="-78"/>
              </a:rPr>
              <a:t>وهو عنصر أساسي لتوصيل تصميمات الدوائر واستكشاف الأخطاء وإصلاحها.</a:t>
            </a:r>
          </a:p>
          <a:p>
            <a:pPr marL="0" indent="0" rtl="1">
              <a:buNone/>
            </a:pPr>
            <a:r>
              <a:rPr lang="ar" sz="1600" b="1" dirty="0">
                <a:effectLst/>
                <a:latin typeface="Sakkal Majalla" panose="02000000000000000000" pitchFamily="2" charset="-78"/>
                <a:cs typeface="Sakkal Majalla" panose="02000000000000000000" pitchFamily="2" charset="-78"/>
              </a:rPr>
              <a:t>المحاكاة</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استخدام أدوات برمجية لمحاكاة سلوك الدائرة.</a:t>
            </a:r>
          </a:p>
          <a:p>
            <a:pPr rtl="1"/>
            <a:r>
              <a:rPr lang="ar" sz="1600" dirty="0">
                <a:effectLst/>
                <a:latin typeface="Sakkal Majalla" panose="02000000000000000000" pitchFamily="2" charset="-78"/>
                <a:cs typeface="Sakkal Majalla" panose="02000000000000000000" pitchFamily="2" charset="-78"/>
              </a:rPr>
              <a:t>توقع أداء الدائرة وتحديد المشكلات المحتملة.</a:t>
            </a:r>
          </a:p>
          <a:p>
            <a:pPr rtl="1"/>
            <a:r>
              <a:rPr lang="ar" sz="1600" dirty="0">
                <a:effectLst/>
                <a:latin typeface="Sakkal Majalla" panose="02000000000000000000" pitchFamily="2" charset="-78"/>
                <a:cs typeface="Sakkal Majalla" panose="02000000000000000000" pitchFamily="2" charset="-78"/>
              </a:rPr>
              <a:t>تعمل على توفير الوقت والموارد من خلال تحسين التصميمات قبل الإنشاء الفعلي.</a:t>
            </a:r>
          </a:p>
          <a:p>
            <a:pPr marL="0" indent="0" rtl="1">
              <a:buNone/>
            </a:pPr>
            <a:r>
              <a:rPr lang="ar" sz="1600" b="1" dirty="0">
                <a:effectLst/>
                <a:latin typeface="Sakkal Majalla" panose="02000000000000000000" pitchFamily="2" charset="-78"/>
                <a:cs typeface="Sakkal Majalla" panose="02000000000000000000" pitchFamily="2" charset="-78"/>
              </a:rPr>
              <a:t>طرق الإنشاء</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التجميع العملي للدوائر الإلكترونية.</a:t>
            </a:r>
          </a:p>
          <a:p>
            <a:pPr rtl="1"/>
            <a:r>
              <a:rPr lang="ar" sz="1600" dirty="0">
                <a:effectLst/>
                <a:latin typeface="Sakkal Majalla" panose="02000000000000000000" pitchFamily="2" charset="-78"/>
                <a:cs typeface="Sakkal Majalla" panose="02000000000000000000" pitchFamily="2" charset="-78"/>
              </a:rPr>
              <a:t>مكونات اللحام على لوحات الدارة المطبوعة</a:t>
            </a:r>
          </a:p>
          <a:p>
            <a:pPr rtl="1"/>
            <a:r>
              <a:rPr lang="ar" sz="1600" dirty="0">
                <a:effectLst/>
                <a:latin typeface="Sakkal Majalla" panose="02000000000000000000" pitchFamily="2" charset="-78"/>
                <a:cs typeface="Sakkal Majalla" panose="02000000000000000000" pitchFamily="2" charset="-78"/>
              </a:rPr>
              <a:t>ضمان التوصيلات المناسبة والاستقرار الميكانيكي.</a:t>
            </a:r>
          </a:p>
          <a:p>
            <a:pPr marL="0" indent="0" rtl="1">
              <a:buNone/>
            </a:pPr>
            <a:r>
              <a:rPr lang="ar" sz="1600" b="1" dirty="0">
                <a:effectLst/>
                <a:latin typeface="Sakkal Majalla" panose="02000000000000000000" pitchFamily="2" charset="-78"/>
                <a:cs typeface="Sakkal Majalla" panose="02000000000000000000" pitchFamily="2" charset="-78"/>
              </a:rPr>
              <a:t>معدات القياس والاختبار</a:t>
            </a:r>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الاستخدام السليم لأجهزة القياس متعددة الأغراض وراسمات الذبذبات والأدوات الأخرى.</a:t>
            </a:r>
          </a:p>
          <a:p>
            <a:pPr rtl="1"/>
            <a:r>
              <a:rPr lang="ar" sz="1600" dirty="0">
                <a:effectLst/>
                <a:latin typeface="Sakkal Majalla" panose="02000000000000000000" pitchFamily="2" charset="-78"/>
                <a:cs typeface="Sakkal Majalla" panose="02000000000000000000" pitchFamily="2" charset="-78"/>
              </a:rPr>
              <a:t>قياس دقيق للجهد والتيار والمعلمات الكهربائية الأخرى.</a:t>
            </a:r>
          </a:p>
          <a:p>
            <a:pPr rtl="1"/>
            <a:r>
              <a:rPr lang="ar" sz="1600" dirty="0">
                <a:effectLst/>
                <a:latin typeface="Sakkal Majalla" panose="02000000000000000000" pitchFamily="2" charset="-78"/>
                <a:cs typeface="Sakkal Majalla" panose="02000000000000000000" pitchFamily="2" charset="-78"/>
              </a:rPr>
              <a:t>التحقق من وظائف الدائرة واستكشاف الأخطاء وإصلاحها.</a:t>
            </a:r>
          </a:p>
          <a:p>
            <a:pPr rtl="1"/>
            <a:endParaRPr lang="en-GB" sz="1600" b="1" kern="0" dirty="0">
              <a:latin typeface="Sakkal Majalla" panose="02000000000000000000" pitchFamily="2" charset="-78"/>
              <a:cs typeface="Sakkal Majalla" panose="02000000000000000000" pitchFamily="2" charset="-78"/>
            </a:endParaRPr>
          </a:p>
        </p:txBody>
      </p:sp>
      <p:pic>
        <p:nvPicPr>
          <p:cNvPr id="5" name="Picture 4" descr="A diagram of a wire">
            <a:extLst>
              <a:ext uri="{FF2B5EF4-FFF2-40B4-BE49-F238E27FC236}">
                <a16:creationId xmlns:a16="http://schemas.microsoft.com/office/drawing/2014/main" id="{44B70124-C1B9-6488-0D97-4ED8BB794E8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897064" y="2930006"/>
            <a:ext cx="2563368" cy="1813560"/>
          </a:xfrm>
          <a:prstGeom prst="rect">
            <a:avLst/>
          </a:prstGeom>
        </p:spPr>
      </p:pic>
      <p:sp>
        <p:nvSpPr>
          <p:cNvPr id="2" name="Footer Placeholder 2">
            <a:extLst>
              <a:ext uri="{FF2B5EF4-FFF2-40B4-BE49-F238E27FC236}">
                <a16:creationId xmlns:a16="http://schemas.microsoft.com/office/drawing/2014/main" id="{D41EBCE5-D218-96B5-2DE4-5B999C2C30EF}"/>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258618540"/>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82042" y="1484784"/>
            <a:ext cx="4110438" cy="384325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الرياضيات</a:t>
            </a:r>
          </a:p>
          <a:p>
            <a:pPr rtl="1"/>
            <a:r>
              <a:rPr lang="ar" sz="1800" dirty="0">
                <a:effectLst/>
              </a:rPr>
              <a:t>تُشكل المهارات الرياضية القوية عنصرًا ضروريًا في الهندسة العامة.</a:t>
            </a:r>
          </a:p>
          <a:p>
            <a:pPr rtl="1"/>
            <a:r>
              <a:rPr lang="ar" sz="1800" dirty="0">
                <a:effectLst/>
              </a:rPr>
              <a:t>يعد استيعاب مفاهيم مثل الجبر وحساب التفاضل والتكامل وعلم المثلثات أمرًا مهمًا لحل المشكلات الهندسية.</a:t>
            </a:r>
          </a:p>
          <a:p>
            <a:pPr rtl="1"/>
            <a:endParaRPr lang="en-GB" sz="1800" b="1" dirty="0"/>
          </a:p>
          <a:p>
            <a:pPr marL="0" indent="0" rtl="1">
              <a:buNone/>
            </a:pPr>
            <a:r>
              <a:rPr lang="ar" sz="1800" b="1" dirty="0">
                <a:effectLst/>
              </a:rPr>
              <a:t>تفسير الرسومات</a:t>
            </a:r>
          </a:p>
          <a:p>
            <a:pPr rtl="1"/>
            <a:r>
              <a:rPr lang="ar" sz="1800" dirty="0">
                <a:effectLst/>
              </a:rPr>
              <a:t>تمثل القدرة على تفسير الرسومات الفنية عنصرًا مهمًا لفهم التصاميم الهندسية وتنفيذها.</a:t>
            </a:r>
          </a:p>
          <a:p>
            <a:pPr rtl="1"/>
            <a:r>
              <a:rPr lang="ar" sz="1800" dirty="0">
                <a:effectLst/>
              </a:rPr>
              <a:t>يعد فهم الرموز والأبعاد والتفاوتات أمرًا ضروريًا.</a:t>
            </a:r>
            <a:endParaRPr lang="en-GB" sz="18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067944" y="428521"/>
            <a:ext cx="509542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المهارات الهندسية العامة</a:t>
            </a:r>
          </a:p>
        </p:txBody>
      </p:sp>
      <p:pic>
        <p:nvPicPr>
          <p:cNvPr id="5" name="Picture 4" descr="Several men working in a factory">
            <a:extLst>
              <a:ext uri="{FF2B5EF4-FFF2-40B4-BE49-F238E27FC236}">
                <a16:creationId xmlns:a16="http://schemas.microsoft.com/office/drawing/2014/main" id="{909DB406-1289-2995-F6C4-8F9FB3A4CBC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6139" y="2708920"/>
            <a:ext cx="3455876" cy="2303917"/>
          </a:xfrm>
          <a:prstGeom prst="rect">
            <a:avLst/>
          </a:prstGeom>
        </p:spPr>
      </p:pic>
      <p:sp>
        <p:nvSpPr>
          <p:cNvPr id="2" name="Footer Placeholder 2">
            <a:extLst>
              <a:ext uri="{FF2B5EF4-FFF2-40B4-BE49-F238E27FC236}">
                <a16:creationId xmlns:a16="http://schemas.microsoft.com/office/drawing/2014/main" id="{8357C78C-D663-B5AF-5E59-56AF192ABBB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25076212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496944" cy="2016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حزم برامج تكنولوجيا المعلومات</a:t>
            </a:r>
          </a:p>
          <a:p>
            <a:pPr rtl="1"/>
            <a:r>
              <a:rPr lang="ar" sz="1800" dirty="0">
                <a:effectLst/>
              </a:rPr>
              <a:t>تعد الكفاءة في استخدام حزم البرامج مثل CAD (التصميم بمساعدة الحاسوب) وأدوات المحاكاة عاملًا مهمًا لتصميم الأنظمة الهندسية وتحليلها.</a:t>
            </a:r>
          </a:p>
          <a:p>
            <a:pPr rtl="1"/>
            <a:r>
              <a:rPr lang="ar" sz="1800" dirty="0">
                <a:effectLst/>
              </a:rPr>
              <a:t>كما يمكن أن تكون المعرفة بلغات البرمجة مفيدًا هو الآخر.</a:t>
            </a:r>
          </a:p>
          <a:p>
            <a:pPr rtl="1"/>
            <a:endParaRPr lang="en-GB" sz="18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428521"/>
            <a:ext cx="379928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المهارات الهندسية العامة</a:t>
            </a:r>
          </a:p>
        </p:txBody>
      </p:sp>
      <p:pic>
        <p:nvPicPr>
          <p:cNvPr id="5" name="Picture 4" descr="A person pointing at a computer screen">
            <a:extLst>
              <a:ext uri="{FF2B5EF4-FFF2-40B4-BE49-F238E27FC236}">
                <a16:creationId xmlns:a16="http://schemas.microsoft.com/office/drawing/2014/main" id="{56112933-8CDE-E6FF-440F-3279515A95D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95937" y="2875440"/>
            <a:ext cx="4824535" cy="2713800"/>
          </a:xfrm>
          <a:prstGeom prst="rect">
            <a:avLst/>
          </a:prstGeom>
        </p:spPr>
      </p:pic>
      <p:pic>
        <p:nvPicPr>
          <p:cNvPr id="8" name="Picture 7" descr="A hand drawing a blueprint&#10;&#10;Description automatically generated">
            <a:extLst>
              <a:ext uri="{FF2B5EF4-FFF2-40B4-BE49-F238E27FC236}">
                <a16:creationId xmlns:a16="http://schemas.microsoft.com/office/drawing/2014/main" id="{1DBDDE68-52CF-C7DE-7D7D-DDD08242C40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35895" y="4077072"/>
            <a:ext cx="3388657" cy="2545877"/>
          </a:xfrm>
          <a:prstGeom prst="rect">
            <a:avLst/>
          </a:prstGeom>
        </p:spPr>
      </p:pic>
      <p:sp>
        <p:nvSpPr>
          <p:cNvPr id="2" name="Footer Placeholder 2">
            <a:extLst>
              <a:ext uri="{FF2B5EF4-FFF2-40B4-BE49-F238E27FC236}">
                <a16:creationId xmlns:a16="http://schemas.microsoft.com/office/drawing/2014/main" id="{961777CF-BC34-3594-E65D-13C33053D124}"/>
              </a:ext>
            </a:extLst>
          </p:cNvPr>
          <p:cNvSpPr txBox="1">
            <a:spLocks/>
          </p:cNvSpPr>
          <p:nvPr/>
        </p:nvSpPr>
        <p:spPr bwMode="auto">
          <a:xfrm>
            <a:off x="8058735" y="6597352"/>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1599359699"/>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97AB08A1-E5EF-4AB3-B75D-67A611AF2A9C}"/>
              </a:ext>
            </a:extLst>
          </p:cNvPr>
          <p:cNvSpPr txBox="1">
            <a:spLocks noChangeArrowheads="1"/>
          </p:cNvSpPr>
          <p:nvPr/>
        </p:nvSpPr>
        <p:spPr bwMode="auto">
          <a:xfrm>
            <a:off x="317546" y="1988840"/>
            <a:ext cx="4326462"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dirty="0">
                <a:latin typeface="Sakkal Majalla" panose="02000000000000000000" pitchFamily="2" charset="-78"/>
                <a:cs typeface="Sakkal Majalla" panose="02000000000000000000" pitchFamily="2" charset="-78"/>
              </a:rPr>
              <a:t>الأداء الشخصي</a:t>
            </a:r>
          </a:p>
          <a:p>
            <a:pPr marL="0" indent="0" rtl="1">
              <a:buNone/>
            </a:pPr>
            <a:r>
              <a:rPr lang="ar" sz="1800" b="1" dirty="0">
                <a:effectLst/>
                <a:latin typeface="Sakkal Majalla" panose="02000000000000000000" pitchFamily="2" charset="-78"/>
                <a:cs typeface="Sakkal Majalla" panose="02000000000000000000" pitchFamily="2" charset="-78"/>
              </a:rPr>
              <a:t>تخطيط الوقت وإدارته</a:t>
            </a:r>
          </a:p>
          <a:p>
            <a:pPr rtl="1"/>
            <a:r>
              <a:rPr lang="ar" sz="1800" dirty="0">
                <a:effectLst/>
                <a:latin typeface="Sakkal Majalla" panose="02000000000000000000" pitchFamily="2" charset="-78"/>
                <a:cs typeface="Sakkal Majalla" panose="02000000000000000000" pitchFamily="2" charset="-78"/>
              </a:rPr>
              <a:t>جرى تطوير مهارات التخطيط الفعال للوقت وإدارته طوال الدورة.</a:t>
            </a:r>
          </a:p>
          <a:p>
            <a:pPr rtl="1"/>
            <a:r>
              <a:rPr lang="ar" sz="1800" dirty="0">
                <a:effectLst/>
                <a:latin typeface="Sakkal Majalla" panose="02000000000000000000" pitchFamily="2" charset="-78"/>
                <a:cs typeface="Sakkal Majalla" panose="02000000000000000000" pitchFamily="2" charset="-78"/>
              </a:rPr>
              <a:t>تتطلب الموازنة بين الدورات الدراسية والعمل المخبري والالتزامات الشخصية التخطيط الدقيق وتحديد الأولويات.</a:t>
            </a:r>
          </a:p>
          <a:p>
            <a:pPr marL="0" indent="0" rtl="1">
              <a:buNone/>
            </a:pPr>
            <a:r>
              <a:rPr lang="ar" sz="1800" b="1" dirty="0">
                <a:effectLst/>
                <a:latin typeface="Sakkal Majalla" panose="02000000000000000000" pitchFamily="2" charset="-78"/>
                <a:cs typeface="Sakkal Majalla" panose="02000000000000000000" pitchFamily="2" charset="-78"/>
              </a:rPr>
              <a:t>مهارات التواصل والتثقيف</a:t>
            </a:r>
          </a:p>
          <a:p>
            <a:pPr rtl="1"/>
            <a:r>
              <a:rPr lang="ar" sz="1800" dirty="0">
                <a:effectLst/>
                <a:latin typeface="Sakkal Majalla" panose="02000000000000000000" pitchFamily="2" charset="-78"/>
                <a:cs typeface="Sakkal Majalla" panose="02000000000000000000" pitchFamily="2" charset="-78"/>
              </a:rPr>
              <a:t>أدت التقارير والعروض المعملية المنتظمة إلى تحسين مهارات التواصل والتثقيف.</a:t>
            </a:r>
          </a:p>
          <a:p>
            <a:pPr rtl="1"/>
            <a:r>
              <a:rPr lang="ar" sz="1800" dirty="0">
                <a:effectLst/>
                <a:latin typeface="Sakkal Majalla" panose="02000000000000000000" pitchFamily="2" charset="-78"/>
                <a:cs typeface="Sakkal Majalla" panose="02000000000000000000" pitchFamily="2" charset="-78"/>
              </a:rPr>
              <a:t>أصبح شرح المفاهيم والأفكار المعقدة بطريقة واضحة وموجزة وسهلة الفهم أمرًا طبيعيًا.</a:t>
            </a:r>
          </a:p>
          <a:p>
            <a:pPr marL="0" indent="0" rtl="1">
              <a:buNone/>
            </a:pPr>
            <a:endParaRPr lang="en-GB" sz="1800" b="1" kern="0" dirty="0">
              <a:latin typeface="Sakkal Majalla" panose="02000000000000000000" pitchFamily="2" charset="-78"/>
              <a:cs typeface="Sakkal Majalla" panose="02000000000000000000" pitchFamily="2" charset="-78"/>
            </a:endParaRPr>
          </a:p>
        </p:txBody>
      </p:sp>
      <p:pic>
        <p:nvPicPr>
          <p:cNvPr id="5" name="Picture 4" descr="A hand in glove touching a tablet">
            <a:extLst>
              <a:ext uri="{FF2B5EF4-FFF2-40B4-BE49-F238E27FC236}">
                <a16:creationId xmlns:a16="http://schemas.microsoft.com/office/drawing/2014/main" id="{D78ACEC6-D635-C6D7-D3DC-176088E6C42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25610" y="2708920"/>
            <a:ext cx="3770431" cy="2520280"/>
          </a:xfrm>
          <a:prstGeom prst="rect">
            <a:avLst/>
          </a:prstGeom>
        </p:spPr>
      </p:pic>
      <p:sp>
        <p:nvSpPr>
          <p:cNvPr id="6" name="TextBox 5">
            <a:extLst>
              <a:ext uri="{FF2B5EF4-FFF2-40B4-BE49-F238E27FC236}">
                <a16:creationId xmlns:a16="http://schemas.microsoft.com/office/drawing/2014/main" id="{A86067BE-3110-438A-A695-CE23D5DB1E75}"/>
              </a:ext>
            </a:extLst>
          </p:cNvPr>
          <p:cNvSpPr txBox="1"/>
          <p:nvPr/>
        </p:nvSpPr>
        <p:spPr>
          <a:xfrm>
            <a:off x="4464496" y="188640"/>
            <a:ext cx="4572000" cy="769441"/>
          </a:xfrm>
          <a:prstGeom prst="rect">
            <a:avLst/>
          </a:prstGeom>
          <a:noFill/>
        </p:spPr>
        <p:txBody>
          <a:bodyPr wrap="square" rtlCol="1">
            <a:spAutoFit/>
          </a:bodyPr>
          <a:lstStyle/>
          <a:p>
            <a:pPr rtl="1"/>
            <a:r>
              <a:rPr lang="ar" sz="2200" b="1" dirty="0">
                <a:latin typeface="Sakkal Majalla" panose="02000000000000000000" pitchFamily="2" charset="-78"/>
                <a:cs typeface="Sakkal Majalla" panose="02000000000000000000" pitchFamily="2" charset="-78"/>
              </a:rPr>
              <a:t>السلوكيات ذات الصلة الخاصة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باستكشاف الأجهزة الإلكترونية</a:t>
            </a:r>
          </a:p>
        </p:txBody>
      </p:sp>
      <p:sp>
        <p:nvSpPr>
          <p:cNvPr id="2" name="Footer Placeholder 2">
            <a:extLst>
              <a:ext uri="{FF2B5EF4-FFF2-40B4-BE49-F238E27FC236}">
                <a16:creationId xmlns:a16="http://schemas.microsoft.com/office/drawing/2014/main" id="{1B554111-3CC7-F838-F24F-46D9D9534D62}"/>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2309107133"/>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a:extLst>
              <a:ext uri="{FF2B5EF4-FFF2-40B4-BE49-F238E27FC236}">
                <a16:creationId xmlns:a16="http://schemas.microsoft.com/office/drawing/2014/main" id="{97AB08A1-E5EF-4AB3-B75D-67A611AF2A9C}"/>
              </a:ext>
            </a:extLst>
          </p:cNvPr>
          <p:cNvSpPr txBox="1">
            <a:spLocks noChangeArrowheads="1"/>
          </p:cNvSpPr>
          <p:nvPr/>
        </p:nvSpPr>
        <p:spPr bwMode="auto">
          <a:xfrm>
            <a:off x="3347864" y="1403560"/>
            <a:ext cx="5257094" cy="4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lnSpc>
                <a:spcPct val="90000"/>
              </a:lnSpc>
              <a:buNone/>
            </a:pPr>
            <a:r>
              <a:rPr lang="ar" sz="1900" b="1" dirty="0">
                <a:latin typeface="Sakkal Majalla" panose="02000000000000000000" pitchFamily="2" charset="-78"/>
                <a:cs typeface="Sakkal Majalla" panose="02000000000000000000" pitchFamily="2" charset="-78"/>
              </a:rPr>
              <a:t>تطبيق المهارات في العمل أو الدراسة الإضافية</a:t>
            </a:r>
          </a:p>
          <a:p>
            <a:pPr rtl="1">
              <a:lnSpc>
                <a:spcPct val="90000"/>
              </a:lnSpc>
            </a:pPr>
            <a:endParaRPr lang="en-US" sz="1700" b="1" kern="0" dirty="0">
              <a:latin typeface="Sakkal Majalla" panose="02000000000000000000" pitchFamily="2" charset="-78"/>
              <a:cs typeface="Sakkal Majalla" panose="02000000000000000000" pitchFamily="2" charset="-78"/>
            </a:endParaRPr>
          </a:p>
          <a:p>
            <a:pPr marL="0" indent="0" rtl="1">
              <a:lnSpc>
                <a:spcPct val="90000"/>
              </a:lnSpc>
              <a:buNone/>
            </a:pPr>
            <a:r>
              <a:rPr lang="ar" sz="1700" b="1" dirty="0">
                <a:effectLst/>
                <a:latin typeface="Sakkal Majalla" panose="02000000000000000000" pitchFamily="2" charset="-78"/>
                <a:cs typeface="Sakkal Majalla" panose="02000000000000000000" pitchFamily="2" charset="-78"/>
              </a:rPr>
              <a:t>فرص الدراسة الإضافية</a:t>
            </a:r>
          </a:p>
          <a:p>
            <a:pPr rtl="1">
              <a:lnSpc>
                <a:spcPct val="120000"/>
              </a:lnSpc>
            </a:pPr>
            <a:r>
              <a:rPr lang="ar" sz="1700" dirty="0">
                <a:latin typeface="Sakkal Majalla" panose="02000000000000000000" pitchFamily="2" charset="-78"/>
                <a:cs typeface="Sakkal Majalla" panose="02000000000000000000" pitchFamily="2" charset="-78"/>
              </a:rPr>
              <a:t>يمكن تطبيق المهارات المكتسبة في هذه الوحدة في العديد من فرص الدراسة الإضافية، مثل:</a:t>
            </a:r>
          </a:p>
          <a:p>
            <a:pPr rtl="1">
              <a:lnSpc>
                <a:spcPct val="120000"/>
              </a:lnSpc>
            </a:pPr>
            <a:r>
              <a:rPr lang="ar" sz="1700" dirty="0">
                <a:latin typeface="Sakkal Majalla" panose="02000000000000000000" pitchFamily="2" charset="-78"/>
                <a:cs typeface="Sakkal Majalla" panose="02000000000000000000" pitchFamily="2" charset="-78"/>
              </a:rPr>
              <a:t>الحصول على مؤهل عالي المستوى في الهندسة الكهربائية أو الإلكترونيات</a:t>
            </a:r>
          </a:p>
          <a:p>
            <a:pPr rtl="1">
              <a:lnSpc>
                <a:spcPct val="120000"/>
              </a:lnSpc>
            </a:pPr>
            <a:r>
              <a:rPr lang="ar" sz="1700" dirty="0">
                <a:latin typeface="Sakkal Majalla" panose="02000000000000000000" pitchFamily="2" charset="-78"/>
                <a:cs typeface="Sakkal Majalla" panose="02000000000000000000" pitchFamily="2" charset="-78"/>
              </a:rPr>
              <a:t>التسجيل في برنامج الدبلوم الفني في الأنظمة الإلكترونية</a:t>
            </a:r>
          </a:p>
          <a:p>
            <a:pPr rtl="1">
              <a:lnSpc>
                <a:spcPct val="90000"/>
              </a:lnSpc>
            </a:pPr>
            <a:endParaRPr lang="en-US" sz="1700" b="1" dirty="0">
              <a:latin typeface="Sakkal Majalla" panose="02000000000000000000" pitchFamily="2" charset="-78"/>
              <a:cs typeface="Sakkal Majalla" panose="02000000000000000000" pitchFamily="2" charset="-78"/>
            </a:endParaRPr>
          </a:p>
          <a:p>
            <a:pPr rtl="1">
              <a:lnSpc>
                <a:spcPct val="90000"/>
              </a:lnSpc>
            </a:pPr>
            <a:endParaRPr lang="en-US" sz="1700" b="1" kern="0" dirty="0">
              <a:latin typeface="Sakkal Majalla" panose="02000000000000000000" pitchFamily="2" charset="-78"/>
              <a:cs typeface="Sakkal Majalla" panose="02000000000000000000" pitchFamily="2" charset="-78"/>
            </a:endParaRPr>
          </a:p>
          <a:p>
            <a:pPr marL="0" indent="0" rtl="1">
              <a:lnSpc>
                <a:spcPct val="90000"/>
              </a:lnSpc>
              <a:buNone/>
            </a:pPr>
            <a:r>
              <a:rPr lang="ar" sz="1700" b="1" dirty="0">
                <a:effectLst/>
                <a:latin typeface="Sakkal Majalla" panose="02000000000000000000" pitchFamily="2" charset="-78"/>
                <a:cs typeface="Sakkal Majalla" panose="02000000000000000000" pitchFamily="2" charset="-78"/>
              </a:rPr>
              <a:t>الفرص الوظيفية المستقبلية</a:t>
            </a:r>
          </a:p>
          <a:p>
            <a:pPr rtl="1">
              <a:lnSpc>
                <a:spcPct val="120000"/>
              </a:lnSpc>
            </a:pPr>
            <a:r>
              <a:rPr lang="ar" sz="1700" dirty="0">
                <a:latin typeface="Sakkal Majalla" panose="02000000000000000000" pitchFamily="2" charset="-78"/>
                <a:cs typeface="Sakkal Majalla" panose="02000000000000000000" pitchFamily="2" charset="-78"/>
              </a:rPr>
              <a:t>يمكن للمهارات المكتسبة في هذه الوحدة أن تفتح مجموعة من الفرص الوظيفية المستقبلية، مثل:</a:t>
            </a:r>
          </a:p>
          <a:p>
            <a:pPr rtl="1">
              <a:lnSpc>
                <a:spcPct val="120000"/>
              </a:lnSpc>
            </a:pPr>
            <a:r>
              <a:rPr lang="ar" sz="1700" dirty="0">
                <a:latin typeface="Sakkal Majalla" panose="02000000000000000000" pitchFamily="2" charset="-78"/>
                <a:cs typeface="Sakkal Majalla" panose="02000000000000000000" pitchFamily="2" charset="-78"/>
              </a:rPr>
              <a:t>الانضمام إلى فريق بحثي في مجال الدوائر والأنظمة الإلكترونية</a:t>
            </a:r>
          </a:p>
          <a:p>
            <a:pPr rtl="1">
              <a:lnSpc>
                <a:spcPct val="120000"/>
              </a:lnSpc>
            </a:pPr>
            <a:r>
              <a:rPr lang="ar" sz="1700" dirty="0">
                <a:latin typeface="Sakkal Majalla" panose="02000000000000000000" pitchFamily="2" charset="-78"/>
                <a:cs typeface="Sakkal Majalla" panose="02000000000000000000" pitchFamily="2" charset="-78"/>
              </a:rPr>
              <a:t>العمل فني إلكترونيات في منشأة تصنيع أو اختبار</a:t>
            </a:r>
          </a:p>
          <a:p>
            <a:pPr rtl="1">
              <a:lnSpc>
                <a:spcPct val="120000"/>
              </a:lnSpc>
            </a:pPr>
            <a:r>
              <a:rPr lang="ar" sz="1700" dirty="0">
                <a:latin typeface="Sakkal Majalla" panose="02000000000000000000" pitchFamily="2" charset="-78"/>
                <a:cs typeface="Sakkal Majalla" panose="02000000000000000000" pitchFamily="2" charset="-78"/>
              </a:rPr>
              <a:t>أن تصبح مهندس أجهزة لصالح شركة تكنولوجيا</a:t>
            </a:r>
          </a:p>
          <a:p>
            <a:pPr rtl="1">
              <a:lnSpc>
                <a:spcPct val="120000"/>
              </a:lnSpc>
            </a:pPr>
            <a:r>
              <a:rPr lang="ar" sz="1700" dirty="0">
                <a:latin typeface="Sakkal Majalla" panose="02000000000000000000" pitchFamily="2" charset="-78"/>
                <a:cs typeface="Sakkal Majalla" panose="02000000000000000000" pitchFamily="2" charset="-78"/>
              </a:rPr>
              <a:t>بدء مسيرة مهنية تتمثل في العمل مهندس أنظمة مدمجة</a:t>
            </a:r>
          </a:p>
        </p:txBody>
      </p:sp>
      <p:pic>
        <p:nvPicPr>
          <p:cNvPr id="5" name="Picture 4" descr="A rolled up paper with a blue ribbon&#10;&#10;Description automatically generated">
            <a:extLst>
              <a:ext uri="{FF2B5EF4-FFF2-40B4-BE49-F238E27FC236}">
                <a16:creationId xmlns:a16="http://schemas.microsoft.com/office/drawing/2014/main" id="{82B50B73-3DA0-8950-EADF-D97369E79E7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44513" y="1844824"/>
            <a:ext cx="2122712" cy="4024100"/>
          </a:xfrm>
          <a:prstGeom prst="rect">
            <a:avLst/>
          </a:prstGeom>
          <a:noFill/>
        </p:spPr>
      </p:pic>
      <p:sp>
        <p:nvSpPr>
          <p:cNvPr id="8" name="TextBox 7">
            <a:extLst>
              <a:ext uri="{FF2B5EF4-FFF2-40B4-BE49-F238E27FC236}">
                <a16:creationId xmlns:a16="http://schemas.microsoft.com/office/drawing/2014/main" id="{1DDAA053-95A7-4BFF-85B5-48B148AB4C7B}"/>
              </a:ext>
            </a:extLst>
          </p:cNvPr>
          <p:cNvSpPr txBox="1"/>
          <p:nvPr/>
        </p:nvSpPr>
        <p:spPr>
          <a:xfrm>
            <a:off x="4464496" y="188640"/>
            <a:ext cx="4572000" cy="769441"/>
          </a:xfrm>
          <a:prstGeom prst="rect">
            <a:avLst/>
          </a:prstGeom>
          <a:noFill/>
        </p:spPr>
        <p:txBody>
          <a:bodyPr wrap="square" rtlCol="1">
            <a:spAutoFit/>
          </a:bodyPr>
          <a:lstStyle/>
          <a:p>
            <a:pPr rtl="1"/>
            <a:r>
              <a:rPr lang="ar" sz="2200" b="1" dirty="0">
                <a:latin typeface="Sakkal Majalla" panose="02000000000000000000" pitchFamily="2" charset="-78"/>
                <a:cs typeface="Sakkal Majalla" panose="02000000000000000000" pitchFamily="2" charset="-78"/>
              </a:rPr>
              <a:t>السلوكيات ذات الصلة الخاصة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باستكشاف الأجهزة الإلكترونية</a:t>
            </a:r>
          </a:p>
        </p:txBody>
      </p:sp>
      <p:sp>
        <p:nvSpPr>
          <p:cNvPr id="2" name="Footer Placeholder 2">
            <a:extLst>
              <a:ext uri="{FF2B5EF4-FFF2-40B4-BE49-F238E27FC236}">
                <a16:creationId xmlns:a16="http://schemas.microsoft.com/office/drawing/2014/main" id="{98088417-1571-7915-6D58-726102FAB2D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extLst>
      <p:ext uri="{BB962C8B-B14F-4D97-AF65-F5344CB8AC3E}">
        <p14:creationId xmlns:p14="http://schemas.microsoft.com/office/powerpoint/2010/main" val="3396080741"/>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endParaRPr lang="en-GB" altLang="en-US" sz="4600" kern="0" dirty="0">
              <a:latin typeface="Sakkal Majalla" panose="02000000000000000000" pitchFamily="2" charset="-78"/>
              <a:cs typeface="Sakkal Majalla" panose="02000000000000000000" pitchFamily="2" charset="-78"/>
            </a:endParaRP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755576" y="2060848"/>
            <a:ext cx="7812161" cy="3312367"/>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rtl="1">
              <a:lnSpc>
                <a:spcPct val="107000"/>
              </a:lnSpc>
              <a:spcAft>
                <a:spcPts val="800"/>
              </a:spcAft>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123RF:</a:t>
            </a:r>
            <a:r>
              <a:rPr lang="ar" sz="2000" dirty="0">
                <a:solidFill>
                  <a:srgbClr val="24242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إيكاترينا كوندراتوفا (شريحة 8)، غونين (شريحة 11)، أرتور سينينكو (شريحة 12)، لوتشين (شريحة 18)، أنجيلوديكو (شريحة 33)؛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بيرسون إديوكيشن ليمتد</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أكسفورد ديزاينرز آند ليستراتورز ليمتد (شريحة 6)، كين فيل جرافيك ديزاين (شريحة 9)، بيرسون إديوكيشن ليمتد (شريحة 13، وشريحة 27 وشريحة 30)، إتش إل استديوز (شريحة 21)، غاريث بودن (شريحة 24)؛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توماس باجوت (الشريحة 5)، أوسيشيفي (الشريحة 7)، مولوديك (الشريحة 10)، أنياإيفانوفا (الشريحة 14)، هونغ (الشريحة 19)، كونال ميهتا (الشريحة 25)، أكتس-داتا ستوك (الشريحة 26)، ريجي لافوي (الشريحة 29)، شترستوك (الشريحة 31)، فرناندو بلانكو كالازادا (الشريحة 32 إلى اليسار)، غورودينكوف (الشريحة 32 إلى اليمين)، إدمي (شريحة 34).</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C2CFC6E-4CF1-D87A-9DAF-7489C4806A5D}"/>
              </a:ext>
            </a:extLst>
          </p:cNvPr>
          <p:cNvSpPr txBox="1">
            <a:spLocks/>
          </p:cNvSpPr>
          <p:nvPr/>
        </p:nvSpPr>
        <p:spPr bwMode="auto">
          <a:xfrm>
            <a:off x="35496" y="657130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A103000399211</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7012c9df-7563-46f6-96ee-cebd66fd5577">
      <UserInfo>
        <DisplayName/>
        <AccountId xsi:nil="true"/>
        <AccountType/>
      </UserInfo>
    </SharedWithUsers>
    <MediaLengthInSeconds xmlns="f63d1639-2e8e-4dfe-b2d4-ff2deac92409" xsi:nil="true"/>
    <TaxCatchAll xmlns="7012c9df-7563-46f6-96ee-cebd66fd5577" xsi:nil="true"/>
    <lcf76f155ced4ddcb4097134ff3c332f xmlns="f63d1639-2e8e-4dfe-b2d4-ff2deac92409">
      <Terms xmlns="http://schemas.microsoft.com/office/infopath/2007/PartnerControls"/>
    </lcf76f155ced4ddcb4097134ff3c332f>
    <AdditionalInfo xmlns="f63d1639-2e8e-4dfe-b2d4-ff2deac92409" xsi:nil="true"/>
    <_Flow_SignoffStatus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A19173F1-C8BF-42F0-A375-A8A714D749DA}"/>
</file>

<file path=customXml/itemProps3.xml><?xml version="1.0" encoding="utf-8"?>
<ds:datastoreItem xmlns:ds="http://schemas.openxmlformats.org/officeDocument/2006/customXml" ds:itemID="{4B700610-39F3-4A35-AAF4-C1E1359C0930}">
  <ds:schemaRef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http://schemas.openxmlformats.org/package/2006/metadata/core-properties"/>
    <ds:schemaRef ds:uri="7c1bd8dc-4e40-424f-a15f-9ffcd522197f"/>
    <ds:schemaRef ds:uri="6125ffc9-2c56-435e-8267-1393444907b2"/>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10039</TotalTime>
  <Words>3798</Words>
  <Application>Microsoft Office PowerPoint</Application>
  <PresentationFormat>On-screen Show (4:3)</PresentationFormat>
  <Paragraphs>633</Paragraphs>
  <Slides>36</Slides>
  <Notes>36</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36</vt:i4>
      </vt:variant>
    </vt:vector>
  </HeadingPairs>
  <TitlesOfParts>
    <vt:vector size="52" baseType="lpstr">
      <vt:lpstr>Arial</vt:lpstr>
      <vt:lpstr>Calibri</vt:lpstr>
      <vt:lpstr>Courier New</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19 الأجهزة الإلكترونية  والدوائر الكهربائية  </vt:lpstr>
      <vt:lpstr>الأجهزة والدوائر الإلكترونية</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161</cp:revision>
  <dcterms:created xsi:type="dcterms:W3CDTF">2020-07-15T07:14:47Z</dcterms:created>
  <dcterms:modified xsi:type="dcterms:W3CDTF">2024-12-09T16:32:05Z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