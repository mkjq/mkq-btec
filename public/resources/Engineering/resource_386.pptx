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8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9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05" r:id="rId18"/>
    <p:sldId id="338" r:id="rId19"/>
    <p:sldId id="310" r:id="rId20"/>
    <p:sldId id="312" r:id="rId21"/>
    <p:sldId id="313" r:id="rId22"/>
    <p:sldId id="318" r:id="rId23"/>
    <p:sldId id="319" r:id="rId24"/>
    <p:sldId id="332" r:id="rId25"/>
    <p:sldId id="314" r:id="rId26"/>
    <p:sldId id="315" r:id="rId27"/>
    <p:sldId id="317" r:id="rId28"/>
    <p:sldId id="316" r:id="rId29"/>
    <p:sldId id="320" r:id="rId30"/>
    <p:sldId id="321" r:id="rId31"/>
    <p:sldId id="333" r:id="rId32"/>
    <p:sldId id="322" r:id="rId33"/>
    <p:sldId id="323" r:id="rId34"/>
    <p:sldId id="324" r:id="rId35"/>
    <p:sldId id="334" r:id="rId36"/>
    <p:sldId id="306" r:id="rId37"/>
    <p:sldId id="307" r:id="rId38"/>
    <p:sldId id="308" r:id="rId39"/>
    <p:sldId id="325" r:id="rId40"/>
    <p:sldId id="326" r:id="rId41"/>
    <p:sldId id="327" r:id="rId42"/>
    <p:sldId id="335" r:id="rId43"/>
    <p:sldId id="328" r:id="rId44"/>
    <p:sldId id="329" r:id="rId45"/>
    <p:sldId id="330" r:id="rId46"/>
    <p:sldId id="331" r:id="rId47"/>
    <p:sldId id="336" r:id="rId48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3D42F53-0389-4909-9FF5-C2FCEBDA1135}">
          <p14:sldIdLst>
            <p14:sldId id="256"/>
            <p14:sldId id="257"/>
            <p14:sldId id="258"/>
            <p14:sldId id="272"/>
            <p14:sldId id="305"/>
            <p14:sldId id="338"/>
            <p14:sldId id="310"/>
            <p14:sldId id="312"/>
            <p14:sldId id="313"/>
            <p14:sldId id="318"/>
            <p14:sldId id="319"/>
            <p14:sldId id="332"/>
            <p14:sldId id="314"/>
            <p14:sldId id="315"/>
            <p14:sldId id="317"/>
            <p14:sldId id="316"/>
            <p14:sldId id="320"/>
            <p14:sldId id="321"/>
            <p14:sldId id="333"/>
            <p14:sldId id="322"/>
            <p14:sldId id="323"/>
            <p14:sldId id="324"/>
            <p14:sldId id="334"/>
            <p14:sldId id="306"/>
            <p14:sldId id="307"/>
            <p14:sldId id="308"/>
            <p14:sldId id="325"/>
            <p14:sldId id="326"/>
            <p14:sldId id="327"/>
            <p14:sldId id="335"/>
            <p14:sldId id="328"/>
            <p14:sldId id="329"/>
            <p14:sldId id="330"/>
            <p14:sldId id="331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8EA2153-5F6B-B54C-1840-8E0FA623024A}" name="Stephen Singleton" initials="" userId="e969f1b3553b2f56" providerId="Windows Live"/>
  <p188:author id="{99CFEB90-9D66-8A0A-B491-5A1B86E8BE4E}" name="Sam Prince" initials="SP" userId="S::sam.prince1@pearson.com::b8c1c271-dd5b-4079-a09a-81f4ce8be867" providerId="AD"/>
  <p188:author id="{E08717ED-262D-1C4C-0166-1A5452D0AB4D}" name="Simon Goulden" initials="SG" userId="210b83c1ffd687e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18B36-6C23-C6DE-819C-A08BF1449E13}" v="6" dt="2023-10-20T18:28:26.656"/>
    <p1510:client id="{3C54031E-0FA3-49D8-BF40-15A2F53F8BEE}" v="4" dt="2023-10-20T18:41:43.537"/>
    <p1510:client id="{C5C6A733-76A7-4AE3-F7F5-1E833C2551B1}" v="5" dt="2023-10-20T18:55:02.628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54" autoAdjust="0"/>
    <p:restoredTop sz="94249" autoAdjust="0"/>
  </p:normalViewPr>
  <p:slideViewPr>
    <p:cSldViewPr>
      <p:cViewPr varScale="1">
        <p:scale>
          <a:sx n="162" d="100"/>
          <a:sy n="162" d="100"/>
        </p:scale>
        <p:origin x="1662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 dirty="0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 dirty="0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r>
              <a:rPr lang="ar">
                <a:latin typeface="Arial" panose="020B0604020202020204" pitchFamily="34" charset="0"/>
              </a:rPr>
              <a:t>A basic introduction to the unit.</a:t>
            </a:r>
          </a:p>
          <a:p>
            <a:pPr rtl="1"/>
            <a:endParaRPr lang="en-GB" altLang="en-US" b="1" dirty="0">
              <a:latin typeface="Arial" panose="020B0604020202020204" pitchFamily="34" charset="0"/>
            </a:endParaRPr>
          </a:p>
          <a:p>
            <a:pPr rtl="1"/>
            <a:r>
              <a:rPr lang="ar" b="1">
                <a:latin typeface="Arial" panose="020B0604020202020204" pitchFamily="34" charset="0"/>
              </a:rPr>
              <a:t>Useful websites:</a:t>
            </a:r>
          </a:p>
          <a:p>
            <a:pPr rtl="1"/>
            <a:endParaRPr lang="en-GB" altLang="en-US" b="1" dirty="0">
              <a:latin typeface="Arial" panose="020B0604020202020204" pitchFamily="34" charset="0"/>
            </a:endParaRPr>
          </a:p>
          <a:p>
            <a:pPr rtl="1"/>
            <a:r>
              <a:rPr lang="ar" b="0">
                <a:latin typeface="Arial" panose="020B0604020202020204" pitchFamily="34" charset="0"/>
              </a:rPr>
              <a:t>Country dependant.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>
                <a:latin typeface="Arial" panose="020B0604020202020204" pitchFamily="34" charset="0"/>
              </a:rPr>
              <a:t>An outline of the three main learning aims in the unit.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568751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68824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0490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355164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19176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10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65430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11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2891933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13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764867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9456101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9996943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0962681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964532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18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08605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22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461082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24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25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26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27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40028901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28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3496812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1"/>
          <a:lstStyle/>
          <a:p>
            <a:pPr rtl="1">
              <a:defRPr/>
            </a:pPr>
            <a:fld id="{4D3E6F70-5D4D-4B7F-8590-7D87CFB0B671}" type="slidenum">
              <a:rPr lang="en-GB" altLang="en-US" smtClean="0"/>
              <a:pPr rtl="1">
                <a:defRPr/>
              </a:pPr>
              <a:t>29</a:t>
            </a:fld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23254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8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2" Type="http://schemas.openxmlformats.org/officeDocument/2006/relationships/slideLayout" Target="../slideLayouts/slideLayout77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0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5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5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0.xml"/><Relationship Id="rId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9.xml"/><Relationship Id="rId2" Type="http://schemas.openxmlformats.org/officeDocument/2006/relationships/slideLayout" Target="../slideLayouts/slideLayout8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8.xml"/><Relationship Id="rId5" Type="http://schemas.openxmlformats.org/officeDocument/2006/relationships/slideLayout" Target="../slideLayouts/slideLayout92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7.xml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11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BF4AE771-8C68-42F0-DC9E-32A8A9D7E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2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7"/>
            <a:ext cx="7772400" cy="9350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5</a:t>
            </a:r>
            <a:br>
              <a:rPr lang="en-GB" altLang="en-US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GB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03618BED-11B5-90CC-5910-B65474D700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7544" y="3065463"/>
            <a:ext cx="6400800" cy="1752600"/>
          </a:xfrm>
        </p:spPr>
        <p:txBody>
          <a:bodyPr rtlCol="1"/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الرياضيات لفنيي الهندسة</a:t>
            </a: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 lnSpcReduction="10000"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40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2023 محفوظة لشركة بيرسون إديوكيشن ليمتد يُسمح بالنسخ للمؤسسة المشترية فقط.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8A67117-2DBC-CE0C-0282-D718FFCE3331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en" sz="44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الرياضيات لفنيي الهندسة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63691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ستدرس في هذه الوحدة سبب استخدام المهندسين للرياضيات لحل التحديات التي يواجهونها على أساس يومي.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كما تُعد هذه الوحدة نقطة بداية لاكتساب المهارات الرياضية اللازمة لحل العديد من التحديات التي يواجهها المهندسون يومًا بعد يوم.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ستبدأ بدراسة الطرق الحسابية قبل الانتقال إلى التفكير في كيفية استخدام المعادلات والصيغ والقياس وعلم المثلثات لحل المسائل الهندسية.</a:t>
            </a:r>
            <a:endParaRPr lang="en-GB" altLang="en-US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39E7536-2860-5FF5-A3FA-546EE1F90A1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" y="2780928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813" indent="-387350" defTabSz="43180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(أ)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فحص كيفية استخدام الطرق الحسابية والجبرية والرسومية لحل المسائل الهندسية </a:t>
            </a:r>
            <a:endParaRPr lang="en-GB" altLang="en-US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04813" indent="-404813" defTabSz="431800" rtl="1">
              <a:spcBef>
                <a:spcPts val="1200"/>
              </a:spcBef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(ب)	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فحص كيفية استخدام القياس وحساب المثلثات لحل المسائل الهندسية.</a:t>
            </a:r>
            <a:endParaRPr lang="en-GB" altLang="en-US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E3A766C-02A7-93DD-63BF-CAEDA5D362D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939269" y="3716338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(أ1)الطرق الحسابية</a:t>
            </a:r>
          </a:p>
          <a:p>
            <a:pPr indent="0" rtl="1">
              <a:buFont typeface="Wingdings" panose="05000000000000000000" pitchFamily="2" charset="2"/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(أ2) الطرق الجبرية</a:t>
            </a:r>
          </a:p>
          <a:p>
            <a:pPr indent="0" rtl="1">
              <a:buFont typeface="Wingdings" panose="05000000000000000000" pitchFamily="2" charset="2"/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(أ3) الطرق الرسومية</a:t>
            </a:r>
            <a:endParaRPr lang="en-GB" altLang="en-US" dirty="0">
              <a:solidFill>
                <a:srgbClr val="FF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800">
                <a:latin typeface="Sakkal Majalla" panose="02000000000000000000" pitchFamily="2" charset="-78"/>
                <a:cs typeface="Sakkal Majalla" panose="02000000000000000000" pitchFamily="2" charset="-78"/>
              </a:rPr>
              <a:t>فحص كيفية استخدام الطرق الحسابية والجبرية والرسومية لحل المسائل الهندسية</a:t>
            </a:r>
            <a:endParaRPr lang="en-GB" altLang="en-US" sz="2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1747A264-7B0E-86F6-D37F-F75BDDBCB0D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9712" y="278092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لحل المسائل الهندسية.</a:t>
            </a:r>
          </a:p>
          <a:p>
            <a:pPr marL="358775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تتضمن الطرق الحسابية غير الروتينية المواضيع التالية و/أو الخطوات المتعددة لإكمال الحساب: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(1)</a:t>
            </a:r>
            <a:endParaRPr lang="en-GB" altLang="en-US" sz="2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CC1068C-9DF0-3629-220B-0301AFCCE14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845497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79B6-4CEA-2B0C-6EDE-D27C422B9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827385"/>
            <a:ext cx="8229600" cy="863600"/>
          </a:xfrm>
        </p:spPr>
        <p:txBody>
          <a:bodyPr/>
          <a:lstStyle/>
          <a:p>
            <a:br>
              <a:rPr lang="en-GB" sz="4400"/>
            </a:br>
            <a:br>
              <a:rPr lang="en-GB" sz="4400"/>
            </a:br>
            <a:r>
              <a:rPr lang="en-GB" sz="3600" b="1"/>
              <a:t>Arithmetic Methods (2) </a:t>
            </a:r>
            <a:br>
              <a:rPr lang="en-GB"/>
            </a:br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2C556-8288-2F17-1E81-088174A40E3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33732" y="2052635"/>
                <a:ext cx="7991475" cy="3609975"/>
              </a:xfrm>
            </p:spPr>
            <p:txBody>
              <a:bodyPr/>
              <a:lstStyle/>
              <a:p>
                <a:r>
                  <a:rPr lang="en-GB"/>
                  <a:t>It is best to start by reviewing your knowledge and developing a further understanding of basic arithmetic methods and working with a scientific calculator</a:t>
                </a:r>
                <a:r>
                  <a:rPr lang="en-GB" sz="18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. </a:t>
                </a:r>
              </a:p>
              <a:p>
                <a:r>
                  <a:rPr lang="en-GB"/>
                  <a:t>Arithmetic methods such as:</a:t>
                </a:r>
              </a:p>
              <a:p>
                <a:pPr marL="719138" indent="-360363">
                  <a:buFont typeface="Courier New" panose="02070309020205020404" pitchFamily="49" charset="0"/>
                  <a:buChar char="o"/>
                </a:pPr>
                <a:r>
                  <a:rPr lang="en-GB"/>
                  <a:t>the use of positive and negative integers</a:t>
                </a:r>
                <a:r>
                  <a:rPr lang="en-GB" b="1"/>
                  <a:t>. </a:t>
                </a:r>
                <a:r>
                  <a:rPr lang="en-GB"/>
                  <a:t>Whole numbers (integers) that can be expressed as positive (+) or negative (-). </a:t>
                </a:r>
              </a:p>
              <a:p>
                <a:pPr marL="719138" indent="-360363">
                  <a:buFont typeface="Courier New" panose="02070309020205020404" pitchFamily="49" charset="0"/>
                  <a:buChar char="o"/>
                </a:pPr>
                <a:r>
                  <a:rPr lang="pt-BR"/>
                  <a:t>calculating the radius (r), diameter (2r), circumference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/>
                  <a:t>d) of circles with the use of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pt-BR"/>
                  <a:t>.</a:t>
                </a:r>
              </a:p>
              <a:p>
                <a:pPr marL="719138" indent="-360363">
                  <a:buFont typeface="Courier New" panose="02070309020205020404" pitchFamily="49" charset="0"/>
                  <a:buChar char="o"/>
                </a:pPr>
                <a:r>
                  <a:rPr lang="pt-BR"/>
                  <a:t>order of precedence BIDMAS – Brackets, Indices, Multiplication, Addition Subtraction.</a:t>
                </a:r>
                <a:endParaRPr lang="en-GB"/>
              </a:p>
              <a:p>
                <a:endParaRPr lang="en-GB"/>
              </a:p>
              <a:p>
                <a:endParaRPr lang="en-GB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D2C556-8288-2F17-1E81-088174A40E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33732" y="2052635"/>
                <a:ext cx="7991475" cy="3609975"/>
              </a:xfrm>
              <a:blipFill>
                <a:blip r:embed="rId4"/>
                <a:stretch>
                  <a:fillRect l="-1069" t="-1182" b="-261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167D0B6A-FEEE-8A3F-6CE3-A8C38297A7F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A103000360245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5968994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4FF64-30AC-2168-ECA4-DD06A9EF8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marL="685800" rtl="1"/>
            <a:br>
              <a:rPr lang="en-GB" sz="3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(3)</a:t>
            </a:r>
            <a:br>
              <a:rPr lang="en-GB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76843-0D53-B002-316C-F99BB556FB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138" y="2058988"/>
            <a:ext cx="8229600" cy="3865309"/>
          </a:xfrm>
        </p:spPr>
        <p:txBody>
          <a:bodyPr rtlCol="1"/>
          <a:lstStyle/>
          <a:p>
            <a:pPr mar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لحل المسائل الهندسية، تحتاج إلى فهم:</a:t>
            </a:r>
          </a:p>
          <a:p>
            <a:pPr rtl="1">
              <a:spcBef>
                <a:spcPts val="0"/>
              </a:spcBef>
              <a:spcAft>
                <a:spcPts val="0"/>
              </a:spcAft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أسبقية</a:t>
            </a:r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العمليات</a:t>
            </a:r>
            <a:endParaRPr lang="en-GB" dirty="0">
              <a:solidFill>
                <a:srgbClr val="000000"/>
              </a:solidFill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  <a:spcAft>
                <a:spcPts val="0"/>
              </a:spcAf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مبادئ الأسبقية الحسابية من خلال توضيح وشرح قاعدة </a:t>
            </a:r>
            <a:r>
              <a:rPr lang="ar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BIDMAS</a:t>
            </a:r>
          </a:p>
          <a:p>
            <a:pPr marL="719138" rtl="1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BIDMAS </a:t>
            </a:r>
            <a:r>
              <a:rPr lang="ar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B: 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الأقواس، </a:t>
            </a:r>
            <a:r>
              <a:rPr lang="ar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I: 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المؤشرات، </a:t>
            </a:r>
            <a:r>
              <a:rPr lang="ar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M: 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الضرب، </a:t>
            </a:r>
            <a:r>
              <a:rPr lang="ar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A: 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الجمع، </a:t>
            </a:r>
            <a:r>
              <a:rPr lang="ar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S: 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الطرح</a:t>
            </a:r>
          </a:p>
          <a:p>
            <a:pPr rtl="1">
              <a:spcBef>
                <a:spcPts val="0"/>
              </a:spcBef>
              <a:spcAft>
                <a:spcPts val="0"/>
              </a:spcAf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تتبع قاعدة BIDMAS ترتيب اختصار BIDMAS. يجب حل التعبيرات الرياضية ذات العوامل المتعددة من اليسار إلى اليمين بترتيب قاعدة </a:t>
            </a:r>
            <a:r>
              <a:rPr lang="ar"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BIDMAS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 </a:t>
            </a:r>
          </a:p>
          <a:p>
            <a:pPr rtl="1"/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B1465BA-D0F2-EE46-F69B-B290EAAAB0A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0636973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D059-D70B-9350-ABFD-DBFD9D805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br>
              <a:rPr lang="en-GB" sz="4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(4) </a:t>
            </a:r>
            <a:br>
              <a:rPr lang="en-GB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7D768-0D6A-6382-92EF-236B871FEC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2132856"/>
            <a:ext cx="8208438" cy="3822626"/>
          </a:xfrm>
        </p:spPr>
        <p:txBody>
          <a:bodyPr rtlCol="1"/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القوى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: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عدد تم ضربه في نفسه لعدد من المرات</a:t>
            </a:r>
          </a:p>
          <a:p>
            <a:pPr rtl="1"/>
            <a:r>
              <a:rPr lang="ar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مربع:</a:t>
            </a: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عدد مضروب في نفسه: مثال: </a:t>
            </a:r>
            <a:br>
              <a:rPr lang="en-GB" dirty="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</a:b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مربع 2 = 2 × 2 = 4</a:t>
            </a:r>
          </a:p>
          <a:p>
            <a:pPr rtl="1"/>
            <a:r>
              <a:rPr lang="ar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المكعب</a:t>
            </a: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 عدد مضروب في نفسه مرتين</a:t>
            </a:r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 على سبيل المثال:</a:t>
            </a: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مكعب 2 = 2 × 2 × 2 = 8</a:t>
            </a:r>
          </a:p>
          <a:p>
            <a:pPr rtl="1"/>
            <a:r>
              <a:rPr lang="ar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الأساس</a:t>
            </a: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 عدد سيتم رفعه إلى أس</a:t>
            </a:r>
          </a:p>
          <a:p>
            <a:pPr rtl="1"/>
            <a:r>
              <a:rPr lang="ar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الدليل</a:t>
            </a: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: القوة التي سيتم رفع الرقم إليها</a:t>
            </a:r>
          </a:p>
          <a:p>
            <a:pPr rtl="1"/>
            <a:r>
              <a:rPr lang="ar" b="1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الجذور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هي عكس القوى وتُستخدم في العديد من الصيغ الهندسية</a:t>
            </a:r>
          </a:p>
          <a:p>
            <a:pPr marL="0" indent="0" rtl="1">
              <a:buNone/>
            </a:pPr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68580" marR="68580" rtl="1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</a:pPr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38CE3BF-3F2D-A92F-9255-F4517580989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7215982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F743-082B-E978-47C8-D2AE9469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40992"/>
            <a:ext cx="8229600" cy="8636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CF758-9625-F421-E048-5CF98A72A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504" y="2051638"/>
            <a:ext cx="8712968" cy="4113807"/>
          </a:xfrm>
        </p:spPr>
        <p:txBody>
          <a:bodyPr rtlCol="1"/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أن تكون الإجابات في الرياضيات أعدادًا صحيحة أو عشرية كبيرة جدًا أو صغيرة جدًا. من الأفضل دائمًا إعطاء إجابة معقولة، بدلًا من إعطاء إجابة لعشر منازل عشرية.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يمكن التعبير عنها كأعداد كبيرة وصغيرة باستخدام أس 10، ويشار إلى ذلك بالشكل القياسي.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الأرقام المهمة: هي الدقة المطلوبة للإجابة على المسألة. 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الترميز الهندسي مشابه للشكل القياسي ولكن يجب أن يكون أس العشرة قابلاً للقسمة على ثلاثة. 10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−9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10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−6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10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−3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10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3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10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6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10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9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. على سبيل المثال، 1 × 10 </a:t>
            </a:r>
            <a:r>
              <a:rPr lang="ar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3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مم يساوي 1000 مم.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E85CB08-EC2B-14EC-A1C5-6D979CE7419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02799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C0F0-08F6-0337-E1E6-56888C867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76817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(6)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96617E-B645-343F-4F88-FF26C2BB77E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66690" y="1700808"/>
                <a:ext cx="7920110" cy="4024100"/>
              </a:xfrm>
            </p:spPr>
            <p:txBody>
              <a:bodyPr rtlCol="1"/>
              <a:lstStyle/>
              <a:p>
                <a:pPr marL="0" indent="0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" sz="2200" b="1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النسب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تُعلمك نسبة كميتين بكم واحدة منهما أكبر من الأخرى.</a:t>
                </a:r>
                <a:endParaRPr lang="en-GB" sz="2200" b="1" dirty="0"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عندما يتم شد أحد المكونات مثل سلك فولاذي يحمل حمولة، فإننا نسمي هذا </a:t>
                </a:r>
                <a:r>
                  <a:rPr lang="ar" sz="2200" b="1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الإجهاد</a:t>
                </a: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. 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الإجهاد هو نسبة التغيير في الطول إلى الطول الأصلي.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مثال: يبلغ طول السلك الفولاذي في الأصل 1500 ملليمتر. عندما يتم تطبيق حمولة فإنه يمتد بمقدار 10 مليمترات.</a:t>
                </a:r>
              </a:p>
              <a:p>
                <a:pPr marL="358775" indent="0" rtl="1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الإجهاد = التغيير في الطول/الطول الأصلي </a:t>
                </a:r>
              </a:p>
              <a:p>
                <a:pPr marL="271463" indent="0" rtl="1">
                  <a:lnSpc>
                    <a:spcPts val="145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180340" algn="l"/>
                  </a:tabLs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en-GB" sz="2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الإجهاد</m:t>
                    </m:r>
                    <m:r>
                      <a:rPr lang="en-GB" sz="2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</m:t>
                    </m:r>
                    <m:r>
                      <a:rPr lang="en-GB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GB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2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GB" sz="22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  <m:r>
                          <a:rPr lang="en-GB" sz="22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500</m:t>
                        </m:r>
                      </m:den>
                    </m:f>
                  </m:oMath>
                </a14:m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</a:t>
                </a:r>
              </a:p>
              <a:p>
                <a:pPr marL="358775" indent="0" rtl="1">
                  <a:spcBef>
                    <a:spcPts val="600"/>
                  </a:spcBef>
                  <a:spcAft>
                    <a:spcPts val="600"/>
                  </a:spcAft>
                  <a:buNone/>
                  <a:tabLst>
                    <a:tab pos="180340" algn="l"/>
                  </a:tabLs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الإجهاد = 0.006</a:t>
                </a:r>
              </a:p>
              <a:p>
                <a:pPr marL="358775" rtl="1">
                  <a:spcBef>
                    <a:spcPts val="600"/>
                  </a:spcBef>
                  <a:spcAft>
                    <a:spcPts val="600"/>
                  </a:spcAft>
                  <a:tabLst>
                    <a:tab pos="180340" algn="l"/>
                  </a:tabLst>
                </a:pPr>
                <a:r>
                  <a:rPr lang="ar" sz="22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الإجهاد هو نسبة دون أبعاد.</a:t>
                </a: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96617E-B645-343F-4F88-FF26C2BB77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66690" y="1700808"/>
                <a:ext cx="7920110" cy="4024100"/>
              </a:xfrm>
              <a:blipFill>
                <a:blip r:embed="rId4"/>
                <a:stretch>
                  <a:fillRect t="-1061" r="-1001"/>
                </a:stretch>
              </a:blipFill>
            </p:spPr>
            <p:txBody>
              <a:bodyPr/>
              <a:lstStyle/>
              <a:p>
                <a:r>
                  <a:rPr lang="ar-E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825C90F-9932-4FE2-3C3A-4B1AEA5B674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741490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8BC03-2F7A-018F-28DE-DA097DE49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(7)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A5C76-99D0-2279-58C6-45FB8EC2175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44378" y="1988840"/>
                <a:ext cx="7560070" cy="4024100"/>
              </a:xfrm>
            </p:spPr>
            <p:txBody>
              <a:bodyPr rtlCol="1"/>
              <a:lstStyle/>
              <a:p>
                <a:pPr marL="0" indent="0" rtl="1">
                  <a:spcBef>
                    <a:spcPts val="1800"/>
                  </a:spcBef>
                  <a:spcAft>
                    <a:spcPts val="600"/>
                  </a:spcAft>
                  <a:buNone/>
                </a:pPr>
                <a:r>
                  <a:rPr lang="ar" b="1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النسب المئوية</a:t>
                </a:r>
                <a:endParaRPr lang="en-GB" sz="1800" b="1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النسبة المئوية هي كسر تم تحويله إلى أجزاء من المئات.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على سبيل المثال، يعطي الكسر نسبة مئوية عند ضربه في 100</a:t>
                </a:r>
                <a:r>
                  <a:rPr lang="ar" sz="18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.</a:t>
                </a:r>
              </a:p>
              <a:p>
                <a:pPr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tabLst>
                    <a:tab pos="180340" algn="l"/>
                  </a:tabLst>
                </a:pPr>
                <a:endParaRPr lang="en-GB" sz="18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358775" indent="0"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:r>
                  <a:rPr lang="ar" sz="18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</m:t>
                    </m:r>
                    <m:f>
                      <m:fPr>
                        <m:ctrlP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×</m:t>
                    </m:r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100</m:t>
                    </m:r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33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.</m:t>
                    </m:r>
                    <m:r>
                      <a:rPr lang="en-GB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3</m:t>
                    </m:r>
                    <m:r>
                      <a:rPr lang="en-GB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%</m:t>
                    </m:r>
                  </m:oMath>
                </a14:m>
                <a:endParaRPr lang="en-GB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0" indent="0"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:r>
                  <a:rPr lang="ar" sz="18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  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مثال: مجموعة من </a:t>
                </a:r>
                <a:r>
                  <a:rPr lang="ar"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200</a:t>
                </a: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مقاومات تحتوي على أربعين مقاومة 100 Ω. ما النسبة المئوية </a:t>
                </a:r>
                <a:r>
                  <a:rPr lang="ar"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للمقاومات التي قيمتها</a:t>
                </a: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100 Ω؟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:endParaRPr lang="en-GB" sz="18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358775" indent="0" rtl="1"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180340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0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4</m:t>
                        </m:r>
                        <m:r>
                          <a:rPr lang="en-GB" sz="20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0</m:t>
                        </m:r>
                      </m:num>
                      <m:den>
                        <m:r>
                          <a:rPr lang="en-GB" sz="2000" b="0" i="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200</m:t>
                        </m:r>
                      </m:den>
                    </m:f>
                    <m:r>
                      <a:rPr lang="en-GB" sz="20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× </m:t>
                    </m:r>
                    <m:r>
                      <a:rPr lang="en-GB" sz="20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100</m:t>
                    </m:r>
                    <m:r>
                      <a:rPr lang="en-GB" sz="20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</m:oMath>
                </a14:m>
                <a:r>
                  <a:rPr lang="ar" sz="200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20 = 20%</a:t>
                </a: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CA5C76-99D0-2279-58C6-45FB8EC217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44378" y="1988840"/>
                <a:ext cx="7560070" cy="4024100"/>
              </a:xfrm>
              <a:blipFill>
                <a:blip r:embed="rId4"/>
                <a:stretch>
                  <a:fillRect t="-1212" r="-1290"/>
                </a:stretch>
              </a:blipFill>
            </p:spPr>
            <p:txBody>
              <a:bodyPr/>
              <a:lstStyle/>
              <a:p>
                <a:r>
                  <a:rPr lang="ar-E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6C5E7A8-3D57-1D5D-9F36-FC2DADCF4FB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5761668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9542B-7668-6416-846B-52431A042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الحسابية (8)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68228-3A3D-CD04-6774-FF6A15A49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2059200"/>
            <a:ext cx="8227775" cy="4024100"/>
          </a:xfrm>
        </p:spPr>
        <p:txBody>
          <a:bodyPr rtlCol="1"/>
          <a:lstStyle/>
          <a:p>
            <a:pPr marL="0" indent="0" rtl="1">
              <a:spcBef>
                <a:spcPts val="0"/>
              </a:spcBef>
              <a:spcAft>
                <a:spcPts val="0"/>
              </a:spcAft>
              <a:buNone/>
            </a:pPr>
            <a:r>
              <a:rPr lang="ar" sz="3200" b="1">
                <a:latin typeface="Sakkal Majalla" panose="02000000000000000000" pitchFamily="2" charset="-78"/>
                <a:cs typeface="Sakkal Majalla" panose="02000000000000000000" pitchFamily="2" charset="-78"/>
              </a:rPr>
              <a:t>ممارسة التقييم</a:t>
            </a:r>
          </a:p>
          <a:p>
            <a:pPr marL="0" indent="0" rtl="1">
              <a:spcBef>
                <a:spcPts val="0"/>
              </a:spcBef>
              <a:spcAft>
                <a:spcPts val="0"/>
              </a:spcAft>
              <a:buNone/>
            </a:pPr>
            <a:endParaRPr lang="en-GB" sz="3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تقوم الشركة بتركيب مكونين في محطتي تجميع، (أ) و (ب). </a:t>
            </a: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النسبة هي 6:3. حجم المجموعة هو 144.</a:t>
            </a: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احسب عدد المكونات التي يجب أن تستقبلها كل محطة تجميع</a:t>
            </a:r>
            <a:r>
              <a:rPr lang="ar"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</a:t>
            </a:r>
            <a:endParaRPr lang="en-GB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ما النسبة المئوية للمجموعة التي يتم تسليمها لكل محطة تجميع؟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EB5757A-EACE-B8DD-E343-3B572477910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0691284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05049-ED2E-5F02-5D63-4F46A3B4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17898-414A-24B9-758C-5091708FA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263" y="2058988"/>
            <a:ext cx="7991475" cy="3609975"/>
          </a:xfrm>
        </p:spPr>
        <p:txBody>
          <a:bodyPr rtlCol="1"/>
          <a:lstStyle/>
          <a:p>
            <a:pPr rtl="1"/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إعادة ترتيب الصيغ (المعروفة أيضًا باسم المعادلات) لتغيير الموضوع. </a:t>
            </a:r>
          </a:p>
          <a:p>
            <a:pPr rtl="1"/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سوف تنظر إلى قانون أوم كمثال. سيوضح لك هذا كيفية إعادة ترتيب المعادلة لجعل </a:t>
            </a:r>
            <a:r>
              <a:rPr lang="ar" i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V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و </a:t>
            </a:r>
            <a:r>
              <a:rPr lang="ar" i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I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و </a:t>
            </a:r>
            <a:r>
              <a:rPr lang="ar" i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R</a:t>
            </a: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الموضوع بدورها. وهذا ما يسمى بالنقل. يمكننا بعد ذلك التعويض بالقيم في المعادلات لإيجاد حلول </a:t>
            </a:r>
            <a:r>
              <a:rPr lang="ar"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للمسائل الهندسية.</a:t>
            </a:r>
            <a:endParaRPr lang="en-GB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النقل هو معالجة المعادلة لجعل الكمية التي تطلبها موضوع المعادلة.</a:t>
            </a:r>
          </a:p>
          <a:p>
            <a:pPr rtl="1"/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تتناول الصيغ الهندسية المسائل الميكانيكية والكهربائية والإلكترونية.</a:t>
            </a:r>
          </a:p>
          <a:p>
            <a:pPr rtl="1"/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BE72884-8218-0BAC-5B7A-DD9D31C9782F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159297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E9D1-9331-73FE-FAD0-8C388EEA5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br>
              <a:rPr lang="en-GB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</a:br>
            <a:r>
              <a:rPr lang="ar" sz="3600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الطرق الجبرية (2)</a:t>
            </a:r>
            <a:br>
              <a:rPr lang="en-GB" sz="1800" dirty="0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</a:b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FDC76-14DF-EE03-FFF0-0FEE3B2AFA8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76263" y="2204864"/>
                <a:ext cx="7991475" cy="3960440"/>
              </a:xfrm>
            </p:spPr>
            <p:txBody>
              <a:bodyPr rtlCol="1"/>
              <a:lstStyle/>
              <a:p>
                <a:pPr marL="0" indent="0" rtl="1">
                  <a:spcBef>
                    <a:spcPts val="0"/>
                  </a:spcBef>
                  <a:spcAft>
                    <a:spcPts val="0"/>
                  </a:spcAft>
                  <a:buNone/>
                  <a:tabLst>
                    <a:tab pos="180340" algn="l"/>
                  </a:tabLst>
                </a:pP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نقل: 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14:m>
                  <m:oMath xmlns:m="http://schemas.openxmlformats.org/officeDocument/2006/math">
                    <m:r>
                      <a:rPr lang="en-GB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𝑉</m:t>
                    </m:r>
                    <m:r>
                      <a:rPr lang="en-GB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lang="en-GB" i="1" dirty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𝐼𝑅</m:t>
                    </m:r>
                  </m:oMath>
                </a14:m>
                <a:endParaRPr lang="en-GB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:r>
                  <a:rPr lang="ar" i="1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V</a:t>
                </a: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= الجهد، </a:t>
                </a:r>
                <a:r>
                  <a:rPr lang="ar" i="1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I</a:t>
                </a: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= أمبير، </a:t>
                </a:r>
                <a:r>
                  <a:rPr lang="ar" i="1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R</a:t>
                </a:r>
                <a:r>
                  <a:rPr lang="ar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= مقاومة</a:t>
                </a:r>
              </a:p>
              <a:p>
                <a:pPr rtl="1">
                  <a:spcBef>
                    <a:spcPts val="0"/>
                  </a:spcBef>
                  <a:spcAft>
                    <a:spcPts val="0"/>
                  </a:spcAft>
                  <a:tabLst>
                    <a:tab pos="180340" algn="l"/>
                  </a:tabLst>
                </a:pPr>
                <a:endParaRPr lang="en-GB" b="1" cap="all" dirty="0">
                  <a:solidFill>
                    <a:srgbClr val="FFFFFF"/>
                  </a:solidFill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0" marR="68580" indent="0" rtl="1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ar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لجعل </a:t>
                </a:r>
                <a:r>
                  <a:rPr lang="ar" i="1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I</a:t>
                </a:r>
                <a:r>
                  <a:rPr lang="ar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الموضوع:</a:t>
                </a:r>
              </a:p>
              <a:p>
                <a:pPr marL="68580" marR="68580" rt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ar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قسّم كلا الجانبين على </a:t>
                </a:r>
                <a:r>
                  <a:rPr lang="ar" i="1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R</a:t>
                </a:r>
                <a:r>
                  <a:rPr lang="ar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، بحيث يمكن إلغاؤها</a:t>
                </a:r>
                <a:endParaRPr lang="en-GB" dirty="0"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68580" marR="68580" rtl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num>
                      <m:den>
                        <m:r>
                          <a:rPr lang="en-GB" b="0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den>
                    </m:f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GB" i="1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𝐼</m:t>
                        </m:r>
                        <m:r>
                          <a:rPr lang="en-GB" i="1" strike="sng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num>
                      <m:den>
                        <m:r>
                          <a:rPr lang="en-GB" i="1" strike="sngStrike" dirty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GB" strike="sngStrike" dirty="0">
                  <a:solidFill>
                    <a:srgbClr val="000000"/>
                  </a:solidFill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68580" marR="68580" rtl="1">
                  <a:spcBef>
                    <a:spcPts val="0"/>
                  </a:spcBef>
                  <a:spcAft>
                    <a:spcPts val="0"/>
                  </a:spcAft>
                </a:pPr>
                <a:r>
                  <a:rPr lang="ar">
                    <a:solidFill>
                      <a:srgbClr val="000000"/>
                    </a:solidFill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هذا يؤدي إلى جعل I موضوع الصيغة</a:t>
                </a:r>
                <a:endParaRPr lang="en-GB" dirty="0">
                  <a:solidFill>
                    <a:srgbClr val="000000"/>
                  </a:solidFill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68580" marR="68580" rtl="1"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num>
                      <m:den>
                        <m: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den>
                    </m:f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</m:t>
                    </m:r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 </m:t>
                    </m:r>
                  </m:oMath>
                </a14:m>
                <a:r>
                  <a:rPr lang="ar">
                    <a:solidFill>
                      <a:srgbClr val="000000"/>
                    </a:solidFill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أو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𝐼</m:t>
                    </m:r>
                    <m:r>
                      <a:rPr lang="en-GB" i="1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</m:t>
                    </m:r>
                    <m:f>
                      <m:fPr>
                        <m:ctrlP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𝑉</m:t>
                        </m:r>
                      </m:num>
                      <m:den>
                        <m:r>
                          <a:rPr lang="en-GB" i="1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𝑅</m:t>
                        </m:r>
                      </m:den>
                    </m:f>
                  </m:oMath>
                </a14:m>
                <a:endParaRPr lang="en-GB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68580" marR="68580" rtl="1">
                  <a:lnSpc>
                    <a:spcPts val="1200"/>
                  </a:lnSpc>
                  <a:spcBef>
                    <a:spcPts val="300"/>
                  </a:spcBef>
                  <a:spcAft>
                    <a:spcPts val="300"/>
                  </a:spcAft>
                </a:pPr>
                <a:endParaRPr lang="en-GB" sz="18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FDC76-14DF-EE03-FFF0-0FEE3B2AFA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76263" y="2204864"/>
                <a:ext cx="7991475" cy="3960440"/>
              </a:xfrm>
              <a:blipFill>
                <a:blip r:embed="rId4"/>
                <a:stretch>
                  <a:fillRect t="-1233" r="-1221"/>
                </a:stretch>
              </a:blipFill>
            </p:spPr>
            <p:txBody>
              <a:bodyPr/>
              <a:lstStyle/>
              <a:p>
                <a:r>
                  <a:rPr lang="ar-E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0250308-459F-1A9C-BC94-07D55D75594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13349788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6416-BBAC-D1C9-1026-C351FEC8A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الطرق الجبرية (3)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640F1-6BDC-365B-2EBE-734C6B629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856" y="2132856"/>
            <a:ext cx="7991475" cy="3609975"/>
          </a:xfrm>
        </p:spPr>
        <p:txBody>
          <a:bodyPr rtlCol="1"/>
          <a:lstStyle/>
          <a:p>
            <a:pPr marL="0" marR="68580" indent="0" rtl="1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النقل هو الحفاظ على توازن كل شيء</a:t>
            </a:r>
            <a:r>
              <a:rPr lang="ar" sz="1800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.</a:t>
            </a:r>
          </a:p>
          <a:p>
            <a:pPr marL="0" marR="68580" indent="0" rtl="1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ar" sz="1800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R="68580" rtl="1">
              <a:spcBef>
                <a:spcPts val="0"/>
              </a:spcBef>
              <a:spcAft>
                <a:spcPts val="0"/>
              </a:spcAft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ما تفعله في أحد طرفي المعادلة</a:t>
            </a:r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- </a:t>
            </a: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تفعله بالجانب الآخر من المعادلة. حافظ على توازن كلا الجانبين.</a:t>
            </a:r>
          </a:p>
          <a:p>
            <a:pPr marR="68580" rtl="1">
              <a:spcBef>
                <a:spcPts val="0"/>
              </a:spcBef>
              <a:spcAft>
                <a:spcPts val="0"/>
              </a:spcAft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ضع في اعتبارك علامة يساوي (=) كنقطة توازن.</a:t>
            </a:r>
          </a:p>
          <a:p>
            <a:pPr marR="68580" rtl="1">
              <a:spcBef>
                <a:spcPts val="0"/>
              </a:spcBef>
              <a:spcAft>
                <a:spcPts val="0"/>
              </a:spcAft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افصل الموضوع.</a:t>
            </a:r>
          </a:p>
          <a:p>
            <a:pPr marR="68580" rtl="1">
              <a:spcBef>
                <a:spcPts val="0"/>
              </a:spcBef>
              <a:spcAft>
                <a:spcPts val="0"/>
              </a:spcAft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اكتب المعادلة الكاملة واشطب المتغيرات</a:t>
            </a:r>
          </a:p>
          <a:p>
            <a:pPr marR="68580" rtl="1">
              <a:spcBef>
                <a:spcPts val="0"/>
              </a:spcBef>
              <a:spcAft>
                <a:spcPts val="0"/>
              </a:spcAft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اشطب المتغيرات واحدًا تلو الآخر.</a:t>
            </a:r>
          </a:p>
          <a:p>
            <a:pPr marR="68580" rtl="1">
              <a:spcBef>
                <a:spcPts val="0"/>
              </a:spcBef>
              <a:spcAft>
                <a:spcPts val="0"/>
              </a:spcAft>
            </a:pPr>
            <a:endParaRPr lang="en-GB" dirty="0">
              <a:solidFill>
                <a:srgbClr val="000000"/>
              </a:solidFill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marL="0" marR="6858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"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كما هو موضح في الأمثلة العملية في كتاب الطالب.</a:t>
            </a:r>
          </a:p>
          <a:p>
            <a:pPr marL="68580" marR="68580" rtl="1">
              <a:lnSpc>
                <a:spcPts val="1200"/>
              </a:lnSpc>
              <a:spcBef>
                <a:spcPts val="300"/>
              </a:spcBef>
              <a:spcAft>
                <a:spcPts val="300"/>
              </a:spcAft>
            </a:pPr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578BA91-4F08-1FBF-C7D1-B97AF83754D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835929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E687-5384-DD7D-6707-C354D316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 (4)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E0F24-54E5-C42B-2215-57C222FB3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63888" y="2132856"/>
            <a:ext cx="5256584" cy="4024100"/>
          </a:xfrm>
        </p:spPr>
        <p:txBody>
          <a:bodyPr wrap="square" rtlCol="1" anchor="t">
            <a:normAutofit/>
          </a:bodyPr>
          <a:lstStyle/>
          <a:p>
            <a:pPr rtl="1">
              <a:lnSpc>
                <a:spcPct val="90000"/>
              </a:lnSpc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من المفيد تعلم كيفية إدخال الجذور والقوى والأسس والترميز الهندسي في الآلة الحاسبة العلمية الخاصة بك.</a:t>
            </a:r>
          </a:p>
          <a:p>
            <a:pPr rtl="1">
              <a:lnSpc>
                <a:spcPct val="90000"/>
              </a:lnSpc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جميع الآلات الحاسبة العلمية مختلفة قليلاً، لذا استخدم كتيب التعليمات الخاص بك أو اسأل. </a:t>
            </a:r>
          </a:p>
          <a:p>
            <a:pPr rtl="1">
              <a:lnSpc>
                <a:spcPct val="90000"/>
              </a:lnSpc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تدرب على حل المسائل البسيطة على الآلة الحاسبة العلمية الخاصة بك، حتى تتعرف على ميزاتها.</a:t>
            </a:r>
          </a:p>
          <a:p>
            <a:pPr rtl="1">
              <a:lnSpc>
                <a:spcPct val="90000"/>
              </a:lnSpc>
            </a:pPr>
            <a:endParaRPr lang="en-GB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451FA0E-CFE8-451A-174F-A0CE77248A47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A8EF82-545F-85E5-3615-437D7AF35E3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5974" y="2021870"/>
            <a:ext cx="2743200" cy="411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814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0040-3730-C699-D48C-77AA85826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92564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 (5)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B9578-63C0-66B9-6578-67088E7DA1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4" y="1963547"/>
            <a:ext cx="8218486" cy="4024100"/>
          </a:xfrm>
        </p:spPr>
        <p:txBody>
          <a:bodyPr rtlCol="1"/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طرق جبرية روتينية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استبدال القيم في الصيغ الهندسية، الكهربائية والميكانيكية. </a:t>
            </a:r>
          </a:p>
          <a:p>
            <a:pPr rtl="1"/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الكهربائية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V = IR، R</a:t>
            </a:r>
            <a:r>
              <a:rPr lang="en-US" i="1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T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R</a:t>
            </a:r>
            <a:r>
              <a:rPr lang="en-US" i="1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+ R</a:t>
            </a:r>
            <a:r>
              <a:rPr lang="en-US" i="1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+ R</a:t>
            </a:r>
            <a:r>
              <a:rPr lang="en-US" i="1" baseline="-25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3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…، P = VI </a:t>
            </a:r>
            <a:r>
              <a:rPr lang="en-US" i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أو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P = I </a:t>
            </a:r>
            <a:r>
              <a:rPr lang="en-US" i="1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R، 𝜏 = 𝑅C، 𝑄 = 𝐶V، T = 1/f </a:t>
            </a:r>
          </a:p>
          <a:p>
            <a:pPr rtl="1"/>
            <a:r>
              <a:rPr lang="en-US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الميكانيكية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 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v = u + at، s = ½(u + v)t، 𝐹 = 𝑚a، W = Fs، P = </a:t>
            </a:r>
            <a:r>
              <a:rPr lang="en-US" i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Fv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PE = </a:t>
            </a:r>
            <a:r>
              <a:rPr lang="en-US" i="1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mgh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، σ= F/A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أشكال مختلفة من المعادلات الهندسية مثل </a:t>
            </a:r>
            <a:br>
              <a:rPr lang="en-GB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x + 3 = 8، 6m + 11 = 25 - m، 3x = 7 (8 – 2x)، 2(x+1) = 8</a:t>
            </a:r>
            <a:r>
              <a:rPr lang="ar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وما إلى ذلك</a:t>
            </a:r>
          </a:p>
          <a:p>
            <a:pPr marL="0" indent="0" rtl="1">
              <a:lnSpc>
                <a:spcPts val="1200"/>
              </a:lnSpc>
              <a:spcBef>
                <a:spcPts val="0"/>
              </a:spcBef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راجع الأمثلة العملية في كتاب الطالب.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345099E-4800-0127-692F-94DE8B746DBD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522177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0675-B289-2B2F-44D3-50C72493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60259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 (6)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74D90-1D53-40E3-6AE0-545E382FC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4642" y="2060848"/>
            <a:ext cx="8352158" cy="4024100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تستخدم الحسابات غير الروتينية خطوات متعددة لإكمال الحساب.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الحسابات المتسلسلة هي عمليات حسابية تتضمن إجراء سلسلة من العمليات على الآلة الحاسبة العلمية لإيجاد إجابة.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يجب إدخال كل جزء من الحساب المتسلسل في الآلة الحاسبة الخاصة بك في عملية واحدة كاملة إن أمكن.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algn="ctr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راجع الأمثلة العملية في كتاب الطالب.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E55C766-4E9F-7FC8-F4E4-457BC4BEE24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788379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04E0003-72D7-5464-53F2-83AAF28E67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0551" y="2447854"/>
            <a:ext cx="4333522" cy="30622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1E1CEA-5D92-A050-62F1-E599A4DC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 (7)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AEA1A-BCE5-42DA-F99B-81B6514BE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95800" y="2196001"/>
            <a:ext cx="4465823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ممارسة التقييم</a:t>
            </a:r>
          </a:p>
          <a:p>
            <a:pPr rtl="1">
              <a:spcBef>
                <a:spcPts val="0"/>
              </a:spcBef>
              <a:spcAft>
                <a:spcPts val="0"/>
              </a:spcAft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النقل لإيجاد التسارع</a:t>
            </a:r>
            <a:r>
              <a:rPr lang="ar" i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(أ)</a:t>
            </a: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من معادلة الحركة.</a:t>
            </a: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 i="1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V = u + at</a:t>
            </a: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اجعل التسارع موضوع المعادلة.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F72FC-6090-60B7-613C-4AEA16063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6001"/>
            <a:ext cx="4027488" cy="4024100"/>
          </a:xfrm>
        </p:spPr>
        <p:txBody>
          <a:bodyPr rtlCol="1"/>
          <a:lstStyle/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697B1-FCAF-E8FA-B6AC-8B117B7E1AC4}"/>
              </a:ext>
            </a:extLst>
          </p:cNvPr>
          <p:cNvSpPr/>
          <p:nvPr/>
        </p:nvSpPr>
        <p:spPr>
          <a:xfrm rot="21370505">
            <a:off x="1147827" y="4101270"/>
            <a:ext cx="978255" cy="22476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20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= 20 م/ث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C253D3-274A-3EBE-3EF9-8B29F50C04AC}"/>
              </a:ext>
            </a:extLst>
          </p:cNvPr>
          <p:cNvSpPr/>
          <p:nvPr/>
        </p:nvSpPr>
        <p:spPr>
          <a:xfrm rot="20761652">
            <a:off x="3281402" y="4066475"/>
            <a:ext cx="1021676" cy="171131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= -20 م/ث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66DB197C-14D9-ABD9-F830-A0867132487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2022024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A4FA0-2FEF-0496-DF48-0EDA1E34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الرسومية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B5D31-AC6F-2057-C360-C11F59256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3568" y="2196001"/>
            <a:ext cx="7992118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العلاقات الخطية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عندما يرتبط عنصران، من المفيد رسم رسم بياني يوضح كيفية تأثير الأشياء على بعضها أثناء تغييرها.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رؤية العلاقة بين كميتين متغيرتين من خلال رسم المتغيرات على الرسم البياني. غالبًا ما تأتي هذه البيانات من نتائج التجربة. 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EE8EFF8-A95B-44F3-4299-E0CB6291689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68762262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6563B7A-635E-260C-3D18-CCE243E323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56" y="2348880"/>
            <a:ext cx="4027488" cy="2849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09C4DC-0D6A-BF55-E9C7-DED82B3C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الرسومية (2)</a:t>
            </a:r>
          </a:p>
        </p:txBody>
      </p:sp>
      <p:sp>
        <p:nvSpPr>
          <p:cNvPr id="2055" name="Content Placeholder 2">
            <a:extLst>
              <a:ext uri="{FF2B5EF4-FFF2-40B4-BE49-F238E27FC236}">
                <a16:creationId xmlns:a16="http://schemas.microsoft.com/office/drawing/2014/main" id="{DE244489-D125-E70F-7663-509417022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27488" y="1916832"/>
            <a:ext cx="4834880" cy="4024100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الرسوم البيانية الموجبة والسالبة.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استخراج وتفسير المعلومات من الرسوم البيانية ذات الخط المستقيم.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التدرج والمحصورة ومعادلة الخط المستقيم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في الرسم التخطيطي، يُطلق على المحور y اسم السرعة (م/ث)، ويظهر زمن (أزمنة) المحور x وطول ضلع المثلثات التغير في السرعة.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B414F-5E7D-6543-BEB0-591CEE70D31A}"/>
              </a:ext>
            </a:extLst>
          </p:cNvPr>
          <p:cNvSpPr txBox="1"/>
          <p:nvPr/>
        </p:nvSpPr>
        <p:spPr>
          <a:xfrm>
            <a:off x="1907704" y="5236585"/>
            <a:ext cx="201622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الموجبة (+ve) + 8 م/ث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08792E-8217-1D82-97D9-6EFE3556143B}"/>
              </a:ext>
            </a:extLst>
          </p:cNvPr>
          <p:cNvSpPr txBox="1"/>
          <p:nvPr/>
        </p:nvSpPr>
        <p:spPr>
          <a:xfrm>
            <a:off x="107504" y="5236585"/>
            <a:ext cx="1656184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السالبة (-ve) - 20 م/ث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D2C4C9-541C-1322-265F-05061350DF8C}"/>
              </a:ext>
            </a:extLst>
          </p:cNvPr>
          <p:cNvSpPr/>
          <p:nvPr/>
        </p:nvSpPr>
        <p:spPr>
          <a:xfrm rot="16200000">
            <a:off x="1067458" y="3192253"/>
            <a:ext cx="992490" cy="327471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التغيير في السرعة -12-4 = 8 م/ث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74DAF-6251-8188-C185-5ADF4052C062}"/>
              </a:ext>
            </a:extLst>
          </p:cNvPr>
          <p:cNvSpPr/>
          <p:nvPr/>
        </p:nvSpPr>
        <p:spPr>
          <a:xfrm>
            <a:off x="192508" y="4649853"/>
            <a:ext cx="1474695" cy="138052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sz="1400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</a:t>
            </a:r>
            <a:r>
              <a:rPr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8/4 = 2 م/ث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CDC8F-CA00-CEFB-965D-D74D9E92C602}"/>
              </a:ext>
            </a:extLst>
          </p:cNvPr>
          <p:cNvSpPr/>
          <p:nvPr/>
        </p:nvSpPr>
        <p:spPr>
          <a:xfrm rot="16200000">
            <a:off x="-173954" y="3580535"/>
            <a:ext cx="745626" cy="15365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(م/ث)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2BEC37-2462-E92B-6691-A6A9D44F5758}"/>
              </a:ext>
            </a:extLst>
          </p:cNvPr>
          <p:cNvSpPr/>
          <p:nvPr/>
        </p:nvSpPr>
        <p:spPr>
          <a:xfrm rot="16200000">
            <a:off x="1642847" y="3580534"/>
            <a:ext cx="745626" cy="15365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(م/ث)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B74878-BDDD-418D-6D9E-BF046016CF04}"/>
              </a:ext>
            </a:extLst>
          </p:cNvPr>
          <p:cNvSpPr/>
          <p:nvPr/>
        </p:nvSpPr>
        <p:spPr>
          <a:xfrm rot="16200000">
            <a:off x="3235571" y="3989872"/>
            <a:ext cx="992490" cy="327471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التغيير في السرعة</a:t>
            </a:r>
            <a:br>
              <a:rPr lang="ar-EG" sz="8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=- 20م/ث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953D9B-00AE-991D-C315-41B584658920}"/>
              </a:ext>
            </a:extLst>
          </p:cNvPr>
          <p:cNvSpPr/>
          <p:nvPr/>
        </p:nvSpPr>
        <p:spPr>
          <a:xfrm>
            <a:off x="1390976" y="4223883"/>
            <a:ext cx="465049" cy="153503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الوقت (ثانية)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BBDAC6-7998-5FBC-63FB-776CE954C4B3}"/>
              </a:ext>
            </a:extLst>
          </p:cNvPr>
          <p:cNvSpPr/>
          <p:nvPr/>
        </p:nvSpPr>
        <p:spPr>
          <a:xfrm>
            <a:off x="3545303" y="3508622"/>
            <a:ext cx="465049" cy="153503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800">
                <a:latin typeface="Sakkal Majalla" panose="02000000000000000000" pitchFamily="2" charset="-78"/>
                <a:cs typeface="Sakkal Majalla" panose="02000000000000000000" pitchFamily="2" charset="-78"/>
              </a:rPr>
              <a:t>الوقت (ثانية)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FA5CB6-456E-773C-9DF3-13AC6713CAEE}"/>
              </a:ext>
            </a:extLst>
          </p:cNvPr>
          <p:cNvSpPr/>
          <p:nvPr/>
        </p:nvSpPr>
        <p:spPr>
          <a:xfrm>
            <a:off x="2149055" y="4649852"/>
            <a:ext cx="1486841" cy="133355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sz="1400" dirty="0" err="1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</a:t>
            </a:r>
            <a:r>
              <a:rPr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= 20/5 = 4 م/ث 2</a:t>
            </a:r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3BE0B42C-43EA-9D0B-3B07-70C03341E59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90453435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CA1B7-67D2-A61B-2DCC-D25E3879D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الرسومية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ABE21-6CC3-DF1F-87DA-A33B3C4AA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83968" y="2059200"/>
            <a:ext cx="4424144" cy="4024100"/>
          </a:xfrm>
        </p:spPr>
        <p:txBody>
          <a:bodyPr rtlCol="1"/>
          <a:lstStyle/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رسم علاقة غير خطية.</a:t>
            </a:r>
          </a:p>
          <a:p>
            <a:pPr rtl="1"/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ليست كل الخطوط مستقيمة عند رسمها. بعض الخطوط منحنية وتمثل علاقة غير خطية، وهناك أشكال مختلفة من الرسوم البيانية غير الخطية: التناسب العكسي، أو قانون التربيع. </a:t>
            </a:r>
          </a:p>
          <a:p>
            <a:pPr rtl="1"/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P=I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i="1" baseline="30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2</a:t>
            </a:r>
            <a:r>
              <a:rPr lang="en-US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en-US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R</a:t>
            </a:r>
            <a:r>
              <a:rPr lang="ar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r>
              <a:rPr lang="ar" dirty="0">
                <a:latin typeface="Sakkal Majalla" panose="02000000000000000000" pitchFamily="2" charset="-78"/>
                <a:cs typeface="Sakkal Majalla" panose="02000000000000000000" pitchFamily="2" charset="-78"/>
              </a:rPr>
              <a:t>غير خطية.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8A94B6D-3FBF-C89C-6E42-9F8EB37EA290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D3545D-7084-CADB-2C6B-F60E6B0CEE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48DD45-7497-E67C-8687-0A2ECFFB9B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1414" y="2811759"/>
            <a:ext cx="3632554" cy="246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912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9E04-E404-F229-1A0D-E8E345327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36897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الرسومية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A669-111F-5BA9-FFD7-6179A4403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6083" y="2166697"/>
            <a:ext cx="8229599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ممارسة التقييم</a:t>
            </a:r>
          </a:p>
          <a:p>
            <a:pPr rtl="1"/>
            <a:r>
              <a:rPr lang="ar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يتم تمثيل العلاقة بين القدرة والتيار والمقاومة بالصيغة التالية: </a:t>
            </a:r>
            <a:r>
              <a:rPr lang="ar" sz="2400" b="0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P</a:t>
            </a:r>
            <a:r>
              <a:rPr lang="ar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= </a:t>
            </a:r>
            <a:r>
              <a:rPr lang="ar" sz="2400" b="0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I</a:t>
            </a:r>
            <a:r>
              <a:rPr lang="ar" sz="2400" b="0" i="0" u="none" strike="noStrike" cap="none" normalizeH="0" baseline="3000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2</a:t>
            </a:r>
            <a:r>
              <a:rPr lang="ar" sz="2400" b="0" i="1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R</a:t>
            </a:r>
            <a:r>
              <a:rPr lang="ar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 </a:t>
            </a:r>
          </a:p>
          <a:p>
            <a:pPr rtl="1"/>
            <a:r>
              <a:rPr lang="ar" sz="24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ارسم الجدول أدناه وأكمل جدول النتائج هذا للقدرة في الدائرة عندما تكون المقاومة ثابتة 375 Ω. </a:t>
            </a:r>
          </a:p>
          <a:p>
            <a:pPr rtl="1"/>
            <a:r>
              <a:rPr lang="ar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ارسم الرسم البياني بإضافة القيم والتسميات.</a:t>
            </a:r>
          </a:p>
          <a:p>
            <a:pPr rtl="1"/>
            <a:endParaRPr kumimoji="0" lang="en-GB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08D2F55A-8F87-3C83-6FBB-B909CF91E1A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32249942"/>
              </p:ext>
            </p:extLst>
          </p:nvPr>
        </p:nvGraphicFramePr>
        <p:xfrm>
          <a:off x="823390" y="5235564"/>
          <a:ext cx="7344820" cy="987228"/>
        </p:xfrm>
        <a:graphic>
          <a:graphicData uri="http://schemas.openxmlformats.org/drawingml/2006/table">
            <a:tbl>
              <a:tblPr rtl="1" firstRow="1" bandRow="1">
                <a:tableStyleId>{7E9639D4-E3E2-4D34-9284-5A2195B3D0D7}</a:tableStyleId>
              </a:tblPr>
              <a:tblGrid>
                <a:gridCol w="1468964">
                  <a:extLst>
                    <a:ext uri="{9D8B030D-6E8A-4147-A177-3AD203B41FA5}">
                      <a16:colId xmlns:a16="http://schemas.microsoft.com/office/drawing/2014/main" val="725802142"/>
                    </a:ext>
                  </a:extLst>
                </a:gridCol>
                <a:gridCol w="1468964">
                  <a:extLst>
                    <a:ext uri="{9D8B030D-6E8A-4147-A177-3AD203B41FA5}">
                      <a16:colId xmlns:a16="http://schemas.microsoft.com/office/drawing/2014/main" val="884037112"/>
                    </a:ext>
                  </a:extLst>
                </a:gridCol>
                <a:gridCol w="1468964">
                  <a:extLst>
                    <a:ext uri="{9D8B030D-6E8A-4147-A177-3AD203B41FA5}">
                      <a16:colId xmlns:a16="http://schemas.microsoft.com/office/drawing/2014/main" val="3058826895"/>
                    </a:ext>
                  </a:extLst>
                </a:gridCol>
                <a:gridCol w="1468964">
                  <a:extLst>
                    <a:ext uri="{9D8B030D-6E8A-4147-A177-3AD203B41FA5}">
                      <a16:colId xmlns:a16="http://schemas.microsoft.com/office/drawing/2014/main" val="2270299532"/>
                    </a:ext>
                  </a:extLst>
                </a:gridCol>
                <a:gridCol w="1468964">
                  <a:extLst>
                    <a:ext uri="{9D8B030D-6E8A-4147-A177-3AD203B41FA5}">
                      <a16:colId xmlns:a16="http://schemas.microsoft.com/office/drawing/2014/main" val="4005669268"/>
                    </a:ext>
                  </a:extLst>
                </a:gridCol>
              </a:tblGrid>
              <a:tr h="493614">
                <a:tc>
                  <a:txBody>
                    <a:bodyPr/>
                    <a:lstStyle/>
                    <a:p>
                      <a:pPr algn="ctr" rtl="1"/>
                      <a:r>
                        <a:rPr lang="ar" b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التيار (أمبير)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b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b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b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" b="1">
                          <a:solidFill>
                            <a:schemeClr val="bg1"/>
                          </a:solidFill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001028"/>
                  </a:ext>
                </a:extLst>
              </a:tr>
              <a:tr h="493614">
                <a:tc>
                  <a:txBody>
                    <a:bodyPr/>
                    <a:lstStyle/>
                    <a:p>
                      <a:pPr rtl="1"/>
                      <a:r>
                        <a:rPr lang="ar" dirty="0">
                          <a:latin typeface="Sakkal Majalla" panose="02000000000000000000" pitchFamily="2" charset="-78"/>
                          <a:cs typeface="Sakkal Majalla" panose="02000000000000000000" pitchFamily="2" charset="-78"/>
                        </a:rPr>
                        <a:t>القدرة (W)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en-GB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en-GB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en-GB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/>
                      <a:endParaRPr lang="en-GB" dirty="0">
                        <a:latin typeface="Sakkal Majalla" panose="02000000000000000000" pitchFamily="2" charset="-78"/>
                        <a:cs typeface="Sakkal Majalla" panose="02000000000000000000" pitchFamily="2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230578"/>
                  </a:ext>
                </a:extLst>
              </a:tr>
            </a:tbl>
          </a:graphicData>
        </a:graphic>
      </p:graphicFrame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15B07F5-59F4-594C-76F3-14D7D7392222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5729916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4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043608" y="4149080"/>
            <a:ext cx="7344816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46088" indent="-446088" rtl="1">
              <a:buFont typeface="Wingdings" panose="05000000000000000000" pitchFamily="2" charset="2"/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(ب1) مساحات الأشكال العادية والمركبة والأجسام ثلاثية الأبعاد وأحجامها</a:t>
            </a:r>
          </a:p>
          <a:p>
            <a:pPr marL="0" indent="0" rtl="1">
              <a:buFont typeface="Wingdings" panose="05000000000000000000" pitchFamily="2" charset="2"/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(ب2) حساب المثلثات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2278062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>
                <a:latin typeface="Sakkal Majalla" panose="02000000000000000000" pitchFamily="2" charset="-78"/>
                <a:cs typeface="Sakkal Majalla" panose="02000000000000000000" pitchFamily="2" charset="-78"/>
              </a:rPr>
              <a:t>فحص كيفية استخدام القياس وحساب المثلثات لحل المسائل الهندسية</a:t>
            </a:r>
            <a:endParaRPr lang="en-GB" altLang="en-US" sz="3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7C6CE6C-6E6A-1F05-3429-0635AB1BA7F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564904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358775" indent="-358775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احسب مساحة الأشكال؛ مثل الأشكال البسيطة كالمربعات أو الدوائر، أو الأشكال المعقدة مثل الأقواس على شكل حرف L أو الشعاع I. </a:t>
            </a:r>
          </a:p>
          <a:p>
            <a:pPr marL="358775" indent="-358775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غالبًا ما يمكن تقسيم هذه الأشكال المعقدة إلى أشكال بسيطة وتجميع جميع الأشكال معًا.</a:t>
            </a:r>
          </a:p>
          <a:p>
            <a:pPr marL="358775" indent="-358775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الأشكال العادية هي أشكال مثل المستطيل والمثلث والدائرة.  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مساحات الأشكال العادية والمركبة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7819130-41FA-00FE-D592-7577350C257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9182" y="1230314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مساحات الأشكال العادية والمركبة (2)</a:t>
            </a:r>
            <a:br>
              <a:rPr lang="en-GB" altLang="en-US" sz="3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GB" altLang="en-US" sz="3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3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300192" y="2628317"/>
            <a:ext cx="3168352" cy="38873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صيغ لحساب مساحة ومحيط الأشكال المختلفة.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احصل على نسخة من مستند صيغة بيرسون.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GB" altLang="en-US" sz="3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71EFE29-1AAC-7672-92C4-D449741DFF86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A3EF14-D556-8A4D-9C2F-49977CD6F4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459" y="2308141"/>
            <a:ext cx="5157025" cy="364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1F6C-39BD-7F35-6829-B88DAEDC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مساحات الأشكال العادية والمركبة (3)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23D9946-D463-3B83-255E-C8AC0A1F0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5015" y="2196001"/>
            <a:ext cx="4491796" cy="4024100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إكمال الأشكال المركبة بتقسيمها إلى أشكال بسيطة.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ستحتاج إلى حساب مساحة الدائرة الخارجية أولاً، ثم طرح مساحة الدائرة الداخلية.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سيعطيك هذا مساحة الحلقة الدائرية.</a:t>
            </a:r>
            <a:endParaRPr 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8CE04-1C79-6BBF-683B-E579D88A6373}"/>
              </a:ext>
            </a:extLst>
          </p:cNvPr>
          <p:cNvSpPr txBox="1"/>
          <p:nvPr/>
        </p:nvSpPr>
        <p:spPr>
          <a:xfrm>
            <a:off x="405690" y="5325841"/>
            <a:ext cx="36724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الحلقة الدائرية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2C1BC3D6-F854-BF0B-AD04-68932CDBB6C3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445AA-457A-2209-AD2B-795A901C74D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856" y="2752395"/>
            <a:ext cx="3513122" cy="234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60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CF014-E55E-C92A-6FAE-F77919A2B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888" y="1215126"/>
            <a:ext cx="8229600" cy="864000"/>
          </a:xfrm>
        </p:spPr>
        <p:txBody>
          <a:bodyPr rtlCol="1"/>
          <a:lstStyle/>
          <a:p>
            <a:pPr algn="ctr"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مساحات الأشكال العادية والمركبة (4)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752D-ECC8-AC28-0580-D8B7801DD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33664" y="2276872"/>
            <a:ext cx="4258816" cy="4024100"/>
          </a:xfrm>
        </p:spPr>
        <p:txBody>
          <a:bodyPr rtlCol="1"/>
          <a:lstStyle/>
          <a:p>
            <a:pPr marL="0" indent="0" rtl="1">
              <a:buNone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إيجاد مساحة الأشكال ثلاثية الأبعاد باستخدام الصيغ الموجودة على مستند الصيغ المتوفرة للواجب المحدد من قِبل بيرسون.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4CAB75-E97A-D4DF-FDA2-3BEF14BBFB3D}"/>
              </a:ext>
            </a:extLst>
          </p:cNvPr>
          <p:cNvSpPr txBox="1"/>
          <p:nvPr/>
        </p:nvSpPr>
        <p:spPr>
          <a:xfrm>
            <a:off x="251520" y="4867634"/>
            <a:ext cx="3096344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الأشكال ثلاثية الأبعاد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DBDAC01-6FBE-EE41-A5BA-A33993522AF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619EB1-8EC7-D5A1-CB89-D4F4D7FCD25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8970" y="2210144"/>
            <a:ext cx="3962438" cy="264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294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435E8-7166-1EB0-1805-FBB270C9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59" y="126876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أحجام الأشكال العادية والمركبة (1)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10F2-BDC1-31EF-E918-75924CECD6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5133" y="2698769"/>
            <a:ext cx="7812677" cy="4024100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تتضمن الطرق الروتينية حجم الأجسام الصلبة.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تشمل الأجسام الصلبة العادية المنشور المستطيل والأسطوانة والمخروط والكرة ونصف الكرة.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الصيغ الموجودة على مستند الصيغ المتوفرة للواجب المحدد من قِبل بيرسون.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03B961-8491-4197-3608-C8E93DFEE069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2646666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BCCB50-6B39-1A08-0BA6-C4D33444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70" y="2222452"/>
            <a:ext cx="3357831" cy="34403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15E23D-3635-CBD5-9EEE-598B88653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rtl="1">
              <a:lnSpc>
                <a:spcPct val="90000"/>
              </a:lnSpc>
            </a:pPr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أحجام الأشكال العادية والمركبة (2)</a:t>
            </a:r>
            <a:endParaRPr lang="en-GB" sz="36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1B9E-746B-3F34-ABFE-87D6D1542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77290" y="2564904"/>
            <a:ext cx="4027487" cy="4024100"/>
          </a:xfrm>
        </p:spPr>
        <p:txBody>
          <a:bodyPr wrap="square" rtlCol="1" anchor="t">
            <a:normAutofit/>
          </a:bodyPr>
          <a:lstStyle/>
          <a:p>
            <a:pPr marL="457200" indent="-457200" rtl="1">
              <a:buFont typeface="+mj-lt"/>
              <a:buAutoNum type="arabicPeriod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احسب مساحة الكرة الموضَّحة في المخطط. </a:t>
            </a:r>
          </a:p>
          <a:p>
            <a:pPr marL="457200" indent="-457200" rtl="1">
              <a:buFont typeface="+mj-lt"/>
              <a:buAutoNum type="arabicPeriod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احسب حجم الكرة الموضَّحة في المخطط.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10BE-F3D0-A130-4D50-2BCC73E88643}"/>
              </a:ext>
            </a:extLst>
          </p:cNvPr>
          <p:cNvSpPr txBox="1"/>
          <p:nvPr/>
        </p:nvSpPr>
        <p:spPr>
          <a:xfrm>
            <a:off x="794470" y="5842585"/>
            <a:ext cx="331236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كروية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FD61BC-084D-BB07-FA7B-6ED2D9C62C38}"/>
              </a:ext>
            </a:extLst>
          </p:cNvPr>
          <p:cNvSpPr/>
          <p:nvPr/>
        </p:nvSpPr>
        <p:spPr>
          <a:xfrm>
            <a:off x="1907704" y="3501008"/>
            <a:ext cx="1224136" cy="4087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algn="ctr" rtl="1"/>
            <a:r>
              <a:rPr lang="ar" sz="28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5 سم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BF59808-3EB9-96E4-D255-37CC4278DDFA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6026800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D3227-4886-6BF9-9A63-66592998B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حساب المثلثات (1)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7D356-EBFF-C01B-A5D1-EF818A689D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27984" y="2222504"/>
            <a:ext cx="4392488" cy="4024100"/>
          </a:xfrm>
        </p:spPr>
        <p:txBody>
          <a:bodyPr wrap="square" rtlCol="1" anchor="t">
            <a:normAutofit/>
          </a:bodyPr>
          <a:lstStyle/>
          <a:p>
            <a:pPr rtl="1"/>
            <a:r>
              <a:rPr lang="ar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استخدم حساب المثلثات لحساب الزوايا وأطوال الأضلاع.</a:t>
            </a:r>
          </a:p>
          <a:p>
            <a:pPr rtl="1"/>
            <a:r>
              <a:rPr lang="ar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تُستخدم نظرية فيثاغورس لتحديد أطوال أضلاع المثلثات قائمة الزاوية.</a:t>
            </a: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AA424A-F444-3236-3744-C581E84E7494}"/>
              </a:ext>
            </a:extLst>
          </p:cNvPr>
          <p:cNvSpPr txBox="1"/>
          <p:nvPr/>
        </p:nvSpPr>
        <p:spPr>
          <a:xfrm>
            <a:off x="654418" y="5683558"/>
            <a:ext cx="35241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>
                <a:effectLst/>
                <a:latin typeface="Sakkal Majalla" panose="02000000000000000000" pitchFamily="2" charset="-78"/>
                <a:cs typeface="Sakkal Majalla" panose="02000000000000000000" pitchFamily="2" charset="-78"/>
              </a:rPr>
              <a:t>نظرية فيثاغورس</a:t>
            </a: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A72ED58-ECB0-44BC-4A9A-3766F88C014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305D20-0002-6BA7-5F6B-204D2A7C5CF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0151" y="2276872"/>
            <a:ext cx="2812732" cy="308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88066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51666-A4CD-BF3B-8357-E5E738C9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حساب المثلثات (2)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B765A-E3CF-2400-3FF1-4BF68E48AD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251" y="5687296"/>
            <a:ext cx="7776864" cy="3625697"/>
          </a:xfrm>
        </p:spPr>
        <p:txBody>
          <a:bodyPr rtlCol="1"/>
          <a:lstStyle/>
          <a:p>
            <a:pPr marL="0" indent="0" rtl="1"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لحساب العلاقات داخل مثلث قائم الزاوية، استخدم دوال الجيب وجيب التمام والظل للزوايا وأطوال الأضلاع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DE3FE28-9035-4BEC-AAEF-6DBFE64E0E3C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1A047A-8D2F-826F-1A51-7E47105A5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838" y="2001784"/>
            <a:ext cx="5191689" cy="367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99904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9FCE6-AFEC-B349-015C-D10CE469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حساب المثلثات (3)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F4485-DE44-2A3E-C2B2-CE4372915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20071" y="2059200"/>
            <a:ext cx="3672408" cy="4024100"/>
          </a:xfrm>
        </p:spPr>
        <p:txBody>
          <a:bodyPr rtlCol="1"/>
          <a:lstStyle/>
          <a:p>
            <a:pPr rtl="1">
              <a:lnSpc>
                <a:spcPts val="1450"/>
              </a:lnSpc>
              <a:spcBef>
                <a:spcPts val="300"/>
              </a:spcBef>
              <a:spcAft>
                <a:spcPts val="300"/>
              </a:spcAft>
              <a:tabLst>
                <a:tab pos="180340" algn="l"/>
              </a:tabLst>
            </a:pPr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يمكن تقسيم المثلث غير قائم الزاوية إلى مثلثات قائمة الزاوية وحساب الأبعاد والزوايا الناقصة. </a:t>
            </a:r>
          </a:p>
          <a:p>
            <a:pPr rtl="1">
              <a:spcBef>
                <a:spcPts val="0"/>
              </a:spcBef>
              <a:spcAft>
                <a:spcPts val="0"/>
              </a:spcAft>
              <a:tabLst>
                <a:tab pos="180340" algn="l"/>
              </a:tabLst>
            </a:pPr>
            <a:r>
              <a:rPr lang="ar">
                <a:effectLst/>
                <a:latin typeface="Sakkal Majalla" panose="02000000000000000000" pitchFamily="2" charset="-78"/>
                <a:ea typeface="Times New Roman" panose="02020603050405020304" pitchFamily="18" charset="0"/>
                <a:cs typeface="Sakkal Majalla" panose="02000000000000000000" pitchFamily="2" charset="-78"/>
              </a:rPr>
              <a:t>لقد رأيت العلاقات بين المماس والجيب وجيب التمام لحساب الزوايا.</a:t>
            </a:r>
          </a:p>
          <a:p>
            <a:pPr rtl="1">
              <a:lnSpc>
                <a:spcPts val="1450"/>
              </a:lnSpc>
              <a:spcBef>
                <a:spcPts val="300"/>
              </a:spcBef>
              <a:spcAft>
                <a:spcPts val="300"/>
              </a:spcAft>
              <a:tabLst>
                <a:tab pos="180340" algn="l"/>
              </a:tabLst>
            </a:pPr>
            <a:endParaRPr lang="en-GB" sz="1800" dirty="0">
              <a:effectLst/>
              <a:latin typeface="Sakkal Majalla" panose="02000000000000000000" pitchFamily="2" charset="-78"/>
              <a:ea typeface="Times New Roman" panose="02020603050405020304" pitchFamily="18" charset="0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61B93EA-D32E-DAAB-3846-B6043E8DBEC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8312" y="2196001"/>
                <a:ext cx="4027488" cy="4024100"/>
              </a:xfrm>
            </p:spPr>
            <p:txBody>
              <a:bodyPr rtlCol="1"/>
              <a:lstStyle/>
              <a:p>
                <a:pPr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tabLst>
                    <a:tab pos="180340" algn="l"/>
                  </a:tabLst>
                </a:pPr>
                <a:r>
                  <a:rPr lang="ar" sz="2400" dirty="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تقسيم الجيب A على جيب التمام A </a:t>
                </a:r>
              </a:p>
              <a:p>
                <a:pPr marL="0" indent="0"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:r>
                  <a:rPr lang="ar" sz="2400" dirty="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ينتج عنه</a:t>
                </a:r>
              </a:p>
              <a:p>
                <a:pPr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tabLst>
                    <a:tab pos="180340" algn="l"/>
                  </a:tabLst>
                </a:pPr>
                <a:endParaRPr lang="en-GB" sz="24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0" indent="0" rtl="0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</m:func>
                      </m:num>
                      <m:den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𝑐𝑜𝑠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den>
                    </m:f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</m:den>
                    </m:f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÷ 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</m:den>
                    </m:f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strike="sngStrike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</m:den>
                    </m:f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 ×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strike="sngStrike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</a:t>
                </a:r>
              </a:p>
              <a:p>
                <a:pPr marL="0" indent="0"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:endParaRPr lang="en-US" sz="24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0" indent="0"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:endParaRPr lang="en-US" sz="2400" i="1" dirty="0"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marL="0" indent="0" rtl="0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24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</a:rPr>
                              <m:t>𝐴</m:t>
                            </m:r>
                          </m:e>
                        </m:func>
                      </m:num>
                      <m:den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𝑐𝑜𝑠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 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𝐴</m:t>
                        </m:r>
                      </m:den>
                    </m:f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sz="2400" dirty="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 = tan </a:t>
                </a:r>
              </a:p>
              <a:p>
                <a:pPr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tabLst>
                    <a:tab pos="180340" algn="l"/>
                  </a:tabLst>
                </a:pPr>
                <a:endParaRPr lang="en-GB" sz="24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tabLst>
                    <a:tab pos="180340" algn="l"/>
                  </a:tabLst>
                </a:pPr>
                <a:r>
                  <a:rPr lang="ar" sz="2400" dirty="0">
                    <a:effectLst/>
                    <a:latin typeface="Sakkal Majalla" panose="02000000000000000000" pitchFamily="2" charset="-78"/>
                    <a:ea typeface="Times New Roman" panose="02020603050405020304" pitchFamily="18" charset="0"/>
                    <a:cs typeface="Sakkal Majalla" panose="02000000000000000000" pitchFamily="2" charset="-78"/>
                  </a:rPr>
                  <a:t>هذا يماثل tan A</a:t>
                </a:r>
              </a:p>
              <a:p>
                <a:pPr marL="0" indent="0" rtl="1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:endParaRPr lang="en-US" sz="2400" dirty="0">
                  <a:effectLst/>
                  <a:latin typeface="Sakkal Majalla" panose="02000000000000000000" pitchFamily="2" charset="-78"/>
                  <a:ea typeface="Times New Roman" panose="02020603050405020304" pitchFamily="18" charset="0"/>
                  <a:cs typeface="Sakkal Majalla" panose="02000000000000000000" pitchFamily="2" charset="-78"/>
                </a:endParaRPr>
              </a:p>
              <a:p>
                <a:pPr algn="l" rtl="0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tabLst>
                    <a:tab pos="180340" algn="l"/>
                  </a:tabLst>
                </a:pPr>
                <a:endParaRPr lang="en-GB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 rtl="0">
                  <a:lnSpc>
                    <a:spcPts val="1450"/>
                  </a:lnSpc>
                  <a:spcBef>
                    <a:spcPts val="300"/>
                  </a:spcBef>
                  <a:spcAft>
                    <a:spcPts val="300"/>
                  </a:spcAft>
                  <a:buNone/>
                  <a:tabLst>
                    <a:tab pos="18034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240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tan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GB" sz="2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GB" sz="240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GB" sz="2400" i="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GB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GB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i="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</m:func>
                            </m:num>
                            <m:den>
                              <m:func>
                                <m:funcPr>
                                  <m:ctrlPr>
                                    <a:rPr lang="en-GB" sz="24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GB" sz="2400" i="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sz="2400" i="0" smtClean="0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A</m:t>
                                  </m:r>
                                </m:e>
                              </m:func>
                            </m:den>
                          </m:f>
                        </m:e>
                      </m:func>
                    </m:oMath>
                  </m:oMathPara>
                </a14:m>
                <a:endParaRPr lang="en-GB" sz="24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61B93EA-D32E-DAAB-3846-B6043E8DBE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8312" y="2196001"/>
                <a:ext cx="4027488" cy="4024100"/>
              </a:xfrm>
              <a:blipFill>
                <a:blip r:embed="rId3"/>
                <a:stretch>
                  <a:fillRect t="-5455" r="-3328"/>
                </a:stretch>
              </a:blipFill>
            </p:spPr>
            <p:txBody>
              <a:bodyPr/>
              <a:lstStyle/>
              <a:p>
                <a:r>
                  <a:rPr lang="ar-E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9A4F46C-F000-AACB-E4EA-1032F7D0C9E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87542501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50DB5C-3359-75DF-1E2D-7493AFE93E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463" y="2564904"/>
            <a:ext cx="3969396" cy="2808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30D63D-3CD9-AAE0-EBC3-D874441B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rmAutofit/>
          </a:bodyPr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حساب المثلثات (4)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384F2-8E40-C4A6-A869-91CE593FD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0" y="2196000"/>
            <a:ext cx="4464496" cy="4024100"/>
          </a:xfrm>
        </p:spPr>
        <p:txBody>
          <a:bodyPr wrap="square" rtlCol="1" anchor="t">
            <a:normAutofit/>
          </a:bodyPr>
          <a:lstStyle/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الأشكال المركبة - حل الأبعاد والزوايا المجهولة لمجموعة من المستطيلات والمثلثات.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يمكن إكمال الأشكال المركبة بتقسيمها إلى أشكال بسيطة. مثلثان بزاوية قائمة في هذه الحالة. 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في الرسم التخطيطي، يظهر الارتفاع العمودي على أنه h = ارتفاع عمودي.</a:t>
            </a:r>
          </a:p>
          <a:p>
            <a:pPr rtl="1"/>
            <a:endParaRPr 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D550E0-497D-69BC-EA0F-FDEA7833A4C2}"/>
              </a:ext>
            </a:extLst>
          </p:cNvPr>
          <p:cNvSpPr/>
          <p:nvPr/>
        </p:nvSpPr>
        <p:spPr>
          <a:xfrm>
            <a:off x="2054188" y="4093388"/>
            <a:ext cx="1077652" cy="168773"/>
          </a:xfrm>
          <a:prstGeom prst="rect">
            <a:avLst/>
          </a:prstGeom>
          <a:solidFill>
            <a:srgbClr val="C7D7F0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h = الارتفاع الرأسي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CAF002-B2A5-86B4-822A-147F42DE3D67}"/>
              </a:ext>
            </a:extLst>
          </p:cNvPr>
          <p:cNvSpPr/>
          <p:nvPr/>
        </p:nvSpPr>
        <p:spPr>
          <a:xfrm>
            <a:off x="827584" y="4797152"/>
            <a:ext cx="1181468" cy="207959"/>
          </a:xfrm>
          <a:prstGeom prst="rect">
            <a:avLst/>
          </a:prstGeom>
          <a:solidFill>
            <a:srgbClr val="C7D7F0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درجة مئوية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4139430-2229-8398-186E-9CE384974325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71751016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2240421-AE25-4EEE-F3DE-556938385C8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979" y="2808572"/>
            <a:ext cx="4379221" cy="2967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5D4DEF-79F4-2991-66B1-760ED6C4B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600" b="1">
                <a:latin typeface="Sakkal Majalla" panose="02000000000000000000" pitchFamily="2" charset="-78"/>
                <a:cs typeface="Sakkal Majalla" panose="02000000000000000000" pitchFamily="2" charset="-78"/>
              </a:rPr>
              <a:t>حساب المثلثات (5)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BBC62-2C35-AF91-0217-92978498C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2985" y="2348880"/>
            <a:ext cx="4027487" cy="4024100"/>
          </a:xfrm>
        </p:spPr>
        <p:txBody>
          <a:bodyPr rtlCol="1"/>
          <a:lstStyle/>
          <a:p>
            <a:pPr marL="457200" indent="-457200" rtl="1">
              <a:buFont typeface="+mj-lt"/>
              <a:buAutoNum type="arabicPeriod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احسب أطوال الأضلاع المجهولة للمثلث الموضح في المخطط.</a:t>
            </a:r>
          </a:p>
          <a:p>
            <a:pPr marL="457200" indent="-457200" rtl="1">
              <a:buFont typeface="+mj-lt"/>
              <a:buAutoNum type="arabicPeriod"/>
            </a:pP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احسب الزوايا الداخلية الناقصة للمثلث الموضح في المخطط.</a:t>
            </a:r>
          </a:p>
          <a:p>
            <a:pPr marL="457200" indent="-457200" rtl="1">
              <a:buFont typeface="+mj-lt"/>
              <a:buAutoNum type="arabicPeriod"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23968-CDDE-9343-16B7-204B4BA5F261}"/>
              </a:ext>
            </a:extLst>
          </p:cNvPr>
          <p:cNvSpPr/>
          <p:nvPr/>
        </p:nvSpPr>
        <p:spPr>
          <a:xfrm>
            <a:off x="323528" y="3658974"/>
            <a:ext cx="781446" cy="3771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2700">
                <a:latin typeface="Sakkal Majalla" panose="02000000000000000000" pitchFamily="2" charset="-78"/>
                <a:cs typeface="Sakkal Majalla" panose="02000000000000000000" pitchFamily="2" charset="-78"/>
              </a:rPr>
              <a:t>5 سم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C3DFD6-489A-A318-0A08-A60AF034B2B5}"/>
              </a:ext>
            </a:extLst>
          </p:cNvPr>
          <p:cNvSpPr/>
          <p:nvPr/>
        </p:nvSpPr>
        <p:spPr>
          <a:xfrm>
            <a:off x="2354323" y="5272944"/>
            <a:ext cx="1146629" cy="37715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27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12 سم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EB2C05A-9171-FD89-40BD-E850F57E555E}"/>
              </a:ext>
            </a:extLst>
          </p:cNvPr>
          <p:cNvSpPr txBox="1">
            <a:spLocks/>
          </p:cNvSpPr>
          <p:nvPr/>
        </p:nvSpPr>
        <p:spPr bwMode="auto">
          <a:xfrm>
            <a:off x="107504" y="6525344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A103000360248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3080152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08D0F8-535B-4727-9CFE-AE26E2427C47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www.w3.org/XML/1998/namespace"/>
    <ds:schemaRef ds:uri="http://schemas.openxmlformats.org/package/2006/metadata/core-properties"/>
    <ds:schemaRef ds:uri="http://purl.org/dc/elements/1.1/"/>
    <ds:schemaRef ds:uri="6881431a-e3b2-481e-ba90-fae26e2fa83c"/>
    <ds:schemaRef ds:uri="a26a0597-d0d1-4250-940c-88e9bf9d5597"/>
    <ds:schemaRef ds:uri="http://schemas.microsoft.com/office/2006/metadata/properties"/>
    <ds:schemaRef ds:uri="7c1bd8dc-4e40-424f-a15f-9ffcd522197f"/>
    <ds:schemaRef ds:uri="6125ffc9-2c56-435e-8267-1393444907b2"/>
  </ds:schemaRefs>
</ds:datastoreItem>
</file>

<file path=customXml/itemProps2.xml><?xml version="1.0" encoding="utf-8"?>
<ds:datastoreItem xmlns:ds="http://schemas.openxmlformats.org/officeDocument/2006/customXml" ds:itemID="{E3DF60B5-183B-49E7-A7A0-2AA31BEB3952}"/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2016</Words>
  <Application>Microsoft Office PowerPoint</Application>
  <PresentationFormat>On-screen Show (4:3)</PresentationFormat>
  <Paragraphs>287</Paragraphs>
  <Slides>35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Arial</vt:lpstr>
      <vt:lpstr>Calibri</vt:lpstr>
      <vt:lpstr>Cambria Math</vt:lpstr>
      <vt:lpstr>Courier New</vt:lpstr>
      <vt:lpstr>Sakkal Majalla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5   </vt:lpstr>
      <vt:lpstr>الرياضيات لفنيي الهندسة</vt:lpstr>
      <vt:lpstr>أهداف التعلم</vt:lpstr>
      <vt:lpstr>هدف التعلم (أ)  </vt:lpstr>
      <vt:lpstr>PowerPoint Presentation</vt:lpstr>
      <vt:lpstr>  Arithmetic Methods (2)  </vt:lpstr>
      <vt:lpstr> الطرق الحسابية (3) </vt:lpstr>
      <vt:lpstr> الطرق الحسابية (4)  </vt:lpstr>
      <vt:lpstr>الطرق الحسابية (5)</vt:lpstr>
      <vt:lpstr>الطرق الحسابية (6)</vt:lpstr>
      <vt:lpstr>الطرق الحسابية (7)</vt:lpstr>
      <vt:lpstr>الطرق الحسابية (8)</vt:lpstr>
      <vt:lpstr>الطرق الجبرية (1)</vt:lpstr>
      <vt:lpstr> الطرق الجبرية (2) </vt:lpstr>
      <vt:lpstr>الطرق الجبرية (3)</vt:lpstr>
      <vt:lpstr>الطرق الجبرية (4)</vt:lpstr>
      <vt:lpstr>الطرق الجبرية (5)</vt:lpstr>
      <vt:lpstr>الطرق الجبرية (6)</vt:lpstr>
      <vt:lpstr>الطرق الجبرية (7)</vt:lpstr>
      <vt:lpstr>الطرق الرسومية (1)</vt:lpstr>
      <vt:lpstr>الطرق الرسومية (2)</vt:lpstr>
      <vt:lpstr>الطرق الرسومية (3)</vt:lpstr>
      <vt:lpstr>الطرق الرسومية (4)</vt:lpstr>
      <vt:lpstr>هدف التعلم (ب)  </vt:lpstr>
      <vt:lpstr>PowerPoint Presentation</vt:lpstr>
      <vt:lpstr>مساحات الأشكال العادية والمركبة (2)  </vt:lpstr>
      <vt:lpstr>مساحات الأشكال العادية والمركبة (3)</vt:lpstr>
      <vt:lpstr>مساحات الأشكال العادية والمركبة (4)</vt:lpstr>
      <vt:lpstr>أحجام الأشكال العادية والمركبة (1)</vt:lpstr>
      <vt:lpstr>أحجام الأشكال العادية والمركبة (2)</vt:lpstr>
      <vt:lpstr>حساب المثلثات (1)</vt:lpstr>
      <vt:lpstr>حساب المثلثات (2)</vt:lpstr>
      <vt:lpstr>حساب المثلثات (3)</vt:lpstr>
      <vt:lpstr>حساب المثلثات (4)</vt:lpstr>
      <vt:lpstr>حساب المثلثات (5)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127</cp:revision>
  <dcterms:created xsi:type="dcterms:W3CDTF">2020-07-15T07:14:47Z</dcterms:created>
  <dcterms:modified xsi:type="dcterms:W3CDTF">2023-11-21T20:53:17Z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