
<file path=[Content_Types].xml><?xml version="1.0" encoding="utf-8"?>
<Types xmlns="http://schemas.openxmlformats.org/package/2006/content-types">
  <Default Extension="bin" ContentType="audio/unknown"/>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7"/>
  </p:notesMasterIdLst>
  <p:sldIdLst>
    <p:sldId id="256" r:id="rId14"/>
    <p:sldId id="257" r:id="rId15"/>
    <p:sldId id="258" r:id="rId16"/>
    <p:sldId id="272" r:id="rId17"/>
    <p:sldId id="381" r:id="rId18"/>
    <p:sldId id="396" r:id="rId19"/>
    <p:sldId id="384" r:id="rId20"/>
    <p:sldId id="397" r:id="rId21"/>
    <p:sldId id="385" r:id="rId22"/>
    <p:sldId id="398" r:id="rId23"/>
    <p:sldId id="399" r:id="rId24"/>
    <p:sldId id="319" r:id="rId25"/>
    <p:sldId id="318" r:id="rId26"/>
    <p:sldId id="400" r:id="rId27"/>
    <p:sldId id="386" r:id="rId28"/>
    <p:sldId id="387" r:id="rId29"/>
    <p:sldId id="390" r:id="rId30"/>
    <p:sldId id="392" r:id="rId31"/>
    <p:sldId id="401" r:id="rId32"/>
    <p:sldId id="382" r:id="rId33"/>
    <p:sldId id="383" r:id="rId34"/>
    <p:sldId id="402" r:id="rId35"/>
    <p:sldId id="388" r:id="rId36"/>
    <p:sldId id="403" r:id="rId37"/>
    <p:sldId id="393" r:id="rId38"/>
    <p:sldId id="404" r:id="rId39"/>
    <p:sldId id="389" r:id="rId40"/>
    <p:sldId id="394" r:id="rId41"/>
    <p:sldId id="406" r:id="rId42"/>
    <p:sldId id="395" r:id="rId43"/>
    <p:sldId id="407" r:id="rId44"/>
    <p:sldId id="405" r:id="rId45"/>
    <p:sldId id="408" r:id="rId46"/>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345031-FE69-41C2-81B2-D5D2F1FA0E09}" v="33" dt="2025-07-18T08:31:00.273"/>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746" autoAdjust="0"/>
    <p:restoredTop sz="96015" autoAdjust="0"/>
  </p:normalViewPr>
  <p:slideViewPr>
    <p:cSldViewPr>
      <p:cViewPr varScale="1">
        <p:scale>
          <a:sx n="151" d="100"/>
          <a:sy n="151" d="100"/>
        </p:scale>
        <p:origin x="1992" y="35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D9345031-FE69-41C2-81B2-D5D2F1FA0E09}"/>
    <pc:docChg chg="modSld">
      <pc:chgData name="Paul Winser" userId="c3146a91-e6bd-4264-bd86-e164e04bc32d" providerId="ADAL" clId="{D9345031-FE69-41C2-81B2-D5D2F1FA0E09}" dt="2025-07-18T08:31:00.273" v="34"/>
      <pc:docMkLst>
        <pc:docMk/>
      </pc:docMkLst>
      <pc:sldChg chg="addSp modSp mod">
        <pc:chgData name="Paul Winser" userId="c3146a91-e6bd-4264-bd86-e164e04bc32d" providerId="ADAL" clId="{D9345031-FE69-41C2-81B2-D5D2F1FA0E09}" dt="2025-07-18T08:30:16.029" v="2" actId="20577"/>
        <pc:sldMkLst>
          <pc:docMk/>
          <pc:sldMk cId="0" sldId="256"/>
        </pc:sldMkLst>
        <pc:spChg chg="add mod">
          <ac:chgData name="Paul Winser" userId="c3146a91-e6bd-4264-bd86-e164e04bc32d" providerId="ADAL" clId="{D9345031-FE69-41C2-81B2-D5D2F1FA0E09}" dt="2025-07-18T08:30:16.029" v="2" actId="20577"/>
          <ac:spMkLst>
            <pc:docMk/>
            <pc:sldMk cId="0" sldId="256"/>
            <ac:spMk id="2" creationId="{84FE25BC-0FBA-44A5-029A-657FEB7B443C}"/>
          </ac:spMkLst>
        </pc:spChg>
      </pc:sldChg>
      <pc:sldChg chg="addSp modSp">
        <pc:chgData name="Paul Winser" userId="c3146a91-e6bd-4264-bd86-e164e04bc32d" providerId="ADAL" clId="{D9345031-FE69-41C2-81B2-D5D2F1FA0E09}" dt="2025-07-18T08:30:19.097" v="3"/>
        <pc:sldMkLst>
          <pc:docMk/>
          <pc:sldMk cId="0" sldId="257"/>
        </pc:sldMkLst>
        <pc:spChg chg="add mod">
          <ac:chgData name="Paul Winser" userId="c3146a91-e6bd-4264-bd86-e164e04bc32d" providerId="ADAL" clId="{D9345031-FE69-41C2-81B2-D5D2F1FA0E09}" dt="2025-07-18T08:30:19.097" v="3"/>
          <ac:spMkLst>
            <pc:docMk/>
            <pc:sldMk cId="0" sldId="257"/>
            <ac:spMk id="2" creationId="{2B7D660D-3B52-FA7A-45C8-109E266BA6B4}"/>
          </ac:spMkLst>
        </pc:spChg>
      </pc:sldChg>
      <pc:sldChg chg="addSp modSp">
        <pc:chgData name="Paul Winser" userId="c3146a91-e6bd-4264-bd86-e164e04bc32d" providerId="ADAL" clId="{D9345031-FE69-41C2-81B2-D5D2F1FA0E09}" dt="2025-07-18T08:30:20.216" v="4"/>
        <pc:sldMkLst>
          <pc:docMk/>
          <pc:sldMk cId="0" sldId="258"/>
        </pc:sldMkLst>
        <pc:spChg chg="add mod">
          <ac:chgData name="Paul Winser" userId="c3146a91-e6bd-4264-bd86-e164e04bc32d" providerId="ADAL" clId="{D9345031-FE69-41C2-81B2-D5D2F1FA0E09}" dt="2025-07-18T08:30:20.216" v="4"/>
          <ac:spMkLst>
            <pc:docMk/>
            <pc:sldMk cId="0" sldId="258"/>
            <ac:spMk id="2" creationId="{FD7561CF-AAD0-6DC3-D9EC-C6859CDEDF8C}"/>
          </ac:spMkLst>
        </pc:spChg>
      </pc:sldChg>
      <pc:sldChg chg="addSp modSp">
        <pc:chgData name="Paul Winser" userId="c3146a91-e6bd-4264-bd86-e164e04bc32d" providerId="ADAL" clId="{D9345031-FE69-41C2-81B2-D5D2F1FA0E09}" dt="2025-07-18T08:30:21.466" v="5"/>
        <pc:sldMkLst>
          <pc:docMk/>
          <pc:sldMk cId="0" sldId="272"/>
        </pc:sldMkLst>
        <pc:spChg chg="add mod">
          <ac:chgData name="Paul Winser" userId="c3146a91-e6bd-4264-bd86-e164e04bc32d" providerId="ADAL" clId="{D9345031-FE69-41C2-81B2-D5D2F1FA0E09}" dt="2025-07-18T08:30:21.466" v="5"/>
          <ac:spMkLst>
            <pc:docMk/>
            <pc:sldMk cId="0" sldId="272"/>
            <ac:spMk id="2" creationId="{D3FE2830-14ED-263B-F8E7-4BF93900C74A}"/>
          </ac:spMkLst>
        </pc:spChg>
      </pc:sldChg>
      <pc:sldChg chg="addSp modSp">
        <pc:chgData name="Paul Winser" userId="c3146a91-e6bd-4264-bd86-e164e04bc32d" providerId="ADAL" clId="{D9345031-FE69-41C2-81B2-D5D2F1FA0E09}" dt="2025-07-18T08:30:33.759" v="14"/>
        <pc:sldMkLst>
          <pc:docMk/>
          <pc:sldMk cId="2236349469" sldId="318"/>
        </pc:sldMkLst>
        <pc:spChg chg="add mod">
          <ac:chgData name="Paul Winser" userId="c3146a91-e6bd-4264-bd86-e164e04bc32d" providerId="ADAL" clId="{D9345031-FE69-41C2-81B2-D5D2F1FA0E09}" dt="2025-07-18T08:30:33.759" v="14"/>
          <ac:spMkLst>
            <pc:docMk/>
            <pc:sldMk cId="2236349469" sldId="318"/>
            <ac:spMk id="2" creationId="{B19A2B03-86D8-2361-B99F-DCA0BA724B11}"/>
          </ac:spMkLst>
        </pc:spChg>
      </pc:sldChg>
      <pc:sldChg chg="addSp modSp">
        <pc:chgData name="Paul Winser" userId="c3146a91-e6bd-4264-bd86-e164e04bc32d" providerId="ADAL" clId="{D9345031-FE69-41C2-81B2-D5D2F1FA0E09}" dt="2025-07-18T08:30:32.322" v="13"/>
        <pc:sldMkLst>
          <pc:docMk/>
          <pc:sldMk cId="211838768" sldId="319"/>
        </pc:sldMkLst>
        <pc:spChg chg="add mod">
          <ac:chgData name="Paul Winser" userId="c3146a91-e6bd-4264-bd86-e164e04bc32d" providerId="ADAL" clId="{D9345031-FE69-41C2-81B2-D5D2F1FA0E09}" dt="2025-07-18T08:30:32.322" v="13"/>
          <ac:spMkLst>
            <pc:docMk/>
            <pc:sldMk cId="211838768" sldId="319"/>
            <ac:spMk id="2" creationId="{80CF31B9-1E2C-901A-D6F9-FF3417012713}"/>
          </ac:spMkLst>
        </pc:spChg>
      </pc:sldChg>
      <pc:sldChg chg="addSp modSp">
        <pc:chgData name="Paul Winser" userId="c3146a91-e6bd-4264-bd86-e164e04bc32d" providerId="ADAL" clId="{D9345031-FE69-41C2-81B2-D5D2F1FA0E09}" dt="2025-07-18T08:30:22.706" v="6"/>
        <pc:sldMkLst>
          <pc:docMk/>
          <pc:sldMk cId="4160411727" sldId="381"/>
        </pc:sldMkLst>
        <pc:spChg chg="add mod">
          <ac:chgData name="Paul Winser" userId="c3146a91-e6bd-4264-bd86-e164e04bc32d" providerId="ADAL" clId="{D9345031-FE69-41C2-81B2-D5D2F1FA0E09}" dt="2025-07-18T08:30:22.706" v="6"/>
          <ac:spMkLst>
            <pc:docMk/>
            <pc:sldMk cId="4160411727" sldId="381"/>
            <ac:spMk id="2" creationId="{4DCD32FD-898D-9DA3-77D4-EF4408F4A922}"/>
          </ac:spMkLst>
        </pc:spChg>
      </pc:sldChg>
      <pc:sldChg chg="addSp modSp">
        <pc:chgData name="Paul Winser" userId="c3146a91-e6bd-4264-bd86-e164e04bc32d" providerId="ADAL" clId="{D9345031-FE69-41C2-81B2-D5D2F1FA0E09}" dt="2025-07-18T08:30:42.734" v="21"/>
        <pc:sldMkLst>
          <pc:docMk/>
          <pc:sldMk cId="2136879735" sldId="382"/>
        </pc:sldMkLst>
        <pc:spChg chg="add mod">
          <ac:chgData name="Paul Winser" userId="c3146a91-e6bd-4264-bd86-e164e04bc32d" providerId="ADAL" clId="{D9345031-FE69-41C2-81B2-D5D2F1FA0E09}" dt="2025-07-18T08:30:42.734" v="21"/>
          <ac:spMkLst>
            <pc:docMk/>
            <pc:sldMk cId="2136879735" sldId="382"/>
            <ac:spMk id="2" creationId="{F05CB4D8-661E-96C6-5499-AE097307F29E}"/>
          </ac:spMkLst>
        </pc:spChg>
      </pc:sldChg>
      <pc:sldChg chg="addSp modSp">
        <pc:chgData name="Paul Winser" userId="c3146a91-e6bd-4264-bd86-e164e04bc32d" providerId="ADAL" clId="{D9345031-FE69-41C2-81B2-D5D2F1FA0E09}" dt="2025-07-18T08:30:44.073" v="22"/>
        <pc:sldMkLst>
          <pc:docMk/>
          <pc:sldMk cId="2906493022" sldId="383"/>
        </pc:sldMkLst>
        <pc:spChg chg="add mod">
          <ac:chgData name="Paul Winser" userId="c3146a91-e6bd-4264-bd86-e164e04bc32d" providerId="ADAL" clId="{D9345031-FE69-41C2-81B2-D5D2F1FA0E09}" dt="2025-07-18T08:30:44.073" v="22"/>
          <ac:spMkLst>
            <pc:docMk/>
            <pc:sldMk cId="2906493022" sldId="383"/>
            <ac:spMk id="2" creationId="{BECED25F-A547-C309-739C-AB808482771D}"/>
          </ac:spMkLst>
        </pc:spChg>
      </pc:sldChg>
      <pc:sldChg chg="addSp modSp">
        <pc:chgData name="Paul Winser" userId="c3146a91-e6bd-4264-bd86-e164e04bc32d" providerId="ADAL" clId="{D9345031-FE69-41C2-81B2-D5D2F1FA0E09}" dt="2025-07-18T08:30:25.661" v="8"/>
        <pc:sldMkLst>
          <pc:docMk/>
          <pc:sldMk cId="898388451" sldId="384"/>
        </pc:sldMkLst>
        <pc:spChg chg="add mod">
          <ac:chgData name="Paul Winser" userId="c3146a91-e6bd-4264-bd86-e164e04bc32d" providerId="ADAL" clId="{D9345031-FE69-41C2-81B2-D5D2F1FA0E09}" dt="2025-07-18T08:30:25.661" v="8"/>
          <ac:spMkLst>
            <pc:docMk/>
            <pc:sldMk cId="898388451" sldId="384"/>
            <ac:spMk id="2" creationId="{7D31817F-7798-C7EA-D6A3-FFB67188031D}"/>
          </ac:spMkLst>
        </pc:spChg>
      </pc:sldChg>
      <pc:sldChg chg="addSp modSp">
        <pc:chgData name="Paul Winser" userId="c3146a91-e6bd-4264-bd86-e164e04bc32d" providerId="ADAL" clId="{D9345031-FE69-41C2-81B2-D5D2F1FA0E09}" dt="2025-07-18T08:30:28.346" v="10"/>
        <pc:sldMkLst>
          <pc:docMk/>
          <pc:sldMk cId="534658149" sldId="385"/>
        </pc:sldMkLst>
        <pc:spChg chg="add mod">
          <ac:chgData name="Paul Winser" userId="c3146a91-e6bd-4264-bd86-e164e04bc32d" providerId="ADAL" clId="{D9345031-FE69-41C2-81B2-D5D2F1FA0E09}" dt="2025-07-18T08:30:28.346" v="10"/>
          <ac:spMkLst>
            <pc:docMk/>
            <pc:sldMk cId="534658149" sldId="385"/>
            <ac:spMk id="4" creationId="{AE4AA834-1143-FAD0-92D5-57171AEFAC10}"/>
          </ac:spMkLst>
        </pc:spChg>
      </pc:sldChg>
      <pc:sldChg chg="addSp modSp">
        <pc:chgData name="Paul Winser" userId="c3146a91-e6bd-4264-bd86-e164e04bc32d" providerId="ADAL" clId="{D9345031-FE69-41C2-81B2-D5D2F1FA0E09}" dt="2025-07-18T08:30:36.316" v="16"/>
        <pc:sldMkLst>
          <pc:docMk/>
          <pc:sldMk cId="3393981969" sldId="386"/>
        </pc:sldMkLst>
        <pc:spChg chg="add mod">
          <ac:chgData name="Paul Winser" userId="c3146a91-e6bd-4264-bd86-e164e04bc32d" providerId="ADAL" clId="{D9345031-FE69-41C2-81B2-D5D2F1FA0E09}" dt="2025-07-18T08:30:36.316" v="16"/>
          <ac:spMkLst>
            <pc:docMk/>
            <pc:sldMk cId="3393981969" sldId="386"/>
            <ac:spMk id="2" creationId="{BFEBD977-1C96-E7FA-F418-D82EC48580B5}"/>
          </ac:spMkLst>
        </pc:spChg>
      </pc:sldChg>
      <pc:sldChg chg="addSp modSp">
        <pc:chgData name="Paul Winser" userId="c3146a91-e6bd-4264-bd86-e164e04bc32d" providerId="ADAL" clId="{D9345031-FE69-41C2-81B2-D5D2F1FA0E09}" dt="2025-07-18T08:30:37.545" v="17"/>
        <pc:sldMkLst>
          <pc:docMk/>
          <pc:sldMk cId="3781860839" sldId="387"/>
        </pc:sldMkLst>
        <pc:spChg chg="add mod">
          <ac:chgData name="Paul Winser" userId="c3146a91-e6bd-4264-bd86-e164e04bc32d" providerId="ADAL" clId="{D9345031-FE69-41C2-81B2-D5D2F1FA0E09}" dt="2025-07-18T08:30:37.545" v="17"/>
          <ac:spMkLst>
            <pc:docMk/>
            <pc:sldMk cId="3781860839" sldId="387"/>
            <ac:spMk id="4" creationId="{50C23AB7-B9F3-C901-F3E1-316B5EAF7297}"/>
          </ac:spMkLst>
        </pc:spChg>
      </pc:sldChg>
      <pc:sldChg chg="addSp modSp">
        <pc:chgData name="Paul Winser" userId="c3146a91-e6bd-4264-bd86-e164e04bc32d" providerId="ADAL" clId="{D9345031-FE69-41C2-81B2-D5D2F1FA0E09}" dt="2025-07-18T08:30:46.757" v="24"/>
        <pc:sldMkLst>
          <pc:docMk/>
          <pc:sldMk cId="986897186" sldId="388"/>
        </pc:sldMkLst>
        <pc:spChg chg="add mod">
          <ac:chgData name="Paul Winser" userId="c3146a91-e6bd-4264-bd86-e164e04bc32d" providerId="ADAL" clId="{D9345031-FE69-41C2-81B2-D5D2F1FA0E09}" dt="2025-07-18T08:30:46.757" v="24"/>
          <ac:spMkLst>
            <pc:docMk/>
            <pc:sldMk cId="986897186" sldId="388"/>
            <ac:spMk id="4" creationId="{2149465D-E205-780A-0D70-A2D883425AC4}"/>
          </ac:spMkLst>
        </pc:spChg>
      </pc:sldChg>
      <pc:sldChg chg="addSp modSp">
        <pc:chgData name="Paul Winser" userId="c3146a91-e6bd-4264-bd86-e164e04bc32d" providerId="ADAL" clId="{D9345031-FE69-41C2-81B2-D5D2F1FA0E09}" dt="2025-07-18T08:30:52.371" v="28"/>
        <pc:sldMkLst>
          <pc:docMk/>
          <pc:sldMk cId="893745891" sldId="389"/>
        </pc:sldMkLst>
        <pc:spChg chg="add mod">
          <ac:chgData name="Paul Winser" userId="c3146a91-e6bd-4264-bd86-e164e04bc32d" providerId="ADAL" clId="{D9345031-FE69-41C2-81B2-D5D2F1FA0E09}" dt="2025-07-18T08:30:52.371" v="28"/>
          <ac:spMkLst>
            <pc:docMk/>
            <pc:sldMk cId="893745891" sldId="389"/>
            <ac:spMk id="2" creationId="{E94AFB42-63E3-73F6-0BA0-EE239BFFE368}"/>
          </ac:spMkLst>
        </pc:spChg>
      </pc:sldChg>
      <pc:sldChg chg="addSp modSp">
        <pc:chgData name="Paul Winser" userId="c3146a91-e6bd-4264-bd86-e164e04bc32d" providerId="ADAL" clId="{D9345031-FE69-41C2-81B2-D5D2F1FA0E09}" dt="2025-07-18T08:30:39.110" v="18"/>
        <pc:sldMkLst>
          <pc:docMk/>
          <pc:sldMk cId="3523347026" sldId="390"/>
        </pc:sldMkLst>
        <pc:spChg chg="add mod">
          <ac:chgData name="Paul Winser" userId="c3146a91-e6bd-4264-bd86-e164e04bc32d" providerId="ADAL" clId="{D9345031-FE69-41C2-81B2-D5D2F1FA0E09}" dt="2025-07-18T08:30:39.110" v="18"/>
          <ac:spMkLst>
            <pc:docMk/>
            <pc:sldMk cId="3523347026" sldId="390"/>
            <ac:spMk id="2" creationId="{5F1A4073-9937-BC32-9F85-E7715B49EC90}"/>
          </ac:spMkLst>
        </pc:spChg>
      </pc:sldChg>
      <pc:sldChg chg="addSp modSp">
        <pc:chgData name="Paul Winser" userId="c3146a91-e6bd-4264-bd86-e164e04bc32d" providerId="ADAL" clId="{D9345031-FE69-41C2-81B2-D5D2F1FA0E09}" dt="2025-07-18T08:30:40.328" v="19"/>
        <pc:sldMkLst>
          <pc:docMk/>
          <pc:sldMk cId="980976776" sldId="392"/>
        </pc:sldMkLst>
        <pc:spChg chg="add mod">
          <ac:chgData name="Paul Winser" userId="c3146a91-e6bd-4264-bd86-e164e04bc32d" providerId="ADAL" clId="{D9345031-FE69-41C2-81B2-D5D2F1FA0E09}" dt="2025-07-18T08:30:40.328" v="19"/>
          <ac:spMkLst>
            <pc:docMk/>
            <pc:sldMk cId="980976776" sldId="392"/>
            <ac:spMk id="4" creationId="{5DAF140E-9C30-9989-1121-0CA6A4BEAFB6}"/>
          </ac:spMkLst>
        </pc:spChg>
      </pc:sldChg>
      <pc:sldChg chg="addSp modSp">
        <pc:chgData name="Paul Winser" userId="c3146a91-e6bd-4264-bd86-e164e04bc32d" providerId="ADAL" clId="{D9345031-FE69-41C2-81B2-D5D2F1FA0E09}" dt="2025-07-18T08:30:49.489" v="26"/>
        <pc:sldMkLst>
          <pc:docMk/>
          <pc:sldMk cId="4170246515" sldId="393"/>
        </pc:sldMkLst>
        <pc:spChg chg="add mod">
          <ac:chgData name="Paul Winser" userId="c3146a91-e6bd-4264-bd86-e164e04bc32d" providerId="ADAL" clId="{D9345031-FE69-41C2-81B2-D5D2F1FA0E09}" dt="2025-07-18T08:30:49.489" v="26"/>
          <ac:spMkLst>
            <pc:docMk/>
            <pc:sldMk cId="4170246515" sldId="393"/>
            <ac:spMk id="2" creationId="{ED35A7C6-80F0-DB28-EB9B-CA9013B8CB41}"/>
          </ac:spMkLst>
        </pc:spChg>
      </pc:sldChg>
      <pc:sldChg chg="addSp modSp">
        <pc:chgData name="Paul Winser" userId="c3146a91-e6bd-4264-bd86-e164e04bc32d" providerId="ADAL" clId="{D9345031-FE69-41C2-81B2-D5D2F1FA0E09}" dt="2025-07-18T08:30:53.565" v="29"/>
        <pc:sldMkLst>
          <pc:docMk/>
          <pc:sldMk cId="1027662134" sldId="394"/>
        </pc:sldMkLst>
        <pc:spChg chg="add mod">
          <ac:chgData name="Paul Winser" userId="c3146a91-e6bd-4264-bd86-e164e04bc32d" providerId="ADAL" clId="{D9345031-FE69-41C2-81B2-D5D2F1FA0E09}" dt="2025-07-18T08:30:53.565" v="29"/>
          <ac:spMkLst>
            <pc:docMk/>
            <pc:sldMk cId="1027662134" sldId="394"/>
            <ac:spMk id="4" creationId="{B0478DE0-79B6-01C0-E6FD-4F02B79E3275}"/>
          </ac:spMkLst>
        </pc:spChg>
      </pc:sldChg>
      <pc:sldChg chg="addSp modSp">
        <pc:chgData name="Paul Winser" userId="c3146a91-e6bd-4264-bd86-e164e04bc32d" providerId="ADAL" clId="{D9345031-FE69-41C2-81B2-D5D2F1FA0E09}" dt="2025-07-18T08:30:56.095" v="31"/>
        <pc:sldMkLst>
          <pc:docMk/>
          <pc:sldMk cId="2871269373" sldId="395"/>
        </pc:sldMkLst>
        <pc:spChg chg="add mod">
          <ac:chgData name="Paul Winser" userId="c3146a91-e6bd-4264-bd86-e164e04bc32d" providerId="ADAL" clId="{D9345031-FE69-41C2-81B2-D5D2F1FA0E09}" dt="2025-07-18T08:30:56.095" v="31"/>
          <ac:spMkLst>
            <pc:docMk/>
            <pc:sldMk cId="2871269373" sldId="395"/>
            <ac:spMk id="2" creationId="{021EF7A6-B584-5B8E-7035-1DA8933CDCD8}"/>
          </ac:spMkLst>
        </pc:spChg>
      </pc:sldChg>
      <pc:sldChg chg="addSp modSp">
        <pc:chgData name="Paul Winser" userId="c3146a91-e6bd-4264-bd86-e164e04bc32d" providerId="ADAL" clId="{D9345031-FE69-41C2-81B2-D5D2F1FA0E09}" dt="2025-07-18T08:30:24.156" v="7"/>
        <pc:sldMkLst>
          <pc:docMk/>
          <pc:sldMk cId="722076447" sldId="396"/>
        </pc:sldMkLst>
        <pc:spChg chg="add mod">
          <ac:chgData name="Paul Winser" userId="c3146a91-e6bd-4264-bd86-e164e04bc32d" providerId="ADAL" clId="{D9345031-FE69-41C2-81B2-D5D2F1FA0E09}" dt="2025-07-18T08:30:24.156" v="7"/>
          <ac:spMkLst>
            <pc:docMk/>
            <pc:sldMk cId="722076447" sldId="396"/>
            <ac:spMk id="4" creationId="{C1EBB05C-F7EB-DC04-A866-E7BBE0BE566F}"/>
          </ac:spMkLst>
        </pc:spChg>
      </pc:sldChg>
      <pc:sldChg chg="addSp modSp">
        <pc:chgData name="Paul Winser" userId="c3146a91-e6bd-4264-bd86-e164e04bc32d" providerId="ADAL" clId="{D9345031-FE69-41C2-81B2-D5D2F1FA0E09}" dt="2025-07-18T08:30:27.018" v="9"/>
        <pc:sldMkLst>
          <pc:docMk/>
          <pc:sldMk cId="2139187693" sldId="397"/>
        </pc:sldMkLst>
        <pc:spChg chg="add mod">
          <ac:chgData name="Paul Winser" userId="c3146a91-e6bd-4264-bd86-e164e04bc32d" providerId="ADAL" clId="{D9345031-FE69-41C2-81B2-D5D2F1FA0E09}" dt="2025-07-18T08:30:27.018" v="9"/>
          <ac:spMkLst>
            <pc:docMk/>
            <pc:sldMk cId="2139187693" sldId="397"/>
            <ac:spMk id="3" creationId="{88F757FB-6FA1-46CF-9203-97CB7F371A94}"/>
          </ac:spMkLst>
        </pc:spChg>
      </pc:sldChg>
      <pc:sldChg chg="addSp modSp">
        <pc:chgData name="Paul Winser" userId="c3146a91-e6bd-4264-bd86-e164e04bc32d" providerId="ADAL" clId="{D9345031-FE69-41C2-81B2-D5D2F1FA0E09}" dt="2025-07-18T08:30:29.713" v="11"/>
        <pc:sldMkLst>
          <pc:docMk/>
          <pc:sldMk cId="2128976804" sldId="398"/>
        </pc:sldMkLst>
        <pc:spChg chg="add mod">
          <ac:chgData name="Paul Winser" userId="c3146a91-e6bd-4264-bd86-e164e04bc32d" providerId="ADAL" clId="{D9345031-FE69-41C2-81B2-D5D2F1FA0E09}" dt="2025-07-18T08:30:29.713" v="11"/>
          <ac:spMkLst>
            <pc:docMk/>
            <pc:sldMk cId="2128976804" sldId="398"/>
            <ac:spMk id="2" creationId="{7CADBFDF-597C-633A-8FA7-537FEF9ADED0}"/>
          </ac:spMkLst>
        </pc:spChg>
      </pc:sldChg>
      <pc:sldChg chg="addSp modSp">
        <pc:chgData name="Paul Winser" userId="c3146a91-e6bd-4264-bd86-e164e04bc32d" providerId="ADAL" clId="{D9345031-FE69-41C2-81B2-D5D2F1FA0E09}" dt="2025-07-18T08:30:31.103" v="12"/>
        <pc:sldMkLst>
          <pc:docMk/>
          <pc:sldMk cId="854118915" sldId="399"/>
        </pc:sldMkLst>
        <pc:spChg chg="add mod">
          <ac:chgData name="Paul Winser" userId="c3146a91-e6bd-4264-bd86-e164e04bc32d" providerId="ADAL" clId="{D9345031-FE69-41C2-81B2-D5D2F1FA0E09}" dt="2025-07-18T08:30:31.103" v="12"/>
          <ac:spMkLst>
            <pc:docMk/>
            <pc:sldMk cId="854118915" sldId="399"/>
            <ac:spMk id="4" creationId="{EECDD9F1-B27A-550A-71C9-BA9017F257BA}"/>
          </ac:spMkLst>
        </pc:spChg>
      </pc:sldChg>
      <pc:sldChg chg="addSp modSp">
        <pc:chgData name="Paul Winser" userId="c3146a91-e6bd-4264-bd86-e164e04bc32d" providerId="ADAL" clId="{D9345031-FE69-41C2-81B2-D5D2F1FA0E09}" dt="2025-07-18T08:30:35.018" v="15"/>
        <pc:sldMkLst>
          <pc:docMk/>
          <pc:sldMk cId="996462150" sldId="400"/>
        </pc:sldMkLst>
        <pc:spChg chg="add mod">
          <ac:chgData name="Paul Winser" userId="c3146a91-e6bd-4264-bd86-e164e04bc32d" providerId="ADAL" clId="{D9345031-FE69-41C2-81B2-D5D2F1FA0E09}" dt="2025-07-18T08:30:35.018" v="15"/>
          <ac:spMkLst>
            <pc:docMk/>
            <pc:sldMk cId="996462150" sldId="400"/>
            <ac:spMk id="3" creationId="{5ED7454B-A321-35D6-177F-B7E5B9568AC2}"/>
          </ac:spMkLst>
        </pc:spChg>
      </pc:sldChg>
      <pc:sldChg chg="addSp modSp">
        <pc:chgData name="Paul Winser" userId="c3146a91-e6bd-4264-bd86-e164e04bc32d" providerId="ADAL" clId="{D9345031-FE69-41C2-81B2-D5D2F1FA0E09}" dt="2025-07-18T08:30:41.583" v="20"/>
        <pc:sldMkLst>
          <pc:docMk/>
          <pc:sldMk cId="776992598" sldId="401"/>
        </pc:sldMkLst>
        <pc:spChg chg="add mod">
          <ac:chgData name="Paul Winser" userId="c3146a91-e6bd-4264-bd86-e164e04bc32d" providerId="ADAL" clId="{D9345031-FE69-41C2-81B2-D5D2F1FA0E09}" dt="2025-07-18T08:30:41.583" v="20"/>
          <ac:spMkLst>
            <pc:docMk/>
            <pc:sldMk cId="776992598" sldId="401"/>
            <ac:spMk id="2" creationId="{EA087860-C50C-3A23-ADAF-3F2136042F7E}"/>
          </ac:spMkLst>
        </pc:spChg>
      </pc:sldChg>
      <pc:sldChg chg="addSp modSp">
        <pc:chgData name="Paul Winser" userId="c3146a91-e6bd-4264-bd86-e164e04bc32d" providerId="ADAL" clId="{D9345031-FE69-41C2-81B2-D5D2F1FA0E09}" dt="2025-07-18T08:30:45.344" v="23"/>
        <pc:sldMkLst>
          <pc:docMk/>
          <pc:sldMk cId="2272000274" sldId="402"/>
        </pc:sldMkLst>
        <pc:spChg chg="add mod">
          <ac:chgData name="Paul Winser" userId="c3146a91-e6bd-4264-bd86-e164e04bc32d" providerId="ADAL" clId="{D9345031-FE69-41C2-81B2-D5D2F1FA0E09}" dt="2025-07-18T08:30:45.344" v="23"/>
          <ac:spMkLst>
            <pc:docMk/>
            <pc:sldMk cId="2272000274" sldId="402"/>
            <ac:spMk id="3" creationId="{8800814D-1CFF-00B8-2B27-A85EF5153562}"/>
          </ac:spMkLst>
        </pc:spChg>
      </pc:sldChg>
      <pc:sldChg chg="addSp modSp">
        <pc:chgData name="Paul Winser" userId="c3146a91-e6bd-4264-bd86-e164e04bc32d" providerId="ADAL" clId="{D9345031-FE69-41C2-81B2-D5D2F1FA0E09}" dt="2025-07-18T08:30:48.236" v="25"/>
        <pc:sldMkLst>
          <pc:docMk/>
          <pc:sldMk cId="808472914" sldId="403"/>
        </pc:sldMkLst>
        <pc:spChg chg="add mod">
          <ac:chgData name="Paul Winser" userId="c3146a91-e6bd-4264-bd86-e164e04bc32d" providerId="ADAL" clId="{D9345031-FE69-41C2-81B2-D5D2F1FA0E09}" dt="2025-07-18T08:30:48.236" v="25"/>
          <ac:spMkLst>
            <pc:docMk/>
            <pc:sldMk cId="808472914" sldId="403"/>
            <ac:spMk id="4" creationId="{12A40C0B-BD32-54B7-9B47-5669FE70C084}"/>
          </ac:spMkLst>
        </pc:spChg>
      </pc:sldChg>
      <pc:sldChg chg="addSp modSp">
        <pc:chgData name="Paul Winser" userId="c3146a91-e6bd-4264-bd86-e164e04bc32d" providerId="ADAL" clId="{D9345031-FE69-41C2-81B2-D5D2F1FA0E09}" dt="2025-07-18T08:30:50.994" v="27"/>
        <pc:sldMkLst>
          <pc:docMk/>
          <pc:sldMk cId="2074110846" sldId="404"/>
        </pc:sldMkLst>
        <pc:spChg chg="add mod">
          <ac:chgData name="Paul Winser" userId="c3146a91-e6bd-4264-bd86-e164e04bc32d" providerId="ADAL" clId="{D9345031-FE69-41C2-81B2-D5D2F1FA0E09}" dt="2025-07-18T08:30:50.994" v="27"/>
          <ac:spMkLst>
            <pc:docMk/>
            <pc:sldMk cId="2074110846" sldId="404"/>
            <ac:spMk id="4" creationId="{9790A8C3-B21A-6937-B298-B6748D067B1C}"/>
          </ac:spMkLst>
        </pc:spChg>
      </pc:sldChg>
      <pc:sldChg chg="addSp modSp">
        <pc:chgData name="Paul Winser" userId="c3146a91-e6bd-4264-bd86-e164e04bc32d" providerId="ADAL" clId="{D9345031-FE69-41C2-81B2-D5D2F1FA0E09}" dt="2025-07-18T08:30:59.242" v="33"/>
        <pc:sldMkLst>
          <pc:docMk/>
          <pc:sldMk cId="3082794229" sldId="405"/>
        </pc:sldMkLst>
        <pc:spChg chg="add mod">
          <ac:chgData name="Paul Winser" userId="c3146a91-e6bd-4264-bd86-e164e04bc32d" providerId="ADAL" clId="{D9345031-FE69-41C2-81B2-D5D2F1FA0E09}" dt="2025-07-18T08:30:59.242" v="33"/>
          <ac:spMkLst>
            <pc:docMk/>
            <pc:sldMk cId="3082794229" sldId="405"/>
            <ac:spMk id="2" creationId="{D4ED0365-20C8-BD47-0757-6546AC8E6402}"/>
          </ac:spMkLst>
        </pc:spChg>
      </pc:sldChg>
      <pc:sldChg chg="addSp modSp">
        <pc:chgData name="Paul Winser" userId="c3146a91-e6bd-4264-bd86-e164e04bc32d" providerId="ADAL" clId="{D9345031-FE69-41C2-81B2-D5D2F1FA0E09}" dt="2025-07-18T08:30:54.836" v="30"/>
        <pc:sldMkLst>
          <pc:docMk/>
          <pc:sldMk cId="499075679" sldId="406"/>
        </pc:sldMkLst>
        <pc:spChg chg="add mod">
          <ac:chgData name="Paul Winser" userId="c3146a91-e6bd-4264-bd86-e164e04bc32d" providerId="ADAL" clId="{D9345031-FE69-41C2-81B2-D5D2F1FA0E09}" dt="2025-07-18T08:30:54.836" v="30"/>
          <ac:spMkLst>
            <pc:docMk/>
            <pc:sldMk cId="499075679" sldId="406"/>
            <ac:spMk id="2" creationId="{B849DDD9-284D-41AC-8176-5B4E8797C22C}"/>
          </ac:spMkLst>
        </pc:spChg>
      </pc:sldChg>
      <pc:sldChg chg="addSp modSp">
        <pc:chgData name="Paul Winser" userId="c3146a91-e6bd-4264-bd86-e164e04bc32d" providerId="ADAL" clId="{D9345031-FE69-41C2-81B2-D5D2F1FA0E09}" dt="2025-07-18T08:30:57.388" v="32"/>
        <pc:sldMkLst>
          <pc:docMk/>
          <pc:sldMk cId="284793606" sldId="407"/>
        </pc:sldMkLst>
        <pc:spChg chg="add mod">
          <ac:chgData name="Paul Winser" userId="c3146a91-e6bd-4264-bd86-e164e04bc32d" providerId="ADAL" clId="{D9345031-FE69-41C2-81B2-D5D2F1FA0E09}" dt="2025-07-18T08:30:57.388" v="32"/>
          <ac:spMkLst>
            <pc:docMk/>
            <pc:sldMk cId="284793606" sldId="407"/>
            <ac:spMk id="3" creationId="{9950320F-BCF0-53AE-9DF4-85AA04ED950C}"/>
          </ac:spMkLst>
        </pc:spChg>
      </pc:sldChg>
      <pc:sldChg chg="addSp modSp">
        <pc:chgData name="Paul Winser" userId="c3146a91-e6bd-4264-bd86-e164e04bc32d" providerId="ADAL" clId="{D9345031-FE69-41C2-81B2-D5D2F1FA0E09}" dt="2025-07-18T08:31:00.273" v="34"/>
        <pc:sldMkLst>
          <pc:docMk/>
          <pc:sldMk cId="3798915210" sldId="408"/>
        </pc:sldMkLst>
        <pc:spChg chg="add mod">
          <ac:chgData name="Paul Winser" userId="c3146a91-e6bd-4264-bd86-e164e04bc32d" providerId="ADAL" clId="{D9345031-FE69-41C2-81B2-D5D2F1FA0E09}" dt="2025-07-18T08:31:00.273" v="34"/>
          <ac:spMkLst>
            <pc:docMk/>
            <pc:sldMk cId="3798915210" sldId="408"/>
            <ac:spMk id="4" creationId="{C57EE469-13AE-320B-8161-34830257CF8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232959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330203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290361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2956349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3720875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2374057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4005866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904139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2919336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1897320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15</a:t>
            </a:fld>
            <a:endParaRPr lang="en-GB" altLang="en-US"/>
          </a:p>
        </p:txBody>
      </p:sp>
    </p:spTree>
    <p:extLst>
      <p:ext uri="{BB962C8B-B14F-4D97-AF65-F5344CB8AC3E}">
        <p14:creationId xmlns:p14="http://schemas.microsoft.com/office/powerpoint/2010/main" val="1553486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4219346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a:p>
        </p:txBody>
      </p:sp>
    </p:spTree>
    <p:extLst>
      <p:ext uri="{BB962C8B-B14F-4D97-AF65-F5344CB8AC3E}">
        <p14:creationId xmlns:p14="http://schemas.microsoft.com/office/powerpoint/2010/main" val="33880933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3880621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140099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2420604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2878295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486837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23</a:t>
            </a:fld>
            <a:endParaRPr lang="en-GB" altLang="en-US"/>
          </a:p>
        </p:txBody>
      </p:sp>
    </p:spTree>
    <p:extLst>
      <p:ext uri="{BB962C8B-B14F-4D97-AF65-F5344CB8AC3E}">
        <p14:creationId xmlns:p14="http://schemas.microsoft.com/office/powerpoint/2010/main" val="4692841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a:p>
        </p:txBody>
      </p:sp>
    </p:spTree>
    <p:extLst>
      <p:ext uri="{BB962C8B-B14F-4D97-AF65-F5344CB8AC3E}">
        <p14:creationId xmlns:p14="http://schemas.microsoft.com/office/powerpoint/2010/main" val="13618685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909660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a:p>
        </p:txBody>
      </p:sp>
    </p:spTree>
    <p:extLst>
      <p:ext uri="{BB962C8B-B14F-4D97-AF65-F5344CB8AC3E}">
        <p14:creationId xmlns:p14="http://schemas.microsoft.com/office/powerpoint/2010/main" val="1264654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a:p>
        </p:txBody>
      </p:sp>
    </p:spTree>
    <p:extLst>
      <p:ext uri="{BB962C8B-B14F-4D97-AF65-F5344CB8AC3E}">
        <p14:creationId xmlns:p14="http://schemas.microsoft.com/office/powerpoint/2010/main" val="2176031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2646068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27492860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a:p>
        </p:txBody>
      </p:sp>
    </p:spTree>
    <p:extLst>
      <p:ext uri="{BB962C8B-B14F-4D97-AF65-F5344CB8AC3E}">
        <p14:creationId xmlns:p14="http://schemas.microsoft.com/office/powerpoint/2010/main" val="27327678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a:p>
        </p:txBody>
      </p:sp>
    </p:spTree>
    <p:extLst>
      <p:ext uri="{BB962C8B-B14F-4D97-AF65-F5344CB8AC3E}">
        <p14:creationId xmlns:p14="http://schemas.microsoft.com/office/powerpoint/2010/main" val="3933940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32</a:t>
            </a:fld>
            <a:endParaRPr lang="en-GB" altLang="en-US"/>
          </a:p>
        </p:txBody>
      </p:sp>
    </p:spTree>
    <p:extLst>
      <p:ext uri="{BB962C8B-B14F-4D97-AF65-F5344CB8AC3E}">
        <p14:creationId xmlns:p14="http://schemas.microsoft.com/office/powerpoint/2010/main" val="1276699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8.jpeg"/><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9.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10.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1.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2.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4" name="Picture 8">
            <a:extLst>
              <a:ext uri="{FF2B5EF4-FFF2-40B4-BE49-F238E27FC236}">
                <a16:creationId xmlns:a16="http://schemas.microsoft.com/office/drawing/2014/main" id="{51DE4476-F13A-197B-45AB-D8AF701C27BE}"/>
              </a:ext>
            </a:extLst>
          </p:cNvPr>
          <p:cNvPicPr>
            <a:picLocks noChangeAspect="1" noChangeArrowheads="1"/>
          </p:cNvPicPr>
          <p:nvPr userDrawn="1"/>
        </p:nvPicPr>
        <p:blipFill rotWithShape="1">
          <a:blip r:embed="rId17" cstate="print">
            <a:extLst>
              <a:ext uri="{28A0092B-C50C-407E-A947-70E740481C1C}">
                <a14:useLocalDpi xmlns:a14="http://schemas.microsoft.com/office/drawing/2010/main"/>
              </a:ext>
            </a:extLst>
          </a:blip>
          <a:srcRect r="39763"/>
          <a:stretch/>
        </p:blipFill>
        <p:spPr bwMode="auto">
          <a:xfrm>
            <a:off x="0" y="-27384"/>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A1CC4294-12D9-6F01-B215-09F2BEC38F1E}"/>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الهندسة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23467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dirty="0">
                <a:latin typeface="Times New Roman" panose="02020603050405020304" pitchFamily="18" charset="0"/>
                <a:cs typeface="Times New Roman" panose="02020603050405020304" pitchFamily="18" charset="0"/>
              </a:rPr>
              <a:t>الوحدة 43: عمليات المعالجة الآلية التصنيعية باستخدام التحكم العددي الحاسوبي</a:t>
            </a:r>
            <a:br>
              <a:rPr lang="en-GB" altLang="en-US" dirty="0">
                <a:latin typeface="Times New Roman" panose="02020603050405020304" pitchFamily="18" charset="0"/>
                <a:cs typeface="Times New Roman" panose="02020603050405020304" pitchFamily="18" charset="0"/>
              </a:rPr>
            </a:br>
            <a:br>
              <a:rPr lang="en-GB" altLang="en-US" dirty="0">
                <a:latin typeface="Times New Roman" panose="02020603050405020304" pitchFamily="18" charset="0"/>
                <a:cs typeface="Times New Roman" panose="02020603050405020304" pitchFamily="18" charset="0"/>
              </a:rPr>
            </a:br>
            <a:endParaRPr lang="en-GB" altLang="en-US" dirty="0">
              <a:latin typeface="Times New Roman" panose="02020603050405020304" pitchFamily="18" charset="0"/>
              <a:cs typeface="Times New Roman" panose="02020603050405020304" pitchFamily="18" charset="0"/>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a:bodyPr>
          <a:lstStyle/>
          <a:p>
            <a:pPr algn="ctr" rtl="1">
              <a:lnSpc>
                <a:spcPct val="90000"/>
              </a:lnSpc>
              <a:spcAft>
                <a:spcPts val="600"/>
              </a:spcAft>
              <a:defRPr/>
            </a:pPr>
            <a:r>
              <a:rPr lang="ar" sz="1200">
                <a:latin typeface="Times New Roman" panose="02020603050405020304" pitchFamily="18"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sp>
        <p:nvSpPr>
          <p:cNvPr id="2" name="Footer Placeholder 2">
            <a:extLst>
              <a:ext uri="{FF2B5EF4-FFF2-40B4-BE49-F238E27FC236}">
                <a16:creationId xmlns:a16="http://schemas.microsoft.com/office/drawing/2014/main" id="{84FE25BC-0FBA-44A5-029A-657FEB7B443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5222" y="1484784"/>
            <a:ext cx="9115793"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lnSpc>
                <a:spcPct val="140000"/>
              </a:lnSpc>
              <a:buNone/>
            </a:pPr>
            <a:r>
              <a:rPr lang="ar" sz="1200" b="1" dirty="0">
                <a:latin typeface="Times New Roman" panose="02020603050405020304" pitchFamily="18" charset="0"/>
                <a:cs typeface="Times New Roman" panose="02020603050405020304" pitchFamily="18" charset="0"/>
              </a:rPr>
              <a:t>الموجز</a:t>
            </a:r>
            <a:br>
              <a:rPr lang="en-GB" sz="1200" dirty="0">
                <a:latin typeface="Times New Roman" panose="02020603050405020304" pitchFamily="18" charset="0"/>
                <a:cs typeface="Times New Roman" panose="02020603050405020304" pitchFamily="18" charset="0"/>
              </a:rPr>
            </a:br>
            <a:r>
              <a:rPr lang="ar" sz="1200" dirty="0">
                <a:latin typeface="Times New Roman" panose="02020603050405020304" pitchFamily="18" charset="0"/>
                <a:cs typeface="Times New Roman" panose="02020603050405020304" pitchFamily="18" charset="0"/>
              </a:rPr>
              <a:t>تهدف هذه الوحدة إلى تمكين المتعلّمين من اكتساب المعرفة العملية والنظرية المتعلقة بعمليات المعالجة الآلية باستخدام أنظمة التحكم العددي الحاسوبي (CNC). وتتضمن التدريب على برمجة ماكينات CNC، وضبط إعداداتها، وتشغيلها بأمان لإنتاج مكوّنات دقيقة. وسيستكشف المتعلّمون مفاهيم رئيسة تشمل أنظمة التحكم بماكينة CNC، وآليات الاستجابة والتغذية الراجعة، وتقنيات برمجة أجزاء الماكينة. ومن خلال أنشطة تطبيقية، سيُعِدُّ المتعلّمون كتيبات ضبط الماكينة، وكتابة برامج تشغيل أجزاء الماكينة، وتوظيف أدوات المحاكاة للتحقق من مدى دقة البرمجة. </a:t>
            </a:r>
            <a:br>
              <a:rPr lang="en-US" sz="1200" dirty="0">
                <a:latin typeface="Times New Roman" panose="02020603050405020304" pitchFamily="18" charset="0"/>
                <a:cs typeface="Times New Roman" panose="02020603050405020304" pitchFamily="18" charset="0"/>
              </a:rPr>
            </a:br>
            <a:r>
              <a:rPr lang="ar" sz="1200" dirty="0">
                <a:latin typeface="Times New Roman" panose="02020603050405020304" pitchFamily="18" charset="0"/>
                <a:cs typeface="Times New Roman" panose="02020603050405020304" pitchFamily="18" charset="0"/>
              </a:rPr>
              <a:t>كما تتناول الوحدة اعتبارات الاستدامة في عمليات المعالجة الآلية باستخدام ماكينات CNC، وذلك لضمان وعي المتعلّمين بأثر استهلاك الموارد والحد من الإسراف. وتُعد هذه الوحدة نقطة انطلاق لمسارات مهنية في مجالات الهندسة الدقيقة، والمعالجة الآلية باستخدام ماكينات CNC، والتصنيع. وتوفّر هذه الوحدة أساسًا متينًا لمواصلة الدراسة في تقنيات التصنيع المتقدمة.</a:t>
            </a:r>
            <a:br>
              <a:rPr lang="en-GB" sz="1200" dirty="0">
                <a:latin typeface="Times New Roman" panose="02020603050405020304" pitchFamily="18" charset="0"/>
                <a:cs typeface="Times New Roman" panose="02020603050405020304" pitchFamily="18" charset="0"/>
              </a:rPr>
            </a:br>
            <a:br>
              <a:rPr lang="en-GB" sz="1200" dirty="0">
                <a:latin typeface="Times New Roman" panose="02020603050405020304" pitchFamily="18" charset="0"/>
                <a:cs typeface="Times New Roman" panose="02020603050405020304" pitchFamily="18" charset="0"/>
              </a:rPr>
            </a:br>
            <a:r>
              <a:rPr lang="ar" sz="1200" b="1" dirty="0">
                <a:latin typeface="Times New Roman" panose="02020603050405020304" pitchFamily="18" charset="0"/>
                <a:cs typeface="Times New Roman" panose="02020603050405020304" pitchFamily="18" charset="0"/>
              </a:rPr>
              <a:t>المقدمة </a:t>
            </a:r>
            <a:br>
              <a:rPr lang="en-GB" sz="1200" dirty="0">
                <a:latin typeface="Times New Roman" panose="02020603050405020304" pitchFamily="18" charset="0"/>
                <a:cs typeface="Times New Roman" panose="02020603050405020304" pitchFamily="18" charset="0"/>
              </a:rPr>
            </a:br>
            <a:r>
              <a:rPr lang="ar" sz="1200" dirty="0">
                <a:latin typeface="Times New Roman" panose="02020603050405020304" pitchFamily="18" charset="0"/>
                <a:cs typeface="Times New Roman" panose="02020603050405020304" pitchFamily="18" charset="0"/>
              </a:rPr>
              <a:t>تُعد عمليات المعالجة الآلية باستخدام التحكم العددي الحاسوبي (CNC) من الأعمدة الأساسية في الصناعة الحديثة، فهي تُمكّن التصنيع الدقيق والسريع للمكونات المعقدة المستخدمة في مجالات الفضاء، والسيارات، وتصنيع الأجهزة الطبية.  تتيح ماكينات CNC للمصنّعين تحقيق دقة عالية وتكرارية في الأداء، ما يقلّص وقت الإنتاج ويُخفض التكاليف. في هذه الوحدة، سيكتسب المتعلّمون فهمًا شاملًا لكيفية تشغيل وبرمجة ماكينات CNC، بما في ذلك طرق البرمجة اليدوية والمتحادثة. </a:t>
            </a:r>
          </a:p>
          <a:p>
            <a:pPr marL="0" indent="0" algn="ctr" rtl="1">
              <a:lnSpc>
                <a:spcPct val="140000"/>
              </a:lnSpc>
              <a:buNone/>
            </a:pPr>
            <a:endParaRPr lang="en-GB" sz="1200" dirty="0">
              <a:latin typeface="Times New Roman" panose="02020603050405020304" pitchFamily="18" charset="0"/>
              <a:cs typeface="Times New Roman" panose="02020603050405020304" pitchFamily="18" charset="0"/>
            </a:endParaRPr>
          </a:p>
          <a:p>
            <a:pPr marL="0" indent="0" algn="ctr" rtl="1">
              <a:lnSpc>
                <a:spcPct val="140000"/>
              </a:lnSpc>
              <a:buNone/>
            </a:pPr>
            <a:r>
              <a:rPr lang="ar" sz="1200" dirty="0">
                <a:latin typeface="Times New Roman" panose="02020603050405020304" pitchFamily="18" charset="0"/>
                <a:cs typeface="Times New Roman" panose="02020603050405020304" pitchFamily="18" charset="0"/>
              </a:rPr>
              <a:t>كما سيستكشفون أنظمة التحكم والتغذية الراجعة المستخدمة لضمان دقة وتكرارية عالية في عمليات التشكيل. إضافة إلى ذلك، سيخضع المتعلمون لتدريب عملي على تطوير برامج CNC، وضبط الماكينة وتهيئتها واختبار دقة البرامج باستخدام برمجيات المحاكاة. </a:t>
            </a:r>
          </a:p>
          <a:p>
            <a:pPr marL="0" indent="0" algn="ctr" rtl="1">
              <a:lnSpc>
                <a:spcPct val="140000"/>
              </a:lnSpc>
              <a:buNone/>
            </a:pPr>
            <a:endParaRPr lang="en-GB" sz="1200" dirty="0">
              <a:latin typeface="Times New Roman" panose="02020603050405020304" pitchFamily="18" charset="0"/>
              <a:cs typeface="Times New Roman" panose="02020603050405020304" pitchFamily="18" charset="0"/>
            </a:endParaRPr>
          </a:p>
          <a:p>
            <a:pPr marL="0" indent="0" algn="ctr" rtl="1">
              <a:lnSpc>
                <a:spcPct val="140000"/>
              </a:lnSpc>
              <a:buNone/>
            </a:pPr>
            <a:r>
              <a:rPr lang="ar" sz="1200" dirty="0">
                <a:latin typeface="Times New Roman" panose="02020603050405020304" pitchFamily="18" charset="0"/>
                <a:cs typeface="Times New Roman" panose="02020603050405020304" pitchFamily="18" charset="0"/>
              </a:rPr>
              <a:t>تركّز الوحدة بصورة جليّة على أهمية تطبيق معايير السلامة المهنية، والحفاظ على الموارد البيئية، واعتماد أسلوب تواصل فعّال في أثناء عمليات المعالجة الآلية باستخدام ماكينات CNC. </a:t>
            </a:r>
            <a:br>
              <a:rPr lang="en-US" sz="1200" dirty="0">
                <a:latin typeface="Times New Roman" panose="02020603050405020304" pitchFamily="18" charset="0"/>
                <a:cs typeface="Times New Roman" panose="02020603050405020304" pitchFamily="18" charset="0"/>
              </a:rPr>
            </a:br>
            <a:r>
              <a:rPr lang="ar" sz="1200" dirty="0">
                <a:latin typeface="Times New Roman" panose="02020603050405020304" pitchFamily="18" charset="0"/>
                <a:cs typeface="Times New Roman" panose="02020603050405020304" pitchFamily="18" charset="0"/>
              </a:rPr>
              <a:t>في نهاية هذه الوحدة، سيكون المتعلّمون مؤهلين تأهيلًا كاملًا للعمل في مجالات برمجة CNC، وتشغيل الماكينات، وعمليات التصنيع، إذ سيكتسبون المهارات التقنية المتقدمة والقدرة </a:t>
            </a:r>
            <a:br>
              <a:rPr lang="en-US" sz="1200" dirty="0">
                <a:latin typeface="Times New Roman" panose="02020603050405020304" pitchFamily="18" charset="0"/>
                <a:cs typeface="Times New Roman" panose="02020603050405020304" pitchFamily="18" charset="0"/>
              </a:rPr>
            </a:br>
            <a:r>
              <a:rPr lang="ar" sz="1200" dirty="0">
                <a:latin typeface="Times New Roman" panose="02020603050405020304" pitchFamily="18" charset="0"/>
                <a:cs typeface="Times New Roman" panose="02020603050405020304" pitchFamily="18" charset="0"/>
              </a:rPr>
              <a:t>على مواكبة متطلبات الصناعة الحديثة والتصنيع المتقدّم.</a:t>
            </a:r>
            <a:endParaRPr lang="en-GB" altLang="en-US" sz="1600" dirty="0">
              <a:latin typeface="Times New Roman" panose="02020603050405020304" pitchFamily="18" charset="0"/>
              <a:cs typeface="Times New Roman" panose="02020603050405020304" pitchFamily="18" charset="0"/>
            </a:endParaRPr>
          </a:p>
        </p:txBody>
      </p:sp>
      <p:sp>
        <p:nvSpPr>
          <p:cNvPr id="2" name="Footer Placeholder 2">
            <a:extLst>
              <a:ext uri="{FF2B5EF4-FFF2-40B4-BE49-F238E27FC236}">
                <a16:creationId xmlns:a16="http://schemas.microsoft.com/office/drawing/2014/main" id="{2B7D660D-3B52-FA7A-45C8-109E266BA6B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نتاجات التعلم</a:t>
            </a:r>
            <a:endParaRPr lang="en-GB" altLang="en-US" dirty="0">
              <a:latin typeface="Times New Roman" panose="02020603050405020304" pitchFamily="18" charset="0"/>
              <a:cs typeface="Times New Roman" panose="02020603050405020304" pitchFamily="18" charset="0"/>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11560" y="1772816"/>
            <a:ext cx="7991475" cy="46568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lnSpc>
                <a:spcPct val="140000"/>
              </a:lnSpc>
              <a:buNone/>
            </a:pPr>
            <a:endParaRPr lang="en-GB" altLang="en-US" sz="2000" b="1" dirty="0">
              <a:latin typeface="Times New Roman" panose="02020603050405020304" pitchFamily="18" charset="0"/>
              <a:cs typeface="Times New Roman" panose="02020603050405020304" pitchFamily="18" charset="0"/>
            </a:endParaRPr>
          </a:p>
          <a:p>
            <a:pPr marL="404813" indent="-387350" defTabSz="431800" rtl="1">
              <a:lnSpc>
                <a:spcPct val="140000"/>
              </a:lnSpc>
              <a:buNone/>
            </a:pPr>
            <a:r>
              <a:rPr lang="ar" sz="2000" b="1" dirty="0">
                <a:latin typeface="Times New Roman" panose="02020603050405020304" pitchFamily="18" charset="0"/>
                <a:cs typeface="Times New Roman" panose="02020603050405020304" pitchFamily="18" charset="0"/>
              </a:rPr>
              <a:t>أ	دراسة أنظمة التحكم المستخدمة في ماكينات التحكم العددي الحاسوبي (CNC)،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وأساليب البرمجة الحاسوبية المختلفة</a:t>
            </a:r>
          </a:p>
          <a:p>
            <a:pPr marL="404813" indent="-387350" defTabSz="431800" rtl="1">
              <a:lnSpc>
                <a:spcPct val="140000"/>
              </a:lnSpc>
              <a:buNone/>
            </a:pPr>
            <a:endParaRPr lang="en-GB" altLang="en-US" sz="2000" b="1" dirty="0">
              <a:latin typeface="Times New Roman" panose="02020603050405020304" pitchFamily="18" charset="0"/>
              <a:cs typeface="Times New Roman" panose="02020603050405020304" pitchFamily="18" charset="0"/>
            </a:endParaRPr>
          </a:p>
          <a:p>
            <a:pPr marL="404813" indent="-387350" defTabSz="431800" rtl="1">
              <a:lnSpc>
                <a:spcPct val="140000"/>
              </a:lnSpc>
              <a:buNone/>
            </a:pPr>
            <a:r>
              <a:rPr lang="ar" sz="2000" b="1" dirty="0">
                <a:latin typeface="Times New Roman" panose="02020603050405020304" pitchFamily="18" charset="0"/>
                <a:cs typeface="Times New Roman" panose="02020603050405020304" pitchFamily="18" charset="0"/>
              </a:rPr>
              <a:t>ب	إعداد ورقة الضبط والبرنامج التشغيلي لماكينة CNC لتصنيع مكون بطريقة آمنة</a:t>
            </a:r>
          </a:p>
          <a:p>
            <a:pPr marL="404813" indent="-387350" defTabSz="431800" rtl="1">
              <a:lnSpc>
                <a:spcPct val="140000"/>
              </a:lnSpc>
              <a:buNone/>
            </a:pPr>
            <a:endParaRPr lang="en-GB" altLang="en-US" sz="2000" b="1" dirty="0">
              <a:latin typeface="Times New Roman" panose="02020603050405020304" pitchFamily="18" charset="0"/>
              <a:cs typeface="Times New Roman" panose="02020603050405020304" pitchFamily="18" charset="0"/>
            </a:endParaRPr>
          </a:p>
          <a:p>
            <a:pPr marL="404813" indent="-387350" defTabSz="431800" rtl="1">
              <a:lnSpc>
                <a:spcPct val="140000"/>
              </a:lnSpc>
              <a:buNone/>
            </a:pPr>
            <a:r>
              <a:rPr lang="ar" sz="2000" b="1" dirty="0">
                <a:latin typeface="Times New Roman" panose="02020603050405020304" pitchFamily="18" charset="0"/>
                <a:cs typeface="Times New Roman" panose="02020603050405020304" pitchFamily="18" charset="0"/>
              </a:rPr>
              <a:t>ج	تنفيذ عمليات المعالجة الآلية باستخدام التحكم العددي الحاسوبي لتصنيع مكون بأمان</a:t>
            </a:r>
          </a:p>
          <a:p>
            <a:pPr marL="404813" indent="-387350" defTabSz="431800" rtl="1">
              <a:lnSpc>
                <a:spcPct val="140000"/>
              </a:lnSpc>
              <a:buNone/>
            </a:pPr>
            <a:endParaRPr lang="en-GB" altLang="en-US" sz="2000" b="1" dirty="0">
              <a:latin typeface="Times New Roman" panose="02020603050405020304" pitchFamily="18" charset="0"/>
              <a:cs typeface="Times New Roman" panose="02020603050405020304" pitchFamily="18" charset="0"/>
            </a:endParaRPr>
          </a:p>
          <a:p>
            <a:pPr marL="404813" indent="-387350" defTabSz="431800" rtl="1">
              <a:lnSpc>
                <a:spcPct val="140000"/>
              </a:lnSpc>
              <a:buNone/>
            </a:pPr>
            <a:r>
              <a:rPr lang="ar" sz="2000" b="1" dirty="0">
                <a:latin typeface="Times New Roman" panose="02020603050405020304" pitchFamily="18" charset="0"/>
                <a:cs typeface="Times New Roman" panose="02020603050405020304" pitchFamily="18" charset="0"/>
              </a:rPr>
              <a:t>د	مراجعة العمليات المستخدمة في المعالجة الآلية لمكوِّن وتقييم الأداء الشخصي</a:t>
            </a:r>
          </a:p>
        </p:txBody>
      </p:sp>
      <p:sp>
        <p:nvSpPr>
          <p:cNvPr id="2" name="Footer Placeholder 2">
            <a:extLst>
              <a:ext uri="{FF2B5EF4-FFF2-40B4-BE49-F238E27FC236}">
                <a16:creationId xmlns:a16="http://schemas.microsoft.com/office/drawing/2014/main" id="{FD7561CF-AAD0-6DC3-D9EC-C6859CDEDF8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Times New Roman" panose="02020603050405020304" pitchFamily="18" charset="0"/>
                <a:cs typeface="Times New Roman" panose="02020603050405020304" pitchFamily="18" charset="0"/>
              </a:rPr>
              <a:t>نتاج التعلم أ</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2"/>
            <a:ext cx="7991475" cy="244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140000"/>
              </a:lnSpc>
            </a:pPr>
            <a:r>
              <a:rPr lang="ar" sz="3600" b="1" dirty="0">
                <a:latin typeface="Times New Roman" panose="02020603050405020304" pitchFamily="18" charset="0"/>
                <a:cs typeface="Times New Roman" panose="02020603050405020304" pitchFamily="18" charset="0"/>
              </a:rPr>
              <a:t>دراسة أنظمة التحكم المستخدمة في ماكينات التحكم العددي الحاسوبي (CNC)، وأساليب البرمجة الحاسوبية المختلفة</a:t>
            </a:r>
          </a:p>
        </p:txBody>
      </p:sp>
      <p:sp>
        <p:nvSpPr>
          <p:cNvPr id="2" name="Footer Placeholder 2">
            <a:extLst>
              <a:ext uri="{FF2B5EF4-FFF2-40B4-BE49-F238E27FC236}">
                <a16:creationId xmlns:a16="http://schemas.microsoft.com/office/drawing/2014/main" id="{D3FE2830-14ED-263B-F8E7-4BF93900C74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52736"/>
            <a:ext cx="914400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40000"/>
              </a:lnSpc>
              <a:buNone/>
            </a:pPr>
            <a:r>
              <a:rPr lang="ar" sz="1400" spc="-10" dirty="0">
                <a:latin typeface="Times New Roman" panose="02020603050405020304" pitchFamily="18" charset="0"/>
                <a:cs typeface="Times New Roman" panose="02020603050405020304" pitchFamily="18" charset="0"/>
              </a:rPr>
              <a:t>تعتمد ماكينات CNC على نظام تحكم متكامل يجمع بين أجهزة وبرمجيات متطورة، لضمان تنفيذ الحركة</a:t>
            </a:r>
            <a:r>
              <a:rPr lang="ar" sz="1400" b="1" spc="-10" dirty="0">
                <a:latin typeface="Times New Roman" panose="02020603050405020304" pitchFamily="18" charset="0"/>
                <a:cs typeface="Times New Roman" panose="02020603050405020304" pitchFamily="18" charset="0"/>
              </a:rPr>
              <a:t> بدقة عالية وتكرارية متواصلة وأتمتة متقدمة</a:t>
            </a:r>
            <a:r>
              <a:rPr lang="ar" sz="1400" spc="-10" dirty="0">
                <a:latin typeface="Times New Roman" panose="02020603050405020304" pitchFamily="18" charset="0"/>
                <a:cs typeface="Times New Roman" panose="02020603050405020304" pitchFamily="18" charset="0"/>
              </a:rPr>
              <a:t> في عمليات التصنيع.  يتكوّن نظام التحكم من </a:t>
            </a:r>
            <a:r>
              <a:rPr lang="ar" sz="1400" b="1" spc="-10" dirty="0">
                <a:latin typeface="Times New Roman" panose="02020603050405020304" pitchFamily="18" charset="0"/>
                <a:cs typeface="Times New Roman" panose="02020603050405020304" pitchFamily="18" charset="0"/>
              </a:rPr>
              <a:t>العتاد (hardware) والبرمجيات (software) </a:t>
            </a:r>
            <a:r>
              <a:rPr lang="ar" sz="1400" spc="-10" dirty="0">
                <a:latin typeface="Times New Roman" panose="02020603050405020304" pitchFamily="18" charset="0"/>
                <a:cs typeface="Times New Roman" panose="02020603050405020304" pitchFamily="18" charset="0"/>
              </a:rPr>
              <a:t>تعمل بالتكامل على تفسير التعليمات المبرمجة وتحويلها إلى حركة ميكانيكية دقيقة.</a:t>
            </a:r>
            <a:br>
              <a:rPr lang="en-GB" sz="1400" dirty="0">
                <a:latin typeface="Times New Roman" panose="02020603050405020304" pitchFamily="18" charset="0"/>
                <a:cs typeface="Times New Roman" panose="02020603050405020304" pitchFamily="18" charset="0"/>
              </a:rPr>
            </a:br>
            <a:br>
              <a:rPr lang="en-GB" sz="9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المكونات الأساسية لنظام التحكم في ماكينات التحكم العددي الحاسوبي (CNC).</a:t>
            </a:r>
          </a:p>
          <a:p>
            <a:pPr marL="0" indent="0" rtl="1">
              <a:buNone/>
            </a:pPr>
            <a:br>
              <a:rPr lang="en-GB" sz="9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1. </a:t>
            </a:r>
            <a:r>
              <a:rPr lang="ar" sz="1400" b="1" dirty="0">
                <a:latin typeface="Times New Roman" panose="02020603050405020304" pitchFamily="18" charset="0"/>
                <a:cs typeface="Times New Roman" panose="02020603050405020304" pitchFamily="18" charset="0"/>
              </a:rPr>
              <a:t>وحدة التحكم بالماكينة (ECU):</a:t>
            </a:r>
          </a:p>
          <a:p>
            <a:pPr marL="0" indent="0" rtl="1">
              <a:lnSpc>
                <a:spcPct val="140000"/>
              </a:lnSpc>
              <a:buNone/>
            </a:pPr>
            <a:br>
              <a:rPr lang="en-GB" sz="9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تُعد </a:t>
            </a:r>
            <a:r>
              <a:rPr lang="ar" sz="1400" b="1" dirty="0">
                <a:latin typeface="Times New Roman" panose="02020603050405020304" pitchFamily="18" charset="0"/>
                <a:cs typeface="Times New Roman" panose="02020603050405020304" pitchFamily="18" charset="0"/>
              </a:rPr>
              <a:t>العقل الإلكتروني لماكينة CNC</a:t>
            </a:r>
            <a:r>
              <a:rPr lang="ar" sz="1400" dirty="0">
                <a:latin typeface="Times New Roman" panose="02020603050405020304" pitchFamily="18" charset="0"/>
                <a:cs typeface="Times New Roman" panose="02020603050405020304" pitchFamily="18" charset="0"/>
              </a:rPr>
              <a:t>، وهي المسؤولة عن تنفيذ برنامج التشغيل.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تفسّر</a:t>
            </a:r>
            <a:r>
              <a:rPr lang="ar" sz="1400" b="1" dirty="0">
                <a:latin typeface="Times New Roman" panose="02020603050405020304" pitchFamily="18" charset="0"/>
                <a:cs typeface="Times New Roman" panose="02020603050405020304" pitchFamily="18" charset="0"/>
              </a:rPr>
              <a:t> أوامر G‑code</a:t>
            </a:r>
            <a:r>
              <a:rPr lang="ar" sz="1400" dirty="0">
                <a:latin typeface="Times New Roman" panose="02020603050405020304" pitchFamily="18" charset="0"/>
                <a:cs typeface="Times New Roman" panose="02020603050405020304" pitchFamily="18" charset="0"/>
              </a:rPr>
              <a:t> وتحوّلها إلى حركات ميكانيكية دقيقة.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تتحكّم في تموضع الأداة، ومعدّلات التقديم، وسرعة المغزل، وتغيير الأدوات.</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تتفاعل مع </a:t>
            </a:r>
            <a:r>
              <a:rPr lang="ar" sz="1400" b="1" dirty="0">
                <a:latin typeface="Times New Roman" panose="02020603050405020304" pitchFamily="18" charset="0"/>
                <a:cs typeface="Times New Roman" panose="02020603050405020304" pitchFamily="18" charset="0"/>
              </a:rPr>
              <a:t>أنظمة التغذية الراجعة</a:t>
            </a:r>
            <a:r>
              <a:rPr lang="ar" sz="1400" dirty="0">
                <a:latin typeface="Times New Roman" panose="02020603050405020304" pitchFamily="18" charset="0"/>
                <a:cs typeface="Times New Roman" panose="02020603050405020304" pitchFamily="18" charset="0"/>
              </a:rPr>
              <a:t> لضمان دقة الحركة وتقليل الأخطاء.</a:t>
            </a:r>
          </a:p>
          <a:p>
            <a:pPr marL="0" indent="0" rtl="1">
              <a:buNone/>
            </a:pPr>
            <a:br>
              <a:rPr lang="en-GB" sz="9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2. </a:t>
            </a:r>
            <a:r>
              <a:rPr lang="ar" sz="1400" b="1" dirty="0">
                <a:latin typeface="Times New Roman" panose="02020603050405020304" pitchFamily="18" charset="0"/>
                <a:cs typeface="Times New Roman" panose="02020603050405020304" pitchFamily="18" charset="0"/>
              </a:rPr>
              <a:t>آليات الحركة:</a:t>
            </a:r>
          </a:p>
          <a:p>
            <a:pPr marL="0" indent="0" rtl="1">
              <a:lnSpc>
                <a:spcPct val="140000"/>
              </a:lnSpc>
              <a:buNone/>
            </a:pPr>
            <a:br>
              <a:rPr lang="en-GB" sz="9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تقوم بتحويل </a:t>
            </a:r>
            <a:r>
              <a:rPr lang="ar" sz="1400" b="1" dirty="0">
                <a:latin typeface="Times New Roman" panose="02020603050405020304" pitchFamily="18" charset="0"/>
                <a:cs typeface="Times New Roman" panose="02020603050405020304" pitchFamily="18" charset="0"/>
              </a:rPr>
              <a:t>الإشارات الكهربائية من وحدة التحكم بالماكينة إلى حركة ميكانيكية</a:t>
            </a:r>
            <a:r>
              <a:rPr lang="ar" sz="1400" dirty="0">
                <a:latin typeface="Times New Roman" panose="02020603050405020304" pitchFamily="18" charset="0"/>
                <a:cs typeface="Times New Roman" panose="02020603050405020304" pitchFamily="18" charset="0"/>
              </a:rPr>
              <a:t>.</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تضمن حركة سلسة ومتحكّم فيها لمحاور الماكينة.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تشمل أنواع آليات الحركة الآتي: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براغي الحركة (Lead Screws): آلية تقليدية تعتمد على لولب دوار يتفاعل مع صمولة. على الرغم من بساطتها، إلا أنها قد تُعاني حدوث </a:t>
            </a:r>
            <a:r>
              <a:rPr lang="ar" sz="1400" b="1" dirty="0">
                <a:latin typeface="Times New Roman" panose="02020603050405020304" pitchFamily="18" charset="0"/>
                <a:cs typeface="Times New Roman" panose="02020603050405020304" pitchFamily="18" charset="0"/>
              </a:rPr>
              <a:t>فَوْت (backlash)، ناتج عن وجود فراغ بين الخيوط في اللولب والصمولة.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براغي الكرات (Ball Screws):  تتميز بكفاءة أعلى بفضل استخدام </a:t>
            </a:r>
            <a:r>
              <a:rPr lang="ar" sz="1400" b="1" dirty="0">
                <a:latin typeface="Times New Roman" panose="02020603050405020304" pitchFamily="18" charset="0"/>
                <a:cs typeface="Times New Roman" panose="02020603050405020304" pitchFamily="18" charset="0"/>
              </a:rPr>
              <a:t>كرات متداولة تقلل الاحتكاك</a:t>
            </a:r>
            <a:r>
              <a:rPr lang="ar" sz="1400" dirty="0">
                <a:latin typeface="Times New Roman" panose="02020603050405020304" pitchFamily="18" charset="0"/>
                <a:cs typeface="Times New Roman" panose="02020603050405020304" pitchFamily="18" charset="0"/>
              </a:rPr>
              <a:t>، ما يعزز الدقة ويخفض التآكل.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أ1: أنظمة التحكم في أدوات ماكينات CNC</a:t>
            </a:r>
          </a:p>
        </p:txBody>
      </p:sp>
      <p:sp>
        <p:nvSpPr>
          <p:cNvPr id="2" name="Footer Placeholder 2">
            <a:extLst>
              <a:ext uri="{FF2B5EF4-FFF2-40B4-BE49-F238E27FC236}">
                <a16:creationId xmlns:a16="http://schemas.microsoft.com/office/drawing/2014/main" id="{4DCD32FD-898D-9DA3-77D4-EF4408F4A92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4160411727"/>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39952" y="1052736"/>
            <a:ext cx="5004048"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dirty="0">
                <a:latin typeface="Times New Roman" panose="02020603050405020304" pitchFamily="18" charset="0"/>
                <a:cs typeface="Times New Roman" panose="02020603050405020304" pitchFamily="18" charset="0"/>
              </a:rPr>
              <a:t>• محركات الخطوة (Stepper Motors): تعمل بحركة متدرجة، وتتميّز </a:t>
            </a:r>
            <a:r>
              <a:rPr lang="ar" sz="1400" b="1" dirty="0">
                <a:latin typeface="Times New Roman" panose="02020603050405020304" pitchFamily="18" charset="0"/>
                <a:cs typeface="Times New Roman" panose="02020603050405020304" pitchFamily="18" charset="0"/>
              </a:rPr>
              <a:t>بدقة ممتازة وتكرارية عالية</a:t>
            </a:r>
            <a:r>
              <a:rPr lang="ar" sz="1400" dirty="0">
                <a:latin typeface="Times New Roman" panose="02020603050405020304" pitchFamily="18" charset="0"/>
                <a:cs typeface="Times New Roman" panose="02020603050405020304" pitchFamily="18" charset="0"/>
              </a:rPr>
              <a:t>، ما يجعلها خيارًا اقتصاديًّا وسهلًا للتطبيق</a:t>
            </a:r>
            <a:r>
              <a:rPr lang="ar" sz="1400" b="1" dirty="0">
                <a:latin typeface="Times New Roman" panose="02020603050405020304" pitchFamily="18" charset="0"/>
                <a:cs typeface="Times New Roman" panose="02020603050405020304" pitchFamily="18" charset="0"/>
              </a:rPr>
              <a:t> في ماكينات CNC البسيطة.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محركات السيرفو ذات التيار المتردد (AC Servomotors):  </a:t>
            </a:r>
            <a:r>
              <a:rPr lang="ar" sz="1400" b="1" dirty="0">
                <a:latin typeface="Times New Roman" panose="02020603050405020304" pitchFamily="18" charset="0"/>
                <a:cs typeface="Times New Roman" panose="02020603050405020304" pitchFamily="18" charset="0"/>
              </a:rPr>
              <a:t>توفر استجابة عالية، وسرعة كبيرة، وعزم دوران قوي، ما يجعلها مثالية لماكينات CNC الصناعية ذات </a:t>
            </a:r>
            <a:br>
              <a:rPr lang="en-US" sz="1400" b="1"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الأداء العالي.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محركات السيرفو ذات التيار المستمر (DC Servomotors): تقدّم تحكمًا </a:t>
            </a:r>
            <a:r>
              <a:rPr lang="ar" sz="1400" b="1" dirty="0">
                <a:latin typeface="Times New Roman" panose="02020603050405020304" pitchFamily="18" charset="0"/>
                <a:cs typeface="Times New Roman" panose="02020603050405020304" pitchFamily="18" charset="0"/>
              </a:rPr>
              <a:t>دقيقًا </a:t>
            </a:r>
            <a:br>
              <a:rPr lang="en-US" sz="1400" b="1"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بالسرعة والتسارع</a:t>
            </a:r>
            <a:r>
              <a:rPr lang="ar" sz="1400" dirty="0">
                <a:latin typeface="Times New Roman" panose="02020603050405020304" pitchFamily="18" charset="0"/>
                <a:cs typeface="Times New Roman" panose="02020603050405020304" pitchFamily="18" charset="0"/>
              </a:rPr>
              <a:t>، وتستخدم بكثرة في</a:t>
            </a:r>
            <a:r>
              <a:rPr lang="ar" sz="1400" b="1" dirty="0">
                <a:latin typeface="Times New Roman" panose="02020603050405020304" pitchFamily="18" charset="0"/>
                <a:cs typeface="Times New Roman" panose="02020603050405020304" pitchFamily="18" charset="0"/>
              </a:rPr>
              <a:t> تطبيقات CNC عالية الدقة.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3. </a:t>
            </a:r>
            <a:r>
              <a:rPr lang="ar" sz="1400" b="1" dirty="0">
                <a:latin typeface="Times New Roman" panose="02020603050405020304" pitchFamily="18" charset="0"/>
                <a:cs typeface="Times New Roman" panose="02020603050405020304" pitchFamily="18" charset="0"/>
              </a:rPr>
              <a:t>المُحوّلات وأجهزة التغذية الراجعة: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تضمن </a:t>
            </a:r>
            <a:r>
              <a:rPr lang="ar" sz="1400" b="1" dirty="0">
                <a:latin typeface="Times New Roman" panose="02020603050405020304" pitchFamily="18" charset="0"/>
                <a:cs typeface="Times New Roman" panose="02020603050405020304" pitchFamily="18" charset="0"/>
              </a:rPr>
              <a:t>التموضع الدقيق للأداة</a:t>
            </a:r>
            <a:r>
              <a:rPr lang="ar" sz="1400" dirty="0">
                <a:latin typeface="Times New Roman" panose="02020603050405020304" pitchFamily="18" charset="0"/>
                <a:cs typeface="Times New Roman" panose="02020603050405020304" pitchFamily="18" charset="0"/>
              </a:rPr>
              <a:t> من خلال المراقبة المستمرة للحركة وإرسال بيانات دقيقة إلى نظام التحكم.</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تشمل أنواع المحولات ما يأتي: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المشفّرات الخطية (Linear Encoders): تقيس </a:t>
            </a:r>
            <a:r>
              <a:rPr lang="ar" sz="1400" b="1" dirty="0">
                <a:latin typeface="Times New Roman" panose="02020603050405020304" pitchFamily="18" charset="0"/>
                <a:cs typeface="Times New Roman" panose="02020603050405020304" pitchFamily="18" charset="0"/>
              </a:rPr>
              <a:t>الموضع الفعلي للأداة أو الطاولة على محور مستقيم.</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المشفّرات الدورانية (Rotary Encoders): تتبع </a:t>
            </a:r>
            <a:r>
              <a:rPr lang="ar" sz="1400" b="1" dirty="0">
                <a:latin typeface="Times New Roman" panose="02020603050405020304" pitchFamily="18" charset="0"/>
                <a:cs typeface="Times New Roman" panose="02020603050405020304" pitchFamily="18" charset="0"/>
              </a:rPr>
              <a:t>حركة الزاوية</a:t>
            </a:r>
            <a:r>
              <a:rPr lang="ar" sz="1400" dirty="0">
                <a:latin typeface="Times New Roman" panose="02020603050405020304" pitchFamily="18" charset="0"/>
                <a:cs typeface="Times New Roman" panose="02020603050405020304" pitchFamily="18" charset="0"/>
              </a:rPr>
              <a:t> في الأجزاء الدوارة.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المشفّرات البصرية (Optical Encoders): تستخدم </a:t>
            </a:r>
            <a:r>
              <a:rPr lang="ar" sz="1400" b="1" dirty="0">
                <a:latin typeface="Times New Roman" panose="02020603050405020304" pitchFamily="18" charset="0"/>
                <a:cs typeface="Times New Roman" panose="02020603050405020304" pitchFamily="18" charset="0"/>
              </a:rPr>
              <a:t>ضوءًا لتتبع تغيّرات الحركة</a:t>
            </a:r>
            <a:r>
              <a:rPr lang="ar" sz="1400" dirty="0">
                <a:latin typeface="Times New Roman" panose="02020603050405020304" pitchFamily="18" charset="0"/>
                <a:cs typeface="Times New Roman" panose="02020603050405020304" pitchFamily="18" charset="0"/>
              </a:rPr>
              <a:t>،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ما يوفّر </a:t>
            </a:r>
            <a:r>
              <a:rPr lang="ar" sz="1400" b="1" dirty="0">
                <a:latin typeface="Times New Roman" panose="02020603050405020304" pitchFamily="18" charset="0"/>
                <a:cs typeface="Times New Roman" panose="02020603050405020304" pitchFamily="18" charset="0"/>
              </a:rPr>
              <a:t>دقة عالية في عمليات المعالجة الآلية باستخدام ماكينات CNC.</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تعمل هذه المكونات بتناغم </a:t>
            </a:r>
            <a:r>
              <a:rPr lang="ar" sz="1400" b="1" dirty="0">
                <a:latin typeface="Times New Roman" panose="02020603050405020304" pitchFamily="18" charset="0"/>
                <a:cs typeface="Times New Roman" panose="02020603050405020304" pitchFamily="18" charset="0"/>
              </a:rPr>
              <a:t>لتعزيز الدقة، والأتمتة، والموثوقية</a:t>
            </a:r>
            <a:r>
              <a:rPr lang="ar" sz="1400" dirty="0">
                <a:latin typeface="Times New Roman" panose="02020603050405020304" pitchFamily="18" charset="0"/>
                <a:cs typeface="Times New Roman" panose="02020603050405020304" pitchFamily="18" charset="0"/>
              </a:rPr>
              <a:t> في عمليات المعالجة الآلية باستخدام ماكينات CNC، ما يضمن أن </a:t>
            </a:r>
            <a:r>
              <a:rPr lang="ar" sz="1400" b="1" dirty="0">
                <a:latin typeface="Times New Roman" panose="02020603050405020304" pitchFamily="18" charset="0"/>
                <a:cs typeface="Times New Roman" panose="02020603050405020304" pitchFamily="18" charset="0"/>
              </a:rPr>
              <a:t>الأجزاء المُشكلة آليا تفي بالمعايير الهندسية وتحقق جودة السطح النهائية.</a:t>
            </a:r>
            <a:endParaRPr lang="en-GB"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أ1: أنظمة التحكم في أدوات ماكينات CNC</a:t>
            </a:r>
          </a:p>
        </p:txBody>
      </p:sp>
      <p:grpSp>
        <p:nvGrpSpPr>
          <p:cNvPr id="3" name="Group 2">
            <a:extLst>
              <a:ext uri="{FF2B5EF4-FFF2-40B4-BE49-F238E27FC236}">
                <a16:creationId xmlns:a16="http://schemas.microsoft.com/office/drawing/2014/main" id="{05C3D289-E12E-9E6B-D6F7-C81795A43A1A}"/>
              </a:ext>
            </a:extLst>
          </p:cNvPr>
          <p:cNvGrpSpPr/>
          <p:nvPr/>
        </p:nvGrpSpPr>
        <p:grpSpPr>
          <a:xfrm>
            <a:off x="251520" y="2750858"/>
            <a:ext cx="3779912" cy="2796940"/>
            <a:chOff x="5148064" y="2750858"/>
            <a:chExt cx="3779912" cy="2796940"/>
          </a:xfrm>
        </p:grpSpPr>
        <p:sp>
          <p:nvSpPr>
            <p:cNvPr id="6" name="TextBox 5">
              <a:extLst>
                <a:ext uri="{FF2B5EF4-FFF2-40B4-BE49-F238E27FC236}">
                  <a16:creationId xmlns:a16="http://schemas.microsoft.com/office/drawing/2014/main" id="{1A067F5B-33C4-44F4-A40E-7089ADB05E9C}"/>
                </a:ext>
              </a:extLst>
            </p:cNvPr>
            <p:cNvSpPr txBox="1"/>
            <p:nvPr/>
          </p:nvSpPr>
          <p:spPr>
            <a:xfrm>
              <a:off x="5148064" y="5270799"/>
              <a:ext cx="3779912" cy="276999"/>
            </a:xfrm>
            <a:prstGeom prst="rect">
              <a:avLst/>
            </a:prstGeom>
            <a:noFill/>
          </p:spPr>
          <p:txBody>
            <a:bodyPr wrap="square" rtlCol="1">
              <a:spAutoFit/>
            </a:bodyPr>
            <a:lstStyle/>
            <a:p>
              <a:pPr algn="ctr" rtl="1"/>
              <a:r>
                <a:rPr lang="ar" sz="1200" dirty="0">
                  <a:latin typeface="Times New Roman" panose="02020603050405020304" pitchFamily="18" charset="0"/>
                  <a:cs typeface="Times New Roman" panose="02020603050405020304" pitchFamily="18" charset="0"/>
                </a:rPr>
                <a:t>محركات الخطوة بماكينات CNC</a:t>
              </a:r>
            </a:p>
          </p:txBody>
        </p:sp>
        <p:pic>
          <p:nvPicPr>
            <p:cNvPr id="2" name="Picture 1">
              <a:extLst>
                <a:ext uri="{FF2B5EF4-FFF2-40B4-BE49-F238E27FC236}">
                  <a16:creationId xmlns:a16="http://schemas.microsoft.com/office/drawing/2014/main" id="{34DCDE27-E54F-BCA4-7D26-9190389C0CA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48064" y="2750858"/>
              <a:ext cx="3779912" cy="2519941"/>
            </a:xfrm>
            <a:prstGeom prst="rect">
              <a:avLst/>
            </a:prstGeom>
          </p:spPr>
        </p:pic>
      </p:grpSp>
      <p:sp>
        <p:nvSpPr>
          <p:cNvPr id="4" name="Footer Placeholder 2">
            <a:extLst>
              <a:ext uri="{FF2B5EF4-FFF2-40B4-BE49-F238E27FC236}">
                <a16:creationId xmlns:a16="http://schemas.microsoft.com/office/drawing/2014/main" id="{C1EBB05C-F7EB-DC04-A866-E7BBE0BE566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722076447"/>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52736"/>
            <a:ext cx="914400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dirty="0">
                <a:latin typeface="Times New Roman" panose="02020603050405020304" pitchFamily="18" charset="0"/>
                <a:cs typeface="Times New Roman" panose="02020603050405020304" pitchFamily="18" charset="0"/>
              </a:rPr>
              <a:t>تعتمد حركة ماكينة CNC على </a:t>
            </a:r>
            <a:r>
              <a:rPr lang="ar" sz="1400" b="1" dirty="0">
                <a:latin typeface="Times New Roman" panose="02020603050405020304" pitchFamily="18" charset="0"/>
                <a:cs typeface="Times New Roman" panose="02020603050405020304" pitchFamily="18" charset="0"/>
              </a:rPr>
              <a:t>نوعين من أنظمة التحكم: نظام التحكم مفتوح الحلقة ونظام التحكم مغلق الحلقة.</a:t>
            </a: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تُحدد هذه الأنظمة كيفية مراقبة حركة الماكينة وتصحيحها لضمان دقة عمليات المعالجة الآلية.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نظام التغذية الراجعة مفتوح الحلقة: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نظام تحكم بسيط لا يتضمن آلية لإظهار التغذية الراجعة.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تُرسل وحدة التحكم بالماكينة إشارات </a:t>
            </a:r>
            <a:r>
              <a:rPr lang="ar" sz="1400" b="1" dirty="0">
                <a:latin typeface="Times New Roman" panose="02020603050405020304" pitchFamily="18" charset="0"/>
                <a:cs typeface="Times New Roman" panose="02020603050405020304" pitchFamily="18" charset="0"/>
              </a:rPr>
              <a:t>تحريك إلى المحرك </a:t>
            </a:r>
            <a:r>
              <a:rPr lang="ar" sz="1400" dirty="0">
                <a:latin typeface="Times New Roman" panose="02020603050405020304" pitchFamily="18" charset="0"/>
                <a:cs typeface="Times New Roman" panose="02020603050405020304" pitchFamily="18" charset="0"/>
              </a:rPr>
              <a:t>الذي يُنفذ تلك الإشارات بدون </a:t>
            </a:r>
            <a:r>
              <a:rPr lang="ar" sz="1400" b="1" dirty="0">
                <a:latin typeface="Times New Roman" panose="02020603050405020304" pitchFamily="18" charset="0"/>
                <a:cs typeface="Times New Roman" panose="02020603050405020304" pitchFamily="18" charset="0"/>
              </a:rPr>
              <a:t>تحقق فعلي</a:t>
            </a:r>
            <a:r>
              <a:rPr lang="ar" sz="1400" dirty="0">
                <a:latin typeface="Times New Roman" panose="02020603050405020304" pitchFamily="18" charset="0"/>
                <a:cs typeface="Times New Roman" panose="02020603050405020304" pitchFamily="18" charset="0"/>
              </a:rPr>
              <a:t>.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هذا النظام يُستخدم غالبًا في الحالات التي لا تتطلب دقة عالية</a:t>
            </a:r>
            <a:r>
              <a:rPr lang="ar" sz="1400" dirty="0">
                <a:latin typeface="Times New Roman" panose="02020603050405020304" pitchFamily="18" charset="0"/>
                <a:cs typeface="Times New Roman" panose="02020603050405020304" pitchFamily="18" charset="0"/>
              </a:rPr>
              <a:t>، مثل </a:t>
            </a:r>
            <a:r>
              <a:rPr lang="ar" sz="1400" b="1" dirty="0">
                <a:latin typeface="Times New Roman" panose="02020603050405020304" pitchFamily="18" charset="0"/>
                <a:cs typeface="Times New Roman" panose="02020603050405020304" pitchFamily="18" charset="0"/>
              </a:rPr>
              <a:t>الاستخدامات التعليمية، وورش الهواة، وماكينات التفريز البسيطة.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المزايا: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تكلفة أقل وتصميم أبسط.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مناسب </a:t>
            </a:r>
            <a:r>
              <a:rPr lang="ar" sz="1400" b="1" dirty="0">
                <a:latin typeface="Times New Roman" panose="02020603050405020304" pitchFamily="18" charset="0"/>
                <a:cs typeface="Times New Roman" panose="02020603050405020304" pitchFamily="18" charset="0"/>
              </a:rPr>
              <a:t>لعمليات المعالجة البسيطة</a:t>
            </a:r>
            <a:r>
              <a:rPr lang="ar" sz="1400" dirty="0">
                <a:latin typeface="Times New Roman" panose="02020603050405020304" pitchFamily="18" charset="0"/>
                <a:cs typeface="Times New Roman" panose="02020603050405020304" pitchFamily="18" charset="0"/>
              </a:rPr>
              <a:t> حيث لا تُطلب دقة عالية.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العيوب:</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يفتقر </a:t>
            </a:r>
            <a:r>
              <a:rPr lang="ar" sz="1400" b="1" dirty="0">
                <a:latin typeface="Times New Roman" panose="02020603050405020304" pitchFamily="18" charset="0"/>
                <a:cs typeface="Times New Roman" panose="02020603050405020304" pitchFamily="18" charset="0"/>
              </a:rPr>
              <a:t>إلى آلية لاكتشاف الأخطاء أو تصحيحها،</a:t>
            </a:r>
            <a:r>
              <a:rPr lang="ar" sz="1400" dirty="0">
                <a:latin typeface="Times New Roman" panose="02020603050405020304" pitchFamily="18" charset="0"/>
                <a:cs typeface="Times New Roman" panose="02020603050405020304" pitchFamily="18" charset="0"/>
              </a:rPr>
              <a:t> ما قد يؤدي إلى </a:t>
            </a:r>
            <a:r>
              <a:rPr lang="ar" sz="1400" b="1" dirty="0">
                <a:latin typeface="Times New Roman" panose="02020603050405020304" pitchFamily="18" charset="0"/>
                <a:cs typeface="Times New Roman" panose="02020603050405020304" pitchFamily="18" charset="0"/>
              </a:rPr>
              <a:t>نتائج غير دقيقة.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غير ملائم </a:t>
            </a:r>
            <a:r>
              <a:rPr lang="ar" sz="1400" b="1" dirty="0">
                <a:latin typeface="Times New Roman" panose="02020603050405020304" pitchFamily="18" charset="0"/>
                <a:cs typeface="Times New Roman" panose="02020603050405020304" pitchFamily="18" charset="0"/>
              </a:rPr>
              <a:t>للتطبيقات الصناعية التي تتطلب دقة عالية وتحكّمًا موثوقًا.</a:t>
            </a:r>
          </a:p>
          <a:p>
            <a:pPr marL="0" indent="0" rtl="1">
              <a:buNone/>
            </a:pPr>
            <a:r>
              <a:rPr lang="ar" sz="1400" b="1" dirty="0">
                <a:latin typeface="Times New Roman" panose="02020603050405020304" pitchFamily="18" charset="0"/>
                <a:cs typeface="Times New Roman" panose="02020603050405020304" pitchFamily="18" charset="0"/>
              </a:rPr>
              <a:t>2. نظام التغذية الراجعة مغلق الحلقة: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يستخدم </a:t>
            </a:r>
            <a:r>
              <a:rPr lang="ar" sz="1400" b="1" dirty="0">
                <a:latin typeface="Times New Roman" panose="02020603050405020304" pitchFamily="18" charset="0"/>
                <a:cs typeface="Times New Roman" panose="02020603050405020304" pitchFamily="18" charset="0"/>
              </a:rPr>
              <a:t>التغذية الراجعة اللحظية</a:t>
            </a:r>
            <a:r>
              <a:rPr lang="ar" sz="1400" dirty="0">
                <a:latin typeface="Times New Roman" panose="02020603050405020304" pitchFamily="18" charset="0"/>
                <a:cs typeface="Times New Roman" panose="02020603050405020304" pitchFamily="18" charset="0"/>
              </a:rPr>
              <a:t> الواردة من المستشعرات (مثل المشفّرات والمحوّلات) لضبط حركة المحاور آليًا وبشكل فوري.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يُراقب </a:t>
            </a:r>
            <a:r>
              <a:rPr lang="ar" sz="1400" b="1" dirty="0">
                <a:latin typeface="Times New Roman" panose="02020603050405020304" pitchFamily="18" charset="0"/>
                <a:cs typeface="Times New Roman" panose="02020603050405020304" pitchFamily="18" charset="0"/>
              </a:rPr>
              <a:t>الموضع، والسرعة، والحمولة </a:t>
            </a:r>
            <a:r>
              <a:rPr lang="ar" sz="1400" dirty="0">
                <a:latin typeface="Times New Roman" panose="02020603050405020304" pitchFamily="18" charset="0"/>
                <a:cs typeface="Times New Roman" panose="02020603050405020304" pitchFamily="18" charset="0"/>
              </a:rPr>
              <a:t>بشكل متواصل، ويرسل تصحيحات مباشرة إلى وحدة التحكم بالماكينة لضمان الالتزام بالمسارات المحددة.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يُستخدم في عمليات المعالجة عالية الدقة مثل</a:t>
            </a:r>
            <a:r>
              <a:rPr lang="ar" sz="1400" b="1" dirty="0">
                <a:latin typeface="Times New Roman" panose="02020603050405020304" pitchFamily="18" charset="0"/>
                <a:cs typeface="Times New Roman" panose="02020603050405020304" pitchFamily="18" charset="0"/>
              </a:rPr>
              <a:t> الطيران وصناعة الأجهزة الطبية</a:t>
            </a:r>
            <a:r>
              <a:rPr lang="ar" sz="1400" dirty="0">
                <a:latin typeface="Times New Roman" panose="02020603050405020304" pitchFamily="18" charset="0"/>
                <a:cs typeface="Times New Roman" panose="02020603050405020304" pitchFamily="18" charset="0"/>
              </a:rPr>
              <a:t> التي تتطلب تحكمًا فائقًا ودقة عالية.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المزايا: </a:t>
            </a:r>
            <a:r>
              <a:rPr lang="ar" sz="1400" dirty="0">
                <a:latin typeface="Times New Roman" panose="02020603050405020304" pitchFamily="18" charset="0"/>
                <a:cs typeface="Times New Roman" panose="02020603050405020304" pitchFamily="18" charset="0"/>
              </a:rPr>
              <a:t>يوفّر </a:t>
            </a:r>
            <a:r>
              <a:rPr lang="ar" sz="1400" b="1" dirty="0">
                <a:latin typeface="Times New Roman" panose="02020603050405020304" pitchFamily="18" charset="0"/>
                <a:cs typeface="Times New Roman" panose="02020603050405020304" pitchFamily="18" charset="0"/>
              </a:rPr>
              <a:t>دقة عالية وتكرارية ممتازة.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يمكنه </a:t>
            </a:r>
            <a:r>
              <a:rPr lang="ar" sz="1400" b="1" dirty="0">
                <a:latin typeface="Times New Roman" panose="02020603050405020304" pitchFamily="18" charset="0"/>
                <a:cs typeface="Times New Roman" panose="02020603050405020304" pitchFamily="18" charset="0"/>
              </a:rPr>
              <a:t>الكشف عن الأخطاء وتصحيحه</a:t>
            </a:r>
            <a:r>
              <a:rPr lang="ar" sz="1400" dirty="0">
                <a:latin typeface="Times New Roman" panose="02020603050405020304" pitchFamily="18" charset="0"/>
                <a:cs typeface="Times New Roman" panose="02020603050405020304" pitchFamily="18" charset="0"/>
              </a:rPr>
              <a:t>ا تلقائيًا، ما يعزز جودة المعالجة.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مناسب </a:t>
            </a:r>
            <a:r>
              <a:rPr lang="ar" sz="1400" b="1" dirty="0">
                <a:latin typeface="Times New Roman" panose="02020603050405020304" pitchFamily="18" charset="0"/>
                <a:cs typeface="Times New Roman" panose="02020603050405020304" pitchFamily="18" charset="0"/>
              </a:rPr>
              <a:t>لتصنيع مكونات معقدة وعالية الدقة.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العيوب: أكثر تعقيدًا وتكلفة مقارنة </a:t>
            </a:r>
            <a:r>
              <a:rPr lang="ar" sz="1400" dirty="0">
                <a:latin typeface="Times New Roman" panose="02020603050405020304" pitchFamily="18" charset="0"/>
                <a:cs typeface="Times New Roman" panose="02020603050405020304" pitchFamily="18" charset="0"/>
              </a:rPr>
              <a:t>بالأنظمة مفتوحة الحلقة.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يتطلّب </a:t>
            </a:r>
            <a:r>
              <a:rPr lang="ar" sz="1400" b="1" dirty="0">
                <a:latin typeface="Times New Roman" panose="02020603050405020304" pitchFamily="18" charset="0"/>
                <a:cs typeface="Times New Roman" panose="02020603050405020304" pitchFamily="18" charset="0"/>
              </a:rPr>
              <a:t>معايرة دورية وصيانة منتظمة.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أ2: أنظمة التغذية الراجعة مفتوحة الحلقة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ومغلقة الحلقة</a:t>
            </a:r>
          </a:p>
        </p:txBody>
      </p:sp>
      <p:sp>
        <p:nvSpPr>
          <p:cNvPr id="2" name="Footer Placeholder 2">
            <a:extLst>
              <a:ext uri="{FF2B5EF4-FFF2-40B4-BE49-F238E27FC236}">
                <a16:creationId xmlns:a16="http://schemas.microsoft.com/office/drawing/2014/main" id="{7D31817F-7798-C7EA-D6A3-FFB67188031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898388451"/>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52736"/>
            <a:ext cx="914400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sz="1400" b="1" dirty="0">
              <a:latin typeface="Times New Roman" panose="02020603050405020304" pitchFamily="18" charset="0"/>
              <a:cs typeface="Times New Roman" panose="02020603050405020304" pitchFamily="18" charset="0"/>
            </a:endParaRPr>
          </a:p>
          <a:p>
            <a:pPr marL="0" indent="0" rtl="1">
              <a:buNone/>
            </a:pPr>
            <a:r>
              <a:rPr lang="ar" sz="1400" b="1" dirty="0">
                <a:latin typeface="Times New Roman" panose="02020603050405020304" pitchFamily="18" charset="0"/>
                <a:cs typeface="Times New Roman" panose="02020603050405020304" pitchFamily="18" charset="0"/>
              </a:rPr>
              <a:t>مقارنة بين الأنظمة مفتوحة الحلقة ومغلقة الحلقة:</a:t>
            </a:r>
            <a:br>
              <a:rPr lang="en-GB" sz="1400" dirty="0">
                <a:latin typeface="Times New Roman" panose="02020603050405020304" pitchFamily="18" charset="0"/>
                <a:cs typeface="Times New Roman" panose="02020603050405020304" pitchFamily="18" charset="0"/>
              </a:rPr>
            </a:b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lnSpc>
                <a:spcPct val="130000"/>
              </a:lnSpc>
              <a:buNone/>
            </a:pPr>
            <a:r>
              <a:rPr lang="ar" sz="1400" dirty="0">
                <a:latin typeface="Times New Roman" panose="02020603050405020304" pitchFamily="18" charset="0"/>
                <a:cs typeface="Times New Roman" panose="02020603050405020304" pitchFamily="18" charset="0"/>
              </a:rPr>
              <a:t>تُستخدم أنظمة التحكم مغلقة الحلقة بكثرة في </a:t>
            </a:r>
            <a:r>
              <a:rPr lang="ar" sz="1400" b="1" dirty="0">
                <a:latin typeface="Times New Roman" panose="02020603050405020304" pitchFamily="18" charset="0"/>
                <a:cs typeface="Times New Roman" panose="02020603050405020304" pitchFamily="18" charset="0"/>
              </a:rPr>
              <a:t>ماكينات CNC الحديثة</a:t>
            </a:r>
            <a:r>
              <a:rPr lang="ar" sz="1400" dirty="0">
                <a:latin typeface="Times New Roman" panose="02020603050405020304" pitchFamily="18" charset="0"/>
                <a:cs typeface="Times New Roman" panose="02020603050405020304" pitchFamily="18" charset="0"/>
              </a:rPr>
              <a:t>، إذ توفر </a:t>
            </a:r>
            <a:r>
              <a:rPr lang="ar" sz="1400" b="1" dirty="0">
                <a:latin typeface="Times New Roman" panose="02020603050405020304" pitchFamily="18" charset="0"/>
                <a:cs typeface="Times New Roman" panose="02020603050405020304" pitchFamily="18" charset="0"/>
              </a:rPr>
              <a:t>دقة متسقة، وتحسن الكفاءة، وتمكِّن من تنفيذ المعالجة الآلية المعقدة ذات </a:t>
            </a:r>
            <a:br>
              <a:rPr lang="en-US" sz="1400" b="1"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التفاوتات الصارمة.</a:t>
            </a:r>
            <a:endParaRPr lang="en-GB"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01453"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أ2: أنظمة التغذية الراجعة مفتوحة الحلقة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ومغلقة الحلقة</a:t>
            </a:r>
          </a:p>
        </p:txBody>
      </p:sp>
      <p:graphicFrame>
        <p:nvGraphicFramePr>
          <p:cNvPr id="2" name="Table 2">
            <a:extLst>
              <a:ext uri="{FF2B5EF4-FFF2-40B4-BE49-F238E27FC236}">
                <a16:creationId xmlns:a16="http://schemas.microsoft.com/office/drawing/2014/main" id="{DF7C8B4D-5754-4924-B314-FE376C314F99}"/>
              </a:ext>
            </a:extLst>
          </p:cNvPr>
          <p:cNvGraphicFramePr>
            <a:graphicFrameLocks noGrp="1"/>
          </p:cNvGraphicFramePr>
          <p:nvPr>
            <p:extLst>
              <p:ext uri="{D42A27DB-BD31-4B8C-83A1-F6EECF244321}">
                <p14:modId xmlns:p14="http://schemas.microsoft.com/office/powerpoint/2010/main" val="368887205"/>
              </p:ext>
            </p:extLst>
          </p:nvPr>
        </p:nvGraphicFramePr>
        <p:xfrm>
          <a:off x="1033321" y="1880829"/>
          <a:ext cx="7077357" cy="3096342"/>
        </p:xfrm>
        <a:graphic>
          <a:graphicData uri="http://schemas.openxmlformats.org/drawingml/2006/table">
            <a:tbl>
              <a:tblPr rtl="1" firstRow="1" bandRow="1">
                <a:tableStyleId>{00A15C55-8517-42AA-B614-E9B94910E393}</a:tableStyleId>
              </a:tblPr>
              <a:tblGrid>
                <a:gridCol w="2359119">
                  <a:extLst>
                    <a:ext uri="{9D8B030D-6E8A-4147-A177-3AD203B41FA5}">
                      <a16:colId xmlns:a16="http://schemas.microsoft.com/office/drawing/2014/main" val="382141226"/>
                    </a:ext>
                  </a:extLst>
                </a:gridCol>
                <a:gridCol w="2359119">
                  <a:extLst>
                    <a:ext uri="{9D8B030D-6E8A-4147-A177-3AD203B41FA5}">
                      <a16:colId xmlns:a16="http://schemas.microsoft.com/office/drawing/2014/main" val="2161858632"/>
                    </a:ext>
                  </a:extLst>
                </a:gridCol>
                <a:gridCol w="2359119">
                  <a:extLst>
                    <a:ext uri="{9D8B030D-6E8A-4147-A177-3AD203B41FA5}">
                      <a16:colId xmlns:a16="http://schemas.microsoft.com/office/drawing/2014/main" val="840162564"/>
                    </a:ext>
                  </a:extLst>
                </a:gridCol>
              </a:tblGrid>
              <a:tr h="601575">
                <a:tc>
                  <a:txBody>
                    <a:bodyPr/>
                    <a:lstStyle/>
                    <a:p>
                      <a:pPr rtl="1"/>
                      <a:r>
                        <a:rPr lang="ar" sz="1600" b="1"/>
                        <a:t>السمة</a:t>
                      </a:r>
                      <a:endParaRPr lang="en-GB" sz="1600" dirty="0"/>
                    </a:p>
                  </a:txBody>
                  <a:tcPr marL="106160" marR="106160" marT="53080" marB="53080"/>
                </a:tc>
                <a:tc>
                  <a:txBody>
                    <a:bodyPr/>
                    <a:lstStyle/>
                    <a:p>
                      <a:pPr rtl="1"/>
                      <a:r>
                        <a:rPr lang="ar" sz="1600" b="1"/>
                        <a:t>نظام مفتوح الحلقة</a:t>
                      </a:r>
                      <a:r>
                        <a:rPr lang="ar" sz="1600"/>
                        <a:t> </a:t>
                      </a:r>
                    </a:p>
                  </a:txBody>
                  <a:tcPr marL="106160" marR="106160" marT="53080" marB="53080"/>
                </a:tc>
                <a:tc>
                  <a:txBody>
                    <a:bodyPr/>
                    <a:lstStyle/>
                    <a:p>
                      <a:pPr rtl="1"/>
                      <a:r>
                        <a:rPr lang="ar" sz="1600" b="1" dirty="0"/>
                        <a:t>نظام مغلق الحلقة</a:t>
                      </a:r>
                      <a:endParaRPr lang="en-GB" sz="1600" dirty="0"/>
                    </a:p>
                  </a:txBody>
                  <a:tcPr marL="106160" marR="106160" marT="53080" marB="53080"/>
                </a:tc>
                <a:extLst>
                  <a:ext uri="{0D108BD9-81ED-4DB2-BD59-A6C34878D82A}">
                    <a16:rowId xmlns:a16="http://schemas.microsoft.com/office/drawing/2014/main" val="1399742328"/>
                  </a:ext>
                </a:extLst>
              </a:tr>
              <a:tr h="601575">
                <a:tc>
                  <a:txBody>
                    <a:bodyPr/>
                    <a:lstStyle/>
                    <a:p>
                      <a:pPr rtl="1"/>
                      <a:r>
                        <a:rPr lang="ar" sz="1600" b="1"/>
                        <a:t>آلية التغذية الراجعة:</a:t>
                      </a:r>
                      <a:endParaRPr lang="en-GB" sz="1600" dirty="0"/>
                    </a:p>
                  </a:txBody>
                  <a:tcPr marL="106160" marR="106160" marT="53080" marB="53080"/>
                </a:tc>
                <a:tc>
                  <a:txBody>
                    <a:bodyPr/>
                    <a:lstStyle/>
                    <a:p>
                      <a:pPr rtl="1"/>
                      <a:r>
                        <a:rPr lang="ar" sz="1600"/>
                        <a:t>لا</a:t>
                      </a:r>
                    </a:p>
                  </a:txBody>
                  <a:tcPr marL="106160" marR="106160" marT="53080" marB="53080"/>
                </a:tc>
                <a:tc>
                  <a:txBody>
                    <a:bodyPr/>
                    <a:lstStyle/>
                    <a:p>
                      <a:pPr rtl="1"/>
                      <a:r>
                        <a:rPr lang="ar" sz="1600"/>
                        <a:t>نعم</a:t>
                      </a:r>
                    </a:p>
                  </a:txBody>
                  <a:tcPr marL="106160" marR="106160" marT="53080" marB="53080"/>
                </a:tc>
                <a:extLst>
                  <a:ext uri="{0D108BD9-81ED-4DB2-BD59-A6C34878D82A}">
                    <a16:rowId xmlns:a16="http://schemas.microsoft.com/office/drawing/2014/main" val="4231803613"/>
                  </a:ext>
                </a:extLst>
              </a:tr>
              <a:tr h="430539">
                <a:tc>
                  <a:txBody>
                    <a:bodyPr/>
                    <a:lstStyle/>
                    <a:p>
                      <a:pPr rtl="1"/>
                      <a:r>
                        <a:rPr lang="ar" sz="1600" b="1"/>
                        <a:t>الدقة</a:t>
                      </a:r>
                      <a:endParaRPr lang="en-GB" sz="1600" dirty="0"/>
                    </a:p>
                  </a:txBody>
                  <a:tcPr marL="106160" marR="106160" marT="53080" marB="53080"/>
                </a:tc>
                <a:tc>
                  <a:txBody>
                    <a:bodyPr/>
                    <a:lstStyle/>
                    <a:p>
                      <a:pPr rtl="1"/>
                      <a:r>
                        <a:rPr lang="ar" sz="1600"/>
                        <a:t>منخفضة</a:t>
                      </a:r>
                    </a:p>
                  </a:txBody>
                  <a:tcPr marL="106160" marR="106160" marT="53080" marB="53080"/>
                </a:tc>
                <a:tc>
                  <a:txBody>
                    <a:bodyPr/>
                    <a:lstStyle/>
                    <a:p>
                      <a:pPr rtl="1"/>
                      <a:r>
                        <a:rPr lang="ar" sz="1600"/>
                        <a:t>مرتفعة</a:t>
                      </a:r>
                    </a:p>
                  </a:txBody>
                  <a:tcPr marL="106160" marR="106160" marT="53080" marB="53080"/>
                </a:tc>
                <a:extLst>
                  <a:ext uri="{0D108BD9-81ED-4DB2-BD59-A6C34878D82A}">
                    <a16:rowId xmlns:a16="http://schemas.microsoft.com/office/drawing/2014/main" val="3621365087"/>
                  </a:ext>
                </a:extLst>
              </a:tr>
              <a:tr h="430539">
                <a:tc>
                  <a:txBody>
                    <a:bodyPr/>
                    <a:lstStyle/>
                    <a:p>
                      <a:pPr rtl="1"/>
                      <a:r>
                        <a:rPr lang="ar" sz="1600" b="1"/>
                        <a:t>اكتشاف الأخطاء</a:t>
                      </a:r>
                      <a:endParaRPr lang="en-GB" sz="1600" dirty="0"/>
                    </a:p>
                  </a:txBody>
                  <a:tcPr marL="106160" marR="106160" marT="53080" marB="53080"/>
                </a:tc>
                <a:tc>
                  <a:txBody>
                    <a:bodyPr/>
                    <a:lstStyle/>
                    <a:p>
                      <a:pPr rtl="1"/>
                      <a:r>
                        <a:rPr lang="ar" sz="1600"/>
                        <a:t>لا</a:t>
                      </a:r>
                    </a:p>
                  </a:txBody>
                  <a:tcPr marL="106160" marR="106160" marT="53080" marB="53080"/>
                </a:tc>
                <a:tc>
                  <a:txBody>
                    <a:bodyPr/>
                    <a:lstStyle/>
                    <a:p>
                      <a:pPr rtl="1"/>
                      <a:r>
                        <a:rPr lang="ar" sz="1600"/>
                        <a:t>نعم</a:t>
                      </a:r>
                    </a:p>
                  </a:txBody>
                  <a:tcPr marL="106160" marR="106160" marT="53080" marB="53080"/>
                </a:tc>
                <a:extLst>
                  <a:ext uri="{0D108BD9-81ED-4DB2-BD59-A6C34878D82A}">
                    <a16:rowId xmlns:a16="http://schemas.microsoft.com/office/drawing/2014/main" val="2628697688"/>
                  </a:ext>
                </a:extLst>
              </a:tr>
              <a:tr h="430539">
                <a:tc>
                  <a:txBody>
                    <a:bodyPr/>
                    <a:lstStyle/>
                    <a:p>
                      <a:pPr rtl="1"/>
                      <a:r>
                        <a:rPr lang="ar" sz="1600" b="1"/>
                        <a:t>التكلفة</a:t>
                      </a:r>
                      <a:endParaRPr lang="en-GB" sz="1600" dirty="0"/>
                    </a:p>
                  </a:txBody>
                  <a:tcPr marL="106160" marR="106160" marT="53080" marB="53080"/>
                </a:tc>
                <a:tc>
                  <a:txBody>
                    <a:bodyPr/>
                    <a:lstStyle/>
                    <a:p>
                      <a:pPr rtl="1"/>
                      <a:r>
                        <a:rPr lang="ar" sz="1600"/>
                        <a:t>منخفضة</a:t>
                      </a:r>
                    </a:p>
                  </a:txBody>
                  <a:tcPr marL="106160" marR="106160" marT="53080" marB="53080"/>
                </a:tc>
                <a:tc>
                  <a:txBody>
                    <a:bodyPr/>
                    <a:lstStyle/>
                    <a:p>
                      <a:pPr rtl="1"/>
                      <a:r>
                        <a:rPr lang="ar" sz="1600"/>
                        <a:t>مرتفعة</a:t>
                      </a:r>
                    </a:p>
                  </a:txBody>
                  <a:tcPr marL="106160" marR="106160" marT="53080" marB="53080"/>
                </a:tc>
                <a:extLst>
                  <a:ext uri="{0D108BD9-81ED-4DB2-BD59-A6C34878D82A}">
                    <a16:rowId xmlns:a16="http://schemas.microsoft.com/office/drawing/2014/main" val="3269521089"/>
                  </a:ext>
                </a:extLst>
              </a:tr>
              <a:tr h="601575">
                <a:tc>
                  <a:txBody>
                    <a:bodyPr/>
                    <a:lstStyle/>
                    <a:p>
                      <a:pPr rtl="1"/>
                      <a:r>
                        <a:rPr lang="ar" sz="1600" b="1"/>
                        <a:t>الاستخدام</a:t>
                      </a:r>
                      <a:endParaRPr lang="en-GB" sz="1600" dirty="0"/>
                    </a:p>
                  </a:txBody>
                  <a:tcPr marL="106160" marR="106160" marT="53080" marB="53080"/>
                </a:tc>
                <a:tc>
                  <a:txBody>
                    <a:bodyPr/>
                    <a:lstStyle/>
                    <a:p>
                      <a:pPr rtl="1"/>
                      <a:r>
                        <a:rPr lang="ar" sz="1600"/>
                        <a:t>مهام ماكينات CNC الأساسية </a:t>
                      </a:r>
                    </a:p>
                  </a:txBody>
                  <a:tcPr marL="106160" marR="106160" marT="53080" marB="53080"/>
                </a:tc>
                <a:tc>
                  <a:txBody>
                    <a:bodyPr/>
                    <a:lstStyle/>
                    <a:p>
                      <a:pPr rtl="1"/>
                      <a:r>
                        <a:rPr lang="ar" sz="1600" dirty="0"/>
                        <a:t>العمليات الصناعية وعمليات المعالجة الآلية عالية الجودة</a:t>
                      </a:r>
                    </a:p>
                  </a:txBody>
                  <a:tcPr marL="106160" marR="106160" marT="53080" marB="53080"/>
                </a:tc>
                <a:extLst>
                  <a:ext uri="{0D108BD9-81ED-4DB2-BD59-A6C34878D82A}">
                    <a16:rowId xmlns:a16="http://schemas.microsoft.com/office/drawing/2014/main" val="919368647"/>
                  </a:ext>
                </a:extLst>
              </a:tr>
            </a:tbl>
          </a:graphicData>
        </a:graphic>
      </p:graphicFrame>
      <p:sp>
        <p:nvSpPr>
          <p:cNvPr id="3" name="Footer Placeholder 2">
            <a:extLst>
              <a:ext uri="{FF2B5EF4-FFF2-40B4-BE49-F238E27FC236}">
                <a16:creationId xmlns:a16="http://schemas.microsoft.com/office/drawing/2014/main" id="{88F757FB-6FA1-46CF-9203-97CB7F371A9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139187693"/>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12165" y="1052736"/>
            <a:ext cx="5508104"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10000"/>
              </a:lnSpc>
              <a:buNone/>
            </a:pPr>
            <a:r>
              <a:rPr lang="ar" sz="1400" dirty="0">
                <a:latin typeface="Times New Roman" panose="02020603050405020304" pitchFamily="18" charset="0"/>
                <a:cs typeface="Times New Roman" panose="02020603050405020304" pitchFamily="18" charset="0"/>
              </a:rPr>
              <a:t>تعتمد عمليات المعالجة الآلية باستخدام ماكينات CNC على </a:t>
            </a:r>
            <a:r>
              <a:rPr lang="ar" sz="1400" b="1" dirty="0">
                <a:latin typeface="Times New Roman" panose="02020603050405020304" pitchFamily="18" charset="0"/>
                <a:cs typeface="Times New Roman" panose="02020603050405020304" pitchFamily="18" charset="0"/>
              </a:rPr>
              <a:t>برمجة الجزء</a:t>
            </a:r>
            <a:r>
              <a:rPr lang="ar" sz="1400" dirty="0">
                <a:latin typeface="Times New Roman" panose="02020603050405020304" pitchFamily="18" charset="0"/>
                <a:cs typeface="Times New Roman" panose="02020603050405020304" pitchFamily="18" charset="0"/>
              </a:rPr>
              <a:t> الذي يُحدد حركة الماكينة.  يتحكّم البرنامج في </a:t>
            </a:r>
            <a:r>
              <a:rPr lang="ar" sz="1400" b="1" dirty="0">
                <a:latin typeface="Times New Roman" panose="02020603050405020304" pitchFamily="18" charset="0"/>
                <a:cs typeface="Times New Roman" panose="02020603050405020304" pitchFamily="18" charset="0"/>
              </a:rPr>
              <a:t>مسارات القطع، وتغيير الأدوات، والسرعات، ومعدلات التلقيم</a:t>
            </a:r>
            <a:r>
              <a:rPr lang="ar" sz="1400" dirty="0">
                <a:latin typeface="Times New Roman" panose="02020603050405020304" pitchFamily="18" charset="0"/>
                <a:cs typeface="Times New Roman" panose="02020603050405020304" pitchFamily="18" charset="0"/>
              </a:rPr>
              <a:t>،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ما يضمن إنتاج المكونات بالشكل الصحيح.</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أنواع أساليب برمجة أجزاء ماكينة CNC</a:t>
            </a:r>
          </a:p>
          <a:p>
            <a:pPr marL="0" indent="0" rtl="1">
              <a:lnSpc>
                <a:spcPct val="11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1. </a:t>
            </a:r>
            <a:r>
              <a:rPr lang="ar" sz="1400" b="1" dirty="0">
                <a:latin typeface="Times New Roman" panose="02020603050405020304" pitchFamily="18" charset="0"/>
                <a:cs typeface="Times New Roman" panose="02020603050405020304" pitchFamily="18" charset="0"/>
              </a:rPr>
              <a:t>البرمجة غير التفاعلية (التقليدية):</a:t>
            </a:r>
          </a:p>
          <a:p>
            <a:pPr marL="0" indent="0">
              <a:lnSpc>
                <a:spcPct val="11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يكتب المشغّل البرنامج </a:t>
            </a:r>
            <a:r>
              <a:rPr lang="ar" sz="1400" b="1" dirty="0">
                <a:latin typeface="Times New Roman" panose="02020603050405020304" pitchFamily="18" charset="0"/>
                <a:cs typeface="Times New Roman" panose="02020603050405020304" pitchFamily="18" charset="0"/>
              </a:rPr>
              <a:t>مباشرةً باستخدام أوامر G‑code.</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يتطلّب </a:t>
            </a:r>
            <a:r>
              <a:rPr lang="ar" sz="1400" b="1" dirty="0">
                <a:latin typeface="Times New Roman" panose="02020603050405020304" pitchFamily="18" charset="0"/>
                <a:cs typeface="Times New Roman" panose="02020603050405020304" pitchFamily="18" charset="0"/>
              </a:rPr>
              <a:t>إلمامًا عميقًا بأكواد CNC ووظائف الماكينة.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يُستخدم في </a:t>
            </a:r>
            <a:r>
              <a:rPr lang="ar" sz="1400" b="1" dirty="0">
                <a:latin typeface="Times New Roman" panose="02020603050405020304" pitchFamily="18" charset="0"/>
                <a:cs typeface="Times New Roman" panose="02020603050405020304" pitchFamily="18" charset="0"/>
              </a:rPr>
              <a:t>مهام المعالجة الآلية البسيطة أو عند الحاجة إلى دقة فائقة في مسار الأداة.</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أمثلة لأوامر G-code:</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G00</a:t>
            </a:r>
            <a:r>
              <a:rPr lang="ar" sz="1400" dirty="0">
                <a:latin typeface="Times New Roman" panose="02020603050405020304" pitchFamily="18" charset="0"/>
                <a:cs typeface="Times New Roman" panose="02020603050405020304" pitchFamily="18" charset="0"/>
              </a:rPr>
              <a:t>– التموضع السريع.</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G01</a:t>
            </a:r>
            <a:r>
              <a:rPr lang="ar" sz="1400" dirty="0">
                <a:latin typeface="Times New Roman" panose="02020603050405020304" pitchFamily="18" charset="0"/>
                <a:cs typeface="Times New Roman" panose="02020603050405020304" pitchFamily="18" charset="0"/>
              </a:rPr>
              <a:t> – التنقّل الخطي (حركة القطع).</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G02</a:t>
            </a:r>
            <a:r>
              <a:rPr lang="ar" sz="1400" b="1"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G03</a:t>
            </a:r>
            <a:r>
              <a:rPr lang="ar" sz="1400" b="1" dirty="0">
                <a:latin typeface="Times New Roman" panose="02020603050405020304" pitchFamily="18" charset="0"/>
                <a:cs typeface="Times New Roman" panose="02020603050405020304" pitchFamily="18" charset="0"/>
              </a:rPr>
              <a:t>: تنقّل دائري باتّجاه عقارب الساعة أوعكس عقارب الساعة</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المزايا: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يمنح </a:t>
            </a:r>
            <a:r>
              <a:rPr lang="ar" sz="1400" b="1" dirty="0">
                <a:latin typeface="Times New Roman" panose="02020603050405020304" pitchFamily="18" charset="0"/>
                <a:cs typeface="Times New Roman" panose="02020603050405020304" pitchFamily="18" charset="0"/>
              </a:rPr>
              <a:t>تحكّمًا شاملًا بمعلمات المعالجة الآلية.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يمكن </a:t>
            </a:r>
            <a:r>
              <a:rPr lang="ar" sz="1400" b="1" dirty="0">
                <a:latin typeface="Times New Roman" panose="02020603050405020304" pitchFamily="18" charset="0"/>
                <a:cs typeface="Times New Roman" panose="02020603050405020304" pitchFamily="18" charset="0"/>
              </a:rPr>
              <a:t>تحسينه لرفع الكفاءة إذا كان المبرمج متمرسًا.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مثالي </a:t>
            </a:r>
            <a:r>
              <a:rPr lang="ar" sz="1400" b="1" dirty="0">
                <a:latin typeface="Times New Roman" panose="02020603050405020304" pitchFamily="18" charset="0"/>
                <a:cs typeface="Times New Roman" panose="02020603050405020304" pitchFamily="18" charset="0"/>
              </a:rPr>
              <a:t>لتصنيع قطع مخصصة وللأعمال الفردية.</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العيوب:</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إعداد البرامج المعقّدة قد يكون عمليّة </a:t>
            </a:r>
            <a:r>
              <a:rPr lang="ar" sz="1400" b="1" dirty="0">
                <a:latin typeface="Times New Roman" panose="02020603050405020304" pitchFamily="18" charset="0"/>
                <a:cs typeface="Times New Roman" panose="02020603050405020304" pitchFamily="18" charset="0"/>
              </a:rPr>
              <a:t>تستغرق وقتًا وجهدًا كبيرًا</a:t>
            </a:r>
            <a:r>
              <a:rPr lang="ar" sz="1400" dirty="0">
                <a:latin typeface="Times New Roman" panose="02020603050405020304" pitchFamily="18" charset="0"/>
                <a:cs typeface="Times New Roman" panose="02020603050405020304" pitchFamily="18" charset="0"/>
              </a:rPr>
              <a:t>.</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يرافقه مخاطر أكبر لوقوع </a:t>
            </a:r>
            <a:r>
              <a:rPr lang="ar" sz="1400" b="1" dirty="0">
                <a:latin typeface="Times New Roman" panose="02020603050405020304" pitchFamily="18" charset="0"/>
                <a:cs typeface="Times New Roman" panose="02020603050405020304" pitchFamily="18" charset="0"/>
              </a:rPr>
              <a:t>أخطاء بشرية</a:t>
            </a:r>
            <a:r>
              <a:rPr lang="ar" sz="1400" dirty="0">
                <a:latin typeface="Times New Roman" panose="02020603050405020304" pitchFamily="18" charset="0"/>
                <a:cs typeface="Times New Roman" panose="02020603050405020304" pitchFamily="18" charset="0"/>
              </a:rPr>
              <a:t> نتيجة كتابة الأكواد يدويًا.</a:t>
            </a:r>
            <a:endParaRPr lang="en-GB"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أ3: أساليب برمجة الأجزاء وكفاءة البرامج</a:t>
            </a:r>
          </a:p>
        </p:txBody>
      </p:sp>
      <p:grpSp>
        <p:nvGrpSpPr>
          <p:cNvPr id="3" name="Group 2">
            <a:extLst>
              <a:ext uri="{FF2B5EF4-FFF2-40B4-BE49-F238E27FC236}">
                <a16:creationId xmlns:a16="http://schemas.microsoft.com/office/drawing/2014/main" id="{6B3C5DE7-5A5C-C7AC-3A53-8C4DD129DA41}"/>
              </a:ext>
            </a:extLst>
          </p:cNvPr>
          <p:cNvGrpSpPr/>
          <p:nvPr/>
        </p:nvGrpSpPr>
        <p:grpSpPr>
          <a:xfrm>
            <a:off x="323528" y="2996951"/>
            <a:ext cx="3264059" cy="2656050"/>
            <a:chOff x="5591908" y="2996951"/>
            <a:chExt cx="3264059" cy="2656050"/>
          </a:xfrm>
        </p:grpSpPr>
        <p:sp>
          <p:nvSpPr>
            <p:cNvPr id="6" name="TextBox 5">
              <a:extLst>
                <a:ext uri="{FF2B5EF4-FFF2-40B4-BE49-F238E27FC236}">
                  <a16:creationId xmlns:a16="http://schemas.microsoft.com/office/drawing/2014/main" id="{0BC6E3D0-CB18-40D6-AAAD-F9CC1EA07BAE}"/>
                </a:ext>
              </a:extLst>
            </p:cNvPr>
            <p:cNvSpPr txBox="1"/>
            <p:nvPr/>
          </p:nvSpPr>
          <p:spPr>
            <a:xfrm>
              <a:off x="6588224" y="5191336"/>
              <a:ext cx="1368152" cy="461665"/>
            </a:xfrm>
            <a:prstGeom prst="rect">
              <a:avLst/>
            </a:prstGeom>
            <a:noFill/>
          </p:spPr>
          <p:txBody>
            <a:bodyPr wrap="square" rtlCol="1">
              <a:spAutoFit/>
            </a:bodyPr>
            <a:lstStyle/>
            <a:p>
              <a:r>
                <a:rPr lang="ar" sz="1200" b="1" dirty="0">
                  <a:latin typeface="Times New Roman" panose="02020603050405020304" pitchFamily="18" charset="0"/>
                  <a:cs typeface="Times New Roman" panose="02020603050405020304" pitchFamily="18" charset="0"/>
                </a:rPr>
                <a:t>• </a:t>
              </a:r>
              <a:r>
                <a:rPr lang="en-GB" sz="1200" b="1" dirty="0">
                  <a:latin typeface="Times New Roman" panose="02020603050405020304" pitchFamily="18" charset="0"/>
                  <a:cs typeface="Times New Roman" panose="02020603050405020304" pitchFamily="18" charset="0"/>
                </a:rPr>
                <a:t>G01</a:t>
              </a:r>
              <a:r>
                <a:rPr lang="ar" sz="1200" dirty="0">
                  <a:latin typeface="Times New Roman" panose="02020603050405020304" pitchFamily="18" charset="0"/>
                  <a:cs typeface="Times New Roman" panose="02020603050405020304" pitchFamily="18" charset="0"/>
                </a:rPr>
                <a:t> – التنقّل الخطي </a:t>
              </a:r>
            </a:p>
            <a:p>
              <a:pPr rtl="1"/>
              <a:r>
                <a:rPr lang="ar" sz="1200" dirty="0">
                  <a:latin typeface="Times New Roman" panose="02020603050405020304" pitchFamily="18" charset="0"/>
                  <a:cs typeface="Times New Roman" panose="02020603050405020304" pitchFamily="18" charset="0"/>
                </a:rPr>
                <a:t> (حركة القطع).</a:t>
              </a:r>
            </a:p>
          </p:txBody>
        </p:sp>
        <p:pic>
          <p:nvPicPr>
            <p:cNvPr id="2" name="Picture 1">
              <a:extLst>
                <a:ext uri="{FF2B5EF4-FFF2-40B4-BE49-F238E27FC236}">
                  <a16:creationId xmlns:a16="http://schemas.microsoft.com/office/drawing/2014/main" id="{4B20B399-665D-7B7D-D4EC-C37BCEF532B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91908" y="2996951"/>
              <a:ext cx="3264059" cy="2176039"/>
            </a:xfrm>
            <a:prstGeom prst="rect">
              <a:avLst/>
            </a:prstGeom>
          </p:spPr>
        </p:pic>
      </p:grpSp>
      <p:sp>
        <p:nvSpPr>
          <p:cNvPr id="4" name="Footer Placeholder 2">
            <a:extLst>
              <a:ext uri="{FF2B5EF4-FFF2-40B4-BE49-F238E27FC236}">
                <a16:creationId xmlns:a16="http://schemas.microsoft.com/office/drawing/2014/main" id="{AE4AA834-1143-FAD0-92D5-57171AEFAC1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534658149"/>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80120"/>
            <a:ext cx="914400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dirty="0">
                <a:latin typeface="Times New Roman" panose="02020603050405020304" pitchFamily="18" charset="0"/>
                <a:cs typeface="Times New Roman" panose="02020603050405020304" pitchFamily="18" charset="0"/>
              </a:rPr>
              <a:t>2. </a:t>
            </a:r>
            <a:r>
              <a:rPr lang="ar" sz="1400" b="1" dirty="0">
                <a:latin typeface="Times New Roman" panose="02020603050405020304" pitchFamily="18" charset="0"/>
                <a:cs typeface="Times New Roman" panose="02020603050405020304" pitchFamily="18" charset="0"/>
              </a:rPr>
              <a:t>البرمجة التفاعلية: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تستخدم </a:t>
            </a:r>
            <a:r>
              <a:rPr lang="ar" sz="1400" b="1" dirty="0">
                <a:latin typeface="Times New Roman" panose="02020603050405020304" pitchFamily="18" charset="0"/>
                <a:cs typeface="Times New Roman" panose="02020603050405020304" pitchFamily="18" charset="0"/>
              </a:rPr>
              <a:t>واجهة رسومية</a:t>
            </a:r>
            <a:r>
              <a:rPr lang="ar" sz="1400" dirty="0">
                <a:latin typeface="Times New Roman" panose="02020603050405020304" pitchFamily="18" charset="0"/>
                <a:cs typeface="Times New Roman" panose="02020603050405020304" pitchFamily="18" charset="0"/>
              </a:rPr>
              <a:t> حيث يقوم المشغّل بإدخال معلمات المعالجة الآلية، ويتولّى </a:t>
            </a:r>
            <a:r>
              <a:rPr lang="ar" sz="1400" b="1" dirty="0">
                <a:latin typeface="Times New Roman" panose="02020603050405020304" pitchFamily="18" charset="0"/>
                <a:cs typeface="Times New Roman" panose="02020603050405020304" pitchFamily="18" charset="0"/>
              </a:rPr>
              <a:t>البرنامج تلقائيًا توليد G‑code اللازم للتشغيل.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تُستخدم غالبًا في </a:t>
            </a:r>
            <a:r>
              <a:rPr lang="ar" sz="1400" b="1" dirty="0">
                <a:latin typeface="Times New Roman" panose="02020603050405020304" pitchFamily="18" charset="0"/>
                <a:cs typeface="Times New Roman" panose="02020603050405020304" pitchFamily="18" charset="0"/>
              </a:rPr>
              <a:t>ماكينات CNC الحديثة التي تعتمد على أنظمة برمجة مدمجة داخلية.</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المزايا: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واجهة سهلة الاستخدام</a:t>
            </a:r>
            <a:r>
              <a:rPr lang="ar" sz="1400" dirty="0">
                <a:latin typeface="Times New Roman" panose="02020603050405020304" pitchFamily="18" charset="0"/>
                <a:cs typeface="Times New Roman" panose="02020603050405020304" pitchFamily="18" charset="0"/>
              </a:rPr>
              <a:t> – لا حاجة لحفظ أكواد G‑code.</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برمجة أسرع مع </a:t>
            </a:r>
            <a:r>
              <a:rPr lang="ar" sz="1400" b="1" dirty="0">
                <a:latin typeface="Times New Roman" panose="02020603050405020304" pitchFamily="18" charset="0"/>
                <a:cs typeface="Times New Roman" panose="02020603050405020304" pitchFamily="18" charset="0"/>
              </a:rPr>
              <a:t>تقليل الأخطاء البشرية بشكل كبير.</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مثالية لإنشاء </a:t>
            </a:r>
            <a:r>
              <a:rPr lang="ar" sz="1400" b="1" dirty="0">
                <a:latin typeface="Times New Roman" panose="02020603050405020304" pitchFamily="18" charset="0"/>
                <a:cs typeface="Times New Roman" panose="02020603050405020304" pitchFamily="18" charset="0"/>
              </a:rPr>
              <a:t>نماذج أولية وإنتاج دفعات صغيرة بكفاءة.</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العيوب:</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خيارات</a:t>
            </a:r>
            <a:r>
              <a:rPr lang="ar" sz="1400" b="1" dirty="0">
                <a:latin typeface="Times New Roman" panose="02020603050405020304" pitchFamily="18" charset="0"/>
                <a:cs typeface="Times New Roman" panose="02020603050405020304" pitchFamily="18" charset="0"/>
              </a:rPr>
              <a:t> التخصيص وضبط الدقة</a:t>
            </a:r>
            <a:r>
              <a:rPr lang="ar" sz="1400" dirty="0">
                <a:latin typeface="Times New Roman" panose="02020603050405020304" pitchFamily="18" charset="0"/>
                <a:cs typeface="Times New Roman" panose="02020603050405020304" pitchFamily="18" charset="0"/>
              </a:rPr>
              <a:t> محدودة مقارنة بالبرمجة اليدوية.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أقل كفاءة في </a:t>
            </a:r>
            <a:r>
              <a:rPr lang="ar" sz="1400" b="1" dirty="0">
                <a:latin typeface="Times New Roman" panose="02020603050405020304" pitchFamily="18" charset="0"/>
                <a:cs typeface="Times New Roman" panose="02020603050405020304" pitchFamily="18" charset="0"/>
              </a:rPr>
              <a:t>العمليات الإنتاجية المحسّنة والمتقدمة.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العوامل التي تؤثر في كفاءة برامج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1. </a:t>
            </a:r>
            <a:r>
              <a:rPr lang="ar" sz="1400" b="1" dirty="0">
                <a:latin typeface="Times New Roman" panose="02020603050405020304" pitchFamily="18" charset="0"/>
                <a:cs typeface="Times New Roman" panose="02020603050405020304" pitchFamily="18" charset="0"/>
              </a:rPr>
              <a:t>متطلبات تشطيب السطح وتفاوت الأبعاد</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للحصول على </a:t>
            </a:r>
            <a:r>
              <a:rPr lang="ar" sz="1400" b="1" dirty="0">
                <a:latin typeface="Times New Roman" panose="02020603050405020304" pitchFamily="18" charset="0"/>
                <a:cs typeface="Times New Roman" panose="02020603050405020304" pitchFamily="18" charset="0"/>
              </a:rPr>
              <a:t>سطح ذو جودة فائقة</a:t>
            </a:r>
            <a:r>
              <a:rPr lang="ar" sz="1400" dirty="0">
                <a:latin typeface="Times New Roman" panose="02020603050405020304" pitchFamily="18" charset="0"/>
                <a:cs typeface="Times New Roman" panose="02020603050405020304" pitchFamily="18" charset="0"/>
              </a:rPr>
              <a:t> و</a:t>
            </a:r>
            <a:r>
              <a:rPr lang="ar" sz="1400" b="1" dirty="0">
                <a:latin typeface="Times New Roman" panose="02020603050405020304" pitchFamily="18" charset="0"/>
                <a:cs typeface="Times New Roman" panose="02020603050405020304" pitchFamily="18" charset="0"/>
              </a:rPr>
              <a:t>تحكّم دقيق في الأبعاد</a:t>
            </a:r>
            <a:r>
              <a:rPr lang="ar" sz="1400" dirty="0">
                <a:latin typeface="Times New Roman" panose="02020603050405020304" pitchFamily="18" charset="0"/>
                <a:cs typeface="Times New Roman" panose="02020603050405020304" pitchFamily="18" charset="0"/>
              </a:rPr>
              <a:t>، يلزم </a:t>
            </a:r>
            <a:r>
              <a:rPr lang="ar" sz="1400" b="1" dirty="0">
                <a:latin typeface="Times New Roman" panose="02020603050405020304" pitchFamily="18" charset="0"/>
                <a:cs typeface="Times New Roman" panose="02020603050405020304" pitchFamily="18" charset="0"/>
              </a:rPr>
              <a:t>خفض سرعة التلقيم</a:t>
            </a:r>
            <a:r>
              <a:rPr lang="ar" sz="1400" dirty="0">
                <a:latin typeface="Times New Roman" panose="02020603050405020304" pitchFamily="18" charset="0"/>
                <a:cs typeface="Times New Roman" panose="02020603050405020304" pitchFamily="18" charset="0"/>
              </a:rPr>
              <a:t> وتخطيط </a:t>
            </a:r>
            <a:r>
              <a:rPr lang="ar" sz="1400" b="1" dirty="0">
                <a:latin typeface="Times New Roman" panose="02020603050405020304" pitchFamily="18" charset="0"/>
                <a:cs typeface="Times New Roman" panose="02020603050405020304" pitchFamily="18" charset="0"/>
              </a:rPr>
              <a:t>مسارات الأداة بكفاءة عالية.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سوء برمجة الماكينة </a:t>
            </a:r>
            <a:r>
              <a:rPr lang="ar" sz="1400" b="1" dirty="0">
                <a:latin typeface="Times New Roman" panose="02020603050405020304" pitchFamily="18" charset="0"/>
                <a:cs typeface="Times New Roman" panose="02020603050405020304" pitchFamily="18" charset="0"/>
              </a:rPr>
              <a:t>قد يحفّز حدوث طقطقة، ويزيد من تآكل الأدوات، ويؤدي إلى تفاوتات في الأبعاد النهائية.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2. </a:t>
            </a:r>
            <a:r>
              <a:rPr lang="ar" sz="1400" b="1" dirty="0">
                <a:latin typeface="Times New Roman" panose="02020603050405020304" pitchFamily="18" charset="0"/>
                <a:cs typeface="Times New Roman" panose="02020603050405020304" pitchFamily="18" charset="0"/>
              </a:rPr>
              <a:t>هيكل الكود واختيار الأوامر:</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تستند برامج CNC عالية الأداء</a:t>
            </a:r>
            <a:r>
              <a:rPr lang="ar" sz="1400" b="1" dirty="0">
                <a:latin typeface="Times New Roman" panose="02020603050405020304" pitchFamily="18" charset="0"/>
                <a:cs typeface="Times New Roman" panose="02020603050405020304" pitchFamily="18" charset="0"/>
              </a:rPr>
              <a:t> إلى أوامر منظمة ومحسّنة لتحقيق زمن معالجة منخفض.</a:t>
            </a:r>
            <a:r>
              <a:rPr lang="ar" sz="1400" dirty="0">
                <a:latin typeface="Times New Roman" panose="02020603050405020304" pitchFamily="18" charset="0"/>
                <a:cs typeface="Times New Roman" panose="02020603050405020304" pitchFamily="18" charset="0"/>
              </a:rPr>
              <a:t>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التسلسل غير المنطقي أو الحركات الزائدة</a:t>
            </a:r>
            <a:r>
              <a:rPr lang="ar" sz="1400" dirty="0">
                <a:latin typeface="Times New Roman" panose="02020603050405020304" pitchFamily="18" charset="0"/>
                <a:cs typeface="Times New Roman" panose="02020603050405020304" pitchFamily="18" charset="0"/>
              </a:rPr>
              <a:t> يُطيل زمن الدورة ويسرّع من  استهلاك أجزاء الماكينة.</a:t>
            </a:r>
          </a:p>
          <a:p>
            <a:pPr marL="0" indent="0" rtl="1">
              <a:buNone/>
            </a:pPr>
            <a:r>
              <a:rPr lang="ar" sz="1400" dirty="0">
                <a:latin typeface="Times New Roman" panose="02020603050405020304" pitchFamily="18" charset="0"/>
                <a:cs typeface="Times New Roman" panose="02020603050405020304" pitchFamily="18" charset="0"/>
              </a:rPr>
              <a:t>3. </a:t>
            </a:r>
            <a:r>
              <a:rPr lang="ar" sz="1400" b="1" dirty="0">
                <a:latin typeface="Times New Roman" panose="02020603050405020304" pitchFamily="18" charset="0"/>
                <a:cs typeface="Times New Roman" panose="02020603050405020304" pitchFamily="18" charset="0"/>
              </a:rPr>
              <a:t>نوع المادة وتعقيد المكون: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عند العمل على مواد صلبة (مثل الفولاذ المقاوم والتيتانيوم)</a:t>
            </a:r>
            <a:r>
              <a:rPr lang="ar" sz="1400" dirty="0">
                <a:latin typeface="Times New Roman" panose="02020603050405020304" pitchFamily="18" charset="0"/>
                <a:cs typeface="Times New Roman" panose="02020603050405020304" pitchFamily="18" charset="0"/>
              </a:rPr>
              <a:t> يجب اعتماد إستراتيجيات تقطيع خاصة تختلف عن تلك المستخدمة في المواد اللينة مثل الألمنيوم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أو البلاستيك.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تتطلّب الأشكال الهندسيّة المعقّدة </a:t>
            </a:r>
            <a:r>
              <a:rPr lang="ar" sz="1400" b="1" dirty="0">
                <a:latin typeface="Times New Roman" panose="02020603050405020304" pitchFamily="18" charset="0"/>
                <a:cs typeface="Times New Roman" panose="02020603050405020304" pitchFamily="18" charset="0"/>
              </a:rPr>
              <a:t>مسارات أدوات متطوّرة</a:t>
            </a:r>
            <a:r>
              <a:rPr lang="ar" sz="1400" dirty="0">
                <a:latin typeface="Times New Roman" panose="02020603050405020304" pitchFamily="18" charset="0"/>
                <a:cs typeface="Times New Roman" panose="02020603050405020304" pitchFamily="18" charset="0"/>
              </a:rPr>
              <a:t> و</a:t>
            </a:r>
            <a:r>
              <a:rPr lang="ar" sz="1400" b="1" dirty="0">
                <a:latin typeface="Times New Roman" panose="02020603050405020304" pitchFamily="18" charset="0"/>
                <a:cs typeface="Times New Roman" panose="02020603050405020304" pitchFamily="18" charset="0"/>
              </a:rPr>
              <a:t>ماكينات بمحاور متعددة.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4. </a:t>
            </a:r>
            <a:r>
              <a:rPr lang="ar" sz="1400" b="1" dirty="0">
                <a:latin typeface="Times New Roman" panose="02020603050405020304" pitchFamily="18" charset="0"/>
                <a:cs typeface="Times New Roman" panose="02020603050405020304" pitchFamily="18" charset="0"/>
              </a:rPr>
              <a:t>أساليب واجهة البيانات:</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إدخال البيانات يدويًا: إدخال مباشر لأوامر G-code في ماكينة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تنسيق الملفات (DXF) لتبادل البيانات: تُستخدم لاستيراد رسومات CAD إلى برمجيات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واجهة CAD/CAM المتكاملة: توفر تدفقًا سلسًا للنماذج من برنامج التصميم إلى برنامج التوجيه، ما يقلّل الأخطاء البشرية.</a:t>
            </a:r>
            <a:br>
              <a:rPr lang="en-GB" sz="1400" dirty="0">
                <a:latin typeface="Times New Roman" panose="02020603050405020304" pitchFamily="18" charset="0"/>
                <a:cs typeface="Times New Roman" panose="02020603050405020304" pitchFamily="18" charset="0"/>
              </a:rPr>
            </a:b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0942"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أ3: أساليب برمجة الأجزاء وكفاءة البرامج</a:t>
            </a:r>
          </a:p>
        </p:txBody>
      </p:sp>
      <p:sp>
        <p:nvSpPr>
          <p:cNvPr id="2" name="Footer Placeholder 2">
            <a:extLst>
              <a:ext uri="{FF2B5EF4-FFF2-40B4-BE49-F238E27FC236}">
                <a16:creationId xmlns:a16="http://schemas.microsoft.com/office/drawing/2014/main" id="{7CADBFDF-597C-633A-8FA7-537FEF9ADED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12897680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24308" y="1052736"/>
            <a:ext cx="5004048"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b="1" dirty="0">
                <a:latin typeface="Times New Roman" panose="02020603050405020304" pitchFamily="18" charset="0"/>
                <a:cs typeface="Times New Roman" panose="02020603050405020304" pitchFamily="18" charset="0"/>
              </a:rPr>
              <a:t>ملخص نتاج التعلم أ</a:t>
            </a:r>
          </a:p>
          <a:p>
            <a:pPr marL="0" indent="0" rtl="1">
              <a:lnSpc>
                <a:spcPct val="120000"/>
              </a:lnSpc>
              <a:buNone/>
            </a:pP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أ1: أنظمة التحكم في أدوات ماكينات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تعمل ماكينات CNC باستخدام</a:t>
            </a:r>
            <a:r>
              <a:rPr lang="ar" sz="1400" b="1" dirty="0">
                <a:latin typeface="Times New Roman" panose="02020603050405020304" pitchFamily="18" charset="0"/>
                <a:cs typeface="Times New Roman" panose="02020603050405020304" pitchFamily="18" charset="0"/>
              </a:rPr>
              <a:t> وحدة تحكم دقيقة، وآليات دفع مثل البراغي الكروية ومحركات السيرفو، والمحولات (المشفرات).</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تضمن هذه المكونات </a:t>
            </a:r>
            <a:r>
              <a:rPr lang="ar" sz="1400" b="1" dirty="0">
                <a:latin typeface="Times New Roman" panose="02020603050405020304" pitchFamily="18" charset="0"/>
                <a:cs typeface="Times New Roman" panose="02020603050405020304" pitchFamily="18" charset="0"/>
              </a:rPr>
              <a:t>مستويات عالية من الدقة، والتكرار المستقر، وأتمتة كاملة </a:t>
            </a:r>
            <a:r>
              <a:rPr lang="ar" sz="1400" dirty="0">
                <a:latin typeface="Times New Roman" panose="02020603050405020304" pitchFamily="18" charset="0"/>
                <a:cs typeface="Times New Roman" panose="02020603050405020304" pitchFamily="18" charset="0"/>
              </a:rPr>
              <a:t>لعمليات المعالجة الآلية.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أ2: أنظمة التغذية الراجعة مفتوحة الحلقة ومغلقة الحلقة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تعتمد </a:t>
            </a:r>
            <a:r>
              <a:rPr lang="ar" sz="1400" b="1" dirty="0">
                <a:latin typeface="Times New Roman" panose="02020603050405020304" pitchFamily="18" charset="0"/>
                <a:cs typeface="Times New Roman" panose="02020603050405020304" pitchFamily="18" charset="0"/>
              </a:rPr>
              <a:t>الأنظمة مفتوحة الحلقة</a:t>
            </a:r>
            <a:r>
              <a:rPr lang="ar" sz="1400" dirty="0">
                <a:latin typeface="Times New Roman" panose="02020603050405020304" pitchFamily="18" charset="0"/>
                <a:cs typeface="Times New Roman" panose="02020603050405020304" pitchFamily="18" charset="0"/>
              </a:rPr>
              <a:t> على أوامر محددة سلفًا، ما يجعلها </a:t>
            </a:r>
            <a:r>
              <a:rPr lang="ar" sz="1400" b="1" dirty="0">
                <a:latin typeface="Times New Roman" panose="02020603050405020304" pitchFamily="18" charset="0"/>
                <a:cs typeface="Times New Roman" panose="02020603050405020304" pitchFamily="18" charset="0"/>
              </a:rPr>
              <a:t>أبسط ولكنها أقل دقة.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تستخدم </a:t>
            </a:r>
            <a:r>
              <a:rPr lang="ar" sz="1400" b="1" dirty="0">
                <a:latin typeface="Times New Roman" panose="02020603050405020304" pitchFamily="18" charset="0"/>
                <a:cs typeface="Times New Roman" panose="02020603050405020304" pitchFamily="18" charset="0"/>
              </a:rPr>
              <a:t>الأنظمة مغلقة الحلقة</a:t>
            </a: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مستشعرات في الوقت الحقيقي</a:t>
            </a:r>
            <a:r>
              <a:rPr lang="ar" sz="1400" dirty="0">
                <a:latin typeface="Times New Roman" panose="02020603050405020304" pitchFamily="18" charset="0"/>
                <a:cs typeface="Times New Roman" panose="02020603050405020304" pitchFamily="18" charset="0"/>
              </a:rPr>
              <a:t> لتعديل الحركة، ما يعزز </a:t>
            </a:r>
            <a:r>
              <a:rPr lang="ar" sz="1400" b="1" dirty="0">
                <a:latin typeface="Times New Roman" panose="02020603050405020304" pitchFamily="18" charset="0"/>
                <a:cs typeface="Times New Roman" panose="02020603050405020304" pitchFamily="18" charset="0"/>
              </a:rPr>
              <a:t>الدقة ويحسن الكفاءة.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أ3: أساليب برمجة الأجزاء وكفاءة البرامج</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البرمجة اليدوية (G‑code)</a:t>
            </a:r>
            <a:r>
              <a:rPr lang="ar" sz="1400" dirty="0">
                <a:latin typeface="Times New Roman" panose="02020603050405020304" pitchFamily="18" charset="0"/>
                <a:cs typeface="Times New Roman" panose="02020603050405020304" pitchFamily="18" charset="0"/>
              </a:rPr>
              <a:t>: تمنح </a:t>
            </a:r>
            <a:r>
              <a:rPr lang="ar" sz="1400" b="1" dirty="0">
                <a:latin typeface="Times New Roman" panose="02020603050405020304" pitchFamily="18" charset="0"/>
                <a:cs typeface="Times New Roman" panose="02020603050405020304" pitchFamily="18" charset="0"/>
              </a:rPr>
              <a:t>تحكمًا ومرونة</a:t>
            </a:r>
            <a:r>
              <a:rPr lang="ar" sz="1400" dirty="0">
                <a:latin typeface="Times New Roman" panose="02020603050405020304" pitchFamily="18" charset="0"/>
                <a:cs typeface="Times New Roman" panose="02020603050405020304" pitchFamily="18" charset="0"/>
              </a:rPr>
              <a:t>، لكنها تتطلب خبرة فنية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البرمجة التفاعلية:</a:t>
            </a:r>
            <a:r>
              <a:rPr lang="ar" sz="1400" dirty="0">
                <a:latin typeface="Times New Roman" panose="02020603050405020304" pitchFamily="18" charset="0"/>
                <a:cs typeface="Times New Roman" panose="02020603050405020304" pitchFamily="18" charset="0"/>
              </a:rPr>
              <a:t> تُبسّط البرمجة لكنها تفتقر </a:t>
            </a:r>
            <a:r>
              <a:rPr lang="ar" sz="1400" b="1" dirty="0">
                <a:latin typeface="Times New Roman" panose="02020603050405020304" pitchFamily="18" charset="0"/>
                <a:cs typeface="Times New Roman" panose="02020603050405020304" pitchFamily="18" charset="0"/>
              </a:rPr>
              <a:t>للتخصيص الكامل.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تحسّن </a:t>
            </a:r>
            <a:r>
              <a:rPr lang="ar" sz="1400" dirty="0">
                <a:latin typeface="Times New Roman" panose="02020603050405020304" pitchFamily="18" charset="0"/>
                <a:cs typeface="Times New Roman" panose="02020603050405020304" pitchFamily="18" charset="0"/>
              </a:rPr>
              <a:t>برامج CNC الفعالة جودة المنتج، وتقلّص زمن المعالجة، وتوفّر في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استعمال الأدوات.</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يُزود هذا الجزء المتعلمين</a:t>
            </a:r>
            <a:r>
              <a:rPr lang="ar" sz="1400" b="1" dirty="0">
                <a:latin typeface="Times New Roman" panose="02020603050405020304" pitchFamily="18" charset="0"/>
                <a:cs typeface="Times New Roman" panose="02020603050405020304" pitchFamily="18" charset="0"/>
              </a:rPr>
              <a:t> بفهم متكامل لأنظمة التحكم في ماكينات CNC، وبرمجة الماكينة وكفاءتها</a:t>
            </a:r>
            <a:r>
              <a:rPr lang="ar" sz="1400" dirty="0">
                <a:latin typeface="Times New Roman" panose="02020603050405020304" pitchFamily="18" charset="0"/>
                <a:cs typeface="Times New Roman" panose="02020603050405020304" pitchFamily="18" charset="0"/>
              </a:rPr>
              <a:t>، ما يؤهلهم للعمل </a:t>
            </a:r>
            <a:r>
              <a:rPr lang="ar" sz="1400" b="1" dirty="0">
                <a:latin typeface="Times New Roman" panose="02020603050405020304" pitchFamily="18" charset="0"/>
                <a:cs typeface="Times New Roman" panose="02020603050405020304" pitchFamily="18" charset="0"/>
              </a:rPr>
              <a:t>في مجال التصنيع الدقيق والمعالجة الآلية باستخدام CNC.</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0727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ملخص نتاج التعلم أ</a:t>
            </a:r>
          </a:p>
        </p:txBody>
      </p:sp>
      <p:grpSp>
        <p:nvGrpSpPr>
          <p:cNvPr id="3" name="Group 2">
            <a:extLst>
              <a:ext uri="{FF2B5EF4-FFF2-40B4-BE49-F238E27FC236}">
                <a16:creationId xmlns:a16="http://schemas.microsoft.com/office/drawing/2014/main" id="{026B5D7C-2598-D604-B995-E75E8EAC948C}"/>
              </a:ext>
            </a:extLst>
          </p:cNvPr>
          <p:cNvGrpSpPr/>
          <p:nvPr/>
        </p:nvGrpSpPr>
        <p:grpSpPr>
          <a:xfrm>
            <a:off x="251520" y="2706115"/>
            <a:ext cx="3784628" cy="2826149"/>
            <a:chOff x="5143348" y="2706115"/>
            <a:chExt cx="3784628" cy="2826149"/>
          </a:xfrm>
        </p:grpSpPr>
        <p:sp>
          <p:nvSpPr>
            <p:cNvPr id="6" name="TextBox 5">
              <a:extLst>
                <a:ext uri="{FF2B5EF4-FFF2-40B4-BE49-F238E27FC236}">
                  <a16:creationId xmlns:a16="http://schemas.microsoft.com/office/drawing/2014/main" id="{49DC2E27-B887-4499-96B8-5D8B92888D88}"/>
                </a:ext>
              </a:extLst>
            </p:cNvPr>
            <p:cNvSpPr txBox="1"/>
            <p:nvPr/>
          </p:nvSpPr>
          <p:spPr>
            <a:xfrm>
              <a:off x="6228184" y="5255265"/>
              <a:ext cx="1728192" cy="276999"/>
            </a:xfrm>
            <a:prstGeom prst="rect">
              <a:avLst/>
            </a:prstGeom>
            <a:noFill/>
          </p:spPr>
          <p:txBody>
            <a:bodyPr wrap="square" rtlCol="1">
              <a:spAutoFit/>
            </a:bodyPr>
            <a:lstStyle/>
            <a:p>
              <a:pPr rtl="1"/>
              <a:r>
                <a:rPr lang="ar" sz="1200" dirty="0">
                  <a:latin typeface="Times New Roman" panose="02020603050405020304" pitchFamily="18" charset="0"/>
                  <a:cs typeface="Times New Roman" panose="02020603050405020304" pitchFamily="18" charset="0"/>
                </a:rPr>
                <a:t>أنظمة التحكم في ماكينات CNC</a:t>
              </a:r>
            </a:p>
          </p:txBody>
        </p:sp>
        <p:pic>
          <p:nvPicPr>
            <p:cNvPr id="2" name="Picture 1">
              <a:extLst>
                <a:ext uri="{FF2B5EF4-FFF2-40B4-BE49-F238E27FC236}">
                  <a16:creationId xmlns:a16="http://schemas.microsoft.com/office/drawing/2014/main" id="{447AD098-21AC-782C-ABC5-1D82913BDBF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43348" y="2706115"/>
              <a:ext cx="3784628" cy="2523085"/>
            </a:xfrm>
            <a:prstGeom prst="rect">
              <a:avLst/>
            </a:prstGeom>
          </p:spPr>
        </p:pic>
      </p:grpSp>
      <p:sp>
        <p:nvSpPr>
          <p:cNvPr id="4" name="Footer Placeholder 2">
            <a:extLst>
              <a:ext uri="{FF2B5EF4-FFF2-40B4-BE49-F238E27FC236}">
                <a16:creationId xmlns:a16="http://schemas.microsoft.com/office/drawing/2014/main" id="{EECDD9F1-B27A-550A-71C9-BA9017F257B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854118915"/>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Times New Roman" panose="02020603050405020304" pitchFamily="18" charset="0"/>
                <a:cs typeface="Times New Roman" panose="02020603050405020304" pitchFamily="18" charset="0"/>
              </a:rPr>
              <a:t>نتاج التعلم ب</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130000"/>
              </a:lnSpc>
            </a:pPr>
            <a:r>
              <a:rPr lang="ar" sz="3600" b="1" dirty="0">
                <a:latin typeface="Times New Roman" panose="02020603050405020304" pitchFamily="18" charset="0"/>
                <a:cs typeface="Times New Roman" panose="02020603050405020304" pitchFamily="18" charset="0"/>
              </a:rPr>
              <a:t>إعداد ورقة الضبط والبرنامج التشغيلي لماكينة CNC لتصنيع مكون بطريقة آمنة</a:t>
            </a:r>
          </a:p>
        </p:txBody>
      </p:sp>
      <p:sp>
        <p:nvSpPr>
          <p:cNvPr id="2" name="Footer Placeholder 2">
            <a:extLst>
              <a:ext uri="{FF2B5EF4-FFF2-40B4-BE49-F238E27FC236}">
                <a16:creationId xmlns:a16="http://schemas.microsoft.com/office/drawing/2014/main" id="{80CF31B9-1E2C-901A-D6F9-FF341701271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11838768"/>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52736"/>
            <a:ext cx="9143999"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dirty="0">
                <a:latin typeface="Times New Roman" panose="02020603050405020304" pitchFamily="18" charset="0"/>
                <a:cs typeface="Times New Roman" panose="02020603050405020304" pitchFamily="18" charset="0"/>
              </a:rPr>
              <a:t>تشمل عمليات المعالجة الآلية باستخدام ماكينات CNC عمليتين أساسيتين: </a:t>
            </a:r>
            <a:r>
              <a:rPr lang="ar" sz="1400" b="1" dirty="0">
                <a:latin typeface="Times New Roman" panose="02020603050405020304" pitchFamily="18" charset="0"/>
                <a:cs typeface="Times New Roman" panose="02020603050405020304" pitchFamily="18" charset="0"/>
              </a:rPr>
              <a:t>التفريز والخراطة.</a:t>
            </a:r>
            <a:r>
              <a:rPr lang="ar" sz="1400" dirty="0">
                <a:latin typeface="Times New Roman" panose="02020603050405020304" pitchFamily="18" charset="0"/>
                <a:cs typeface="Times New Roman" panose="02020603050405020304" pitchFamily="18" charset="0"/>
              </a:rPr>
              <a:t> تتيح هاتان العمليتان للمصنعين إنتاج أجزاء دقيقة ذات أشكال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هندسية معقدة.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عمليات التفريز (ماكينات التفريز CNC)</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تنطوي عمليات التفريز على</a:t>
            </a:r>
            <a:r>
              <a:rPr lang="ar" sz="1400" b="1" dirty="0">
                <a:latin typeface="Times New Roman" panose="02020603050405020304" pitchFamily="18" charset="0"/>
                <a:cs typeface="Times New Roman" panose="02020603050405020304" pitchFamily="18" charset="0"/>
              </a:rPr>
              <a:t> أدوات قطع دوّارة</a:t>
            </a:r>
            <a:r>
              <a:rPr lang="ar" sz="1400" dirty="0">
                <a:latin typeface="Times New Roman" panose="02020603050405020304" pitchFamily="18" charset="0"/>
                <a:cs typeface="Times New Roman" panose="02020603050405020304" pitchFamily="18" charset="0"/>
              </a:rPr>
              <a:t> تزيل المادة من على قطعة عمل ثابتة. وفيما يأتي وصف لعمليات التفريز المعقدة الرئيسة المستخدمة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في برمجة ماكينات CNC:</a:t>
            </a:r>
          </a:p>
          <a:p>
            <a:pPr marL="0" indent="0" rtl="1">
              <a:lnSpc>
                <a:spcPct val="12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دورة الحفر:  تُجرى عمليات الحفر الآلية لإنشاء ثقوب في مواقع محددة.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الحفر المتدرّج: يستخدم </a:t>
            </a:r>
            <a:r>
              <a:rPr lang="ar" sz="1400" b="1" dirty="0">
                <a:latin typeface="Times New Roman" panose="02020603050405020304" pitchFamily="18" charset="0"/>
                <a:cs typeface="Times New Roman" panose="02020603050405020304" pitchFamily="18" charset="0"/>
              </a:rPr>
              <a:t>لحفر ثقوب عميقة</a:t>
            </a:r>
            <a:r>
              <a:rPr lang="ar" sz="1400" dirty="0">
                <a:latin typeface="Times New Roman" panose="02020603050405020304" pitchFamily="18" charset="0"/>
                <a:cs typeface="Times New Roman" panose="02020603050405020304" pitchFamily="18" charset="0"/>
              </a:rPr>
              <a:t>، حيث تُسحب الأداة بشكل متكرر لإزالة الرقائق وتبريد الشغلة.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إزاحات الأداة:  يتم ضبط إزاحات الأداة لضمان معالجة</a:t>
            </a:r>
            <a:r>
              <a:rPr lang="ar" sz="1400" b="1" dirty="0">
                <a:latin typeface="Times New Roman" panose="02020603050405020304" pitchFamily="18" charset="0"/>
                <a:cs typeface="Times New Roman" panose="02020603050405020304" pitchFamily="18" charset="0"/>
              </a:rPr>
              <a:t> مطابقة للأبعاد المحددة</a:t>
            </a:r>
            <a:r>
              <a:rPr lang="ar" sz="1400" dirty="0">
                <a:latin typeface="Times New Roman" panose="02020603050405020304" pitchFamily="18" charset="0"/>
                <a:cs typeface="Times New Roman" panose="02020603050405020304" pitchFamily="18" charset="0"/>
              </a:rPr>
              <a:t>.</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التخويش:  توسيع ثقب موجود ليوافق أبعاد دقيقة.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أنصاف أقطار الأجزاء وأنصاف الأقطار المدمجة (المنسابة): إنشاء منحنيات تتداخل بسلاسة مع الأسطح المحيطة.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المخاريط: إنتاج </a:t>
            </a:r>
            <a:r>
              <a:rPr lang="ar" sz="1400" b="1" dirty="0">
                <a:latin typeface="Times New Roman" panose="02020603050405020304" pitchFamily="18" charset="0"/>
                <a:cs typeface="Times New Roman" panose="02020603050405020304" pitchFamily="18" charset="0"/>
              </a:rPr>
              <a:t>أسطح مائلة</a:t>
            </a:r>
            <a:r>
              <a:rPr lang="ar" sz="1400" dirty="0">
                <a:latin typeface="Times New Roman" panose="02020603050405020304" pitchFamily="18" charset="0"/>
                <a:cs typeface="Times New Roman" panose="02020603050405020304" pitchFamily="18" charset="0"/>
              </a:rPr>
              <a:t> بدل عمليات القطع المستقيمة.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تعويض قطر الأداة: ضبط الانحرافات في حجم الأداة </a:t>
            </a:r>
            <a:r>
              <a:rPr lang="ar" sz="1400" b="1" dirty="0">
                <a:latin typeface="Times New Roman" panose="02020603050405020304" pitchFamily="18" charset="0"/>
                <a:cs typeface="Times New Roman" panose="02020603050405020304" pitchFamily="18" charset="0"/>
              </a:rPr>
              <a:t>لضمان تطابق الأبعاد النهائية</a:t>
            </a:r>
            <a:r>
              <a:rPr lang="ar" sz="1400" dirty="0">
                <a:latin typeface="Times New Roman" panose="02020603050405020304" pitchFamily="18" charset="0"/>
                <a:cs typeface="Times New Roman" panose="02020603050405020304" pitchFamily="18" charset="0"/>
              </a:rPr>
              <a:t>.</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دورات الجيب: تُستخدم لقطع المناطق الغائرة في قطعة العمل.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الإحداثيات القطبية:</a:t>
            </a:r>
            <a:r>
              <a:rPr lang="ar" sz="1400" dirty="0">
                <a:latin typeface="Times New Roman" panose="02020603050405020304" pitchFamily="18" charset="0"/>
                <a:cs typeface="Times New Roman" panose="02020603050405020304" pitchFamily="18" charset="0"/>
              </a:rPr>
              <a:t> تستخدم في برمجة ماكينات CNC لتحديد </a:t>
            </a:r>
            <a:r>
              <a:rPr lang="ar" sz="1400" b="1" dirty="0">
                <a:latin typeface="Times New Roman" panose="02020603050405020304" pitchFamily="18" charset="0"/>
                <a:cs typeface="Times New Roman" panose="02020603050405020304" pitchFamily="18" charset="0"/>
              </a:rPr>
              <a:t>مسارات دائرية</a:t>
            </a:r>
            <a:r>
              <a:rPr lang="ar" sz="1400" dirty="0">
                <a:latin typeface="Times New Roman" panose="02020603050405020304" pitchFamily="18" charset="0"/>
                <a:cs typeface="Times New Roman" panose="02020603050405020304" pitchFamily="18" charset="0"/>
              </a:rPr>
              <a:t> باستخدام الزوايا وأنصاف الأقطار بدلًا من الإحداثيات الديكارتية.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فتحات وثقوب موزعة على دائرة نصف قطر: تنفيذ فتحات وفق نمط دائري محدد مسبقًا.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الملامح المنحنية:  إنشاء </a:t>
            </a:r>
            <a:r>
              <a:rPr lang="ar" sz="1400" b="1" dirty="0">
                <a:latin typeface="Times New Roman" panose="02020603050405020304" pitchFamily="18" charset="0"/>
                <a:cs typeface="Times New Roman" panose="02020603050405020304" pitchFamily="18" charset="0"/>
              </a:rPr>
              <a:t>أشكال هندسية غير خطية</a:t>
            </a:r>
            <a:r>
              <a:rPr lang="ar" sz="1400" dirty="0">
                <a:latin typeface="Times New Roman" panose="02020603050405020304" pitchFamily="18" charset="0"/>
                <a:cs typeface="Times New Roman" panose="02020603050405020304" pitchFamily="18" charset="0"/>
              </a:rPr>
              <a:t>، وهو أمر ضروري لتصميم الأجزاء المعقدة.</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6759"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ب1:  عمليات التفريز والخراطة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باستخدام ماكينات CNC</a:t>
            </a:r>
          </a:p>
        </p:txBody>
      </p:sp>
      <p:sp>
        <p:nvSpPr>
          <p:cNvPr id="2" name="Footer Placeholder 2">
            <a:extLst>
              <a:ext uri="{FF2B5EF4-FFF2-40B4-BE49-F238E27FC236}">
                <a16:creationId xmlns:a16="http://schemas.microsoft.com/office/drawing/2014/main" id="{B19A2B03-86D8-2361-B99F-DCA0BA724B1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236349469"/>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80926" y="1080120"/>
            <a:ext cx="493204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b="1" dirty="0">
                <a:latin typeface="Times New Roman" panose="02020603050405020304" pitchFamily="18" charset="0"/>
                <a:cs typeface="Times New Roman" panose="02020603050405020304" pitchFamily="18" charset="0"/>
              </a:rPr>
              <a:t>عمليات الخراطة (مخرطات CNC)</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في عملية الخراطة باستخدام ماكينات CNC، </a:t>
            </a:r>
            <a:r>
              <a:rPr lang="ar" sz="1400" b="1" dirty="0">
                <a:latin typeface="Times New Roman" panose="02020603050405020304" pitchFamily="18" charset="0"/>
                <a:cs typeface="Times New Roman" panose="02020603050405020304" pitchFamily="18" charset="0"/>
              </a:rPr>
              <a:t>تُثبت قطعة العمل</a:t>
            </a:r>
            <a:r>
              <a:rPr lang="ar" sz="1400" dirty="0">
                <a:latin typeface="Times New Roman" panose="02020603050405020304" pitchFamily="18" charset="0"/>
                <a:cs typeface="Times New Roman" panose="02020603050405020304" pitchFamily="18" charset="0"/>
              </a:rPr>
              <a:t> على المغزل الدوار، بينما تتحرك أداة القطع الثابتة لإزالة المادة وتشكيل السطح المطلوب. تشمل عمليات الخراطة المعقدة ما يأتي: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أنصاف القطر وتمازجها مع المخروط:</a:t>
            </a:r>
            <a:r>
              <a:rPr lang="ar" sz="1400" dirty="0">
                <a:latin typeface="Times New Roman" panose="02020603050405020304" pitchFamily="18" charset="0"/>
                <a:cs typeface="Times New Roman" panose="02020603050405020304" pitchFamily="18" charset="0"/>
              </a:rPr>
              <a:t> تُستخدم لضمان </a:t>
            </a:r>
            <a:r>
              <a:rPr lang="ar" sz="1400" b="1" dirty="0">
                <a:latin typeface="Times New Roman" panose="02020603050405020304" pitchFamily="18" charset="0"/>
                <a:cs typeface="Times New Roman" panose="02020603050405020304" pitchFamily="18" charset="0"/>
              </a:rPr>
              <a:t>انتقال سلس</a:t>
            </a:r>
            <a:r>
              <a:rPr lang="ar" sz="1400" dirty="0">
                <a:latin typeface="Times New Roman" panose="02020603050405020304" pitchFamily="18" charset="0"/>
                <a:cs typeface="Times New Roman" panose="02020603050405020304" pitchFamily="18" charset="0"/>
              </a:rPr>
              <a:t> دون حواف حادة.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تعويض نصف قطر الأنف:</a:t>
            </a:r>
            <a:r>
              <a:rPr lang="ar" sz="1400" dirty="0">
                <a:latin typeface="Times New Roman" panose="02020603050405020304" pitchFamily="18" charset="0"/>
                <a:cs typeface="Times New Roman" panose="02020603050405020304" pitchFamily="18" charset="0"/>
              </a:rPr>
              <a:t> ضبط إزاحات الأداة </a:t>
            </a:r>
            <a:r>
              <a:rPr lang="ar" sz="1400" b="1" dirty="0">
                <a:latin typeface="Times New Roman" panose="02020603050405020304" pitchFamily="18" charset="0"/>
                <a:cs typeface="Times New Roman" panose="02020603050405020304" pitchFamily="18" charset="0"/>
              </a:rPr>
              <a:t>لضمان أبعاد دقيقة.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إزاحات الأداة:  تُجرى تعديلات للتعويض عن </a:t>
            </a:r>
            <a:r>
              <a:rPr lang="ar" sz="1400" b="1" dirty="0">
                <a:latin typeface="Times New Roman" panose="02020603050405020304" pitchFamily="18" charset="0"/>
                <a:cs typeface="Times New Roman" panose="02020603050405020304" pitchFamily="18" charset="0"/>
              </a:rPr>
              <a:t>تآكل الأداة وانحرافها.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دورات التخشين والخراطة: تُستخدم لإزالة كميات كبيرة من المادة بفعالية قبل عمليات </a:t>
            </a:r>
            <a:r>
              <a:rPr lang="ar" sz="1400" b="1" dirty="0">
                <a:latin typeface="Times New Roman" panose="02020603050405020304" pitchFamily="18" charset="0"/>
                <a:cs typeface="Times New Roman" panose="02020603050405020304" pitchFamily="18" charset="0"/>
              </a:rPr>
              <a:t>التشطيب.</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التخويش:  توسيع الأقطار الداخلية إلى مواصفات دقيقة.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دورات التشكيل الخيطية الخارجية والداخلية: برمجة لقطع الخيوط اللولبية المستخدمة في القفل والتثبيت وتجهيزات الأنابيب.</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دورات الحفر: حفر مباشر داخل قطع عمل دوّارة.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الشقوق والنتوءات:   إنشاء تجاويف أو نقوش في قطعة العمل.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الفصل: فصل</a:t>
            </a:r>
            <a:r>
              <a:rPr lang="ar" sz="1400" b="1" dirty="0">
                <a:latin typeface="Times New Roman" panose="02020603050405020304" pitchFamily="18" charset="0"/>
                <a:cs typeface="Times New Roman" panose="02020603050405020304" pitchFamily="18" charset="0"/>
              </a:rPr>
              <a:t> المكونات المكتملة</a:t>
            </a:r>
            <a:r>
              <a:rPr lang="ar" sz="1400" dirty="0">
                <a:latin typeface="Times New Roman" panose="02020603050405020304" pitchFamily="18" charset="0"/>
                <a:cs typeface="Times New Roman" panose="02020603050405020304" pitchFamily="18" charset="0"/>
              </a:rPr>
              <a:t> عن قطعة العمل.</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الفرز والخراطة</a:t>
            </a:r>
            <a:r>
              <a:rPr lang="ar" sz="1400" b="1" dirty="0">
                <a:latin typeface="Times New Roman" panose="02020603050405020304" pitchFamily="18" charset="0"/>
                <a:cs typeface="Times New Roman" panose="02020603050405020304" pitchFamily="18" charset="0"/>
              </a:rPr>
              <a:t> عمليتان جوهريتان في المعالجة الآلية باستخدام ماكينات CNC، حيث تتيحان </a:t>
            </a:r>
            <a:r>
              <a:rPr lang="ar" sz="1400" dirty="0">
                <a:latin typeface="Times New Roman" panose="02020603050405020304" pitchFamily="18" charset="0"/>
                <a:cs typeface="Times New Roman" panose="02020603050405020304" pitchFamily="18" charset="0"/>
              </a:rPr>
              <a:t>دقة في الأبعاد وإنتاجية عالية</a:t>
            </a:r>
            <a:r>
              <a:rPr lang="ar" sz="1400" b="1" dirty="0">
                <a:latin typeface="Times New Roman" panose="02020603050405020304" pitchFamily="18" charset="0"/>
                <a:cs typeface="Times New Roman" panose="02020603050405020304" pitchFamily="18" charset="0"/>
              </a:rPr>
              <a:t> عبر مراحل متعددة.</a:t>
            </a:r>
            <a:br>
              <a:rPr lang="en-GB" sz="1400" dirty="0">
                <a:latin typeface="Times New Roman" panose="02020603050405020304" pitchFamily="18" charset="0"/>
                <a:cs typeface="Times New Roman" panose="02020603050405020304" pitchFamily="18" charset="0"/>
              </a:rPr>
            </a:b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ب1:  عمليات التفريز والخراطة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باستخدام ماكينات CNC</a:t>
            </a:r>
          </a:p>
        </p:txBody>
      </p:sp>
      <p:grpSp>
        <p:nvGrpSpPr>
          <p:cNvPr id="2" name="Group 1">
            <a:extLst>
              <a:ext uri="{FF2B5EF4-FFF2-40B4-BE49-F238E27FC236}">
                <a16:creationId xmlns:a16="http://schemas.microsoft.com/office/drawing/2014/main" id="{200D6C46-FFA3-8343-8EAC-C160AF0A49B0}"/>
              </a:ext>
            </a:extLst>
          </p:cNvPr>
          <p:cNvGrpSpPr/>
          <p:nvPr/>
        </p:nvGrpSpPr>
        <p:grpSpPr>
          <a:xfrm>
            <a:off x="251520" y="2780928"/>
            <a:ext cx="3584295" cy="2855790"/>
            <a:chOff x="5148064" y="2780928"/>
            <a:chExt cx="3584295" cy="2855790"/>
          </a:xfrm>
        </p:grpSpPr>
        <p:sp>
          <p:nvSpPr>
            <p:cNvPr id="5" name="TextBox 4">
              <a:extLst>
                <a:ext uri="{FF2B5EF4-FFF2-40B4-BE49-F238E27FC236}">
                  <a16:creationId xmlns:a16="http://schemas.microsoft.com/office/drawing/2014/main" id="{F3A97EA2-0FE9-45E5-9CB6-FE12FBEBBC73}"/>
                </a:ext>
              </a:extLst>
            </p:cNvPr>
            <p:cNvSpPr txBox="1"/>
            <p:nvPr/>
          </p:nvSpPr>
          <p:spPr>
            <a:xfrm>
              <a:off x="5148064" y="5359719"/>
              <a:ext cx="3584295" cy="276999"/>
            </a:xfrm>
            <a:prstGeom prst="rect">
              <a:avLst/>
            </a:prstGeom>
            <a:noFill/>
          </p:spPr>
          <p:txBody>
            <a:bodyPr wrap="square" rtlCol="1">
              <a:spAutoFit/>
            </a:bodyPr>
            <a:lstStyle/>
            <a:p>
              <a:pPr algn="ctr" rtl="1"/>
              <a:r>
                <a:rPr lang="ar" sz="1200">
                  <a:latin typeface="Times New Roman" panose="02020603050405020304" pitchFamily="18" charset="0"/>
                  <a:cs typeface="Times New Roman" panose="02020603050405020304" pitchFamily="18" charset="0"/>
                </a:rPr>
                <a:t>عمليات الخراطة (مخرطات CNC)</a:t>
              </a:r>
            </a:p>
          </p:txBody>
        </p:sp>
        <p:pic>
          <p:nvPicPr>
            <p:cNvPr id="4098" name="Picture 2">
              <a:extLst>
                <a:ext uri="{FF2B5EF4-FFF2-40B4-BE49-F238E27FC236}">
                  <a16:creationId xmlns:a16="http://schemas.microsoft.com/office/drawing/2014/main" id="{BBE591C6-4ECF-4995-B293-905184DCC03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148064" y="2780928"/>
              <a:ext cx="3584295" cy="2390152"/>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Footer Placeholder 2">
            <a:extLst>
              <a:ext uri="{FF2B5EF4-FFF2-40B4-BE49-F238E27FC236}">
                <a16:creationId xmlns:a16="http://schemas.microsoft.com/office/drawing/2014/main" id="{5ED7454B-A321-35D6-177F-B7E5B9568AC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996462150"/>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80120"/>
            <a:ext cx="9143999"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buNone/>
            </a:pPr>
            <a:r>
              <a:rPr lang="ar" sz="1400" dirty="0">
                <a:latin typeface="Times New Roman" panose="02020603050405020304" pitchFamily="18" charset="0"/>
                <a:cs typeface="Times New Roman" panose="02020603050405020304" pitchFamily="18" charset="0"/>
              </a:rPr>
              <a:t>اختيار معلمات أدوات المعالجة الآلية بشكل صحيح يضمن تحقيق</a:t>
            </a:r>
            <a:r>
              <a:rPr lang="ar" sz="1400" b="1" dirty="0">
                <a:latin typeface="Times New Roman" panose="02020603050405020304" pitchFamily="18" charset="0"/>
                <a:cs typeface="Times New Roman" panose="02020603050405020304" pitchFamily="18" charset="0"/>
              </a:rPr>
              <a:t> أداء تشغيل مثالي.</a:t>
            </a:r>
            <a:r>
              <a:rPr lang="ar" sz="1400" dirty="0">
                <a:latin typeface="Times New Roman" panose="02020603050405020304" pitchFamily="18" charset="0"/>
                <a:cs typeface="Times New Roman" panose="02020603050405020304" pitchFamily="18" charset="0"/>
              </a:rPr>
              <a:t> تشمل المعلمات الرئيسة ما يأتي:</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معدلات التلقيم:</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تحديد مدى سرعة تحرّك الأداة عبر قطعة العمل.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رغم أن زيادة معدل التغذية تعزز </a:t>
            </a:r>
            <a:r>
              <a:rPr lang="ar" sz="1400" b="1" dirty="0">
                <a:latin typeface="Times New Roman" panose="02020603050405020304" pitchFamily="18" charset="0"/>
                <a:cs typeface="Times New Roman" panose="02020603050405020304" pitchFamily="18" charset="0"/>
              </a:rPr>
              <a:t>الإنتاجية</a:t>
            </a:r>
            <a:r>
              <a:rPr lang="ar" sz="1400" dirty="0">
                <a:latin typeface="Times New Roman" panose="02020603050405020304" pitchFamily="18" charset="0"/>
                <a:cs typeface="Times New Roman" panose="02020603050405020304" pitchFamily="18" charset="0"/>
              </a:rPr>
              <a:t>، إلا أنه قد يقلل جودة السطح النهائي (</a:t>
            </a:r>
            <a:r>
              <a:rPr lang="ar" sz="1400" b="1" dirty="0">
                <a:latin typeface="Times New Roman" panose="02020603050405020304" pitchFamily="18" charset="0"/>
                <a:cs typeface="Times New Roman" panose="02020603050405020304" pitchFamily="18" charset="0"/>
              </a:rPr>
              <a:t>سطح نهائي خشن</a:t>
            </a:r>
            <a:r>
              <a:rPr lang="ar" sz="1400" dirty="0">
                <a:latin typeface="Times New Roman" panose="02020603050405020304" pitchFamily="18" charset="0"/>
                <a:cs typeface="Times New Roman" panose="02020603050405020304" pitchFamily="18" charset="0"/>
              </a:rPr>
              <a:t>).</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مثال: الألمنيوم معدن لين، فإنه </a:t>
            </a:r>
            <a:r>
              <a:rPr lang="ar" sz="1400" b="1" dirty="0">
                <a:latin typeface="Times New Roman" panose="02020603050405020304" pitchFamily="18" charset="0"/>
                <a:cs typeface="Times New Roman" panose="02020603050405020304" pitchFamily="18" charset="0"/>
              </a:rPr>
              <a:t>يقبل معدلات تلقيم أعلى</a:t>
            </a:r>
            <a:r>
              <a:rPr lang="ar" sz="1400" dirty="0">
                <a:latin typeface="Times New Roman" panose="02020603050405020304" pitchFamily="18" charset="0"/>
                <a:cs typeface="Times New Roman" panose="02020603050405020304" pitchFamily="18" charset="0"/>
              </a:rPr>
              <a:t> قبل أن تتدهور جودة السطح مقارنة بالفولاذ الصلب.</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سرعة القطع:</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تحديد مدى سرعة دوران أداة القطع.</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تسبب السرعات غير المناسبة </a:t>
            </a:r>
            <a:r>
              <a:rPr lang="ar" sz="1400" b="1" dirty="0">
                <a:latin typeface="Times New Roman" panose="02020603050405020304" pitchFamily="18" charset="0"/>
                <a:cs typeface="Times New Roman" panose="02020603050405020304" pitchFamily="18" charset="0"/>
              </a:rPr>
              <a:t>تآكلًا زائدًا للأداة أو سطحًا نهائيًّا خشنًا.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مثال: يحتاج الألمنيوم سرعة قطع أعلى من الفولاذ المقاوم للصدأ.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3. عمليات التخشين: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تستخدم </a:t>
            </a:r>
            <a:r>
              <a:rPr lang="ar" sz="1400" b="1" dirty="0">
                <a:latin typeface="Times New Roman" panose="02020603050405020304" pitchFamily="18" charset="0"/>
                <a:cs typeface="Times New Roman" panose="02020603050405020304" pitchFamily="18" charset="0"/>
              </a:rPr>
              <a:t>أدوات قطع صلبة</a:t>
            </a:r>
            <a:r>
              <a:rPr lang="ar" sz="1400" dirty="0">
                <a:latin typeface="Times New Roman" panose="02020603050405020304" pitchFamily="18" charset="0"/>
                <a:cs typeface="Times New Roman" panose="02020603050405020304" pitchFamily="18" charset="0"/>
              </a:rPr>
              <a:t> لإزالة كميات كبيرة من المادة بشكل سريع.</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أدوات التخشين </a:t>
            </a:r>
            <a:r>
              <a:rPr lang="ar" sz="1400" b="1" dirty="0">
                <a:latin typeface="Times New Roman" panose="02020603050405020304" pitchFamily="18" charset="0"/>
                <a:cs typeface="Times New Roman" panose="02020603050405020304" pitchFamily="18" charset="0"/>
              </a:rPr>
              <a:t>أكثر قوة لكنها تترك سطحًا خشنًا</a:t>
            </a:r>
            <a:r>
              <a:rPr lang="ar" sz="1400" dirty="0">
                <a:latin typeface="Times New Roman" panose="02020603050405020304" pitchFamily="18" charset="0"/>
                <a:cs typeface="Times New Roman" panose="02020603050405020304" pitchFamily="18" charset="0"/>
              </a:rPr>
              <a:t>.</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4. عمليات التشطيب:</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استخدام </a:t>
            </a:r>
            <a:r>
              <a:rPr lang="ar" sz="1400" b="1" dirty="0">
                <a:latin typeface="Times New Roman" panose="02020603050405020304" pitchFamily="18" charset="0"/>
                <a:cs typeface="Times New Roman" panose="02020603050405020304" pitchFamily="18" charset="0"/>
              </a:rPr>
              <a:t>عمق قطع ضحل وسرعات عالية </a:t>
            </a:r>
            <a:r>
              <a:rPr lang="ar" sz="1400" dirty="0">
                <a:latin typeface="Times New Roman" panose="02020603050405020304" pitchFamily="18" charset="0"/>
                <a:cs typeface="Times New Roman" panose="02020603050405020304" pitchFamily="18" charset="0"/>
              </a:rPr>
              <a:t>للحصول على</a:t>
            </a:r>
            <a:r>
              <a:rPr lang="ar" sz="1400" b="1" dirty="0">
                <a:latin typeface="Times New Roman" panose="02020603050405020304" pitchFamily="18" charset="0"/>
                <a:cs typeface="Times New Roman" panose="02020603050405020304" pitchFamily="18" charset="0"/>
              </a:rPr>
              <a:t> أسطح ملساء.</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5. تعويض أداة القطع (</a:t>
            </a:r>
            <a:r>
              <a:rPr lang="en-GB" sz="1400" b="1" dirty="0">
                <a:latin typeface="Times New Roman" panose="02020603050405020304" pitchFamily="18" charset="0"/>
                <a:cs typeface="Times New Roman" panose="02020603050405020304" pitchFamily="18" charset="0"/>
              </a:rPr>
              <a:t>G40, G41, G42</a:t>
            </a:r>
            <a:r>
              <a:rPr lang="ar" sz="1400" b="1" dirty="0">
                <a:latin typeface="Times New Roman" panose="02020603050405020304" pitchFamily="18" charset="0"/>
                <a:cs typeface="Times New Roman" panose="02020603050405020304" pitchFamily="18" charset="0"/>
              </a:rPr>
              <a:t>):</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G40</a:t>
            </a:r>
            <a:r>
              <a:rPr lang="ar" sz="1400" dirty="0">
                <a:latin typeface="Times New Roman" panose="02020603050405020304" pitchFamily="18" charset="0"/>
                <a:cs typeface="Times New Roman" panose="02020603050405020304" pitchFamily="18" charset="0"/>
              </a:rPr>
              <a:t>: يلغي تعويض أداة القطع.</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G41</a:t>
            </a:r>
            <a:r>
              <a:rPr lang="ar" sz="1400" dirty="0">
                <a:latin typeface="Times New Roman" panose="02020603050405020304" pitchFamily="18" charset="0"/>
                <a:cs typeface="Times New Roman" panose="02020603050405020304" pitchFamily="18" charset="0"/>
              </a:rPr>
              <a:t>: يحوّل مسار أداة القطع لليسار.</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G42</a:t>
            </a:r>
            <a:r>
              <a:rPr lang="ar" sz="1400" dirty="0">
                <a:latin typeface="Times New Roman" panose="02020603050405020304" pitchFamily="18" charset="0"/>
                <a:cs typeface="Times New Roman" panose="02020603050405020304" pitchFamily="18" charset="0"/>
              </a:rPr>
              <a:t>: يحوّل مسار أداة القطع لليمين.</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إن اختيار معلمات أدوات المعالجة الآلية بشكل صحيح</a:t>
            </a:r>
            <a:r>
              <a:rPr lang="ar" sz="1400" b="1" dirty="0">
                <a:latin typeface="Times New Roman" panose="02020603050405020304" pitchFamily="18" charset="0"/>
                <a:cs typeface="Times New Roman" panose="02020603050405020304" pitchFamily="18" charset="0"/>
              </a:rPr>
              <a:t> يضمن تشغيلًا فعّالًا عالي الجودة مع حد أدنى من تآكل الأداة.</a:t>
            </a:r>
            <a:br>
              <a:rPr lang="en-GB" sz="1400" dirty="0">
                <a:latin typeface="Times New Roman" panose="02020603050405020304" pitchFamily="18" charset="0"/>
                <a:cs typeface="Times New Roman" panose="02020603050405020304" pitchFamily="18" charset="0"/>
              </a:rPr>
            </a:b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3"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ب2: معلمات الأدوات</a:t>
            </a:r>
          </a:p>
        </p:txBody>
      </p:sp>
      <p:sp>
        <p:nvSpPr>
          <p:cNvPr id="2" name="Footer Placeholder 2">
            <a:extLst>
              <a:ext uri="{FF2B5EF4-FFF2-40B4-BE49-F238E27FC236}">
                <a16:creationId xmlns:a16="http://schemas.microsoft.com/office/drawing/2014/main" id="{BFEBD977-1C96-E7FA-F418-D82EC48580B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3393981969"/>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35896" y="1080120"/>
            <a:ext cx="5508104"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buNone/>
            </a:pPr>
            <a:r>
              <a:rPr lang="ar" sz="1400" dirty="0">
                <a:latin typeface="Times New Roman" panose="02020603050405020304" pitchFamily="18" charset="0"/>
                <a:cs typeface="Times New Roman" panose="02020603050405020304" pitchFamily="18" charset="0"/>
              </a:rPr>
              <a:t>تتطلب برمجة ماكينة CNC تضمين</a:t>
            </a:r>
            <a:r>
              <a:rPr lang="ar" sz="1400" b="1" dirty="0">
                <a:latin typeface="Times New Roman" panose="02020603050405020304" pitchFamily="18" charset="0"/>
                <a:cs typeface="Times New Roman" panose="02020603050405020304" pitchFamily="18" charset="0"/>
              </a:rPr>
              <a:t> معلمات المكون</a:t>
            </a:r>
            <a:r>
              <a:rPr lang="ar" sz="1400" dirty="0">
                <a:latin typeface="Times New Roman" panose="02020603050405020304" pitchFamily="18" charset="0"/>
                <a:cs typeface="Times New Roman" panose="02020603050405020304" pitchFamily="18" charset="0"/>
              </a:rPr>
              <a:t> المحدد لتحقيق دقة تصنيع عالية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وتقليل الانحرافات. وتشمل ما يأتي:</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حسابات مسار القاطع:</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يُستخدم دوال مثلثية (جيب، جتا، ظل) لتحديد تقاطعات ومسارات منحنية.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حسابات مركز القوس:</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تُستخدم لبرمجة مسارات دائرية دقيقة.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3. أدوات تثبيت العمل: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ملزمة الماكينة: يثبت قطع صغيرة بأمان.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التركيبات: حوامل مصممة بحسب الطلب للأجزاء</a:t>
            </a:r>
            <a:r>
              <a:rPr lang="ar" sz="1400" b="1" dirty="0">
                <a:latin typeface="Times New Roman" panose="02020603050405020304" pitchFamily="18" charset="0"/>
                <a:cs typeface="Times New Roman" panose="02020603050405020304" pitchFamily="18" charset="0"/>
              </a:rPr>
              <a:t> غير المنتظمة.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الأظرف: تُستخدم على مخارط CNC </a:t>
            </a:r>
            <a:r>
              <a:rPr lang="ar" sz="1400" b="1" dirty="0">
                <a:latin typeface="Times New Roman" panose="02020603050405020304" pitchFamily="18" charset="0"/>
                <a:cs typeface="Times New Roman" panose="02020603050405020304" pitchFamily="18" charset="0"/>
              </a:rPr>
              <a:t>للإمساك بالمكونات الأسطوانية.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الطاولات الهوائية أو المغناطيسية: تستخدم </a:t>
            </a:r>
            <a:r>
              <a:rPr lang="ar" sz="1400" b="1" dirty="0">
                <a:latin typeface="Times New Roman" panose="02020603050405020304" pitchFamily="18" charset="0"/>
                <a:cs typeface="Times New Roman" panose="02020603050405020304" pitchFamily="18" charset="0"/>
              </a:rPr>
              <a:t>لتثبيت الأشكال غير الاعتيادية أو المواد الحساسة.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4. دورات مبرمجة مسبقًا: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دورات مبرمجة مسبقًا</a:t>
            </a:r>
            <a:r>
              <a:rPr lang="ar" sz="1400" dirty="0">
                <a:latin typeface="Times New Roman" panose="02020603050405020304" pitchFamily="18" charset="0"/>
                <a:cs typeface="Times New Roman" panose="02020603050405020304" pitchFamily="18" charset="0"/>
              </a:rPr>
              <a:t> توفر أتمتة لعمليات معالجة آلية متكررة.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أمثلة: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G70</a:t>
            </a:r>
            <a:r>
              <a:rPr lang="ar" sz="1400" dirty="0">
                <a:latin typeface="Times New Roman" panose="02020603050405020304" pitchFamily="18" charset="0"/>
                <a:cs typeface="Times New Roman" panose="02020603050405020304" pitchFamily="18" charset="0"/>
              </a:rPr>
              <a:t>/</a:t>
            </a:r>
            <a:r>
              <a:rPr lang="en-GB" sz="1400" b="1"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G70</a:t>
            </a: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دورات التخشين </a:t>
            </a:r>
            <a:r>
              <a:rPr lang="ar" sz="1400" dirty="0">
                <a:latin typeface="Times New Roman" panose="02020603050405020304" pitchFamily="18" charset="0"/>
                <a:cs typeface="Times New Roman" panose="02020603050405020304" pitchFamily="18" charset="0"/>
              </a:rPr>
              <a:t>لعمليات الخراطة.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G81-G89</a:t>
            </a: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دورات الحفر</a:t>
            </a:r>
            <a:r>
              <a:rPr lang="ar" sz="1400" dirty="0">
                <a:latin typeface="Times New Roman" panose="02020603050405020304" pitchFamily="18" charset="0"/>
                <a:cs typeface="Times New Roman" panose="02020603050405020304" pitchFamily="18" charset="0"/>
              </a:rPr>
              <a:t> لإنشاء ثقوب بشكل مؤتمت.</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5. اختيار المواد وتحضيرها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تحديد أبعاد الفلنج الخالية والاستعداد المسبق للعملية بشكل صحيح</a:t>
            </a:r>
            <a:r>
              <a:rPr lang="ar" sz="1400" dirty="0">
                <a:latin typeface="Times New Roman" panose="02020603050405020304" pitchFamily="18" charset="0"/>
                <a:cs typeface="Times New Roman" panose="02020603050405020304" pitchFamily="18" charset="0"/>
              </a:rPr>
              <a:t> يقلّلان</a:t>
            </a:r>
            <a:r>
              <a:rPr lang="ar" sz="1400" b="1" dirty="0">
                <a:latin typeface="Times New Roman" panose="02020603050405020304" pitchFamily="18" charset="0"/>
                <a:cs typeface="Times New Roman" panose="02020603050405020304" pitchFamily="18" charset="0"/>
              </a:rPr>
              <a:t> الهدر </a:t>
            </a:r>
            <a:br>
              <a:rPr lang="en-US" sz="1400" b="1"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ويُحسّنان الكفاءة.</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ب3: معلمات المكون</a:t>
            </a:r>
          </a:p>
        </p:txBody>
      </p:sp>
      <p:grpSp>
        <p:nvGrpSpPr>
          <p:cNvPr id="3" name="Group 2">
            <a:extLst>
              <a:ext uri="{FF2B5EF4-FFF2-40B4-BE49-F238E27FC236}">
                <a16:creationId xmlns:a16="http://schemas.microsoft.com/office/drawing/2014/main" id="{C8979C9B-199F-5F48-D848-C19424A0528B}"/>
              </a:ext>
            </a:extLst>
          </p:cNvPr>
          <p:cNvGrpSpPr/>
          <p:nvPr/>
        </p:nvGrpSpPr>
        <p:grpSpPr>
          <a:xfrm>
            <a:off x="323528" y="2492896"/>
            <a:ext cx="2736304" cy="3147837"/>
            <a:chOff x="5796136" y="2492896"/>
            <a:chExt cx="2736304" cy="3147837"/>
          </a:xfrm>
        </p:grpSpPr>
        <p:sp>
          <p:nvSpPr>
            <p:cNvPr id="6" name="TextBox 5">
              <a:extLst>
                <a:ext uri="{FF2B5EF4-FFF2-40B4-BE49-F238E27FC236}">
                  <a16:creationId xmlns:a16="http://schemas.microsoft.com/office/drawing/2014/main" id="{BCF93019-54EE-4295-A1F5-32308EEDCFDB}"/>
                </a:ext>
              </a:extLst>
            </p:cNvPr>
            <p:cNvSpPr txBox="1"/>
            <p:nvPr/>
          </p:nvSpPr>
          <p:spPr>
            <a:xfrm>
              <a:off x="6476809" y="5363734"/>
              <a:ext cx="1047519" cy="276999"/>
            </a:xfrm>
            <a:prstGeom prst="rect">
              <a:avLst/>
            </a:prstGeom>
            <a:noFill/>
          </p:spPr>
          <p:txBody>
            <a:bodyPr wrap="square" rtlCol="1">
              <a:spAutoFit/>
            </a:bodyPr>
            <a:lstStyle/>
            <a:p>
              <a:pPr rtl="1"/>
              <a:r>
                <a:rPr lang="ar" sz="1200" dirty="0">
                  <a:latin typeface="Times New Roman" panose="02020603050405020304" pitchFamily="18" charset="0"/>
                  <a:cs typeface="Times New Roman" panose="02020603050405020304" pitchFamily="18" charset="0"/>
                </a:rPr>
                <a:t>ملزمة الماكينة</a:t>
              </a:r>
            </a:p>
          </p:txBody>
        </p:sp>
        <p:pic>
          <p:nvPicPr>
            <p:cNvPr id="2" name="Picture 1">
              <a:extLst>
                <a:ext uri="{FF2B5EF4-FFF2-40B4-BE49-F238E27FC236}">
                  <a16:creationId xmlns:a16="http://schemas.microsoft.com/office/drawing/2014/main" id="{F9EBAC9A-8324-A63A-659E-E7EDFC36DAB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796136" y="2492896"/>
              <a:ext cx="2736304" cy="2837622"/>
            </a:xfrm>
            <a:prstGeom prst="rect">
              <a:avLst/>
            </a:prstGeom>
          </p:spPr>
        </p:pic>
      </p:grpSp>
      <p:sp>
        <p:nvSpPr>
          <p:cNvPr id="4" name="Footer Placeholder 2">
            <a:extLst>
              <a:ext uri="{FF2B5EF4-FFF2-40B4-BE49-F238E27FC236}">
                <a16:creationId xmlns:a16="http://schemas.microsoft.com/office/drawing/2014/main" id="{50C23AB7-B9F3-C901-F3E1-316B5EAF729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3781860839"/>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80120"/>
            <a:ext cx="9143999"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latin typeface="Times New Roman" panose="02020603050405020304" pitchFamily="18" charset="0"/>
                <a:cs typeface="Times New Roman" panose="02020603050405020304" pitchFamily="18" charset="0"/>
              </a:rPr>
              <a:t>إن إعداد ماكينة CNC بشكل صحيح يضمن تشغيل الماكينة بأمان وكفاءة.</a:t>
            </a:r>
            <a:r>
              <a:rPr lang="ar" sz="1400" dirty="0">
                <a:latin typeface="Times New Roman" panose="02020603050405020304" pitchFamily="18" charset="0"/>
                <a:cs typeface="Times New Roman" panose="02020603050405020304" pitchFamily="18" charset="0"/>
              </a:rPr>
              <a:t> تشمل معلمات الإعداد الرئيسة الآتي: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تثبيت العمل:</a:t>
            </a:r>
            <a:r>
              <a:rPr lang="ar" sz="1400" dirty="0">
                <a:latin typeface="Times New Roman" panose="02020603050405020304" pitchFamily="18" charset="0"/>
                <a:cs typeface="Times New Roman" panose="02020603050405020304" pitchFamily="18" charset="0"/>
              </a:rPr>
              <a:t> تحديد أسلوب </a:t>
            </a:r>
            <a:r>
              <a:rPr lang="ar" sz="1400" b="1" dirty="0">
                <a:latin typeface="Times New Roman" panose="02020603050405020304" pitchFamily="18" charset="0"/>
                <a:cs typeface="Times New Roman" panose="02020603050405020304" pitchFamily="18" charset="0"/>
              </a:rPr>
              <a:t>التثبيت </a:t>
            </a:r>
            <a:r>
              <a:rPr lang="ar" sz="1400" dirty="0">
                <a:latin typeface="Times New Roman" panose="02020603050405020304" pitchFamily="18" charset="0"/>
                <a:cs typeface="Times New Roman" panose="02020603050405020304" pitchFamily="18" charset="0"/>
              </a:rPr>
              <a:t>الأمثل للقطعة.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مواضع تغيير الأداة: تجهيز </a:t>
            </a:r>
            <a:r>
              <a:rPr lang="ar" sz="1400" b="1" dirty="0">
                <a:latin typeface="Times New Roman" panose="02020603050405020304" pitchFamily="18" charset="0"/>
                <a:cs typeface="Times New Roman" panose="02020603050405020304" pitchFamily="18" charset="0"/>
              </a:rPr>
              <a:t>موقع آمن</a:t>
            </a:r>
            <a:r>
              <a:rPr lang="ar" sz="1400" dirty="0">
                <a:latin typeface="Times New Roman" panose="02020603050405020304" pitchFamily="18" charset="0"/>
                <a:cs typeface="Times New Roman" panose="02020603050405020304" pitchFamily="18" charset="0"/>
              </a:rPr>
              <a:t> لتغيير الأدوات بشكل أوتوماتيكي.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تثبيت الأداة: التأكد من </a:t>
            </a:r>
            <a:r>
              <a:rPr lang="ar" sz="1400" b="1" dirty="0">
                <a:latin typeface="Times New Roman" panose="02020603050405020304" pitchFamily="18" charset="0"/>
                <a:cs typeface="Times New Roman" panose="02020603050405020304" pitchFamily="18" charset="0"/>
              </a:rPr>
              <a:t>تموضع الأدوات بدقة </a:t>
            </a:r>
            <a:r>
              <a:rPr lang="ar" sz="1400" dirty="0">
                <a:latin typeface="Times New Roman" panose="02020603050405020304" pitchFamily="18" charset="0"/>
                <a:cs typeface="Times New Roman" panose="02020603050405020304" pitchFamily="18" charset="0"/>
              </a:rPr>
              <a:t>داخل البرج أو المغزل.</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 مقارنة النقطة المرجعية في الماكينة بالنقطة المرجعية في البرنامج:</a:t>
            </a:r>
            <a:r>
              <a:rPr lang="ar" sz="1400" dirty="0">
                <a:latin typeface="Times New Roman" panose="02020603050405020304" pitchFamily="18" charset="0"/>
                <a:cs typeface="Times New Roman" panose="02020603050405020304" pitchFamily="18" charset="0"/>
              </a:rPr>
              <a:t> محاذاة النقطة المرجعية المادية مع </a:t>
            </a:r>
            <a:r>
              <a:rPr lang="ar" sz="1400" b="1" dirty="0">
                <a:latin typeface="Times New Roman" panose="02020603050405020304" pitchFamily="18" charset="0"/>
                <a:cs typeface="Times New Roman" panose="02020603050405020304" pitchFamily="18" charset="0"/>
              </a:rPr>
              <a:t>الإحداثيات المبرمجة. </a:t>
            </a:r>
            <a:br>
              <a:rPr lang="en-US" sz="1400" b="1"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يؤدي إعداد الماكينة بكفاءة إلى</a:t>
            </a:r>
            <a:r>
              <a:rPr lang="ar" sz="1400" b="1" dirty="0">
                <a:latin typeface="Times New Roman" panose="02020603050405020304" pitchFamily="18" charset="0"/>
                <a:cs typeface="Times New Roman" panose="02020603050405020304" pitchFamily="18" charset="0"/>
              </a:rPr>
              <a:t> تعزيز السلامة وتقليل الأخطاء وتسريع وتيرة المعالجة الآلية.</a:t>
            </a:r>
          </a:p>
          <a:p>
            <a:pPr marL="0" indent="0" rtl="1">
              <a:buNone/>
            </a:pPr>
            <a:endParaRPr lang="en-GB" sz="1400" dirty="0">
              <a:latin typeface="Times New Roman" panose="02020603050405020304" pitchFamily="18" charset="0"/>
              <a:cs typeface="Times New Roman" panose="02020603050405020304" pitchFamily="18" charset="0"/>
            </a:endParaRPr>
          </a:p>
          <a:p>
            <a:pPr marL="0" indent="0">
              <a:buNone/>
            </a:pPr>
            <a:r>
              <a:rPr lang="ar" sz="1400" dirty="0">
                <a:latin typeface="Times New Roman" panose="02020603050405020304" pitchFamily="18" charset="0"/>
                <a:cs typeface="Times New Roman" panose="02020603050405020304" pitchFamily="18" charset="0"/>
              </a:rPr>
              <a:t>ينبغي تنظيم وبرمجة برامج أجزاء ماكينة CNC بهيكلية فعّالة لضمان سلاسة المعالجة الآلية. تشمل الجوانب الرئيسة لتطوير البرنامج ما يأتي:</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الوظائف الإضافية: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اختيار الوحدة (مترية أو إمبراطورية)</a:t>
            </a:r>
            <a:r>
              <a:rPr lang="ar" sz="1400" dirty="0">
                <a:latin typeface="Times New Roman" panose="02020603050405020304" pitchFamily="18" charset="0"/>
                <a:cs typeface="Times New Roman" panose="02020603050405020304" pitchFamily="18" charset="0"/>
              </a:rPr>
              <a:t> لتتطابق مع مواصفات الرسم.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اختيار الأداة</a:t>
            </a:r>
            <a:r>
              <a:rPr lang="ar" sz="1400" dirty="0">
                <a:latin typeface="Times New Roman" panose="02020603050405020304" pitchFamily="18" charset="0"/>
                <a:cs typeface="Times New Roman" panose="02020603050405020304" pitchFamily="18" charset="0"/>
              </a:rPr>
              <a:t> المناسبة استنادًا إلى المادة ومتطلبات المعالجة الآلية.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اختيار سائل القطع </a:t>
            </a:r>
            <a:r>
              <a:rPr lang="ar" sz="1400" b="1" dirty="0">
                <a:latin typeface="Times New Roman" panose="02020603050405020304" pitchFamily="18" charset="0"/>
                <a:cs typeface="Times New Roman" panose="02020603050405020304" pitchFamily="18" charset="0"/>
              </a:rPr>
              <a:t>لتقليل</a:t>
            </a:r>
            <a:r>
              <a:rPr lang="ar" sz="1400" dirty="0">
                <a:latin typeface="Times New Roman" panose="02020603050405020304" pitchFamily="18" charset="0"/>
                <a:cs typeface="Times New Roman" panose="02020603050405020304" pitchFamily="18" charset="0"/>
              </a:rPr>
              <a:t> التوليد الحراري وزيادة عمر الأداة.</a:t>
            </a:r>
            <a:r>
              <a:rPr lang="en-US" sz="1400" dirty="0">
                <a:latin typeface="Times New Roman" panose="02020603050405020304" pitchFamily="18" charset="0"/>
                <a:cs typeface="Times New Roman" panose="02020603050405020304" pitchFamily="18" charset="0"/>
              </a:rPr>
              <a:t>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كتل السلامة: تستخدم لإلغاء الأوامر السابقة وتفادي تلف الماكينة.</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أكواد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أكواد G وM:  تُعد تلك الأكواد أوامر أساسية للتحكم في ماكينة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G00</a:t>
            </a:r>
            <a:r>
              <a:rPr lang="ar" sz="1400" dirty="0">
                <a:latin typeface="Times New Roman" panose="02020603050405020304" pitchFamily="18" charset="0"/>
                <a:cs typeface="Times New Roman" panose="02020603050405020304" pitchFamily="18" charset="0"/>
              </a:rPr>
              <a:t>: حركة سريعة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G01</a:t>
            </a:r>
            <a:r>
              <a:rPr lang="ar" sz="1400" dirty="0">
                <a:latin typeface="Times New Roman" panose="02020603050405020304" pitchFamily="18" charset="0"/>
                <a:cs typeface="Times New Roman" panose="02020603050405020304" pitchFamily="18" charset="0"/>
              </a:rPr>
              <a:t>: حركة قطع خطية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GB" sz="1400" dirty="0">
                <a:latin typeface="Times New Roman" panose="02020603050405020304" pitchFamily="18" charset="0"/>
                <a:cs typeface="Times New Roman" panose="02020603050405020304" pitchFamily="18" charset="0"/>
              </a:rPr>
              <a:t>M06</a:t>
            </a:r>
            <a:r>
              <a:rPr lang="ar" sz="1400" dirty="0">
                <a:latin typeface="Times New Roman" panose="02020603050405020304" pitchFamily="18" charset="0"/>
                <a:cs typeface="Times New Roman" panose="02020603050405020304" pitchFamily="18" charset="0"/>
              </a:rPr>
              <a:t>: تغيير الأداة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إحداثيات المحاور: تحدد حركة الأداة في محاور X وY وZ.</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مقارنة البرمجة المطلقة بالبرمجة المتزايدة: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G90</a:t>
            </a:r>
            <a:r>
              <a:rPr lang="ar" sz="1400" dirty="0">
                <a:latin typeface="Times New Roman" panose="02020603050405020304" pitchFamily="18" charset="0"/>
                <a:cs typeface="Times New Roman" panose="02020603050405020304" pitchFamily="18" charset="0"/>
              </a:rPr>
              <a:t> (البرمجة المطلقة):  نقطة مرجعية ثابتة.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G91</a:t>
            </a:r>
            <a:r>
              <a:rPr lang="ar" sz="1400" dirty="0">
                <a:latin typeface="Times New Roman" panose="02020603050405020304" pitchFamily="18" charset="0"/>
                <a:cs typeface="Times New Roman" panose="02020603050405020304" pitchFamily="18" charset="0"/>
              </a:rPr>
              <a:t> (البرمجة المتزايدة): كل حركة تعتمد على الحركة السابقة.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كفاءة البرنامج:</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استخدام </a:t>
            </a:r>
            <a:r>
              <a:rPr lang="ar" sz="1400" b="1" dirty="0">
                <a:latin typeface="Times New Roman" panose="02020603050405020304" pitchFamily="18" charset="0"/>
                <a:cs typeface="Times New Roman" panose="02020603050405020304" pitchFamily="18" charset="0"/>
              </a:rPr>
              <a:t>روتينات فرعية</a:t>
            </a:r>
            <a:r>
              <a:rPr lang="ar" sz="1400" dirty="0">
                <a:latin typeface="Times New Roman" panose="02020603050405020304" pitchFamily="18" charset="0"/>
                <a:cs typeface="Times New Roman" panose="02020603050405020304" pitchFamily="18" charset="0"/>
              </a:rPr>
              <a:t> و</a:t>
            </a:r>
            <a:r>
              <a:rPr lang="ar" sz="1400" b="1" dirty="0">
                <a:latin typeface="Times New Roman" panose="02020603050405020304" pitchFamily="18" charset="0"/>
                <a:cs typeface="Times New Roman" panose="02020603050405020304" pitchFamily="18" charset="0"/>
              </a:rPr>
              <a:t>حلقات</a:t>
            </a:r>
            <a:r>
              <a:rPr lang="ar" sz="1400" dirty="0">
                <a:latin typeface="Times New Roman" panose="02020603050405020304" pitchFamily="18" charset="0"/>
                <a:cs typeface="Times New Roman" panose="02020603050405020304" pitchFamily="18" charset="0"/>
              </a:rPr>
              <a:t> لتقليل التكرار.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08833"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ب4: معلمات ضبط الماكينة</a:t>
            </a:r>
          </a:p>
        </p:txBody>
      </p:sp>
      <p:sp>
        <p:nvSpPr>
          <p:cNvPr id="4" name="Rectangle 1">
            <a:extLst>
              <a:ext uri="{FF2B5EF4-FFF2-40B4-BE49-F238E27FC236}">
                <a16:creationId xmlns:a16="http://schemas.microsoft.com/office/drawing/2014/main" id="{839D0F17-5C60-4CDD-86C8-0FF65281BF0B}"/>
              </a:ext>
            </a:extLst>
          </p:cNvPr>
          <p:cNvSpPr>
            <a:spLocks noChangeArrowheads="1"/>
          </p:cNvSpPr>
          <p:nvPr/>
        </p:nvSpPr>
        <p:spPr bwMode="auto">
          <a:xfrm>
            <a:off x="3521003" y="242126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400" b="1" dirty="0">
                <a:latin typeface="Times New Roman" panose="02020603050405020304" pitchFamily="18" charset="0"/>
                <a:cs typeface="Times New Roman" panose="02020603050405020304" pitchFamily="18" charset="0"/>
              </a:rPr>
              <a:t>نتاج التعلم ب5  تطوير برنامج تشغيل أجزاء ماكينة CNC</a:t>
            </a:r>
          </a:p>
        </p:txBody>
      </p:sp>
      <p:sp>
        <p:nvSpPr>
          <p:cNvPr id="6" name="TextBox 5">
            <a:extLst>
              <a:ext uri="{FF2B5EF4-FFF2-40B4-BE49-F238E27FC236}">
                <a16:creationId xmlns:a16="http://schemas.microsoft.com/office/drawing/2014/main" id="{20BEA4CA-CB9E-438E-B41C-702433CD8FCC}"/>
              </a:ext>
            </a:extLst>
          </p:cNvPr>
          <p:cNvSpPr txBox="1"/>
          <p:nvPr/>
        </p:nvSpPr>
        <p:spPr>
          <a:xfrm>
            <a:off x="1475656" y="4410100"/>
            <a:ext cx="3347863" cy="1169551"/>
          </a:xfrm>
          <a:prstGeom prst="rect">
            <a:avLst/>
          </a:prstGeom>
          <a:noFill/>
        </p:spPr>
        <p:txBody>
          <a:bodyPr wrap="square" rtlCol="1">
            <a:spAutoFit/>
          </a:bodyPr>
          <a:lstStyle/>
          <a:p>
            <a:pPr rtl="1"/>
            <a:r>
              <a:rPr lang="ar" sz="1400" b="1" dirty="0">
                <a:latin typeface="Times New Roman" panose="02020603050405020304" pitchFamily="18" charset="0"/>
                <a:cs typeface="Times New Roman" panose="02020603050405020304" pitchFamily="18" charset="0"/>
              </a:rPr>
              <a:t>3. المحاكاة والتحقق:</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قبل تشغيل أي برنامج على الماكينة، </a:t>
            </a:r>
            <a:r>
              <a:rPr lang="ar" sz="1400" b="1" dirty="0">
                <a:latin typeface="Times New Roman" panose="02020603050405020304" pitchFamily="18" charset="0"/>
                <a:cs typeface="Times New Roman" panose="02020603050405020304" pitchFamily="18" charset="0"/>
              </a:rPr>
              <a:t>تُجرى محاكاة للبرامج باستخدام برمجيات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يُجرى </a:t>
            </a:r>
            <a:r>
              <a:rPr lang="ar" sz="1400" b="1" dirty="0">
                <a:latin typeface="Times New Roman" panose="02020603050405020304" pitchFamily="18" charset="0"/>
                <a:cs typeface="Times New Roman" panose="02020603050405020304" pitchFamily="18" charset="0"/>
              </a:rPr>
              <a:t>التشغيل التجريبي</a:t>
            </a:r>
            <a:r>
              <a:rPr lang="ar" sz="1400" dirty="0">
                <a:latin typeface="Times New Roman" panose="02020603050405020304" pitchFamily="18" charset="0"/>
                <a:cs typeface="Times New Roman" panose="02020603050405020304" pitchFamily="18" charset="0"/>
              </a:rPr>
              <a:t> (تشغيل البرنامج بدون قطعة) بهدف </a:t>
            </a:r>
            <a:r>
              <a:rPr lang="ar" sz="1400" b="1" dirty="0">
                <a:latin typeface="Times New Roman" panose="02020603050405020304" pitchFamily="18" charset="0"/>
                <a:cs typeface="Times New Roman" panose="02020603050405020304" pitchFamily="18" charset="0"/>
              </a:rPr>
              <a:t>منع الأخطاء المكلفة</a:t>
            </a:r>
            <a:r>
              <a:rPr lang="ar" sz="1400" dirty="0">
                <a:latin typeface="Times New Roman" panose="02020603050405020304" pitchFamily="18" charset="0"/>
                <a:cs typeface="Times New Roman" panose="02020603050405020304" pitchFamily="18" charset="0"/>
              </a:rPr>
              <a:t>.</a:t>
            </a:r>
          </a:p>
        </p:txBody>
      </p:sp>
      <p:sp>
        <p:nvSpPr>
          <p:cNvPr id="2" name="Footer Placeholder 2">
            <a:extLst>
              <a:ext uri="{FF2B5EF4-FFF2-40B4-BE49-F238E27FC236}">
                <a16:creationId xmlns:a16="http://schemas.microsoft.com/office/drawing/2014/main" id="{5F1A4073-9937-BC32-9F85-E7715B49EC9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3523347026"/>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39952" y="1052736"/>
            <a:ext cx="5004047"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dirty="0">
                <a:latin typeface="Times New Roman" panose="02020603050405020304" pitchFamily="18" charset="0"/>
                <a:cs typeface="Times New Roman" panose="02020603050405020304" pitchFamily="18" charset="0"/>
              </a:rPr>
              <a:t>ينبغي أن تركز عمليات المعالجة الآلية باستخدام ماكينات CNC الحديثة على</a:t>
            </a:r>
            <a:r>
              <a:rPr lang="ar" sz="1400" b="1" dirty="0">
                <a:latin typeface="Times New Roman" panose="02020603050405020304" pitchFamily="18" charset="0"/>
                <a:cs typeface="Times New Roman" panose="02020603050405020304" pitchFamily="18" charset="0"/>
              </a:rPr>
              <a:t> الاستدامة</a:t>
            </a:r>
            <a:r>
              <a:rPr lang="ar" sz="1400" dirty="0">
                <a:latin typeface="Times New Roman" panose="02020603050405020304" pitchFamily="18" charset="0"/>
                <a:cs typeface="Times New Roman" panose="02020603050405020304" pitchFamily="18" charset="0"/>
              </a:rPr>
              <a:t> وذلك لتقليل الأثر البيئي. وتشمل الاعتبارات الرئيسة ما يأتي:</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التخلص من المواد:</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التخلص السليم من</a:t>
            </a:r>
            <a:r>
              <a:rPr lang="ar" sz="1400" b="1" dirty="0">
                <a:latin typeface="Times New Roman" panose="02020603050405020304" pitchFamily="18" charset="0"/>
                <a:cs typeface="Times New Roman" panose="02020603050405020304" pitchFamily="18" charset="0"/>
              </a:rPr>
              <a:t> سوائل القطع والنفايات المعدنية</a:t>
            </a:r>
            <a:r>
              <a:rPr lang="ar" sz="1400" dirty="0">
                <a:latin typeface="Times New Roman" panose="02020603050405020304" pitchFamily="18" charset="0"/>
                <a:cs typeface="Times New Roman" panose="02020603050405020304" pitchFamily="18" charset="0"/>
              </a:rPr>
              <a:t> للامتثال للتشريعات.</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الاستخدام الأمثل للموارد:</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البرمجة الرقمية لماكينات CNC</a:t>
            </a:r>
            <a:r>
              <a:rPr lang="ar" sz="1400" dirty="0">
                <a:latin typeface="Times New Roman" panose="02020603050405020304" pitchFamily="18" charset="0"/>
                <a:cs typeface="Times New Roman" panose="02020603050405020304" pitchFamily="18" charset="0"/>
              </a:rPr>
              <a:t> تُجنب استخدام الورق، ما يقلل النفايات.</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الترميز والتحرير عبر الشاشة</a:t>
            </a:r>
            <a:r>
              <a:rPr lang="ar" sz="1400" dirty="0">
                <a:latin typeface="Times New Roman" panose="02020603050405020304" pitchFamily="18" charset="0"/>
                <a:cs typeface="Times New Roman" panose="02020603050405020304" pitchFamily="18" charset="0"/>
              </a:rPr>
              <a:t> يغني عن الطباعة المتكررة، ما يخفف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من استخدام الموارد.</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المحاكاة الرسومية ثلاثية الأبعاد</a:t>
            </a:r>
            <a:r>
              <a:rPr lang="ar" sz="1400" dirty="0">
                <a:latin typeface="Times New Roman" panose="02020603050405020304" pitchFamily="18" charset="0"/>
                <a:cs typeface="Times New Roman" panose="02020603050405020304" pitchFamily="18" charset="0"/>
              </a:rPr>
              <a:t> تقلل استهلاك المواد خلال التجريب التشغيلي.</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3. إدارة عمر الأداة: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استخدام </a:t>
            </a:r>
            <a:r>
              <a:rPr lang="ar" sz="1400" b="1" dirty="0">
                <a:latin typeface="Times New Roman" panose="02020603050405020304" pitchFamily="18" charset="0"/>
                <a:cs typeface="Times New Roman" panose="02020603050405020304" pitchFamily="18" charset="0"/>
              </a:rPr>
              <a:t>السرعات وسرعات التلقيم الصحيحة مع مراقبة تآكل الأداة</a:t>
            </a:r>
            <a:r>
              <a:rPr lang="ar" sz="1400" dirty="0">
                <a:latin typeface="Times New Roman" panose="02020603050405020304" pitchFamily="18" charset="0"/>
                <a:cs typeface="Times New Roman" panose="02020603050405020304" pitchFamily="18" charset="0"/>
              </a:rPr>
              <a:t>، يطيل عمرها </a:t>
            </a:r>
            <a:r>
              <a:rPr lang="ar" sz="1400" b="1" dirty="0">
                <a:latin typeface="Times New Roman" panose="02020603050405020304" pitchFamily="18" charset="0"/>
                <a:cs typeface="Times New Roman" panose="02020603050405020304" pitchFamily="18" charset="0"/>
              </a:rPr>
              <a:t>ويقلل التبديلات غير الضرورية.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4. إعادة استخدام المواد في التجريب التشغيلي: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استخدام</a:t>
            </a:r>
            <a:r>
              <a:rPr lang="ar" sz="1400" b="1" dirty="0">
                <a:latin typeface="Times New Roman" panose="02020603050405020304" pitchFamily="18" charset="0"/>
                <a:cs typeface="Times New Roman" panose="02020603050405020304" pitchFamily="18" charset="0"/>
              </a:rPr>
              <a:t> الشمع أو المعادن اللينة</a:t>
            </a:r>
            <a:r>
              <a:rPr lang="ar" sz="1400" dirty="0">
                <a:latin typeface="Times New Roman" panose="02020603050405020304" pitchFamily="18" charset="0"/>
                <a:cs typeface="Times New Roman" panose="02020603050405020304" pitchFamily="18" charset="0"/>
              </a:rPr>
              <a:t> لاختبار البرامج قبل التشغيل على مواد مكلفة.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تُعد الاستدامة في عمليات المعالجة الآلية بماكينات CNC استراتيجية فعّالة لتحقيق</a:t>
            </a:r>
            <a:r>
              <a:rPr lang="ar" sz="1400" b="1" dirty="0">
                <a:latin typeface="Times New Roman" panose="02020603050405020304" pitchFamily="18" charset="0"/>
                <a:cs typeface="Times New Roman" panose="02020603050405020304" pitchFamily="18" charset="0"/>
              </a:rPr>
              <a:t> خفض التكاليف</a:t>
            </a:r>
            <a:r>
              <a:rPr lang="ar" sz="1400" dirty="0">
                <a:latin typeface="Times New Roman" panose="02020603050405020304" pitchFamily="18" charset="0"/>
                <a:cs typeface="Times New Roman" panose="02020603050405020304" pitchFamily="18" charset="0"/>
              </a:rPr>
              <a:t> وتعزيز </a:t>
            </a:r>
            <a:r>
              <a:rPr lang="ar" sz="1400" b="1" dirty="0">
                <a:latin typeface="Times New Roman" panose="02020603050405020304" pitchFamily="18" charset="0"/>
                <a:cs typeface="Times New Roman" panose="02020603050405020304" pitchFamily="18" charset="0"/>
              </a:rPr>
              <a:t>الالتزام البيئي.</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ب6:  اعتبارات الاستدامة</a:t>
            </a:r>
          </a:p>
        </p:txBody>
      </p:sp>
      <p:grpSp>
        <p:nvGrpSpPr>
          <p:cNvPr id="3" name="Group 2">
            <a:extLst>
              <a:ext uri="{FF2B5EF4-FFF2-40B4-BE49-F238E27FC236}">
                <a16:creationId xmlns:a16="http://schemas.microsoft.com/office/drawing/2014/main" id="{D9DA1AA8-ABA0-8855-9CBE-D4F24CCDEBC5}"/>
              </a:ext>
            </a:extLst>
          </p:cNvPr>
          <p:cNvGrpSpPr/>
          <p:nvPr/>
        </p:nvGrpSpPr>
        <p:grpSpPr>
          <a:xfrm>
            <a:off x="297686" y="2776447"/>
            <a:ext cx="3698250" cy="2762660"/>
            <a:chOff x="5181054" y="2776447"/>
            <a:chExt cx="3698250" cy="2762660"/>
          </a:xfrm>
        </p:grpSpPr>
        <p:sp>
          <p:nvSpPr>
            <p:cNvPr id="6" name="TextBox 5">
              <a:extLst>
                <a:ext uri="{FF2B5EF4-FFF2-40B4-BE49-F238E27FC236}">
                  <a16:creationId xmlns:a16="http://schemas.microsoft.com/office/drawing/2014/main" id="{E347743C-909E-48B5-AA7C-02EE276FE850}"/>
                </a:ext>
              </a:extLst>
            </p:cNvPr>
            <p:cNvSpPr txBox="1"/>
            <p:nvPr/>
          </p:nvSpPr>
          <p:spPr>
            <a:xfrm>
              <a:off x="5181054" y="5262108"/>
              <a:ext cx="3698250" cy="276999"/>
            </a:xfrm>
            <a:prstGeom prst="rect">
              <a:avLst/>
            </a:prstGeom>
            <a:noFill/>
          </p:spPr>
          <p:txBody>
            <a:bodyPr wrap="square" rtlCol="1">
              <a:spAutoFit/>
            </a:bodyPr>
            <a:lstStyle/>
            <a:p>
              <a:pPr algn="ctr" rtl="1"/>
              <a:r>
                <a:rPr lang="ar" sz="1200" dirty="0">
                  <a:latin typeface="Times New Roman" panose="02020603050405020304" pitchFamily="18" charset="0"/>
                  <a:cs typeface="Times New Roman" panose="02020603050405020304" pitchFamily="18" charset="0"/>
                </a:rPr>
                <a:t>سوائل القطع:</a:t>
              </a:r>
            </a:p>
          </p:txBody>
        </p:sp>
        <p:pic>
          <p:nvPicPr>
            <p:cNvPr id="2" name="Picture 1">
              <a:extLst>
                <a:ext uri="{FF2B5EF4-FFF2-40B4-BE49-F238E27FC236}">
                  <a16:creationId xmlns:a16="http://schemas.microsoft.com/office/drawing/2014/main" id="{C774F7BB-32AF-9BB6-3EAC-2588697CD7B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81054" y="2776447"/>
              <a:ext cx="3698250" cy="2466060"/>
            </a:xfrm>
            <a:prstGeom prst="rect">
              <a:avLst/>
            </a:prstGeom>
          </p:spPr>
        </p:pic>
      </p:grpSp>
      <p:sp>
        <p:nvSpPr>
          <p:cNvPr id="4" name="Footer Placeholder 2">
            <a:extLst>
              <a:ext uri="{FF2B5EF4-FFF2-40B4-BE49-F238E27FC236}">
                <a16:creationId xmlns:a16="http://schemas.microsoft.com/office/drawing/2014/main" id="{5DAF140E-9C30-9989-1121-0CA6A4BEAFB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980976776"/>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52736"/>
            <a:ext cx="9143999"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10000"/>
              </a:lnSpc>
              <a:buNone/>
            </a:pPr>
            <a:r>
              <a:rPr lang="ar" sz="1400" b="1" dirty="0">
                <a:latin typeface="Times New Roman" panose="02020603050405020304" pitchFamily="18" charset="0"/>
                <a:cs typeface="Times New Roman" panose="02020603050405020304" pitchFamily="18" charset="0"/>
              </a:rPr>
              <a:t>ملخص نتاج التعلم ب</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ب1: عمليات التفريز والخراطة باستخدام ماكينات التحكم العددي الحاسوبي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تشمل عمليات متقدمة، مثل برمجة الخيوط، والتخويش، ودورات الجيوب، وتعويض الأداة.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ب2: معلمات الأدوات</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تتضمن معدلات التلقيم، وسرعات القطع، وإعدادات التعويض</a:t>
            </a:r>
            <a:r>
              <a:rPr lang="ar" sz="1400" dirty="0">
                <a:latin typeface="Times New Roman" panose="02020603050405020304" pitchFamily="18" charset="0"/>
                <a:cs typeface="Times New Roman" panose="02020603050405020304" pitchFamily="18" charset="0"/>
              </a:rPr>
              <a:t> لضمان دقة المعالجة.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ب3: معلمات المكون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تركّز على </a:t>
            </a:r>
            <a:r>
              <a:rPr lang="ar" sz="1400" b="1" dirty="0">
                <a:latin typeface="Times New Roman" panose="02020603050405020304" pitchFamily="18" charset="0"/>
                <a:cs typeface="Times New Roman" panose="02020603050405020304" pitchFamily="18" charset="0"/>
              </a:rPr>
              <a:t>حساب مسار القاطع، وتثبيت قطع العمل، والدورات المبرمجة مسبقًا، ومراعاة خصائص المواد.</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ب4: معلمات ضبط الماكينة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تضمن </a:t>
            </a:r>
            <a:r>
              <a:rPr lang="ar" sz="1400" b="1" dirty="0">
                <a:latin typeface="Times New Roman" panose="02020603050405020304" pitchFamily="18" charset="0"/>
                <a:cs typeface="Times New Roman" panose="02020603050405020304" pitchFamily="18" charset="0"/>
              </a:rPr>
              <a:t>تشغيل آمن وفعال لماكينات CNC</a:t>
            </a:r>
            <a:r>
              <a:rPr lang="ar" sz="1400" dirty="0">
                <a:latin typeface="Times New Roman" panose="02020603050405020304" pitchFamily="18" charset="0"/>
                <a:cs typeface="Times New Roman" panose="02020603050405020304" pitchFamily="18" charset="0"/>
              </a:rPr>
              <a:t> من خلال </a:t>
            </a:r>
            <a:r>
              <a:rPr lang="ar" sz="1400" b="1" dirty="0">
                <a:latin typeface="Times New Roman" panose="02020603050405020304" pitchFamily="18" charset="0"/>
                <a:cs typeface="Times New Roman" panose="02020603050405020304" pitchFamily="18" charset="0"/>
              </a:rPr>
              <a:t>تثبيت قطع العمل واختيار الأدوات المناسبة.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ب5: تطوير برنامج تشغيل أجزاء ماكينة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تشمل </a:t>
            </a:r>
            <a:r>
              <a:rPr lang="ar" sz="1400" b="1" dirty="0">
                <a:latin typeface="Times New Roman" panose="02020603050405020304" pitchFamily="18" charset="0"/>
                <a:cs typeface="Times New Roman" panose="02020603050405020304" pitchFamily="18" charset="0"/>
              </a:rPr>
              <a:t>برمجة G-code، والوظائف المساندة، وتقنيات المحاكاة.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ب6: استدامة المعالجة الآلية باستخدام ماكينات CNC</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 تركز على تعزيز الكفاءة في استهلاك الموارد، وتقليل النفايات، وتحمل المسؤولية البيئية.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يزوّد هذا المنهج المتعلمين بمهارات متقدمة مرتبطة بالصناعة، ما يمكّنهم من الالتحاق بوظائف في الهندسة الدقيقة والتصنيع وبرمجة ماكينات CNC.</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ملخص نتاج التعلم ب</a:t>
            </a:r>
          </a:p>
        </p:txBody>
      </p:sp>
      <p:sp>
        <p:nvSpPr>
          <p:cNvPr id="2" name="Footer Placeholder 2">
            <a:extLst>
              <a:ext uri="{FF2B5EF4-FFF2-40B4-BE49-F238E27FC236}">
                <a16:creationId xmlns:a16="http://schemas.microsoft.com/office/drawing/2014/main" id="{EA087860-C50C-3A23-ADAF-3F2136042F7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776992598"/>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Times New Roman" panose="02020603050405020304" pitchFamily="18" charset="0"/>
                <a:cs typeface="Times New Roman" panose="02020603050405020304" pitchFamily="18" charset="0"/>
              </a:rPr>
              <a:t>نتاج التعلم ج</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130000"/>
              </a:lnSpc>
            </a:pPr>
            <a:r>
              <a:rPr lang="ar" sz="3600" b="1" dirty="0">
                <a:latin typeface="Times New Roman" panose="02020603050405020304" pitchFamily="18" charset="0"/>
                <a:cs typeface="Times New Roman" panose="02020603050405020304" pitchFamily="18" charset="0"/>
              </a:rPr>
              <a:t>تنفيذ عمليات المعالجة الآلية باستخدام التحكم العددي الحاسوبي لتصنيع مكون بأمان</a:t>
            </a:r>
          </a:p>
        </p:txBody>
      </p:sp>
      <p:sp>
        <p:nvSpPr>
          <p:cNvPr id="2" name="Footer Placeholder 2">
            <a:extLst>
              <a:ext uri="{FF2B5EF4-FFF2-40B4-BE49-F238E27FC236}">
                <a16:creationId xmlns:a16="http://schemas.microsoft.com/office/drawing/2014/main" id="{F05CB4D8-661E-96C6-5499-AE097307F29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136879735"/>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052736"/>
            <a:ext cx="9108503"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dirty="0">
                <a:latin typeface="Times New Roman" panose="02020603050405020304" pitchFamily="18" charset="0"/>
                <a:cs typeface="Times New Roman" panose="02020603050405020304" pitchFamily="18" charset="0"/>
              </a:rPr>
              <a:t>يتطلب </a:t>
            </a:r>
            <a:r>
              <a:rPr lang="ar" sz="1400" b="1" dirty="0">
                <a:latin typeface="Times New Roman" panose="02020603050405020304" pitchFamily="18" charset="0"/>
                <a:cs typeface="Times New Roman" panose="02020603050405020304" pitchFamily="18" charset="0"/>
              </a:rPr>
              <a:t>تصنيع المكوّن</a:t>
            </a:r>
            <a:r>
              <a:rPr lang="ar" sz="1400" dirty="0">
                <a:latin typeface="Times New Roman" panose="02020603050405020304" pitchFamily="18" charset="0"/>
                <a:cs typeface="Times New Roman" panose="02020603050405020304" pitchFamily="18" charset="0"/>
              </a:rPr>
              <a:t> باستخدام ماكينة CNC </a:t>
            </a:r>
            <a:r>
              <a:rPr lang="ar" sz="1400" b="1" dirty="0">
                <a:latin typeface="Times New Roman" panose="02020603050405020304" pitchFamily="18" charset="0"/>
                <a:cs typeface="Times New Roman" panose="02020603050405020304" pitchFamily="18" charset="0"/>
              </a:rPr>
              <a:t>دقة عالية، وتخطيطًا محكمًا، والالتزام بالإجراءات الصحيحة</a:t>
            </a:r>
            <a:r>
              <a:rPr lang="ar" sz="1400" dirty="0">
                <a:latin typeface="Times New Roman" panose="02020603050405020304" pitchFamily="18" charset="0"/>
                <a:cs typeface="Times New Roman" panose="02020603050405020304" pitchFamily="18" charset="0"/>
              </a:rPr>
              <a:t>، لضمان إنتاج ذلك المكون </a:t>
            </a:r>
            <a:r>
              <a:rPr lang="ar" sz="1400" b="1" dirty="0">
                <a:latin typeface="Times New Roman" panose="02020603050405020304" pitchFamily="18" charset="0"/>
                <a:cs typeface="Times New Roman" panose="02020603050405020304" pitchFamily="18" charset="0"/>
              </a:rPr>
              <a:t>بدقة وسلامة.</a:t>
            </a:r>
            <a:r>
              <a:rPr lang="ar" sz="1400" dirty="0">
                <a:latin typeface="Times New Roman" panose="02020603050405020304" pitchFamily="18" charset="0"/>
                <a:cs typeface="Times New Roman" panose="02020603050405020304" pitchFamily="18" charset="0"/>
              </a:rPr>
              <a:t>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تشمل الخطوات الرئيسة ما يأتي:</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إدخال النقاط المرجعية في برنامج CNC وضبطها على أداة الماكينة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ينبغي إدخال النقاط المرجعية في برنامج CNC وضبطها على </a:t>
            </a:r>
            <a:r>
              <a:rPr lang="ar" sz="1400" b="1" dirty="0">
                <a:latin typeface="Times New Roman" panose="02020603050405020304" pitchFamily="18" charset="0"/>
                <a:cs typeface="Times New Roman" panose="02020603050405020304" pitchFamily="18" charset="0"/>
              </a:rPr>
              <a:t>أداة الماكينة </a:t>
            </a:r>
            <a:r>
              <a:rPr lang="ar" sz="1400" dirty="0">
                <a:latin typeface="Times New Roman" panose="02020603050405020304" pitchFamily="18" charset="0"/>
                <a:cs typeface="Times New Roman" panose="02020603050405020304" pitchFamily="18" charset="0"/>
              </a:rPr>
              <a:t>بشكل دقيق.</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يضمن ذلك </a:t>
            </a:r>
            <a:r>
              <a:rPr lang="ar" sz="1400" b="1" dirty="0">
                <a:latin typeface="Times New Roman" panose="02020603050405020304" pitchFamily="18" charset="0"/>
                <a:cs typeface="Times New Roman" panose="02020603050405020304" pitchFamily="18" charset="0"/>
              </a:rPr>
              <a:t>المحاذاة الدقيقة</a:t>
            </a:r>
            <a:r>
              <a:rPr lang="ar" sz="1400" dirty="0">
                <a:latin typeface="Times New Roman" panose="02020603050405020304" pitchFamily="18" charset="0"/>
                <a:cs typeface="Times New Roman" panose="02020603050405020304" pitchFamily="18" charset="0"/>
              </a:rPr>
              <a:t> لقطعة العمل مع مسارات الأداة المبرمجة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تأمين أدوات تثبيت العمل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يجب تثبيت المكون بأمان باستخدام</a:t>
            </a:r>
            <a:r>
              <a:rPr lang="ar" sz="1400" b="1" dirty="0">
                <a:latin typeface="Times New Roman" panose="02020603050405020304" pitchFamily="18" charset="0"/>
                <a:cs typeface="Times New Roman" panose="02020603050405020304" pitchFamily="18" charset="0"/>
              </a:rPr>
              <a:t> أجهزة تثبيت مناسبة</a:t>
            </a:r>
            <a:r>
              <a:rPr lang="ar" sz="1400" dirty="0">
                <a:latin typeface="Times New Roman" panose="02020603050405020304" pitchFamily="18" charset="0"/>
                <a:cs typeface="Times New Roman" panose="02020603050405020304" pitchFamily="18" charset="0"/>
              </a:rPr>
              <a:t>، مثل: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ملزمة الماكينة</a:t>
            </a:r>
            <a:r>
              <a:rPr lang="ar" sz="1400" dirty="0">
                <a:latin typeface="Times New Roman" panose="02020603050405020304" pitchFamily="18" charset="0"/>
                <a:cs typeface="Times New Roman" panose="02020603050405020304" pitchFamily="18" charset="0"/>
              </a:rPr>
              <a:t> - للقطع الصغيرة إلى المتوسطة.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التركيبات والقوالب</a:t>
            </a:r>
            <a:r>
              <a:rPr lang="ar" sz="1400" dirty="0">
                <a:latin typeface="Times New Roman" panose="02020603050405020304" pitchFamily="18" charset="0"/>
                <a:cs typeface="Times New Roman" panose="02020603050405020304" pitchFamily="18" charset="0"/>
              </a:rPr>
              <a:t> - حل تقليدي للمكونات غير المنتظمة.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الأظرف</a:t>
            </a:r>
            <a:r>
              <a:rPr lang="ar" sz="1400" dirty="0">
                <a:latin typeface="Times New Roman" panose="02020603050405020304" pitchFamily="18" charset="0"/>
                <a:cs typeface="Times New Roman" panose="02020603050405020304" pitchFamily="18" charset="0"/>
              </a:rPr>
              <a:t> - لتثبيت قطع العمل الأسطوانية في أثناء عمليات الخراطة.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الطاولات المغناطيسية أو الهوائية </a:t>
            </a:r>
            <a:r>
              <a:rPr lang="ar" sz="1400" b="1" dirty="0">
                <a:latin typeface="Times New Roman" panose="02020603050405020304" pitchFamily="18" charset="0"/>
                <a:cs typeface="Times New Roman" panose="02020603050405020304" pitchFamily="18" charset="0"/>
              </a:rPr>
              <a:t>- للمواد الرقيقة أو الحساسة.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3. برمجة إزاحات الأداة في وحدة التحكم بالماكينة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تُستخدم </a:t>
            </a:r>
            <a:r>
              <a:rPr lang="ar" sz="1400" b="1" dirty="0">
                <a:latin typeface="Times New Roman" panose="02020603050405020304" pitchFamily="18" charset="0"/>
                <a:cs typeface="Times New Roman" panose="02020603050405020304" pitchFamily="18" charset="0"/>
              </a:rPr>
              <a:t>إزاحات الأداة</a:t>
            </a:r>
            <a:r>
              <a:rPr lang="ar" sz="1400" dirty="0">
                <a:latin typeface="Times New Roman" panose="02020603050405020304" pitchFamily="18" charset="0"/>
                <a:cs typeface="Times New Roman" panose="02020603050405020304" pitchFamily="18" charset="0"/>
              </a:rPr>
              <a:t> لضبط موقع أداة القطع بالماكينة بدقة بالنسبة لقطعة العمل.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تضمن هذه التعويضات </a:t>
            </a:r>
            <a:r>
              <a:rPr lang="ar" sz="1400" b="1" dirty="0">
                <a:latin typeface="Times New Roman" panose="02020603050405020304" pitchFamily="18" charset="0"/>
                <a:cs typeface="Times New Roman" panose="02020603050405020304" pitchFamily="18" charset="0"/>
              </a:rPr>
              <a:t>إبقاء أبعاد القطع</a:t>
            </a:r>
            <a:r>
              <a:rPr lang="ar" sz="1400" dirty="0">
                <a:latin typeface="Times New Roman" panose="02020603050405020304" pitchFamily="18" charset="0"/>
                <a:cs typeface="Times New Roman" panose="02020603050405020304" pitchFamily="18" charset="0"/>
              </a:rPr>
              <a:t> ضمن حدود التفاوت المسموح بها، ما يعزّز التكرارية والدقة.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تعد الإزاحات ضرورية لتعزيز التكرارية والدقة. </a:t>
            </a:r>
          </a:p>
          <a:p>
            <a:pPr marL="0" indent="0" rtl="1">
              <a:buNone/>
            </a:pPr>
            <a:endParaRPr lang="en-GB" sz="1400" b="1" dirty="0">
              <a:latin typeface="Times New Roman" panose="02020603050405020304" pitchFamily="18" charset="0"/>
              <a:cs typeface="Times New Roman" panose="02020603050405020304" pitchFamily="18" charset="0"/>
            </a:endParaRPr>
          </a:p>
          <a:p>
            <a:pPr marL="0" indent="0" rtl="1">
              <a:buNone/>
            </a:pPr>
            <a:r>
              <a:rPr lang="ar" sz="1400" b="1" dirty="0">
                <a:latin typeface="Times New Roman" panose="02020603050405020304" pitchFamily="18" charset="0"/>
                <a:cs typeface="Times New Roman" panose="02020603050405020304" pitchFamily="18" charset="0"/>
              </a:rPr>
              <a:t>4. إعداد الأداة وفحصها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ينبغي تثبيت الأدوات بشكل صحيح</a:t>
            </a:r>
            <a:r>
              <a:rPr lang="ar" sz="1400" dirty="0">
                <a:latin typeface="Times New Roman" panose="02020603050405020304" pitchFamily="18" charset="0"/>
                <a:cs typeface="Times New Roman" panose="02020603050405020304" pitchFamily="18" charset="0"/>
              </a:rPr>
              <a:t> في البرج أو المغزل.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تشمل الفحوص الرئيسة ما يأتي: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التأكد من أن الأداة </a:t>
            </a:r>
            <a:r>
              <a:rPr lang="ar" sz="1400" b="1" dirty="0">
                <a:latin typeface="Times New Roman" panose="02020603050405020304" pitchFamily="18" charset="0"/>
                <a:cs typeface="Times New Roman" panose="02020603050405020304" pitchFamily="18" charset="0"/>
              </a:rPr>
              <a:t>غير تالفة وشديدة الحدة</a:t>
            </a:r>
            <a:r>
              <a:rPr lang="ar" sz="1400" dirty="0">
                <a:latin typeface="Times New Roman" panose="02020603050405020304" pitchFamily="18" charset="0"/>
                <a:cs typeface="Times New Roman" panose="02020603050405020304" pitchFamily="18" charset="0"/>
              </a:rPr>
              <a:t>.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التحقق من اختيار </a:t>
            </a:r>
            <a:r>
              <a:rPr lang="ar" sz="1400" b="1" dirty="0">
                <a:latin typeface="Times New Roman" panose="02020603050405020304" pitchFamily="18" charset="0"/>
                <a:cs typeface="Times New Roman" panose="02020603050405020304" pitchFamily="18" charset="0"/>
              </a:rPr>
              <a:t>الأداة المناسبة.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في حال عدم توافر الأداة المطلوبة،</a:t>
            </a:r>
            <a:r>
              <a:rPr lang="ar" sz="1400" dirty="0">
                <a:latin typeface="Times New Roman" panose="02020603050405020304" pitchFamily="18" charset="0"/>
                <a:cs typeface="Times New Roman" panose="02020603050405020304" pitchFamily="18" charset="0"/>
              </a:rPr>
              <a:t> تطبيق تعويض مناسب.</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ج1: تصنيع مكوّن باستخدام ماكينة CNC</a:t>
            </a:r>
          </a:p>
        </p:txBody>
      </p:sp>
      <p:sp>
        <p:nvSpPr>
          <p:cNvPr id="2" name="Footer Placeholder 2">
            <a:extLst>
              <a:ext uri="{FF2B5EF4-FFF2-40B4-BE49-F238E27FC236}">
                <a16:creationId xmlns:a16="http://schemas.microsoft.com/office/drawing/2014/main" id="{BECED25F-A547-C309-739C-AB808482771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906493022"/>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19872" y="1080120"/>
            <a:ext cx="5724127"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latin typeface="Times New Roman" panose="02020603050405020304" pitchFamily="18" charset="0"/>
                <a:cs typeface="Times New Roman" panose="02020603050405020304" pitchFamily="18" charset="0"/>
              </a:rPr>
              <a:t>5. • المواضع الآمنة لتغيير الأداة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يُحدد </a:t>
            </a:r>
            <a:r>
              <a:rPr lang="ar" sz="1400" b="1" dirty="0">
                <a:latin typeface="Times New Roman" panose="02020603050405020304" pitchFamily="18" charset="0"/>
                <a:cs typeface="Times New Roman" panose="02020603050405020304" pitchFamily="18" charset="0"/>
              </a:rPr>
              <a:t>موضع تغيير الأداة</a:t>
            </a:r>
            <a:r>
              <a:rPr lang="ar" sz="1400" dirty="0">
                <a:latin typeface="Times New Roman" panose="02020603050405020304" pitchFamily="18" charset="0"/>
                <a:cs typeface="Times New Roman" panose="02020603050405020304" pitchFamily="18" charset="0"/>
              </a:rPr>
              <a:t> في </a:t>
            </a:r>
            <a:r>
              <a:rPr lang="ar" sz="1400" b="1" dirty="0">
                <a:latin typeface="Times New Roman" panose="02020603050405020304" pitchFamily="18" charset="0"/>
                <a:cs typeface="Times New Roman" panose="02020603050405020304" pitchFamily="18" charset="0"/>
              </a:rPr>
              <a:t>مكان آمن</a:t>
            </a:r>
            <a:r>
              <a:rPr lang="ar" sz="1400" dirty="0">
                <a:latin typeface="Times New Roman" panose="02020603050405020304" pitchFamily="18" charset="0"/>
                <a:cs typeface="Times New Roman" panose="02020603050405020304" pitchFamily="18" charset="0"/>
              </a:rPr>
              <a:t> لتفادي: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التصادم مع قطعة العمل أو هيكل الماكينة.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تلف الأداة أو تنفيذ عمليات تغيير أداة خاطئة.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6. تنفيذ محاكاة لعملية المعالجة الآلية باستخدام ماكينات CNC</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قبل بدء المعالجة الآلية، ينبغي </a:t>
            </a:r>
            <a:r>
              <a:rPr lang="ar" sz="1400" b="1" dirty="0">
                <a:latin typeface="Times New Roman" panose="02020603050405020304" pitchFamily="18" charset="0"/>
                <a:cs typeface="Times New Roman" panose="02020603050405020304" pitchFamily="18" charset="0"/>
              </a:rPr>
              <a:t>التحقق من البرنامج</a:t>
            </a:r>
            <a:r>
              <a:rPr lang="ar" sz="1400" dirty="0">
                <a:latin typeface="Times New Roman" panose="02020603050405020304" pitchFamily="18" charset="0"/>
                <a:cs typeface="Times New Roman" panose="02020603050405020304" pitchFamily="18" charset="0"/>
              </a:rPr>
              <a:t> لضمان توافق مسارات الأداة وحركاتها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مع التصميم المطلوب. </a:t>
            </a:r>
            <a:r>
              <a:rPr lang="ar" sz="1400" b="1" dirty="0">
                <a:latin typeface="Times New Roman" panose="02020603050405020304" pitchFamily="18" charset="0"/>
                <a:cs typeface="Times New Roman" panose="02020603050405020304" pitchFamily="18" charset="0"/>
              </a:rPr>
              <a:t>وتشمل طرق المحاكاة ما يأتي: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المحاكاة البرمجية الرسومية: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تعرض حركة الأداة على الشاشة قبل التشغيل الفعلي.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تحدد أي تصادمات أو أخطاء محتملة.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تنفيذ البرنامج خطوة بخطوة (وضع الكتلة الواحدة):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يتم تشغيل البرنامج </a:t>
            </a:r>
            <a:r>
              <a:rPr lang="ar" sz="1400" b="1" dirty="0">
                <a:latin typeface="Times New Roman" panose="02020603050405020304" pitchFamily="18" charset="0"/>
                <a:cs typeface="Times New Roman" panose="02020603050405020304" pitchFamily="18" charset="0"/>
              </a:rPr>
              <a:t>أمرًا تلو الآخر.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مكِّن إجراء ذلك سواء</a:t>
            </a:r>
            <a:r>
              <a:rPr lang="ar" sz="1400" b="1" dirty="0">
                <a:latin typeface="Times New Roman" panose="02020603050405020304" pitchFamily="18" charset="0"/>
                <a:cs typeface="Times New Roman" panose="02020603050405020304" pitchFamily="18" charset="0"/>
              </a:rPr>
              <a:t> بوجود قطعة العمل أو بدونها.</a:t>
            </a:r>
            <a:r>
              <a:rPr lang="ar" sz="1400" dirty="0">
                <a:latin typeface="Times New Roman" panose="02020603050405020304" pitchFamily="18" charset="0"/>
                <a:cs typeface="Times New Roman" panose="02020603050405020304" pitchFamily="18" charset="0"/>
              </a:rPr>
              <a:t>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التشغيل بمعدلات تلقيم منخفضة: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يُختبر البرنامج </a:t>
            </a:r>
            <a:r>
              <a:rPr lang="ar" sz="1400" b="1" dirty="0">
                <a:latin typeface="Times New Roman" panose="02020603050405020304" pitchFamily="18" charset="0"/>
                <a:cs typeface="Times New Roman" panose="02020603050405020304" pitchFamily="18" charset="0"/>
              </a:rPr>
              <a:t>بسرعات منخفضة</a:t>
            </a:r>
            <a:r>
              <a:rPr lang="ar" sz="1400" dirty="0">
                <a:latin typeface="Times New Roman" panose="02020603050405020304" pitchFamily="18" charset="0"/>
                <a:cs typeface="Times New Roman" panose="02020603050405020304" pitchFamily="18" charset="0"/>
              </a:rPr>
              <a:t> لاكتشاف الأخطاء قبل التشغيل الكامل.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استخدام الفوم أو الشمع لاختبار المعالجة: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تُجري المعالجة أولًا على </a:t>
            </a:r>
            <a:r>
              <a:rPr lang="ar" sz="1400" b="1" dirty="0">
                <a:latin typeface="Times New Roman" panose="02020603050405020304" pitchFamily="18" charset="0"/>
                <a:cs typeface="Times New Roman" panose="02020603050405020304" pitchFamily="18" charset="0"/>
              </a:rPr>
              <a:t>مواد لينة لاختبار دقة الأبعاد ومسارات الأدوات.</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المعالجة الآلية للمكون النهائي: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بعد التأكد من صحة الإعدادات، تُنفّذ عملية المعالجة على المادة الفعلية.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الإعداد السليم والمحاكاة الدقيقة يُعدّان خط الدفاع الأول ضد الأعطال المكلفة، والفقد في الخامة، والأضرار</a:t>
            </a:r>
            <a:r>
              <a:rPr lang="ar" sz="1400" b="1" dirty="0">
                <a:latin typeface="Times New Roman" panose="02020603050405020304" pitchFamily="18" charset="0"/>
                <a:cs typeface="Times New Roman" panose="02020603050405020304" pitchFamily="18" charset="0"/>
              </a:rPr>
              <a:t> التي قد تلحق بماكينة CNC.</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ج1: تصنيع مكوّن باستخدام ماكينة CNC</a:t>
            </a:r>
          </a:p>
        </p:txBody>
      </p:sp>
      <p:grpSp>
        <p:nvGrpSpPr>
          <p:cNvPr id="5" name="Group 4">
            <a:extLst>
              <a:ext uri="{FF2B5EF4-FFF2-40B4-BE49-F238E27FC236}">
                <a16:creationId xmlns:a16="http://schemas.microsoft.com/office/drawing/2014/main" id="{90B32CA2-A40F-C448-B902-0A6E56BD7DC0}"/>
              </a:ext>
            </a:extLst>
          </p:cNvPr>
          <p:cNvGrpSpPr/>
          <p:nvPr/>
        </p:nvGrpSpPr>
        <p:grpSpPr>
          <a:xfrm>
            <a:off x="251520" y="3204228"/>
            <a:ext cx="2860499" cy="2186382"/>
            <a:chOff x="5940152" y="3204228"/>
            <a:chExt cx="2860499" cy="2186382"/>
          </a:xfrm>
        </p:grpSpPr>
        <p:sp>
          <p:nvSpPr>
            <p:cNvPr id="6" name="TextBox 5">
              <a:extLst>
                <a:ext uri="{FF2B5EF4-FFF2-40B4-BE49-F238E27FC236}">
                  <a16:creationId xmlns:a16="http://schemas.microsoft.com/office/drawing/2014/main" id="{A17CA944-23AB-4624-AB9F-E8476F3193F9}"/>
                </a:ext>
              </a:extLst>
            </p:cNvPr>
            <p:cNvSpPr txBox="1"/>
            <p:nvPr/>
          </p:nvSpPr>
          <p:spPr>
            <a:xfrm>
              <a:off x="5940152" y="5113611"/>
              <a:ext cx="2860499" cy="276999"/>
            </a:xfrm>
            <a:prstGeom prst="rect">
              <a:avLst/>
            </a:prstGeom>
            <a:noFill/>
          </p:spPr>
          <p:txBody>
            <a:bodyPr wrap="square" rtlCol="1">
              <a:spAutoFit/>
            </a:bodyPr>
            <a:lstStyle/>
            <a:p>
              <a:pPr algn="ctr" rtl="1"/>
              <a:r>
                <a:rPr lang="ar" sz="1200" dirty="0">
                  <a:latin typeface="Times New Roman" panose="02020603050405020304" pitchFamily="18" charset="0"/>
                  <a:cs typeface="Times New Roman" panose="02020603050405020304" pitchFamily="18" charset="0"/>
                </a:rPr>
                <a:t>مواضع تغيير الأداة</a:t>
              </a:r>
            </a:p>
          </p:txBody>
        </p:sp>
        <p:pic>
          <p:nvPicPr>
            <p:cNvPr id="2" name="Picture 1">
              <a:extLst>
                <a:ext uri="{FF2B5EF4-FFF2-40B4-BE49-F238E27FC236}">
                  <a16:creationId xmlns:a16="http://schemas.microsoft.com/office/drawing/2014/main" id="{E6E6709A-98B1-7518-CACD-6C332A323B0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40152" y="3204228"/>
              <a:ext cx="2860499" cy="1909383"/>
            </a:xfrm>
            <a:prstGeom prst="rect">
              <a:avLst/>
            </a:prstGeom>
          </p:spPr>
        </p:pic>
      </p:grpSp>
      <p:sp>
        <p:nvSpPr>
          <p:cNvPr id="3" name="Footer Placeholder 2">
            <a:extLst>
              <a:ext uri="{FF2B5EF4-FFF2-40B4-BE49-F238E27FC236}">
                <a16:creationId xmlns:a16="http://schemas.microsoft.com/office/drawing/2014/main" id="{8800814D-1CFF-00B8-2B27-A85EF515356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272000274"/>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79912" y="1080120"/>
            <a:ext cx="5364087"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dirty="0">
                <a:latin typeface="Times New Roman" panose="02020603050405020304" pitchFamily="18" charset="0"/>
                <a:cs typeface="Times New Roman" panose="02020603050405020304" pitchFamily="18" charset="0"/>
              </a:rPr>
              <a:t>يرتبط تشغيل ماكينات CNC </a:t>
            </a:r>
            <a:r>
              <a:rPr lang="ar" sz="1400" b="1" dirty="0">
                <a:latin typeface="Times New Roman" panose="02020603050405020304" pitchFamily="18" charset="0"/>
                <a:cs typeface="Times New Roman" panose="02020603050405020304" pitchFamily="18" charset="0"/>
              </a:rPr>
              <a:t>بالعديد من المخاطر، </a:t>
            </a:r>
            <a:r>
              <a:rPr lang="ar" sz="1400" dirty="0">
                <a:latin typeface="Times New Roman" panose="02020603050405020304" pitchFamily="18" charset="0"/>
                <a:cs typeface="Times New Roman" panose="02020603050405020304" pitchFamily="18" charset="0"/>
              </a:rPr>
              <a:t>لذا فإن </a:t>
            </a:r>
            <a:r>
              <a:rPr lang="ar" sz="1400" b="1" dirty="0">
                <a:latin typeface="Times New Roman" panose="02020603050405020304" pitchFamily="18" charset="0"/>
                <a:cs typeface="Times New Roman" panose="02020603050405020304" pitchFamily="18" charset="0"/>
              </a:rPr>
              <a:t>الالتزام الصارم ببروتوكولات السلامة </a:t>
            </a:r>
            <a:r>
              <a:rPr lang="ar" sz="1400" dirty="0">
                <a:latin typeface="Times New Roman" panose="02020603050405020304" pitchFamily="18" charset="0"/>
                <a:cs typeface="Times New Roman" panose="02020603050405020304" pitchFamily="18" charset="0"/>
              </a:rPr>
              <a:t>أمرًا غاية الأهمية. فيما يأتي وصفًا </a:t>
            </a:r>
            <a:r>
              <a:rPr lang="ar" sz="1400" b="1" dirty="0">
                <a:latin typeface="Times New Roman" panose="02020603050405020304" pitchFamily="18" charset="0"/>
                <a:cs typeface="Times New Roman" panose="02020603050405020304" pitchFamily="18" charset="0"/>
              </a:rPr>
              <a:t>لممارسات العمل الآمن</a:t>
            </a:r>
            <a:r>
              <a:rPr lang="ar" sz="1400" dirty="0">
                <a:latin typeface="Times New Roman" panose="02020603050405020304" pitchFamily="18" charset="0"/>
                <a:cs typeface="Times New Roman" panose="02020603050405020304" pitchFamily="18" charset="0"/>
              </a:rPr>
              <a:t> الرئيسة: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استخدام معدات الحماية الشخصية: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يجب على المشغلين ارتداء </a:t>
            </a:r>
            <a:r>
              <a:rPr lang="ar" sz="1400" b="1" dirty="0">
                <a:latin typeface="Times New Roman" panose="02020603050405020304" pitchFamily="18" charset="0"/>
                <a:cs typeface="Times New Roman" panose="02020603050405020304" pitchFamily="18" charset="0"/>
              </a:rPr>
              <a:t>معدات الحماية الشخصية الملائمة</a:t>
            </a:r>
            <a:r>
              <a:rPr lang="ar" sz="1400" dirty="0">
                <a:latin typeface="Times New Roman" panose="02020603050405020304" pitchFamily="18" charset="0"/>
                <a:cs typeface="Times New Roman" panose="02020603050405020304" pitchFamily="18" charset="0"/>
              </a:rPr>
              <a:t> لمنع الإصابات.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وتشمل تلك المعدات ما يأتي: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البدلات الواقية</a:t>
            </a:r>
            <a:r>
              <a:rPr lang="ar" sz="1400" dirty="0">
                <a:latin typeface="Times New Roman" panose="02020603050405020304" pitchFamily="18" charset="0"/>
                <a:cs typeface="Times New Roman" panose="02020603050405020304" pitchFamily="18" charset="0"/>
              </a:rPr>
              <a:t> للحماية من الرقائق المعدنية ورذاذ سائل التبريد.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نظارات أو واقيات للعيون</a:t>
            </a:r>
            <a:r>
              <a:rPr lang="ar" sz="1400" dirty="0">
                <a:latin typeface="Times New Roman" panose="02020603050405020304" pitchFamily="18" charset="0"/>
                <a:cs typeface="Times New Roman" panose="02020603050405020304" pitchFamily="18" charset="0"/>
              </a:rPr>
              <a:t> لصد الشظايا المتطايرة.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أحذية السلامة</a:t>
            </a:r>
            <a:r>
              <a:rPr lang="ar" sz="1400" dirty="0">
                <a:latin typeface="Times New Roman" panose="02020603050405020304" pitchFamily="18" charset="0"/>
                <a:cs typeface="Times New Roman" panose="02020603050405020304" pitchFamily="18" charset="0"/>
              </a:rPr>
              <a:t> لمنع إصابات القدم من الأجسام المتساقطة.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واقيات الأذن</a:t>
            </a:r>
            <a:r>
              <a:rPr lang="ar" sz="1400" dirty="0">
                <a:latin typeface="Times New Roman" panose="02020603050405020304" pitchFamily="18" charset="0"/>
                <a:cs typeface="Times New Roman" panose="02020603050405020304" pitchFamily="18" charset="0"/>
              </a:rPr>
              <a:t> لتخفيف التعرض لمستويات ضوضاء مرتفعة.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واقيات الآلات المثبتة والموضوعة في المكان: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تحتوي ماكينات CNC على </a:t>
            </a:r>
            <a:r>
              <a:rPr lang="ar" sz="1400" b="1" dirty="0">
                <a:latin typeface="Times New Roman" panose="02020603050405020304" pitchFamily="18" charset="0"/>
                <a:cs typeface="Times New Roman" panose="02020603050405020304" pitchFamily="18" charset="0"/>
              </a:rPr>
              <a:t>حواجز واقية</a:t>
            </a:r>
            <a:r>
              <a:rPr lang="ar" sz="1400" dirty="0">
                <a:latin typeface="Times New Roman" panose="02020603050405020304" pitchFamily="18" charset="0"/>
                <a:cs typeface="Times New Roman" panose="02020603050405020304" pitchFamily="18" charset="0"/>
              </a:rPr>
              <a:t> لحماية المشغل من ملامسة الأجزاء المتحركة.</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 يجب التحقق من تركيب هذه الحواجز وتثبيتها بالشكل الصحيح قبل بدء المعالجة.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3. أنظمة الحماية التشغيلية: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تتضمن ماكينات CNC الحديثة </a:t>
            </a:r>
            <a:r>
              <a:rPr lang="ar" sz="1400" b="1" dirty="0">
                <a:latin typeface="Times New Roman" panose="02020603050405020304" pitchFamily="18" charset="0"/>
                <a:cs typeface="Times New Roman" panose="02020603050405020304" pitchFamily="18" charset="0"/>
              </a:rPr>
              <a:t>أنظمة حماية </a:t>
            </a:r>
            <a:r>
              <a:rPr lang="ar" sz="1400" dirty="0">
                <a:latin typeface="Times New Roman" panose="02020603050405020304" pitchFamily="18" charset="0"/>
                <a:cs typeface="Times New Roman" panose="02020603050405020304" pitchFamily="18" charset="0"/>
              </a:rPr>
              <a:t>تعمل في الحالات الآتية: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تمنع تشغيل الماكينة إذا لم تنفّذ آليات الأمان.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تُوقف الماكينة تلقائيًا في حالات الطوارئ.</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11149"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نتاج التعلم ج2:  ممارسات العمل الآمن</a:t>
            </a:r>
          </a:p>
        </p:txBody>
      </p:sp>
      <p:grpSp>
        <p:nvGrpSpPr>
          <p:cNvPr id="3" name="Group 2">
            <a:extLst>
              <a:ext uri="{FF2B5EF4-FFF2-40B4-BE49-F238E27FC236}">
                <a16:creationId xmlns:a16="http://schemas.microsoft.com/office/drawing/2014/main" id="{AC76AD83-62BD-E560-9697-80B621566752}"/>
              </a:ext>
            </a:extLst>
          </p:cNvPr>
          <p:cNvGrpSpPr/>
          <p:nvPr/>
        </p:nvGrpSpPr>
        <p:grpSpPr>
          <a:xfrm>
            <a:off x="251520" y="3126173"/>
            <a:ext cx="3528392" cy="2668579"/>
            <a:chOff x="5148064" y="3126173"/>
            <a:chExt cx="3528392" cy="2668579"/>
          </a:xfrm>
        </p:grpSpPr>
        <p:sp>
          <p:nvSpPr>
            <p:cNvPr id="6" name="TextBox 5">
              <a:extLst>
                <a:ext uri="{FF2B5EF4-FFF2-40B4-BE49-F238E27FC236}">
                  <a16:creationId xmlns:a16="http://schemas.microsoft.com/office/drawing/2014/main" id="{0653F15C-0812-4C17-93D9-54E45BD2254E}"/>
                </a:ext>
              </a:extLst>
            </p:cNvPr>
            <p:cNvSpPr txBox="1"/>
            <p:nvPr/>
          </p:nvSpPr>
          <p:spPr>
            <a:xfrm>
              <a:off x="5148064" y="5517753"/>
              <a:ext cx="3528392" cy="276999"/>
            </a:xfrm>
            <a:prstGeom prst="rect">
              <a:avLst/>
            </a:prstGeom>
            <a:noFill/>
          </p:spPr>
          <p:txBody>
            <a:bodyPr wrap="square" rtlCol="1">
              <a:spAutoFit/>
            </a:bodyPr>
            <a:lstStyle/>
            <a:p>
              <a:pPr algn="ctr" rtl="1"/>
              <a:r>
                <a:rPr lang="ar" sz="1200">
                  <a:latin typeface="Times New Roman" panose="02020603050405020304" pitchFamily="18" charset="0"/>
                  <a:cs typeface="Times New Roman" panose="02020603050405020304" pitchFamily="18" charset="0"/>
                </a:rPr>
                <a:t>معدات الحماية الشخصية: البدلات الواقية</a:t>
              </a:r>
            </a:p>
          </p:txBody>
        </p:sp>
        <p:pic>
          <p:nvPicPr>
            <p:cNvPr id="2" name="Picture 1">
              <a:extLst>
                <a:ext uri="{FF2B5EF4-FFF2-40B4-BE49-F238E27FC236}">
                  <a16:creationId xmlns:a16="http://schemas.microsoft.com/office/drawing/2014/main" id="{564B653D-6151-34E5-22AA-E009A6D6DEB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48064" y="3126173"/>
              <a:ext cx="3528392" cy="2355389"/>
            </a:xfrm>
            <a:prstGeom prst="rect">
              <a:avLst/>
            </a:prstGeom>
          </p:spPr>
        </p:pic>
      </p:grpSp>
      <p:sp>
        <p:nvSpPr>
          <p:cNvPr id="4" name="Footer Placeholder 2">
            <a:extLst>
              <a:ext uri="{FF2B5EF4-FFF2-40B4-BE49-F238E27FC236}">
                <a16:creationId xmlns:a16="http://schemas.microsoft.com/office/drawing/2014/main" id="{2149465D-E205-780A-0D70-A2D883425AC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986897186"/>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220072" y="1052736"/>
            <a:ext cx="3923927"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4. الإعدادات الصحيحة لتجاوز معدلات السرعة والتلقيم:</a:t>
            </a:r>
          </a:p>
          <a:p>
            <a:pPr marL="0" indent="0" rtl="1">
              <a:lnSpc>
                <a:spcPct val="12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لا ينبغي تجاوز إعدادات السرعة والتلقيم يدويًا إلا إذا كان التعديل مطلوبًا لضبط الدقة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قد تتسبب السرعات/التلقيم غير الصحيحة في: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كسر الآلة.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سخونة مفرطة وتآكل زائد.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 ملمس سطح المكون غير جيد.</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5. الاستخدام الآمن لسوائل القطع والتبريد:</a:t>
            </a:r>
          </a:p>
          <a:p>
            <a:pPr marL="0" indent="0" rtl="1">
              <a:lnSpc>
                <a:spcPct val="12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يساهم الاستخدام السليم </a:t>
            </a:r>
            <a:r>
              <a:rPr lang="ar" sz="1400" b="1" dirty="0">
                <a:latin typeface="Times New Roman" panose="02020603050405020304" pitchFamily="18" charset="0"/>
                <a:cs typeface="Times New Roman" panose="02020603050405020304" pitchFamily="18" charset="0"/>
              </a:rPr>
              <a:t>لسائل التبريد في خفض الحرارة، وتحسين عمر الأداة، وتعزيز جودة السطح.</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يجب على المشغلين التأكد من الآتي: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استخدام </a:t>
            </a:r>
            <a:r>
              <a:rPr lang="ar" sz="1400" b="1" dirty="0">
                <a:latin typeface="Times New Roman" panose="02020603050405020304" pitchFamily="18" charset="0"/>
                <a:cs typeface="Times New Roman" panose="02020603050405020304" pitchFamily="18" charset="0"/>
              </a:rPr>
              <a:t>نوع السائل الصحيح </a:t>
            </a:r>
            <a:r>
              <a:rPr lang="ar" sz="1400" dirty="0">
                <a:latin typeface="Times New Roman" panose="02020603050405020304" pitchFamily="18" charset="0"/>
                <a:cs typeface="Times New Roman" panose="02020603050405020304" pitchFamily="18" charset="0"/>
              </a:rPr>
              <a:t>بحسب المادة.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التخلص السليم من سوائل التبريد المستعملة</a:t>
            </a:r>
            <a:r>
              <a:rPr lang="ar" sz="1400" dirty="0">
                <a:latin typeface="Times New Roman" panose="02020603050405020304" pitchFamily="18" charset="0"/>
                <a:cs typeface="Times New Roman" panose="02020603050405020304" pitchFamily="18" charset="0"/>
              </a:rPr>
              <a:t> طبقًا اللوائح البيئية المعمول بها.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إن اتباع إجراءات السلامة المذكورة </a:t>
            </a:r>
            <a:r>
              <a:rPr lang="ar" sz="1400" b="1" dirty="0">
                <a:latin typeface="Times New Roman" panose="02020603050405020304" pitchFamily="18" charset="0"/>
                <a:cs typeface="Times New Roman" panose="02020603050405020304" pitchFamily="18" charset="0"/>
              </a:rPr>
              <a:t>يُسهم في توفير بيئة عمل آمنة ويمنع الحوادث المُحتملة.</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01453"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ج2:  ممارسات العمل الآمن</a:t>
            </a:r>
          </a:p>
        </p:txBody>
      </p:sp>
      <p:grpSp>
        <p:nvGrpSpPr>
          <p:cNvPr id="3" name="Group 2">
            <a:extLst>
              <a:ext uri="{FF2B5EF4-FFF2-40B4-BE49-F238E27FC236}">
                <a16:creationId xmlns:a16="http://schemas.microsoft.com/office/drawing/2014/main" id="{03172914-AB17-C339-875F-4A4A99C1D55F}"/>
              </a:ext>
            </a:extLst>
          </p:cNvPr>
          <p:cNvGrpSpPr/>
          <p:nvPr/>
        </p:nvGrpSpPr>
        <p:grpSpPr>
          <a:xfrm>
            <a:off x="251520" y="2708920"/>
            <a:ext cx="4139952" cy="3036700"/>
            <a:chOff x="4355976" y="2708920"/>
            <a:chExt cx="4139952" cy="3036700"/>
          </a:xfrm>
        </p:grpSpPr>
        <p:sp>
          <p:nvSpPr>
            <p:cNvPr id="5" name="TextBox 4">
              <a:extLst>
                <a:ext uri="{FF2B5EF4-FFF2-40B4-BE49-F238E27FC236}">
                  <a16:creationId xmlns:a16="http://schemas.microsoft.com/office/drawing/2014/main" id="{466BBA40-F4FC-4876-A745-48E40ACF9B79}"/>
                </a:ext>
              </a:extLst>
            </p:cNvPr>
            <p:cNvSpPr txBox="1"/>
            <p:nvPr/>
          </p:nvSpPr>
          <p:spPr>
            <a:xfrm>
              <a:off x="4860032" y="5468621"/>
              <a:ext cx="3240360" cy="276999"/>
            </a:xfrm>
            <a:prstGeom prst="rect">
              <a:avLst/>
            </a:prstGeom>
            <a:noFill/>
          </p:spPr>
          <p:txBody>
            <a:bodyPr wrap="square" rtlCol="1">
              <a:spAutoFit/>
            </a:bodyPr>
            <a:lstStyle/>
            <a:p>
              <a:pPr rtl="1"/>
              <a:r>
                <a:rPr lang="ar" sz="1200" dirty="0">
                  <a:latin typeface="Times New Roman" panose="02020603050405020304" pitchFamily="18" charset="0"/>
                  <a:cs typeface="Times New Roman" panose="02020603050405020304" pitchFamily="18" charset="0"/>
                </a:rPr>
                <a:t>تفريز الصلب باستخدام ماكينة CNC مع التبريد الخارجي بالماء</a:t>
              </a:r>
            </a:p>
          </p:txBody>
        </p:sp>
        <p:pic>
          <p:nvPicPr>
            <p:cNvPr id="2" name="Picture 1">
              <a:extLst>
                <a:ext uri="{FF2B5EF4-FFF2-40B4-BE49-F238E27FC236}">
                  <a16:creationId xmlns:a16="http://schemas.microsoft.com/office/drawing/2014/main" id="{F7F5711F-AB8F-35C3-DD73-2C1ECD6A26E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55976" y="2708920"/>
              <a:ext cx="4139952" cy="2759701"/>
            </a:xfrm>
            <a:prstGeom prst="rect">
              <a:avLst/>
            </a:prstGeom>
          </p:spPr>
        </p:pic>
      </p:grpSp>
      <p:sp>
        <p:nvSpPr>
          <p:cNvPr id="4" name="Footer Placeholder 2">
            <a:extLst>
              <a:ext uri="{FF2B5EF4-FFF2-40B4-BE49-F238E27FC236}">
                <a16:creationId xmlns:a16="http://schemas.microsoft.com/office/drawing/2014/main" id="{12A40C0B-BD32-54B7-9B47-5669FE70C08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808472914"/>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052736"/>
            <a:ext cx="914400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nSpc>
                <a:spcPct val="110000"/>
              </a:lnSpc>
              <a:buNone/>
            </a:pPr>
            <a:r>
              <a:rPr lang="ar" sz="1400" dirty="0">
                <a:latin typeface="Times New Roman" panose="02020603050405020304" pitchFamily="18" charset="0"/>
                <a:cs typeface="Times New Roman" panose="02020603050405020304" pitchFamily="18" charset="0"/>
              </a:rPr>
              <a:t>بمجرد إنتاج مكون باستخدام ماكينة CNC، يجب إجراء </a:t>
            </a:r>
            <a:r>
              <a:rPr lang="ar" sz="1400" b="1" dirty="0">
                <a:latin typeface="Times New Roman" panose="02020603050405020304" pitchFamily="18" charset="0"/>
                <a:cs typeface="Times New Roman" panose="02020603050405020304" pitchFamily="18" charset="0"/>
              </a:rPr>
              <a:t>فحوص جودة</a:t>
            </a:r>
            <a:r>
              <a:rPr lang="ar" sz="1400" dirty="0">
                <a:latin typeface="Times New Roman" panose="02020603050405020304" pitchFamily="18" charset="0"/>
                <a:cs typeface="Times New Roman" panose="02020603050405020304" pitchFamily="18" charset="0"/>
              </a:rPr>
              <a:t> للتحقق من </a:t>
            </a:r>
            <a:r>
              <a:rPr lang="ar" sz="1400" b="1" dirty="0">
                <a:latin typeface="Times New Roman" panose="02020603050405020304" pitchFamily="18" charset="0"/>
                <a:cs typeface="Times New Roman" panose="02020603050405020304" pitchFamily="18" charset="0"/>
              </a:rPr>
              <a:t>الدقة، ودرجة التفاوت، وجودة السطح.</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التحقق من تفاوت الأبعاد</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ينبغي أن تتوافق المكونات مع </a:t>
            </a:r>
            <a:r>
              <a:rPr lang="ar" sz="1400" b="1" dirty="0">
                <a:latin typeface="Times New Roman" panose="02020603050405020304" pitchFamily="18" charset="0"/>
                <a:cs typeface="Times New Roman" panose="02020603050405020304" pitchFamily="18" charset="0"/>
              </a:rPr>
              <a:t>الأبعاد القياسية الصناعية</a:t>
            </a:r>
            <a:r>
              <a:rPr lang="ar" sz="1400" dirty="0">
                <a:latin typeface="Times New Roman" panose="02020603050405020304" pitchFamily="18" charset="0"/>
                <a:cs typeface="Times New Roman" panose="02020603050405020304" pitchFamily="18" charset="0"/>
              </a:rPr>
              <a:t>، مثل: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BS 4500</a:t>
            </a:r>
            <a:r>
              <a:rPr lang="en-US" sz="1400" b="1"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a:t>
            </a:r>
            <a:r>
              <a:rPr lang="ar" sz="1400" dirty="0">
                <a:latin typeface="Times New Roman" panose="02020603050405020304" pitchFamily="18" charset="0"/>
                <a:cs typeface="Times New Roman" panose="02020603050405020304" pitchFamily="18" charset="0"/>
              </a:rPr>
              <a:t> المعيار البريطاني بشأن </a:t>
            </a:r>
            <a:r>
              <a:rPr lang="ar" sz="1400" b="1" dirty="0">
                <a:latin typeface="Times New Roman" panose="02020603050405020304" pitchFamily="18" charset="0"/>
                <a:cs typeface="Times New Roman" panose="02020603050405020304" pitchFamily="18" charset="0"/>
              </a:rPr>
              <a:t>التفاوتات الطولية.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BS 1916 </a:t>
            </a:r>
            <a:r>
              <a:rPr lang="ar" sz="1400" b="1" dirty="0">
                <a:latin typeface="Times New Roman" panose="02020603050405020304" pitchFamily="18" charset="0"/>
                <a:cs typeface="Times New Roman" panose="02020603050405020304" pitchFamily="18" charset="0"/>
              </a:rPr>
              <a:t> –</a:t>
            </a:r>
            <a:r>
              <a:rPr lang="ar" sz="1400" dirty="0">
                <a:latin typeface="Times New Roman" panose="02020603050405020304" pitchFamily="18" charset="0"/>
                <a:cs typeface="Times New Roman" panose="02020603050405020304" pitchFamily="18" charset="0"/>
              </a:rPr>
              <a:t> المعيار البريطاني بشأن</a:t>
            </a:r>
            <a:r>
              <a:rPr lang="ar" sz="1400" b="1" dirty="0">
                <a:latin typeface="Times New Roman" panose="02020603050405020304" pitchFamily="18" charset="0"/>
                <a:cs typeface="Times New Roman" panose="02020603050405020304" pitchFamily="18" charset="0"/>
              </a:rPr>
              <a:t> تفاوتات الخيوط.</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 المعايير الدولية الأخري المماثلة، مثل (الأيزو والجمعية الأمريكية للمهندسين الميكانيكيين، وما إلى ذلك).</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ملمس السطح وجودته (الدرجة 7 – 1.6 ميكرومتر)</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 تُقاس جودة السطح بوحدة (ميكرو بوصة أو ميكرومتر)</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الدرجة 7 (1.6 ميكرو بوصة أو 63 ميكرومتر)</a:t>
            </a:r>
            <a:r>
              <a:rPr lang="ar" sz="1400" b="1" dirty="0">
                <a:latin typeface="Times New Roman" panose="02020603050405020304" pitchFamily="18" charset="0"/>
                <a:cs typeface="Times New Roman" panose="02020603050405020304" pitchFamily="18" charset="0"/>
              </a:rPr>
              <a:t> تُعتبر معيار صناعة للعديد من الأسطح المعالجة.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يُعد ضعف جودة تشطيب الأسطح مؤشرًا على خلل في سرعة القطع أو معدل التلقيم، أو على تآكل الآداة.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3. فتحات المعايرة والتجويف (حد تفاوت H8):</a:t>
            </a: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 يجب أن تتوافق فتحات المعايرة والتوسيع مع حدود التفاوت H8.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يضمن </a:t>
            </a:r>
            <a:r>
              <a:rPr lang="ar" sz="1400" b="1" dirty="0">
                <a:latin typeface="Times New Roman" panose="02020603050405020304" pitchFamily="18" charset="0"/>
                <a:cs typeface="Times New Roman" panose="02020603050405020304" pitchFamily="18" charset="0"/>
              </a:rPr>
              <a:t>هذا التفاوت</a:t>
            </a:r>
            <a:r>
              <a:rPr lang="ar" sz="1400" dirty="0">
                <a:latin typeface="Times New Roman" panose="02020603050405020304" pitchFamily="18" charset="0"/>
                <a:cs typeface="Times New Roman" panose="02020603050405020304" pitchFamily="18" charset="0"/>
              </a:rPr>
              <a:t> توافقًا </a:t>
            </a:r>
            <a:r>
              <a:rPr lang="ar" sz="1400" b="1" dirty="0">
                <a:latin typeface="Times New Roman" panose="02020603050405020304" pitchFamily="18" charset="0"/>
                <a:cs typeface="Times New Roman" panose="02020603050405020304" pitchFamily="18" charset="0"/>
              </a:rPr>
              <a:t>تشغيلًا دقيقًا مع خلوص محدود.</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4. التسامح الزاوي (±0.5 درجة):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حدود التسامح الزاوي المسموح بها </a:t>
            </a:r>
            <a:r>
              <a:rPr lang="ar" sz="1400" b="1" dirty="0">
                <a:latin typeface="Times New Roman" panose="02020603050405020304" pitchFamily="18" charset="0"/>
                <a:cs typeface="Times New Roman" panose="02020603050405020304" pitchFamily="18" charset="0"/>
              </a:rPr>
              <a:t>هي ±0.5° من المواصفات التصميمية.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قد تؤثر</a:t>
            </a:r>
            <a:r>
              <a:rPr lang="ar" sz="1400" b="1" dirty="0">
                <a:latin typeface="Times New Roman" panose="02020603050405020304" pitchFamily="18" charset="0"/>
                <a:cs typeface="Times New Roman" panose="02020603050405020304" pitchFamily="18" charset="0"/>
              </a:rPr>
              <a:t> الانحرافات الزاوية</a:t>
            </a:r>
            <a:r>
              <a:rPr lang="ar" sz="1400" dirty="0">
                <a:latin typeface="Times New Roman" panose="02020603050405020304" pitchFamily="18" charset="0"/>
                <a:cs typeface="Times New Roman" panose="02020603050405020304" pitchFamily="18" charset="0"/>
              </a:rPr>
              <a:t> في توافق الأجزاء ووظائفها.</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5. جودة خيط البرغي (متوسط ​​​​الملاءمة طبقا للمعايير البريطانية أو ما يعادله)</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يجب أن تتطابق خيوط البراغي مع المعيار البريطاني للبراغي متوسطة الملاءة أو معايير مماثلة معتمدة عالميًا.</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قد تتسبب أداة القطع الخيطية رديئة الجودة </a:t>
            </a:r>
            <a:r>
              <a:rPr lang="ar" sz="1400" b="1" dirty="0">
                <a:latin typeface="Times New Roman" panose="02020603050405020304" pitchFamily="18" charset="0"/>
                <a:cs typeface="Times New Roman" panose="02020603050405020304" pitchFamily="18" charset="0"/>
              </a:rPr>
              <a:t>في مشاكل عند التركيب، أو فشل مادي، أو أداء ميكانيكي ضعيف.</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ج3:  فحص جودة المكون</a:t>
            </a:r>
          </a:p>
        </p:txBody>
      </p:sp>
      <p:sp>
        <p:nvSpPr>
          <p:cNvPr id="2" name="Footer Placeholder 2">
            <a:extLst>
              <a:ext uri="{FF2B5EF4-FFF2-40B4-BE49-F238E27FC236}">
                <a16:creationId xmlns:a16="http://schemas.microsoft.com/office/drawing/2014/main" id="{ED35A7C6-80F0-DB28-EB9B-CA9013B8CB4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4170246515"/>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214939" y="1052736"/>
            <a:ext cx="3923927"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nSpc>
                <a:spcPct val="120000"/>
              </a:lnSpc>
              <a:buNone/>
            </a:pPr>
            <a:r>
              <a:rPr lang="ar" sz="1400" b="1" dirty="0">
                <a:latin typeface="Times New Roman" panose="02020603050405020304" pitchFamily="18" charset="0"/>
                <a:cs typeface="Times New Roman" panose="02020603050405020304" pitchFamily="18" charset="0"/>
              </a:rPr>
              <a:t>ج1: عملية تصنيع مكون باستخدام ماكينة CNC</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تشمل </a:t>
            </a:r>
            <a:r>
              <a:rPr lang="ar" sz="1400" b="1" dirty="0">
                <a:latin typeface="Times New Roman" panose="02020603050405020304" pitchFamily="18" charset="0"/>
                <a:cs typeface="Times New Roman" panose="02020603050405020304" pitchFamily="18" charset="0"/>
              </a:rPr>
              <a:t>العملية إدخال النقاط المرجعية، وتثبيت قطعة العمل، وتجهيز الآلات، وتنفيذ البرنامج بأمان.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تشدّد على </a:t>
            </a:r>
            <a:r>
              <a:rPr lang="ar" sz="1400" b="1" dirty="0">
                <a:latin typeface="Times New Roman" panose="02020603050405020304" pitchFamily="18" charset="0"/>
                <a:cs typeface="Times New Roman" panose="02020603050405020304" pitchFamily="18" charset="0"/>
              </a:rPr>
              <a:t>ضرورة إجراء المحاكاة واختبار البرنامج لضمان دقة التنفيذ قبل بدء المعالجة الفعلية للقطعة النهائية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ج2: ممارسات العمل الآمن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تركز تلك الممارسات </a:t>
            </a:r>
            <a:r>
              <a:rPr lang="ar" sz="1400" b="1" dirty="0">
                <a:latin typeface="Times New Roman" panose="02020603050405020304" pitchFamily="18" charset="0"/>
                <a:cs typeface="Times New Roman" panose="02020603050405020304" pitchFamily="18" charset="0"/>
              </a:rPr>
              <a:t>على استخدام معدات الحماية الشخصية، وواقيات الآلات وأنظمة الحماية، إضافة إلى إدارة تجاوزات السرعة ومعدلات التلقيم بشكل آمن.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تشمل </a:t>
            </a:r>
            <a:r>
              <a:rPr lang="ar" sz="1400" b="1" dirty="0">
                <a:latin typeface="Times New Roman" panose="02020603050405020304" pitchFamily="18" charset="0"/>
                <a:cs typeface="Times New Roman" panose="02020603050405020304" pitchFamily="18" charset="0"/>
              </a:rPr>
              <a:t>أساليب التعامل الآمن مع سوائل التبريد والقطع، وأفضل الممارسات المتبعة في أثناء إعداد الماكينة للتشغيل.</a:t>
            </a:r>
            <a:r>
              <a:rPr lang="ar" sz="1400" dirty="0">
                <a:latin typeface="Times New Roman" panose="02020603050405020304" pitchFamily="18" charset="0"/>
                <a:cs typeface="Times New Roman" panose="02020603050405020304" pitchFamily="18" charset="0"/>
              </a:rPr>
              <a:t>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ج3: فحص جودة المكون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تهدف تلك الفحوص إلى </a:t>
            </a:r>
            <a:r>
              <a:rPr lang="ar" sz="1400" b="1" dirty="0">
                <a:latin typeface="Times New Roman" panose="02020603050405020304" pitchFamily="18" charset="0"/>
                <a:cs typeface="Times New Roman" panose="02020603050405020304" pitchFamily="18" charset="0"/>
              </a:rPr>
              <a:t>ضمان دقة الأبعاد، وجودة السطح النهائي، وضمان حدود التفاوت طبقًا للمعايير المعتمدة في المجال.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يتم التحقق من ذلك </a:t>
            </a:r>
            <a:r>
              <a:rPr lang="ar" sz="1400" b="1" dirty="0">
                <a:latin typeface="Times New Roman" panose="02020603050405020304" pitchFamily="18" charset="0"/>
                <a:cs typeface="Times New Roman" panose="02020603050405020304" pitchFamily="18" charset="0"/>
              </a:rPr>
              <a:t>باستخدام المواصفات القياسية البريطانية </a:t>
            </a:r>
            <a:br>
              <a:rPr lang="en-US" sz="1400" b="1" dirty="0">
                <a:latin typeface="Times New Roman" panose="02020603050405020304" pitchFamily="18" charset="0"/>
                <a:cs typeface="Times New Roman" panose="02020603050405020304" pitchFamily="18" charset="0"/>
              </a:rPr>
            </a:br>
            <a:r>
              <a:rPr lang="en-GB" sz="1400" b="1" dirty="0">
                <a:latin typeface="Times New Roman" panose="02020603050405020304" pitchFamily="18" charset="0"/>
                <a:cs typeface="Times New Roman" panose="02020603050405020304" pitchFamily="18" charset="0"/>
              </a:rPr>
              <a:t>BS 4500</a:t>
            </a:r>
            <a:r>
              <a:rPr lang="ar-EG" sz="1400" b="1" dirty="0">
                <a:latin typeface="Times New Roman" panose="02020603050405020304" pitchFamily="18" charset="0"/>
                <a:cs typeface="Times New Roman" panose="02020603050405020304" pitchFamily="18" charset="0"/>
              </a:rPr>
              <a:t> و </a:t>
            </a:r>
            <a:r>
              <a:rPr lang="en-GB" sz="1400" b="1" dirty="0">
                <a:latin typeface="Times New Roman" panose="02020603050405020304" pitchFamily="18" charset="0"/>
                <a:cs typeface="Times New Roman" panose="02020603050405020304" pitchFamily="18" charset="0"/>
              </a:rPr>
              <a:t> BS 1916</a:t>
            </a:r>
            <a:r>
              <a:rPr lang="ar" sz="1400" b="1" dirty="0">
                <a:latin typeface="Times New Roman" panose="02020603050405020304" pitchFamily="18" charset="0"/>
                <a:cs typeface="Times New Roman" panose="02020603050405020304" pitchFamily="18" charset="0"/>
              </a:rPr>
              <a:t>وتفاوت H8 لضمان الالتزام. </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من خلال اتباع هذه </a:t>
            </a:r>
            <a:r>
              <a:rPr lang="ar" sz="1400" b="1" dirty="0">
                <a:latin typeface="Times New Roman" panose="02020603050405020304" pitchFamily="18" charset="0"/>
                <a:cs typeface="Times New Roman" panose="02020603050405020304" pitchFamily="18" charset="0"/>
              </a:rPr>
              <a:t>الإجراءات المنهجية</a:t>
            </a:r>
            <a:r>
              <a:rPr lang="ar" sz="1400" dirty="0">
                <a:latin typeface="Times New Roman" panose="02020603050405020304" pitchFamily="18" charset="0"/>
                <a:cs typeface="Times New Roman" panose="02020603050405020304" pitchFamily="18" charset="0"/>
              </a:rPr>
              <a:t>، يكتسب المتعلمون </a:t>
            </a:r>
            <a:r>
              <a:rPr lang="ar" sz="1400" b="1" dirty="0">
                <a:latin typeface="Times New Roman" panose="02020603050405020304" pitchFamily="18" charset="0"/>
                <a:cs typeface="Times New Roman" panose="02020603050405020304" pitchFamily="18" charset="0"/>
              </a:rPr>
              <a:t>مهارات تصنيع دقيقة</a:t>
            </a:r>
            <a:r>
              <a:rPr lang="ar" sz="1400" dirty="0">
                <a:latin typeface="Times New Roman" panose="02020603050405020304" pitchFamily="18" charset="0"/>
                <a:cs typeface="Times New Roman" panose="02020603050405020304" pitchFamily="18" charset="0"/>
              </a:rPr>
              <a:t> تُمكنهم من إنتاج مكوّنات عالية الجودة باستخدام ماكينة CNC </a:t>
            </a:r>
            <a:r>
              <a:rPr lang="ar" sz="1400" b="1" dirty="0">
                <a:latin typeface="Times New Roman" panose="02020603050405020304" pitchFamily="18" charset="0"/>
                <a:cs typeface="Times New Roman" panose="02020603050405020304" pitchFamily="18" charset="0"/>
              </a:rPr>
              <a:t>تفي بمعايير الجودة الصناعية.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177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ملخص نتاج التعلم ج</a:t>
            </a:r>
          </a:p>
        </p:txBody>
      </p:sp>
      <p:grpSp>
        <p:nvGrpSpPr>
          <p:cNvPr id="3" name="Group 2">
            <a:extLst>
              <a:ext uri="{FF2B5EF4-FFF2-40B4-BE49-F238E27FC236}">
                <a16:creationId xmlns:a16="http://schemas.microsoft.com/office/drawing/2014/main" id="{FEF69768-EECA-8E63-8F9B-01CFA894BAC2}"/>
              </a:ext>
            </a:extLst>
          </p:cNvPr>
          <p:cNvGrpSpPr/>
          <p:nvPr/>
        </p:nvGrpSpPr>
        <p:grpSpPr>
          <a:xfrm>
            <a:off x="216024" y="2708920"/>
            <a:ext cx="4355976" cy="3263924"/>
            <a:chOff x="4355976" y="2708920"/>
            <a:chExt cx="4355976" cy="3263924"/>
          </a:xfrm>
        </p:grpSpPr>
        <p:sp>
          <p:nvSpPr>
            <p:cNvPr id="6" name="TextBox 5">
              <a:extLst>
                <a:ext uri="{FF2B5EF4-FFF2-40B4-BE49-F238E27FC236}">
                  <a16:creationId xmlns:a16="http://schemas.microsoft.com/office/drawing/2014/main" id="{E72F9886-D626-4B64-A2FA-C324BAB63B47}"/>
                </a:ext>
              </a:extLst>
            </p:cNvPr>
            <p:cNvSpPr txBox="1"/>
            <p:nvPr/>
          </p:nvSpPr>
          <p:spPr>
            <a:xfrm>
              <a:off x="4355976" y="5695845"/>
              <a:ext cx="4355976" cy="276999"/>
            </a:xfrm>
            <a:prstGeom prst="rect">
              <a:avLst/>
            </a:prstGeom>
            <a:noFill/>
          </p:spPr>
          <p:txBody>
            <a:bodyPr wrap="square" rtlCol="1">
              <a:spAutoFit/>
            </a:bodyPr>
            <a:lstStyle/>
            <a:p>
              <a:pPr algn="ctr" rtl="1"/>
              <a:r>
                <a:rPr lang="ar" sz="1200" dirty="0">
                  <a:latin typeface="Times New Roman" panose="02020603050405020304" pitchFamily="18" charset="0"/>
                  <a:cs typeface="Times New Roman" panose="02020603050405020304" pitchFamily="18" charset="0"/>
                </a:rPr>
                <a:t>تفريز أجزاء الماكينات في تشغيل المعادن باستخدام ماكينات CNC.</a:t>
              </a:r>
              <a:endParaRPr lang="en-GB" sz="1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E2A57E0-4DDB-71A8-B362-1AE5657DF3D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55976" y="2708920"/>
              <a:ext cx="4355976" cy="2905920"/>
            </a:xfrm>
            <a:prstGeom prst="rect">
              <a:avLst/>
            </a:prstGeom>
          </p:spPr>
        </p:pic>
      </p:grpSp>
      <p:sp>
        <p:nvSpPr>
          <p:cNvPr id="4" name="Footer Placeholder 2">
            <a:extLst>
              <a:ext uri="{FF2B5EF4-FFF2-40B4-BE49-F238E27FC236}">
                <a16:creationId xmlns:a16="http://schemas.microsoft.com/office/drawing/2014/main" id="{9790A8C3-B21A-6937-B298-B6748D067B1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074110846"/>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Times New Roman" panose="02020603050405020304" pitchFamily="18" charset="0"/>
                <a:cs typeface="Times New Roman" panose="02020603050405020304" pitchFamily="18" charset="0"/>
              </a:rPr>
              <a:t>نتاج التعلم د</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120000"/>
              </a:lnSpc>
            </a:pPr>
            <a:r>
              <a:rPr lang="ar" sz="3600" b="1" dirty="0">
                <a:latin typeface="Times New Roman" panose="02020603050405020304" pitchFamily="18" charset="0"/>
                <a:cs typeface="Times New Roman" panose="02020603050405020304" pitchFamily="18" charset="0"/>
              </a:rPr>
              <a:t>مراجعة العمليات المستخدمة في المعالجة الآلية لمكوِّن وتقييم الأداء الشخصي</a:t>
            </a:r>
          </a:p>
        </p:txBody>
      </p:sp>
      <p:sp>
        <p:nvSpPr>
          <p:cNvPr id="2" name="Footer Placeholder 2">
            <a:extLst>
              <a:ext uri="{FF2B5EF4-FFF2-40B4-BE49-F238E27FC236}">
                <a16:creationId xmlns:a16="http://schemas.microsoft.com/office/drawing/2014/main" id="{E94AFB42-63E3-73F6-0BA0-EE239BFFE36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893745891"/>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64088" y="1080120"/>
            <a:ext cx="3779911"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30000"/>
              </a:lnSpc>
              <a:buNone/>
            </a:pPr>
            <a:r>
              <a:rPr lang="ar" sz="1400" dirty="0">
                <a:latin typeface="Times New Roman" panose="02020603050405020304" pitchFamily="18" charset="0"/>
                <a:cs typeface="Times New Roman" panose="02020603050405020304" pitchFamily="18" charset="0"/>
              </a:rPr>
              <a:t>بعد الانتهاء من عملية المعالجة الآلية باستخدام ماكينات CNC، من الضروري مراجعة</a:t>
            </a:r>
            <a:r>
              <a:rPr lang="ar" sz="1400" b="1" dirty="0">
                <a:latin typeface="Times New Roman" panose="02020603050405020304" pitchFamily="18" charset="0"/>
                <a:cs typeface="Times New Roman" panose="02020603050405020304" pitchFamily="18" charset="0"/>
              </a:rPr>
              <a:t> الدروس المستفادة</a:t>
            </a:r>
            <a:r>
              <a:rPr lang="ar" sz="1400" dirty="0">
                <a:latin typeface="Times New Roman" panose="02020603050405020304" pitchFamily="18" charset="0"/>
                <a:cs typeface="Times New Roman" panose="02020603050405020304" pitchFamily="18" charset="0"/>
              </a:rPr>
              <a:t> لتعزيز </a:t>
            </a:r>
            <a:r>
              <a:rPr lang="ar" sz="1400" b="1" dirty="0">
                <a:latin typeface="Times New Roman" panose="02020603050405020304" pitchFamily="18" charset="0"/>
                <a:cs typeface="Times New Roman" panose="02020603050405020304" pitchFamily="18" charset="0"/>
              </a:rPr>
              <a:t>المهارات الفنية، وتحسين الكفاءة، وتعزيز معايير السلامة.</a:t>
            </a:r>
            <a:r>
              <a:rPr lang="ar" sz="1400" dirty="0">
                <a:latin typeface="Times New Roman" panose="02020603050405020304" pitchFamily="18" charset="0"/>
                <a:cs typeface="Times New Roman" panose="02020603050405020304" pitchFamily="18" charset="0"/>
              </a:rPr>
              <a:t> وتنقسم الجوانب التي يمكن تحسينها إلى </a:t>
            </a:r>
            <a:r>
              <a:rPr lang="ar" sz="1400" b="1" dirty="0">
                <a:latin typeface="Times New Roman" panose="02020603050405020304" pitchFamily="18" charset="0"/>
                <a:cs typeface="Times New Roman" panose="02020603050405020304" pitchFamily="18" charset="0"/>
              </a:rPr>
              <a:t>ثلاث مجموعات أساسية: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مهارات الصحة والسلامة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الامتثال</a:t>
            </a:r>
            <a:r>
              <a:rPr lang="ar" sz="1400" b="1" dirty="0">
                <a:latin typeface="Times New Roman" panose="02020603050405020304" pitchFamily="18" charset="0"/>
                <a:cs typeface="Times New Roman" panose="02020603050405020304" pitchFamily="18" charset="0"/>
              </a:rPr>
              <a:t> للإجراءات الصحيحة الخاصة بالصحة والسلامة</a:t>
            </a:r>
            <a:r>
              <a:rPr lang="ar" sz="1400" dirty="0">
                <a:latin typeface="Times New Roman" panose="02020603050405020304" pitchFamily="18" charset="0"/>
                <a:cs typeface="Times New Roman" panose="02020603050405020304" pitchFamily="18" charset="0"/>
              </a:rPr>
              <a:t> يُعد عنصرًا أساسيًا لضمان بيئة عمل آمنة ومنع وقوع الحوادث.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تشمل الدروس الرئيسة ما يأتي:</a:t>
            </a:r>
          </a:p>
          <a:p>
            <a:pPr marL="0" indent="0" rtl="1">
              <a:lnSpc>
                <a:spcPct val="13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إعداد الماكينة وتشغيلها بشكل صحيح</a:t>
            </a:r>
            <a:r>
              <a:rPr lang="ar" sz="1400" dirty="0">
                <a:latin typeface="Times New Roman" panose="02020603050405020304" pitchFamily="18" charset="0"/>
                <a:cs typeface="Times New Roman" panose="02020603050405020304" pitchFamily="18" charset="0"/>
              </a:rPr>
              <a:t> – يشمل ضمان تفعيل جميع وسائل الحماية والسلامة قبل بدء المعالجة.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استخدام معدات الحماية الشخصية –</a:t>
            </a:r>
            <a:r>
              <a:rPr lang="ar" sz="1400" dirty="0">
                <a:latin typeface="Times New Roman" panose="02020603050405020304" pitchFamily="18" charset="0"/>
                <a:cs typeface="Times New Roman" panose="02020603050405020304" pitchFamily="18" charset="0"/>
              </a:rPr>
              <a:t> يشمل التأكد من ارتداء الوسائل المناسبة مثل نظارات الوقاية، وسدادات الأذن،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والقفازات الواقية.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الحفاظ على بيئة عمل نظيفة ومنظمة –</a:t>
            </a:r>
            <a:r>
              <a:rPr lang="ar" sz="1400" dirty="0">
                <a:latin typeface="Times New Roman" panose="02020603050405020304" pitchFamily="18" charset="0"/>
                <a:cs typeface="Times New Roman" panose="02020603050405020304" pitchFamily="18" charset="0"/>
              </a:rPr>
              <a:t> للحد من المخاطر الناتجة عن تراكم النفايات المعدنية أو انسكابات سوائل التبريد. </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د1  الدروس المستفادة من البرمجة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والمعالجة الآلية لمكوِّن</a:t>
            </a:r>
          </a:p>
        </p:txBody>
      </p:sp>
      <p:grpSp>
        <p:nvGrpSpPr>
          <p:cNvPr id="3" name="Group 2">
            <a:extLst>
              <a:ext uri="{FF2B5EF4-FFF2-40B4-BE49-F238E27FC236}">
                <a16:creationId xmlns:a16="http://schemas.microsoft.com/office/drawing/2014/main" id="{A0442E2A-D240-2CE2-FD4D-A6A5C716DFFA}"/>
              </a:ext>
            </a:extLst>
          </p:cNvPr>
          <p:cNvGrpSpPr/>
          <p:nvPr/>
        </p:nvGrpSpPr>
        <p:grpSpPr>
          <a:xfrm>
            <a:off x="251520" y="2852936"/>
            <a:ext cx="3995936" cy="3083451"/>
            <a:chOff x="4355976" y="2852936"/>
            <a:chExt cx="3995936" cy="3083451"/>
          </a:xfrm>
        </p:grpSpPr>
        <p:sp>
          <p:nvSpPr>
            <p:cNvPr id="6" name="TextBox 5">
              <a:extLst>
                <a:ext uri="{FF2B5EF4-FFF2-40B4-BE49-F238E27FC236}">
                  <a16:creationId xmlns:a16="http://schemas.microsoft.com/office/drawing/2014/main" id="{92043B29-C779-4552-AE22-323BD4E58BC1}"/>
                </a:ext>
              </a:extLst>
            </p:cNvPr>
            <p:cNvSpPr txBox="1"/>
            <p:nvPr/>
          </p:nvSpPr>
          <p:spPr>
            <a:xfrm>
              <a:off x="4355976" y="5659388"/>
              <a:ext cx="3995936" cy="276999"/>
            </a:xfrm>
            <a:prstGeom prst="rect">
              <a:avLst/>
            </a:prstGeom>
            <a:noFill/>
          </p:spPr>
          <p:txBody>
            <a:bodyPr wrap="square" rtlCol="1">
              <a:spAutoFit/>
            </a:bodyPr>
            <a:lstStyle/>
            <a:p>
              <a:pPr algn="ctr" rtl="1"/>
              <a:r>
                <a:rPr lang="ar" sz="1200" dirty="0">
                  <a:latin typeface="Times New Roman" panose="02020603050405020304" pitchFamily="18" charset="0"/>
                  <a:cs typeface="Times New Roman" panose="02020603050405020304" pitchFamily="18" charset="0"/>
                </a:rPr>
                <a:t>معدات الحماية الشخصية</a:t>
              </a:r>
            </a:p>
          </p:txBody>
        </p:sp>
        <p:pic>
          <p:nvPicPr>
            <p:cNvPr id="2" name="Picture 1">
              <a:extLst>
                <a:ext uri="{FF2B5EF4-FFF2-40B4-BE49-F238E27FC236}">
                  <a16:creationId xmlns:a16="http://schemas.microsoft.com/office/drawing/2014/main" id="{A4D59D97-93D1-3B2E-CD91-CF9392BC940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55976" y="2852936"/>
              <a:ext cx="3995936" cy="2663957"/>
            </a:xfrm>
            <a:prstGeom prst="rect">
              <a:avLst/>
            </a:prstGeom>
          </p:spPr>
        </p:pic>
      </p:grpSp>
      <p:sp>
        <p:nvSpPr>
          <p:cNvPr id="4" name="Footer Placeholder 2">
            <a:extLst>
              <a:ext uri="{FF2B5EF4-FFF2-40B4-BE49-F238E27FC236}">
                <a16:creationId xmlns:a16="http://schemas.microsoft.com/office/drawing/2014/main" id="{B0478DE0-79B6-01C0-E6FD-4F02B79E327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1027662134"/>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052736"/>
            <a:ext cx="914400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nSpc>
                <a:spcPct val="120000"/>
              </a:lnSpc>
              <a:buNone/>
            </a:pPr>
            <a:r>
              <a:rPr lang="ar" sz="1400" b="1" dirty="0">
                <a:latin typeface="Times New Roman" panose="02020603050405020304" pitchFamily="18" charset="0"/>
                <a:cs typeface="Times New Roman" panose="02020603050405020304" pitchFamily="18" charset="0"/>
              </a:rPr>
              <a:t>2. مهارات البرمجة والمعالجة الآلية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فهم مبادئ</a:t>
            </a:r>
            <a:r>
              <a:rPr lang="ar" sz="1400" b="1" dirty="0">
                <a:latin typeface="Times New Roman" panose="02020603050405020304" pitchFamily="18" charset="0"/>
                <a:cs typeface="Times New Roman" panose="02020603050405020304" pitchFamily="18" charset="0"/>
              </a:rPr>
              <a:t> برمجة ماكينات CNC وآلية تشغيلها</a:t>
            </a:r>
            <a:r>
              <a:rPr lang="ar" sz="1400" dirty="0">
                <a:latin typeface="Times New Roman" panose="02020603050405020304" pitchFamily="18" charset="0"/>
                <a:cs typeface="Times New Roman" panose="02020603050405020304" pitchFamily="18" charset="0"/>
              </a:rPr>
              <a:t> يُعد أمرًا ضروريًا لتحسين </a:t>
            </a:r>
            <a:r>
              <a:rPr lang="ar" sz="1400" b="1" dirty="0">
                <a:latin typeface="Times New Roman" panose="02020603050405020304" pitchFamily="18" charset="0"/>
                <a:cs typeface="Times New Roman" panose="02020603050405020304" pitchFamily="18" charset="0"/>
              </a:rPr>
              <a:t>الدقة ورفع مستوي الكفاءة وتعزيز الموثوقية في عمليات المعالجة.</a:t>
            </a:r>
            <a:r>
              <a:rPr lang="ar" sz="1400" dirty="0">
                <a:latin typeface="Times New Roman" panose="02020603050405020304" pitchFamily="18" charset="0"/>
                <a:cs typeface="Times New Roman" panose="02020603050405020304" pitchFamily="18" charset="0"/>
              </a:rPr>
              <a:t>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تشمل الدروس الرئيسة ما يأتي: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فعالية تقنيات البرمجة –</a:t>
            </a:r>
            <a:r>
              <a:rPr lang="ar" sz="1400" b="1" dirty="0">
                <a:latin typeface="Times New Roman" panose="02020603050405020304" pitchFamily="18" charset="0"/>
                <a:cs typeface="Times New Roman" panose="02020603050405020304" pitchFamily="18" charset="0"/>
              </a:rPr>
              <a:t> مراجعة استخدام تراكيب فعّالة من أكواد G وM لتحسين زمن دورة التشغيل.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كفاءة إعداد وتشغيل ماكينات CNC –</a:t>
            </a:r>
            <a:r>
              <a:rPr lang="ar" sz="1400" b="1" dirty="0">
                <a:latin typeface="Times New Roman" panose="02020603050405020304" pitchFamily="18" charset="0"/>
                <a:cs typeface="Times New Roman" panose="02020603050405020304" pitchFamily="18" charset="0"/>
              </a:rPr>
              <a:t> ضمان </a:t>
            </a:r>
            <a:r>
              <a:rPr lang="ar" sz="1400" dirty="0">
                <a:latin typeface="Times New Roman" panose="02020603050405020304" pitchFamily="18" charset="0"/>
                <a:cs typeface="Times New Roman" panose="02020603050405020304" pitchFamily="18" charset="0"/>
              </a:rPr>
              <a:t>تحسين آلية تغيير الأدوات، وتحديد النقاط المرجعية، ومعلمات المعالجة الآلية</a:t>
            </a:r>
            <a:r>
              <a:rPr lang="ar" sz="1400" b="1" dirty="0">
                <a:latin typeface="Times New Roman" panose="02020603050405020304" pitchFamily="18" charset="0"/>
                <a:cs typeface="Times New Roman" panose="02020603050405020304" pitchFamily="18" charset="0"/>
              </a:rPr>
              <a:t> لتحقيق أداء أعلى.</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اعتبارات الاستدامة –</a:t>
            </a:r>
            <a:r>
              <a:rPr lang="ar" sz="1400" b="1" dirty="0">
                <a:latin typeface="Times New Roman" panose="02020603050405020304" pitchFamily="18" charset="0"/>
                <a:cs typeface="Times New Roman" panose="02020603050405020304" pitchFamily="18" charset="0"/>
              </a:rPr>
              <a:t> تقليل </a:t>
            </a:r>
            <a:r>
              <a:rPr lang="ar" sz="1400" dirty="0">
                <a:latin typeface="Times New Roman" panose="02020603050405020304" pitchFamily="18" charset="0"/>
                <a:cs typeface="Times New Roman" panose="02020603050405020304" pitchFamily="18" charset="0"/>
              </a:rPr>
              <a:t>هدر المواد وخفض استهلاك الطاقة</a:t>
            </a:r>
            <a:r>
              <a:rPr lang="ar" sz="1400" b="1" dirty="0">
                <a:latin typeface="Times New Roman" panose="02020603050405020304" pitchFamily="18" charset="0"/>
                <a:cs typeface="Times New Roman" panose="02020603050405020304" pitchFamily="18" charset="0"/>
              </a:rPr>
              <a:t> باستخدام </a:t>
            </a:r>
            <a:r>
              <a:rPr lang="ar" sz="1400" dirty="0">
                <a:latin typeface="Times New Roman" panose="02020603050405020304" pitchFamily="18" charset="0"/>
                <a:cs typeface="Times New Roman" panose="02020603050405020304" pitchFamily="18" charset="0"/>
              </a:rPr>
              <a:t>مسارات قطع محسّنة، وضبط معايير القطع بدقة، وتطبيق ممارسات إعادة التدوير.</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طرق ضبط الجودة –</a:t>
            </a:r>
            <a:r>
              <a:rPr lang="ar" sz="1400" b="1" dirty="0">
                <a:latin typeface="Times New Roman" panose="02020603050405020304" pitchFamily="18" charset="0"/>
                <a:cs typeface="Times New Roman" panose="02020603050405020304" pitchFamily="18" charset="0"/>
              </a:rPr>
              <a:t> التحقق من دقة الأبعاد، والتفاوتات، وجودة السطح وفقًا</a:t>
            </a:r>
            <a:r>
              <a:rPr lang="ar" sz="1400" dirty="0">
                <a:latin typeface="Times New Roman" panose="02020603050405020304" pitchFamily="18" charset="0"/>
                <a:cs typeface="Times New Roman" panose="02020603050405020304" pitchFamily="18" charset="0"/>
              </a:rPr>
              <a:t> للمعايير الصناعية</a:t>
            </a:r>
            <a:r>
              <a:rPr lang="ar" sz="1400" b="1" dirty="0">
                <a:latin typeface="Times New Roman" panose="02020603050405020304" pitchFamily="18" charset="0"/>
                <a:cs typeface="Times New Roman" panose="02020603050405020304" pitchFamily="18" charset="0"/>
              </a:rPr>
              <a:t> مثل </a:t>
            </a:r>
            <a:r>
              <a:rPr lang="en-US" sz="1400" b="1"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BS 4500</a:t>
            </a:r>
            <a:r>
              <a:rPr lang="ar" sz="1400" dirty="0">
                <a:latin typeface="Times New Roman" panose="02020603050405020304" pitchFamily="18" charset="0"/>
                <a:cs typeface="Times New Roman" panose="02020603050405020304" pitchFamily="18" charset="0"/>
              </a:rPr>
              <a:t>وتفاوت H8.</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3. المهارات الهندسية العامة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تعتمد عمليات المعالجة الآلية باستخدام ماكينات CNC على </a:t>
            </a:r>
            <a:r>
              <a:rPr lang="ar" sz="1400" b="1" dirty="0">
                <a:latin typeface="Times New Roman" panose="02020603050405020304" pitchFamily="18" charset="0"/>
                <a:cs typeface="Times New Roman" panose="02020603050405020304" pitchFamily="18" charset="0"/>
              </a:rPr>
              <a:t>مبادئ هندسية أساسية</a:t>
            </a:r>
            <a:r>
              <a:rPr lang="ar" sz="1400" dirty="0">
                <a:latin typeface="Times New Roman" panose="02020603050405020304" pitchFamily="18" charset="0"/>
                <a:cs typeface="Times New Roman" panose="02020603050405020304" pitchFamily="18" charset="0"/>
              </a:rPr>
              <a:t>، تشمل ما يأتي:</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الرياضيات </a:t>
            </a:r>
            <a:r>
              <a:rPr lang="ar" sz="1400" b="1" dirty="0">
                <a:latin typeface="Times New Roman" panose="02020603050405020304" pitchFamily="18" charset="0"/>
                <a:cs typeface="Times New Roman" panose="02020603050405020304" pitchFamily="18" charset="0"/>
              </a:rPr>
              <a:t>– استخدام </a:t>
            </a:r>
            <a:r>
              <a:rPr lang="ar" sz="1400" dirty="0">
                <a:latin typeface="Times New Roman" panose="02020603050405020304" pitchFamily="18" charset="0"/>
                <a:cs typeface="Times New Roman" panose="02020603050405020304" pitchFamily="18" charset="0"/>
              </a:rPr>
              <a:t>الدوال المثلثية، والجبر، وهندسة الإحداثيات</a:t>
            </a:r>
            <a:r>
              <a:rPr lang="ar" sz="1400" b="1" dirty="0">
                <a:latin typeface="Times New Roman" panose="02020603050405020304" pitchFamily="18" charset="0"/>
                <a:cs typeface="Times New Roman" panose="02020603050405020304" pitchFamily="18" charset="0"/>
              </a:rPr>
              <a:t> لضمان دقة البرمجة.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فهم المخططات الفنية –</a:t>
            </a:r>
            <a:r>
              <a:rPr lang="ar" sz="1400" b="1" dirty="0">
                <a:latin typeface="Times New Roman" panose="02020603050405020304" pitchFamily="18" charset="0"/>
                <a:cs typeface="Times New Roman" panose="02020603050405020304" pitchFamily="18" charset="0"/>
              </a:rPr>
              <a:t> ضمان </a:t>
            </a:r>
            <a:r>
              <a:rPr lang="ar" sz="1400" dirty="0">
                <a:latin typeface="Times New Roman" panose="02020603050405020304" pitchFamily="18" charset="0"/>
                <a:cs typeface="Times New Roman" panose="02020603050405020304" pitchFamily="18" charset="0"/>
              </a:rPr>
              <a:t>التفسير الصحيح لمواصفات المكون، والتفاوتات المسموح بها، وتسلسل عمليات المعالجة.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ومن خلال مراجعة هذه العناصر الأساسية، يستطيع مشغلو ماكينات CNC </a:t>
            </a:r>
            <a:r>
              <a:rPr lang="ar" sz="1400" b="1" dirty="0">
                <a:latin typeface="Times New Roman" panose="02020603050405020304" pitchFamily="18" charset="0"/>
                <a:cs typeface="Times New Roman" panose="02020603050405020304" pitchFamily="18" charset="0"/>
              </a:rPr>
              <a:t>تعزيز مهارات المعالجة لديهم</a:t>
            </a:r>
            <a:r>
              <a:rPr lang="ar" sz="1400" dirty="0">
                <a:latin typeface="Times New Roman" panose="02020603050405020304" pitchFamily="18" charset="0"/>
                <a:cs typeface="Times New Roman" panose="02020603050405020304" pitchFamily="18" charset="0"/>
              </a:rPr>
              <a:t>، ورفع </a:t>
            </a:r>
            <a:r>
              <a:rPr lang="ar" sz="1400" b="1" dirty="0">
                <a:latin typeface="Times New Roman" panose="02020603050405020304" pitchFamily="18" charset="0"/>
                <a:cs typeface="Times New Roman" panose="02020603050405020304" pitchFamily="18" charset="0"/>
              </a:rPr>
              <a:t>كفاءة الأداء،</a:t>
            </a:r>
            <a:r>
              <a:rPr lang="ar" sz="1400" dirty="0">
                <a:latin typeface="Times New Roman" panose="02020603050405020304" pitchFamily="18" charset="0"/>
                <a:cs typeface="Times New Roman" panose="02020603050405020304" pitchFamily="18" charset="0"/>
              </a:rPr>
              <a:t>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والحد من </a:t>
            </a:r>
            <a:r>
              <a:rPr lang="ar" sz="1400" b="1" dirty="0">
                <a:latin typeface="Times New Roman" panose="02020603050405020304" pitchFamily="18" charset="0"/>
                <a:cs typeface="Times New Roman" panose="02020603050405020304" pitchFamily="18" charset="0"/>
              </a:rPr>
              <a:t>الأخطاء في المشاريع المستقبلية.</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د1  الدروس المستفادة من البرمجة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والمعالجة الآلية لمكوِّن</a:t>
            </a:r>
          </a:p>
        </p:txBody>
      </p:sp>
      <p:sp>
        <p:nvSpPr>
          <p:cNvPr id="2" name="Footer Placeholder 2">
            <a:extLst>
              <a:ext uri="{FF2B5EF4-FFF2-40B4-BE49-F238E27FC236}">
                <a16:creationId xmlns:a16="http://schemas.microsoft.com/office/drawing/2014/main" id="{B849DDD9-284D-41AC-8176-5B4E8797C22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499075679"/>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844824"/>
            <a:ext cx="9143999" cy="41764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dirty="0">
                <a:latin typeface="Times New Roman" panose="02020603050405020304" pitchFamily="18" charset="0"/>
                <a:cs typeface="Times New Roman" panose="02020603050405020304" pitchFamily="18" charset="0"/>
              </a:rPr>
              <a:t>للتميز في مجال المعالجة الآلية باستخدام ماكينات CNC، ينبغي على المشغّلين </a:t>
            </a:r>
            <a:r>
              <a:rPr lang="ar" sz="1400" b="1" dirty="0">
                <a:latin typeface="Times New Roman" panose="02020603050405020304" pitchFamily="18" charset="0"/>
                <a:cs typeface="Times New Roman" panose="02020603050405020304" pitchFamily="18" charset="0"/>
              </a:rPr>
              <a:t>اكتساب سلوكيات مهنية محورية</a:t>
            </a:r>
            <a:r>
              <a:rPr lang="ar" sz="1400" dirty="0">
                <a:latin typeface="Times New Roman" panose="02020603050405020304" pitchFamily="18" charset="0"/>
                <a:cs typeface="Times New Roman" panose="02020603050405020304" pitchFamily="18" charset="0"/>
              </a:rPr>
              <a:t> تدعم ك</a:t>
            </a:r>
            <a:r>
              <a:rPr lang="ar" sz="1400" b="1" dirty="0">
                <a:latin typeface="Times New Roman" panose="02020603050405020304" pitchFamily="18" charset="0"/>
                <a:cs typeface="Times New Roman" panose="02020603050405020304" pitchFamily="18" charset="0"/>
              </a:rPr>
              <a:t>فاءة الأداء، وتُعزز فعالية التواصل، </a:t>
            </a:r>
            <a:br>
              <a:rPr lang="en-US" sz="1400" b="1"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وتُنمّي القدرة على معالجة المشكلات بفعالية.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1. أخذ المبادرة وتحمل المسؤولية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ينبغي على المشغّلين </a:t>
            </a:r>
            <a:r>
              <a:rPr lang="ar" sz="1400" b="1" dirty="0">
                <a:latin typeface="Times New Roman" panose="02020603050405020304" pitchFamily="18" charset="0"/>
                <a:cs typeface="Times New Roman" panose="02020603050405020304" pitchFamily="18" charset="0"/>
              </a:rPr>
              <a:t>تحمّل المسؤولية الكاملة</a:t>
            </a:r>
            <a:r>
              <a:rPr lang="ar" sz="1400" dirty="0">
                <a:latin typeface="Times New Roman" panose="02020603050405020304" pitchFamily="18" charset="0"/>
                <a:cs typeface="Times New Roman" panose="02020603050405020304" pitchFamily="18" charset="0"/>
              </a:rPr>
              <a:t> عن أعمالهم وذلك من خلال </a:t>
            </a:r>
            <a:r>
              <a:rPr lang="ar" sz="1400" b="1" dirty="0">
                <a:latin typeface="Times New Roman" panose="02020603050405020304" pitchFamily="18" charset="0"/>
                <a:cs typeface="Times New Roman" panose="02020603050405020304" pitchFamily="18" charset="0"/>
              </a:rPr>
              <a:t>المتابعة المستمرة لأداء </a:t>
            </a:r>
            <a:r>
              <a:rPr lang="ar" sz="1400" dirty="0">
                <a:latin typeface="Times New Roman" panose="02020603050405020304" pitchFamily="18" charset="0"/>
                <a:cs typeface="Times New Roman" panose="02020603050405020304" pitchFamily="18" charset="0"/>
              </a:rPr>
              <a:t>الماكينة وإجراء التعديلات عند الحاجة.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يُعد </a:t>
            </a:r>
            <a:r>
              <a:rPr lang="ar" sz="1400" b="1" dirty="0">
                <a:latin typeface="Times New Roman" panose="02020603050405020304" pitchFamily="18" charset="0"/>
                <a:cs typeface="Times New Roman" panose="02020603050405020304" pitchFamily="18" charset="0"/>
              </a:rPr>
              <a:t>حل المشكلات بشكل استباقي</a:t>
            </a:r>
            <a:r>
              <a:rPr lang="ar" sz="1400" dirty="0">
                <a:latin typeface="Times New Roman" panose="02020603050405020304" pitchFamily="18" charset="0"/>
                <a:cs typeface="Times New Roman" panose="02020603050405020304" pitchFamily="18" charset="0"/>
              </a:rPr>
              <a:t> أمرًا أساسيًا، خصوصًا عند تنفيذ مهام معالجة دقيقة ومعقدة </a:t>
            </a:r>
            <a:r>
              <a:rPr lang="ar" sz="1400" b="1" dirty="0">
                <a:latin typeface="Times New Roman" panose="02020603050405020304" pitchFamily="18" charset="0"/>
                <a:cs typeface="Times New Roman" panose="02020603050405020304" pitchFamily="18" charset="0"/>
              </a:rPr>
              <a:t>دون إشراف مباشر.</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تحمل مسؤولية ضبط </a:t>
            </a:r>
            <a:r>
              <a:rPr lang="ar" sz="1400" b="1" dirty="0">
                <a:latin typeface="Times New Roman" panose="02020603050405020304" pitchFamily="18" charset="0"/>
                <a:cs typeface="Times New Roman" panose="02020603050405020304" pitchFamily="18" charset="0"/>
              </a:rPr>
              <a:t>معايرة الماكينة وإعداد الأدوات بالشكل الصحيح</a:t>
            </a:r>
            <a:r>
              <a:rPr lang="ar" sz="1400" dirty="0">
                <a:latin typeface="Times New Roman" panose="02020603050405020304" pitchFamily="18" charset="0"/>
                <a:cs typeface="Times New Roman" panose="02020603050405020304" pitchFamily="18" charset="0"/>
              </a:rPr>
              <a:t> يُسهم في تقليل معدلات الخطأ ورفع كفاءة الإنتاج.</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2. مهارات الاتصال والتثقيف</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يُعد </a:t>
            </a:r>
            <a:r>
              <a:rPr lang="ar" sz="1400" b="1" dirty="0">
                <a:latin typeface="Times New Roman" panose="02020603050405020304" pitchFamily="18" charset="0"/>
                <a:cs typeface="Times New Roman" panose="02020603050405020304" pitchFamily="18" charset="0"/>
              </a:rPr>
              <a:t>التواصل</a:t>
            </a:r>
            <a:r>
              <a:rPr lang="ar" sz="1400" dirty="0">
                <a:latin typeface="Times New Roman" panose="02020603050405020304" pitchFamily="18" charset="0"/>
                <a:cs typeface="Times New Roman" panose="02020603050405020304" pitchFamily="18" charset="0"/>
              </a:rPr>
              <a:t> الفعال ضروريًا للحفاظ على</a:t>
            </a:r>
            <a:r>
              <a:rPr lang="ar" sz="1400" b="1" dirty="0">
                <a:latin typeface="Times New Roman" panose="02020603050405020304" pitchFamily="18" charset="0"/>
                <a:cs typeface="Times New Roman" panose="02020603050405020304" pitchFamily="18" charset="0"/>
              </a:rPr>
              <a:t> الصحة والسلامة في مكان العمل.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ينبغي على المشغّلين:</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اتباع التعليمات وتنفيذها</a:t>
            </a:r>
            <a:r>
              <a:rPr lang="ar" sz="1400" dirty="0">
                <a:latin typeface="Times New Roman" panose="02020603050405020304" pitchFamily="18" charset="0"/>
                <a:cs typeface="Times New Roman" panose="02020603050405020304" pitchFamily="18" charset="0"/>
              </a:rPr>
              <a:t> بدقة لتجنّب الأخطاء المحتملة في البرمجة أو المعالجة.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التواصل الفعّال مع أعضاء فريق العمل</a:t>
            </a:r>
            <a:r>
              <a:rPr lang="ar" sz="1400" dirty="0">
                <a:latin typeface="Times New Roman" panose="02020603050405020304" pitchFamily="18" charset="0"/>
                <a:cs typeface="Times New Roman" panose="02020603050405020304" pitchFamily="18" charset="0"/>
              </a:rPr>
              <a:t> بشأن حالة الماكينة، أو التحديثات في البرامج، أو أية مشكلات تتعلق بالجودة. </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توثيق العمليات بشكل منهجي</a:t>
            </a:r>
            <a:r>
              <a:rPr lang="ar" sz="1400" dirty="0">
                <a:latin typeface="Times New Roman" panose="02020603050405020304" pitchFamily="18" charset="0"/>
                <a:cs typeface="Times New Roman" panose="02020603050405020304" pitchFamily="18" charset="0"/>
              </a:rPr>
              <a:t>، بما في ذلك إجراءات إعداد ماكينة CNC وأي تعديلات تمت على برنامجها.</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د2:  الأداء الشخصي في أثناء إجراء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المعالجة الآلية لمكوِّن</a:t>
            </a:r>
          </a:p>
        </p:txBody>
      </p:sp>
      <p:sp>
        <p:nvSpPr>
          <p:cNvPr id="2" name="Footer Placeholder 2">
            <a:extLst>
              <a:ext uri="{FF2B5EF4-FFF2-40B4-BE49-F238E27FC236}">
                <a16:creationId xmlns:a16="http://schemas.microsoft.com/office/drawing/2014/main" id="{021EF7A6-B584-5B8E-7035-1DA8933CDCD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871269373"/>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052736"/>
            <a:ext cx="9144000"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latin typeface="Times New Roman" panose="02020603050405020304" pitchFamily="18" charset="0"/>
                <a:cs typeface="Times New Roman" panose="02020603050405020304" pitchFamily="18" charset="0"/>
              </a:rPr>
              <a:t>3. مهارات حل المشكلات</a:t>
            </a:r>
          </a:p>
          <a:p>
            <a:pPr marL="0" indent="0" rtl="1">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خلال عمليات المعالجة الآلية باستخدام ماكينات CNC، قد تظهر </a:t>
            </a:r>
            <a:r>
              <a:rPr lang="ar" sz="1400" b="1" dirty="0">
                <a:latin typeface="Times New Roman" panose="02020603050405020304" pitchFamily="18" charset="0"/>
                <a:cs typeface="Times New Roman" panose="02020603050405020304" pitchFamily="18" charset="0"/>
              </a:rPr>
              <a:t>مشكلات مفاجئة وغير متوقعة</a:t>
            </a:r>
            <a:r>
              <a:rPr lang="ar" sz="1400" dirty="0">
                <a:latin typeface="Times New Roman" panose="02020603050405020304" pitchFamily="18" charset="0"/>
                <a:cs typeface="Times New Roman" panose="02020603050405020304" pitchFamily="18" charset="0"/>
              </a:rPr>
              <a:t> تتطلب استجابة سريعة </a:t>
            </a:r>
            <a:r>
              <a:rPr lang="ar" sz="1400" b="1" dirty="0">
                <a:latin typeface="Times New Roman" panose="02020603050405020304" pitchFamily="18" charset="0"/>
                <a:cs typeface="Times New Roman" panose="02020603050405020304" pitchFamily="18" charset="0"/>
              </a:rPr>
              <a:t>وحلًّا منطقيًا للمشكلة.</a:t>
            </a:r>
            <a:r>
              <a:rPr lang="ar" sz="1400" dirty="0">
                <a:latin typeface="Times New Roman" panose="02020603050405020304" pitchFamily="18" charset="0"/>
                <a:cs typeface="Times New Roman" panose="02020603050405020304" pitchFamily="18" charset="0"/>
              </a:rPr>
              <a:t>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لذا، يُتوقع من المشغّلين أن يطوّروا مهارات تمكّنهم من الآتي:</a:t>
            </a:r>
          </a:p>
          <a:p>
            <a:pPr marL="0" indent="0" rtl="1">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تعديل الأكواد أو إعادة برمجة العمليات</a:t>
            </a:r>
            <a:r>
              <a:rPr lang="ar" sz="1400" dirty="0">
                <a:latin typeface="Times New Roman" panose="02020603050405020304" pitchFamily="18" charset="0"/>
                <a:cs typeface="Times New Roman" panose="02020603050405020304" pitchFamily="18" charset="0"/>
              </a:rPr>
              <a:t> بما يتوافق مع عدم حالة توافر أدوات التشكيل أو الأخطاء غير المتوقعة.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a:t>
            </a:r>
            <a:r>
              <a:rPr lang="ar" sz="1400" b="1" dirty="0">
                <a:latin typeface="Times New Roman" panose="02020603050405020304" pitchFamily="18" charset="0"/>
                <a:cs typeface="Times New Roman" panose="02020603050405020304" pitchFamily="18" charset="0"/>
              </a:rPr>
              <a:t>تعويض تآكل الأدوات أو تلفها</a:t>
            </a:r>
            <a:r>
              <a:rPr lang="ar" sz="1400" dirty="0">
                <a:latin typeface="Times New Roman" panose="02020603050405020304" pitchFamily="18" charset="0"/>
                <a:cs typeface="Times New Roman" panose="02020603050405020304" pitchFamily="18" charset="0"/>
              </a:rPr>
              <a:t> من خلال ضبط قيم الإزاحات أو استخدام أدوات بديلة.</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اتخاذ </a:t>
            </a:r>
            <a:r>
              <a:rPr lang="ar" sz="1400" b="1" dirty="0">
                <a:latin typeface="Times New Roman" panose="02020603050405020304" pitchFamily="18" charset="0"/>
                <a:cs typeface="Times New Roman" panose="02020603050405020304" pitchFamily="18" charset="0"/>
              </a:rPr>
              <a:t>الإجراءات التصحيحية المناسبة </a:t>
            </a:r>
            <a:r>
              <a:rPr lang="ar" sz="1400" dirty="0">
                <a:latin typeface="Times New Roman" panose="02020603050405020304" pitchFamily="18" charset="0"/>
                <a:cs typeface="Times New Roman" panose="02020603050405020304" pitchFamily="18" charset="0"/>
              </a:rPr>
              <a:t>في حال ظهور عيوب في عمليات المعالجة، </a:t>
            </a:r>
            <a:r>
              <a:rPr lang="ar" sz="1400" b="1" dirty="0">
                <a:latin typeface="Times New Roman" panose="02020603050405020304" pitchFamily="18" charset="0"/>
                <a:cs typeface="Times New Roman" panose="02020603050405020304" pitchFamily="18" charset="0"/>
              </a:rPr>
              <a:t>كضبط معلمات القطع أو تعديل مسارات الأداة.</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إن </a:t>
            </a:r>
            <a:r>
              <a:rPr lang="ar" sz="1400" b="1" dirty="0">
                <a:latin typeface="Times New Roman" panose="02020603050405020304" pitchFamily="18" charset="0"/>
                <a:cs typeface="Times New Roman" panose="02020603050405020304" pitchFamily="18" charset="0"/>
              </a:rPr>
              <a:t>تنمية سلوكيات الأداء المهني</a:t>
            </a:r>
            <a:r>
              <a:rPr lang="ar" sz="1400" dirty="0">
                <a:latin typeface="Times New Roman" panose="02020603050405020304" pitchFamily="18" charset="0"/>
                <a:cs typeface="Times New Roman" panose="02020603050405020304" pitchFamily="18" charset="0"/>
              </a:rPr>
              <a:t> لدى المتدربين تُمكّنهم من أن يصبحوا </a:t>
            </a:r>
            <a:r>
              <a:rPr lang="ar" sz="1400" b="1" dirty="0">
                <a:latin typeface="Times New Roman" panose="02020603050405020304" pitchFamily="18" charset="0"/>
                <a:cs typeface="Times New Roman" panose="02020603050405020304" pitchFamily="18" charset="0"/>
              </a:rPr>
              <a:t>مشغّلين أكثر كفاءة وقدرة على التكيّف وتمكنًا في تشغيل ماكينات CNC،</a:t>
            </a:r>
            <a:r>
              <a:rPr lang="ar" sz="1400" dirty="0">
                <a:latin typeface="Times New Roman" panose="02020603050405020304" pitchFamily="18" charset="0"/>
                <a:cs typeface="Times New Roman" panose="02020603050405020304" pitchFamily="18" charset="0"/>
              </a:rPr>
              <a:t> ما يُحسن، </a:t>
            </a:r>
            <a:br>
              <a:rPr lang="en-US"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في نهاية الأمر، </a:t>
            </a:r>
            <a:r>
              <a:rPr lang="ar" sz="1400" b="1" dirty="0">
                <a:latin typeface="Times New Roman" panose="02020603050405020304" pitchFamily="18" charset="0"/>
                <a:cs typeface="Times New Roman" panose="02020603050405020304" pitchFamily="18" charset="0"/>
              </a:rPr>
              <a:t>من مستوى الدقة، وزيادة الإنتاجية، ويعزز السلامة داخل بيئة العمل.</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نتاج التعلم د2:  الأداء الشخصي في أثناء إجراء </a:t>
            </a:r>
            <a:br>
              <a:rPr lang="en-US" sz="2000" b="1" dirty="0">
                <a:latin typeface="Times New Roman" panose="02020603050405020304" pitchFamily="18" charset="0"/>
                <a:cs typeface="Times New Roman" panose="02020603050405020304" pitchFamily="18" charset="0"/>
              </a:rPr>
            </a:br>
            <a:r>
              <a:rPr lang="ar" sz="2000" b="1" dirty="0">
                <a:latin typeface="Times New Roman" panose="02020603050405020304" pitchFamily="18" charset="0"/>
                <a:cs typeface="Times New Roman" panose="02020603050405020304" pitchFamily="18" charset="0"/>
              </a:rPr>
              <a:t>المعالجة الآلية لمكوِّن</a:t>
            </a:r>
          </a:p>
        </p:txBody>
      </p:sp>
      <p:sp>
        <p:nvSpPr>
          <p:cNvPr id="6" name="TextBox 5">
            <a:extLst>
              <a:ext uri="{FF2B5EF4-FFF2-40B4-BE49-F238E27FC236}">
                <a16:creationId xmlns:a16="http://schemas.microsoft.com/office/drawing/2014/main" id="{8B7D9759-429D-45D6-B472-8BF7544D471C}"/>
              </a:ext>
            </a:extLst>
          </p:cNvPr>
          <p:cNvSpPr txBox="1"/>
          <p:nvPr/>
        </p:nvSpPr>
        <p:spPr>
          <a:xfrm>
            <a:off x="2627784" y="6597352"/>
            <a:ext cx="4032448" cy="276999"/>
          </a:xfrm>
          <a:prstGeom prst="rect">
            <a:avLst/>
          </a:prstGeom>
          <a:noFill/>
        </p:spPr>
        <p:txBody>
          <a:bodyPr wrap="square" rtlCol="1">
            <a:spAutoFit/>
          </a:bodyPr>
          <a:lstStyle/>
          <a:p>
            <a:pPr marL="0" indent="0" algn="ctr" rtl="1">
              <a:buNone/>
            </a:pPr>
            <a:r>
              <a:rPr lang="ar" sz="1200">
                <a:latin typeface="Times New Roman" panose="02020603050405020304" pitchFamily="18" charset="0"/>
                <a:cs typeface="Times New Roman" panose="02020603050405020304" pitchFamily="18" charset="0"/>
              </a:rPr>
              <a:t>مهارات حل المشكلات</a:t>
            </a:r>
          </a:p>
        </p:txBody>
      </p:sp>
      <p:pic>
        <p:nvPicPr>
          <p:cNvPr id="2" name="Picture 1">
            <a:extLst>
              <a:ext uri="{FF2B5EF4-FFF2-40B4-BE49-F238E27FC236}">
                <a16:creationId xmlns:a16="http://schemas.microsoft.com/office/drawing/2014/main" id="{4061A9BE-CA16-4846-4FA6-E690FADB677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27784" y="3855595"/>
            <a:ext cx="4032448" cy="2688039"/>
          </a:xfrm>
          <a:prstGeom prst="rect">
            <a:avLst/>
          </a:prstGeom>
        </p:spPr>
      </p:pic>
      <p:sp>
        <p:nvSpPr>
          <p:cNvPr id="3" name="Footer Placeholder 2">
            <a:extLst>
              <a:ext uri="{FF2B5EF4-FFF2-40B4-BE49-F238E27FC236}">
                <a16:creationId xmlns:a16="http://schemas.microsoft.com/office/drawing/2014/main" id="{9950320F-BCF0-53AE-9DF4-85AA04ED950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284793606"/>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268760"/>
            <a:ext cx="8712968"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400" b="1" dirty="0">
                <a:latin typeface="Times New Roman" panose="02020603050405020304" pitchFamily="18" charset="0"/>
                <a:cs typeface="Times New Roman" panose="02020603050405020304" pitchFamily="18" charset="0"/>
              </a:rPr>
              <a:t>د1: الدروس المستفادة من المعالجة الآلية باستخدام ماكينات CNC</a:t>
            </a:r>
          </a:p>
          <a:p>
            <a:pPr marL="0" indent="0" rtl="1">
              <a:lnSpc>
                <a:spcPct val="12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التأكد من تطبيق </a:t>
            </a:r>
            <a:r>
              <a:rPr lang="ar" sz="1400" b="1" dirty="0">
                <a:latin typeface="Times New Roman" panose="02020603050405020304" pitchFamily="18" charset="0"/>
                <a:cs typeface="Times New Roman" panose="02020603050405020304" pitchFamily="18" charset="0"/>
              </a:rPr>
              <a:t>بروتوكولات الصحة والسلامة</a:t>
            </a:r>
            <a:r>
              <a:rPr lang="ar" sz="1400" dirty="0">
                <a:latin typeface="Times New Roman" panose="02020603050405020304" pitchFamily="18" charset="0"/>
                <a:cs typeface="Times New Roman" panose="02020603050405020304" pitchFamily="18" charset="0"/>
              </a:rPr>
              <a:t> يُسهم في خلق </a:t>
            </a:r>
            <a:r>
              <a:rPr lang="ar" sz="1400" b="1" dirty="0">
                <a:latin typeface="Times New Roman" panose="02020603050405020304" pitchFamily="18" charset="0"/>
                <a:cs typeface="Times New Roman" panose="02020603050405020304" pitchFamily="18" charset="0"/>
              </a:rPr>
              <a:t>بيئة عمل آمنة وخالية من المخاطر.</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تقييم </a:t>
            </a:r>
            <a:r>
              <a:rPr lang="ar" sz="1400" b="1" dirty="0">
                <a:latin typeface="Times New Roman" panose="02020603050405020304" pitchFamily="18" charset="0"/>
                <a:cs typeface="Times New Roman" panose="02020603050405020304" pitchFamily="18" charset="0"/>
              </a:rPr>
              <a:t>كفاءة البرمجة، وأداء الماكينة، وممارسات الاستدامة</a:t>
            </a:r>
            <a:r>
              <a:rPr lang="ar" sz="1400" dirty="0">
                <a:latin typeface="Times New Roman" panose="02020603050405020304" pitchFamily="18" charset="0"/>
                <a:cs typeface="Times New Roman" panose="02020603050405020304" pitchFamily="18" charset="0"/>
              </a:rPr>
              <a:t> يُعزز </a:t>
            </a:r>
            <a:r>
              <a:rPr lang="ar" sz="1400" b="1" dirty="0">
                <a:latin typeface="Times New Roman" panose="02020603050405020304" pitchFamily="18" charset="0"/>
                <a:cs typeface="Times New Roman" panose="02020603050405020304" pitchFamily="18" charset="0"/>
              </a:rPr>
              <a:t>كفاءة العمليات ويُقلّل من الهدر في الموارد.</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استخدام</a:t>
            </a:r>
            <a:r>
              <a:rPr lang="ar" sz="1400" b="1" dirty="0">
                <a:latin typeface="Times New Roman" panose="02020603050405020304" pitchFamily="18" charset="0"/>
                <a:cs typeface="Times New Roman" panose="02020603050405020304" pitchFamily="18" charset="0"/>
              </a:rPr>
              <a:t> المهارات الرياضية وفهم الرسومات الفنية بدقة </a:t>
            </a:r>
            <a:r>
              <a:rPr lang="ar" sz="1400" dirty="0">
                <a:latin typeface="Times New Roman" panose="02020603050405020304" pitchFamily="18" charset="0"/>
                <a:cs typeface="Times New Roman" panose="02020603050405020304" pitchFamily="18" charset="0"/>
              </a:rPr>
              <a:t>يُحسن </a:t>
            </a:r>
            <a:r>
              <a:rPr lang="ar" sz="1400" b="1" dirty="0">
                <a:latin typeface="Times New Roman" panose="02020603050405020304" pitchFamily="18" charset="0"/>
                <a:cs typeface="Times New Roman" panose="02020603050405020304" pitchFamily="18" charset="0"/>
              </a:rPr>
              <a:t>مستوى الدقة في عمليات المعالجة الآلية باستخدام ماكينات CNC.</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د2: تقييم الأداء الشخصي</a:t>
            </a:r>
          </a:p>
          <a:p>
            <a:pPr marL="0" indent="0" rtl="1">
              <a:lnSpc>
                <a:spcPct val="120000"/>
              </a:lnSpc>
              <a:buNone/>
            </a:pP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a:t>
            </a:r>
            <a:r>
              <a:rPr lang="ar" sz="1400" b="1" dirty="0">
                <a:latin typeface="Times New Roman" panose="02020603050405020304" pitchFamily="18" charset="0"/>
                <a:cs typeface="Times New Roman" panose="02020603050405020304" pitchFamily="18" charset="0"/>
              </a:rPr>
              <a:t> يُعزز التحلّي بالمبادرة وتحمل المسؤولية </a:t>
            </a:r>
            <a:r>
              <a:rPr lang="ar" sz="1400" dirty="0">
                <a:latin typeface="Times New Roman" panose="02020603050405020304" pitchFamily="18" charset="0"/>
                <a:cs typeface="Times New Roman" panose="02020603050405020304" pitchFamily="18" charset="0"/>
              </a:rPr>
              <a:t>في ضبط إعدادات الماكينة من القدرة على </a:t>
            </a:r>
            <a:r>
              <a:rPr lang="ar" sz="1400" b="1" dirty="0">
                <a:latin typeface="Times New Roman" panose="02020603050405020304" pitchFamily="18" charset="0"/>
                <a:cs typeface="Times New Roman" panose="02020603050405020304" pitchFamily="18" charset="0"/>
              </a:rPr>
              <a:t>العمل بشكل مستقل.</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تُسهم مهارات التواصل في </a:t>
            </a:r>
            <a:r>
              <a:rPr lang="ar" sz="1400" b="1" dirty="0">
                <a:latin typeface="Times New Roman" panose="02020603050405020304" pitchFamily="18" charset="0"/>
                <a:cs typeface="Times New Roman" panose="02020603050405020304" pitchFamily="18" charset="0"/>
              </a:rPr>
              <a:t>تحسين </a:t>
            </a:r>
            <a:r>
              <a:rPr lang="ar" sz="1400" dirty="0">
                <a:latin typeface="Times New Roman" panose="02020603050405020304" pitchFamily="18" charset="0"/>
                <a:cs typeface="Times New Roman" panose="02020603050405020304" pitchFamily="18" charset="0"/>
              </a:rPr>
              <a:t>التعاون بين أعضاء الفريق، وتحسين دقة التوثيق، وزيادة الالتزام بالتعليمات.</a:t>
            </a: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 تُمكن مهارات حل المشكلات مشغّلي ماكينات CNC </a:t>
            </a:r>
            <a:r>
              <a:rPr lang="ar" sz="1400" b="1" dirty="0">
                <a:latin typeface="Times New Roman" panose="02020603050405020304" pitchFamily="18" charset="0"/>
                <a:cs typeface="Times New Roman" panose="02020603050405020304" pitchFamily="18" charset="0"/>
              </a:rPr>
              <a:t>من التكيّف مع</a:t>
            </a:r>
            <a:r>
              <a:rPr lang="ar" sz="1400" dirty="0">
                <a:latin typeface="Times New Roman" panose="02020603050405020304" pitchFamily="18" charset="0"/>
                <a:cs typeface="Times New Roman" panose="02020603050405020304" pitchFamily="18" charset="0"/>
              </a:rPr>
              <a:t> التحديات وتحسين كفاءة العمليات.</a:t>
            </a:r>
            <a:br>
              <a:rPr lang="en-GB" sz="1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ar" sz="1400" dirty="0">
                <a:latin typeface="Times New Roman" panose="02020603050405020304" pitchFamily="18" charset="0"/>
                <a:cs typeface="Times New Roman" panose="02020603050405020304" pitchFamily="18" charset="0"/>
              </a:rPr>
              <a:t>من خلال إتقان هذه المهارات، </a:t>
            </a:r>
            <a:r>
              <a:rPr lang="ar" sz="1400" b="1" dirty="0">
                <a:latin typeface="Times New Roman" panose="02020603050405020304" pitchFamily="18" charset="0"/>
                <a:cs typeface="Times New Roman" panose="02020603050405020304" pitchFamily="18" charset="0"/>
              </a:rPr>
              <a:t>يزيد المتعلمون من فرصهم الوظيفية </a:t>
            </a:r>
            <a:r>
              <a:rPr lang="ar" sz="1400" dirty="0">
                <a:latin typeface="Times New Roman" panose="02020603050405020304" pitchFamily="18" charset="0"/>
                <a:cs typeface="Times New Roman" panose="02020603050405020304" pitchFamily="18" charset="0"/>
              </a:rPr>
              <a:t>في </a:t>
            </a:r>
            <a:r>
              <a:rPr lang="ar" sz="1400" b="1" dirty="0">
                <a:latin typeface="Times New Roman" panose="02020603050405020304" pitchFamily="18" charset="0"/>
                <a:cs typeface="Times New Roman" panose="02020603050405020304" pitchFamily="18" charset="0"/>
              </a:rPr>
              <a:t>مجالات الهندسة الدقيقة، وبرمجة ماكينات CNC، </a:t>
            </a:r>
            <a:br>
              <a:rPr lang="en-US" sz="1400" b="1" dirty="0">
                <a:latin typeface="Times New Roman" panose="02020603050405020304" pitchFamily="18" charset="0"/>
                <a:cs typeface="Times New Roman" panose="02020603050405020304" pitchFamily="18" charset="0"/>
              </a:rPr>
            </a:br>
            <a:r>
              <a:rPr lang="ar" sz="1400" b="1" dirty="0">
                <a:latin typeface="Times New Roman" panose="02020603050405020304" pitchFamily="18" charset="0"/>
                <a:cs typeface="Times New Roman" panose="02020603050405020304" pitchFamily="18" charset="0"/>
              </a:rPr>
              <a:t>والصناعات التحويلية المتقدمة.</a:t>
            </a:r>
            <a:endParaRPr lang="en-GB" sz="18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ملخص نتاج التعلم د</a:t>
            </a:r>
          </a:p>
        </p:txBody>
      </p:sp>
      <p:sp>
        <p:nvSpPr>
          <p:cNvPr id="2" name="Footer Placeholder 2">
            <a:extLst>
              <a:ext uri="{FF2B5EF4-FFF2-40B4-BE49-F238E27FC236}">
                <a16:creationId xmlns:a16="http://schemas.microsoft.com/office/drawing/2014/main" id="{D4ED0365-20C8-BD47-0757-6546AC8E640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3082794229"/>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4B8D-EB39-C674-EDDA-824A27C377B8}"/>
              </a:ext>
            </a:extLst>
          </p:cNvPr>
          <p:cNvSpPr>
            <a:spLocks noGrp="1"/>
          </p:cNvSpPr>
          <p:nvPr>
            <p:ph type="title"/>
          </p:nvPr>
        </p:nvSpPr>
        <p:spPr/>
        <p:txBody>
          <a:bodyPr rtlCol="1"/>
          <a:lstStyle/>
          <a:p>
            <a:pPr rtl="1"/>
            <a:r>
              <a:rPr lang="ar">
                <a:latin typeface="Times New Roman" panose="02020603050405020304" pitchFamily="18" charset="0"/>
                <a:cs typeface="Times New Roman" panose="02020603050405020304" pitchFamily="18" charset="0"/>
              </a:rPr>
              <a:t>شكر وتقدير</a:t>
            </a:r>
          </a:p>
        </p:txBody>
      </p:sp>
      <p:sp>
        <p:nvSpPr>
          <p:cNvPr id="3" name="Content Placeholder 2">
            <a:extLst>
              <a:ext uri="{FF2B5EF4-FFF2-40B4-BE49-F238E27FC236}">
                <a16:creationId xmlns:a16="http://schemas.microsoft.com/office/drawing/2014/main" id="{79301B63-AA15-4981-2803-B796B0179A91}"/>
              </a:ext>
            </a:extLst>
          </p:cNvPr>
          <p:cNvSpPr>
            <a:spLocks noGrp="1"/>
          </p:cNvSpPr>
          <p:nvPr>
            <p:ph sz="half" idx="2"/>
          </p:nvPr>
        </p:nvSpPr>
        <p:spPr/>
        <p:txBody>
          <a:bodyPr rtlCol="1"/>
          <a:lstStyle/>
          <a:p>
            <a:pPr marL="0" indent="0" rtl="1">
              <a:lnSpc>
                <a:spcPct val="120000"/>
              </a:lnSpc>
              <a:buNone/>
            </a:pPr>
            <a:r>
              <a:rPr lang="ar" sz="2000" dirty="0">
                <a:latin typeface="Times New Roman" panose="02020603050405020304" pitchFamily="18" charset="0"/>
                <a:cs typeface="Times New Roman" panose="02020603050405020304" pitchFamily="18" charset="0"/>
              </a:rPr>
              <a:t>الصور:</a:t>
            </a:r>
          </a:p>
          <a:p>
            <a:pPr marL="0" indent="0" rtl="1">
              <a:lnSpc>
                <a:spcPct val="120000"/>
              </a:lnSpc>
              <a:buNone/>
            </a:pPr>
            <a:r>
              <a:rPr lang="ar" sz="2000" dirty="0">
                <a:latin typeface="Times New Roman" panose="02020603050405020304" pitchFamily="18" charset="0"/>
                <a:cs typeface="Times New Roman" panose="02020603050405020304" pitchFamily="18" charset="0"/>
              </a:rPr>
              <a:t>(دليل الاختصارات: l-يسار، r-يمين، c-وسط، t-أعلى، b-أسفل)</a:t>
            </a:r>
          </a:p>
          <a:p>
            <a:pPr marL="0" indent="0" rtl="1">
              <a:lnSpc>
                <a:spcPct val="120000"/>
              </a:lnSpc>
              <a:buNone/>
            </a:pPr>
            <a:r>
              <a:rPr lang="ar" sz="2000" dirty="0">
                <a:latin typeface="Times New Roman" panose="02020603050405020304" pitchFamily="18" charset="0"/>
                <a:cs typeface="Times New Roman" panose="02020603050405020304" pitchFamily="18" charset="0"/>
              </a:rPr>
              <a:t>123آر إف: تزديستاجون (الشريحة 9)، وأتابورنفوتو (الشريحة 28)؛ شترستوك: شترستوك (الشريحة 31)؛ Stock.adobe.com:  سوراساك (الشريحة 6)، وديميتري فيريشاجين </a:t>
            </a:r>
            <a:br>
              <a:rPr lang="en-US" sz="2000" dirty="0">
                <a:latin typeface="Times New Roman" panose="02020603050405020304" pitchFamily="18" charset="0"/>
                <a:cs typeface="Times New Roman" panose="02020603050405020304" pitchFamily="18" charset="0"/>
              </a:rPr>
            </a:br>
            <a:r>
              <a:rPr lang="ar" sz="2000" dirty="0">
                <a:latin typeface="Times New Roman" panose="02020603050405020304" pitchFamily="18" charset="0"/>
                <a:cs typeface="Times New Roman" panose="02020603050405020304" pitchFamily="18" charset="0"/>
              </a:rPr>
              <a:t>(الشريحة 11)، وبيكسل_بي (الشرائح 14، 18، 22)، ولايتفيلد ستوديوز (الشريحة 16)، ونوتاوتنوي (الشريحة 23)، ولاكي بيكس (الشريحة 24)، وأندريه أرمياجوف (الشريحة 26).</a:t>
            </a:r>
          </a:p>
          <a:p>
            <a:pPr rtl="1">
              <a:lnSpc>
                <a:spcPct val="120000"/>
              </a:lnSpc>
            </a:pPr>
            <a:endParaRPr lang="en-GB" dirty="0">
              <a:latin typeface="Times New Roman" panose="02020603050405020304" pitchFamily="18" charset="0"/>
              <a:cs typeface="Times New Roman" panose="02020603050405020304" pitchFamily="18" charset="0"/>
            </a:endParaRPr>
          </a:p>
        </p:txBody>
      </p:sp>
      <p:sp>
        <p:nvSpPr>
          <p:cNvPr id="4" name="Footer Placeholder 2">
            <a:extLst>
              <a:ext uri="{FF2B5EF4-FFF2-40B4-BE49-F238E27FC236}">
                <a16:creationId xmlns:a16="http://schemas.microsoft.com/office/drawing/2014/main" id="{C57EE469-13AE-320B-8161-34830257CF8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A103000423833</a:t>
            </a:r>
            <a:endParaRPr lang="ar" sz="1000" dirty="0"/>
          </a:p>
        </p:txBody>
      </p:sp>
    </p:spTree>
    <p:extLst>
      <p:ext uri="{BB962C8B-B14F-4D97-AF65-F5344CB8AC3E}">
        <p14:creationId xmlns:p14="http://schemas.microsoft.com/office/powerpoint/2010/main" val="3798915210"/>
      </p:ext>
    </p:extLst>
  </p:cSld>
  <p:clrMapOvr>
    <a:masterClrMapping/>
  </p:clrMapOvr>
  <p:transition>
    <p:sndAc>
      <p:stSnd>
        <p:snd r:embed="rId2"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4" ma:contentTypeDescription="Create a new document." ma:contentTypeScope="" ma:versionID="4a6fe28517af40a4350532efd75208a6">
  <xsd:schema xmlns:xsd="http://www.w3.org/2001/XMLSchema" xmlns:xs="http://www.w3.org/2001/XMLSchema" xmlns:p="http://schemas.microsoft.com/office/2006/metadata/properties" xmlns:ns1="http://schemas.microsoft.com/sharepoint/v3" xmlns:ns2="f63d1639-2e8e-4dfe-b2d4-ff2deac92409" xmlns:ns3="7012c9df-7563-46f6-96ee-cebd66fd5577" targetNamespace="http://schemas.microsoft.com/office/2006/metadata/properties" ma:root="true" ma:fieldsID="d17e6436edd79e558b922fed90e52d35" ns1:_="" ns2:_="" ns3:_="">
    <xsd:import namespace="http://schemas.microsoft.com/sharepoint/v3"/>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9C9BC32F-5F30-4FE0-A362-30E9AC651B73}"/>
</file>

<file path=customXml/itemProps3.xml><?xml version="1.0" encoding="utf-8"?>
<ds:datastoreItem xmlns:ds="http://schemas.openxmlformats.org/officeDocument/2006/customXml" ds:itemID="{4B700610-39F3-4A35-AAF4-C1E1359C0930}">
  <ds:schemaRefs>
    <ds:schemaRef ds:uri="http://schemas.microsoft.com/sharepoint/v3"/>
    <ds:schemaRef ds:uri="http://www.w3.org/XML/1998/namespace"/>
    <ds:schemaRef ds:uri="7c1bd8dc-4e40-424f-a15f-9ffcd522197f"/>
    <ds:schemaRef ds:uri="http://schemas.microsoft.com/office/infopath/2007/PartnerControls"/>
    <ds:schemaRef ds:uri="http://purl.org/dc/dcmitype/"/>
    <ds:schemaRef ds:uri="http://schemas.microsoft.com/office/2006/documentManagement/types"/>
    <ds:schemaRef ds:uri="http://purl.org/dc/elements/1.1/"/>
    <ds:schemaRef ds:uri="http://schemas.openxmlformats.org/package/2006/metadata/core-properties"/>
    <ds:schemaRef ds:uri="6125ffc9-2c56-435e-8267-1393444907b2"/>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12387</TotalTime>
  <Words>6057</Words>
  <Application>Microsoft Office PowerPoint</Application>
  <PresentationFormat>On-screen Show (4:3)</PresentationFormat>
  <Paragraphs>213</Paragraphs>
  <Slides>33</Slides>
  <Notes>32</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33</vt:i4>
      </vt:variant>
    </vt:vector>
  </HeadingPairs>
  <TitlesOfParts>
    <vt:vector size="49" baseType="lpstr">
      <vt:lpstr>Arial</vt:lpstr>
      <vt:lpstr>Calibri</vt:lpstr>
      <vt:lpstr>Sakkal Majalla</vt:lpstr>
      <vt:lpstr>Times New Roman</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43: عمليات المعالجة الآلية التصنيعية باستخدام التحكم العددي الحاسوبي  </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253</cp:revision>
  <dcterms:created xsi:type="dcterms:W3CDTF">2020-07-15T07:14:47Z</dcterms:created>
  <dcterms:modified xsi:type="dcterms:W3CDTF">2025-07-18T08:31:02Z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