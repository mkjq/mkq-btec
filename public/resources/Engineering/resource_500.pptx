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6"/>
  </p:notesMasterIdLst>
  <p:sldIdLst>
    <p:sldId id="256" r:id="rId14"/>
    <p:sldId id="257" r:id="rId15"/>
    <p:sldId id="474" r:id="rId16"/>
    <p:sldId id="258" r:id="rId17"/>
    <p:sldId id="272" r:id="rId18"/>
    <p:sldId id="456" r:id="rId19"/>
    <p:sldId id="420" r:id="rId20"/>
    <p:sldId id="452" r:id="rId21"/>
    <p:sldId id="457" r:id="rId22"/>
    <p:sldId id="419" r:id="rId23"/>
    <p:sldId id="449" r:id="rId24"/>
    <p:sldId id="458" r:id="rId25"/>
    <p:sldId id="472" r:id="rId26"/>
    <p:sldId id="459" r:id="rId27"/>
    <p:sldId id="476" r:id="rId28"/>
    <p:sldId id="453" r:id="rId29"/>
    <p:sldId id="460" r:id="rId30"/>
    <p:sldId id="461" r:id="rId31"/>
    <p:sldId id="421" r:id="rId32"/>
    <p:sldId id="462" r:id="rId33"/>
    <p:sldId id="475" r:id="rId34"/>
    <p:sldId id="450" r:id="rId35"/>
    <p:sldId id="471" r:id="rId36"/>
    <p:sldId id="463" r:id="rId37"/>
    <p:sldId id="477" r:id="rId38"/>
    <p:sldId id="454" r:id="rId39"/>
    <p:sldId id="478" r:id="rId40"/>
    <p:sldId id="464" r:id="rId41"/>
    <p:sldId id="465" r:id="rId42"/>
    <p:sldId id="423" r:id="rId43"/>
    <p:sldId id="451" r:id="rId44"/>
    <p:sldId id="466" r:id="rId45"/>
    <p:sldId id="467" r:id="rId46"/>
    <p:sldId id="479" r:id="rId47"/>
    <p:sldId id="468" r:id="rId48"/>
    <p:sldId id="455" r:id="rId49"/>
    <p:sldId id="470" r:id="rId50"/>
    <p:sldId id="473" r:id="rId51"/>
    <p:sldId id="446" r:id="rId52"/>
    <p:sldId id="447" r:id="rId53"/>
    <p:sldId id="430" r:id="rId54"/>
    <p:sldId id="480" r:id="rId55"/>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B41ECA-7F31-4B65-A2BB-3F7E571271EA}" v="2" dt="2025-01-23T13:57:24.954"/>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380"/>
    <p:restoredTop sz="94660"/>
  </p:normalViewPr>
  <p:slideViewPr>
    <p:cSldViewPr snapToGrid="0">
      <p:cViewPr varScale="1">
        <p:scale>
          <a:sx n="149" d="100"/>
          <a:sy n="149" d="100"/>
        </p:scale>
        <p:origin x="2046" y="120"/>
      </p:cViewPr>
      <p:guideLst>
        <p:guide orient="horz" pos="1933"/>
        <p:guide pos="2880"/>
        <p:guide pos="1791"/>
        <p:guide orient="horz" pos="3657"/>
        <p:guide pos="106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slide" Target="slides/slide42.xml"/><Relationship Id="rId63" Type="http://schemas.microsoft.com/office/2015/10/relationships/revisionInfo" Target="revisionInfo.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tableStyles" Target="tableStyles.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viewProps" Target="viewProp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slide" Target="slides/slide41.xml"/><Relationship Id="rId62"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commentAuthors" Target="commentAuthor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82B41ECA-7F31-4B65-A2BB-3F7E571271EA}"/>
    <pc:docChg chg="addSld modSld">
      <pc:chgData name="Paul Winser" userId="c3146a91-e6bd-4264-bd86-e164e04bc32d" providerId="ADAL" clId="{82B41ECA-7F31-4B65-A2BB-3F7E571271EA}" dt="2025-01-23T13:57:24.954" v="1"/>
      <pc:docMkLst>
        <pc:docMk/>
      </pc:docMkLst>
      <pc:sldChg chg="addSp modSp add modTransition">
        <pc:chgData name="Paul Winser" userId="c3146a91-e6bd-4264-bd86-e164e04bc32d" providerId="ADAL" clId="{82B41ECA-7F31-4B65-A2BB-3F7E571271EA}" dt="2025-01-23T13:57:24.954" v="1"/>
        <pc:sldMkLst>
          <pc:docMk/>
          <pc:sldMk cId="0" sldId="480"/>
        </pc:sldMkLst>
        <pc:spChg chg="add mod">
          <ac:chgData name="Paul Winser" userId="c3146a91-e6bd-4264-bd86-e164e04bc32d" providerId="ADAL" clId="{82B41ECA-7F31-4B65-A2BB-3F7E571271EA}" dt="2025-01-23T13:57:24.954" v="1"/>
          <ac:spMkLst>
            <pc:docMk/>
            <pc:sldMk cId="0" sldId="480"/>
            <ac:spMk id="2" creationId="{3564348D-DA95-AB88-AF80-28B156E5575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a:t>Click to edit Master text styles</a:t>
            </a:r>
          </a:p>
          <a:p>
            <a:pPr lvl="1" rtl="1"/>
            <a:r>
              <a:rPr lang="ar" noProof="0"/>
              <a:t>Second level</a:t>
            </a:r>
          </a:p>
          <a:p>
            <a:pPr lvl="2" rtl="1"/>
            <a:r>
              <a:rPr lang="ar" noProof="0"/>
              <a:t>Third level</a:t>
            </a:r>
          </a:p>
          <a:p>
            <a:pPr lvl="3" rtl="1"/>
            <a:r>
              <a:rPr lang="ar" noProof="0"/>
              <a:t>Fourth level</a:t>
            </a:r>
          </a:p>
          <a:p>
            <a:pPr lvl="4" rtl="1"/>
            <a:r>
              <a:rPr lang="ar" noProof="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1</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rtl="1"/>
              <a:t>2</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rtl="1"/>
              <a:t>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145159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rtl="1"/>
              <a:t>4</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5</a:t>
            </a:fld>
            <a:endParaRPr lang="en-GB" altLang="en-US">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38308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179550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532518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93847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02476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11891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450178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362377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72272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206683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141639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084802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47578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19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55100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53026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077957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98470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9437806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44671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906450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84747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392937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498531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29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97248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911240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54898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32</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86817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33</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4649113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34</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4700268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35</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6032893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36</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3576261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37</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621788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38</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3988604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39</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51927661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40</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6103731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rtl="1"/>
              <a:t>41</a:t>
            </a:fld>
            <a:endParaRPr lang="en-GB" altLang="en-US">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441922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latin typeface="Arial" panose="020B0604020202020204" pitchFamily="34" charset="0"/>
            </a:endParaRPr>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pPr rtl="1"/>
              <a:t>42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Unit X: xxxxxxxxxxxxxxxxxxxxx</a:t>
            </a:r>
            <a:endParaRPr lang="en-GB" altLang="en-US"/>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a:t>Learning aim x</a:t>
            </a:r>
            <a:endParaRPr lang="en-US" altLang="en-US"/>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a:p>
            <a:pPr rtl="1"/>
            <a:endParaRPr lang="en-GB"/>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Subhead</a:t>
            </a:r>
          </a:p>
          <a:p>
            <a:pPr rtl="1"/>
            <a:r>
              <a:rPr lang="ar"/>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Heading</a:t>
            </a:r>
            <a:endParaRPr lang="en-GB" altLang="en-US"/>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a:p>
            <a:pPr rtl="1"/>
            <a:endParaRPr lang="en-GB"/>
          </a:p>
          <a:p>
            <a:pPr rtl="1"/>
            <a:endParaRPr lang="en-GB"/>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Blue subhead</a:t>
            </a:r>
          </a:p>
          <a:p>
            <a:pPr rtl="1"/>
            <a:r>
              <a:rPr lang="ar"/>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a:t>Body text xxxxxxxxxxxxxxxxxxxxxxxxxxxxxxxxxxxxxxxxx:</a:t>
            </a:r>
          </a:p>
          <a:p>
            <a:pPr lvl="1" rtl="1"/>
            <a:r>
              <a:rPr lang="ar"/>
              <a:t>Bullet text</a:t>
            </a:r>
          </a:p>
          <a:p>
            <a:pPr lvl="1" rtl="1"/>
            <a:r>
              <a:rPr lang="ar"/>
              <a:t>Bullet text</a:t>
            </a:r>
          </a:p>
          <a:p>
            <a:pPr lvl="1" rtl="1"/>
            <a:endParaRPr lang="en-GB" altLang="en-US"/>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pic>
        <p:nvPicPr>
          <p:cNvPr id="3" name="Picture 8">
            <a:extLst>
              <a:ext uri="{FF2B5EF4-FFF2-40B4-BE49-F238E27FC236}">
                <a16:creationId xmlns:a16="http://schemas.microsoft.com/office/drawing/2014/main" id="{673E44CD-3498-14C5-B050-224C5788D4BB}"/>
              </a:ext>
            </a:extLst>
          </p:cNvPr>
          <p:cNvPicPr>
            <a:picLocks noChangeAspect="1" noChangeArrowheads="1"/>
          </p:cNvPicPr>
          <p:nvPr userDrawn="1"/>
        </p:nvPicPr>
        <p:blipFill rotWithShape="1">
          <a:blip r:embed="rId3">
            <a:extLst>
              <a:ext uri="{28A0092B-C50C-407E-A947-70E740481C1C}">
                <a14:useLocalDpi xmlns:a14="http://schemas.microsoft.com/office/drawing/2010/main"/>
              </a:ext>
            </a:extLst>
          </a:blip>
          <a:srcRect r="37547"/>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D18C0D84-8D04-9960-0816-383F586AA90E}"/>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a:latin typeface="Sakkal Majalla" panose="02000000000000000000" pitchFamily="2" charset="-78"/>
                <a:cs typeface="Sakkal Majalla" panose="02000000000000000000" pitchFamily="2" charset="-78"/>
              </a:rPr>
              <a:t>شهادة BTEC 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a:latin typeface="Sakkal Majalla" panose="02000000000000000000" pitchFamily="2" charset="-78"/>
                <a:cs typeface="Sakkal Majalla" panose="02000000000000000000" pitchFamily="2" charset="-78"/>
              </a:rPr>
              <a:t>3</a:t>
            </a:r>
            <a:endParaRPr lang="en-US" sz="2500" b="1">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a:t>Click to edit Master title style</a:t>
            </a:r>
            <a:endParaRPr lang="en-GB"/>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a:t>Click to edit Master text styles</a:t>
            </a:r>
          </a:p>
          <a:p>
            <a:pPr lvl="1" rtl="1"/>
            <a:r>
              <a:rPr lang="ar"/>
              <a:t>Second level</a:t>
            </a:r>
          </a:p>
          <a:p>
            <a:pPr lvl="2" rtl="1"/>
            <a:r>
              <a:rPr lang="ar"/>
              <a:t>Third level</a:t>
            </a:r>
          </a:p>
          <a:p>
            <a:pPr lvl="3" rtl="1"/>
            <a:r>
              <a:rPr lang="ar"/>
              <a:t>Fourth level</a:t>
            </a:r>
          </a:p>
          <a:p>
            <a:pPr lvl="4" rtl="1"/>
            <a:r>
              <a:rPr lang="ar"/>
              <a:t>Fifth level</a:t>
            </a:r>
            <a:endParaRPr lang="en-GB"/>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e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e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e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e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jpe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e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e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e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e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print">
            <a:extLst>
              <a:ext uri="{28A0092B-C50C-407E-A947-70E740481C1C}">
                <a14:useLocalDpi xmlns:a14="http://schemas.microsoft.com/office/drawing/2010/main"/>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rotWithShape="1">
          <a:blip r:embed="rId16">
            <a:extLst>
              <a:ext uri="{28A0092B-C50C-407E-A947-70E740481C1C}">
                <a14:useLocalDpi xmlns:a14="http://schemas.microsoft.com/office/drawing/2010/main"/>
              </a:ext>
            </a:extLst>
          </a:blip>
          <a:srcRect r="37400"/>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
        <p:nvSpPr>
          <p:cNvPr id="2" name="Rectangle 1">
            <a:extLst>
              <a:ext uri="{FF2B5EF4-FFF2-40B4-BE49-F238E27FC236}">
                <a16:creationId xmlns:a16="http://schemas.microsoft.com/office/drawing/2014/main" id="{C22271BA-D32B-D70F-DAF2-C219A8C0E198}"/>
              </a:ext>
            </a:extLst>
          </p:cNvPr>
          <p:cNvSpPr/>
          <p:nvPr userDrawn="1"/>
        </p:nvSpPr>
        <p:spPr>
          <a:xfrm>
            <a:off x="189038" y="122587"/>
            <a:ext cx="3744415" cy="850819"/>
          </a:xfrm>
          <a:prstGeom prst="rect">
            <a:avLst/>
          </a:prstGeom>
          <a:noFill/>
          <a:ln>
            <a:noFill/>
          </a:ln>
        </p:spPr>
        <p:txBody>
          <a:bodyPr wrap="none" lIns="0" tIns="0" rIns="0" bIns="0" rtlCol="1">
            <a:noAutofit/>
          </a:bodyPr>
          <a:lstStyle/>
          <a:p>
            <a:pPr indent="0" algn="l" rtl="1">
              <a:lnSpc>
                <a:spcPct val="110000"/>
              </a:lnSpc>
            </a:pPr>
            <a:r>
              <a:rPr lang="ar" sz="2500" b="1">
                <a:latin typeface="Sakkal Majalla" panose="02000000000000000000" pitchFamily="2" charset="-78"/>
                <a:cs typeface="Sakkal Majalla" panose="02000000000000000000" pitchFamily="2" charset="-78"/>
              </a:rPr>
              <a:t>شهادة BTEC International </a:t>
            </a:r>
            <a:r>
              <a:rPr lang="ar-EG" sz="2500" b="1">
                <a:latin typeface="Sakkal Majalla" panose="02000000000000000000" pitchFamily="2" charset="-78"/>
                <a:cs typeface="Sakkal Majalla" panose="02000000000000000000" pitchFamily="2" charset="-78"/>
              </a:rPr>
              <a:t>ل</a:t>
            </a:r>
            <a:r>
              <a:rPr lang="ar" sz="2500" b="1">
                <a:latin typeface="Sakkal Majalla" panose="02000000000000000000" pitchFamily="2" charset="-78"/>
                <a:cs typeface="Sakkal Majalla" panose="02000000000000000000" pitchFamily="2" charset="-78"/>
              </a:rPr>
              <a:t>لمستوى </a:t>
            </a:r>
            <a:r>
              <a:rPr lang="ar-EG" sz="2500" b="1">
                <a:latin typeface="Sakkal Majalla" panose="02000000000000000000" pitchFamily="2" charset="-78"/>
                <a:cs typeface="Sakkal Majalla" panose="02000000000000000000" pitchFamily="2" charset="-78"/>
              </a:rPr>
              <a:t>3</a:t>
            </a:r>
            <a:endParaRPr lang="en-US" sz="2500" b="1">
              <a:latin typeface="Sakkal Majalla" panose="02000000000000000000" pitchFamily="2" charset="-78"/>
              <a:cs typeface="Sakkal Majalla" panose="02000000000000000000" pitchFamily="2" charset="-78"/>
            </a:endParaRPr>
          </a:p>
          <a:p>
            <a:pPr algn="l">
              <a:lnSpc>
                <a:spcPct val="110000"/>
              </a:lnSpc>
            </a:pPr>
            <a:r>
              <a:rPr lang="ar-EG" sz="25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a:t>Click to edit Master title style</a:t>
            </a:r>
            <a:endParaRPr lang="en-GB" altLang="en-US"/>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a:t>Use simple bullet points and lines, with no more than two lines per bullet point if possible.</a:t>
            </a:r>
          </a:p>
          <a:p>
            <a:pPr lvl="0" rtl="1"/>
            <a:r>
              <a:rPr lang="ar"/>
              <a:t>Try to use a maximum of ten words per line. </a:t>
            </a:r>
          </a:p>
          <a:p>
            <a:pPr lvl="0" rtl="1"/>
            <a:r>
              <a:rPr lang="ar"/>
              <a:t>Set up generic formatting on this master. </a:t>
            </a:r>
          </a:p>
          <a:p>
            <a:pPr lvl="0" rtl="1"/>
            <a:r>
              <a:rPr lang="ar"/>
              <a:t>By applying this master to your slides, you’ll maintain consistent font and bullet style.</a:t>
            </a:r>
          </a:p>
          <a:p>
            <a:pPr lvl="0" rtl="1"/>
            <a:r>
              <a:rPr lang="ar"/>
              <a:t>To change the layout of individual slides, select ‘Slide layout’ and choose the desired layout from the right-hand menu.</a:t>
            </a:r>
          </a:p>
          <a:p>
            <a:pPr lvl="0" rtl="1"/>
            <a:r>
              <a:rPr lang="ar"/>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cstate="print">
            <a:extLst>
              <a:ext uri="{28A0092B-C50C-407E-A947-70E740481C1C}">
                <a14:useLocalDpi xmlns:a14="http://schemas.microsoft.com/office/drawing/2010/main"/>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 Id="rId4" Type="http://schemas.openxmlformats.org/officeDocument/2006/relationships/image" Target="../media/image25.jpeg"/></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 Id="rId4" Type="http://schemas.openxmlformats.org/officeDocument/2006/relationships/image" Target="../media/image26.jpeg"/></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27.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 Id="rId4" Type="http://schemas.openxmlformats.org/officeDocument/2006/relationships/image" Target="../media/image29.jpeg"/></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77.xml"/><Relationship Id="rId4" Type="http://schemas.openxmlformats.org/officeDocument/2006/relationships/image" Target="../media/image30.jpeg"/></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77.xml"/></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1.xml"/><Relationship Id="rId1" Type="http://schemas.openxmlformats.org/officeDocument/2006/relationships/slideLayout" Target="../slideLayouts/slideLayout77.xml"/><Relationship Id="rId4" Type="http://schemas.openxmlformats.org/officeDocument/2006/relationships/image" Target="../media/image31.jpeg"/></Relationships>
</file>

<file path=ppt/slides/_rels/slide4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2.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541784" y="2056509"/>
            <a:ext cx="8134672" cy="7225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الوحدة 61</a:t>
            </a:r>
            <a:r>
              <a:rPr lang="ar-EG" sz="4600"/>
              <a:t> </a:t>
            </a:r>
            <a:br>
              <a:rPr lang="en-GB" altLang="en-US" sz="4600"/>
            </a:br>
            <a:r>
              <a:rPr lang="ar" sz="4600"/>
              <a:t>أنظمة الدفع في المركبات الكهربائية</a:t>
            </a:r>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a:xfrm>
            <a:off x="0" y="6459538"/>
            <a:ext cx="9144000" cy="287337"/>
          </a:xfrm>
        </p:spPr>
        <p:txBody>
          <a:bodyPr wrap="square" rtlCol="1" anchor="t">
            <a:normAutofit lnSpcReduction="10000"/>
          </a:bodyPr>
          <a:lstStyle/>
          <a:p>
            <a:pPr algn="ctr" rtl="1">
              <a:lnSpc>
                <a:spcPct val="90000"/>
              </a:lnSpc>
              <a:spcAft>
                <a:spcPts val="600"/>
              </a:spcAft>
              <a:defRPr/>
            </a:pPr>
            <a:r>
              <a:rPr lang="ar" sz="1400"/>
              <a:t>© حقوق التأليف والنشر لعام 2024 محفوظة لشركة بيرسون إديوكيشن ليمتد. لا يُسمح بالنسخ إلا للمؤسسة المُشترية فقط. </a:t>
            </a:r>
          </a:p>
        </p:txBody>
      </p:sp>
      <p:sp>
        <p:nvSpPr>
          <p:cNvPr id="2" name="Footer Placeholder 2">
            <a:extLst>
              <a:ext uri="{FF2B5EF4-FFF2-40B4-BE49-F238E27FC236}">
                <a16:creationId xmlns:a16="http://schemas.microsoft.com/office/drawing/2014/main" id="{33155DFD-8F19-6DDB-4076-4C9CB99626E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683568" y="1412776"/>
            <a:ext cx="7992888" cy="23042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200" b="1"/>
              <a:t>موجز عن الوحدة</a:t>
            </a:r>
          </a:p>
          <a:p>
            <a:pPr marL="0" indent="0" algn="ctr" rtl="1">
              <a:buNone/>
            </a:pPr>
            <a:endParaRPr lang="en-GB" sz="2200" b="1"/>
          </a:p>
          <a:p>
            <a:pPr marL="0" indent="0" algn="ctr" rtl="1">
              <a:buNone/>
            </a:pPr>
            <a:r>
              <a:rPr lang="ar" sz="2200"/>
              <a:t>تقدم هذه الوحدة للمتعلمين المبادئ الأساسية لأنظمة الدفع الكهربائي وأنظمة نقل الحركة الهجينة، مع التركيز على تكوينات المحركات وتخطيطات النظام وعمليات التصنيع. عند إكمال هذه الوحدة، يكتسب المتعلمون معرفة ومهارات أساسية لفهم وتقييم تقنيات المركبات الكهربائية والهجينة، ما يؤهلهم لأدوار في هندسة وتصنيع السيارات.</a:t>
            </a:r>
          </a:p>
        </p:txBody>
      </p:sp>
      <p:sp>
        <p:nvSpPr>
          <p:cNvPr id="2" name="Footer Placeholder 2">
            <a:extLst>
              <a:ext uri="{FF2B5EF4-FFF2-40B4-BE49-F238E27FC236}">
                <a16:creationId xmlns:a16="http://schemas.microsoft.com/office/drawing/2014/main" id="{E5A0E273-475E-B7CB-6215-9CDE3E4BE26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899592" y="1340768"/>
            <a:ext cx="7568130"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endParaRPr lang="en-GB" sz="2200" b="1"/>
          </a:p>
          <a:p>
            <a:pPr marL="0" indent="0" algn="ctr" rtl="1">
              <a:buNone/>
            </a:pPr>
            <a:r>
              <a:rPr lang="ar" sz="2200" b="1"/>
              <a:t>مقدمة الوحدة</a:t>
            </a:r>
          </a:p>
          <a:p>
            <a:pPr marL="0" indent="0" algn="ctr" rtl="1">
              <a:buNone/>
            </a:pPr>
            <a:endParaRPr lang="en-GB" altLang="en-US" sz="2200" b="1"/>
          </a:p>
          <a:p>
            <a:pPr marL="0" indent="0" algn="ctr" rtl="1">
              <a:buNone/>
            </a:pPr>
            <a:r>
              <a:rPr lang="ar" sz="2200"/>
              <a:t>مع تزايد انتشار المركبات الكهربائية والهجينة، أصبحت معرفة أنظمة نقل الحركة أمرًا بالغ الأهمية لتعزيز كفاءة المركبات والابتكار في تصميمها. توفر هذه الوحدة دراسة تفصيلية لوضعيات محركات الدفع الكهربائي، وتصميمات المحركات الأحادية والمتعددة، وتكوينات الأنظمة الهجينة مثل التصميمات التوازنية والتتابعية وتصاميم تقسيم القدرة. يتعرف المتعلمون الجوانب التشغيلية لهذه الأنظمة، بدءًا من تقنيات التوقف والتشغيل وصولًا إلى أنظمة الدفع الكهربائي الكاملة، بالإضافة إلى دراسة عمليات التصنيع المرتبطة بإنتاج أنظمة نقل الحركة، مع التركيز على مراحل الإنتاج والمعدات المستخدمة وممارسات العمل الآمنة. تمنح هذه الوحدة المتعلمين قاعدة معرفية قوية في تكنولوجيا المركبات الكهربائية والهجينة، ما يجعلها ضرورية للمهتمين بمهن تطوير السيارات وتصنيعها.</a:t>
            </a:r>
          </a:p>
        </p:txBody>
      </p:sp>
      <p:sp>
        <p:nvSpPr>
          <p:cNvPr id="2" name="Footer Placeholder 2">
            <a:extLst>
              <a:ext uri="{FF2B5EF4-FFF2-40B4-BE49-F238E27FC236}">
                <a16:creationId xmlns:a16="http://schemas.microsoft.com/office/drawing/2014/main" id="{6C8BE214-B240-0FA8-C08E-D23E05D401D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4032003264"/>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a:t>نتاجات التعلم</a:t>
            </a:r>
            <a:endParaRPr lang="en-GB" altLang="en-US" sz="460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73316" y="2058988"/>
            <a:ext cx="7991475" cy="465685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endParaRPr lang="en-GB" altLang="en-US" sz="2200" b="1"/>
          </a:p>
          <a:p>
            <a:pPr marL="404813" indent="-387350" defTabSz="431800" rtl="1">
              <a:buNone/>
            </a:pPr>
            <a:r>
              <a:rPr lang="ar" sz="2200" b="1"/>
              <a:t>أ	تعرّف مبادئ تشغيل أنظمة الدفع في المركبات الكهربائية</a:t>
            </a:r>
          </a:p>
          <a:p>
            <a:pPr marL="404813" indent="-387350" defTabSz="431800" rtl="1">
              <a:buNone/>
            </a:pPr>
            <a:r>
              <a:rPr lang="ar" sz="2200" b="1"/>
              <a:t>ب	تعرّف مبادئ تشغيل أنظمة نقل الحركة في المركبات الهجينة</a:t>
            </a:r>
          </a:p>
          <a:p>
            <a:pPr marL="404813" indent="-387350" defTabSz="431800" rtl="1">
              <a:buNone/>
            </a:pPr>
            <a:r>
              <a:rPr lang="ar" sz="2200" b="1"/>
              <a:t>ج	فهم تصنيع نظام نقل الحركة وتجميعه في المركبات الكهربائية والهجينة</a:t>
            </a:r>
          </a:p>
          <a:p>
            <a:pPr marL="404813" indent="-387350" defTabSz="431800" rtl="1">
              <a:buNone/>
            </a:pPr>
            <a:r>
              <a:rPr lang="ar" sz="2200" b="1"/>
              <a:t>د	فهم ممارسات العمل الآمن عند تصنيع أنظمة نقل الحركة في المركبات الكهربائية والهجينة</a:t>
            </a:r>
          </a:p>
        </p:txBody>
      </p:sp>
      <p:sp>
        <p:nvSpPr>
          <p:cNvPr id="2" name="Footer Placeholder 2">
            <a:extLst>
              <a:ext uri="{FF2B5EF4-FFF2-40B4-BE49-F238E27FC236}">
                <a16:creationId xmlns:a16="http://schemas.microsoft.com/office/drawing/2014/main" id="{96727EDA-0DEF-34A1-5F68-F80C498F775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أ</a:t>
            </a:r>
            <a:br>
              <a:rPr lang="en-US" altLang="en-US" sz="2600"/>
            </a:br>
            <a:br>
              <a:rPr lang="en-US" altLang="en-US" sz="2600"/>
            </a:b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3"/>
            <a:ext cx="7991475" cy="1799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 تعرّف</a:t>
            </a:r>
          </a:p>
          <a:p>
            <a:pPr algn="ctr" rtl="1"/>
            <a:r>
              <a:rPr lang="ar" sz="3800" b="1">
                <a:latin typeface="Sakkal Majalla" panose="02000000000000000000" pitchFamily="2" charset="-78"/>
                <a:cs typeface="Sakkal Majalla" panose="02000000000000000000" pitchFamily="2" charset="-78"/>
              </a:rPr>
              <a:t>مبادئ تشغيل أنظمة دفع</a:t>
            </a:r>
          </a:p>
          <a:p>
            <a:pPr algn="ctr" rtl="1"/>
            <a:r>
              <a:rPr lang="ar" sz="3800" b="1">
                <a:latin typeface="Sakkal Majalla" panose="02000000000000000000" pitchFamily="2" charset="-78"/>
                <a:cs typeface="Sakkal Majalla" panose="02000000000000000000" pitchFamily="2" charset="-78"/>
              </a:rPr>
              <a:t>المركبات الكهربائية</a:t>
            </a:r>
          </a:p>
        </p:txBody>
      </p:sp>
      <p:sp>
        <p:nvSpPr>
          <p:cNvPr id="2" name="Footer Placeholder 2">
            <a:extLst>
              <a:ext uri="{FF2B5EF4-FFF2-40B4-BE49-F238E27FC236}">
                <a16:creationId xmlns:a16="http://schemas.microsoft.com/office/drawing/2014/main" id="{6FD7E0E6-0E2D-6D93-1397-262F834A1D63}"/>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63888" y="1268760"/>
            <a:ext cx="5400600" cy="511256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مبادئ أنظمة الدفع في المحركات الأحادية</a:t>
            </a:r>
            <a:br>
              <a:rPr lang="en-GB" sz="1400"/>
            </a:br>
            <a:br>
              <a:rPr lang="en-GB" sz="1400"/>
            </a:br>
            <a:r>
              <a:rPr lang="ar" sz="1400" b="1">
                <a:solidFill>
                  <a:schemeClr val="accent6"/>
                </a:solidFill>
              </a:rPr>
              <a:t>1. مواقع المحرك المحتملة في هيكل المركبة</a:t>
            </a:r>
            <a:br>
              <a:rPr lang="en-GB" sz="1400"/>
            </a:br>
            <a:r>
              <a:rPr lang="ar" sz="1400" b="1"/>
              <a:t>المحركات الأمامية:</a:t>
            </a:r>
            <a:r>
              <a:rPr lang="ar" sz="1400"/>
              <a:t> تُوضع في مقدمة المركبة، وهو تخطيط شائع في العديد من المركبات الكهربائية، خاصةً المركبات التي تم تكييفها من منصات محركات الاحتراق الداخلي التقليدية.</a:t>
            </a:r>
            <a:br>
              <a:rPr lang="en-GB" sz="1400"/>
            </a:br>
            <a:r>
              <a:rPr lang="ar" sz="1400" b="1"/>
              <a:t>المحركات الخلفية:</a:t>
            </a:r>
            <a:r>
              <a:rPr lang="ar" sz="1400"/>
              <a:t> تُستخدم غالبًا في المركبات التي تركز على الأداء، حيث تقدم توزيعًا أفضل للوزن وتحسينًا في التحكم والجر.</a:t>
            </a:r>
            <a:br>
              <a:rPr lang="en-GB" sz="1400"/>
            </a:br>
            <a:r>
              <a:rPr lang="ar" sz="1400" b="1"/>
              <a:t>المحركات المثبتة في المنتصف:</a:t>
            </a:r>
            <a:r>
              <a:rPr lang="ar" sz="1400"/>
              <a:t> توضع في وسط المركبة، وغالبًا بالقرب من حزمة البطارية، ما يوفر توزيع وزن متوازن يعزز التحكم والثبات.</a:t>
            </a:r>
          </a:p>
          <a:p>
            <a:pPr marL="0" indent="0" rtl="1">
              <a:buNone/>
            </a:pPr>
            <a:br>
              <a:rPr lang="en-GB" sz="1400"/>
            </a:br>
            <a:r>
              <a:rPr lang="ar" sz="1400" b="1">
                <a:solidFill>
                  <a:schemeClr val="accent6"/>
                </a:solidFill>
              </a:rPr>
              <a:t>2. التباينات في موضع محركات الشركة المصنعة</a:t>
            </a:r>
            <a:br>
              <a:rPr lang="en-GB" sz="1400"/>
            </a:br>
            <a:r>
              <a:rPr lang="ar" sz="1400" b="1"/>
              <a:t>اختيارات التصميم</a:t>
            </a:r>
            <a:r>
              <a:rPr lang="ar" sz="1400"/>
              <a:t>: تضع الشركات المصنعة المحركات في مواقع مختلفة من المركبة بناءً على عوامل مثل الغرض من المركبة وأهداف الأداء وتفضيلات توزيع الوزن.</a:t>
            </a:r>
            <a:br>
              <a:rPr lang="en-GB" sz="1400"/>
            </a:br>
            <a:r>
              <a:rPr lang="ar" sz="1400" b="1"/>
              <a:t>القدرة على التكيف</a:t>
            </a:r>
            <a:r>
              <a:rPr lang="ar" sz="1400"/>
              <a:t>: تطور بعض شركات التصنيع منصات مرنة تتيح مواضع مختلفة للمحركات عبر نماذج متنوعة ضمن خط إنتاج واحد، ما يحقق الكفاءة أو الأداء أو التحكم بحسب الاستخدام المستهدف.</a:t>
            </a:r>
          </a:p>
          <a:p>
            <a:pPr marL="0" indent="0" rtl="1">
              <a:buNone/>
            </a:pPr>
            <a:br>
              <a:rPr lang="en-GB" sz="1400"/>
            </a:br>
            <a:r>
              <a:rPr lang="ar" sz="1400" b="1">
                <a:solidFill>
                  <a:schemeClr val="accent6"/>
                </a:solidFill>
              </a:rPr>
              <a:t>3. عزم دوران المحرك</a:t>
            </a:r>
            <a:br>
              <a:rPr lang="en-GB" sz="1400"/>
            </a:br>
            <a:r>
              <a:rPr lang="ar" sz="1400" b="1"/>
              <a:t>توزيع العزم عبر نطاق السرعات</a:t>
            </a:r>
            <a:r>
              <a:rPr lang="ar" sz="1400"/>
              <a:t>: توفر المحركات الأحادية عزم دوران مباشرًا، وغالبًا ما يكون عاليًا عند السرعات المنخفضة لتحقيق تسارع سريع وتشغيل سلس، وهو ما يمثل ميزة في القيادة داخل المدن حيث يكون توزيع العزم الفوري أمرًا ضروريًا.</a:t>
            </a:r>
            <a:br>
              <a:rPr lang="en-GB" sz="1400"/>
            </a:br>
            <a:r>
              <a:rPr lang="ar" sz="1400" b="1"/>
              <a:t>تقليل الحاجة إلى مضاعفة العزم</a:t>
            </a:r>
            <a:r>
              <a:rPr lang="ar" sz="1400"/>
              <a:t>: بالمقارنة مع أنظمة المحركات المتعددة، قد تتطلب المحركات الأحادية تروسًا إضافية لمضاعفة عزم الدوران، خاصة عند السرعات المنخفضة، لضمان أداء مناسب في جميع ظروف القيادة.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8901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أ1 أنظمة الدفع في المحركات الأحادية المستخدمة في</a:t>
            </a:r>
          </a:p>
          <a:p>
            <a:pPr rtl="1"/>
            <a:r>
              <a:rPr lang="ar" sz="2200" b="1">
                <a:latin typeface="Sakkal Majalla" panose="02000000000000000000" pitchFamily="2" charset="-78"/>
                <a:cs typeface="Sakkal Majalla" panose="02000000000000000000" pitchFamily="2" charset="-78"/>
              </a:rPr>
              <a:t>المركبات الكهربائية</a:t>
            </a:r>
          </a:p>
        </p:txBody>
      </p:sp>
      <p:sp>
        <p:nvSpPr>
          <p:cNvPr id="4" name="TextBox 3"/>
          <p:cNvSpPr txBox="1"/>
          <p:nvPr/>
        </p:nvSpPr>
        <p:spPr>
          <a:xfrm>
            <a:off x="558156" y="5517232"/>
            <a:ext cx="2698176"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محول عزم دوران السيارة مع ناقل حركة يعمل بالزيت</a:t>
            </a:r>
          </a:p>
        </p:txBody>
      </p:sp>
      <p:sp>
        <p:nvSpPr>
          <p:cNvPr id="2" name="Footer Placeholder 2">
            <a:extLst>
              <a:ext uri="{FF2B5EF4-FFF2-40B4-BE49-F238E27FC236}">
                <a16:creationId xmlns:a16="http://schemas.microsoft.com/office/drawing/2014/main" id="{AAE53227-55B6-0189-5FF3-DBE5CFCDA6BC}"/>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close up of a machine&#10;&#10;Description automatically generated">
            <a:extLst>
              <a:ext uri="{FF2B5EF4-FFF2-40B4-BE49-F238E27FC236}">
                <a16:creationId xmlns:a16="http://schemas.microsoft.com/office/drawing/2014/main" id="{AF44E8E0-DD23-8E53-45BC-DF22B35708A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22576" y="2708920"/>
            <a:ext cx="2791838" cy="2485969"/>
          </a:xfrm>
          <a:prstGeom prst="rect">
            <a:avLst/>
          </a:prstGeom>
        </p:spPr>
      </p:pic>
    </p:spTree>
    <p:extLst>
      <p:ext uri="{BB962C8B-B14F-4D97-AF65-F5344CB8AC3E}">
        <p14:creationId xmlns:p14="http://schemas.microsoft.com/office/powerpoint/2010/main" val="3302618619"/>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1" y="1124744"/>
            <a:ext cx="5171797" cy="56166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solidFill>
                  <a:schemeClr val="accent6"/>
                </a:solidFill>
              </a:rPr>
              <a:t>4. تشغيل نظام الدفع في المحرك الأحادي</a:t>
            </a:r>
            <a:br>
              <a:rPr lang="en-GB" sz="1400"/>
            </a:br>
            <a:r>
              <a:rPr lang="ar" sz="1400" b="1"/>
              <a:t>التشغيل الأساسي</a:t>
            </a:r>
            <a:r>
              <a:rPr lang="ar" sz="1400"/>
              <a:t>: يعمل المحرك الأحادي على تشغيل محور واحد (إما أمامي وإما خلفي)، ما يوفر عزم الدوران لكلتا العجلتين من خلال الترس التفاضلي وعمود الإدارة.</a:t>
            </a:r>
            <a:br>
              <a:rPr lang="en-GB" sz="1400"/>
            </a:br>
            <a:r>
              <a:rPr lang="ar" sz="1400" b="1"/>
              <a:t>الكبح بالتوليد المعاكس</a:t>
            </a:r>
            <a:r>
              <a:rPr lang="ar" sz="1400"/>
              <a:t>: عادةً ما تدعم أنظمة المحرك الأحادي الكبح بالتوليد المعاكس، حيث يتم إعادة استخدام الطاقة الناتجة عن عملية الكبح لشحن البطارية، ما يعزز الكفاءة ويزيد من المدى.</a:t>
            </a:r>
            <a:br>
              <a:rPr lang="en-GB" sz="1400"/>
            </a:br>
            <a:r>
              <a:rPr lang="ar" sz="1400" b="1"/>
              <a:t>توزيع القدرة</a:t>
            </a:r>
            <a:r>
              <a:rPr lang="ar" sz="1400"/>
              <a:t>: قد تكون الأنظمة الأحادية أكثر بساطة مقارنةً بأنظمة المحركات المتعددة، ولكنها تحتاج إلى مكونات إضافية، مثل التروس والترس التفاضلي، لضمان توزيع القدرة بكفاءة.</a:t>
            </a:r>
          </a:p>
          <a:p>
            <a:pPr marL="0" indent="0" rtl="1">
              <a:buNone/>
            </a:pPr>
            <a:br>
              <a:rPr lang="en-GB" sz="1400"/>
            </a:br>
            <a:r>
              <a:rPr lang="ar" sz="1400" b="1">
                <a:solidFill>
                  <a:schemeClr val="accent6"/>
                </a:solidFill>
              </a:rPr>
              <a:t>5. المركبات الكهربائية ذات المحرك الأحادي</a:t>
            </a:r>
            <a:br>
              <a:rPr lang="en-GB" sz="1400"/>
            </a:br>
            <a:r>
              <a:rPr lang="ar" sz="1400" b="1">
                <a:solidFill>
                  <a:srgbClr val="C00000"/>
                </a:solidFill>
              </a:rPr>
              <a:t>المزايا</a:t>
            </a:r>
            <a:r>
              <a:rPr lang="ar" sz="1400">
                <a:solidFill>
                  <a:srgbClr val="C00000"/>
                </a:solidFill>
              </a:rPr>
              <a:t>:</a:t>
            </a:r>
            <a:br>
              <a:rPr lang="en-GB" sz="1400"/>
            </a:br>
            <a:r>
              <a:rPr lang="ar" sz="1400" b="1"/>
              <a:t>تكلفة تصنيع أقل</a:t>
            </a:r>
            <a:r>
              <a:rPr lang="ar" sz="1400"/>
              <a:t>: توفر أنظمة المحرك الأحادي تصميمًا أبسط وأكثر اقتصادًا للإنتاج، ما يقلل التكلفة الإجمالية للمركبة.</a:t>
            </a:r>
            <a:br>
              <a:rPr lang="en-GB" sz="1400"/>
            </a:br>
            <a:r>
              <a:rPr lang="ar" sz="1400" b="1"/>
              <a:t>وزن مركبة منخفض</a:t>
            </a:r>
            <a:r>
              <a:rPr lang="ar" sz="1400"/>
              <a:t>: يسهم المحرك الأحادي في تقليل وزن المركبة، ما يحسن الأداء والمدى.</a:t>
            </a:r>
            <a:br>
              <a:rPr lang="en-GB" sz="1400"/>
            </a:br>
            <a:r>
              <a:rPr lang="ar" sz="1400" b="1"/>
              <a:t>خصائص وزن معلقة بثبات</a:t>
            </a:r>
            <a:r>
              <a:rPr lang="ar" sz="1400"/>
              <a:t>: تساعد المحركات الأحادية على تحقيق توزيع متوازن للوزن وخفض مركز الجاذبية، ما يحسن جودة القيادة.</a:t>
            </a:r>
            <a:br>
              <a:rPr lang="en-GB" sz="1400"/>
            </a:br>
            <a:r>
              <a:rPr lang="ar" sz="1400" b="1"/>
              <a:t>قدرة الكبح بالتوليد المعاكس</a:t>
            </a:r>
            <a:r>
              <a:rPr lang="ar" sz="1400"/>
              <a:t>: تسهم في تحسين الكفاءة من خلال استعادة الطاقة في أثناء الكبح وزيادة مدى المركبة.</a:t>
            </a:r>
            <a:br>
              <a:rPr lang="en-GB" sz="1400"/>
            </a:br>
            <a:r>
              <a:rPr lang="ar" sz="1400" b="1">
                <a:solidFill>
                  <a:srgbClr val="C00000"/>
                </a:solidFill>
              </a:rPr>
              <a:t>العيوب</a:t>
            </a:r>
            <a:r>
              <a:rPr lang="ar" sz="1400">
                <a:solidFill>
                  <a:srgbClr val="C00000"/>
                </a:solidFill>
              </a:rPr>
              <a:t>:</a:t>
            </a:r>
            <a:br>
              <a:rPr lang="en-GB" sz="1400"/>
            </a:br>
            <a:r>
              <a:rPr lang="ar" sz="1400" b="1"/>
              <a:t>تتطلب المزيد من التروس وأعمدة الإدارة: </a:t>
            </a:r>
            <a:r>
              <a:rPr lang="ar" sz="1400"/>
              <a:t> تحتاج أنظمة المحرك الأحادية إلى مكونات إضافية مثل الترس التفاضلي وأعمدة الإدارة والتروس لتوزيع القدرة على كلتا العجلتين، ما قد يزيد من التعقيد.</a:t>
            </a:r>
            <a:br>
              <a:rPr lang="en-GB" sz="1400"/>
            </a:br>
            <a:r>
              <a:rPr lang="ar" sz="1400" b="1"/>
              <a:t>خيارات مساحة بطارية محدودة</a:t>
            </a:r>
            <a:r>
              <a:rPr lang="ar" sz="1400"/>
              <a:t>: قد يؤدي وضع المحرك في هيكل المركبة إلى تقليل المساحة المتاحة لحزم البطاريات، ما يؤثر في المدى الإجمالي.</a:t>
            </a:r>
            <a:br>
              <a:rPr lang="en-GB" sz="1400"/>
            </a:br>
            <a:r>
              <a:rPr lang="ar" sz="1400" b="1"/>
              <a:t>تحديات توزيع الوزن</a:t>
            </a:r>
            <a:r>
              <a:rPr lang="ar" sz="1400"/>
              <a:t>: قد يؤثر وضع المحرك بالقرب من العجلات الدافعة في توزيع الوزن، ما ينعكس على خصائص التحكم، خاصةً في التصميمات ذات الوزن الأمامي الزائد.</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أ1 أنظمة الدفع في المحركات الأحادية المستخدمة في</a:t>
            </a:r>
          </a:p>
          <a:p>
            <a:pPr rtl="1"/>
            <a:r>
              <a:rPr lang="ar" sz="2200" b="1">
                <a:latin typeface="Sakkal Majalla" panose="02000000000000000000" pitchFamily="2" charset="-78"/>
                <a:cs typeface="Sakkal Majalla" panose="02000000000000000000" pitchFamily="2" charset="-78"/>
              </a:rPr>
              <a:t>المركبات الكهربائية</a:t>
            </a:r>
          </a:p>
        </p:txBody>
      </p:sp>
      <p:sp>
        <p:nvSpPr>
          <p:cNvPr id="4" name="TextBox 3"/>
          <p:cNvSpPr txBox="1"/>
          <p:nvPr/>
        </p:nvSpPr>
        <p:spPr>
          <a:xfrm>
            <a:off x="1439072" y="3597950"/>
            <a:ext cx="1039067"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المحركات الأمامية:</a:t>
            </a:r>
          </a:p>
        </p:txBody>
      </p:sp>
      <p:pic>
        <p:nvPicPr>
          <p:cNvPr id="3" name="Picture 2"/>
          <p:cNvPicPr>
            <a:picLocks noChangeAspect="1"/>
          </p:cNvPicPr>
          <p:nvPr/>
        </p:nvPicPr>
        <p:blipFill rotWithShape="1">
          <a:blip r:embed="rId4" cstate="print">
            <a:extLst>
              <a:ext uri="{28A0092B-C50C-407E-A947-70E740481C1C}">
                <a14:useLocalDpi xmlns:a14="http://schemas.microsoft.com/office/drawing/2010/main"/>
              </a:ext>
            </a:extLst>
          </a:blip>
          <a:srcRect t="8338"/>
          <a:stretch/>
        </p:blipFill>
        <p:spPr>
          <a:xfrm>
            <a:off x="120283" y="1223174"/>
            <a:ext cx="3676650" cy="2374776"/>
          </a:xfrm>
          <a:prstGeom prst="rect">
            <a:avLst/>
          </a:prstGeom>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rcRect/>
          <a:stretch/>
        </p:blipFill>
        <p:spPr>
          <a:xfrm>
            <a:off x="117942" y="4046806"/>
            <a:ext cx="3733979" cy="1740507"/>
          </a:xfrm>
          <a:prstGeom prst="rect">
            <a:avLst/>
          </a:prstGeom>
        </p:spPr>
      </p:pic>
      <p:sp>
        <p:nvSpPr>
          <p:cNvPr id="8" name="TextBox 7"/>
          <p:cNvSpPr txBox="1"/>
          <p:nvPr/>
        </p:nvSpPr>
        <p:spPr>
          <a:xfrm>
            <a:off x="1418644" y="6407750"/>
            <a:ext cx="1043876"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المحركات الخلفية:</a:t>
            </a:r>
          </a:p>
        </p:txBody>
      </p:sp>
      <p:sp>
        <p:nvSpPr>
          <p:cNvPr id="2" name="Footer Placeholder 2">
            <a:extLst>
              <a:ext uri="{FF2B5EF4-FFF2-40B4-BE49-F238E27FC236}">
                <a16:creationId xmlns:a16="http://schemas.microsoft.com/office/drawing/2014/main" id="{6758707A-7C96-341C-ABCA-1ED2B8208C7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3881984730"/>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283968" y="1268760"/>
            <a:ext cx="4680520"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مبادئ أنظمة الدفع في المحركات متعددة الدفع</a:t>
            </a:r>
            <a:br>
              <a:rPr lang="en-GB" sz="1400"/>
            </a:br>
            <a:br>
              <a:rPr lang="en-GB" sz="1400"/>
            </a:br>
            <a:r>
              <a:rPr lang="ar" sz="1400" b="1">
                <a:solidFill>
                  <a:schemeClr val="accent6"/>
                </a:solidFill>
              </a:rPr>
              <a:t>1. مواقع المحرك المحتملة في هيكل المركبة</a:t>
            </a:r>
            <a:br>
              <a:rPr lang="en-GB" sz="1400"/>
            </a:br>
            <a:r>
              <a:rPr lang="ar" sz="1400" b="1"/>
              <a:t>المحركات المثبتة داخل العجلات:</a:t>
            </a:r>
            <a:r>
              <a:rPr lang="ar" sz="1400"/>
              <a:t> تُوضع المحركات مباشرة داخل العجلات لتوفير القدرة لكل عجلة بشكل مستقل. يُستخدم هذا التصميم غالبًا في المركبات الكهربائية عالية الأداء أو المتقدمة، حيث يسمح بالتحكم الدقيق في خرج القدرة لكل عجلة.</a:t>
            </a:r>
            <a:br>
              <a:rPr lang="en-GB" sz="1400"/>
            </a:br>
            <a:r>
              <a:rPr lang="ar" sz="1400" b="1"/>
              <a:t>المحركات المزدوجة المحورية:</a:t>
            </a:r>
            <a:r>
              <a:rPr lang="ar" sz="1400"/>
              <a:t> تحتوي بعض تصميمات المحركات المتعددة على محركات منفصلة للمحاور الأمامية والخلفية. يتيح هذا التكوين إمكانات الدفع الكامل دون الحاجة إلى ناقل حركة مركزي أو عمود إدارة.</a:t>
            </a:r>
            <a:br>
              <a:rPr lang="en-GB" sz="1400"/>
            </a:br>
            <a:r>
              <a:rPr lang="ar" sz="1400" b="1"/>
              <a:t>التصميمات المجمعة</a:t>
            </a:r>
            <a:r>
              <a:rPr lang="ar" sz="1400"/>
              <a:t>: تستخدم بعض التصميمات مزيجًا من المحركات المثبتة على المحاور والمحركات المثبتة داخل العجلات لتحقيق توزيع مثالي للعزم وتحسين التحكم والأداء في ظروف القيادة المختلفة.</a:t>
            </a:r>
          </a:p>
          <a:p>
            <a:pPr marL="0" indent="0" rtl="1">
              <a:buNone/>
            </a:pPr>
            <a:br>
              <a:rPr lang="en-GB" sz="1400">
                <a:solidFill>
                  <a:schemeClr val="accent6"/>
                </a:solidFill>
              </a:rPr>
            </a:br>
            <a:r>
              <a:rPr lang="ar" sz="1400" b="1">
                <a:solidFill>
                  <a:schemeClr val="accent6"/>
                </a:solidFill>
              </a:rPr>
              <a:t>2. التباينات في موضع محركات الشركة المصنعة</a:t>
            </a:r>
            <a:br>
              <a:rPr lang="en-GB" sz="1400"/>
            </a:br>
            <a:r>
              <a:rPr lang="ar" sz="1400" b="1"/>
              <a:t>التصميمات الموجهة نحو الأداء:</a:t>
            </a:r>
            <a:r>
              <a:rPr lang="ar" sz="1400"/>
              <a:t> يمكن لشركات التصنيع تثبيت المحركات داخل العجلات لمركبات نماذج الأداء لتعزيز التحكم والأداء والاستجابة.</a:t>
            </a:r>
            <a:br>
              <a:rPr lang="en-GB" sz="1400"/>
            </a:br>
            <a:r>
              <a:rPr lang="ar" sz="1400" b="1"/>
              <a:t>مرونة المنصة</a:t>
            </a:r>
            <a:r>
              <a:rPr lang="ar" sz="1400"/>
              <a:t>: تتيح منصات المركبات المصممة لأنظمة المحركات المتعددة المرونة في تحديد مواقع المحركات اعتمادًا على الغرض من الطراز (على سبيل المثال، إمكانية الدفع الكامل لمركبات الدفع الرباعي أو المركبات الرياضية ذات أنظمة الدفع الخلفية).</a:t>
            </a:r>
            <a:br>
              <a:rPr lang="en-GB" sz="1400"/>
            </a:br>
            <a:r>
              <a:rPr lang="ar" sz="1400" b="1"/>
              <a:t>وحدات المحرك:</a:t>
            </a:r>
            <a:r>
              <a:rPr lang="ar" sz="1400"/>
              <a:t> تصمم بعض الشركات المصنعة منصات معيارية تدعم تكوينات المحركات الأحادية والمتعددة، ما يوفر خيارات متنوعة لمجموعة نقل الحركة ضمن نفس نطاق الطراز.</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788024" y="116632"/>
            <a:ext cx="4248472"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أ2 تخطيطات محركات الدفع المتعددة،</a:t>
            </a:r>
            <a:br>
              <a:rPr lang="ar-EG" sz="2200" b="1">
                <a:latin typeface="Sakkal Majalla" panose="02000000000000000000" pitchFamily="2" charset="-78"/>
                <a:cs typeface="Sakkal Majalla" panose="02000000000000000000" pitchFamily="2" charset="-78"/>
              </a:rPr>
            </a:br>
            <a:r>
              <a:rPr lang="ar" sz="2200" b="1">
                <a:latin typeface="Sakkal Majalla" panose="02000000000000000000" pitchFamily="2" charset="-78"/>
                <a:cs typeface="Sakkal Majalla" panose="02000000000000000000" pitchFamily="2" charset="-78"/>
              </a:rPr>
              <a:t>عند العجلة أو داخلها.</a:t>
            </a:r>
          </a:p>
        </p:txBody>
      </p:sp>
      <p:sp>
        <p:nvSpPr>
          <p:cNvPr id="4" name="TextBox 3"/>
          <p:cNvSpPr txBox="1"/>
          <p:nvPr/>
        </p:nvSpPr>
        <p:spPr>
          <a:xfrm>
            <a:off x="1766514" y="5065774"/>
            <a:ext cx="1093569"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 نظام الدفع الكامل</a:t>
            </a:r>
          </a:p>
        </p:txBody>
      </p:sp>
      <p:pic>
        <p:nvPicPr>
          <p:cNvPr id="3" name="Picture 2"/>
          <p:cNvPicPr>
            <a:picLocks noChangeAspect="1"/>
          </p:cNvPicPr>
          <p:nvPr/>
        </p:nvPicPr>
        <p:blipFill>
          <a:blip r:embed="rId4">
            <a:extLst>
              <a:ext uri="{28A0092B-C50C-407E-A947-70E740481C1C}">
                <a14:useLocalDpi xmlns:a14="http://schemas.microsoft.com/office/drawing/2010/main" val="0"/>
              </a:ext>
            </a:extLst>
          </a:blip>
          <a:srcRect/>
          <a:stretch/>
        </p:blipFill>
        <p:spPr>
          <a:xfrm>
            <a:off x="284456" y="2897080"/>
            <a:ext cx="3855496" cy="1783919"/>
          </a:xfrm>
          <a:prstGeom prst="rect">
            <a:avLst/>
          </a:prstGeom>
        </p:spPr>
      </p:pic>
      <p:sp>
        <p:nvSpPr>
          <p:cNvPr id="2" name="Footer Placeholder 2">
            <a:extLst>
              <a:ext uri="{FF2B5EF4-FFF2-40B4-BE49-F238E27FC236}">
                <a16:creationId xmlns:a16="http://schemas.microsoft.com/office/drawing/2014/main" id="{57464615-9A5B-E3EC-67F4-2FE801C3E3B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3674277823"/>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96752"/>
            <a:ext cx="8964488"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solidFill>
                  <a:schemeClr val="accent6"/>
                </a:solidFill>
              </a:rPr>
              <a:t>3. عزم دوران المحرك</a:t>
            </a:r>
          </a:p>
          <a:p>
            <a:pPr marL="0" indent="0" rtl="1">
              <a:buNone/>
            </a:pPr>
            <a:r>
              <a:rPr lang="ar" sz="1400" b="1"/>
              <a:t>توزيع العزم عبر نطاق السرعات</a:t>
            </a:r>
            <a:r>
              <a:rPr lang="ar" sz="1400"/>
              <a:t>: تتيح المحركات المتعددة توزيعًا دقيقًا للعزم، ما يسمح للمركبة بضبط العزم ديناميكيًا لكل عجلة أو محور بناءً على السرعة والثبات وظروف الطريق، ما يُحسن التحكم، خاصة في البيئات ذات الجر المنخفض.</a:t>
            </a:r>
          </a:p>
          <a:p>
            <a:pPr marL="0" indent="0" rtl="1">
              <a:buNone/>
            </a:pPr>
            <a:r>
              <a:rPr lang="ar" sz="1400" b="1"/>
              <a:t>تقليل الحاجة إلى مضاعفة العزم</a:t>
            </a:r>
            <a:r>
              <a:rPr lang="ar" sz="1400"/>
              <a:t>: تقلل أنظمة المحركات المتعددة الحاجة إلى مضاعفة العزم عبر التروس، حيث يمكن معايرة كل محرك بشكل مستقل لتحقيق خرج عزم مثالي. يمكن لهذا النظام تحسين الكفاءة من خلال توفير عزم الدوران الضروري فقط لكل عجلة.</a:t>
            </a:r>
          </a:p>
          <a:p>
            <a:pPr marL="0" indent="0" rtl="1">
              <a:buNone/>
            </a:pPr>
            <a:br>
              <a:rPr lang="en-GB" sz="1400"/>
            </a:br>
            <a:r>
              <a:rPr lang="ar" sz="1400" b="1">
                <a:solidFill>
                  <a:schemeClr val="accent6"/>
                </a:solidFill>
              </a:rPr>
              <a:t>4. المركبات الكهربائية متعددة المحركات</a:t>
            </a:r>
          </a:p>
          <a:p>
            <a:pPr marL="0" indent="0" rtl="1">
              <a:buNone/>
            </a:pPr>
            <a:r>
              <a:rPr lang="ar" sz="1400" b="1">
                <a:solidFill>
                  <a:srgbClr val="C00000"/>
                </a:solidFill>
              </a:rPr>
              <a:t>المزايا</a:t>
            </a:r>
            <a:r>
              <a:rPr lang="ar" sz="1400">
                <a:solidFill>
                  <a:srgbClr val="C00000"/>
                </a:solidFill>
              </a:rPr>
              <a:t>:</a:t>
            </a:r>
            <a:br>
              <a:rPr lang="en-GB" sz="1400"/>
            </a:br>
            <a:r>
              <a:rPr lang="ar" sz="1400" b="1"/>
              <a:t>توزيع عزم الدوران بدقة</a:t>
            </a:r>
            <a:r>
              <a:rPr lang="ar" sz="1400"/>
              <a:t>: تتيح المحركات المتعددة توزيع العزم لكل عجلة أو محور على نحو مخصص، ما يُحسّن الجر والتحكم. تُعتبر هذه الميزة مفيدة للغاية في أنظمة الدفع الكامل (AWD)، حيث يمكن ضبط العزم بين الأمام والخلف أو من جانب لآخر.</a:t>
            </a:r>
            <a:br>
              <a:rPr lang="en-GB" sz="1400"/>
            </a:br>
            <a:r>
              <a:rPr lang="ar" sz="1400" b="1"/>
              <a:t>توزيع متعدد المستويات للعزم:</a:t>
            </a:r>
            <a:r>
              <a:rPr lang="ar" sz="1400"/>
              <a:t> يمكن للنظام توفير مستويات مختلفة من العزم للعجلات المختلفة، ما يعزز الأداء والثبات في أثناء الانعطاف، وهو أمر ذو قيمة للمركبات ذات التركيز على الأداء أو القيادة على الطرق الوعرة.</a:t>
            </a:r>
            <a:br>
              <a:rPr lang="en-GB" sz="1400"/>
            </a:br>
            <a:r>
              <a:rPr lang="ar" sz="1400" b="1"/>
              <a:t>مكونات أقل</a:t>
            </a:r>
            <a:r>
              <a:rPr lang="ar" sz="1400"/>
              <a:t>: تعمل المحركات المثبتة داخل العجلات على التخلص من الحاجة إلى ناقل الحركة المركزي أو الفوارق أو أعمدة الإدارة، ما يقلل عدد المكونات ويبسط عملية نقل القدرة.</a:t>
            </a:r>
            <a:br>
              <a:rPr lang="en-GB" sz="1400"/>
            </a:br>
            <a:r>
              <a:rPr lang="ar" sz="1400" b="1"/>
              <a:t>زيادة المساحة لتثبيت البطارية</a:t>
            </a:r>
            <a:r>
              <a:rPr lang="ar" sz="1400"/>
              <a:t>: ومع وجود عدد أقل من مكونات نظام الدفع المركزي، تتوفر مساحة أكبر لتثبيت مجموعات البطاريات، ما يزيد من النطاق المحتمل من خلال زيادة سعة البطارية.</a:t>
            </a:r>
          </a:p>
          <a:p>
            <a:pPr marL="0" indent="0" rtl="1">
              <a:buNone/>
            </a:pPr>
            <a:r>
              <a:rPr lang="ar" sz="1400" b="1">
                <a:solidFill>
                  <a:srgbClr val="C00000"/>
                </a:solidFill>
              </a:rPr>
              <a:t>العيوب</a:t>
            </a:r>
            <a:r>
              <a:rPr lang="ar" sz="1400"/>
              <a:t>:</a:t>
            </a:r>
            <a:br>
              <a:rPr lang="en-GB" sz="1400"/>
            </a:br>
            <a:r>
              <a:rPr lang="ar" sz="1400" b="1"/>
              <a:t>زيادة الوزن غير المُعلق</a:t>
            </a:r>
            <a:r>
              <a:rPr lang="ar" sz="1400"/>
              <a:t>: تؤدي المحركات المثبتة داخل العجلات إلى زيادة الوزن غير المُعلق (الوزن غير المدعوم بواسطة نظام التعليق)، ما قد يؤثر سلبًا في التحكم وجودة القيادة.</a:t>
            </a:r>
            <a:br>
              <a:rPr lang="en-GB" sz="1400"/>
            </a:br>
            <a:r>
              <a:rPr lang="ar" sz="1400" b="1"/>
              <a:t>متطلبات تصميم متقدمة لنظام التعليق</a:t>
            </a:r>
            <a:r>
              <a:rPr lang="ar" sz="1400"/>
              <a:t>: يتطلب الوزن غير المُعلق الإضافي نظام تعليق أكثر تطورًا للحفاظ على راحة القيادة والثبات، خاصة على الطرق غير المستوية.</a:t>
            </a:r>
            <a:br>
              <a:rPr lang="en-GB" sz="1400"/>
            </a:br>
            <a:r>
              <a:rPr lang="ar" sz="1400" b="1"/>
              <a:t>أنظمة تبريد المحركات أكثر تعقيدًا</a:t>
            </a:r>
            <a:r>
              <a:rPr lang="ar" sz="1400"/>
              <a:t>: تنتج المحركات المتعددة حرارة إضافية، ما يستدعي حلول تبريد متقدمة للحفاظ على الأداء ومنع ارتفاع درجة الحرارة، ما يزيد من تعقيد المركبة.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580112" y="116632"/>
            <a:ext cx="3456384"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أ2 تخطيطات محركات الدفع المتعددة، عند العجلة أو داخلها.</a:t>
            </a:r>
          </a:p>
        </p:txBody>
      </p:sp>
      <p:sp>
        <p:nvSpPr>
          <p:cNvPr id="2" name="Footer Placeholder 2">
            <a:extLst>
              <a:ext uri="{FF2B5EF4-FFF2-40B4-BE49-F238E27FC236}">
                <a16:creationId xmlns:a16="http://schemas.microsoft.com/office/drawing/2014/main" id="{B96A64C2-E7A7-92E0-C3C7-3100EA7FDC3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70675223"/>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ب</a:t>
            </a:r>
            <a:br>
              <a:rPr lang="en-US" altLang="en-US" sz="2600"/>
            </a:br>
            <a:br>
              <a:rPr lang="en-US" altLang="en-US" sz="2600"/>
            </a:b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375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تعرّف</a:t>
            </a:r>
          </a:p>
          <a:p>
            <a:pPr algn="ctr" rtl="1"/>
            <a:r>
              <a:rPr lang="ar" sz="3800" b="1">
                <a:latin typeface="Sakkal Majalla" panose="02000000000000000000" pitchFamily="2" charset="-78"/>
                <a:cs typeface="Sakkal Majalla" panose="02000000000000000000" pitchFamily="2" charset="-78"/>
              </a:rPr>
              <a:t>مبادئ تشغيل أنظمة</a:t>
            </a:r>
          </a:p>
          <a:p>
            <a:pPr algn="ctr" rtl="1"/>
            <a:r>
              <a:rPr lang="ar" sz="3800" b="1">
                <a:latin typeface="Sakkal Majalla" panose="02000000000000000000" pitchFamily="2" charset="-78"/>
                <a:cs typeface="Sakkal Majalla" panose="02000000000000000000" pitchFamily="2" charset="-78"/>
              </a:rPr>
              <a:t>نقل الحركة في</a:t>
            </a:r>
          </a:p>
          <a:p>
            <a:pPr algn="ctr" rtl="1"/>
            <a:r>
              <a:rPr lang="ar" sz="3800" b="1">
                <a:latin typeface="Sakkal Majalla" panose="02000000000000000000" pitchFamily="2" charset="-78"/>
                <a:cs typeface="Sakkal Majalla" panose="02000000000000000000" pitchFamily="2" charset="-78"/>
              </a:rPr>
              <a:t>المركبات الهجينة</a:t>
            </a:r>
          </a:p>
        </p:txBody>
      </p:sp>
      <p:sp>
        <p:nvSpPr>
          <p:cNvPr id="2" name="Footer Placeholder 2">
            <a:extLst>
              <a:ext uri="{FF2B5EF4-FFF2-40B4-BE49-F238E27FC236}">
                <a16:creationId xmlns:a16="http://schemas.microsoft.com/office/drawing/2014/main" id="{223352DC-003C-BE24-D114-6B2200E092F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4211514187"/>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0" y="1124744"/>
            <a:ext cx="5184576" cy="37444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مستويات التأثير الهجين والأنظمة المستخدمة فيها</a:t>
            </a:r>
            <a:br>
              <a:rPr lang="en-GB" sz="1400"/>
            </a:br>
            <a:br>
              <a:rPr lang="en-GB" sz="1400"/>
            </a:br>
            <a:r>
              <a:rPr lang="ar" sz="1400" b="1">
                <a:solidFill>
                  <a:schemeClr val="accent6"/>
                </a:solidFill>
              </a:rPr>
              <a:t>1. أنظمة التوقف/التشغيل:</a:t>
            </a:r>
            <a:br>
              <a:rPr lang="en-GB" sz="1400"/>
            </a:br>
            <a:r>
              <a:rPr lang="ar" sz="1400" b="1"/>
              <a:t>الوظيفة</a:t>
            </a:r>
            <a:r>
              <a:rPr lang="ar" sz="1400"/>
              <a:t>: تعمل أنظمة التوقف/التشغيل على إيقاف تشغيل المحرك تلقائيًا عندما تكون المركبة في وضع الثبات، وتشغيله مجددًا عند تحرير المكابح أو الضغط على دواسة الوقود.</a:t>
            </a:r>
            <a:br>
              <a:rPr lang="en-GB" sz="1400"/>
            </a:br>
            <a:r>
              <a:rPr lang="ar" sz="1400" b="1"/>
              <a:t>تقليل استهلاك الوقود</a:t>
            </a:r>
            <a:r>
              <a:rPr lang="ar" sz="1400"/>
              <a:t>: من خلال تقليل فترات الخمول، تُحسّن أنظمة التوقف/التشغيل من كفاءة استهلاك الوقود، خاصة في أثناء القيادة في المدن حيث تتكرر حالات التوقف والانطلاق.</a:t>
            </a:r>
            <a:br>
              <a:rPr lang="en-GB" sz="1400"/>
            </a:br>
            <a:r>
              <a:rPr lang="ar" sz="1400" b="1"/>
              <a:t>المزايا</a:t>
            </a:r>
            <a:r>
              <a:rPr lang="ar" sz="1400"/>
              <a:t>: منخفضة التكلفة وبسيطة ويمكن تطبيقها على المركبات دون الحاجة إلى تغييرات كبيرة في نظام نقل الحركة.</a:t>
            </a:r>
          </a:p>
          <a:p>
            <a:pPr marL="0" indent="0" rtl="1">
              <a:buNone/>
            </a:pPr>
            <a:br>
              <a:rPr lang="en-GB" sz="1400"/>
            </a:br>
            <a:r>
              <a:rPr lang="ar" sz="1400" b="1">
                <a:solidFill>
                  <a:schemeClr val="accent6"/>
                </a:solidFill>
              </a:rPr>
              <a:t>2. هجين خفيف</a:t>
            </a:r>
            <a:br>
              <a:rPr lang="en-GB" sz="1400"/>
            </a:br>
            <a:r>
              <a:rPr lang="ar" sz="1400" b="1"/>
              <a:t>الوصف</a:t>
            </a:r>
            <a:r>
              <a:rPr lang="ar" sz="1400"/>
              <a:t>: يستخدم الهجين الخفيف محركًا كهربائيًا صغيرًا لدعم محرك الاحتراق الداخلي، وذلك لتقليل استهلاك الوقود والانبعاثات.</a:t>
            </a:r>
            <a:br>
              <a:rPr lang="en-GB" sz="1400"/>
            </a:br>
            <a:r>
              <a:rPr lang="ar" sz="1400" b="1"/>
              <a:t>التشغيل</a:t>
            </a:r>
            <a:r>
              <a:rPr lang="ar" sz="1400"/>
              <a:t>: مساعدة المحرك الكهربائي عند تأدية مهام مثل التسارع الأولي، والتوقف المؤقت، وأحيانًا الكبح بالتوليد المعاكس، ولكنه لا يوفر قدرة قيادة كهربائية بالكامل.</a:t>
            </a:r>
            <a:br>
              <a:rPr lang="en-GB" sz="1400"/>
            </a:br>
            <a:r>
              <a:rPr lang="ar" sz="1400" b="1"/>
              <a:t>التأثير</a:t>
            </a:r>
            <a:r>
              <a:rPr lang="ar" sz="1400"/>
              <a:t>: يوفر توفيرًا معتدلًا للوقود وتقليل الانبعاثات وتحسين الكفاءة في السرعات المنخفضة أو حالات التوقف المتكرر.</a:t>
            </a:r>
          </a:p>
          <a:p>
            <a:pPr marL="0" indent="0" rtl="1">
              <a:buNone/>
            </a:pPr>
            <a:br>
              <a:rPr lang="en-GB" sz="1400"/>
            </a:br>
            <a:r>
              <a:rPr lang="ar" sz="1400" b="1">
                <a:solidFill>
                  <a:schemeClr val="accent6"/>
                </a:solidFill>
              </a:rPr>
              <a:t>3. هجين قوي</a:t>
            </a:r>
            <a:br>
              <a:rPr lang="en-GB" sz="1400"/>
            </a:br>
            <a:r>
              <a:rPr lang="ar" sz="1400" b="1"/>
              <a:t>الوصف</a:t>
            </a:r>
            <a:r>
              <a:rPr lang="ar" sz="1400"/>
              <a:t>: يمكن للهجين القوي العمل بالقدرة الكهربائية فقط عند السرعات المنخفضة، أو استخدام محرك الاحتراق الداخلي عند السرعات الأعلى، أو الجمع بينهما لتعزيز القدرة.</a:t>
            </a:r>
            <a:br>
              <a:rPr lang="en-GB" sz="1400"/>
            </a:br>
            <a:r>
              <a:rPr lang="ar" sz="1400" b="1"/>
              <a:t>القدرات</a:t>
            </a:r>
            <a:r>
              <a:rPr lang="ar" sz="1400"/>
              <a:t>: يمكن لهذه المركبات السفر لمسافات قصيرة باستخدام القدرة الكهربائية وحدها، ما يجعلها أكثر كفاءة في استهلاك الوقود وصديقة للبيئة في القيادة داخل المدينة.</a:t>
            </a:r>
            <a:br>
              <a:rPr lang="en-GB" sz="1400"/>
            </a:br>
            <a:r>
              <a:rPr lang="ar" sz="1400" b="1"/>
              <a:t>التأثير</a:t>
            </a:r>
            <a:r>
              <a:rPr lang="ar" sz="1400"/>
              <a:t>: يقلل بشكل كبير من استهلاك الوقود والانبعاثات مقارنة بالأنظمة الهجينة الخفيفة وأنظمة التوقف/التشغيل.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ب1 تخطيطات نظام الدفع في المركبات الهجينة</a:t>
            </a:r>
          </a:p>
        </p:txBody>
      </p:sp>
      <p:pic>
        <p:nvPicPr>
          <p:cNvPr id="5" name="Picture 4">
            <a:extLst>
              <a:ext uri="{FF2B5EF4-FFF2-40B4-BE49-F238E27FC236}">
                <a16:creationId xmlns:a16="http://schemas.microsoft.com/office/drawing/2014/main" id="{BDC61A16-0FA0-083C-53B6-35C08FF2AC11}"/>
              </a:ext>
            </a:extLst>
          </p:cNvPr>
          <p:cNvPicPr>
            <a:picLocks noChangeAspect="1"/>
          </p:cNvPicPr>
          <p:nvPr/>
        </p:nvPicPr>
        <p:blipFill>
          <a:blip r:embed="rId4"/>
          <a:stretch>
            <a:fillRect/>
          </a:stretch>
        </p:blipFill>
        <p:spPr>
          <a:xfrm>
            <a:off x="352587" y="2924944"/>
            <a:ext cx="3156753" cy="1656184"/>
          </a:xfrm>
          <a:prstGeom prst="rect">
            <a:avLst/>
          </a:prstGeom>
        </p:spPr>
      </p:pic>
      <p:sp>
        <p:nvSpPr>
          <p:cNvPr id="2" name="Footer Placeholder 2">
            <a:extLst>
              <a:ext uri="{FF2B5EF4-FFF2-40B4-BE49-F238E27FC236}">
                <a16:creationId xmlns:a16="http://schemas.microsoft.com/office/drawing/2014/main" id="{47B09568-7819-9099-FCE8-ECA10D13434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694370225"/>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340768"/>
            <a:ext cx="8892480"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الأنواع الشائعة من تصاميم المركبات الهجينة</a:t>
            </a:r>
            <a:br>
              <a:rPr lang="en-GB" sz="1300"/>
            </a:br>
            <a:br>
              <a:rPr lang="en-GB" sz="1300"/>
            </a:br>
            <a:r>
              <a:rPr lang="ar" sz="1300" b="1">
                <a:solidFill>
                  <a:schemeClr val="accent6"/>
                </a:solidFill>
              </a:rPr>
              <a:t>1. هجين متوازي</a:t>
            </a:r>
            <a:br>
              <a:rPr lang="en-GB" sz="1300"/>
            </a:br>
            <a:r>
              <a:rPr lang="ar" sz="1300" b="1"/>
              <a:t>الوصف</a:t>
            </a:r>
            <a:r>
              <a:rPr lang="ar" sz="1300"/>
              <a:t>: في هذا النمط، يتصل محرك الاحتراق الداخلي والمحرك الكهربائي بنفس ناقل الحركة، ما يسمح لكليهما بتشغيل العجلات بشكل متزامن.</a:t>
            </a:r>
            <a:br>
              <a:rPr lang="en-GB" sz="1300"/>
            </a:br>
            <a:r>
              <a:rPr lang="ar" sz="1300" b="1"/>
              <a:t>المزايا</a:t>
            </a:r>
            <a:r>
              <a:rPr lang="ar" sz="1300"/>
              <a:t>: يُبسط توزيع القدرة، ويسمح للمحرك الكهربائي بدعم المحرك في أثناء التسارع أو الأحمال العالية.</a:t>
            </a:r>
            <a:br>
              <a:rPr lang="en-GB" sz="1300"/>
            </a:br>
            <a:r>
              <a:rPr lang="ar" sz="1300" b="1"/>
              <a:t>العيوب</a:t>
            </a:r>
            <a:r>
              <a:rPr lang="ar" sz="1300"/>
              <a:t>: مرونة محدودة للقيادة الكهربائية بالكامل مقارنة بالتكوينات الأخرى.</a:t>
            </a:r>
          </a:p>
          <a:p>
            <a:pPr marL="0" indent="0" rtl="1">
              <a:buNone/>
            </a:pPr>
            <a:br>
              <a:rPr lang="en-GB" sz="1300"/>
            </a:br>
            <a:r>
              <a:rPr lang="ar" sz="1300" b="1">
                <a:solidFill>
                  <a:schemeClr val="accent6"/>
                </a:solidFill>
              </a:rPr>
              <a:t>2. محرك هجين موصل على التوالي</a:t>
            </a:r>
            <a:br>
              <a:rPr lang="en-GB" sz="1300"/>
            </a:br>
            <a:r>
              <a:rPr lang="ar" sz="1300" b="1"/>
              <a:t>الوصف</a:t>
            </a:r>
            <a:r>
              <a:rPr lang="ar" sz="1300"/>
              <a:t>: في المحرك الهجين الموصل على التوالي، لا يتصل محرك الاحتراق الداخلي مباشرة بالعجلات. بدلًا من ذلك، تقوم بتوليد الكهرباء للمحرك الكهربائي الذي يعمل على تشغيل العجلات.</a:t>
            </a:r>
            <a:br>
              <a:rPr lang="en-GB" sz="1300"/>
            </a:br>
            <a:r>
              <a:rPr lang="ar" sz="1300" b="1"/>
              <a:t>المزايا</a:t>
            </a:r>
            <a:r>
              <a:rPr lang="ar" sz="1300"/>
              <a:t>: فعّال في القيادة داخل المدن، حيث يعمل محرك الاحتراق الداخلي بسرعة ثابتة ومثالية لشحن البطارية.</a:t>
            </a:r>
            <a:br>
              <a:rPr lang="en-GB" sz="1300"/>
            </a:br>
            <a:r>
              <a:rPr lang="ar" sz="1300" b="1"/>
              <a:t>العيوب</a:t>
            </a:r>
            <a:r>
              <a:rPr lang="ar" sz="1300"/>
              <a:t>: أقل كفاءة عند السرعات العالية، حيث تمر القدرة عبر المولد والمحرك الكهربائي، ما يؤدي إلى فقدان الطاقة.</a:t>
            </a:r>
          </a:p>
          <a:p>
            <a:pPr marL="0" indent="0" rtl="1">
              <a:buNone/>
            </a:pPr>
            <a:br>
              <a:rPr lang="en-GB" sz="1300"/>
            </a:br>
            <a:r>
              <a:rPr lang="ar" sz="1300" b="1">
                <a:solidFill>
                  <a:schemeClr val="accent6"/>
                </a:solidFill>
              </a:rPr>
              <a:t>3. الهجين مزدوج القدرة (الهجين الموصل على التوالي-التوازي)</a:t>
            </a:r>
            <a:br>
              <a:rPr lang="en-GB" sz="1300"/>
            </a:br>
            <a:r>
              <a:rPr lang="ar" sz="1300" b="1"/>
              <a:t>الوصف</a:t>
            </a:r>
            <a:r>
              <a:rPr lang="ar" sz="1300"/>
              <a:t>: يجمع بين عناصر الأنظمة الموصلة على كلًا من التوالي والتوازي، ما يتيح لكل من محرك الاحتراق الداخلي والمحرك الكهربائي تشغيل العجلات بشكل مستقل أو بالتزامن.</a:t>
            </a:r>
            <a:br>
              <a:rPr lang="en-GB" sz="1300"/>
            </a:br>
            <a:r>
              <a:rPr lang="ar" sz="1300" b="1"/>
              <a:t>المزايا</a:t>
            </a:r>
            <a:r>
              <a:rPr lang="ar" sz="1300"/>
              <a:t>: يوفر مرونة وكفاءة أكبر في القيادة داخل المدن </a:t>
            </a:r>
            <a:br>
              <a:rPr lang="en-GB" sz="1300"/>
            </a:br>
            <a:r>
              <a:rPr lang="ar" sz="1300"/>
              <a:t>وعلى الطرق السريعة، مع تحسين كفاءة استهلاك الوقود.</a:t>
            </a:r>
            <a:br>
              <a:rPr lang="en-GB" sz="1300"/>
            </a:br>
            <a:r>
              <a:rPr lang="ar" sz="1300" b="1"/>
              <a:t>التعقيد</a:t>
            </a:r>
            <a:r>
              <a:rPr lang="ar" sz="1300"/>
              <a:t>: يتطلب نظام نقل حركة أكثر تطورًا </a:t>
            </a:r>
            <a:br>
              <a:rPr lang="en-GB" sz="1300"/>
            </a:br>
            <a:r>
              <a:rPr lang="ar" sz="1300"/>
              <a:t>لإدارة تدفق القدرة بين محرك الاحتراق الداخلي والمحرك الكهربائي.</a:t>
            </a:r>
            <a:br>
              <a:rPr lang="en-GB" sz="1300"/>
            </a:br>
            <a:br>
              <a:rPr lang="en-GB" sz="1300"/>
            </a:br>
            <a:endParaRPr lang="en-GB" sz="13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ب1 تخطيطات نظام الدفع في المركبات الهجينة</a:t>
            </a:r>
          </a:p>
        </p:txBody>
      </p:sp>
      <p:sp>
        <p:nvSpPr>
          <p:cNvPr id="2" name="Rectangle 1"/>
          <p:cNvSpPr/>
          <p:nvPr/>
        </p:nvSpPr>
        <p:spPr>
          <a:xfrm>
            <a:off x="1619672" y="6286241"/>
            <a:ext cx="1338829" cy="292388"/>
          </a:xfrm>
          <a:prstGeom prst="rect">
            <a:avLst/>
          </a:prstGeom>
        </p:spPr>
        <p:txBody>
          <a:bodyPr wrap="none" rtlCol="1">
            <a:spAutoFit/>
          </a:bodyPr>
          <a:lstStyle/>
          <a:p>
            <a:pPr rtl="1"/>
            <a:r>
              <a:rPr lang="ar" sz="1300" b="1">
                <a:latin typeface="Sakkal Majalla" panose="02000000000000000000" pitchFamily="2" charset="-78"/>
                <a:cs typeface="Sakkal Majalla" panose="02000000000000000000" pitchFamily="2" charset="-78"/>
              </a:rPr>
              <a:t>محرك الاحتراق الداخلي </a:t>
            </a:r>
            <a:endParaRPr lang="en-GB" sz="1300" b="1" i="0">
              <a:effectLst/>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F4D71ADC-5D3B-696E-8846-1B2441A225A5}"/>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4" name="Picture 3" descr="Diagram of a machine with wheels and arrows&#10;&#10;Description automatically generated">
            <a:extLst>
              <a:ext uri="{FF2B5EF4-FFF2-40B4-BE49-F238E27FC236}">
                <a16:creationId xmlns:a16="http://schemas.microsoft.com/office/drawing/2014/main" id="{67AC0EDB-6DC2-26FD-EA18-1380663600A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27584" y="4365104"/>
            <a:ext cx="3142501" cy="1763314"/>
          </a:xfrm>
          <a:prstGeom prst="rect">
            <a:avLst/>
          </a:prstGeom>
        </p:spPr>
      </p:pic>
    </p:spTree>
    <p:extLst>
      <p:ext uri="{BB962C8B-B14F-4D97-AF65-F5344CB8AC3E}">
        <p14:creationId xmlns:p14="http://schemas.microsoft.com/office/powerpoint/2010/main" val="489564320"/>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24744"/>
            <a:ext cx="8964488" cy="37444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الفئات القياسية للمحركات الكهربائية الهجينة</a:t>
            </a:r>
            <a:br>
              <a:rPr lang="en-GB" sz="1400"/>
            </a:br>
            <a:br>
              <a:rPr lang="en-GB" sz="1400"/>
            </a:br>
            <a:r>
              <a:rPr lang="ar" sz="1400" b="1">
                <a:solidFill>
                  <a:schemeClr val="accent6"/>
                </a:solidFill>
              </a:rPr>
              <a:t>1. فئات P لمواضع المحرك:</a:t>
            </a:r>
            <a:br>
              <a:rPr lang="en-GB" sz="1400"/>
            </a:br>
            <a:r>
              <a:rPr lang="en-US" sz="1400" b="1"/>
              <a:t>P0</a:t>
            </a:r>
            <a:r>
              <a:rPr lang="ar" sz="1400"/>
              <a:t>: يُثبت المحرك على </a:t>
            </a:r>
            <a:r>
              <a:rPr lang="ar" sz="1400" b="1"/>
              <a:t>نظام الدفع الإضافي في مقدمة المحرك</a:t>
            </a:r>
            <a:r>
              <a:rPr lang="ar" sz="1400"/>
              <a:t>، ويُوصل بحزام لتوفير العزم عند السرعات المنخفضة ونظام كبح بالتوليد المعاكس.</a:t>
            </a:r>
            <a:br>
              <a:rPr lang="en-GB" sz="1400"/>
            </a:br>
            <a:r>
              <a:rPr lang="en-US" sz="1400" b="1"/>
              <a:t>P1</a:t>
            </a:r>
            <a:r>
              <a:rPr lang="ar" sz="1400"/>
              <a:t>: يُثبت المحرك في </a:t>
            </a:r>
            <a:r>
              <a:rPr lang="ar" sz="1400" b="1"/>
              <a:t>الجزء الخلفي من المحرك</a:t>
            </a:r>
            <a:r>
              <a:rPr lang="ar" sz="1400"/>
              <a:t>، ويُوصل مباشرة بعمود الكرنك، لدعم المحرك دون الحاجة إلى تعديل ناقل الحركة.</a:t>
            </a:r>
            <a:br>
              <a:rPr lang="en-GB" sz="1400"/>
            </a:br>
            <a:r>
              <a:rPr lang="en-US" sz="1400" b="1"/>
              <a:t>P2</a:t>
            </a:r>
            <a:r>
              <a:rPr lang="ar" sz="1400"/>
              <a:t>: يُثبت المحرك</a:t>
            </a:r>
            <a:r>
              <a:rPr lang="ar" sz="1400" b="1"/>
              <a:t> بين المحرك وناقل الحركة</a:t>
            </a:r>
            <a:r>
              <a:rPr lang="ar" sz="1400"/>
              <a:t>، ما يتيح توصيل مباشر للقدرة إلى ناقل الحركة وإمكانية القيادة الكهربائية فقط.</a:t>
            </a:r>
            <a:br>
              <a:rPr lang="en-GB" sz="1400"/>
            </a:br>
            <a:r>
              <a:rPr lang="en-US" sz="1400" b="1"/>
              <a:t>P3</a:t>
            </a:r>
            <a:r>
              <a:rPr lang="ar" sz="1400"/>
              <a:t>: يقع المحرك</a:t>
            </a:r>
            <a:r>
              <a:rPr lang="ar" sz="1400" b="1"/>
              <a:t> داخل ناقل الحركة أو بعده</a:t>
            </a:r>
            <a:r>
              <a:rPr lang="ar" sz="1400"/>
              <a:t> ولكن قبل الترس التفاضلي، ما يوفر الدعم في أثناء إخراج ناقل الحركة.</a:t>
            </a:r>
            <a:br>
              <a:rPr lang="en-GB" sz="1400"/>
            </a:br>
            <a:r>
              <a:rPr lang="en-US" sz="1400" b="1"/>
              <a:t>P4</a:t>
            </a:r>
            <a:r>
              <a:rPr lang="ar" sz="1400"/>
              <a:t>: يقع المحرك</a:t>
            </a:r>
            <a:r>
              <a:rPr lang="ar" sz="1400" b="1"/>
              <a:t> داخل نظام الدفع المحوري</a:t>
            </a:r>
            <a:r>
              <a:rPr lang="ar" sz="1400"/>
              <a:t>، ما يسمح بقيادة كهربائية مستقلة للمحور، وهو شائع في أنظمة الدفع الكامل.</a:t>
            </a:r>
            <a:br>
              <a:rPr lang="en-GB" sz="1400"/>
            </a:br>
            <a:r>
              <a:rPr lang="ar" sz="1400" b="1"/>
              <a:t>تقسيم القدرة</a:t>
            </a:r>
            <a:r>
              <a:rPr lang="ar" sz="1400"/>
              <a:t>: يستخدم </a:t>
            </a:r>
            <a:r>
              <a:rPr lang="ar" sz="1400" b="1"/>
              <a:t>مجموعة تروس كوكبية</a:t>
            </a:r>
            <a:r>
              <a:rPr lang="ar" sz="1400"/>
              <a:t> لتقسيم القدرة بين محرك الاحتراق الداخلي والمحرك الكهربائي، ما يتيح التشغيل على التوالي والتوازي.</a:t>
            </a:r>
            <a:br>
              <a:rPr lang="en-GB" sz="1400"/>
            </a:br>
            <a:endParaRPr lang="en-GB" sz="1400"/>
          </a:p>
          <a:p>
            <a:pPr marL="0" indent="0" rtl="1">
              <a:buNone/>
            </a:pPr>
            <a:r>
              <a:rPr lang="ar" sz="1400" b="1">
                <a:solidFill>
                  <a:schemeClr val="accent6"/>
                </a:solidFill>
              </a:rPr>
              <a:t>2. نظام محرك المحور EE</a:t>
            </a:r>
            <a:r>
              <a:rPr lang="ar-EG" sz="1400" b="1">
                <a:solidFill>
                  <a:schemeClr val="accent6"/>
                </a:solidFill>
              </a:rPr>
              <a:t> </a:t>
            </a:r>
            <a:r>
              <a:rPr lang="ar" sz="1400"/>
              <a:t>التعريف: نظام يكون فيه المحرك الكهربائي مثبتًا مباشرة على المحور، ما يوفر القدرة للعجلات بشكل مستقل عن محرك الاحتراق الداخلي.</a:t>
            </a:r>
            <a:br>
              <a:rPr lang="en-GB" sz="1400"/>
            </a:br>
            <a:r>
              <a:rPr lang="ar" sz="1400" b="1"/>
              <a:t>الاستخدام:</a:t>
            </a:r>
            <a:r>
              <a:rPr lang="ar" sz="1400"/>
              <a:t> شائع في المركبات ذات الدفع الكامل حيث يوفر توزيعًا محسّنًا للعزم وتحكمًا أفضل.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ب1 تخطيطات نظام الدفع في المركبات الهجينة</a:t>
            </a:r>
          </a:p>
        </p:txBody>
      </p:sp>
      <p:pic>
        <p:nvPicPr>
          <p:cNvPr id="2" name="Picture 1"/>
          <p:cNvPicPr>
            <a:picLocks noChangeAspect="1"/>
          </p:cNvPicPr>
          <p:nvPr/>
        </p:nvPicPr>
        <p:blipFill>
          <a:blip r:embed="rId4"/>
          <a:stretch>
            <a:fillRect/>
          </a:stretch>
        </p:blipFill>
        <p:spPr>
          <a:xfrm>
            <a:off x="2195736" y="4691116"/>
            <a:ext cx="5112568" cy="1834228"/>
          </a:xfrm>
          <a:prstGeom prst="rect">
            <a:avLst/>
          </a:prstGeom>
        </p:spPr>
      </p:pic>
      <p:sp>
        <p:nvSpPr>
          <p:cNvPr id="3" name="Footer Placeholder 2">
            <a:extLst>
              <a:ext uri="{FF2B5EF4-FFF2-40B4-BE49-F238E27FC236}">
                <a16:creationId xmlns:a16="http://schemas.microsoft.com/office/drawing/2014/main" id="{887FF2F1-7E58-D6F7-4B87-AA4C6A03017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3934770824"/>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8964488"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أنواع الأنظمة الفرعية والتخطيطات والمكونات</a:t>
            </a:r>
            <a:br>
              <a:rPr lang="en-GB" sz="1400"/>
            </a:br>
            <a:br>
              <a:rPr lang="en-GB" sz="1400"/>
            </a:br>
            <a:r>
              <a:rPr lang="ar" sz="1400" b="1">
                <a:solidFill>
                  <a:schemeClr val="accent6"/>
                </a:solidFill>
              </a:rPr>
              <a:t>1. أنظمة القابض الأحادي الهجين الموصل على التوازي</a:t>
            </a:r>
            <a:br>
              <a:rPr lang="en-GB" sz="1400"/>
            </a:br>
            <a:r>
              <a:rPr lang="ar" sz="1400" b="1"/>
              <a:t>الوصف</a:t>
            </a:r>
            <a:r>
              <a:rPr lang="ar" sz="1400"/>
              <a:t>: يسمح القابض الأحادي بالتبديل بين قدرة محرك الاحتراق الداخلي والمحرك الكهربائي أو استخدام كليهما لتعزيز الأداء.</a:t>
            </a:r>
            <a:br>
              <a:rPr lang="en-GB" sz="1400"/>
            </a:br>
            <a:r>
              <a:rPr lang="ar" sz="1400" b="1"/>
              <a:t>الاستخدام:</a:t>
            </a:r>
            <a:r>
              <a:rPr lang="ar" sz="1400"/>
              <a:t> يُستخدم غالبًا في الأنظمة الهجينة الخفيفة للقيادة داخل المدن وعلى الطرق السريعة بكفاءة.</a:t>
            </a:r>
            <a:br>
              <a:rPr lang="en-GB" sz="1400"/>
            </a:br>
            <a:endParaRPr lang="en-GB" sz="1400"/>
          </a:p>
          <a:p>
            <a:pPr marL="0" indent="0" rtl="1">
              <a:buNone/>
            </a:pPr>
            <a:r>
              <a:rPr lang="ar" sz="1400" b="1">
                <a:solidFill>
                  <a:schemeClr val="accent6"/>
                </a:solidFill>
              </a:rPr>
              <a:t>2. أنظمة القابض الثنائي الهجين الموصل على التوازي</a:t>
            </a:r>
            <a:br>
              <a:rPr lang="en-GB" sz="1400" b="1">
                <a:solidFill>
                  <a:schemeClr val="accent6"/>
                </a:solidFill>
              </a:rPr>
            </a:br>
            <a:r>
              <a:rPr lang="ar" sz="1400" b="1"/>
              <a:t>الوصف</a:t>
            </a:r>
            <a:r>
              <a:rPr lang="ar" sz="1400"/>
              <a:t>: يتيح القابض الثنائي لمحرك الاحتراق الداخلي والمحرك الكهربائي العمل بشكل مستقل، ما يزيد من مرونة القيادة الكهربائية أو القيادة المدمجة.</a:t>
            </a:r>
            <a:br>
              <a:rPr lang="en-GB" sz="1400"/>
            </a:br>
            <a:r>
              <a:rPr lang="ar" sz="1400" b="1"/>
              <a:t>المزايا</a:t>
            </a:r>
            <a:r>
              <a:rPr lang="ar" sz="1400"/>
              <a:t>: يسمح بالانتقال السلس بين قدرة المحرك الكهربائي ومحرك الاحتراق الداخلي.</a:t>
            </a:r>
            <a:br>
              <a:rPr lang="en-GB" sz="1400"/>
            </a:br>
            <a:endParaRPr lang="en-GB" sz="1400"/>
          </a:p>
          <a:p>
            <a:pPr marL="0" indent="0" rtl="1">
              <a:buNone/>
            </a:pPr>
            <a:r>
              <a:rPr lang="ar" sz="1400" b="1">
                <a:solidFill>
                  <a:schemeClr val="accent6"/>
                </a:solidFill>
              </a:rPr>
              <a:t>3. ناقل حركة مزدوج القابض هجين موصل على التوازي</a:t>
            </a:r>
            <a:br>
              <a:rPr lang="en-GB" sz="1400"/>
            </a:br>
            <a:r>
              <a:rPr lang="ar" sz="1400" b="1"/>
              <a:t>الوصف</a:t>
            </a:r>
            <a:r>
              <a:rPr lang="ar" sz="1400"/>
              <a:t>: يسمح ناقل الحركة مزدوج القابض لكل من محرك الاحتراق الداخلي والمحرك الكهربائي بتشغيل العجلات بشكل مستقل، ما يحسن الكفاءة والأداء.</a:t>
            </a:r>
            <a:br>
              <a:rPr lang="en-GB" sz="1400"/>
            </a:br>
            <a:r>
              <a:rPr lang="ar" sz="1400" b="1"/>
              <a:t>الاستخدام:</a:t>
            </a:r>
            <a:r>
              <a:rPr lang="ar" sz="1400"/>
              <a:t> مناسب للأنظمة الهجينة الموجهة نحو الأداء، حيث يُعتبر توزيع القدرة السلس أمرًا ضروريًا.</a:t>
            </a:r>
          </a:p>
          <a:p>
            <a:pPr marL="0" indent="0" rtl="1">
              <a:buNone/>
            </a:pPr>
            <a:endParaRPr lang="en-GB" sz="1400" b="1">
              <a:solidFill>
                <a:schemeClr val="accent6"/>
              </a:solidFill>
            </a:endParaRPr>
          </a:p>
          <a:p>
            <a:pPr marL="0" indent="0" rtl="1">
              <a:buNone/>
            </a:pPr>
            <a:r>
              <a:rPr lang="ar" sz="1400" b="1">
                <a:solidFill>
                  <a:schemeClr val="accent6"/>
                </a:solidFill>
              </a:rPr>
              <a:t>4. محرك هجين موصل على التوازي بمحاور منفصلة</a:t>
            </a:r>
            <a:br>
              <a:rPr lang="en-GB" sz="1400"/>
            </a:br>
            <a:r>
              <a:rPr lang="ar" sz="1400" b="1"/>
              <a:t>الوصف</a:t>
            </a:r>
            <a:r>
              <a:rPr lang="ar" sz="1400"/>
              <a:t>: ناقل الحركة مزدوج القابض يتيح لكل من محرك الاحتراق الداخلي والمحرك الكهربائي قيادة العجلات بشكل مستقل، ما يعزز الكفاءة والأداء.</a:t>
            </a:r>
            <a:br>
              <a:rPr lang="en-GB" sz="1400"/>
            </a:br>
            <a:r>
              <a:rPr lang="ar" sz="1400" b="1"/>
              <a:t>المزايا</a:t>
            </a:r>
            <a:r>
              <a:rPr lang="ar" sz="1400"/>
              <a:t>: يوفر إمكانية الدفع الكامل ما يعزز الجر والأداء.</a:t>
            </a:r>
            <a:br>
              <a:rPr lang="en-GB" sz="1400"/>
            </a:br>
            <a:endParaRPr lang="en-GB" sz="1400"/>
          </a:p>
          <a:p>
            <a:pPr marL="0" indent="0" rtl="1">
              <a:buNone/>
            </a:pPr>
            <a:r>
              <a:rPr lang="ar" sz="1400" b="1">
                <a:solidFill>
                  <a:schemeClr val="accent6"/>
                </a:solidFill>
              </a:rPr>
              <a:t>5. محرك هجين موصل على التوالي</a:t>
            </a:r>
            <a:br>
              <a:rPr lang="en-GB" sz="1400"/>
            </a:br>
            <a:r>
              <a:rPr lang="ar" sz="1400" b="1"/>
              <a:t>الوصف</a:t>
            </a:r>
            <a:r>
              <a:rPr lang="ar" sz="1400"/>
              <a:t>: يولد محرك الاحتراق الداخلي الكهرباء للمحرك الكهربائي الذي يعمل على تشغيل العجلات بشكل حصري.</a:t>
            </a:r>
            <a:br>
              <a:rPr lang="en-GB" sz="1400"/>
            </a:br>
            <a:r>
              <a:rPr lang="ar" sz="1400" b="1"/>
              <a:t>المزايا</a:t>
            </a:r>
            <a:r>
              <a:rPr lang="ar" sz="1400"/>
              <a:t>: هذا النظام فعال للغاية في ظروف القيادة داخل المدن، حيث يكون التشغيل الكهربائي عند السرعات المنخفضة مثاليًا.</a:t>
            </a:r>
            <a:br>
              <a:rPr lang="en-GB" sz="1400"/>
            </a:br>
            <a:br>
              <a:rPr lang="en-GB" sz="1400"/>
            </a:br>
            <a:endParaRPr lang="en-GB" sz="14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ب1 تخطيطات نظام الدفع في المركبات الهجينة</a:t>
            </a:r>
          </a:p>
        </p:txBody>
      </p:sp>
      <p:sp>
        <p:nvSpPr>
          <p:cNvPr id="2" name="Footer Placeholder 2">
            <a:extLst>
              <a:ext uri="{FF2B5EF4-FFF2-40B4-BE49-F238E27FC236}">
                <a16:creationId xmlns:a16="http://schemas.microsoft.com/office/drawing/2014/main" id="{2E9FDE87-073F-8083-57A8-2D876F2CB01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566731653"/>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268760"/>
            <a:ext cx="8964488"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أنواع الأنظمة الفرعية والتخطيطات والمكونات</a:t>
            </a:r>
            <a:br>
              <a:rPr lang="en-GB" sz="1400"/>
            </a:br>
            <a:br>
              <a:rPr lang="en-GB" sz="1400"/>
            </a:br>
            <a:r>
              <a:rPr lang="ar" sz="1400" b="1">
                <a:solidFill>
                  <a:schemeClr val="accent6"/>
                </a:solidFill>
              </a:rPr>
              <a:t>6. محرك هجين موصل على التوالي والتوازي</a:t>
            </a:r>
            <a:br>
              <a:rPr lang="en-GB" sz="1400"/>
            </a:br>
            <a:r>
              <a:rPr lang="ar" sz="1400" b="1"/>
              <a:t>الوصف</a:t>
            </a:r>
            <a:r>
              <a:rPr lang="ar" sz="1400"/>
              <a:t>: يجمع بين ميزات النظامين على التوالي والتوازي، ما يوفر مرونة في التكيف مع ظروف القيادة المختلفة وتحقيق كفاءة أعلى.
الاستخدام: شائع في السيارات الهجينة الكاملة التي تسعى لتحسين استهلاك الوقود في ظروف قيادة متنوعة.</a:t>
            </a:r>
            <a:br>
              <a:rPr lang="en-GB" sz="1400"/>
            </a:br>
            <a:endParaRPr lang="en-GB" sz="1400"/>
          </a:p>
          <a:p>
            <a:pPr marL="0" indent="0" rtl="1">
              <a:buNone/>
            </a:pPr>
            <a:r>
              <a:rPr lang="ar" sz="1400" b="1">
                <a:solidFill>
                  <a:schemeClr val="accent6"/>
                </a:solidFill>
              </a:rPr>
              <a:t>7. هجين بنظام تقسيم القدرة</a:t>
            </a:r>
            <a:br>
              <a:rPr lang="en-GB" sz="1400"/>
            </a:br>
            <a:r>
              <a:rPr lang="ar" sz="1400" b="1"/>
              <a:t>الوصف</a:t>
            </a:r>
            <a:r>
              <a:rPr lang="ar" sz="1400"/>
              <a:t>: يستخدم مجموعة تروس كوكبية لإدارة تدفق القدرة، ما يسمح بالتشغيل الهجين على التوالي والتوازي بحسب الحاجة.</a:t>
            </a:r>
            <a:br>
              <a:rPr lang="en-GB" sz="1400"/>
            </a:br>
            <a:r>
              <a:rPr lang="ar" sz="1400" b="1"/>
              <a:t>المزايا</a:t>
            </a:r>
            <a:r>
              <a:rPr lang="ar" sz="1400"/>
              <a:t>: يوفر اقتصادًا ممتازًا في استهلاك الوقود، بالإضافة إلى تحقيق توازن بين القدرة والكفاءة.</a:t>
            </a:r>
            <a:br>
              <a:rPr lang="en-GB" sz="1400"/>
            </a:br>
            <a:endParaRPr lang="en-GB" sz="14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ب1 تخطيطات نظام الدفع في المركبات الهجينة</a:t>
            </a:r>
          </a:p>
        </p:txBody>
      </p:sp>
      <p:sp>
        <p:nvSpPr>
          <p:cNvPr id="2" name="Footer Placeholder 2">
            <a:extLst>
              <a:ext uri="{FF2B5EF4-FFF2-40B4-BE49-F238E27FC236}">
                <a16:creationId xmlns:a16="http://schemas.microsoft.com/office/drawing/2014/main" id="{813E91AA-5CBA-6A20-ED9B-A84E03761F8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2468802378"/>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124744"/>
            <a:ext cx="9036496" cy="3816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أنظمة نقل الحركة الهجينة</a:t>
            </a:r>
            <a:br>
              <a:rPr lang="en-GB" sz="1400"/>
            </a:br>
            <a:br>
              <a:rPr lang="en-GB" sz="1400"/>
            </a:br>
            <a:r>
              <a:rPr lang="ar" sz="1400" b="1">
                <a:solidFill>
                  <a:schemeClr val="accent6"/>
                </a:solidFill>
              </a:rPr>
              <a:t>1. أنظمة دفع الحذافة المكيفة</a:t>
            </a:r>
            <a:br>
              <a:rPr lang="en-GB" sz="1400"/>
            </a:br>
            <a:r>
              <a:rPr lang="ar" sz="1400" b="1"/>
              <a:t>الوصف</a:t>
            </a:r>
            <a:r>
              <a:rPr lang="ar" sz="1400"/>
              <a:t>: في نظام الحذّافة المكيف، يتم تعديل الحذّافة لتخزين القدرة وإطلاقها بكفاءة، ما يساعد على إدارة الانتقال بين القدرة الكهربائية وقدرة محرك الاحتراق الداخلي.</a:t>
            </a:r>
            <a:br>
              <a:rPr lang="en-GB" sz="1400"/>
            </a:br>
            <a:r>
              <a:rPr lang="ar" sz="1400" b="1"/>
              <a:t>الوظيفة</a:t>
            </a:r>
            <a:r>
              <a:rPr lang="ar" sz="1400"/>
              <a:t>: تسمح الحذّافة المكيّفة بتخزين القدرة المتجددة، وتخزين الطاقة الحركية في أثناء الكبح وإطلاقها في أثناء التسارع لمساعدة محرك الاحتراق الداخلي.</a:t>
            </a:r>
            <a:br>
              <a:rPr lang="en-GB" sz="1400"/>
            </a:br>
            <a:r>
              <a:rPr lang="ar" sz="1400" b="1"/>
              <a:t>المزايا</a:t>
            </a:r>
            <a:r>
              <a:rPr lang="ar" sz="1400"/>
              <a:t>: يعمل على تحسين الكفاءة الإجمالية باستخدام الطاقة المخزنة لتقليل الحمل على محرك الاحتراق الداخلي، ما يؤدي إلى تحسين الاقتصاد في استهلاك الوقود.</a:t>
            </a:r>
            <a:br>
              <a:rPr lang="en-GB" sz="1400"/>
            </a:br>
            <a:endParaRPr lang="en-GB" sz="1400"/>
          </a:p>
          <a:p>
            <a:pPr marL="0" indent="0" rtl="1">
              <a:buNone/>
            </a:pPr>
            <a:r>
              <a:rPr lang="ar" sz="1400" b="1">
                <a:solidFill>
                  <a:schemeClr val="accent6"/>
                </a:solidFill>
              </a:rPr>
              <a:t>2. أنظمة دفع محرك ناقل الحركة</a:t>
            </a:r>
            <a:br>
              <a:rPr lang="en-GB" sz="1400"/>
            </a:br>
            <a:r>
              <a:rPr lang="ar" sz="1400" b="1"/>
              <a:t>الوصف</a:t>
            </a:r>
            <a:r>
              <a:rPr lang="ar" sz="1400"/>
              <a:t>: يتضمن نظام دفع محرك ناقل الحركة محركًا كهربائيًا مدمجًا داخل ناقل الحركة، ما يسمح بمساعدة محرك الاحتراق الداخلي أو تولي القيادة عند سرعات محددة.</a:t>
            </a:r>
            <a:br>
              <a:rPr lang="en-GB" sz="1400"/>
            </a:br>
            <a:r>
              <a:rPr lang="ar" sz="1400" b="1"/>
              <a:t>الوظيفة</a:t>
            </a:r>
            <a:r>
              <a:rPr lang="ar" sz="1400"/>
              <a:t>: يمكن للمحرك توفير عزم دوران مباشر لناقل الحركة، ما يتيح القيادة الكهربائية فقط بسرعات منخفضة أو عند الحاجة إلى عزم دوران إضافي.</a:t>
            </a:r>
            <a:br>
              <a:rPr lang="en-GB" sz="1400"/>
            </a:br>
            <a:r>
              <a:rPr lang="ar" sz="1400" b="1"/>
              <a:t>المزايا</a:t>
            </a:r>
            <a:r>
              <a:rPr lang="ar" sz="1400"/>
              <a:t>: يعزز المرونة والكفاءة، خاصة في حركة بدء التشغيل والتوقف، من خلال تقليل استهلاك الوقود وتوفير انتقالات سلسة بين مصادر القدرة.</a:t>
            </a:r>
            <a:br>
              <a:rPr lang="en-GB" sz="1400"/>
            </a:br>
            <a:endParaRPr lang="en-GB" sz="1400"/>
          </a:p>
          <a:p>
            <a:pPr marL="0" indent="0" rtl="1">
              <a:buNone/>
            </a:pPr>
            <a:r>
              <a:rPr lang="ar" sz="1400" b="1">
                <a:solidFill>
                  <a:schemeClr val="accent6"/>
                </a:solidFill>
              </a:rPr>
              <a:t>3. أنظمة دفع محرك المحور</a:t>
            </a:r>
            <a:br>
              <a:rPr lang="en-GB" sz="1400"/>
            </a:br>
            <a:r>
              <a:rPr lang="ar" sz="1400" b="1"/>
              <a:t>الوصف</a:t>
            </a:r>
            <a:r>
              <a:rPr lang="ar" sz="1400"/>
              <a:t>: في نظام دفع محرك المحور، يتم وضع المحرك الكهربائي مباشرة على المحور، إما في الأمام وإما الخلف وإما كليهما، ما يسمح للمركبة بتوصيل قدرة كهربائية فقط أو مشتركة إلى العجلات.</a:t>
            </a:r>
            <a:br>
              <a:rPr lang="en-GB" sz="1400"/>
            </a:br>
            <a:r>
              <a:rPr lang="ar" sz="1400" b="1"/>
              <a:t>الوظيفة</a:t>
            </a:r>
            <a:r>
              <a:rPr lang="ar" sz="1400"/>
              <a:t>: يوفر قدرة مباشرة للمحور، ما يحسن التحكم في عزم الدوران ويتيح الدفع المستقل للعجلات. شائع في سيارات الدفع الكامل الهجينة، حيث تتم إضافة المحركات الكهربائية إلى المحاور غير المدفوعة لتحسين التحكم.</a:t>
            </a:r>
            <a:br>
              <a:rPr lang="en-GB" sz="1400"/>
            </a:br>
            <a:r>
              <a:rPr lang="ar" sz="1400" b="1"/>
              <a:t>المزايا</a:t>
            </a:r>
            <a:r>
              <a:rPr lang="ar" sz="1400"/>
              <a:t>: يحسّن قوة الجر، خاصة في أنظمة الدفع الكامل، ويسمح بتحكم أفضل لعزم الدوران وتوزيع فعال للقدرة بين العجلات.</a:t>
            </a:r>
            <a:br>
              <a:rPr lang="en-GB" sz="1400"/>
            </a:br>
            <a:endParaRPr lang="en-GB" sz="1400"/>
          </a:p>
          <a:p>
            <a:pPr marL="0" indent="0" rtl="1">
              <a:buNone/>
            </a:pPr>
            <a:r>
              <a:rPr lang="ar" sz="1400" b="1">
                <a:solidFill>
                  <a:schemeClr val="accent6"/>
                </a:solidFill>
              </a:rPr>
              <a:t>4. كفاءة أنظمة الدفع المختلفة وإنتاج عزم الدوران</a:t>
            </a:r>
            <a:br>
              <a:rPr lang="en-GB" sz="1400"/>
            </a:br>
            <a:r>
              <a:rPr lang="ar" sz="1400" b="1"/>
              <a:t>اعتبارات الكفاءة</a:t>
            </a:r>
            <a:r>
              <a:rPr lang="ar" sz="1400"/>
              <a:t>: يتمتع كل نظام قيادة بخصائص كفاءة خاصة به. وتتميز أنظمة دفع الحذافة المكيفة بالكفاءة في استعادة القدرة، بينما توفر محركات ناقل الحركة وأنظمة دفع محرك المحور انتقالات سلسة وتحكمًا محسنًا في القدرة.</a:t>
            </a:r>
            <a:br>
              <a:rPr lang="en-GB" sz="1400"/>
            </a:br>
            <a:r>
              <a:rPr lang="ar" sz="1400" b="1"/>
              <a:t>إنتاج عزم الدوران</a:t>
            </a:r>
            <a:r>
              <a:rPr lang="ar" sz="1400"/>
              <a:t>: توفر أنظمة ناقل الحركة والمحركات المحورية عزمًا عاليًا عند السرعات المنخفضة، ما يجعلها مثالية للقيادة في المناطق الحضرية، بينما تدعم أنظمة الحذّافة المكيفة التوصيل السلس لعزم الدوران من خلال موازنة تدفق الطاقة بين محرك الاحتراق الداخلي والأنظمة الكهربائية.</a:t>
            </a:r>
            <a:br>
              <a:rPr lang="en-GB" sz="1400"/>
            </a:br>
            <a:endParaRPr lang="en-GB" sz="14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43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ب2 بنية أنظمة نقل الحركة في المركبات الهجينة وتشغيلها</a:t>
            </a:r>
          </a:p>
          <a:p>
            <a:pPr rtl="1"/>
            <a:endParaRPr lang="ar"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ED7F41F4-949C-69BD-F51D-C7CA971DB5D9}"/>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3241367175"/>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63888" y="1196752"/>
            <a:ext cx="5328592"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بنية وحدة ناقل الحركة الهجين</a:t>
            </a:r>
            <a:br>
              <a:rPr lang="en-GB" sz="1400"/>
            </a:br>
            <a:br>
              <a:rPr lang="en-GB" sz="1400"/>
            </a:br>
            <a:r>
              <a:rPr lang="ar" sz="1400" b="1">
                <a:solidFill>
                  <a:schemeClr val="accent6"/>
                </a:solidFill>
              </a:rPr>
              <a:t>1. أنظمة دفع الحذافة المكيفة</a:t>
            </a:r>
            <a:br>
              <a:rPr lang="en-GB" sz="1400"/>
            </a:br>
            <a:r>
              <a:rPr lang="ar" sz="1400" b="1"/>
              <a:t>التصنيع</a:t>
            </a:r>
            <a:r>
              <a:rPr lang="ar" sz="1400"/>
              <a:t>: تدمج وحدة الحذّافة المُكيَّفة الحذّافة المكيفة المخصصة لتخزين الطاقة، غالبًا مع قوابض إضافية وآليات الكبح بالتوليد المعاكس.</a:t>
            </a:r>
            <a:br>
              <a:rPr lang="en-GB" sz="1400"/>
            </a:br>
            <a:r>
              <a:rPr lang="ar" sz="1400" b="1"/>
              <a:t>المكونات الرئيسة</a:t>
            </a:r>
            <a:r>
              <a:rPr lang="ar" sz="1400"/>
              <a:t>: الحذّافة والقوابض ونظام الكبح بالتوليد المعاكس.</a:t>
            </a:r>
            <a:br>
              <a:rPr lang="en-GB" sz="1400"/>
            </a:br>
            <a:r>
              <a:rPr lang="ar" sz="1400" b="1"/>
              <a:t>التجميع</a:t>
            </a:r>
            <a:r>
              <a:rPr lang="ar" sz="1400"/>
              <a:t>: مصنوعة من مواد معززة لتحمل دورات الشحن والتفريغ المتكررة، ما يتيح امتصاص وإطلاق الطاقة الحركية بكفاءة.</a:t>
            </a:r>
          </a:p>
          <a:p>
            <a:pPr marL="0" indent="0" rtl="1">
              <a:buNone/>
            </a:pPr>
            <a:br>
              <a:rPr lang="en-GB" sz="1400"/>
            </a:br>
            <a:r>
              <a:rPr lang="ar" sz="1400" b="1">
                <a:solidFill>
                  <a:schemeClr val="accent6"/>
                </a:solidFill>
              </a:rPr>
              <a:t>2. أنظمة دفع محرك ناقل الحركة</a:t>
            </a:r>
            <a:br>
              <a:rPr lang="en-GB" sz="1400"/>
            </a:br>
            <a:r>
              <a:rPr lang="ar" sz="1400" b="1"/>
              <a:t>التصنيع</a:t>
            </a:r>
            <a:r>
              <a:rPr lang="ar" sz="1400"/>
              <a:t>: يشتمل على محرك كهربائي داخل هيكل نظام ناقل الحركة، متصل بتروس ناقل الحركة الرئيسة لتزويد القدرة مباشرة.</a:t>
            </a:r>
            <a:br>
              <a:rPr lang="en-GB" sz="1400"/>
            </a:br>
            <a:r>
              <a:rPr lang="ar" sz="1400" b="1"/>
              <a:t>المكونات الرئيسة</a:t>
            </a:r>
            <a:r>
              <a:rPr lang="ar" sz="1400"/>
              <a:t>: محرك كهربائي، هيكل نظام ناقل الحركة، وحدة التحكم في المحرك.</a:t>
            </a:r>
            <a:br>
              <a:rPr lang="en-GB" sz="1400"/>
            </a:br>
            <a:r>
              <a:rPr lang="ar" sz="1400" b="1"/>
              <a:t>التجميع</a:t>
            </a:r>
            <a:r>
              <a:rPr lang="ar" sz="1400"/>
              <a:t>: مدمج في ناقل الحركة مع آليات تبريد لإدارة الحرارة ومنع تآكل المحرك بمرور الوقت، خاصة في أثناء تطبيقات عزم الدوران العالي.</a:t>
            </a:r>
          </a:p>
          <a:p>
            <a:pPr marL="0" indent="0" rtl="1">
              <a:buNone/>
            </a:pPr>
            <a:br>
              <a:rPr lang="en-GB" sz="1400"/>
            </a:br>
            <a:r>
              <a:rPr lang="ar" sz="1400" b="1">
                <a:solidFill>
                  <a:schemeClr val="accent6"/>
                </a:solidFill>
              </a:rPr>
              <a:t>3. أنظمة دفع محرك المحور</a:t>
            </a:r>
            <a:br>
              <a:rPr lang="en-GB" sz="1400"/>
            </a:br>
            <a:r>
              <a:rPr lang="ar" sz="1400" b="1"/>
              <a:t>التصنيع</a:t>
            </a:r>
            <a:r>
              <a:rPr lang="ar" sz="1400"/>
              <a:t>: يتم تركيب المحرك الكهربائي مباشرة على المحور، غالبًا مع علبة تروس مرافقة لتحسين التحكم في عزم الدوران.</a:t>
            </a:r>
            <a:br>
              <a:rPr lang="en-GB" sz="1400"/>
            </a:br>
            <a:r>
              <a:rPr lang="ar" sz="1400" b="1"/>
              <a:t>المكونات الرئيسة</a:t>
            </a:r>
            <a:r>
              <a:rPr lang="ar" sz="1400"/>
              <a:t>: محرك كهربائي، عمود المحور، تروس التخفيض.</a:t>
            </a:r>
            <a:br>
              <a:rPr lang="en-GB" sz="1400"/>
            </a:br>
            <a:r>
              <a:rPr lang="ar" sz="1400" b="1"/>
              <a:t>التجميع</a:t>
            </a:r>
            <a:r>
              <a:rPr lang="ar" sz="1400"/>
              <a:t>: مصمم بمواد عالية القوة لتحمل الضغط الناتج عن نقل القدرة المباشر للعجلات، خاصةً في أنظمة الدفع الكامل، مع إضافة آليات للتبريد والعزل لحماية المحرك.</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ب2 بنية أنظمة نقل الحركة في المركبات الهجينة وتشغيلها</a:t>
            </a:r>
          </a:p>
          <a:p>
            <a:pPr rtl="1"/>
            <a:endParaRPr lang="ar" sz="2200" b="1">
              <a:latin typeface="Sakkal Majalla" panose="02000000000000000000" pitchFamily="2" charset="-78"/>
              <a:cs typeface="Sakkal Majalla" panose="02000000000000000000" pitchFamily="2" charset="-78"/>
            </a:endParaRPr>
          </a:p>
        </p:txBody>
      </p:sp>
      <p:sp>
        <p:nvSpPr>
          <p:cNvPr id="4" name="TextBox 3"/>
          <p:cNvSpPr txBox="1"/>
          <p:nvPr/>
        </p:nvSpPr>
        <p:spPr>
          <a:xfrm>
            <a:off x="1128121" y="5853423"/>
            <a:ext cx="1664238"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حذافة محرك الاحتراق الداخلي</a:t>
            </a:r>
          </a:p>
        </p:txBody>
      </p:sp>
      <p:sp>
        <p:nvSpPr>
          <p:cNvPr id="3" name="Footer Placeholder 2">
            <a:extLst>
              <a:ext uri="{FF2B5EF4-FFF2-40B4-BE49-F238E27FC236}">
                <a16:creationId xmlns:a16="http://schemas.microsoft.com/office/drawing/2014/main" id="{CDE255F9-A3C9-DC00-A513-E1AA80FD53E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grey metal wheel with a hole&#10;&#10;Description automatically generated">
            <a:extLst>
              <a:ext uri="{FF2B5EF4-FFF2-40B4-BE49-F238E27FC236}">
                <a16:creationId xmlns:a16="http://schemas.microsoft.com/office/drawing/2014/main" id="{B2A6041F-6370-2F89-F1B9-A41D750E906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217624"/>
            <a:ext cx="2949531" cy="2926808"/>
          </a:xfrm>
          <a:prstGeom prst="rect">
            <a:avLst/>
          </a:prstGeom>
        </p:spPr>
      </p:pic>
    </p:spTree>
    <p:extLst>
      <p:ext uri="{BB962C8B-B14F-4D97-AF65-F5344CB8AC3E}">
        <p14:creationId xmlns:p14="http://schemas.microsoft.com/office/powerpoint/2010/main" val="3493413056"/>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268760"/>
            <a:ext cx="8496944" cy="558924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مبادئ تشغيل وحدة ناقل الحركة الهجين</a:t>
            </a:r>
            <a:br>
              <a:rPr lang="en-GB" sz="1400"/>
            </a:br>
            <a:br>
              <a:rPr lang="en-GB" sz="1400"/>
            </a:br>
            <a:r>
              <a:rPr lang="ar" sz="1400" b="1">
                <a:solidFill>
                  <a:schemeClr val="accent6"/>
                </a:solidFill>
              </a:rPr>
              <a:t>1. أنظمة دفع الحذافة المكيفة</a:t>
            </a:r>
          </a:p>
          <a:p>
            <a:pPr marL="0" indent="0" rtl="1">
              <a:buNone/>
            </a:pPr>
            <a:r>
              <a:rPr lang="ar" sz="1400" b="1"/>
              <a:t>مبادئ التشغيل</a:t>
            </a:r>
            <a:r>
              <a:rPr lang="ar" sz="1400"/>
              <a:t>: تٌخزن الحذّافة المكيّفة الطاقة في أثناء الكبح وإطلاقها لمساعدة محرك الاحتراق الداخلي في أثناء التسارع، ما يقلل استهلاك الوقود.</a:t>
            </a:r>
            <a:br>
              <a:rPr lang="en-GB" sz="1400"/>
            </a:br>
            <a:r>
              <a:rPr lang="ar" sz="1400" b="1"/>
              <a:t>تدفق الطاقة</a:t>
            </a:r>
            <a:r>
              <a:rPr lang="ar" sz="1400"/>
              <a:t>: عند الكبح، تلتقط الحذّافة الطاقة الحركية وتخزنها كطاقة دورانية؛ ثم تُستخدم هذه الطاقة لمساعدة محرك الاحتراق الداخلي، ما يقلل الحاجة إلى الطاقة القائمة على الوقود.</a:t>
            </a:r>
            <a:br>
              <a:rPr lang="en-GB" sz="1400"/>
            </a:br>
            <a:r>
              <a:rPr lang="ar" sz="1400" b="1"/>
              <a:t>المزايا</a:t>
            </a:r>
            <a:r>
              <a:rPr lang="ar" sz="1400"/>
              <a:t>: تقليل الحمل على محرك الاحتراق الداخلي، وتحسين كفاءة الطاقة، ودعم الكبح بالتوليد المعاكس.</a:t>
            </a:r>
          </a:p>
          <a:p>
            <a:pPr marL="0" indent="0" rtl="1">
              <a:buNone/>
            </a:pPr>
            <a:br>
              <a:rPr lang="en-GB" sz="1400"/>
            </a:br>
            <a:r>
              <a:rPr lang="ar" sz="1400" b="1">
                <a:solidFill>
                  <a:schemeClr val="accent6"/>
                </a:solidFill>
              </a:rPr>
              <a:t>2. أنظمة دفع محرك ناقل الحركة</a:t>
            </a:r>
          </a:p>
          <a:p>
            <a:pPr marL="0" indent="0" rtl="1">
              <a:buNone/>
            </a:pPr>
            <a:r>
              <a:rPr lang="ar" sz="1400" b="1"/>
              <a:t>مبادئ التشغيل</a:t>
            </a:r>
            <a:r>
              <a:rPr lang="ar" sz="1400"/>
              <a:t>: يعمل محرك ناقل الحركة مع محرك الاحتراق الداخلي، ما يوفر القدرة الكهربائية لناقل الحركة للدفع أو عزم الدوران الإضافي عند الحاجة.</a:t>
            </a:r>
            <a:br>
              <a:rPr lang="en-GB" sz="1400"/>
            </a:br>
            <a:r>
              <a:rPr lang="ar" sz="1400" b="1"/>
              <a:t>تدفق القدرة</a:t>
            </a:r>
            <a:r>
              <a:rPr lang="ar" sz="1400"/>
              <a:t>: يعمل المحرك بشكل مستقل أو بالاشتراك مع محرك الاحتراق الداخلي، وهو فعال بشكل خاص في سيناريوهات القيادة منخفضة السرعة أو التسارع حيث يساعد عزم الدوران الكهربائي المحرك.</a:t>
            </a:r>
            <a:br>
              <a:rPr lang="en-GB" sz="1400"/>
            </a:br>
            <a:r>
              <a:rPr lang="ar" sz="1400" b="1"/>
              <a:t>المزايا</a:t>
            </a:r>
            <a:r>
              <a:rPr lang="ar" sz="1400"/>
              <a:t>: يوفر انتقالًا سلسًا بين الطاقة الكهربائية وطاقة محرك الاحتراق الداخلي، ويقلل استخدام الوقود، ويعزز الأداء منخفض السرعة.</a:t>
            </a:r>
          </a:p>
          <a:p>
            <a:pPr marL="0" indent="0" rtl="1">
              <a:buNone/>
            </a:pPr>
            <a:br>
              <a:rPr lang="en-GB" sz="1400"/>
            </a:br>
            <a:r>
              <a:rPr lang="ar" sz="1400" b="1">
                <a:solidFill>
                  <a:schemeClr val="accent6"/>
                </a:solidFill>
              </a:rPr>
              <a:t>3. أنظمة دفع محرك المحور</a:t>
            </a:r>
          </a:p>
          <a:p>
            <a:pPr marL="0" indent="0" rtl="1">
              <a:buNone/>
            </a:pPr>
            <a:r>
              <a:rPr lang="ar" sz="1400" b="1"/>
              <a:t>مبادئ التشغيل</a:t>
            </a:r>
            <a:r>
              <a:rPr lang="ar" sz="1400"/>
              <a:t>: يوفر محرك المحور القدرة المباشرة للمحور، إما كمصدر أساسي (في وضع EV) وإما لدعم محرك الاحتراق الداخلي، ما يحسن التحكم في الجر وعزم الدوران.</a:t>
            </a:r>
            <a:br>
              <a:rPr lang="en-GB" sz="1400"/>
            </a:br>
            <a:r>
              <a:rPr lang="ar" sz="1400" b="1"/>
              <a:t>توزيع القدرة</a:t>
            </a:r>
            <a:r>
              <a:rPr lang="ar" sz="1400"/>
              <a:t>: يمكن للمحرك الموجود على المحور أن يعمل بشكل مستقل عن محرك الاحتراق الداخلي، ما يسمح بالقيادة الكهربائية فقط على هذا المحور أو الطاقة المدمجة مع محرك الاحتراق الداخلي لأنظمة الدفع الكامل.</a:t>
            </a:r>
            <a:br>
              <a:rPr lang="en-GB" sz="1400"/>
            </a:br>
            <a:r>
              <a:rPr lang="ar" sz="1400" b="1"/>
              <a:t>المزايا</a:t>
            </a:r>
            <a:r>
              <a:rPr lang="ar" sz="1400"/>
              <a:t>: يزيد من التحكم في عزم الدوران وتوزيعه، خاصة في أنظمة الدفع الكامل، كما يسمح بتحسين التحكم والتسارع، خاصة على الأسطح الزلقة.</a:t>
            </a:r>
            <a:br>
              <a:rPr lang="en-GB" sz="1400"/>
            </a:br>
            <a:endParaRPr lang="en-GB" sz="14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87418"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ب2 بنية أنظمة نقل الحركة في المركبات الهجينة وتشغيلها</a:t>
            </a:r>
          </a:p>
        </p:txBody>
      </p:sp>
      <p:sp>
        <p:nvSpPr>
          <p:cNvPr id="2" name="Footer Placeholder 2">
            <a:extLst>
              <a:ext uri="{FF2B5EF4-FFF2-40B4-BE49-F238E27FC236}">
                <a16:creationId xmlns:a16="http://schemas.microsoft.com/office/drawing/2014/main" id="{0BD29520-8997-DD82-B4DB-9051D6578EC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1470636285"/>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a:t>نتاج التعلم ج</a:t>
            </a:r>
            <a:br>
              <a:rPr lang="en-US" altLang="en-US" sz="2600"/>
            </a:br>
            <a:br>
              <a:rPr lang="en-US" altLang="en-US" sz="2600"/>
            </a:br>
            <a:endParaRPr lang="en-GB" altLang="en-US" sz="2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493962"/>
            <a:ext cx="7991475" cy="2951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a:latin typeface="Sakkal Majalla" panose="02000000000000000000" pitchFamily="2" charset="-78"/>
                <a:cs typeface="Sakkal Majalla" panose="02000000000000000000" pitchFamily="2" charset="-78"/>
              </a:rPr>
              <a:t>فهم تصنيع</a:t>
            </a:r>
            <a:r>
              <a:rPr lang="ar-EG" sz="3800" b="1">
                <a:latin typeface="Sakkal Majalla" panose="02000000000000000000" pitchFamily="2" charset="-78"/>
                <a:cs typeface="Sakkal Majalla" panose="02000000000000000000" pitchFamily="2" charset="-78"/>
              </a:rPr>
              <a:t> </a:t>
            </a:r>
            <a:r>
              <a:rPr lang="ar" sz="3800" b="1">
                <a:latin typeface="Sakkal Majalla" panose="02000000000000000000" pitchFamily="2" charset="-78"/>
                <a:cs typeface="Sakkal Majalla" panose="02000000000000000000" pitchFamily="2" charset="-78"/>
              </a:rPr>
              <a:t>نظام نقل الحركة </a:t>
            </a:r>
            <a:br>
              <a:rPr lang="ar-EG" sz="3800" b="1">
                <a:latin typeface="Sakkal Majalla" panose="02000000000000000000" pitchFamily="2" charset="-78"/>
                <a:cs typeface="Sakkal Majalla" panose="02000000000000000000" pitchFamily="2" charset="-78"/>
              </a:rPr>
            </a:br>
            <a:r>
              <a:rPr lang="ar" sz="3800" b="1">
                <a:latin typeface="Sakkal Majalla" panose="02000000000000000000" pitchFamily="2" charset="-78"/>
                <a:cs typeface="Sakkal Majalla" panose="02000000000000000000" pitchFamily="2" charset="-78"/>
              </a:rPr>
              <a:t>وتجميعه</a:t>
            </a:r>
            <a:r>
              <a:rPr lang="ar-EG" sz="3800" b="1">
                <a:latin typeface="Sakkal Majalla" panose="02000000000000000000" pitchFamily="2" charset="-78"/>
                <a:cs typeface="Sakkal Majalla" panose="02000000000000000000" pitchFamily="2" charset="-78"/>
              </a:rPr>
              <a:t> </a:t>
            </a:r>
            <a:r>
              <a:rPr lang="ar" sz="3800" b="1">
                <a:latin typeface="Sakkal Majalla" panose="02000000000000000000" pitchFamily="2" charset="-78"/>
                <a:cs typeface="Sakkal Majalla" panose="02000000000000000000" pitchFamily="2" charset="-78"/>
              </a:rPr>
              <a:t>في المركبات الكهربائية</a:t>
            </a:r>
          </a:p>
          <a:p>
            <a:pPr algn="ctr" rtl="1"/>
            <a:r>
              <a:rPr lang="ar" sz="3800" b="1">
                <a:latin typeface="Sakkal Majalla" panose="02000000000000000000" pitchFamily="2" charset="-78"/>
                <a:cs typeface="Sakkal Majalla" panose="02000000000000000000" pitchFamily="2" charset="-78"/>
              </a:rPr>
              <a:t>والهجينة</a:t>
            </a:r>
          </a:p>
        </p:txBody>
      </p:sp>
      <p:sp>
        <p:nvSpPr>
          <p:cNvPr id="2" name="Footer Placeholder 2">
            <a:extLst>
              <a:ext uri="{FF2B5EF4-FFF2-40B4-BE49-F238E27FC236}">
                <a16:creationId xmlns:a16="http://schemas.microsoft.com/office/drawing/2014/main" id="{EC1DD030-3993-CA4E-9E07-FDBC518B3D3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1314664163"/>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268760"/>
            <a:ext cx="8568952" cy="27363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مراحل بناء ناقل الحركة</a:t>
            </a:r>
            <a:br>
              <a:rPr lang="en-GB" sz="1600"/>
            </a:br>
            <a:br>
              <a:rPr lang="en-GB" sz="1600"/>
            </a:br>
            <a:r>
              <a:rPr lang="ar" sz="1600" b="1">
                <a:solidFill>
                  <a:schemeClr val="accent6"/>
                </a:solidFill>
              </a:rPr>
              <a:t>1. الإدخال: </a:t>
            </a:r>
            <a:r>
              <a:rPr lang="ar" sz="1600"/>
              <a:t>يتم إدخال مكونات مثل الجزء الثابت والدوار في هيكل ناقل الحركة أو الهياكل الداعمة الأخرى.</a:t>
            </a:r>
            <a:br>
              <a:rPr lang="en-GB" sz="1600"/>
            </a:br>
            <a:r>
              <a:rPr lang="ar" sz="1600" b="1"/>
              <a:t>الغرض</a:t>
            </a:r>
            <a:r>
              <a:rPr lang="ar" sz="1600"/>
              <a:t>: يضمن وضع المكونات الأساسية بشكل صحيح داخل الوحدة، ما يشكل الأساس لنقل الطاقة والتشغيل.</a:t>
            </a:r>
            <a:br>
              <a:rPr lang="en-GB" sz="1600"/>
            </a:br>
            <a:endParaRPr lang="en-GB" sz="1600"/>
          </a:p>
          <a:p>
            <a:pPr marL="0" indent="0" rtl="1">
              <a:buNone/>
            </a:pPr>
            <a:r>
              <a:rPr lang="ar" sz="1600" b="1">
                <a:solidFill>
                  <a:schemeClr val="accent6"/>
                </a:solidFill>
              </a:rPr>
              <a:t>2. التحميل: </a:t>
            </a:r>
            <a:r>
              <a:rPr lang="ar" sz="1600"/>
              <a:t>يتم تحميل الأجزاء على خط التجميع، غالبًا باستخدام أذرع روبوتية أو أنظمة آلية لوضع المكونات الثقيلة بدقة.</a:t>
            </a:r>
            <a:br>
              <a:rPr lang="en-GB" sz="1600"/>
            </a:br>
            <a:r>
              <a:rPr lang="ar" sz="1600" b="1"/>
              <a:t>الغرض</a:t>
            </a:r>
            <a:r>
              <a:rPr lang="ar" sz="1600"/>
              <a:t>: يسمح بالتحكم الفعال مع المكونات والحفاظ على سرعة الإنتاج والدقة.</a:t>
            </a:r>
            <a:br>
              <a:rPr lang="en-GB" sz="1600"/>
            </a:br>
            <a:endParaRPr lang="en-GB" sz="1600"/>
          </a:p>
          <a:p>
            <a:pPr marL="0" indent="0" rtl="1">
              <a:buNone/>
            </a:pPr>
            <a:r>
              <a:rPr lang="ar" sz="1600" b="1">
                <a:solidFill>
                  <a:schemeClr val="accent6"/>
                </a:solidFill>
              </a:rPr>
              <a:t>3. الكبس: </a:t>
            </a:r>
            <a:r>
              <a:rPr lang="ar" sz="1600"/>
              <a:t>تضمن عمليات الكبس تثبيت المكونات مثل المحامل وموانع التسريب بإحكام في مكانها.</a:t>
            </a:r>
            <a:br>
              <a:rPr lang="en-GB" sz="1600"/>
            </a:br>
            <a:r>
              <a:rPr lang="ar" sz="1600" b="1"/>
              <a:t>الغرض</a:t>
            </a:r>
            <a:r>
              <a:rPr lang="ar" sz="1600"/>
              <a:t>: يضمن تثبيت الأجزاء المتحركة بشكل آمن، ما يقلل التآكل المحتمل ويعزز المتانة.</a:t>
            </a:r>
            <a:br>
              <a:rPr lang="en-GB" sz="1600"/>
            </a:br>
            <a:endParaRPr lang="en-GB" sz="1600"/>
          </a:p>
          <a:p>
            <a:pPr marL="0" indent="0" rtl="1">
              <a:buNone/>
            </a:pPr>
            <a:r>
              <a:rPr lang="ar" sz="1600" b="1">
                <a:solidFill>
                  <a:schemeClr val="accent6"/>
                </a:solidFill>
              </a:rPr>
              <a:t>4. التثبيت: </a:t>
            </a:r>
            <a:r>
              <a:rPr lang="ar" sz="1600"/>
              <a:t>يتم إحكام ربط المسامير والصواميل وأدوات التثبيت الأخرى إلى مستويات عزم دوران محددة لضمان الاستقرار.</a:t>
            </a:r>
            <a:br>
              <a:rPr lang="en-GB" sz="1600"/>
            </a:br>
            <a:r>
              <a:rPr lang="ar" sz="1600" b="1"/>
              <a:t>الغرض</a:t>
            </a:r>
            <a:r>
              <a:rPr lang="ar" sz="1600"/>
              <a:t>: منع الأجزاء من الارتخاء وضمان قدرة الوحدة على تحمل الاهتزازات والإجهاد في أثناء التشغيل.</a:t>
            </a:r>
            <a:br>
              <a:rPr lang="en-GB" sz="1600"/>
            </a:br>
            <a:endParaRPr lang="en-GB" sz="1600"/>
          </a:p>
          <a:p>
            <a:pPr marL="0" indent="0" rtl="1">
              <a:buNone/>
            </a:pPr>
            <a:r>
              <a:rPr lang="ar" sz="1600" b="1">
                <a:solidFill>
                  <a:schemeClr val="accent6"/>
                </a:solidFill>
              </a:rPr>
              <a:t>5. القياس: </a:t>
            </a:r>
            <a:r>
              <a:rPr lang="ar" sz="1600"/>
              <a:t>يتم إجراء القياسات في مراحل مختلفة للتحقق من المحاذاة، والتركيب، والتفاوتات.</a:t>
            </a:r>
            <a:br>
              <a:rPr lang="en-GB" sz="1600"/>
            </a:br>
            <a:r>
              <a:rPr lang="ar" sz="1600" b="1"/>
              <a:t>الغرض</a:t>
            </a:r>
            <a:r>
              <a:rPr lang="ar" sz="1600"/>
              <a:t>: ضمان تطابق الأجزاء مع المواصفات التصميمية، وهو أمر حيوي للتشغيل السليم والموثوقية.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ج1 عمليات إنتاج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A085AD9C-33CC-6212-FA00-E2FC837471D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2480530704"/>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424936"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مراحل بناء ناقل الحركة</a:t>
            </a:r>
            <a:br>
              <a:rPr lang="en-GB" sz="1600"/>
            </a:br>
            <a:endParaRPr lang="en-GB" sz="1600"/>
          </a:p>
          <a:p>
            <a:pPr marL="0" indent="0" rtl="1">
              <a:buNone/>
            </a:pPr>
            <a:r>
              <a:rPr lang="ar" sz="1600" b="1">
                <a:solidFill>
                  <a:schemeClr val="accent6"/>
                </a:solidFill>
              </a:rPr>
              <a:t>6. وضع العلامات: </a:t>
            </a:r>
            <a:r>
              <a:rPr lang="ar" sz="1600"/>
              <a:t>يتم وضع علامة على الأجزاء للتتبع ومراقبة الجودة والتعريف، ويتم ذلك غالبًا باستخدام النقش بالليزر أو الختم.</a:t>
            </a:r>
            <a:br>
              <a:rPr lang="en-GB" sz="1600"/>
            </a:br>
            <a:r>
              <a:rPr lang="ar" sz="1600" b="1"/>
              <a:t>الغرض</a:t>
            </a:r>
            <a:r>
              <a:rPr lang="ar" sz="1600"/>
              <a:t>: يسهل ضمان الجودة وإمكانية التتبع في جميع عمليات التجميع والتوزيع.</a:t>
            </a:r>
          </a:p>
          <a:p>
            <a:pPr marL="0" indent="0" rtl="1">
              <a:buNone/>
            </a:pPr>
            <a:br>
              <a:rPr lang="en-GB" sz="1600"/>
            </a:br>
            <a:r>
              <a:rPr lang="ar" sz="1600" b="1">
                <a:solidFill>
                  <a:schemeClr val="accent6"/>
                </a:solidFill>
              </a:rPr>
              <a:t>7. تطبيق المواد المانعة للتسرب: </a:t>
            </a:r>
            <a:r>
              <a:rPr lang="ar" sz="1600"/>
              <a:t>يتم تطبيق المواد المانعة للتسرب على الوصلات والدروع لمنع التسربات وحماية المكونات الداخلية.</a:t>
            </a:r>
            <a:br>
              <a:rPr lang="en-GB" sz="1600"/>
            </a:br>
            <a:r>
              <a:rPr lang="ar" sz="1600" b="1"/>
              <a:t>الغرض</a:t>
            </a:r>
            <a:r>
              <a:rPr lang="ar" sz="1600"/>
              <a:t>: يضمن احتواء السوائل، وهو أمر ضروري لناقل الحركة الذي يتطلب مواد تشحيم أو سائل تبريد.</a:t>
            </a:r>
            <a:br>
              <a:rPr lang="en-GB" sz="1600"/>
            </a:br>
            <a:endParaRPr lang="en-GB" sz="1600"/>
          </a:p>
          <a:p>
            <a:pPr marL="0" indent="0" rtl="1">
              <a:buNone/>
            </a:pPr>
            <a:r>
              <a:rPr lang="ar" sz="1600" b="1">
                <a:solidFill>
                  <a:schemeClr val="accent6"/>
                </a:solidFill>
              </a:rPr>
              <a:t>8. التدوير: </a:t>
            </a:r>
            <a:r>
              <a:rPr lang="ar" sz="1600"/>
              <a:t>يتم تدوير أو تحريك الوحدة بحسب الحاجة للوصول إلى نقاط تجميع مختلفة وتثبيت مكونات إضافية.</a:t>
            </a:r>
            <a:br>
              <a:rPr lang="en-GB" sz="1600"/>
            </a:br>
            <a:r>
              <a:rPr lang="ar" sz="1600" b="1"/>
              <a:t>الغرض</a:t>
            </a:r>
            <a:r>
              <a:rPr lang="ar" sz="1600"/>
              <a:t>: يسهل عملية التجميع بشكل سلس من خلال توفير إمكانية الوصول الكامل للوحدة من زوايا متعددة.</a:t>
            </a:r>
            <a:br>
              <a:rPr lang="en-GB" sz="1600"/>
            </a:br>
            <a:endParaRPr lang="en-GB" sz="1600"/>
          </a:p>
          <a:p>
            <a:pPr marL="0" indent="0" rtl="1">
              <a:buNone/>
            </a:pPr>
            <a:r>
              <a:rPr lang="ar" sz="1600" b="1">
                <a:solidFill>
                  <a:schemeClr val="accent6"/>
                </a:solidFill>
              </a:rPr>
              <a:t>9. اختبار التسرب: </a:t>
            </a:r>
            <a:r>
              <a:rPr lang="ar" sz="1600"/>
              <a:t>تخضع الوحدات المكتملة لاختبار التسرب للتحقق من وجود أي تسرب محتمل أو نقاط ضعف في موانع التسرب.</a:t>
            </a:r>
            <a:br>
              <a:rPr lang="en-GB" sz="1600"/>
            </a:br>
            <a:r>
              <a:rPr lang="ar" sz="1600" b="1"/>
              <a:t>الغرض</a:t>
            </a:r>
            <a:r>
              <a:rPr lang="ar" sz="1600"/>
              <a:t>: ضمان الحفاظ على سلامة السوائل داخل وحدة النقل، وهو أمر بالغ الأهمية لضمان الكفاءة وطول العمر.</a:t>
            </a:r>
            <a:br>
              <a:rPr lang="en-GB" sz="1600"/>
            </a:br>
            <a:endParaRPr lang="en-GB" sz="1600"/>
          </a:p>
          <a:p>
            <a:pPr marL="0" indent="0" rtl="1">
              <a:buNone/>
            </a:pPr>
            <a:r>
              <a:rPr lang="ar" sz="1600" b="1">
                <a:solidFill>
                  <a:schemeClr val="accent6"/>
                </a:solidFill>
              </a:rPr>
              <a:t>10. التحقق في أثناء العملية: </a:t>
            </a:r>
            <a:r>
              <a:rPr lang="ar" sz="1600"/>
              <a:t>تتضمن كل مرحلة خطوات التحقق لضمان الجودة والدقة، بما في ذلك الفحوص الآلية وعمليات التفتيش اليدوية.</a:t>
            </a:r>
          </a:p>
          <a:p>
            <a:pPr marL="0" indent="0" rtl="1">
              <a:buNone/>
            </a:pPr>
            <a:r>
              <a:rPr lang="ar" sz="1600" b="1"/>
              <a:t>الغرض</a:t>
            </a:r>
            <a:r>
              <a:rPr lang="ar" sz="1600"/>
              <a:t>: الحفاظ على معايير جودة عالية واكتشاف العيوب مبكرًا، ما يقلل الحاجة إلى إعادة العمل والهدر.</a:t>
            </a:r>
            <a:br>
              <a:rPr lang="en-GB" sz="1600"/>
            </a:br>
            <a:endParaRPr lang="en-GB" sz="1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ج1 عمليات إنتاج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712BC92E-7739-5520-EB12-1B4074228288}"/>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2756207438"/>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788024" y="1412776"/>
            <a:ext cx="4176464" cy="3816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a:t>إنتاج مكونات المركبات الكهربائية</a:t>
            </a:r>
            <a:br>
              <a:rPr lang="en-GB" sz="1600"/>
            </a:br>
            <a:br>
              <a:rPr lang="en-GB" sz="1600"/>
            </a:br>
            <a:r>
              <a:rPr lang="ar" sz="1600" b="1">
                <a:solidFill>
                  <a:schemeClr val="accent6"/>
                </a:solidFill>
              </a:rPr>
              <a:t>1. الدوار</a:t>
            </a:r>
            <a:br>
              <a:rPr lang="en-GB" sz="1600"/>
            </a:br>
            <a:r>
              <a:rPr lang="ar" sz="1600" b="1"/>
              <a:t>الوصف</a:t>
            </a:r>
            <a:r>
              <a:rPr lang="ar" sz="1600"/>
              <a:t>: الدوار هو الجزء الدوار من المحرك الذي ينتج الحركة الميكانيكية عن طريق التفاعل مع المجال المغناطيسي للجزء الثابت.</a:t>
            </a:r>
            <a:br>
              <a:rPr lang="en-GB" sz="1600"/>
            </a:br>
            <a:r>
              <a:rPr lang="ar" sz="1600" b="1"/>
              <a:t>خطوات الإنتاج</a:t>
            </a:r>
            <a:r>
              <a:rPr lang="ar" sz="1600"/>
              <a:t>: تشمل الصب، والموازنة، والعزل لتحمل السرعات العالية والأحمال الكهربائية.</a:t>
            </a:r>
          </a:p>
          <a:p>
            <a:pPr marL="0" indent="0" rtl="1">
              <a:buNone/>
            </a:pPr>
            <a:br>
              <a:rPr lang="en-GB" sz="1600"/>
            </a:br>
            <a:r>
              <a:rPr lang="ar" sz="1600" b="1">
                <a:solidFill>
                  <a:schemeClr val="accent6"/>
                </a:solidFill>
              </a:rPr>
              <a:t>2. الجزء الثابت</a:t>
            </a:r>
            <a:br>
              <a:rPr lang="en-GB" sz="1600"/>
            </a:br>
            <a:r>
              <a:rPr lang="ar" sz="1600" b="1"/>
              <a:t>الوصف</a:t>
            </a:r>
            <a:r>
              <a:rPr lang="ar" sz="1600"/>
              <a:t>: الجزء الثابت هو الجزء الثابت في المحرك الذي يوفر المجال المغناطيسي الذي يدفع الدوار.</a:t>
            </a:r>
            <a:br>
              <a:rPr lang="en-GB" sz="1600"/>
            </a:br>
            <a:r>
              <a:rPr lang="ar" sz="1600" b="1"/>
              <a:t>خطوات الإنتاج</a:t>
            </a:r>
            <a:r>
              <a:rPr lang="ar" sz="1600"/>
              <a:t>: لف لفائف النحاس وتطبيق العزل وإدخالها في هيكل المحرك.</a:t>
            </a:r>
          </a:p>
          <a:p>
            <a:pPr marL="0" indent="0" rtl="1">
              <a:buNone/>
            </a:pPr>
            <a:br>
              <a:rPr lang="en-GB" sz="1600"/>
            </a:br>
            <a:r>
              <a:rPr lang="ar" sz="1600" b="1">
                <a:solidFill>
                  <a:schemeClr val="accent6"/>
                </a:solidFill>
              </a:rPr>
              <a:t>3. العاكس</a:t>
            </a:r>
            <a:br>
              <a:rPr lang="en-GB" sz="1600"/>
            </a:br>
            <a:r>
              <a:rPr lang="ar" sz="1600" b="1"/>
              <a:t>الوصف</a:t>
            </a:r>
            <a:r>
              <a:rPr lang="ar" sz="1600"/>
              <a:t>: يحول العاكس قدرة التيار المستمر من البطارية إلى قدرة تيار متردد للمحرك.</a:t>
            </a:r>
            <a:br>
              <a:rPr lang="en-GB" sz="1600"/>
            </a:br>
            <a:r>
              <a:rPr lang="ar" sz="1600" b="1"/>
              <a:t>خطوات الإنتاج</a:t>
            </a:r>
            <a:r>
              <a:rPr lang="ar" sz="1600"/>
              <a:t>: تجميع إلكترونيات الطاقة واختبار سلامة الدائرة والتركيب داخل النظام الكهربائي للمركبة.</a:t>
            </a:r>
            <a:br>
              <a:rPr lang="en-GB" sz="1600"/>
            </a:br>
            <a:br>
              <a:rPr lang="en-GB" sz="1600"/>
            </a:br>
            <a:r>
              <a:rPr lang="ar" sz="1600"/>
              <a:t>.</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ج1 عمليات إنتاج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7" name="TextBox 6"/>
          <p:cNvSpPr txBox="1"/>
          <p:nvPr/>
        </p:nvSpPr>
        <p:spPr>
          <a:xfrm>
            <a:off x="2083448" y="5301208"/>
            <a:ext cx="750526"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دوار كهربائي</a:t>
            </a:r>
          </a:p>
        </p:txBody>
      </p:sp>
      <p:sp>
        <p:nvSpPr>
          <p:cNvPr id="2" name="Footer Placeholder 2">
            <a:extLst>
              <a:ext uri="{FF2B5EF4-FFF2-40B4-BE49-F238E27FC236}">
                <a16:creationId xmlns:a16="http://schemas.microsoft.com/office/drawing/2014/main" id="{1EF061F3-FECE-4C43-0F26-4401370A171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4" name="Picture 3">
            <a:extLst>
              <a:ext uri="{FF2B5EF4-FFF2-40B4-BE49-F238E27FC236}">
                <a16:creationId xmlns:a16="http://schemas.microsoft.com/office/drawing/2014/main" id="{C4AAC2F5-107B-C5DE-B9AD-4061DFBF996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93081" y="2636912"/>
            <a:ext cx="3662896" cy="2441931"/>
          </a:xfrm>
          <a:prstGeom prst="rect">
            <a:avLst/>
          </a:prstGeom>
        </p:spPr>
      </p:pic>
    </p:spTree>
    <p:extLst>
      <p:ext uri="{BB962C8B-B14F-4D97-AF65-F5344CB8AC3E}">
        <p14:creationId xmlns:p14="http://schemas.microsoft.com/office/powerpoint/2010/main" val="3297457461"/>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1196752"/>
            <a:ext cx="8424936" cy="34563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عملية بناء مكونات المركبات الكهربائية</a:t>
            </a:r>
            <a:br>
              <a:rPr lang="en-GB" sz="1400"/>
            </a:br>
            <a:br>
              <a:rPr lang="en-GB" sz="1000"/>
            </a:br>
            <a:r>
              <a:rPr lang="ar" sz="1400" b="1">
                <a:solidFill>
                  <a:schemeClr val="accent6"/>
                </a:solidFill>
              </a:rPr>
              <a:t>1. بناء الهيكل</a:t>
            </a:r>
          </a:p>
          <a:p>
            <a:pPr marL="0" indent="0" rtl="1">
              <a:buNone/>
            </a:pPr>
            <a:r>
              <a:rPr lang="ar" sz="1400" b="1"/>
              <a:t>الوصف</a:t>
            </a:r>
            <a:r>
              <a:rPr lang="ar" sz="1400"/>
              <a:t>: يوفر الهيكل الدعم الهيكلي والحماية للمكونات الداخلية للمحرك وناقل الحركة.</a:t>
            </a:r>
            <a:br>
              <a:rPr lang="en-GB" sz="1400"/>
            </a:br>
            <a:r>
              <a:rPr lang="ar" sz="1400" b="1"/>
              <a:t>العملية</a:t>
            </a:r>
            <a:r>
              <a:rPr lang="ar" sz="1400"/>
              <a:t>: يُصب ويُشغل آليًا بأبعاد دقيقة لضمان توافق المكونات مثل الدوار والجزء الثابت.</a:t>
            </a:r>
            <a:br>
              <a:rPr lang="en-GB" sz="1400"/>
            </a:br>
            <a:endParaRPr lang="en-GB" sz="1000"/>
          </a:p>
          <a:p>
            <a:pPr marL="0" indent="0" rtl="1">
              <a:buNone/>
            </a:pPr>
            <a:r>
              <a:rPr lang="ar" sz="1400" b="1">
                <a:solidFill>
                  <a:schemeClr val="accent6"/>
                </a:solidFill>
              </a:rPr>
              <a:t>2. إدخال الجزء الثابت</a:t>
            </a:r>
          </a:p>
          <a:p>
            <a:pPr marL="0" indent="0" rtl="1">
              <a:buNone/>
            </a:pPr>
            <a:r>
              <a:rPr lang="ar" sz="1400" b="1"/>
              <a:t>الوصف</a:t>
            </a:r>
            <a:r>
              <a:rPr lang="ar" sz="1400"/>
              <a:t>: يتم وضع الجزء الثابت بعناية داخل هيكل المحرك لضمان تفاعله الفعال مع الدوار.</a:t>
            </a:r>
            <a:br>
              <a:rPr lang="en-GB" sz="1400"/>
            </a:br>
            <a:r>
              <a:rPr lang="ar" sz="1400" b="1"/>
              <a:t>العملية</a:t>
            </a:r>
            <a:r>
              <a:rPr lang="ar" sz="1400"/>
              <a:t>: يُدخل ويُثبت في مكانه لإنشاء المجال المغناطيسي اللازم للدوران.</a:t>
            </a:r>
            <a:br>
              <a:rPr lang="en-GB" sz="1400"/>
            </a:br>
            <a:endParaRPr lang="en-GB" sz="1000"/>
          </a:p>
          <a:p>
            <a:pPr marL="0" indent="0" rtl="1">
              <a:buNone/>
            </a:pPr>
            <a:r>
              <a:rPr lang="ar" sz="1400" b="1">
                <a:solidFill>
                  <a:schemeClr val="accent6"/>
                </a:solidFill>
              </a:rPr>
              <a:t>3. ضغط المحامل</a:t>
            </a:r>
          </a:p>
          <a:p>
            <a:pPr marL="0" indent="0" rtl="1">
              <a:buNone/>
            </a:pPr>
            <a:r>
              <a:rPr lang="ar" sz="1400" b="1"/>
              <a:t>الوصف</a:t>
            </a:r>
            <a:r>
              <a:rPr lang="ar" sz="1400"/>
              <a:t>: تُضغط المحامل في مكانها لدعم الدوار وتمكين دورانه بسلاسة.</a:t>
            </a:r>
            <a:br>
              <a:rPr lang="en-GB" sz="1400"/>
            </a:br>
            <a:r>
              <a:rPr lang="ar" sz="1400" b="1"/>
              <a:t>العملية</a:t>
            </a:r>
            <a:r>
              <a:rPr lang="ar" sz="1400"/>
              <a:t>: تُثبت المحامل تحت الضغط لضمان ملاءمة آمنة، ما يمنع الحركة أو عدم المحاذاة.</a:t>
            </a:r>
            <a:br>
              <a:rPr lang="en-GB" sz="1400"/>
            </a:br>
            <a:endParaRPr lang="en-GB" sz="1000"/>
          </a:p>
          <a:p>
            <a:pPr marL="0" indent="0" rtl="1">
              <a:buNone/>
            </a:pPr>
            <a:r>
              <a:rPr lang="ar" sz="1400" b="1">
                <a:solidFill>
                  <a:schemeClr val="accent6"/>
                </a:solidFill>
              </a:rPr>
              <a:t>4. إدخال الدوار</a:t>
            </a:r>
          </a:p>
          <a:p>
            <a:pPr marL="0" indent="0" rtl="1">
              <a:buNone/>
            </a:pPr>
            <a:r>
              <a:rPr lang="ar" sz="1400" b="1"/>
              <a:t>الوصف</a:t>
            </a:r>
            <a:r>
              <a:rPr lang="ar" sz="1400"/>
              <a:t>: يُدخل الدوار داخل الجزء الثابت ويُثبت لتمكينه من الدوران بحرية داخل المجال المغناطيسي الذي يولده الجزء الثابت.</a:t>
            </a:r>
            <a:br>
              <a:rPr lang="en-GB" sz="1400"/>
            </a:br>
            <a:r>
              <a:rPr lang="ar" sz="1400" b="1"/>
              <a:t>العملية</a:t>
            </a:r>
            <a:r>
              <a:rPr lang="ar" sz="1400"/>
              <a:t>: يُحاذى بدقة لتقليل الاحتكاك وتحقيق الكفاءة المثلى.</a:t>
            </a:r>
            <a:br>
              <a:rPr lang="en-GB" sz="1400"/>
            </a:br>
            <a:endParaRPr lang="en-GB" sz="1000"/>
          </a:p>
          <a:p>
            <a:pPr marL="0" indent="0" rtl="1">
              <a:buNone/>
            </a:pPr>
            <a:r>
              <a:rPr lang="ar" sz="1400" b="1">
                <a:solidFill>
                  <a:schemeClr val="accent6"/>
                </a:solidFill>
              </a:rPr>
              <a:t>5. التجميع النهائي</a:t>
            </a:r>
          </a:p>
          <a:p>
            <a:pPr marL="0" indent="0" rtl="1">
              <a:buNone/>
            </a:pPr>
            <a:r>
              <a:rPr lang="ar" sz="1400" b="1"/>
              <a:t>الوصف</a:t>
            </a:r>
            <a:r>
              <a:rPr lang="ar" sz="1400"/>
              <a:t>: تُجمع المكونات لتكوين وحدة محرك أو نقل كاملة، جاهزة للاختبار.</a:t>
            </a:r>
            <a:br>
              <a:rPr lang="en-GB" sz="1400"/>
            </a:br>
            <a:r>
              <a:rPr lang="ar" sz="1400" b="1"/>
              <a:t>العملية</a:t>
            </a:r>
            <a:r>
              <a:rPr lang="ar" sz="1400"/>
              <a:t>: ضمان أن تكون جميع الأجزاء متوافقة ومثبتة وتعمل كوحدة متكاملة.</a:t>
            </a:r>
            <a:br>
              <a:rPr lang="en-GB" sz="1400"/>
            </a:br>
            <a:endParaRPr lang="en-GB" sz="1000"/>
          </a:p>
          <a:p>
            <a:pPr marL="0" indent="0" rtl="1">
              <a:buNone/>
            </a:pPr>
            <a:r>
              <a:rPr lang="ar" sz="1400" b="1">
                <a:solidFill>
                  <a:schemeClr val="accent6"/>
                </a:solidFill>
              </a:rPr>
              <a:t>6. الاختبار</a:t>
            </a:r>
          </a:p>
          <a:p>
            <a:pPr marL="0" indent="0" rtl="1">
              <a:buNone/>
            </a:pPr>
            <a:r>
              <a:rPr lang="ar" sz="1400" b="1"/>
              <a:t>الوصف</a:t>
            </a:r>
            <a:r>
              <a:rPr lang="ar" sz="1400"/>
              <a:t>: يتم إجراء اختبارات نهائية لفحص الأداء والكفاءة والمتانة للوحدة المجمعة.</a:t>
            </a:r>
            <a:br>
              <a:rPr lang="en-GB" sz="1400"/>
            </a:br>
            <a:r>
              <a:rPr lang="ar" sz="1400" b="1"/>
              <a:t>العملية</a:t>
            </a:r>
            <a:r>
              <a:rPr lang="ar" sz="1400"/>
              <a:t>: تخضع الوحدات لاختبارات وظيفية، واختبارات المتانة، واختبارات حرارية للتحقق من أدائها تحت ظروف مختلفة.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43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ج1 عمليات إنتاج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6F7DC9FC-3F1B-BC57-6789-D7F4F272D9DF}"/>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1882909642"/>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340768"/>
            <a:ext cx="8712968"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بناء خط الإنتاج</a:t>
            </a:r>
            <a:br>
              <a:rPr lang="en-GB" sz="1300"/>
            </a:br>
            <a:br>
              <a:rPr lang="en-GB" sz="1300"/>
            </a:br>
            <a:r>
              <a:rPr lang="ar" sz="1300" b="1">
                <a:solidFill>
                  <a:schemeClr val="accent6"/>
                </a:solidFill>
              </a:rPr>
              <a:t>1. تدفق البناء</a:t>
            </a:r>
            <a:br>
              <a:rPr lang="en-GB" sz="1300"/>
            </a:br>
            <a:r>
              <a:rPr lang="ar" sz="1300" b="1"/>
              <a:t>الوصف</a:t>
            </a:r>
            <a:r>
              <a:rPr lang="ar" sz="1300"/>
              <a:t>: يتم تصميم خط الإنتاج ليضمن تدفقًا فعالًا من المكونات الخام إلى الوحدات المكتملة.</a:t>
            </a:r>
            <a:br>
              <a:rPr lang="en-GB" sz="1300"/>
            </a:br>
            <a:r>
              <a:rPr lang="ar" sz="1300" b="1"/>
              <a:t>الغرض</a:t>
            </a:r>
            <a:r>
              <a:rPr lang="ar" sz="1300"/>
              <a:t>: تقليل التأخيرات وزيادة الإنتاجية إلى الحد الأقصى، ما يضمن إكمال كل مرحلة بالتسلسل المطلوب.</a:t>
            </a:r>
            <a:br>
              <a:rPr lang="en-GB" sz="1300"/>
            </a:br>
            <a:endParaRPr lang="en-GB" sz="1300"/>
          </a:p>
          <a:p>
            <a:pPr marL="0" indent="0" rtl="1">
              <a:buNone/>
            </a:pPr>
            <a:r>
              <a:rPr lang="ar" sz="1300" b="1">
                <a:solidFill>
                  <a:schemeClr val="accent6"/>
                </a:solidFill>
              </a:rPr>
              <a:t>2. تصميم الخط الفعّال وتأثيرات التصنيع المرنة</a:t>
            </a:r>
            <a:br>
              <a:rPr lang="en-GB" sz="1300"/>
            </a:br>
            <a:r>
              <a:rPr lang="ar" sz="1300" b="1"/>
              <a:t>التصميم الفعّال</a:t>
            </a:r>
            <a:r>
              <a:rPr lang="ar" sz="1300"/>
              <a:t>: تنظم خطوط الإنتاج لتقليل الهدر وأوقات التوقف، ما يضمن الانتقال السلس بين المراحل.</a:t>
            </a:r>
            <a:br>
              <a:rPr lang="en-GB" sz="1300"/>
            </a:br>
            <a:r>
              <a:rPr lang="ar" sz="1300" b="1"/>
              <a:t>التصنيع المرن</a:t>
            </a:r>
            <a:r>
              <a:rPr lang="ar" sz="1300"/>
              <a:t>: تطبيق مبادئ التصنيع المرن لتقليل المخزون الزائد، وتحسين الجودة، وتقليل أوقات الإنتاج.</a:t>
            </a:r>
            <a:br>
              <a:rPr lang="en-GB" sz="1300"/>
            </a:br>
            <a:endParaRPr lang="en-GB" sz="1300"/>
          </a:p>
          <a:p>
            <a:pPr marL="0" indent="0" rtl="1">
              <a:buNone/>
            </a:pPr>
            <a:r>
              <a:rPr lang="ar" sz="1300" b="1">
                <a:solidFill>
                  <a:schemeClr val="accent6"/>
                </a:solidFill>
              </a:rPr>
              <a:t>3. وضع الروبوتات</a:t>
            </a:r>
            <a:br>
              <a:rPr lang="en-GB" sz="1300"/>
            </a:br>
            <a:r>
              <a:rPr lang="ar" sz="1300" b="1"/>
              <a:t>الدور</a:t>
            </a:r>
            <a:r>
              <a:rPr lang="ar" sz="1300"/>
              <a:t>: تتولى الروبوتات المهام المتكررة أو الثقيلة، مثل إدخال المكونات واللحام، لضمان الدقة والكفاءة.</a:t>
            </a:r>
            <a:br>
              <a:rPr lang="en-GB" sz="1300"/>
            </a:br>
            <a:r>
              <a:rPr lang="ar" sz="1300" b="1"/>
              <a:t>المزايا</a:t>
            </a:r>
            <a:r>
              <a:rPr lang="ar" sz="1300"/>
              <a:t>: زيادة الدقة، وتقليل تكاليف العمالة، وتحسين السلامة في المناطق ذات المهام المتكررة.</a:t>
            </a:r>
            <a:br>
              <a:rPr lang="en-GB" sz="1300"/>
            </a:br>
            <a:endParaRPr lang="en-GB" sz="1300"/>
          </a:p>
          <a:p>
            <a:pPr marL="0" indent="0" rtl="1">
              <a:buNone/>
            </a:pPr>
            <a:r>
              <a:rPr lang="ar" sz="1300" b="1">
                <a:solidFill>
                  <a:schemeClr val="accent6"/>
                </a:solidFill>
              </a:rPr>
              <a:t>4. أنظمة نقل الحركة</a:t>
            </a:r>
            <a:br>
              <a:rPr lang="en-GB" sz="1300"/>
            </a:br>
            <a:r>
              <a:rPr lang="ar" sz="1300" b="1"/>
              <a:t>الوصف</a:t>
            </a:r>
            <a:r>
              <a:rPr lang="ar" sz="1300"/>
              <a:t>: تنقل الناقلات وأنظمة النقل الآلي الأجزاء والتركيبات عبر خط الإنتاج.</a:t>
            </a:r>
            <a:br>
              <a:rPr lang="en-GB" sz="1300"/>
            </a:br>
            <a:r>
              <a:rPr lang="ar" sz="1300" b="1"/>
              <a:t>الغرض</a:t>
            </a:r>
            <a:r>
              <a:rPr lang="ar" sz="1300"/>
              <a:t>: ضمان التدفق المستمر وتقليل المناولة اليدوية وتسريع الإنتاج.</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ج1 عمليات إنتاج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F41D0FD-E0EC-465D-6E5B-30CD8EAB558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1440130059"/>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0" y="1412776"/>
            <a:ext cx="8892480" cy="345638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بناء خط الإنتاج</a:t>
            </a:r>
            <a:br>
              <a:rPr lang="en-GB" sz="1300"/>
            </a:br>
            <a:br>
              <a:rPr lang="en-GB" sz="1300"/>
            </a:br>
            <a:r>
              <a:rPr lang="ar" sz="1300" b="1">
                <a:solidFill>
                  <a:schemeClr val="accent6"/>
                </a:solidFill>
              </a:rPr>
              <a:t>5. المراحل الآلية</a:t>
            </a:r>
            <a:br>
              <a:rPr lang="en-GB" sz="1300"/>
            </a:br>
            <a:r>
              <a:rPr lang="ar" sz="1300" b="1"/>
              <a:t>أمثلة</a:t>
            </a:r>
            <a:r>
              <a:rPr lang="ar" sz="1300"/>
              <a:t>: تشمل مهام الضغط والإغلاق واختبار التسرب التي تُنفذ بشكل آلي لضمان الجودة وزيادة الكفاءة.</a:t>
            </a:r>
            <a:br>
              <a:rPr lang="en-GB" sz="1300"/>
            </a:br>
            <a:r>
              <a:rPr lang="ar" sz="1300" b="1"/>
              <a:t>الغرض</a:t>
            </a:r>
            <a:r>
              <a:rPr lang="ar" sz="1300"/>
              <a:t>: تعزيز الدقة والاتساق، خاصة في المهام الحيوية التي تتطلب دقة عالية.</a:t>
            </a:r>
            <a:br>
              <a:rPr lang="en-GB" sz="1300"/>
            </a:br>
            <a:endParaRPr lang="en-GB" sz="1300"/>
          </a:p>
          <a:p>
            <a:pPr marL="0" indent="0" rtl="1">
              <a:buNone/>
            </a:pPr>
            <a:r>
              <a:rPr lang="ar" sz="1300" b="1">
                <a:solidFill>
                  <a:schemeClr val="accent6"/>
                </a:solidFill>
              </a:rPr>
              <a:t>6. مراحل المهام اليدوية</a:t>
            </a:r>
            <a:br>
              <a:rPr lang="en-GB" sz="1300"/>
            </a:br>
            <a:r>
              <a:rPr lang="ar" sz="1300" b="1"/>
              <a:t>أمثلة</a:t>
            </a:r>
            <a:r>
              <a:rPr lang="ar" sz="1300"/>
              <a:t>: يتولى العمال المهرة المهام التي تتطلب التدخل البشري، مثل فحص الجودة وبعض عمليات التجميع.</a:t>
            </a:r>
            <a:br>
              <a:rPr lang="en-GB" sz="1300"/>
            </a:br>
            <a:r>
              <a:rPr lang="ar" sz="1300" b="1"/>
              <a:t>الغرض</a:t>
            </a:r>
            <a:r>
              <a:rPr lang="ar" sz="1300"/>
              <a:t>: توفير المرونة وضمان الجودة حيث قد تفتقر الأنظمة الآلية إلى القدرة على التكيف.</a:t>
            </a:r>
            <a:br>
              <a:rPr lang="en-GB" sz="1300"/>
            </a:br>
            <a:endParaRPr lang="en-GB" sz="1300"/>
          </a:p>
          <a:p>
            <a:pPr marL="0" indent="0" rtl="1">
              <a:buNone/>
            </a:pPr>
            <a:r>
              <a:rPr lang="ar" sz="1300" b="1">
                <a:solidFill>
                  <a:schemeClr val="accent6"/>
                </a:solidFill>
              </a:rPr>
              <a:t>7. مناطق الاختبار</a:t>
            </a:r>
            <a:br>
              <a:rPr lang="en-GB" sz="1300"/>
            </a:br>
            <a:r>
              <a:rPr lang="ar" sz="1300" b="1"/>
              <a:t>الوصف</a:t>
            </a:r>
            <a:r>
              <a:rPr lang="ar" sz="1300"/>
              <a:t>: مناطق مخصصة تخضع فيها الوحدات لاختبارات الأداء والمتانة قبل الفحص النهائي.</a:t>
            </a:r>
            <a:br>
              <a:rPr lang="en-GB" sz="1300"/>
            </a:br>
            <a:r>
              <a:rPr lang="ar" sz="1300" b="1"/>
              <a:t>الغرض</a:t>
            </a:r>
            <a:r>
              <a:rPr lang="ar" sz="1300"/>
              <a:t>: تحديد المشكلات المحتملة وضمان أن كل وحدة تلبي معايير الجودة قبل التوزيع.</a:t>
            </a:r>
            <a:br>
              <a:rPr lang="en-GB" sz="1300"/>
            </a:br>
            <a:endParaRPr lang="en-GB" sz="1300"/>
          </a:p>
          <a:p>
            <a:pPr marL="0" indent="0" rtl="1">
              <a:buNone/>
            </a:pPr>
            <a:r>
              <a:rPr lang="ar" sz="1300" b="1">
                <a:solidFill>
                  <a:schemeClr val="accent6"/>
                </a:solidFill>
              </a:rPr>
              <a:t>8. مناطق إعادة العمل</a:t>
            </a:r>
            <a:br>
              <a:rPr lang="en-GB" sz="1300"/>
            </a:br>
            <a:r>
              <a:rPr lang="ar" sz="1300"/>
              <a:t>• </a:t>
            </a:r>
            <a:r>
              <a:rPr lang="ar" sz="1300" b="1"/>
              <a:t>الوصف</a:t>
            </a:r>
            <a:r>
              <a:rPr lang="ar" sz="1300"/>
              <a:t>: مناطق مخصصة لإصلاح أو تعديل الوحدات التي لم تجتَز فحوصات الجودة الأولية.</a:t>
            </a:r>
            <a:br>
              <a:rPr lang="en-GB" sz="1300"/>
            </a:br>
            <a:r>
              <a:rPr lang="ar" sz="1300"/>
              <a:t>• </a:t>
            </a:r>
            <a:r>
              <a:rPr lang="ar" sz="1300" b="1"/>
              <a:t>الغرض</a:t>
            </a:r>
            <a:r>
              <a:rPr lang="ar" sz="1300"/>
              <a:t>: إتاحة إجراء التصحيحات دون التأثير في تدفق الإنتاج الرئيس، لضمان أن جميع المنتجات تفي بالمعايير.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ج1 عمليات إنتاج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01B92FBF-8550-5EA5-83D7-9E22A037471D}"/>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3924807024"/>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9375" y="1196752"/>
            <a:ext cx="8533105" cy="28803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آلات خط الإنتاج</a:t>
            </a:r>
          </a:p>
          <a:p>
            <a:pPr marL="0" indent="0" rtl="1">
              <a:buNone/>
            </a:pPr>
            <a:br>
              <a:rPr lang="en-GB" sz="1300"/>
            </a:br>
            <a:r>
              <a:rPr lang="ar" sz="1300" b="1">
                <a:solidFill>
                  <a:schemeClr val="accent6"/>
                </a:solidFill>
              </a:rPr>
              <a:t>1. المحطات الروبوتية: </a:t>
            </a:r>
            <a:r>
              <a:rPr lang="ar" sz="1300"/>
              <a:t>يتم تنفيذ المهام المتكررة في المحطات الروبوتبة بشكل آلي مثل إدخال المكونات، واللحام، والتجميع بدقة وسرعة عالية.</a:t>
            </a:r>
            <a:br>
              <a:rPr lang="en-GB" sz="1300"/>
            </a:br>
            <a:r>
              <a:rPr lang="ar" sz="1300" b="1"/>
              <a:t>الوظيفة</a:t>
            </a:r>
            <a:r>
              <a:rPr lang="ar" sz="1300"/>
              <a:t>: تتعامل الروبوتات مع المهام التي تتطلب الدقة والاتساق والحركة المتكررة، ما يقلل الخطأ البشري ويحسن الكفاءة.</a:t>
            </a:r>
            <a:br>
              <a:rPr lang="en-GB" sz="1300"/>
            </a:br>
            <a:r>
              <a:rPr lang="ar" sz="1300" b="1"/>
              <a:t>الاستخدامات</a:t>
            </a:r>
            <a:r>
              <a:rPr lang="ar" sz="1300"/>
              <a:t>: تُستخدم بشكل شائع في مهام اللحام ومنع التسريب ووضع المكونات، حيث تكون الدقة والسرعة أمرًا بالغ الأهمية.</a:t>
            </a:r>
            <a:br>
              <a:rPr lang="en-GB" sz="1300"/>
            </a:br>
            <a:endParaRPr lang="en-GB" sz="1300"/>
          </a:p>
          <a:p>
            <a:pPr marL="0" indent="0" rtl="1">
              <a:buNone/>
            </a:pPr>
            <a:r>
              <a:rPr lang="ar" sz="1300" b="1">
                <a:solidFill>
                  <a:schemeClr val="accent6"/>
                </a:solidFill>
              </a:rPr>
              <a:t>2. الآلات الآلية ذات التشغيل الفردي: </a:t>
            </a:r>
            <a:r>
              <a:rPr lang="ar" sz="1300"/>
              <a:t>مصممة لتنفيذ مهمة محددة تلقائيًا، مثل ضغط المحامل أو الإدخال.</a:t>
            </a:r>
            <a:br>
              <a:rPr lang="en-GB" sz="1300"/>
            </a:br>
            <a:r>
              <a:rPr lang="ar" sz="1300" b="1"/>
              <a:t>الوظيفة</a:t>
            </a:r>
            <a:r>
              <a:rPr lang="ar" sz="1300"/>
              <a:t>: تركز هذه الآلات على عملية واحدة لضمان الاتساق في المهام التي تتطلب قوة أو محاذاة دقيقة.</a:t>
            </a:r>
            <a:br>
              <a:rPr lang="en-GB" sz="1300"/>
            </a:br>
            <a:r>
              <a:rPr lang="ar" sz="1300" b="1"/>
              <a:t>المزايا</a:t>
            </a:r>
            <a:r>
              <a:rPr lang="ar" sz="1300"/>
              <a:t>: تقليل الوقت المطلوب للمهمات الفردية وضمان تركيب أو تموضع كل مكون بدقة.</a:t>
            </a:r>
            <a:br>
              <a:rPr lang="en-GB" sz="1300"/>
            </a:br>
            <a:endParaRPr lang="en-GB" sz="1300"/>
          </a:p>
          <a:p>
            <a:pPr marL="0" indent="0" rtl="1">
              <a:buNone/>
            </a:pPr>
            <a:r>
              <a:rPr lang="ar" sz="1300" b="1">
                <a:solidFill>
                  <a:schemeClr val="accent6"/>
                </a:solidFill>
              </a:rPr>
              <a:t>3. الآلات الآلية متعددة المراحل: </a:t>
            </a:r>
            <a:r>
              <a:rPr lang="ar" sz="1300"/>
              <a:t>آلات قادرة على أداء عمليات متعددة بالتسلسل دون تدخل يدوي.</a:t>
            </a:r>
            <a:br>
              <a:rPr lang="en-GB" sz="1300"/>
            </a:br>
            <a:r>
              <a:rPr lang="ar" sz="1300" b="1"/>
              <a:t>الوظيفة</a:t>
            </a:r>
            <a:r>
              <a:rPr lang="ar" sz="1300"/>
              <a:t>: تتعامل مع سلسلة من المهام على مكون واحد، مثل الضغط، والتثبيت، والاختبار لتبسيط عملية الإنتاج.</a:t>
            </a:r>
            <a:br>
              <a:rPr lang="en-GB" sz="1300"/>
            </a:br>
            <a:r>
              <a:rPr lang="ar" sz="1300" b="1"/>
              <a:t>المزايا</a:t>
            </a:r>
            <a:r>
              <a:rPr lang="ar" sz="1300"/>
              <a:t>: تعزز الكفاءة من خلال دمج الخطوات، وتقليل الحاجة إلى آلات منفصلة متعددة، وتقليل مناولة الأجزاء.</a:t>
            </a:r>
            <a:br>
              <a:rPr lang="en-GB" sz="1300"/>
            </a:br>
            <a:endParaRPr lang="en-GB" sz="13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9872" y="332656"/>
            <a:ext cx="562108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ج2 معدات بناء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4" name="TextBox 3"/>
          <p:cNvSpPr txBox="1"/>
          <p:nvPr/>
        </p:nvSpPr>
        <p:spPr>
          <a:xfrm>
            <a:off x="1892100" y="6237312"/>
            <a:ext cx="5179624" cy="261610"/>
          </a:xfrm>
          <a:prstGeom prst="rect">
            <a:avLst/>
          </a:prstGeom>
          <a:noFill/>
        </p:spPr>
        <p:txBody>
          <a:bodyPr wrap="none" rtlCol="1">
            <a:spAutoFit/>
          </a:bodyPr>
          <a:lstStyle/>
          <a:p>
            <a:pPr algn="ctr" rtl="1"/>
            <a:r>
              <a:rPr lang="ar" sz="1100" b="1">
                <a:latin typeface="Sakkal Majalla" panose="02000000000000000000" pitchFamily="2" charset="-78"/>
                <a:cs typeface="Sakkal Majalla" panose="02000000000000000000" pitchFamily="2" charset="-78"/>
              </a:rPr>
              <a:t>يفحص المهندس آلة الأذرع الآلية للروبوتات ويتحكم فيها في عملية التصنيع الذكية والرقمية على برنامج نظام المراقبة المباشر.</a:t>
            </a:r>
          </a:p>
        </p:txBody>
      </p:sp>
      <p:sp>
        <p:nvSpPr>
          <p:cNvPr id="2" name="Footer Placeholder 2">
            <a:extLst>
              <a:ext uri="{FF2B5EF4-FFF2-40B4-BE49-F238E27FC236}">
                <a16:creationId xmlns:a16="http://schemas.microsoft.com/office/drawing/2014/main" id="{383CEC80-5493-4BBA-3CF1-E3BD32E0E94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Robots working in a factory&#10;&#10;Description automatically generated">
            <a:extLst>
              <a:ext uri="{FF2B5EF4-FFF2-40B4-BE49-F238E27FC236}">
                <a16:creationId xmlns:a16="http://schemas.microsoft.com/office/drawing/2014/main" id="{9950B072-24D9-0996-8264-E8689EEBD608}"/>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588726" y="4117055"/>
            <a:ext cx="6151900" cy="2110261"/>
          </a:xfrm>
          <a:prstGeom prst="rect">
            <a:avLst/>
          </a:prstGeom>
        </p:spPr>
      </p:pic>
    </p:spTree>
    <p:extLst>
      <p:ext uri="{BB962C8B-B14F-4D97-AF65-F5344CB8AC3E}">
        <p14:creationId xmlns:p14="http://schemas.microsoft.com/office/powerpoint/2010/main" val="210090400"/>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85889" y="1268760"/>
            <a:ext cx="8406591" cy="1944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آلات خط الإنتاج</a:t>
            </a:r>
            <a:br>
              <a:rPr lang="en-GB" sz="1300"/>
            </a:br>
            <a:br>
              <a:rPr lang="en-GB" sz="1300"/>
            </a:br>
            <a:r>
              <a:rPr lang="ar" sz="1300" b="1">
                <a:solidFill>
                  <a:schemeClr val="accent6"/>
                </a:solidFill>
              </a:rPr>
              <a:t>4. الآلات شبه الآلية: </a:t>
            </a:r>
            <a:r>
              <a:rPr lang="ar" sz="1300"/>
              <a:t>تجمع بين التشغيل الآلي والإدخال اليدوي، حيث يساعد المشغلون على الإعداد أو المحاذاة أو المهام الأخرى.</a:t>
            </a:r>
            <a:br>
              <a:rPr lang="en-GB" sz="1300"/>
            </a:br>
            <a:r>
              <a:rPr lang="ar" sz="1300" b="1"/>
              <a:t>الوظيفة</a:t>
            </a:r>
            <a:r>
              <a:rPr lang="ar" sz="1300"/>
              <a:t>: يمكن للعمال تحميل الأجزاء أو محاذاة المكونات، بينما تكمل الآلة إجراءات آلية محددة.</a:t>
            </a:r>
            <a:br>
              <a:rPr lang="en-GB" sz="1300"/>
            </a:br>
            <a:r>
              <a:rPr lang="ar" sz="1300" b="1"/>
              <a:t>المزايا</a:t>
            </a:r>
            <a:r>
              <a:rPr lang="ar" sz="1300"/>
              <a:t>: توفر مستوى معينًا من التشغيل الآلي مع إتاحة المرونة والتحكم في بعض جوانب المهمة.</a:t>
            </a:r>
            <a:br>
              <a:rPr lang="en-GB" sz="1300"/>
            </a:br>
            <a:endParaRPr lang="en-GB" sz="1300"/>
          </a:p>
          <a:p>
            <a:pPr marL="0" indent="0" rtl="1">
              <a:buNone/>
            </a:pPr>
            <a:r>
              <a:rPr lang="ar" sz="1300" b="1">
                <a:solidFill>
                  <a:schemeClr val="accent6"/>
                </a:solidFill>
              </a:rPr>
              <a:t>5. الآلات يدوية التشغيل: </a:t>
            </a:r>
            <a:r>
              <a:rPr lang="ar" sz="1300"/>
              <a:t>معدات يتم التحكم فيها بالكامل من قبل المشغلين، وتستخدم في المهام المتخصصة أو التعديلات التي تتطلب تدخلًا بشريًا.</a:t>
            </a:r>
            <a:br>
              <a:rPr lang="en-GB" sz="1300"/>
            </a:br>
            <a:r>
              <a:rPr lang="ar" sz="1300" b="1"/>
              <a:t>الوظيفة</a:t>
            </a:r>
            <a:r>
              <a:rPr lang="ar" sz="1300"/>
              <a:t>: يتولى المشغلون مهام مثل التجميع أو التعديل أو الفحص، حيث تكون الحاجة إلى التحكم الدقيق واتخاذ القرارات ضرورية.</a:t>
            </a:r>
            <a:br>
              <a:rPr lang="en-GB" sz="1300"/>
            </a:br>
            <a:r>
              <a:rPr lang="ar" sz="1300" b="1"/>
              <a:t>الاستخدامات</a:t>
            </a:r>
            <a:r>
              <a:rPr lang="ar" sz="1300"/>
              <a:t>: تُستخدم غالبًا في بيئات الإنتاج الصغيرة أو للتعديلات النهائية ومراقبة الجودة.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9872" y="332656"/>
            <a:ext cx="562108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ج2 معدات بناء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90FF50A2-DCEF-AC5E-374A-DA071A0ABE4B}"/>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98603981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23928" y="1179444"/>
            <a:ext cx="4968552"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الأدوات اليدوية</a:t>
            </a:r>
            <a:br>
              <a:rPr lang="en-GB" sz="1300"/>
            </a:br>
            <a:br>
              <a:rPr lang="en-GB" sz="1300"/>
            </a:br>
            <a:r>
              <a:rPr lang="ar" sz="1300" b="1">
                <a:solidFill>
                  <a:schemeClr val="accent6"/>
                </a:solidFill>
              </a:rPr>
              <a:t>1. أدوات التجميع الهوائية</a:t>
            </a:r>
            <a:br>
              <a:rPr lang="en-GB" sz="1300"/>
            </a:br>
            <a:r>
              <a:rPr lang="ar" sz="1300" b="1"/>
              <a:t>الوصف</a:t>
            </a:r>
            <a:r>
              <a:rPr lang="ar" sz="1300"/>
              <a:t>: أدوات تعمل بالهواء المضغوط، توفر قدرة وسرعة ثابتتين لمهام التجميع.</a:t>
            </a:r>
            <a:br>
              <a:rPr lang="en-GB" sz="1300"/>
            </a:br>
            <a:r>
              <a:rPr lang="ar" sz="1300" b="1"/>
              <a:t>الوظيفة</a:t>
            </a:r>
            <a:r>
              <a:rPr lang="ar" sz="1300"/>
              <a:t>: مثالية لمهام التجميع المتكررة، مثل إحكام البراغي أو المسامير، حيث يلزم عزم دوران ثابت.</a:t>
            </a:r>
            <a:br>
              <a:rPr lang="en-GB" sz="1300"/>
            </a:br>
            <a:r>
              <a:rPr lang="ar" sz="1300" b="1"/>
              <a:t>أمثلة</a:t>
            </a:r>
            <a:r>
              <a:rPr lang="ar" sz="1300"/>
              <a:t>: مفاتيح ومفكات تعمل بالهواء المضغوط.</a:t>
            </a:r>
            <a:br>
              <a:rPr lang="en-GB" sz="1300"/>
            </a:br>
            <a:endParaRPr lang="en-GB" sz="1300"/>
          </a:p>
          <a:p>
            <a:pPr marL="0" indent="0" rtl="1">
              <a:buNone/>
            </a:pPr>
            <a:r>
              <a:rPr lang="ar" sz="1300" b="1">
                <a:solidFill>
                  <a:schemeClr val="accent6"/>
                </a:solidFill>
              </a:rPr>
              <a:t>2. مفاتيح الربط</a:t>
            </a:r>
            <a:br>
              <a:rPr lang="en-GB" sz="1300"/>
            </a:br>
            <a:r>
              <a:rPr lang="ar" sz="1300" b="1"/>
              <a:t>الوصف</a:t>
            </a:r>
            <a:r>
              <a:rPr lang="ar" sz="1300"/>
              <a:t>: مفاتيح تُستخدم لشد أو فك الصواميل والبراغي، وهي متوفرة بأحجام مختلفة لتناسب أنواع أدوات التثبيت المختلفة.</a:t>
            </a:r>
            <a:br>
              <a:rPr lang="en-GB" sz="1300"/>
            </a:br>
            <a:r>
              <a:rPr lang="ar" sz="1300" b="1"/>
              <a:t>الوظيفة</a:t>
            </a:r>
            <a:r>
              <a:rPr lang="ar" sz="1300"/>
              <a:t>: ضرورية للمهام التي تتطلب الدقة في الشد إلى مستويات عزم محددة، لضمان اتصال مكونات آمن.</a:t>
            </a:r>
            <a:br>
              <a:rPr lang="en-GB" sz="1300"/>
            </a:br>
            <a:r>
              <a:rPr lang="ar" sz="1300" b="1"/>
              <a:t>الاستخدامات</a:t>
            </a:r>
            <a:r>
              <a:rPr lang="ar" sz="1300"/>
              <a:t>: تُستخدم بشكل شائع عبر خطوط التجميع لمجموعة واسعة من احتياجات التثبيت.</a:t>
            </a:r>
          </a:p>
          <a:p>
            <a:pPr marL="0" indent="0" rtl="1">
              <a:buNone/>
            </a:pPr>
            <a:endParaRPr lang="en-GB" sz="1300"/>
          </a:p>
          <a:p>
            <a:pPr marL="0" indent="0" rtl="1">
              <a:buNone/>
            </a:pPr>
            <a:r>
              <a:rPr lang="ar" sz="1300" b="1">
                <a:solidFill>
                  <a:schemeClr val="accent6"/>
                </a:solidFill>
              </a:rPr>
              <a:t>3. المقابس المتخصصة</a:t>
            </a:r>
            <a:br>
              <a:rPr lang="en-GB" sz="1300"/>
            </a:br>
            <a:r>
              <a:rPr lang="ar" sz="1300" b="1"/>
              <a:t>الوصف</a:t>
            </a:r>
            <a:r>
              <a:rPr lang="ar" sz="1300"/>
              <a:t>: مقابس متخصصة مصممة لمسامير أو صواميل محددة، بما في ذلك تلك ذات الأشكال غير العادية أو متطلبات عزم الدوران العالية.</a:t>
            </a:r>
            <a:br>
              <a:rPr lang="en-GB" sz="1300"/>
            </a:br>
            <a:r>
              <a:rPr lang="ar" sz="1300" b="1"/>
              <a:t>الوظيفة</a:t>
            </a:r>
            <a:r>
              <a:rPr lang="ar" sz="1300"/>
              <a:t>: تُوفر تناسبًا محكمًا لأدوات التثبيت الفريدة، ما يقلل خطر تلف البراغي أو فكها.</a:t>
            </a:r>
            <a:br>
              <a:rPr lang="en-GB" sz="1300"/>
            </a:br>
            <a:r>
              <a:rPr lang="ar" sz="1300" b="1"/>
              <a:t>أمثلة</a:t>
            </a:r>
            <a:r>
              <a:rPr lang="ar" sz="1300"/>
              <a:t>: المقابس العميقة والمقابس الصدمية والمآخذ لأنواع أدوات التثبيت الفريدة في تطبيقات السيارات.</a:t>
            </a:r>
            <a:br>
              <a:rPr lang="en-GB" sz="1300"/>
            </a:br>
            <a:endParaRPr lang="en-GB" sz="1300"/>
          </a:p>
          <a:p>
            <a:pPr marL="0" indent="0" rtl="1">
              <a:buNone/>
            </a:pPr>
            <a:r>
              <a:rPr lang="ar" sz="1300" b="1">
                <a:solidFill>
                  <a:schemeClr val="accent6"/>
                </a:solidFill>
              </a:rPr>
              <a:t>4. أدوات التخديد</a:t>
            </a:r>
            <a:br>
              <a:rPr lang="en-GB" sz="1300"/>
            </a:br>
            <a:r>
              <a:rPr lang="ar" sz="1300" b="1"/>
              <a:t>الوصف</a:t>
            </a:r>
            <a:r>
              <a:rPr lang="ar" sz="1300"/>
              <a:t>: أدوات مصممة لتناسب أدوات التثبيت ذات الشكل المضلّع (Spline)، ما يتيح نقلًا أفضل لعزم الدوران وتقليل تآكل أدوات التثبيت.</a:t>
            </a:r>
            <a:br>
              <a:rPr lang="en-GB" sz="1300"/>
            </a:br>
            <a:r>
              <a:rPr lang="ar" sz="1300" b="1"/>
              <a:t>الوظيفة</a:t>
            </a:r>
            <a:r>
              <a:rPr lang="ar" sz="1300"/>
              <a:t>: مفيدة في التطبيقات التي تتطلب عزمًا عاليًا، حيث تُوزع نقاط الاتصال المتعددة القوة بشكل أكثر تساويًا.</a:t>
            </a:r>
            <a:br>
              <a:rPr lang="en-GB" sz="1300"/>
            </a:br>
            <a:r>
              <a:rPr lang="ar" sz="1300" b="1"/>
              <a:t>الاستخدامات</a:t>
            </a:r>
            <a:r>
              <a:rPr lang="ar" sz="1300"/>
              <a:t>: تستخدم غالبًا في المناطق ذات الضغط العالي، مثل مكونات نظام الدفع وناقلات الحركة.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9872" y="332656"/>
            <a:ext cx="562108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ج2 معدات بناء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4" name="TextBox 3"/>
          <p:cNvSpPr txBox="1"/>
          <p:nvPr/>
        </p:nvSpPr>
        <p:spPr>
          <a:xfrm>
            <a:off x="1683974" y="4950282"/>
            <a:ext cx="923651"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الأدوات اليدوية</a:t>
            </a:r>
          </a:p>
        </p:txBody>
      </p:sp>
      <p:sp>
        <p:nvSpPr>
          <p:cNvPr id="2" name="Footer Placeholder 2">
            <a:extLst>
              <a:ext uri="{FF2B5EF4-FFF2-40B4-BE49-F238E27FC236}">
                <a16:creationId xmlns:a16="http://schemas.microsoft.com/office/drawing/2014/main" id="{214CE89B-BF81-9A78-C4CA-55B25384E30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toolbox full of tools&#10;&#10;Description automatically generated">
            <a:extLst>
              <a:ext uri="{FF2B5EF4-FFF2-40B4-BE49-F238E27FC236}">
                <a16:creationId xmlns:a16="http://schemas.microsoft.com/office/drawing/2014/main" id="{2CAD133A-A516-EF10-76FD-5CA54460F2D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560" y="2664003"/>
            <a:ext cx="3173555" cy="2097346"/>
          </a:xfrm>
          <a:prstGeom prst="rect">
            <a:avLst/>
          </a:prstGeom>
        </p:spPr>
      </p:pic>
    </p:spTree>
    <p:extLst>
      <p:ext uri="{BB962C8B-B14F-4D97-AF65-F5344CB8AC3E}">
        <p14:creationId xmlns:p14="http://schemas.microsoft.com/office/powerpoint/2010/main" val="3787476732"/>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97661" y="1124744"/>
            <a:ext cx="5400600" cy="558923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spcBef>
                <a:spcPts val="0"/>
              </a:spcBef>
              <a:buNone/>
            </a:pPr>
            <a:r>
              <a:rPr lang="ar" sz="1300" b="1" spc="-20"/>
              <a:t>أدوات القياس</a:t>
            </a:r>
            <a:br>
              <a:rPr lang="en-GB" sz="1300" spc="-20"/>
            </a:br>
            <a:br>
              <a:rPr lang="en-GB" sz="1000" spc="-20"/>
            </a:br>
            <a:r>
              <a:rPr lang="ar" sz="1300" b="1" spc="-20">
                <a:solidFill>
                  <a:schemeClr val="accent6"/>
                </a:solidFill>
              </a:rPr>
              <a:t>1. أجهزة اختبار الضغط</a:t>
            </a:r>
            <a:br>
              <a:rPr lang="en-GB" sz="1300" spc="-20"/>
            </a:br>
            <a:r>
              <a:rPr lang="ar" sz="1300" b="1" spc="-20"/>
              <a:t>الوصف</a:t>
            </a:r>
            <a:r>
              <a:rPr lang="ar" sz="1300" spc="-20"/>
              <a:t>: الأجهزة التي تقيس ضغط السوائل أو الهواء داخل أنظمة محكمة الغلق للتحقق من وجود تسريبات أو مستويات ضغط مناسبة.</a:t>
            </a:r>
            <a:br>
              <a:rPr lang="en-GB" sz="1300" spc="-20"/>
            </a:br>
            <a:r>
              <a:rPr lang="ar" sz="1300" b="1" spc="-20"/>
              <a:t>الوظيفة</a:t>
            </a:r>
            <a:r>
              <a:rPr lang="ar" sz="1300" spc="-20"/>
              <a:t>: تضمن أن المكونات مثل موانع التسريب والحشوات وغرف السوائل تحافظ على مستويات الضغط المطلوبة، ما يدل على إحكام الإغلاق الجيد.</a:t>
            </a:r>
            <a:br>
              <a:rPr lang="en-GB" sz="1300" spc="-20"/>
            </a:br>
            <a:r>
              <a:rPr lang="ar" sz="1300" b="1" spc="-20"/>
              <a:t>الاستخدامات</a:t>
            </a:r>
            <a:r>
              <a:rPr lang="ar" sz="1300" spc="-20"/>
              <a:t>: تُستخدم بشكل شائع في اختبارات التسرب في أنظمة السوائل، بما في ذلك أنظمة النقل والأنظمة الهيدروليكية.</a:t>
            </a:r>
            <a:br>
              <a:rPr lang="en-GB" sz="1300" spc="-20"/>
            </a:br>
            <a:endParaRPr lang="en-GB" sz="1000" spc="-20"/>
          </a:p>
          <a:p>
            <a:pPr marL="0" indent="0" rtl="1">
              <a:buNone/>
            </a:pPr>
            <a:r>
              <a:rPr lang="ar" sz="1300" b="1" spc="-20">
                <a:solidFill>
                  <a:schemeClr val="accent6"/>
                </a:solidFill>
              </a:rPr>
              <a:t>2. أجهزة اختبار عزم الدوران</a:t>
            </a:r>
            <a:br>
              <a:rPr lang="en-GB" sz="1300" spc="-20"/>
            </a:br>
            <a:r>
              <a:rPr lang="ar" sz="1300" b="1" spc="-20"/>
              <a:t>الوصف</a:t>
            </a:r>
            <a:r>
              <a:rPr lang="ar" sz="1300" spc="-20"/>
              <a:t>: الأدوات التي تقيس مقدار عزم الدوران المطبق على أدوات التثبيت، ما يضمن شد البراغي وفقًا للمعايير المحددة.</a:t>
            </a:r>
            <a:br>
              <a:rPr lang="en-GB" sz="1300" spc="-20"/>
            </a:br>
            <a:r>
              <a:rPr lang="ar" sz="1300" b="1" spc="-20"/>
              <a:t>الوظيفة</a:t>
            </a:r>
            <a:r>
              <a:rPr lang="ar" sz="1300" spc="-20"/>
              <a:t>: تمنع الشد الزائد أو الناقص، وكلاهما قد يؤدي إلى إضعاف سلامة المكونات وأدائها.</a:t>
            </a:r>
            <a:br>
              <a:rPr lang="en-GB" sz="1300" spc="-20"/>
            </a:br>
            <a:r>
              <a:rPr lang="ar" sz="1300" b="1" spc="-20"/>
              <a:t>الاستخدامات</a:t>
            </a:r>
            <a:r>
              <a:rPr lang="ar" sz="1300" spc="-20"/>
              <a:t>: ضرورية لتأمين المكونات داخل ناقل الحركة حيث تكون قيم عزم الدوران الدقيقة ضرورية للموثوقية.</a:t>
            </a:r>
            <a:br>
              <a:rPr lang="en-GB" sz="1300" spc="-20"/>
            </a:br>
            <a:endParaRPr lang="en-GB" sz="1000" spc="-20"/>
          </a:p>
          <a:p>
            <a:pPr marL="0" indent="0" rtl="1">
              <a:buNone/>
            </a:pPr>
            <a:r>
              <a:rPr lang="ar" sz="1300" b="1" spc="-20">
                <a:solidFill>
                  <a:schemeClr val="accent6"/>
                </a:solidFill>
              </a:rPr>
              <a:t>3. أجهزة اختبار القدرة</a:t>
            </a:r>
            <a:br>
              <a:rPr lang="en-GB" sz="1300" spc="-20"/>
            </a:br>
            <a:r>
              <a:rPr lang="ar" sz="1300" b="1" spc="-20"/>
              <a:t>الوصف</a:t>
            </a:r>
            <a:r>
              <a:rPr lang="ar" sz="1300" spc="-20"/>
              <a:t>: أدوات تقيس خرج القدرة الكهربائية، وتُستخدم عادةً في مكونات المركبات الكهربائية لتقييم أداء المحركات والبطاريات.</a:t>
            </a:r>
            <a:br>
              <a:rPr lang="en-GB" sz="1300" spc="-20"/>
            </a:br>
            <a:r>
              <a:rPr lang="ar" sz="1300" b="1" spc="-20"/>
              <a:t>الوظيفة</a:t>
            </a:r>
            <a:r>
              <a:rPr lang="ar" sz="1300" spc="-20"/>
              <a:t>: تتحقق من مطابقة مستويات القدرة للمواصفات التصميمية، وهي ضرورية لضمان الأداء الثابت والسلامة في المركبات الكهربائية.</a:t>
            </a:r>
            <a:br>
              <a:rPr lang="en-GB" sz="1300" spc="-20"/>
            </a:br>
            <a:r>
              <a:rPr lang="ar" sz="1300" b="1" spc="-20"/>
              <a:t>الاستخدامات</a:t>
            </a:r>
            <a:r>
              <a:rPr lang="ar" sz="1300" spc="-20"/>
              <a:t>: تُستخدم لاختبار خرج المحركات وقدرة البطاريات وكفاءة المحولات في المركبات الكهربائية.</a:t>
            </a:r>
            <a:br>
              <a:rPr lang="en-GB" sz="1300" spc="-20"/>
            </a:br>
            <a:endParaRPr lang="en-GB" sz="1000" spc="-20"/>
          </a:p>
          <a:p>
            <a:pPr marL="0" indent="0" rtl="1">
              <a:buNone/>
            </a:pPr>
            <a:r>
              <a:rPr lang="ar" sz="1300" b="1" spc="-20">
                <a:solidFill>
                  <a:schemeClr val="accent6"/>
                </a:solidFill>
              </a:rPr>
              <a:t>4. وأجهزة اختبار الإلكترونيات</a:t>
            </a:r>
            <a:br>
              <a:rPr lang="en-GB" sz="1300" spc="-20"/>
            </a:br>
            <a:r>
              <a:rPr lang="ar" sz="1300" b="1" spc="-20"/>
              <a:t>الوصف</a:t>
            </a:r>
            <a:r>
              <a:rPr lang="ar" sz="1300" spc="-20"/>
              <a:t>: أجهزة تُستخدم لفحص سلامة المكونات الإلكترونية وأدائها، بما في ذلك أجهزة الاستشعار والدوائر وأجهزة التحكم.</a:t>
            </a:r>
            <a:br>
              <a:rPr lang="en-GB" sz="1300" spc="-20"/>
            </a:br>
            <a:r>
              <a:rPr lang="ar" sz="1300" b="1" spc="-20"/>
              <a:t>الوظيفة</a:t>
            </a:r>
            <a:r>
              <a:rPr lang="ar" sz="1300" spc="-20"/>
              <a:t>: اختبارات التوصيلية والجهد والمقاومة لضمان عمل المكونات الإلكترونية بشكل صحيح.</a:t>
            </a:r>
            <a:br>
              <a:rPr lang="en-GB" sz="1300" spc="-20"/>
            </a:br>
            <a:r>
              <a:rPr lang="ar" sz="1300" b="1" spc="-20"/>
              <a:t>الاستخدامات</a:t>
            </a:r>
            <a:r>
              <a:rPr lang="ar" sz="1300" spc="-20"/>
              <a:t>: تُستخدم عادة للتحقق من أن أجهزة الاستشعار والمحولات ووحدات التحكم داخل أنظمة نقل الحركة الإرسال تعمل على النحو المطلوب.</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9872" y="332656"/>
            <a:ext cx="5621086"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ج2 معدات بناء وحدة ناقل الحركة</a:t>
            </a:r>
            <a:endParaRPr lang="en-GB" altLang="en-US" sz="2200" b="1">
              <a:latin typeface="Sakkal Majalla" panose="02000000000000000000" pitchFamily="2" charset="-78"/>
              <a:cs typeface="Sakkal Majalla" panose="02000000000000000000" pitchFamily="2" charset="-78"/>
            </a:endParaRPr>
          </a:p>
        </p:txBody>
      </p:sp>
      <p:sp>
        <p:nvSpPr>
          <p:cNvPr id="4" name="TextBox 3"/>
          <p:cNvSpPr txBox="1"/>
          <p:nvPr/>
        </p:nvSpPr>
        <p:spPr>
          <a:xfrm>
            <a:off x="257423" y="4906325"/>
            <a:ext cx="3340238" cy="492443"/>
          </a:xfrm>
          <a:prstGeom prst="rect">
            <a:avLst/>
          </a:prstGeom>
          <a:noFill/>
        </p:spPr>
        <p:txBody>
          <a:bodyPr wrap="square" rtlCol="1">
            <a:spAutoFit/>
          </a:bodyPr>
          <a:lstStyle/>
          <a:p>
            <a:pPr algn="ctr" rtl="1"/>
            <a:r>
              <a:rPr lang="ar" sz="1300" b="1">
                <a:latin typeface="Sakkal Majalla" panose="02000000000000000000" pitchFamily="2" charset="-78"/>
                <a:cs typeface="Sakkal Majalla" panose="02000000000000000000" pitchFamily="2" charset="-78"/>
              </a:rPr>
              <a:t>رجل يقيس طاقة بطارية مغمورة ذات حصيرة زجاجية ( AGM) لسيارة دفع رباعي</a:t>
            </a:r>
          </a:p>
        </p:txBody>
      </p:sp>
      <p:sp>
        <p:nvSpPr>
          <p:cNvPr id="3" name="Footer Placeholder 2">
            <a:extLst>
              <a:ext uri="{FF2B5EF4-FFF2-40B4-BE49-F238E27FC236}">
                <a16:creationId xmlns:a16="http://schemas.microsoft.com/office/drawing/2014/main" id="{205C68E3-3FBB-9E7E-758C-BEC828A62D0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a:extLst>
              <a:ext uri="{FF2B5EF4-FFF2-40B4-BE49-F238E27FC236}">
                <a16:creationId xmlns:a16="http://schemas.microsoft.com/office/drawing/2014/main" id="{1D08F79A-B1E0-8363-A454-FC06880E728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87458" y="2656094"/>
            <a:ext cx="3080289" cy="2059193"/>
          </a:xfrm>
          <a:prstGeom prst="rect">
            <a:avLst/>
          </a:prstGeom>
        </p:spPr>
      </p:pic>
    </p:spTree>
    <p:extLst>
      <p:ext uri="{BB962C8B-B14F-4D97-AF65-F5344CB8AC3E}">
        <p14:creationId xmlns:p14="http://schemas.microsoft.com/office/powerpoint/2010/main" val="3636765793"/>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843088"/>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400"/>
              <a:t>نتاج التعلم د</a:t>
            </a:r>
            <a:br>
              <a:rPr lang="en-US" altLang="en-US" sz="2400"/>
            </a:br>
            <a:br>
              <a:rPr lang="en-US" altLang="en-US" sz="2400"/>
            </a:br>
            <a:endParaRPr lang="en-GB" altLang="en-US" sz="3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12775" y="2493962"/>
            <a:ext cx="7991475" cy="3023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600" b="1">
                <a:latin typeface="Sakkal Majalla" panose="02000000000000000000" pitchFamily="2" charset="-78"/>
                <a:cs typeface="Sakkal Majalla" panose="02000000000000000000" pitchFamily="2" charset="-78"/>
              </a:rPr>
              <a:t>فهم ممارسات العمل</a:t>
            </a:r>
            <a:r>
              <a:rPr lang="ar-EG" sz="3600" b="1">
                <a:latin typeface="Sakkal Majalla" panose="02000000000000000000" pitchFamily="2" charset="-78"/>
                <a:cs typeface="Sakkal Majalla" panose="02000000000000000000" pitchFamily="2" charset="-78"/>
              </a:rPr>
              <a:t> </a:t>
            </a:r>
            <a:r>
              <a:rPr lang="ar" sz="3600" b="1">
                <a:latin typeface="Sakkal Majalla" panose="02000000000000000000" pitchFamily="2" charset="-78"/>
                <a:cs typeface="Sakkal Majalla" panose="02000000000000000000" pitchFamily="2" charset="-78"/>
              </a:rPr>
              <a:t>الآمنة</a:t>
            </a:r>
            <a:br>
              <a:rPr lang="ar-EG" sz="3600" b="1">
                <a:latin typeface="Sakkal Majalla" panose="02000000000000000000" pitchFamily="2" charset="-78"/>
                <a:cs typeface="Sakkal Majalla" panose="02000000000000000000" pitchFamily="2" charset="-78"/>
              </a:rPr>
            </a:br>
            <a:r>
              <a:rPr lang="ar" sz="3600" b="1">
                <a:latin typeface="Sakkal Majalla" panose="02000000000000000000" pitchFamily="2" charset="-78"/>
                <a:cs typeface="Sakkal Majalla" panose="02000000000000000000" pitchFamily="2" charset="-78"/>
              </a:rPr>
              <a:t>عند تصنيع</a:t>
            </a:r>
            <a:r>
              <a:rPr lang="ar-EG" sz="3600" b="1">
                <a:latin typeface="Sakkal Majalla" panose="02000000000000000000" pitchFamily="2" charset="-78"/>
                <a:cs typeface="Sakkal Majalla" panose="02000000000000000000" pitchFamily="2" charset="-78"/>
              </a:rPr>
              <a:t> </a:t>
            </a:r>
            <a:r>
              <a:rPr lang="ar" sz="3600" b="1">
                <a:latin typeface="Sakkal Majalla" panose="02000000000000000000" pitchFamily="2" charset="-78"/>
                <a:cs typeface="Sakkal Majalla" panose="02000000000000000000" pitchFamily="2" charset="-78"/>
              </a:rPr>
              <a:t>أنظمة نقل الحركة </a:t>
            </a:r>
            <a:br>
              <a:rPr lang="ar-EG" sz="3600" b="1">
                <a:latin typeface="Sakkal Majalla" panose="02000000000000000000" pitchFamily="2" charset="-78"/>
                <a:cs typeface="Sakkal Majalla" panose="02000000000000000000" pitchFamily="2" charset="-78"/>
              </a:rPr>
            </a:br>
            <a:r>
              <a:rPr lang="ar" sz="3600" b="1">
                <a:latin typeface="Sakkal Majalla" panose="02000000000000000000" pitchFamily="2" charset="-78"/>
                <a:cs typeface="Sakkal Majalla" panose="02000000000000000000" pitchFamily="2" charset="-78"/>
              </a:rPr>
              <a:t>في</a:t>
            </a:r>
            <a:r>
              <a:rPr lang="ar-EG" sz="3600" b="1">
                <a:latin typeface="Sakkal Majalla" panose="02000000000000000000" pitchFamily="2" charset="-78"/>
                <a:cs typeface="Sakkal Majalla" panose="02000000000000000000" pitchFamily="2" charset="-78"/>
              </a:rPr>
              <a:t> </a:t>
            </a:r>
            <a:r>
              <a:rPr lang="ar" sz="3600" b="1">
                <a:latin typeface="Sakkal Majalla" panose="02000000000000000000" pitchFamily="2" charset="-78"/>
                <a:cs typeface="Sakkal Majalla" panose="02000000000000000000" pitchFamily="2" charset="-78"/>
              </a:rPr>
              <a:t>المركبات الكهربائية</a:t>
            </a:r>
            <a:r>
              <a:rPr lang="ar-EG" sz="3600" b="1">
                <a:latin typeface="Sakkal Majalla" panose="02000000000000000000" pitchFamily="2" charset="-78"/>
                <a:cs typeface="Sakkal Majalla" panose="02000000000000000000" pitchFamily="2" charset="-78"/>
              </a:rPr>
              <a:t> </a:t>
            </a:r>
            <a:r>
              <a:rPr lang="ar" sz="3600" b="1">
                <a:latin typeface="Sakkal Majalla" panose="02000000000000000000" pitchFamily="2" charset="-78"/>
                <a:cs typeface="Sakkal Majalla" panose="02000000000000000000" pitchFamily="2" charset="-78"/>
              </a:rPr>
              <a:t>والهجينة</a:t>
            </a:r>
          </a:p>
        </p:txBody>
      </p:sp>
      <p:sp>
        <p:nvSpPr>
          <p:cNvPr id="2" name="Footer Placeholder 2">
            <a:extLst>
              <a:ext uri="{FF2B5EF4-FFF2-40B4-BE49-F238E27FC236}">
                <a16:creationId xmlns:a16="http://schemas.microsoft.com/office/drawing/2014/main" id="{54E41BBB-30CA-0278-4958-1FB5EE6E020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69661216"/>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860032" y="1772816"/>
            <a:ext cx="4032448" cy="38164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تقييم مخاطر عمليات التصنيع</a:t>
            </a:r>
            <a:br>
              <a:rPr lang="en-GB" sz="1300"/>
            </a:br>
            <a:br>
              <a:rPr lang="en-GB" sz="1300"/>
            </a:br>
            <a:r>
              <a:rPr lang="ar" sz="1300" b="1">
                <a:solidFill>
                  <a:schemeClr val="accent6"/>
                </a:solidFill>
              </a:rPr>
              <a:t>1. الأخطار الشائعة</a:t>
            </a:r>
          </a:p>
          <a:p>
            <a:pPr marL="0" indent="0" rtl="1">
              <a:buNone/>
            </a:pPr>
            <a:br>
              <a:rPr lang="en-GB" sz="1300"/>
            </a:br>
            <a:r>
              <a:rPr lang="ar" sz="1300" b="1"/>
              <a:t>المخاطر الميكانيكية</a:t>
            </a:r>
            <a:r>
              <a:rPr lang="ar" sz="1300"/>
              <a:t>: </a:t>
            </a:r>
          </a:p>
          <a:p>
            <a:pPr marL="0" indent="0" rtl="1">
              <a:buNone/>
            </a:pPr>
            <a:r>
              <a:rPr lang="ar" sz="1300"/>
              <a:t>المخاطر المرتبطة بالأجزاء المتحركة والآلات والمعدات، مثل إصابات التشابك أو القطع أو التكسير.</a:t>
            </a:r>
          </a:p>
          <a:p>
            <a:pPr marL="0" indent="0" rtl="1">
              <a:buNone/>
            </a:pPr>
            <a:br>
              <a:rPr lang="en-GB" sz="1300"/>
            </a:br>
            <a:r>
              <a:rPr lang="ar" sz="1300" b="1"/>
              <a:t>الأخطار الكهربائية: </a:t>
            </a:r>
          </a:p>
          <a:p>
            <a:pPr marL="0" indent="0" rtl="1">
              <a:buNone/>
            </a:pPr>
            <a:r>
              <a:rPr lang="ar" sz="1300"/>
              <a:t>المخاطر المحتملة الناتجة عن المعدات ذات الجهد العالي والأسلاك المكشوفة والمكونات الكهربائية، والتي يمكن أن تؤدي إلى الصدمات أو الحروق أو الحرائق الكهربائية.</a:t>
            </a:r>
          </a:p>
          <a:p>
            <a:pPr marL="0" indent="0" rtl="1">
              <a:buNone/>
            </a:pPr>
            <a:br>
              <a:rPr lang="en-GB" sz="1300"/>
            </a:br>
            <a:r>
              <a:rPr lang="ar" sz="1300" b="1"/>
              <a:t>المخاطر الحرارية</a:t>
            </a:r>
            <a:r>
              <a:rPr lang="ar" sz="1300"/>
              <a:t>: </a:t>
            </a:r>
          </a:p>
          <a:p>
            <a:pPr marL="0" indent="0" rtl="1">
              <a:buNone/>
            </a:pPr>
            <a:r>
              <a:rPr lang="ar" sz="1300"/>
              <a:t>المخاطر الناتجة عن درجات الحرارة العالية، مثل الآلات الساخنة أو الأسطح المسخنة أو المواد المنصهرة، التي يمكن أن تسبب الحروق.</a:t>
            </a:r>
          </a:p>
          <a:p>
            <a:pPr marL="0" indent="0" rtl="1">
              <a:buNone/>
            </a:pPr>
            <a:br>
              <a:rPr lang="en-GB" sz="1300"/>
            </a:br>
            <a:r>
              <a:rPr lang="ar" sz="1300" b="1"/>
              <a:t> مصادر الخطر الكيميائية</a:t>
            </a:r>
            <a:r>
              <a:rPr lang="ar" sz="1300"/>
              <a:t>: </a:t>
            </a:r>
          </a:p>
          <a:p>
            <a:pPr marL="0" indent="0" rtl="1">
              <a:buNone/>
            </a:pPr>
            <a:r>
              <a:rPr lang="ar" sz="1300"/>
              <a:t>المخاطر الناتجة عن التعرض للمواد الكيميائية الخطرة المستخدمة في التصنيع، والتي قد تؤدي إلى مشكلات تنفسية أو تهيج الجلد أو التسمم.</a:t>
            </a:r>
            <a:br>
              <a:rPr lang="en-GB" sz="1300"/>
            </a:br>
            <a:endParaRPr lang="en-GB" sz="13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د1 تحديد مصادر الأخطار في عملية التصنيع</a:t>
            </a:r>
          </a:p>
        </p:txBody>
      </p:sp>
      <p:sp>
        <p:nvSpPr>
          <p:cNvPr id="4" name="TextBox 3"/>
          <p:cNvSpPr txBox="1"/>
          <p:nvPr/>
        </p:nvSpPr>
        <p:spPr>
          <a:xfrm>
            <a:off x="2060341" y="4941168"/>
            <a:ext cx="1037463"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الأخطار الكهربائية</a:t>
            </a:r>
          </a:p>
        </p:txBody>
      </p:sp>
      <p:sp>
        <p:nvSpPr>
          <p:cNvPr id="2" name="Footer Placeholder 2">
            <a:extLst>
              <a:ext uri="{FF2B5EF4-FFF2-40B4-BE49-F238E27FC236}">
                <a16:creationId xmlns:a16="http://schemas.microsoft.com/office/drawing/2014/main" id="{F3AD8A59-31EB-D80E-E822-1A7D9D4ABF9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close up of a wire with sparks&#10;&#10;Description automatically generated">
            <a:extLst>
              <a:ext uri="{FF2B5EF4-FFF2-40B4-BE49-F238E27FC236}">
                <a16:creationId xmlns:a16="http://schemas.microsoft.com/office/drawing/2014/main" id="{7D3CB5FF-F453-9B52-D8F8-FD4C7FE45C4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90008" y="2420888"/>
            <a:ext cx="3393961" cy="2304256"/>
          </a:xfrm>
          <a:prstGeom prst="rect">
            <a:avLst/>
          </a:prstGeom>
        </p:spPr>
      </p:pic>
    </p:spTree>
    <p:extLst>
      <p:ext uri="{BB962C8B-B14F-4D97-AF65-F5344CB8AC3E}">
        <p14:creationId xmlns:p14="http://schemas.microsoft.com/office/powerpoint/2010/main" val="2576458534"/>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572000" y="1052736"/>
            <a:ext cx="4608512" cy="58052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a:t>2. </a:t>
            </a:r>
            <a:r>
              <a:rPr lang="ar" sz="1300" b="1"/>
              <a:t>التقييمات المتخصصة</a:t>
            </a:r>
            <a:br>
              <a:rPr lang="en-GB" sz="1300"/>
            </a:br>
            <a:r>
              <a:rPr lang="ar" sz="1300"/>
              <a:t>• </a:t>
            </a:r>
            <a:r>
              <a:rPr lang="ar" sz="1300" b="1"/>
              <a:t>تقييم الضوضاء</a:t>
            </a:r>
            <a:r>
              <a:rPr lang="ar" sz="1300"/>
              <a:t>: قياس مستويات الضوضاء لمنع تلف السمع في المناطق ذات الضوضاء العالية، وغالبًا ما يتضمن ذلك اختبارات مستوى الصوت وتوفير حماية السمع.</a:t>
            </a:r>
            <a:br>
              <a:rPr lang="en-GB" sz="1300"/>
            </a:br>
            <a:r>
              <a:rPr lang="ar" sz="1300"/>
              <a:t>• </a:t>
            </a:r>
            <a:r>
              <a:rPr lang="ar" sz="1300" b="1"/>
              <a:t>تقييم الاهتزازات</a:t>
            </a:r>
            <a:r>
              <a:rPr lang="ar" sz="1300"/>
              <a:t>: تحليل الآلات التي تنتج اهتزازات كبيرة، والتي قد تؤدي إلى حالات مثل متلازمة اهتزاز اليد والذراع (HAVS) إذا تعرض لها العمال لفترات طويلة.</a:t>
            </a:r>
            <a:br>
              <a:rPr lang="en-GB" sz="1300"/>
            </a:br>
            <a:r>
              <a:rPr lang="ar" sz="1300"/>
              <a:t>• </a:t>
            </a:r>
            <a:r>
              <a:rPr lang="ar" sz="1300" b="1"/>
              <a:t>التقييمات المريحة</a:t>
            </a:r>
            <a:r>
              <a:rPr lang="ar" sz="1300"/>
              <a:t>: تقييم تخطيط مكان العمل والمهام لتقليل الإجهاد والإصابات الناتجة عن التكرار، مع تعزيز راحة وكفاءة العاملين.</a:t>
            </a:r>
            <a:br>
              <a:rPr lang="en-GB" sz="1300"/>
            </a:br>
            <a:r>
              <a:rPr lang="ar" sz="1300"/>
              <a:t>• </a:t>
            </a:r>
            <a:r>
              <a:rPr lang="ar" sz="1300" b="1"/>
              <a:t>تقييم التفريغ الكهروستاتيكي</a:t>
            </a:r>
            <a:r>
              <a:rPr lang="ar" sz="1300"/>
              <a:t>: الاختبار والتحليل لتقليل تراكم الكهرباء الساكنة، خاصة في المناطق التي يتم فيها التعامل مع المكونات الإلكترونية الحساسة.</a:t>
            </a:r>
          </a:p>
          <a:p>
            <a:pPr marL="0" indent="0" rtl="1">
              <a:buNone/>
            </a:pPr>
            <a:r>
              <a:rPr lang="ar" sz="1300"/>
              <a:t>3. </a:t>
            </a:r>
            <a:r>
              <a:rPr lang="ar" sz="1300" b="1"/>
              <a:t>التقييمات الكيميائية</a:t>
            </a:r>
            <a:br>
              <a:rPr lang="en-GB" sz="1300"/>
            </a:br>
            <a:r>
              <a:rPr lang="ar" sz="1300"/>
              <a:t>• </a:t>
            </a:r>
            <a:r>
              <a:rPr lang="ar" sz="1300" b="1"/>
              <a:t>تحليل مخاطر المواد الكيميائية</a:t>
            </a:r>
            <a:r>
              <a:rPr lang="ar" sz="1300"/>
              <a:t>: تحديد المواد الكيميائية والمواد الخطرة المستخدمة في عملية التصنيع، وتقييم مخاطرها ومتطلبات التعامل الآمن معها.</a:t>
            </a:r>
            <a:br>
              <a:rPr lang="en-GB" sz="1300"/>
            </a:br>
            <a:r>
              <a:rPr lang="ar" sz="1300"/>
              <a:t>• </a:t>
            </a:r>
            <a:r>
              <a:rPr lang="ar" sz="1300" b="1"/>
              <a:t>أوراق بيانات سلامة المواد (MSDS)</a:t>
            </a:r>
            <a:r>
              <a:rPr lang="ar" sz="1300"/>
              <a:t>: مراجعة أوراق بيانات سلامة المواد لكل مادة كيميائية لفهم المخاطر ومعدات الوقاية الشخصية المطلوبة وتعليمات المناولة والتخزين.</a:t>
            </a:r>
            <a:br>
              <a:rPr lang="en-GB" sz="1300"/>
            </a:br>
            <a:r>
              <a:rPr lang="ar" sz="1300"/>
              <a:t>• </a:t>
            </a:r>
            <a:r>
              <a:rPr lang="ar" sz="1300" b="1"/>
              <a:t>أنظمة التهوية واستخراج الأبخرة</a:t>
            </a:r>
            <a:r>
              <a:rPr lang="ar" sz="1300"/>
              <a:t>: تقييم أنظمة التهوية للتأكد من إدارة الأبخرة، والغازات، والجزيئات بشكل مناسب، ومنع المخاطر التنفسية.</a:t>
            </a:r>
          </a:p>
          <a:p>
            <a:pPr marL="0" indent="0" rtl="1">
              <a:buNone/>
            </a:pPr>
            <a:br>
              <a:rPr lang="en-GB" sz="1300"/>
            </a:br>
            <a:r>
              <a:rPr lang="ar" sz="1300"/>
              <a:t>4. </a:t>
            </a:r>
            <a:r>
              <a:rPr lang="ar" sz="1300" b="1"/>
              <a:t>تحليل العمليات الفردية</a:t>
            </a:r>
            <a:br>
              <a:rPr lang="en-GB" sz="1300"/>
            </a:br>
            <a:r>
              <a:rPr lang="ar" sz="1300"/>
              <a:t>•</a:t>
            </a:r>
            <a:r>
              <a:rPr lang="ar" sz="1300" b="1"/>
              <a:t> تقييم المخاطر المتخصصة:</a:t>
            </a:r>
            <a:r>
              <a:rPr lang="ar" sz="1300"/>
              <a:t> إجراء تقييمات خاصة بمهام محددة، مثل اللحام أو التجميع، </a:t>
            </a:r>
            <a:br>
              <a:rPr lang="ar-EG" sz="1300"/>
            </a:br>
            <a:r>
              <a:rPr lang="ar" sz="1300"/>
              <a:t>أو الاختبار، لتحديد المخاطر الفريدة المرتبطة بكل عملية.</a:t>
            </a:r>
            <a:br>
              <a:rPr lang="en-GB" sz="1300"/>
            </a:br>
            <a:r>
              <a:rPr lang="ar" sz="1300"/>
              <a:t>• </a:t>
            </a:r>
            <a:r>
              <a:rPr lang="ar" sz="1300" b="1"/>
              <a:t>الضوابط البيئية</a:t>
            </a:r>
            <a:r>
              <a:rPr lang="ar" sz="1300"/>
              <a:t>: تنفيذ تدابير مثل الحواجز أو الحماية أو أنظمة الاحتواء لتقليل التعرض للمخاطر.</a:t>
            </a:r>
            <a:br>
              <a:rPr lang="en-GB" sz="1300"/>
            </a:br>
            <a:r>
              <a:rPr lang="ar" sz="1300"/>
              <a:t>• </a:t>
            </a:r>
            <a:r>
              <a:rPr lang="ar" sz="1300" b="1"/>
              <a:t>متطلبات معدات الوقاية الشخصية:</a:t>
            </a:r>
            <a:r>
              <a:rPr lang="ar" sz="1300"/>
              <a:t> تحديد معدات الوقاية الشخصية اللازمة لكل مهمة، بناءً على تحليل المخاطر، لضمان سلامة العمال في أثناء العمليات عالية المخاطر.</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43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د1 تحديد مصادر الأخطار في عملية التصنيع</a:t>
            </a:r>
          </a:p>
        </p:txBody>
      </p:sp>
      <p:sp>
        <p:nvSpPr>
          <p:cNvPr id="4" name="TextBox 3"/>
          <p:cNvSpPr txBox="1"/>
          <p:nvPr/>
        </p:nvSpPr>
        <p:spPr>
          <a:xfrm>
            <a:off x="1527695" y="5423545"/>
            <a:ext cx="1399742"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تقييم المخاطر المتخصصة</a:t>
            </a:r>
          </a:p>
        </p:txBody>
      </p:sp>
      <p:sp>
        <p:nvSpPr>
          <p:cNvPr id="3" name="Footer Placeholder 2">
            <a:extLst>
              <a:ext uri="{FF2B5EF4-FFF2-40B4-BE49-F238E27FC236}">
                <a16:creationId xmlns:a16="http://schemas.microsoft.com/office/drawing/2014/main" id="{51D103B3-DF62-602F-6C3A-F874207DF20A}"/>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person holding a clipboard with a pen and a chart&#10;&#10;Description automatically generated">
            <a:extLst>
              <a:ext uri="{FF2B5EF4-FFF2-40B4-BE49-F238E27FC236}">
                <a16:creationId xmlns:a16="http://schemas.microsoft.com/office/drawing/2014/main" id="{9E527402-C0AA-AC24-11E7-825D3DDA413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3528" y="2924944"/>
            <a:ext cx="4086555" cy="2310272"/>
          </a:xfrm>
          <a:prstGeom prst="rect">
            <a:avLst/>
          </a:prstGeom>
        </p:spPr>
      </p:pic>
    </p:spTree>
    <p:extLst>
      <p:ext uri="{BB962C8B-B14F-4D97-AF65-F5344CB8AC3E}">
        <p14:creationId xmlns:p14="http://schemas.microsoft.com/office/powerpoint/2010/main" val="1079975992"/>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427984" y="1268760"/>
            <a:ext cx="4464496" cy="417646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لافتات المخاطر الشائعة في التصنيع</a:t>
            </a:r>
            <a:br>
              <a:rPr lang="en-GB" sz="1400"/>
            </a:br>
            <a:br>
              <a:rPr lang="en-GB" sz="1400"/>
            </a:br>
            <a:r>
              <a:rPr lang="ar" sz="1400" b="1">
                <a:solidFill>
                  <a:schemeClr val="accent6"/>
                </a:solidFill>
              </a:rPr>
              <a:t>1. علامات التحذير</a:t>
            </a:r>
            <a:br>
              <a:rPr lang="en-GB" sz="1400"/>
            </a:br>
            <a:r>
              <a:rPr lang="ar" sz="1400" b="1"/>
              <a:t>الوصف</a:t>
            </a:r>
            <a:r>
              <a:rPr lang="ar" sz="1400"/>
              <a:t>: تحذر الموظفين من المخاطر المحتملة في المنطقة، مثل الأرضيات الزلقة، أو انخفاض الأسقف، أو الأجسام الحادة.</a:t>
            </a:r>
            <a:br>
              <a:rPr lang="en-GB" sz="1400"/>
            </a:br>
            <a:r>
              <a:rPr lang="ar" sz="1400" b="1"/>
              <a:t>الغرض</a:t>
            </a:r>
            <a:r>
              <a:rPr lang="ar" sz="1400"/>
              <a:t>: تساعد على منع الحوادث من خلال تنبيه العمال إلى الأخطار التي قد لا تكون واضحة على الفور.</a:t>
            </a:r>
            <a:br>
              <a:rPr lang="en-GB" sz="1400"/>
            </a:br>
            <a:endParaRPr lang="en-GB" sz="1400"/>
          </a:p>
          <a:p>
            <a:pPr marL="0" indent="0" rtl="1">
              <a:buNone/>
            </a:pPr>
            <a:r>
              <a:rPr lang="ar" sz="1400" b="1">
                <a:solidFill>
                  <a:schemeClr val="accent6"/>
                </a:solidFill>
              </a:rPr>
              <a:t>2. علامات الخروج والدخول</a:t>
            </a:r>
            <a:br>
              <a:rPr lang="en-GB" sz="1400"/>
            </a:br>
            <a:r>
              <a:rPr lang="ar" sz="1400" b="1"/>
              <a:t>الوصف</a:t>
            </a:r>
            <a:r>
              <a:rPr lang="ar" sz="1400"/>
              <a:t>: تشير إلى المداخل والمخارج المحددة، ما يساعد العمال والزوار على التنقل بأمان في منطقة التصنيع.</a:t>
            </a:r>
            <a:br>
              <a:rPr lang="en-GB" sz="1400"/>
            </a:br>
            <a:r>
              <a:rPr lang="ar" sz="1400" b="1"/>
              <a:t>الغرض</a:t>
            </a:r>
            <a:r>
              <a:rPr lang="ar" sz="1400"/>
              <a:t>: تضمن قدرة الأشخاص على تحديد مواقع الخروج الآمنة بسرعة في حالات الطوارئ.</a:t>
            </a:r>
            <a:br>
              <a:rPr lang="en-GB" sz="1400"/>
            </a:br>
            <a:endParaRPr lang="en-GB" sz="1400"/>
          </a:p>
          <a:p>
            <a:pPr marL="0" indent="0" rtl="1">
              <a:buNone/>
            </a:pPr>
            <a:r>
              <a:rPr lang="ar" sz="1400" b="1">
                <a:solidFill>
                  <a:schemeClr val="accent6"/>
                </a:solidFill>
              </a:rPr>
              <a:t>3. علامات المركبات المتحركة</a:t>
            </a:r>
            <a:br>
              <a:rPr lang="en-GB" sz="1400"/>
            </a:br>
            <a:r>
              <a:rPr lang="ar" sz="1400" b="1"/>
              <a:t>الوصف</a:t>
            </a:r>
            <a:r>
              <a:rPr lang="ar" sz="1400"/>
              <a:t>: تحذر من المناطق التي تعمل فيها الرافعات الشوكية أو العربات أو المركبات الأخرى.</a:t>
            </a:r>
            <a:br>
              <a:rPr lang="en-GB" sz="1400"/>
            </a:br>
            <a:r>
              <a:rPr lang="ar" sz="1400" b="1"/>
              <a:t>الغرض</a:t>
            </a:r>
            <a:r>
              <a:rPr lang="ar" sz="1400"/>
              <a:t>: تقلل مخاطر الحوادث من خلال تنبيه العمال إلى وجود حركة المركبات، ما يساعدهم على تجنب المخاطر المحتملة.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43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د1 تحديد مصادر الأخطار في عملية التصنيع</a:t>
            </a:r>
          </a:p>
        </p:txBody>
      </p:sp>
      <p:sp>
        <p:nvSpPr>
          <p:cNvPr id="4" name="TextBox 3"/>
          <p:cNvSpPr txBox="1"/>
          <p:nvPr/>
        </p:nvSpPr>
        <p:spPr>
          <a:xfrm>
            <a:off x="1093524" y="5373216"/>
            <a:ext cx="2016095" cy="292388"/>
          </a:xfrm>
          <a:prstGeom prst="rect">
            <a:avLst/>
          </a:prstGeom>
          <a:noFill/>
        </p:spPr>
        <p:txBody>
          <a:bodyPr wrap="square" rtlCol="1">
            <a:spAutoFit/>
          </a:bodyPr>
          <a:lstStyle/>
          <a:p>
            <a:pPr algn="ctr" rtl="1"/>
            <a:r>
              <a:rPr lang="ar" sz="1300" b="1">
                <a:latin typeface="Sakkal Majalla" panose="02000000000000000000" pitchFamily="2" charset="-78"/>
                <a:cs typeface="Sakkal Majalla" panose="02000000000000000000" pitchFamily="2" charset="-78"/>
              </a:rPr>
              <a:t>علامة تحذير: علامة أرضية مبللة</a:t>
            </a:r>
          </a:p>
        </p:txBody>
      </p:sp>
      <p:sp>
        <p:nvSpPr>
          <p:cNvPr id="3" name="Footer Placeholder 2">
            <a:extLst>
              <a:ext uri="{FF2B5EF4-FFF2-40B4-BE49-F238E27FC236}">
                <a16:creationId xmlns:a16="http://schemas.microsoft.com/office/drawing/2014/main" id="{8E39A646-B5ED-E426-9ABD-ABC2116FE5C6}"/>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person in overalls mopping the floor&#10;&#10;Description automatically generated">
            <a:extLst>
              <a:ext uri="{FF2B5EF4-FFF2-40B4-BE49-F238E27FC236}">
                <a16:creationId xmlns:a16="http://schemas.microsoft.com/office/drawing/2014/main" id="{CBBE9790-7D42-5768-2428-CFCE3477D6E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560" y="2996581"/>
            <a:ext cx="3299656" cy="2160240"/>
          </a:xfrm>
          <a:prstGeom prst="rect">
            <a:avLst/>
          </a:prstGeom>
        </p:spPr>
      </p:pic>
    </p:spTree>
    <p:extLst>
      <p:ext uri="{BB962C8B-B14F-4D97-AF65-F5344CB8AC3E}">
        <p14:creationId xmlns:p14="http://schemas.microsoft.com/office/powerpoint/2010/main" val="4062683366"/>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6632" y="1412776"/>
            <a:ext cx="8710737" cy="27089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لافتات المخاطر الشائعة في التصنيع</a:t>
            </a:r>
            <a:br>
              <a:rPr lang="en-GB" sz="1400"/>
            </a:br>
            <a:br>
              <a:rPr lang="en-GB" sz="1400"/>
            </a:br>
            <a:r>
              <a:rPr lang="ar" sz="1400" b="1">
                <a:solidFill>
                  <a:schemeClr val="accent6"/>
                </a:solidFill>
              </a:rPr>
              <a:t>4. علامات الممشى</a:t>
            </a:r>
            <a:br>
              <a:rPr lang="en-GB" sz="1400"/>
            </a:br>
            <a:r>
              <a:rPr lang="ar" sz="1400" b="1"/>
              <a:t>الوصف</a:t>
            </a:r>
            <a:r>
              <a:rPr lang="ar" sz="1400"/>
              <a:t>: تحدد مسارات المشاة الآمنة للعمال لاتباعها، خاصة في المناطق التي تحتوي على معدات ثقيلة أو حركة مركبات.</a:t>
            </a:r>
            <a:br>
              <a:rPr lang="en-GB" sz="1400"/>
            </a:br>
            <a:r>
              <a:rPr lang="ar" sz="1400" b="1"/>
              <a:t>الغرض</a:t>
            </a:r>
            <a:r>
              <a:rPr lang="ar" sz="1400"/>
              <a:t>: تساعد على منع العمال من دخول المناطق الخطرة من خلال توضيح المسارات الآمنة داخل المنشأة.</a:t>
            </a:r>
            <a:br>
              <a:rPr lang="en-GB" sz="1400"/>
            </a:br>
            <a:endParaRPr lang="en-GB" sz="1400"/>
          </a:p>
          <a:p>
            <a:pPr marL="0" indent="0" rtl="1">
              <a:buNone/>
            </a:pPr>
            <a:r>
              <a:rPr lang="ar" sz="1400" b="1">
                <a:solidFill>
                  <a:schemeClr val="accent6"/>
                </a:solidFill>
              </a:rPr>
              <a:t>5. علامات معدات الوقاية</a:t>
            </a:r>
            <a:br>
              <a:rPr lang="en-GB" sz="1400"/>
            </a:br>
            <a:r>
              <a:rPr lang="ar" sz="1400" b="1"/>
              <a:t>الوصف</a:t>
            </a:r>
            <a:r>
              <a:rPr lang="ar" sz="1400"/>
              <a:t>: تذكّر العمال بارتداء معدات الوقاية الشخصية المطلوبة، مثل الخوذات، والقفازات، أو حماية العين، في المناطق المحددة.</a:t>
            </a:r>
            <a:br>
              <a:rPr lang="en-GB" sz="1400"/>
            </a:br>
            <a:r>
              <a:rPr lang="ar" sz="1400" b="1"/>
              <a:t>الغرض</a:t>
            </a:r>
            <a:r>
              <a:rPr lang="ar" sz="1400"/>
              <a:t>: تعزز استخدام معدات الوقاية الشخصية في المناطق التي توجد فيها مخاطر محددة، ما يقلل احتمالية الإصابات.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43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د1 تحديد مصادر الأخطار في عملية التصنيع</a:t>
            </a:r>
          </a:p>
        </p:txBody>
      </p:sp>
      <p:sp>
        <p:nvSpPr>
          <p:cNvPr id="2" name="Footer Placeholder 2">
            <a:extLst>
              <a:ext uri="{FF2B5EF4-FFF2-40B4-BE49-F238E27FC236}">
                <a16:creationId xmlns:a16="http://schemas.microsoft.com/office/drawing/2014/main" id="{21A98FC7-DA16-8AEB-6618-9BFC1BF66E04}"/>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154259149"/>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340768"/>
            <a:ext cx="8424936"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solidFill>
                  <a:schemeClr val="accent6"/>
                </a:solidFill>
              </a:rPr>
              <a:t>6. علامات كيميائية</a:t>
            </a:r>
          </a:p>
          <a:p>
            <a:pPr marL="0" indent="0" rtl="1">
              <a:buNone/>
            </a:pPr>
            <a:r>
              <a:rPr lang="ar" sz="1400" b="1"/>
              <a:t>الوصف</a:t>
            </a:r>
            <a:r>
              <a:rPr lang="ar" sz="1400"/>
              <a:t>: تحذر من وجود مواد كيميائية خطرة في المنطقة، وغالبًا ما تكون مصحوبة بمعلومات محددة حول متطلبات معدات الوقاية الشخصية.</a:t>
            </a:r>
            <a:br>
              <a:rPr lang="en-GB" sz="1400"/>
            </a:br>
            <a:r>
              <a:rPr lang="ar" sz="1400" b="1"/>
              <a:t>الغرض</a:t>
            </a:r>
            <a:r>
              <a:rPr lang="ar" sz="1400"/>
              <a:t>: تضمن إدراك العمال لمخاطر المواد الكيميائية واتخاذ الاحتياطات اللازمة عند التعامل مع هذه المواد أو التواجد بالقرب منها.</a:t>
            </a:r>
            <a:br>
              <a:rPr lang="en-GB" sz="1400"/>
            </a:br>
            <a:endParaRPr lang="en-GB" sz="1400"/>
          </a:p>
          <a:p>
            <a:pPr marL="0" indent="0" rtl="1">
              <a:buNone/>
            </a:pPr>
            <a:r>
              <a:rPr lang="ar" sz="1400" b="1">
                <a:solidFill>
                  <a:schemeClr val="accent6"/>
                </a:solidFill>
              </a:rPr>
              <a:t>7. علامات الإجراءات الإلزامية</a:t>
            </a:r>
            <a:br>
              <a:rPr lang="en-GB" sz="1400"/>
            </a:br>
            <a:r>
              <a:rPr lang="ar" sz="1400" b="1"/>
              <a:t>الوصف</a:t>
            </a:r>
            <a:r>
              <a:rPr lang="ar" sz="1400"/>
              <a:t>: توجه العمال إلى اتخاذ إجراءات معينة، مثل "ارتدِ واقي العين" أو "اغسل يديك"، في المناطق المحددة.</a:t>
            </a:r>
            <a:br>
              <a:rPr lang="en-GB" sz="1400"/>
            </a:br>
            <a:r>
              <a:rPr lang="ar" sz="1400" b="1"/>
              <a:t>الغرض</a:t>
            </a:r>
            <a:r>
              <a:rPr lang="ar" sz="1400"/>
              <a:t>: تنقل بوضوح السلوكيات أو الاحتياطات المطلوبة، ما يساعد على تطبيق بروتوكولات السلامة وتقليل مخاطر الإصابات.</a:t>
            </a:r>
            <a:br>
              <a:rPr lang="en-GB" sz="1400"/>
            </a:br>
            <a:endParaRPr lang="en-GB" sz="1400"/>
          </a:p>
          <a:p>
            <a:pPr marL="0" indent="0" rtl="1">
              <a:buNone/>
            </a:pPr>
            <a:r>
              <a:rPr lang="ar" sz="1400" b="1">
                <a:solidFill>
                  <a:schemeClr val="accent6"/>
                </a:solidFill>
              </a:rPr>
              <a:t>8. علامات الحظر</a:t>
            </a:r>
            <a:br>
              <a:rPr lang="en-GB" sz="1400"/>
            </a:br>
            <a:r>
              <a:rPr lang="ar" sz="1400" b="1"/>
              <a:t>الوصف</a:t>
            </a:r>
            <a:r>
              <a:rPr lang="ar" sz="1400"/>
              <a:t>: تشير إلى الأفعال المحظورة، مثل "ممنوع التدخين"، "ممنوع الدخول"، أو "ممنوع اللمس".</a:t>
            </a:r>
            <a:br>
              <a:rPr lang="en-GB" sz="1400"/>
            </a:br>
            <a:r>
              <a:rPr lang="ar" sz="1400" b="1"/>
              <a:t>الغرض</a:t>
            </a:r>
            <a:r>
              <a:rPr lang="ar" sz="1400"/>
              <a:t>: تقيد الأنشطة التي قد تؤدي إلى وقوع حوادث أو تلف المعدات، ما يضمن امتثال العمال والزوار لقواعد السلامة.</a:t>
            </a:r>
            <a:br>
              <a:rPr lang="en-GB" sz="1400"/>
            </a:br>
            <a:endParaRPr lang="en-GB" sz="14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36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د1 تحديد مصادر الأخطار في عملية التصنيع</a:t>
            </a:r>
          </a:p>
        </p:txBody>
      </p:sp>
      <p:sp>
        <p:nvSpPr>
          <p:cNvPr id="4" name="TextBox 3"/>
          <p:cNvSpPr txBox="1"/>
          <p:nvPr/>
        </p:nvSpPr>
        <p:spPr>
          <a:xfrm>
            <a:off x="3664541" y="5949280"/>
            <a:ext cx="1814920"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علامات معدات الوقاية الشخصية</a:t>
            </a:r>
          </a:p>
        </p:txBody>
      </p:sp>
      <p:sp>
        <p:nvSpPr>
          <p:cNvPr id="2" name="Footer Placeholder 2">
            <a:extLst>
              <a:ext uri="{FF2B5EF4-FFF2-40B4-BE49-F238E27FC236}">
                <a16:creationId xmlns:a16="http://schemas.microsoft.com/office/drawing/2014/main" id="{0FE9B3F4-F70C-D0EF-5CEF-0C39DE90F6C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3" name="Picture 2" descr="A blue circle with white and black circle with white and black circle with white circle with white circle with white circle with white circle with white circle with white circle with white circle with white circle with white&#10;&#10;Description automatically generated">
            <a:extLst>
              <a:ext uri="{FF2B5EF4-FFF2-40B4-BE49-F238E27FC236}">
                <a16:creationId xmlns:a16="http://schemas.microsoft.com/office/drawing/2014/main" id="{8391ECD9-70F9-2FDF-A1B8-1D9AB785428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7653" y="4457282"/>
            <a:ext cx="9144000" cy="1491589"/>
          </a:xfrm>
          <a:prstGeom prst="rect">
            <a:avLst/>
          </a:prstGeom>
        </p:spPr>
      </p:pic>
    </p:spTree>
    <p:extLst>
      <p:ext uri="{BB962C8B-B14F-4D97-AF65-F5344CB8AC3E}">
        <p14:creationId xmlns:p14="http://schemas.microsoft.com/office/powerpoint/2010/main" val="2073054720"/>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268760"/>
            <a:ext cx="8496944"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الحماية الشخصية الأساسية في التصنيع</a:t>
            </a:r>
            <a:br>
              <a:rPr lang="en-GB" sz="1300"/>
            </a:br>
            <a:br>
              <a:rPr lang="en-GB" sz="1300"/>
            </a:br>
            <a:r>
              <a:rPr lang="ar" sz="1300" b="1">
                <a:solidFill>
                  <a:schemeClr val="accent6"/>
                </a:solidFill>
              </a:rPr>
              <a:t>1. ملابس العمل</a:t>
            </a:r>
            <a:br>
              <a:rPr lang="en-GB" sz="1300"/>
            </a:br>
            <a:r>
              <a:rPr lang="ar" sz="1300" b="1"/>
              <a:t>متطلبات تقييم المخاطر</a:t>
            </a:r>
            <a:r>
              <a:rPr lang="ar" sz="1300"/>
              <a:t>: يتم اختيار كل نوع من ملابس العمل بناءً على تقييم شامل للمخاطر، ما يضمن حماية العمال بشكل كافٍ من المخاطر الخاصة بمهامهم أو بيئتهم.</a:t>
            </a:r>
            <a:br>
              <a:rPr lang="en-GB" sz="1300"/>
            </a:br>
            <a:r>
              <a:rPr lang="ar" sz="1300" b="1"/>
              <a:t>أحذية الأمان</a:t>
            </a:r>
            <a:r>
              <a:rPr lang="ar" sz="1300"/>
              <a:t>: تعمل الأحذية ذات المقدمة الفولاذية أو الأحذية ذات النعال المقاومة للانزلاق على حماية العمال من الصدمات وإصابات الضغط ومخاطر الانزلاق في بيئات التصنيع.</a:t>
            </a:r>
            <a:br>
              <a:rPr lang="en-GB" sz="1300"/>
            </a:br>
            <a:r>
              <a:rPr lang="ar" sz="1300" b="1"/>
              <a:t>الملابس الواقية</a:t>
            </a:r>
            <a:r>
              <a:rPr lang="ar" sz="1300"/>
              <a:t>: تشمل بدلات العمل، السترات، والملابس المقاومة للحرائق، وفقًا للمخاطر التي تنطوي عليها، مثل التعرض للمواد الكيميائية أو الشرر أو درجات الحرارة القصوى.</a:t>
            </a:r>
            <a:br>
              <a:rPr lang="en-GB" sz="1300"/>
            </a:br>
            <a:r>
              <a:rPr lang="ar" sz="1300" b="1">
                <a:solidFill>
                  <a:schemeClr val="accent6"/>
                </a:solidFill>
              </a:rPr>
              <a:t>2. معدات الوقاية الشخصية المتخصصة (PPE)</a:t>
            </a:r>
            <a:br>
              <a:rPr lang="en-GB" sz="1300"/>
            </a:br>
            <a:r>
              <a:rPr lang="ar" sz="1300" b="1"/>
              <a:t>واقي العينين:</a:t>
            </a:r>
            <a:r>
              <a:rPr lang="ar" sz="1300"/>
              <a:t> تحمي النظارات الواقية أو واقيات الوجه من الجسيمات المتطايرة أو الرذاذ الكيميائية أو الضوء الشديد من اللحام والقطع.</a:t>
            </a:r>
            <a:br>
              <a:rPr lang="en-GB" sz="1300"/>
            </a:br>
            <a:r>
              <a:rPr lang="ar" sz="1300" b="1"/>
              <a:t>القفازات</a:t>
            </a:r>
            <a:r>
              <a:rPr lang="ar" sz="1300"/>
              <a:t>: توفر أنواع مختلفة من القفازات (المقاومة للقطع أو المقاومة للمواد الكيميائية أو المقاومة للحرارة) حماية اليد بناءً على متطلبات المهمة.</a:t>
            </a:r>
            <a:br>
              <a:rPr lang="en-GB" sz="1300"/>
            </a:br>
            <a:r>
              <a:rPr lang="ar" sz="1300" b="1"/>
              <a:t>واقيات الأذن</a:t>
            </a:r>
            <a:r>
              <a:rPr lang="ar" sz="1300"/>
              <a:t>: تُستخدم سدادات/ أغطية الأذن في البيئات عالية الضوضاء لمنع فقدان السمع، خاصة مع الآلات أو العمليات الصاخبة.</a:t>
            </a:r>
            <a:br>
              <a:rPr lang="en-GB" sz="1300"/>
            </a:br>
            <a:r>
              <a:rPr lang="ar" sz="1300" b="1"/>
              <a:t>الخوذات الصلبة</a:t>
            </a:r>
            <a:r>
              <a:rPr lang="ar" sz="1300"/>
              <a:t>: تُعد ضرورية لحماية الرأس في البيئات التي يوجد فيها خطر سقوط الأجسام أو ارتطام الرأس، خاصة في مناطق البناء أو التجميع.</a:t>
            </a:r>
            <a:br>
              <a:rPr lang="en-GB" sz="1300"/>
            </a:br>
            <a:r>
              <a:rPr lang="ar" sz="1300" b="1"/>
              <a:t>معدات التنفس</a:t>
            </a:r>
            <a:r>
              <a:rPr lang="ar" sz="1300"/>
              <a:t>: تحمي أجهزة التنفس أو الأقنعة من استنشاق الأبخرة الخطرة أو الغبار أو الجسيمات المحمولة في الهواء في المناطق ذات التهوية السيئة أو التعرض للمواد الكيميائية.</a:t>
            </a:r>
            <a:br>
              <a:rPr lang="en-GB" sz="1300"/>
            </a:br>
            <a:r>
              <a:rPr lang="ar" sz="1300" b="1"/>
              <a:t>أغطية الوجه</a:t>
            </a:r>
            <a:r>
              <a:rPr lang="ar" sz="1300"/>
              <a:t>: يستخدم للحماية من استنشاق الجزيئات الدقيقة أو مسببات الأمراض، خاصة في الأماكن المغلقة حيث يوجد خطر التعرض للجهاز التنفسي.</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د2 متطلبات معدات الحماية الشخصية</a:t>
            </a:r>
          </a:p>
          <a:p>
            <a:pPr rtl="1"/>
            <a:r>
              <a:rPr lang="ar" sz="2200" b="1">
                <a:latin typeface="Sakkal Majalla" panose="02000000000000000000" pitchFamily="2" charset="-78"/>
                <a:cs typeface="Sakkal Majalla" panose="02000000000000000000" pitchFamily="2" charset="-78"/>
              </a:rPr>
              <a:t>الشخصية</a:t>
            </a:r>
          </a:p>
        </p:txBody>
      </p:sp>
      <p:sp>
        <p:nvSpPr>
          <p:cNvPr id="4" name="TextBox 3"/>
          <p:cNvSpPr txBox="1"/>
          <p:nvPr/>
        </p:nvSpPr>
        <p:spPr>
          <a:xfrm>
            <a:off x="3875959" y="5732775"/>
            <a:ext cx="1428596"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معدات الوقاية الشخصية</a:t>
            </a:r>
          </a:p>
        </p:txBody>
      </p:sp>
      <p:sp>
        <p:nvSpPr>
          <p:cNvPr id="2" name="Footer Placeholder 2">
            <a:extLst>
              <a:ext uri="{FF2B5EF4-FFF2-40B4-BE49-F238E27FC236}">
                <a16:creationId xmlns:a16="http://schemas.microsoft.com/office/drawing/2014/main" id="{5317314A-010D-968B-66B2-963C9688A9C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5" name="Picture 4" descr="A group of safety gear on a table&#10;&#10;Description automatically generated">
            <a:extLst>
              <a:ext uri="{FF2B5EF4-FFF2-40B4-BE49-F238E27FC236}">
                <a16:creationId xmlns:a16="http://schemas.microsoft.com/office/drawing/2014/main" id="{625980DD-AE42-C883-631E-44BB4B7A2322}"/>
              </a:ext>
            </a:extLst>
          </p:cNvPr>
          <p:cNvPicPr>
            <a:picLocks noChangeAspect="1"/>
          </p:cNvPicPr>
          <p:nvPr/>
        </p:nvPicPr>
        <p:blipFill>
          <a:blip r:embed="rId4" cstate="print">
            <a:extLst>
              <a:ext uri="{28A0092B-C50C-407E-A947-70E740481C1C}">
                <a14:useLocalDpi xmlns:a14="http://schemas.microsoft.com/office/drawing/2010/main"/>
              </a:ext>
            </a:extLst>
          </a:blip>
          <a:srcRect r="74" b="43646"/>
          <a:stretch/>
        </p:blipFill>
        <p:spPr>
          <a:xfrm>
            <a:off x="2473124" y="4082115"/>
            <a:ext cx="4197752" cy="1574090"/>
          </a:xfrm>
          <a:prstGeom prst="rect">
            <a:avLst/>
          </a:prstGeom>
        </p:spPr>
      </p:pic>
    </p:spTree>
    <p:extLst>
      <p:ext uri="{BB962C8B-B14F-4D97-AF65-F5344CB8AC3E}">
        <p14:creationId xmlns:p14="http://schemas.microsoft.com/office/powerpoint/2010/main" val="3105913316"/>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268760"/>
            <a:ext cx="8784976" cy="3032493"/>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t>الحماية ضد الكهرباء الساكنة</a:t>
            </a:r>
            <a:br>
              <a:rPr lang="en-GB" sz="1300"/>
            </a:br>
            <a:br>
              <a:rPr lang="en-GB" sz="1300"/>
            </a:br>
            <a:r>
              <a:rPr lang="ar" sz="1300" b="1">
                <a:solidFill>
                  <a:schemeClr val="accent6"/>
                </a:solidFill>
              </a:rPr>
              <a:t>1. 1. آثار الكهرباء الساكنة في عملية إنتاج الإلكترونيات</a:t>
            </a:r>
            <a:br>
              <a:rPr lang="en-GB" sz="1300"/>
            </a:br>
            <a:r>
              <a:rPr lang="ar" sz="1300" b="1"/>
              <a:t>فشل المنتج</a:t>
            </a:r>
            <a:r>
              <a:rPr lang="ar" sz="1300"/>
              <a:t>: يمكن أن يتسبب التفريغ الكهروستاتيكي (ESD) في فشل المكونات الإلكترونية في أثناء الإنتاج، ما يؤدي إلى تقليل الموثوقية وزيادة معدلات الرفض.</a:t>
            </a:r>
            <a:br>
              <a:rPr lang="en-GB" sz="1300"/>
            </a:br>
            <a:r>
              <a:rPr lang="ar" sz="1300" b="1"/>
              <a:t>فشل النظام</a:t>
            </a:r>
            <a:r>
              <a:rPr lang="ar" sz="1300"/>
              <a:t>: قد تتسبب الكهرباء الساكنة في أعطال مفاجئة للأنظمة المعقدة، ما يؤدي إلى تعطيل خطوط التجميع أو العمليات التصنيعية، وبالتالي إلى تأخير الإنتاج.</a:t>
            </a:r>
            <a:br>
              <a:rPr lang="en-GB" sz="1300"/>
            </a:br>
            <a:r>
              <a:rPr lang="ar" sz="1300" b="1"/>
              <a:t>إعادة العمل على المنتجات</a:t>
            </a:r>
            <a:r>
              <a:rPr lang="ar" sz="1300"/>
              <a:t>: قد تتطلب المنتجات المتأثرة بالتفريغ الكهروستاتيكي إلى إعادة تصنيع أو استبدال، ما يزيد من تكاليف العمالة والمواد.</a:t>
            </a:r>
            <a:br>
              <a:rPr lang="en-GB" sz="1300"/>
            </a:br>
            <a:r>
              <a:rPr lang="ar" sz="1300" b="1"/>
              <a:t>التكاليف المقدرة للأضرار الناجمة عن التفريغ الكهروستاتيكي</a:t>
            </a:r>
            <a:r>
              <a:rPr lang="ar" sz="1300"/>
              <a:t>: يمكن أن يؤدي الضرر المرتبط بالتفريغ الكهروستاتيكي إلى خسائر مالية كبيرة بسبب زيادة الهدر وإعادة العمل والتأخير، ما يؤثر في الربحية الإجمالية للشركة.</a:t>
            </a:r>
          </a:p>
          <a:p>
            <a:pPr marL="0" indent="0" rtl="1">
              <a:buNone/>
            </a:pPr>
            <a:br>
              <a:rPr lang="en-GB" sz="1300"/>
            </a:br>
            <a:r>
              <a:rPr lang="ar" sz="1300" b="1">
                <a:solidFill>
                  <a:schemeClr val="accent6"/>
                </a:solidFill>
              </a:rPr>
              <a:t>2. الأضرار المحتملة الناتجة عن الكهرباء الساكنة في الإنتاج</a:t>
            </a:r>
            <a:br>
              <a:rPr lang="en-GB" sz="1300"/>
            </a:br>
            <a:r>
              <a:rPr lang="ar" sz="1300" b="1"/>
              <a:t>تلف الدائرة</a:t>
            </a:r>
            <a:r>
              <a:rPr lang="ar" sz="1300"/>
              <a:t>: يمكن أن تتلف الدوائر الإلكترونية الحساسة بشكل دائم بسبب التفريغ الكهروستاتيكي، ما يؤدي إلى تعطيل المنتج أو تعطله.</a:t>
            </a:r>
            <a:br>
              <a:rPr lang="en-GB" sz="1300"/>
            </a:br>
            <a:r>
              <a:rPr lang="ar" sz="1300" b="1"/>
              <a:t>تلف المكونات</a:t>
            </a:r>
            <a:r>
              <a:rPr lang="ar" sz="1300"/>
              <a:t>: يمكن أن يضر التفريغ الكهروستاتيكي بشكل لا يمكن إصلاحه بالمكونات الفردية، مثل الترانزستورات أو المقاومات، ما يجعلها غير قابلة للاستخدام ويزيد من تكاليف المواد.</a:t>
            </a:r>
            <a:br>
              <a:rPr lang="en-GB" sz="1300"/>
            </a:br>
            <a:r>
              <a:rPr lang="ar" sz="1300" b="1"/>
              <a:t>الانفجارات والحرائق</a:t>
            </a:r>
            <a:r>
              <a:rPr lang="ar" sz="1300"/>
              <a:t>: قد يتسبب تفريغ الكهرباء الساكنة في إشعال الغازات أو المواد قابلة للاشتعال ويسبب حرائق أو انفجارات، ما يشكل مخاطر خطيرة على السلامة.</a:t>
            </a:r>
            <a:br>
              <a:rPr lang="en-GB" sz="1300"/>
            </a:br>
            <a:r>
              <a:rPr lang="ar" sz="1300" b="1"/>
              <a:t>تلف الروبوتات</a:t>
            </a:r>
            <a:r>
              <a:rPr lang="ar" sz="1300"/>
              <a:t>: يمكن أن تتلف أنظمة الروبوتات الآلية بسبب التفريغ الكهروستاتيكي، ما يتسبب في حدوث أعطال أو حتى إيقاف تشغيل النظام بالكامل، ما يترتب عليه تكاليف إصلاح أو استبدال مرتفعة.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د2 متطلبات معدات الحماية الشخصية</a:t>
            </a:r>
          </a:p>
          <a:p>
            <a:pPr rtl="1"/>
            <a:r>
              <a:rPr lang="ar" sz="2200" b="1">
                <a:latin typeface="Sakkal Majalla" panose="02000000000000000000" pitchFamily="2" charset="-78"/>
                <a:cs typeface="Sakkal Majalla" panose="02000000000000000000" pitchFamily="2" charset="-78"/>
              </a:rPr>
              <a:t>الشخصية</a:t>
            </a:r>
          </a:p>
        </p:txBody>
      </p:sp>
      <p:sp>
        <p:nvSpPr>
          <p:cNvPr id="8" name="TextBox 7"/>
          <p:cNvSpPr txBox="1"/>
          <p:nvPr/>
        </p:nvSpPr>
        <p:spPr>
          <a:xfrm>
            <a:off x="683568" y="6093296"/>
            <a:ext cx="8106707" cy="292388"/>
          </a:xfrm>
          <a:prstGeom prst="rect">
            <a:avLst/>
          </a:prstGeom>
          <a:noFill/>
        </p:spPr>
        <p:txBody>
          <a:bodyPr wrap="none" rtlCol="1">
            <a:spAutoFit/>
          </a:bodyPr>
          <a:lstStyle/>
          <a:p>
            <a:pPr rtl="1"/>
            <a:r>
              <a:rPr lang="ar" sz="1300" b="1">
                <a:latin typeface="Sakkal Majalla" panose="02000000000000000000" pitchFamily="2" charset="-78"/>
                <a:cs typeface="Sakkal Majalla" panose="02000000000000000000" pitchFamily="2" charset="-78"/>
              </a:rPr>
              <a:t>سوار مضاد للكهرباء الساكنة على يد رجل يرتدي ملابس وقفازات مقاومة للتفريغ الكهروستاتيكي وسوار التفريغ الكهروستاتيكي أو معدات تأريض مضادة للكهرباء الساكنة</a:t>
            </a:r>
          </a:p>
        </p:txBody>
      </p:sp>
      <p:sp>
        <p:nvSpPr>
          <p:cNvPr id="2" name="Footer Placeholder 2">
            <a:extLst>
              <a:ext uri="{FF2B5EF4-FFF2-40B4-BE49-F238E27FC236}">
                <a16:creationId xmlns:a16="http://schemas.microsoft.com/office/drawing/2014/main" id="{824B5A6F-D8E3-8BF2-B355-AEF1AD08367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3" name="Picture 2" descr="A hand in a glove holding a blue and white cable&#10;&#10;Description automatically generated">
            <a:extLst>
              <a:ext uri="{FF2B5EF4-FFF2-40B4-BE49-F238E27FC236}">
                <a16:creationId xmlns:a16="http://schemas.microsoft.com/office/drawing/2014/main" id="{2376691D-79D4-CB51-538F-89FFEC367EA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381637" y="4324925"/>
            <a:ext cx="2524742" cy="1704949"/>
          </a:xfrm>
          <a:prstGeom prst="rect">
            <a:avLst/>
          </a:prstGeom>
        </p:spPr>
      </p:pic>
    </p:spTree>
    <p:extLst>
      <p:ext uri="{BB962C8B-B14F-4D97-AF65-F5344CB8AC3E}">
        <p14:creationId xmlns:p14="http://schemas.microsoft.com/office/powerpoint/2010/main" val="3171176581"/>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196752"/>
            <a:ext cx="8568952" cy="213353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a:solidFill>
                  <a:schemeClr val="accent6"/>
                </a:solidFill>
              </a:rPr>
              <a:t>3. المعدات المستخدمة لمنع أضرار الكهرباء الساكنة</a:t>
            </a:r>
          </a:p>
          <a:p>
            <a:pPr marL="0" indent="0" rtl="1">
              <a:buNone/>
            </a:pPr>
            <a:br>
              <a:rPr lang="en-GB" sz="1300"/>
            </a:br>
            <a:r>
              <a:rPr lang="ar" sz="1300" b="1"/>
              <a:t>طاولات ومواقع عمل مضادة للكهرباء الساكنة</a:t>
            </a:r>
            <a:r>
              <a:rPr lang="ar" sz="1300"/>
              <a:t>: تُجهز الطاولات ومحطات العمل المصممة خصيصًا بمواد آمنة من التفريغ الكهروستاتيكي، ما يقلل تراكم الكهرباء الساكنة في المناطق الحرجة.</a:t>
            </a:r>
            <a:br>
              <a:rPr lang="en-GB" sz="1300"/>
            </a:br>
            <a:r>
              <a:rPr lang="ar" sz="1300" b="1"/>
              <a:t>ملحقات مضادة للكهرباء الساكنة:</a:t>
            </a:r>
            <a:r>
              <a:rPr lang="ar" sz="1300"/>
              <a:t> تشمل الأساور، أسلاك التأريض، وأجهزة التأين لتفريغ الكهرباء من العاملين والمعدات، ما يحمي المكونات الحساسة.</a:t>
            </a:r>
            <a:br>
              <a:rPr lang="en-GB" sz="1300"/>
            </a:br>
            <a:r>
              <a:rPr lang="ar" sz="1300" b="1"/>
              <a:t>الإضاءة المضادة للكهرباء الساكنة</a:t>
            </a:r>
            <a:r>
              <a:rPr lang="ar" sz="1300"/>
              <a:t>: إضاءة مصممة لمنع تراكم الكهرباء الساكنة، ما يضمن عدم حدوث التفريغ الكهروستاتيكي في المناطق التي تحتوي على إلكترونيات حساسة.</a:t>
            </a:r>
            <a:br>
              <a:rPr lang="en-GB" sz="1300"/>
            </a:br>
            <a:r>
              <a:rPr lang="ar" sz="1300" b="1"/>
              <a:t>الكراسي المضادة للكهرباء الساكنة</a:t>
            </a:r>
            <a:r>
              <a:rPr lang="ar" sz="1300"/>
              <a:t>: مصنوعة من مواد موصلة تمنع تراكم الكهرباء الساكنة، خاصة في أماكن العمل التي تتعامل مع الإلكترونيات الدقيقة.</a:t>
            </a:r>
            <a:br>
              <a:rPr lang="en-GB" sz="1300"/>
            </a:br>
            <a:r>
              <a:rPr lang="ar" sz="1300" b="1"/>
              <a:t>الحصائر المضادة للكهرباء الساكنة</a:t>
            </a:r>
            <a:r>
              <a:rPr lang="ar" sz="1300"/>
              <a:t>: توضع على الأرضيات والأسطح لتوفير سطح مؤرض، ما يقلل خطر تفريغ الكهرباء الساكنة للمكونات الحساسة.</a:t>
            </a:r>
            <a:br>
              <a:rPr lang="en-GB" sz="1300"/>
            </a:br>
            <a:r>
              <a:rPr lang="ar" sz="1300" b="1"/>
              <a:t>الأغطية البلاستيكية والمغلفات</a:t>
            </a:r>
            <a:r>
              <a:rPr lang="ar" sz="1300"/>
              <a:t>: تحتوي المواد البلاستيكية الآمنة من التفريغ الكهروستاتيكي على المعدات أو الأجزاء، ما يقلل تعرضها للكهرباء الساكنة ويحميها في أثناء النقل أو التخزين.</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د2 متطلبات معدات الحماية الشخصية</a:t>
            </a:r>
          </a:p>
          <a:p>
            <a:pPr rtl="1"/>
            <a:r>
              <a:rPr lang="ar" sz="2200" b="1">
                <a:latin typeface="Sakkal Majalla" panose="02000000000000000000" pitchFamily="2" charset="-78"/>
                <a:cs typeface="Sakkal Majalla" panose="02000000000000000000" pitchFamily="2" charset="-78"/>
              </a:rPr>
              <a:t>الشخصية</a:t>
            </a:r>
          </a:p>
        </p:txBody>
      </p:sp>
      <p:sp>
        <p:nvSpPr>
          <p:cNvPr id="5" name="TextBox 4"/>
          <p:cNvSpPr txBox="1"/>
          <p:nvPr/>
        </p:nvSpPr>
        <p:spPr>
          <a:xfrm>
            <a:off x="3090696" y="6165304"/>
            <a:ext cx="2557111"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حصيرة وكماشة مستدقة مضاد</a:t>
            </a:r>
            <a:r>
              <a:rPr lang="ar-EG" sz="1300" b="1">
                <a:latin typeface="Sakkal Majalla" panose="02000000000000000000" pitchFamily="2" charset="-78"/>
                <a:cs typeface="Sakkal Majalla" panose="02000000000000000000" pitchFamily="2" charset="-78"/>
              </a:rPr>
              <a:t>ة</a:t>
            </a:r>
            <a:r>
              <a:rPr lang="ar" sz="1300" b="1">
                <a:latin typeface="Sakkal Majalla" panose="02000000000000000000" pitchFamily="2" charset="-78"/>
                <a:cs typeface="Sakkal Majalla" panose="02000000000000000000" pitchFamily="2" charset="-78"/>
              </a:rPr>
              <a:t> للكهرباء الساكنة</a:t>
            </a:r>
          </a:p>
        </p:txBody>
      </p:sp>
      <p:sp>
        <p:nvSpPr>
          <p:cNvPr id="3" name="Footer Placeholder 2">
            <a:extLst>
              <a:ext uri="{FF2B5EF4-FFF2-40B4-BE49-F238E27FC236}">
                <a16:creationId xmlns:a16="http://schemas.microsoft.com/office/drawing/2014/main" id="{64FF65D7-635C-A294-95E8-0B16D7FDADB7}"/>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pic>
        <p:nvPicPr>
          <p:cNvPr id="4" name="Picture 3">
            <a:extLst>
              <a:ext uri="{FF2B5EF4-FFF2-40B4-BE49-F238E27FC236}">
                <a16:creationId xmlns:a16="http://schemas.microsoft.com/office/drawing/2014/main" id="{56EEC22C-5FB1-8C68-4EBC-FB212FE00EE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979712" y="4012852"/>
            <a:ext cx="4854441" cy="1943100"/>
          </a:xfrm>
          <a:prstGeom prst="rect">
            <a:avLst/>
          </a:prstGeom>
        </p:spPr>
      </p:pic>
    </p:spTree>
    <p:extLst>
      <p:ext uri="{BB962C8B-B14F-4D97-AF65-F5344CB8AC3E}">
        <p14:creationId xmlns:p14="http://schemas.microsoft.com/office/powerpoint/2010/main" val="2547084127"/>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196752"/>
            <a:ext cx="8640960" cy="551723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a:t>نتاج التعلم أ: تعرّف مبادئ تشغيل أنظمة الدفع في المركبات الكهربائية</a:t>
            </a:r>
            <a:br>
              <a:rPr lang="en-GB" sz="1800"/>
            </a:br>
            <a:br>
              <a:rPr lang="en-GB" sz="1800"/>
            </a:br>
            <a:r>
              <a:rPr lang="ar" sz="1600" b="1"/>
              <a:t>أنظمة الدفع في المحركات الأحادية</a:t>
            </a:r>
            <a:r>
              <a:rPr lang="ar" sz="1600"/>
              <a:t>: تشمل وضع المحرك، متطلبات العزم، والكفاءة. يسلط الضوء على المزايا (مثل البساطة والفعالية من حيث التكلفة) والعيوب (مثل توزيع الوزن والتروس الإضافية).</a:t>
            </a:r>
            <a:br>
              <a:rPr lang="en-GB" sz="1600"/>
            </a:br>
            <a:r>
              <a:rPr lang="ar" sz="1600" b="1"/>
              <a:t>أنظمة دفع المحركات المتعددة</a:t>
            </a:r>
            <a:r>
              <a:rPr lang="ar" sz="1600"/>
              <a:t>: يستكشف التكوينات متعددة المحركات (على سبيل المثال، داخل العجلة والمثبتة على المحور) لتحسين التحكم وتوزيع عزم الدوران. تشمل الفوائد تحسين الجر وتوفير مساحة للبطاريات، مع التحديات مثل زيادة الوزن وتعقيد التبريد.</a:t>
            </a:r>
          </a:p>
          <a:p>
            <a:pPr marL="0" indent="0" rtl="1">
              <a:buNone/>
            </a:pPr>
            <a:br>
              <a:rPr lang="en-GB" sz="2000"/>
            </a:br>
            <a:r>
              <a:rPr lang="ar" sz="2000" b="1"/>
              <a:t>نتاج التعلم ب:  تعرّف مبادئ تشغيل أنظمة نقل الحركة في المركبات الهجينة</a:t>
            </a:r>
          </a:p>
          <a:p>
            <a:pPr marL="0" indent="0" rtl="1">
              <a:buNone/>
            </a:pPr>
            <a:endParaRPr lang="en-GB" sz="1800" b="1"/>
          </a:p>
          <a:p>
            <a:pPr marL="0" indent="0" rtl="1">
              <a:buNone/>
            </a:pPr>
            <a:r>
              <a:rPr lang="ar" sz="1600" b="1"/>
              <a:t>المستويات الهجينة</a:t>
            </a:r>
            <a:r>
              <a:rPr lang="ar" sz="1600"/>
              <a:t>: يفرق بين الأنواع المختلفة من المركبات الهجينة مثل المركبات الهجينة التي تعمل بتقنية التوقف/البدء، الهجينة الخفيفة، والهجينة القوية بناءً على كفاءة استهلاك الوقود والدعم الكهربائي.</a:t>
            </a:r>
            <a:br>
              <a:rPr lang="en-GB" sz="1600"/>
            </a:br>
            <a:r>
              <a:rPr lang="ar" sz="1600" b="1"/>
              <a:t>أنواع التصاميم المختلطة</a:t>
            </a:r>
            <a:r>
              <a:rPr lang="ar" sz="1600"/>
              <a:t>: يوضح الأنظمة الموصلة على التوازي والتوالي وأنظمة تقسيم القدرة، حيث لكل منها مزايا فريدة في توزيع القدرة التي تتناسب مع احتياجات القيادة المختلفة.</a:t>
            </a:r>
            <a:br>
              <a:rPr lang="en-GB" sz="1600"/>
            </a:br>
            <a:r>
              <a:rPr lang="ar" sz="1600" b="1"/>
              <a:t>تصنيفات P والأنظمة الفرعية</a:t>
            </a:r>
            <a:r>
              <a:rPr lang="ar" sz="1600"/>
              <a:t>: يغطي فئات وضع المحرك (</a:t>
            </a:r>
            <a:r>
              <a:rPr lang="en-US" sz="1600"/>
              <a:t>P0</a:t>
            </a:r>
            <a:r>
              <a:rPr lang="ar" sz="1600"/>
              <a:t>—</a:t>
            </a:r>
            <a:r>
              <a:rPr lang="en-US" sz="1600"/>
              <a:t>P4</a:t>
            </a:r>
            <a:r>
              <a:rPr lang="ar" sz="1600"/>
              <a:t>، PS) وتخطيطات النظام الفرعي (على سبيل المثال، القابض الفردي/المزدوج، ونظام تقسيم القدرة)، ما يوفر المرونة في التكوينات الهجينة.</a:t>
            </a:r>
            <a:endParaRPr lang="en-GB" sz="16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ملخص نتاجا التعلم أ وب</a:t>
            </a:r>
          </a:p>
        </p:txBody>
      </p:sp>
      <p:sp>
        <p:nvSpPr>
          <p:cNvPr id="2" name="Footer Placeholder 2">
            <a:extLst>
              <a:ext uri="{FF2B5EF4-FFF2-40B4-BE49-F238E27FC236}">
                <a16:creationId xmlns:a16="http://schemas.microsoft.com/office/drawing/2014/main" id="{C41B7118-12F5-CB0B-A87C-9F7364C43C7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3433470704"/>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5536" y="1340768"/>
            <a:ext cx="8496944"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2000" b="1"/>
              <a:t>نتاج التعلم ج: فهم تصنيع نظام نقل الحركة وتجميعه في المركبات الكهربائية والهجينة</a:t>
            </a:r>
            <a:br>
              <a:rPr lang="en-GB" sz="1800"/>
            </a:br>
            <a:br>
              <a:rPr lang="en-GB" sz="1800"/>
            </a:br>
            <a:r>
              <a:rPr lang="ar" sz="1600" b="1"/>
              <a:t>مراحل الإنتاج</a:t>
            </a:r>
            <a:r>
              <a:rPr lang="ar" sz="1600"/>
              <a:t>: يحدد الخطوات الرئيسة في تجميع ناقل الحركة - إدخال المكونات والضغط ومنع التسريب والاختبار والتحقق في أثناء العملية.</a:t>
            </a:r>
            <a:br>
              <a:rPr lang="en-GB" sz="1600"/>
            </a:br>
            <a:r>
              <a:rPr lang="ar" sz="1600" b="1"/>
              <a:t>معدات البناء</a:t>
            </a:r>
            <a:r>
              <a:rPr lang="ar" sz="1600"/>
              <a:t>: يتناول الآلات الخاصة بخطوط الإنتاج (مثل المحطات الروبوتية والأدوات الآلية) والأدوات اليدوية وأدوات القياس الدقيقة الضرورية لبناء ناقلات الحركة.</a:t>
            </a:r>
            <a:br>
              <a:rPr lang="en-GB" sz="1800"/>
            </a:br>
            <a:endParaRPr lang="en-GB" sz="1800"/>
          </a:p>
          <a:p>
            <a:pPr marL="0" indent="0" rtl="1">
              <a:buNone/>
            </a:pPr>
            <a:r>
              <a:rPr lang="ar" sz="2000" b="1"/>
              <a:t>نتاج التعلم د: فهم ممارسات العمل الآمن عند تصنيع أنظمة نقل الحركة في المركبات الكهربائية والهجينة</a:t>
            </a:r>
            <a:br>
              <a:rPr lang="en-GB" sz="1800"/>
            </a:br>
            <a:br>
              <a:rPr lang="en-GB" sz="1800"/>
            </a:br>
            <a:r>
              <a:rPr lang="ar" sz="1600" b="1"/>
              <a:t>تعريف الأخطار</a:t>
            </a:r>
            <a:r>
              <a:rPr lang="ar" sz="1600"/>
              <a:t>: يركز على تقييمات المخاطر للمخاطر الميكانيكية والكيميائية والكهربائية، إلى جانب التقييمات المتخصصة للضوضاء والاهتزاز والتفريغ الكهروستاتيكي.</a:t>
            </a:r>
            <a:br>
              <a:rPr lang="en-GB" sz="1600"/>
            </a:br>
            <a:r>
              <a:rPr lang="ar" sz="1600" b="1"/>
              <a:t>معدات الوقاية الشخصية</a:t>
            </a:r>
            <a:r>
              <a:rPr lang="ar" sz="1600"/>
              <a:t>: يغطي معدات الوقاية الشخصية الأساسية، بما في ذلك أحذية السلامة والملابس الواقية والتدابير المضادة للكهرباء الساكنة لمنع الأضرار المرتبطة بالتفريغ الكهروستاتيكي.</a:t>
            </a:r>
            <a:br>
              <a:rPr lang="en-GB" sz="1600"/>
            </a:br>
            <a:r>
              <a:rPr lang="ar" sz="1600" b="1"/>
              <a:t>الحماية ضد الكهرباء الساكنة</a:t>
            </a:r>
            <a:r>
              <a:rPr lang="ar" sz="1600"/>
              <a:t>: يسلط الضوء على المعدات للتخفيف من المخاطر الثابتة (مثل الطاولات والحصائر والملحقات المضادة للكهرباء الساكنة) لحماية المكونات والعاملين في التجميع الإلكتروني.</a:t>
            </a:r>
            <a:endParaRPr lang="en-GB" sz="180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359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ملخص نتاجا التعلم ج ود</a:t>
            </a:r>
          </a:p>
        </p:txBody>
      </p:sp>
      <p:sp>
        <p:nvSpPr>
          <p:cNvPr id="2" name="Footer Placeholder 2">
            <a:extLst>
              <a:ext uri="{FF2B5EF4-FFF2-40B4-BE49-F238E27FC236}">
                <a16:creationId xmlns:a16="http://schemas.microsoft.com/office/drawing/2014/main" id="{F65983CF-36EA-3B28-F3F2-EACFCD75A842}"/>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a:solidFill>
                  <a:srgbClr val="444444"/>
                </a:solidFill>
                <a:effectLst/>
                <a:latin typeface="Calibri" panose="020F0502020204030204" pitchFamily="34" charset="0"/>
              </a:rPr>
              <a:t>A103000399243</a:t>
            </a:r>
            <a:endParaRPr lang="ar" sz="1000"/>
          </a:p>
        </p:txBody>
      </p:sp>
    </p:spTree>
    <p:extLst>
      <p:ext uri="{BB962C8B-B14F-4D97-AF65-F5344CB8AC3E}">
        <p14:creationId xmlns:p14="http://schemas.microsoft.com/office/powerpoint/2010/main" val="2982333960"/>
      </p:ext>
    </p:extLst>
  </p:cSld>
  <p:clrMapOvr>
    <a:masterClrMapping/>
  </p:clrMapOvr>
  <p:transition>
    <p:sndAc>
      <p:stSnd>
        <p:snd r:embed="rId3" name="click.wav"/>
      </p:stSnd>
    </p:sndAc>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851920" y="1484784"/>
            <a:ext cx="4968552" cy="52292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a:t>فرص لتطوير مهارات التوظيف القابلة للنقل</a:t>
            </a:r>
            <a:br>
              <a:rPr lang="en-GB" sz="1400"/>
            </a:br>
            <a:br>
              <a:rPr lang="en-GB" sz="1400"/>
            </a:br>
            <a:r>
              <a:rPr lang="ar" sz="1400" b="1"/>
              <a:t>مهارات البحث والعرض التقديمي والتواصل الكتابي الرسمي.</a:t>
            </a:r>
            <a:br>
              <a:rPr lang="en-GB" sz="1400"/>
            </a:br>
            <a:r>
              <a:rPr lang="ar" sz="1400"/>
              <a:t>يطور القدرة على جمع المعلومات وتقديم النتائج بفعالية والتواصل بشكل احترافي في أشكال مكتوبة، وهو أمر ضروري لكتابة التقارير والاتصالات الرسمية في مكان العمل.</a:t>
            </a:r>
          </a:p>
          <a:p>
            <a:pPr marL="0" indent="0" rtl="1">
              <a:buNone/>
            </a:pPr>
            <a:br>
              <a:rPr lang="en-GB" sz="1400"/>
            </a:br>
            <a:r>
              <a:rPr lang="ar" sz="1400" b="1"/>
              <a:t>المهارات التحليلية لتقييم القضايا</a:t>
            </a:r>
            <a:br>
              <a:rPr lang="en-GB" sz="1400"/>
            </a:br>
            <a:r>
              <a:rPr lang="ar" sz="1400"/>
              <a:t>يعزز القدرة على تقييم القضايا بشكل نقدي وفهم آثارها وتشكيل استنتاجات شاملة - ذات قيمة لحل المشكلات والتخطيط الإستراتيجي.</a:t>
            </a:r>
          </a:p>
          <a:p>
            <a:pPr marL="0" indent="0" rtl="1">
              <a:buNone/>
            </a:pPr>
            <a:br>
              <a:rPr lang="en-GB" sz="1400"/>
            </a:br>
            <a:r>
              <a:rPr lang="ar" sz="1400" b="1"/>
              <a:t>تقييم المخاطر في التصنيع</a:t>
            </a:r>
            <a:br>
              <a:rPr lang="en-GB" sz="1400"/>
            </a:br>
            <a:r>
              <a:rPr lang="ar" sz="1400"/>
              <a:t>• يبني المهارات التحليلية في تحديد وتقييم المخاطر المحتملة المرتبطة بعمليات التصنيع، وهي مهارة أساسية للحفاظ على السلامة والجودة في بيئات الإنتاج.</a:t>
            </a:r>
          </a:p>
          <a:p>
            <a:pPr marL="0" indent="0" rtl="1">
              <a:buNone/>
            </a:pPr>
            <a:br>
              <a:rPr lang="en-GB" sz="1400"/>
            </a:br>
            <a:r>
              <a:rPr lang="ar" sz="1400" b="1"/>
              <a:t>ممارسات العمل المستقلة</a:t>
            </a:r>
            <a:br>
              <a:rPr lang="en-GB" sz="1400"/>
            </a:br>
            <a:r>
              <a:rPr lang="ar" sz="1400"/>
              <a:t>يشجع الانضباط الذاتي والمساءلة من خلال إكمال المهام بشكل مستقل، وإعداد المتعلمين للأدوار التي تتطلب التحفيز الذاتي والمسؤولية.</a:t>
            </a:r>
            <a:endParaRPr lang="en-GB" sz="1400" b="1"/>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332656"/>
            <a:ext cx="5621086" cy="431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a:latin typeface="Sakkal Majalla" panose="02000000000000000000" pitchFamily="2" charset="-78"/>
                <a:cs typeface="Sakkal Majalla" panose="02000000000000000000" pitchFamily="2" charset="-78"/>
              </a:rPr>
              <a:t>مهارات التوظيف القابلة للنقل</a:t>
            </a:r>
          </a:p>
        </p:txBody>
      </p:sp>
      <p:sp>
        <p:nvSpPr>
          <p:cNvPr id="4" name="TextBox 3"/>
          <p:cNvSpPr txBox="1"/>
          <p:nvPr/>
        </p:nvSpPr>
        <p:spPr>
          <a:xfrm>
            <a:off x="1677381" y="5709517"/>
            <a:ext cx="946093" cy="292388"/>
          </a:xfrm>
          <a:prstGeom prst="rect">
            <a:avLst/>
          </a:prstGeom>
          <a:noFill/>
        </p:spPr>
        <p:txBody>
          <a:bodyPr wrap="none" rtlCol="1">
            <a:spAutoFit/>
          </a:bodyPr>
          <a:lstStyle/>
          <a:p>
            <a:pPr algn="ctr" rtl="1"/>
            <a:r>
              <a:rPr lang="ar" sz="1300" b="1">
                <a:latin typeface="Sakkal Majalla" panose="02000000000000000000" pitchFamily="2" charset="-78"/>
                <a:cs typeface="Sakkal Majalla" panose="02000000000000000000" pitchFamily="2" charset="-78"/>
              </a:rPr>
              <a:t>قابلية التوظيف</a:t>
            </a:r>
          </a:p>
        </p:txBody>
      </p:sp>
      <p:sp>
        <p:nvSpPr>
          <p:cNvPr id="2" name="Footer Placeholder 2">
            <a:extLst>
              <a:ext uri="{FF2B5EF4-FFF2-40B4-BE49-F238E27FC236}">
                <a16:creationId xmlns:a16="http://schemas.microsoft.com/office/drawing/2014/main" id="{13D57566-E6BB-76C0-BC16-8F27C3D4EB31}"/>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A103000399243</a:t>
            </a:r>
            <a:endParaRPr lang="ar" sz="1000" dirty="0"/>
          </a:p>
        </p:txBody>
      </p:sp>
      <p:pic>
        <p:nvPicPr>
          <p:cNvPr id="5" name="Picture 4" descr="A blue chair with a light shining on it&#10;&#10;Description automatically generated">
            <a:extLst>
              <a:ext uri="{FF2B5EF4-FFF2-40B4-BE49-F238E27FC236}">
                <a16:creationId xmlns:a16="http://schemas.microsoft.com/office/drawing/2014/main" id="{55B1D09A-81D2-15AC-91C0-647F7F85388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91691" y="2924944"/>
            <a:ext cx="3117471" cy="2592288"/>
          </a:xfrm>
          <a:prstGeom prst="rect">
            <a:avLst/>
          </a:prstGeom>
        </p:spPr>
      </p:pic>
    </p:spTree>
    <p:extLst>
      <p:ext uri="{BB962C8B-B14F-4D97-AF65-F5344CB8AC3E}">
        <p14:creationId xmlns:p14="http://schemas.microsoft.com/office/powerpoint/2010/main" val="162742778"/>
      </p:ext>
    </p:extLst>
  </p:cSld>
  <p:clrMapOvr>
    <a:masterClrMapping/>
  </p:clrMapOvr>
  <p:transition>
    <p:sndAc>
      <p:stSnd>
        <p:snd r:embed="rId3" name="click.wav"/>
      </p:stSnd>
    </p:sndAc>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2" y="2060848"/>
            <a:ext cx="7991475" cy="3600399"/>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lnSpc>
                <a:spcPct val="107000"/>
              </a:lnSpc>
              <a:spcAft>
                <a:spcPts val="800"/>
              </a:spcAft>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صورة ألامي ستوك:</a:t>
            </a:r>
            <a:r>
              <a:rPr lang="ar" sz="2000" dirty="0">
                <a:solidFill>
                  <a:srgbClr val="000000"/>
                </a:solidFill>
                <a:effectLst/>
                <a:latin typeface="Sakkal Majalla" panose="02000000000000000000" pitchFamily="2" charset="-78"/>
                <a:ea typeface="Calibri" panose="020F0502020204030204" pitchFamily="34" charset="0"/>
                <a:cs typeface="Sakkal Majalla" panose="02000000000000000000" pitchFamily="2" charset="-78"/>
              </a:rPr>
              <a:t> وال دير ماروس (الشريحة 15)؛</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شترستوك:</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 باتروفلو (الشريحة 5)، أديساك ريوكراتوك (الشريحة 10)، كونو تومينج (الشريحة 11)، ماكس ستوديو (الشريحة 19)، إي بي ستوديو 20 (الشريحة 20)، جولوبوفي (الشريحة 23)، توا 55 (الشريحة 24)، بوها دورين (الشريحة 26)، ناتاويت خومسانيت (الشريحة 27)، بيكسل شوت (الشريحة 28)، كلي 048 (الشريحة 29)، روجر براون فوتوغرافي (الشريحة 30)، تيتولينو (الشريحة 31)، أوستن ماسون (الشريحة 32)، جاليك جرافيك (الشريحة 35).</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3564348D-DA95-AB88-AF80-28B156E55750}"/>
              </a:ext>
            </a:extLst>
          </p:cNvPr>
          <p:cNvSpPr txBox="1">
            <a:spLocks/>
          </p:cNvSpPr>
          <p:nvPr/>
        </p:nvSpPr>
        <p:spPr bwMode="auto">
          <a:xfrm>
            <a:off x="7288" y="6638515"/>
            <a:ext cx="1080120" cy="216719"/>
          </a:xfrm>
          <a:prstGeom prst="rect">
            <a:avLst/>
          </a:prstGeom>
          <a:noFill/>
        </p:spPr>
        <p:txBody>
          <a:bodyPr vert="horz" wrap="square" lIns="91440" tIns="45720" rIns="91440" bIns="45720" numCol="1" rtlCol="1" anchor="t" anchorCtr="0" compatLnSpc="1">
            <a:prstTxWarp prst="textNoShape">
              <a:avLst/>
            </a:prstTxWarp>
            <a:normAutofit fontScale="92500" lnSpcReduction="10000"/>
          </a:bodyPr>
          <a:lstStyle>
            <a:defPPr algn="r" rtl="1">
              <a:defRPr lang="ar-MA"/>
            </a:defPPr>
            <a:lvl1pPr algn="r" rtl="1" eaLnBrk="0" fontAlgn="base" hangingPunct="0">
              <a:spcBef>
                <a:spcPct val="0"/>
              </a:spcBef>
              <a:spcAft>
                <a:spcPct val="0"/>
              </a:spcAft>
              <a:buFontTx/>
              <a:buNone/>
              <a:defRPr sz="1800" kern="1200">
                <a:solidFill>
                  <a:schemeClr val="tx1"/>
                </a:solidFill>
                <a:latin typeface="Sakkal Majalla" panose="02000000000000000000" pitchFamily="2" charset="-78"/>
                <a:ea typeface="+mn-ea"/>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5pPr>
            <a:lvl6pPr marL="25146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6pPr>
            <a:lvl7pPr marL="29718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7pPr>
            <a:lvl8pPr marL="34290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8pPr>
            <a:lvl9pPr marL="3886200" indent="-228600" algn="r" defTabSz="914400" rtl="1" eaLnBrk="0" fontAlgn="base" latinLnBrk="0" hangingPunct="0">
              <a:spcBef>
                <a:spcPct val="20000"/>
              </a:spcBef>
              <a:spcAft>
                <a:spcPct val="0"/>
              </a:spcAft>
              <a:buFont typeface="Wingdings" panose="05000000000000000000" pitchFamily="2" charset="2"/>
              <a:buChar char="»"/>
              <a:defRPr sz="2400" kern="1200">
                <a:solidFill>
                  <a:schemeClr val="tx1"/>
                </a:solidFill>
                <a:latin typeface="Verdana" panose="020B060403050404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A103000399243</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1A1C03E-3E5D-4B9B-8067-48F9EE1E5F68}"/>
</file>

<file path=customXml/itemProps2.xml><?xml version="1.0" encoding="utf-8"?>
<ds:datastoreItem xmlns:ds="http://schemas.openxmlformats.org/officeDocument/2006/customXml" ds:itemID="{4B700610-39F3-4A35-AAF4-C1E1359C0930}">
  <ds:schemaRefs>
    <ds:schemaRef ds:uri="http://purl.org/dc/elements/1.1/"/>
    <ds:schemaRef ds:uri="http://schemas.microsoft.com/office/2006/documentManagement/types"/>
    <ds:schemaRef ds:uri="http://schemas.microsoft.com/office/2006/metadata/properties"/>
    <ds:schemaRef ds:uri="6125ffc9-2c56-435e-8267-1393444907b2"/>
    <ds:schemaRef ds:uri="http://www.w3.org/XML/1998/namespace"/>
    <ds:schemaRef ds:uri="http://purl.org/dc/terms/"/>
    <ds:schemaRef ds:uri="http://purl.org/dc/dcmitype/"/>
    <ds:schemaRef ds:uri="http://schemas.microsoft.com/office/infopath/2007/PartnerControls"/>
    <ds:schemaRef ds:uri="http://schemas.openxmlformats.org/package/2006/metadata/core-properties"/>
    <ds:schemaRef ds:uri="7c1bd8dc-4e40-424f-a15f-9ffcd522197f"/>
  </ds:schemaRefs>
</ds:datastoreItem>
</file>

<file path=customXml/itemProps3.xml><?xml version="1.0" encoding="utf-8"?>
<ds:datastoreItem xmlns:ds="http://schemas.openxmlformats.org/officeDocument/2006/customXml" ds:itemID="{0AA2910D-4917-49C0-8FBC-BFF7ABD28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TotalTime>
  <Words>7769</Words>
  <Application>Microsoft Office PowerPoint</Application>
  <PresentationFormat>On-screen Show (4:3)</PresentationFormat>
  <Paragraphs>300</Paragraphs>
  <Slides>42</Slides>
  <Notes>42</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42</vt:i4>
      </vt:variant>
    </vt:vector>
  </HeadingPairs>
  <TitlesOfParts>
    <vt:vector size="57"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61  أنظمة الدفع في المركبات الكهربائية</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5</cp:revision>
  <dcterms:created xsi:type="dcterms:W3CDTF">2020-07-15T07:14:47Z</dcterms:created>
  <dcterms:modified xsi:type="dcterms:W3CDTF">2025-01-23T13:57:31Z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