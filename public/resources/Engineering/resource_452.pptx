
<file path=[Content_Types].xml><?xml version="1.0" encoding="utf-8"?>
<Types xmlns="http://schemas.openxmlformats.org/package/2006/content-types">
  <Default Extension="bin" ContentType="audio/unknown"/>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6.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7.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8.xml" ContentType="application/vnd.openxmlformats-officedocument.theme+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theme/theme9.xml" ContentType="application/vnd.openxmlformats-officedocument.theme+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tl="1"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Lst>
  <p:notesMasterIdLst>
    <p:notesMasterId r:id="rId53"/>
  </p:notesMasterIdLst>
  <p:sldIdLst>
    <p:sldId id="256" r:id="rId14"/>
    <p:sldId id="257" r:id="rId15"/>
    <p:sldId id="258" r:id="rId16"/>
    <p:sldId id="272" r:id="rId17"/>
    <p:sldId id="336" r:id="rId18"/>
    <p:sldId id="305" r:id="rId19"/>
    <p:sldId id="323" r:id="rId20"/>
    <p:sldId id="335" r:id="rId21"/>
    <p:sldId id="306" r:id="rId22"/>
    <p:sldId id="334" r:id="rId23"/>
    <p:sldId id="337" r:id="rId24"/>
    <p:sldId id="307" r:id="rId25"/>
    <p:sldId id="308" r:id="rId26"/>
    <p:sldId id="324" r:id="rId27"/>
    <p:sldId id="309" r:id="rId28"/>
    <p:sldId id="325" r:id="rId29"/>
    <p:sldId id="310" r:id="rId30"/>
    <p:sldId id="311" r:id="rId31"/>
    <p:sldId id="333" r:id="rId32"/>
    <p:sldId id="312" r:id="rId33"/>
    <p:sldId id="326" r:id="rId34"/>
    <p:sldId id="313" r:id="rId35"/>
    <p:sldId id="327" r:id="rId36"/>
    <p:sldId id="315" r:id="rId37"/>
    <p:sldId id="314" r:id="rId38"/>
    <p:sldId id="328" r:id="rId39"/>
    <p:sldId id="316" r:id="rId40"/>
    <p:sldId id="317" r:id="rId41"/>
    <p:sldId id="329" r:id="rId42"/>
    <p:sldId id="318" r:id="rId43"/>
    <p:sldId id="338" r:id="rId44"/>
    <p:sldId id="330" r:id="rId45"/>
    <p:sldId id="319" r:id="rId46"/>
    <p:sldId id="320" r:id="rId47"/>
    <p:sldId id="331" r:id="rId48"/>
    <p:sldId id="321" r:id="rId49"/>
    <p:sldId id="332" r:id="rId50"/>
    <p:sldId id="322" r:id="rId51"/>
    <p:sldId id="339" r:id="rId52"/>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6111439-BA2D-8BA1-2A4F-D334A9967CB5}" name="Matthew Gregory" initials="MG" userId="S::Matthew.Gregory2@pearson.com::8c337df5-6986-499e-b190-07598673e62f" providerId="AD"/>
  <p188:author id="{8B82D06C-018E-658A-F284-BFF33A0F7E68}" name="Mike Ryan" initials="MR" userId="2975e10cec8a382b"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300494-9281-C1AC-27CC-829AD693BE21}" v="10" dt="2024-12-03T11:57:29.781"/>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0143" autoAdjust="0"/>
    <p:restoredTop sz="85702" autoAdjust="0"/>
  </p:normalViewPr>
  <p:slideViewPr>
    <p:cSldViewPr>
      <p:cViewPr varScale="1">
        <p:scale>
          <a:sx n="134" d="100"/>
          <a:sy n="134" d="100"/>
        </p:scale>
        <p:origin x="2934" y="132"/>
      </p:cViewPr>
      <p:guideLst>
        <p:guide orient="horz" pos="1933"/>
        <p:guide pos="2880"/>
        <p:guide pos="1791"/>
        <p:guide orient="horz" pos="3657"/>
        <p:guide pos="106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slide" Target="slides/slide26.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slide" Target="slides/slide29.xml"/><Relationship Id="rId47" Type="http://schemas.openxmlformats.org/officeDocument/2006/relationships/slide" Target="slides/slide34.xml"/><Relationship Id="rId50" Type="http://schemas.openxmlformats.org/officeDocument/2006/relationships/slide" Target="slides/slide37.xml"/><Relationship Id="rId55" Type="http://schemas.openxmlformats.org/officeDocument/2006/relationships/presProps" Target="pres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Master" Target="slideMasters/slideMaster2.xml"/><Relationship Id="rId61" Type="http://schemas.microsoft.com/office/2018/10/relationships/authors" Target="authors.xml"/><Relationship Id="rId19" Type="http://schemas.openxmlformats.org/officeDocument/2006/relationships/slide" Target="slides/slide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slide" Target="slides/slide35.xml"/><Relationship Id="rId56" Type="http://schemas.openxmlformats.org/officeDocument/2006/relationships/viewProps" Target="viewProps.xml"/><Relationship Id="rId8" Type="http://schemas.openxmlformats.org/officeDocument/2006/relationships/slideMaster" Target="slideMasters/slideMaster5.xml"/><Relationship Id="rId51" Type="http://schemas.openxmlformats.org/officeDocument/2006/relationships/slide" Target="slides/slide38.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59" Type="http://schemas.microsoft.com/office/2016/11/relationships/changesInfo" Target="changesInfos/changesInfo1.xml"/><Relationship Id="rId20" Type="http://schemas.openxmlformats.org/officeDocument/2006/relationships/slide" Target="slides/slide7.xml"/><Relationship Id="rId41" Type="http://schemas.openxmlformats.org/officeDocument/2006/relationships/slide" Target="slides/slide28.xml"/><Relationship Id="rId54"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slide" Target="slides/slide36.xml"/><Relationship Id="rId57" Type="http://schemas.openxmlformats.org/officeDocument/2006/relationships/theme" Target="theme/theme1.xml"/><Relationship Id="rId10" Type="http://schemas.openxmlformats.org/officeDocument/2006/relationships/slideMaster" Target="slideMasters/slideMaster7.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slide" Target="slides/slide39.xml"/><Relationship Id="rId60"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Master" Target="slideMasters/slideMaster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kari, Meriem" userId="S::meriem.lakari@langspire.com::89721f2c-0edd-4753-b759-9fe019b41622" providerId="AD" clId="Web-{BD300494-9281-C1AC-27CC-829AD693BE21}"/>
    <pc:docChg chg="modSld">
      <pc:chgData name="Lakari, Meriem" userId="S::meriem.lakari@langspire.com::89721f2c-0edd-4753-b759-9fe019b41622" providerId="AD" clId="Web-{BD300494-9281-C1AC-27CC-829AD693BE21}" dt="2024-12-03T11:57:29.781" v="9" actId="20577"/>
      <pc:docMkLst>
        <pc:docMk/>
      </pc:docMkLst>
      <pc:sldChg chg="modSp">
        <pc:chgData name="Lakari, Meriem" userId="S::meriem.lakari@langspire.com::89721f2c-0edd-4753-b759-9fe019b41622" providerId="AD" clId="Web-{BD300494-9281-C1AC-27CC-829AD693BE21}" dt="2024-12-03T11:57:29.781" v="9" actId="20577"/>
        <pc:sldMkLst>
          <pc:docMk/>
          <pc:sldMk cId="2669250250" sldId="318"/>
        </pc:sldMkLst>
        <pc:spChg chg="mod">
          <ac:chgData name="Lakari, Meriem" userId="S::meriem.lakari@langspire.com::89721f2c-0edd-4753-b759-9fe019b41622" providerId="AD" clId="Web-{BD300494-9281-C1AC-27CC-829AD693BE21}" dt="2024-12-03T11:57:29.781" v="9" actId="20577"/>
          <ac:spMkLst>
            <pc:docMk/>
            <pc:sldMk cId="2669250250" sldId="318"/>
            <ac:spMk id="34819" creationId="{453C7683-8588-7ABC-32E0-8A4E68218620}"/>
          </ac:spMkLst>
        </pc:spChg>
      </pc:sldChg>
    </pc:docChg>
  </pc:docChgLst>
  <pc:docChgLst>
    <pc:chgData name="Paul Winser" userId="c3146a91-e6bd-4264-bd86-e164e04bc32d" providerId="ADAL" clId="{5A3BE792-0163-495B-873D-F9DEAE076E37}"/>
    <pc:docChg chg="undo custSel modSld">
      <pc:chgData name="Paul Winser" userId="c3146a91-e6bd-4264-bd86-e164e04bc32d" providerId="ADAL" clId="{5A3BE792-0163-495B-873D-F9DEAE076E37}" dt="2024-11-12T14:26:15.713" v="163" actId="5793"/>
      <pc:docMkLst>
        <pc:docMk/>
      </pc:docMkLst>
      <pc:sldChg chg="delSp modSp mod">
        <pc:chgData name="Paul Winser" userId="c3146a91-e6bd-4264-bd86-e164e04bc32d" providerId="ADAL" clId="{5A3BE792-0163-495B-873D-F9DEAE076E37}" dt="2024-11-12T14:19:42.207" v="11" actId="478"/>
        <pc:sldMkLst>
          <pc:docMk/>
          <pc:sldMk cId="0" sldId="257"/>
        </pc:sldMkLst>
        <pc:spChg chg="del">
          <ac:chgData name="Paul Winser" userId="c3146a91-e6bd-4264-bd86-e164e04bc32d" providerId="ADAL" clId="{5A3BE792-0163-495B-873D-F9DEAE076E37}" dt="2024-11-12T14:19:42.207" v="11" actId="478"/>
          <ac:spMkLst>
            <pc:docMk/>
            <pc:sldMk cId="0" sldId="257"/>
            <ac:spMk id="2" creationId="{19539EE3-1166-614C-F1C5-462E4AAF51F6}"/>
          </ac:spMkLst>
        </pc:spChg>
        <pc:spChg chg="mod">
          <ac:chgData name="Paul Winser" userId="c3146a91-e6bd-4264-bd86-e164e04bc32d" providerId="ADAL" clId="{5A3BE792-0163-495B-873D-F9DEAE076E37}" dt="2024-11-12T14:19:39.049" v="10" actId="14100"/>
          <ac:spMkLst>
            <pc:docMk/>
            <pc:sldMk cId="0" sldId="257"/>
            <ac:spMk id="30723" creationId="{3C79F714-332C-AB63-03D9-E6D0CAE0623F}"/>
          </ac:spMkLst>
        </pc:spChg>
      </pc:sldChg>
      <pc:sldChg chg="delSp modSp mod">
        <pc:chgData name="Paul Winser" userId="c3146a91-e6bd-4264-bd86-e164e04bc32d" providerId="ADAL" clId="{5A3BE792-0163-495B-873D-F9DEAE076E37}" dt="2024-11-12T14:19:48.179" v="14" actId="6549"/>
        <pc:sldMkLst>
          <pc:docMk/>
          <pc:sldMk cId="0" sldId="258"/>
        </pc:sldMkLst>
        <pc:spChg chg="del">
          <ac:chgData name="Paul Winser" userId="c3146a91-e6bd-4264-bd86-e164e04bc32d" providerId="ADAL" clId="{5A3BE792-0163-495B-873D-F9DEAE076E37}" dt="2024-11-12T14:19:44.819" v="12" actId="478"/>
          <ac:spMkLst>
            <pc:docMk/>
            <pc:sldMk cId="0" sldId="258"/>
            <ac:spMk id="2" creationId="{64D1DF0C-7717-40BA-DFA5-5BC616FDDCD9}"/>
          </ac:spMkLst>
        </pc:spChg>
        <pc:spChg chg="mod">
          <ac:chgData name="Paul Winser" userId="c3146a91-e6bd-4264-bd86-e164e04bc32d" providerId="ADAL" clId="{5A3BE792-0163-495B-873D-F9DEAE076E37}" dt="2024-11-12T14:19:48.179" v="14" actId="6549"/>
          <ac:spMkLst>
            <pc:docMk/>
            <pc:sldMk cId="0" sldId="258"/>
            <ac:spMk id="32771" creationId="{44DFA49F-83B7-E61C-00EB-D6046D571A05}"/>
          </ac:spMkLst>
        </pc:spChg>
      </pc:sldChg>
      <pc:sldChg chg="delSp mod">
        <pc:chgData name="Paul Winser" userId="c3146a91-e6bd-4264-bd86-e164e04bc32d" providerId="ADAL" clId="{5A3BE792-0163-495B-873D-F9DEAE076E37}" dt="2024-11-12T14:19:51.521" v="15" actId="478"/>
        <pc:sldMkLst>
          <pc:docMk/>
          <pc:sldMk cId="0" sldId="272"/>
        </pc:sldMkLst>
        <pc:spChg chg="del">
          <ac:chgData name="Paul Winser" userId="c3146a91-e6bd-4264-bd86-e164e04bc32d" providerId="ADAL" clId="{5A3BE792-0163-495B-873D-F9DEAE076E37}" dt="2024-11-12T14:19:51.521" v="15" actId="478"/>
          <ac:spMkLst>
            <pc:docMk/>
            <pc:sldMk cId="0" sldId="272"/>
            <ac:spMk id="2" creationId="{C3A6E989-E22D-214D-8D69-4946D22CC0EC}"/>
          </ac:spMkLst>
        </pc:spChg>
      </pc:sldChg>
      <pc:sldChg chg="delSp modSp mod">
        <pc:chgData name="Paul Winser" userId="c3146a91-e6bd-4264-bd86-e164e04bc32d" providerId="ADAL" clId="{5A3BE792-0163-495B-873D-F9DEAE076E37}" dt="2024-11-12T14:20:15.331" v="22" actId="404"/>
        <pc:sldMkLst>
          <pc:docMk/>
          <pc:sldMk cId="884549766" sldId="305"/>
        </pc:sldMkLst>
        <pc:spChg chg="del">
          <ac:chgData name="Paul Winser" userId="c3146a91-e6bd-4264-bd86-e164e04bc32d" providerId="ADAL" clId="{5A3BE792-0163-495B-873D-F9DEAE076E37}" dt="2024-11-12T14:20:07.007" v="18" actId="478"/>
          <ac:spMkLst>
            <pc:docMk/>
            <pc:sldMk cId="884549766" sldId="305"/>
            <ac:spMk id="4" creationId="{5A6A7DED-F812-BC9D-A876-613603B08271}"/>
          </ac:spMkLst>
        </pc:spChg>
        <pc:spChg chg="mod">
          <ac:chgData name="Paul Winser" userId="c3146a91-e6bd-4264-bd86-e164e04bc32d" providerId="ADAL" clId="{5A3BE792-0163-495B-873D-F9DEAE076E37}" dt="2024-11-12T14:20:15.331" v="22" actId="404"/>
          <ac:spMkLst>
            <pc:docMk/>
            <pc:sldMk cId="884549766" sldId="305"/>
            <ac:spMk id="34819" creationId="{453C7683-8588-7ABC-32E0-8A4E68218620}"/>
          </ac:spMkLst>
        </pc:spChg>
      </pc:sldChg>
      <pc:sldChg chg="delSp mod">
        <pc:chgData name="Paul Winser" userId="c3146a91-e6bd-4264-bd86-e164e04bc32d" providerId="ADAL" clId="{5A3BE792-0163-495B-873D-F9DEAE076E37}" dt="2024-11-12T14:20:57.055" v="37" actId="478"/>
        <pc:sldMkLst>
          <pc:docMk/>
          <pc:sldMk cId="2133945393" sldId="306"/>
        </pc:sldMkLst>
        <pc:spChg chg="del">
          <ac:chgData name="Paul Winser" userId="c3146a91-e6bd-4264-bd86-e164e04bc32d" providerId="ADAL" clId="{5A3BE792-0163-495B-873D-F9DEAE076E37}" dt="2024-11-12T14:20:57.055" v="37" actId="478"/>
          <ac:spMkLst>
            <pc:docMk/>
            <pc:sldMk cId="2133945393" sldId="306"/>
            <ac:spMk id="4" creationId="{A0AE45E3-94E0-E438-441B-DC70FE126CA7}"/>
          </ac:spMkLst>
        </pc:spChg>
      </pc:sldChg>
      <pc:sldChg chg="delSp mod">
        <pc:chgData name="Paul Winser" userId="c3146a91-e6bd-4264-bd86-e164e04bc32d" providerId="ADAL" clId="{5A3BE792-0163-495B-873D-F9DEAE076E37}" dt="2024-11-12T14:21:32.032" v="43" actId="478"/>
        <pc:sldMkLst>
          <pc:docMk/>
          <pc:sldMk cId="3282059577" sldId="307"/>
        </pc:sldMkLst>
        <pc:spChg chg="del">
          <ac:chgData name="Paul Winser" userId="c3146a91-e6bd-4264-bd86-e164e04bc32d" providerId="ADAL" clId="{5A3BE792-0163-495B-873D-F9DEAE076E37}" dt="2024-11-12T14:21:32.032" v="43" actId="478"/>
          <ac:spMkLst>
            <pc:docMk/>
            <pc:sldMk cId="3282059577" sldId="307"/>
            <ac:spMk id="34825" creationId="{D5BABB28-5501-DF80-028D-EBFB37DCF651}"/>
          </ac:spMkLst>
        </pc:spChg>
      </pc:sldChg>
      <pc:sldChg chg="modSp mod">
        <pc:chgData name="Paul Winser" userId="c3146a91-e6bd-4264-bd86-e164e04bc32d" providerId="ADAL" clId="{5A3BE792-0163-495B-873D-F9DEAE076E37}" dt="2024-11-12T14:21:43.263" v="49" actId="14100"/>
        <pc:sldMkLst>
          <pc:docMk/>
          <pc:sldMk cId="4193361183" sldId="308"/>
        </pc:sldMkLst>
        <pc:spChg chg="mod">
          <ac:chgData name="Paul Winser" userId="c3146a91-e6bd-4264-bd86-e164e04bc32d" providerId="ADAL" clId="{5A3BE792-0163-495B-873D-F9DEAE076E37}" dt="2024-11-12T14:21:43.263" v="49" actId="14100"/>
          <ac:spMkLst>
            <pc:docMk/>
            <pc:sldMk cId="4193361183" sldId="308"/>
            <ac:spMk id="34819" creationId="{453C7683-8588-7ABC-32E0-8A4E68218620}"/>
          </ac:spMkLst>
        </pc:spChg>
        <pc:picChg chg="mod">
          <ac:chgData name="Paul Winser" userId="c3146a91-e6bd-4264-bd86-e164e04bc32d" providerId="ADAL" clId="{5A3BE792-0163-495B-873D-F9DEAE076E37}" dt="2024-11-12T14:21:37.630" v="45" actId="1076"/>
          <ac:picMkLst>
            <pc:docMk/>
            <pc:sldMk cId="4193361183" sldId="308"/>
            <ac:picMk id="5" creationId="{3FF7E5C8-EFB3-9ED6-59BB-DEB255240862}"/>
          </ac:picMkLst>
        </pc:picChg>
      </pc:sldChg>
      <pc:sldChg chg="delSp modSp mod">
        <pc:chgData name="Paul Winser" userId="c3146a91-e6bd-4264-bd86-e164e04bc32d" providerId="ADAL" clId="{5A3BE792-0163-495B-873D-F9DEAE076E37}" dt="2024-11-12T14:22:03.888" v="56" actId="478"/>
        <pc:sldMkLst>
          <pc:docMk/>
          <pc:sldMk cId="697862392" sldId="309"/>
        </pc:sldMkLst>
        <pc:spChg chg="del">
          <ac:chgData name="Paul Winser" userId="c3146a91-e6bd-4264-bd86-e164e04bc32d" providerId="ADAL" clId="{5A3BE792-0163-495B-873D-F9DEAE076E37}" dt="2024-11-12T14:22:03.888" v="56" actId="478"/>
          <ac:spMkLst>
            <pc:docMk/>
            <pc:sldMk cId="697862392" sldId="309"/>
            <ac:spMk id="4" creationId="{9617C594-538D-43B4-3386-F418A87E2E85}"/>
          </ac:spMkLst>
        </pc:spChg>
        <pc:spChg chg="mod">
          <ac:chgData name="Paul Winser" userId="c3146a91-e6bd-4264-bd86-e164e04bc32d" providerId="ADAL" clId="{5A3BE792-0163-495B-873D-F9DEAE076E37}" dt="2024-11-12T14:22:02.590" v="55" actId="14100"/>
          <ac:spMkLst>
            <pc:docMk/>
            <pc:sldMk cId="697862392" sldId="309"/>
            <ac:spMk id="34819" creationId="{453C7683-8588-7ABC-32E0-8A4E68218620}"/>
          </ac:spMkLst>
        </pc:spChg>
        <pc:picChg chg="mod">
          <ac:chgData name="Paul Winser" userId="c3146a91-e6bd-4264-bd86-e164e04bc32d" providerId="ADAL" clId="{5A3BE792-0163-495B-873D-F9DEAE076E37}" dt="2024-11-12T14:21:57.716" v="54" actId="1076"/>
          <ac:picMkLst>
            <pc:docMk/>
            <pc:sldMk cId="697862392" sldId="309"/>
            <ac:picMk id="5" creationId="{299BD05D-6840-CCB9-BECC-CFF9930BFC57}"/>
          </ac:picMkLst>
        </pc:picChg>
      </pc:sldChg>
      <pc:sldChg chg="delSp mod">
        <pc:chgData name="Paul Winser" userId="c3146a91-e6bd-4264-bd86-e164e04bc32d" providerId="ADAL" clId="{5A3BE792-0163-495B-873D-F9DEAE076E37}" dt="2024-11-12T14:22:15.533" v="59" actId="478"/>
        <pc:sldMkLst>
          <pc:docMk/>
          <pc:sldMk cId="3677341621" sldId="310"/>
        </pc:sldMkLst>
        <pc:spChg chg="del">
          <ac:chgData name="Paul Winser" userId="c3146a91-e6bd-4264-bd86-e164e04bc32d" providerId="ADAL" clId="{5A3BE792-0163-495B-873D-F9DEAE076E37}" dt="2024-11-12T14:22:15.533" v="59" actId="478"/>
          <ac:spMkLst>
            <pc:docMk/>
            <pc:sldMk cId="3677341621" sldId="310"/>
            <ac:spMk id="2" creationId="{391DBD38-5D97-12FC-48D4-C02EFE3A17FD}"/>
          </ac:spMkLst>
        </pc:spChg>
      </pc:sldChg>
      <pc:sldChg chg="delSp mod">
        <pc:chgData name="Paul Winser" userId="c3146a91-e6bd-4264-bd86-e164e04bc32d" providerId="ADAL" clId="{5A3BE792-0163-495B-873D-F9DEAE076E37}" dt="2024-11-12T14:22:18.926" v="60" actId="478"/>
        <pc:sldMkLst>
          <pc:docMk/>
          <pc:sldMk cId="2130119256" sldId="311"/>
        </pc:sldMkLst>
        <pc:spChg chg="del">
          <ac:chgData name="Paul Winser" userId="c3146a91-e6bd-4264-bd86-e164e04bc32d" providerId="ADAL" clId="{5A3BE792-0163-495B-873D-F9DEAE076E37}" dt="2024-11-12T14:22:18.926" v="60" actId="478"/>
          <ac:spMkLst>
            <pc:docMk/>
            <pc:sldMk cId="2130119256" sldId="311"/>
            <ac:spMk id="4" creationId="{1A6521F6-4559-1714-5E7A-8CC9D6EB5DB0}"/>
          </ac:spMkLst>
        </pc:spChg>
      </pc:sldChg>
      <pc:sldChg chg="delSp modSp mod">
        <pc:chgData name="Paul Winser" userId="c3146a91-e6bd-4264-bd86-e164e04bc32d" providerId="ADAL" clId="{5A3BE792-0163-495B-873D-F9DEAE076E37}" dt="2024-11-12T14:23:01.369" v="80" actId="108"/>
        <pc:sldMkLst>
          <pc:docMk/>
          <pc:sldMk cId="2024892141" sldId="312"/>
        </pc:sldMkLst>
        <pc:spChg chg="del">
          <ac:chgData name="Paul Winser" userId="c3146a91-e6bd-4264-bd86-e164e04bc32d" providerId="ADAL" clId="{5A3BE792-0163-495B-873D-F9DEAE076E37}" dt="2024-11-12T14:22:33.791" v="65" actId="478"/>
          <ac:spMkLst>
            <pc:docMk/>
            <pc:sldMk cId="2024892141" sldId="312"/>
            <ac:spMk id="4" creationId="{7C7F5DC9-45C2-6038-DD95-5B0FBD565776}"/>
          </ac:spMkLst>
        </pc:spChg>
        <pc:spChg chg="mod">
          <ac:chgData name="Paul Winser" userId="c3146a91-e6bd-4264-bd86-e164e04bc32d" providerId="ADAL" clId="{5A3BE792-0163-495B-873D-F9DEAE076E37}" dt="2024-11-12T14:23:01.369" v="80" actId="108"/>
          <ac:spMkLst>
            <pc:docMk/>
            <pc:sldMk cId="2024892141" sldId="312"/>
            <ac:spMk id="34819" creationId="{453C7683-8588-7ABC-32E0-8A4E68218620}"/>
          </ac:spMkLst>
        </pc:spChg>
        <pc:picChg chg="mod">
          <ac:chgData name="Paul Winser" userId="c3146a91-e6bd-4264-bd86-e164e04bc32d" providerId="ADAL" clId="{5A3BE792-0163-495B-873D-F9DEAE076E37}" dt="2024-11-12T14:22:31.959" v="64" actId="14100"/>
          <ac:picMkLst>
            <pc:docMk/>
            <pc:sldMk cId="2024892141" sldId="312"/>
            <ac:picMk id="5" creationId="{F20DFC81-FC69-E4DF-E3CB-C7D2B1BAC37E}"/>
          </ac:picMkLst>
        </pc:picChg>
      </pc:sldChg>
      <pc:sldChg chg="delSp modSp mod">
        <pc:chgData name="Paul Winser" userId="c3146a91-e6bd-4264-bd86-e164e04bc32d" providerId="ADAL" clId="{5A3BE792-0163-495B-873D-F9DEAE076E37}" dt="2024-11-12T14:23:24.542" v="92" actId="478"/>
        <pc:sldMkLst>
          <pc:docMk/>
          <pc:sldMk cId="1812944479" sldId="313"/>
        </pc:sldMkLst>
        <pc:spChg chg="del">
          <ac:chgData name="Paul Winser" userId="c3146a91-e6bd-4264-bd86-e164e04bc32d" providerId="ADAL" clId="{5A3BE792-0163-495B-873D-F9DEAE076E37}" dt="2024-11-12T14:23:24.542" v="92" actId="478"/>
          <ac:spMkLst>
            <pc:docMk/>
            <pc:sldMk cId="1812944479" sldId="313"/>
            <ac:spMk id="4" creationId="{71A46E2B-B11C-E7F3-12D1-E9671987C83D}"/>
          </ac:spMkLst>
        </pc:spChg>
        <pc:spChg chg="mod">
          <ac:chgData name="Paul Winser" userId="c3146a91-e6bd-4264-bd86-e164e04bc32d" providerId="ADAL" clId="{5A3BE792-0163-495B-873D-F9DEAE076E37}" dt="2024-11-12T14:23:22.302" v="91" actId="6549"/>
          <ac:spMkLst>
            <pc:docMk/>
            <pc:sldMk cId="1812944479" sldId="313"/>
            <ac:spMk id="34819" creationId="{453C7683-8588-7ABC-32E0-8A4E68218620}"/>
          </ac:spMkLst>
        </pc:spChg>
        <pc:picChg chg="mod">
          <ac:chgData name="Paul Winser" userId="c3146a91-e6bd-4264-bd86-e164e04bc32d" providerId="ADAL" clId="{5A3BE792-0163-495B-873D-F9DEAE076E37}" dt="2024-11-12T14:23:17.613" v="86" actId="1076"/>
          <ac:picMkLst>
            <pc:docMk/>
            <pc:sldMk cId="1812944479" sldId="313"/>
            <ac:picMk id="5" creationId="{BF1FCDB7-4DF3-1036-8AB6-C88B1FE8EAB6}"/>
          </ac:picMkLst>
        </pc:picChg>
      </pc:sldChg>
      <pc:sldChg chg="modSp">
        <pc:chgData name="Paul Winser" userId="c3146a91-e6bd-4264-bd86-e164e04bc32d" providerId="ADAL" clId="{5A3BE792-0163-495B-873D-F9DEAE076E37}" dt="2024-11-12T14:23:50.528" v="101" actId="1076"/>
        <pc:sldMkLst>
          <pc:docMk/>
          <pc:sldMk cId="1900585619" sldId="314"/>
        </pc:sldMkLst>
        <pc:spChg chg="mod">
          <ac:chgData name="Paul Winser" userId="c3146a91-e6bd-4264-bd86-e164e04bc32d" providerId="ADAL" clId="{5A3BE792-0163-495B-873D-F9DEAE076E37}" dt="2024-11-12T14:23:50.528" v="101" actId="1076"/>
          <ac:spMkLst>
            <pc:docMk/>
            <pc:sldMk cId="1900585619" sldId="314"/>
            <ac:spMk id="12" creationId="{ED0DA88D-58FF-FAA4-8EE4-8DC39A77218C}"/>
          </ac:spMkLst>
        </pc:spChg>
      </pc:sldChg>
      <pc:sldChg chg="delSp mod">
        <pc:chgData name="Paul Winser" userId="c3146a91-e6bd-4264-bd86-e164e04bc32d" providerId="ADAL" clId="{5A3BE792-0163-495B-873D-F9DEAE076E37}" dt="2024-11-12T14:24:13.804" v="109" actId="478"/>
        <pc:sldMkLst>
          <pc:docMk/>
          <pc:sldMk cId="1796285363" sldId="316"/>
        </pc:sldMkLst>
        <pc:spChg chg="del">
          <ac:chgData name="Paul Winser" userId="c3146a91-e6bd-4264-bd86-e164e04bc32d" providerId="ADAL" clId="{5A3BE792-0163-495B-873D-F9DEAE076E37}" dt="2024-11-12T14:24:13.804" v="109" actId="478"/>
          <ac:spMkLst>
            <pc:docMk/>
            <pc:sldMk cId="1796285363" sldId="316"/>
            <ac:spMk id="2" creationId="{888EC4EF-ECBA-5CCD-DC9A-62E8292E224D}"/>
          </ac:spMkLst>
        </pc:spChg>
      </pc:sldChg>
      <pc:sldChg chg="delSp modSp mod">
        <pc:chgData name="Paul Winser" userId="c3146a91-e6bd-4264-bd86-e164e04bc32d" providerId="ADAL" clId="{5A3BE792-0163-495B-873D-F9DEAE076E37}" dt="2024-11-12T14:24:17.778" v="111" actId="5793"/>
        <pc:sldMkLst>
          <pc:docMk/>
          <pc:sldMk cId="3295762694" sldId="317"/>
        </pc:sldMkLst>
        <pc:spChg chg="del">
          <ac:chgData name="Paul Winser" userId="c3146a91-e6bd-4264-bd86-e164e04bc32d" providerId="ADAL" clId="{5A3BE792-0163-495B-873D-F9DEAE076E37}" dt="2024-11-12T14:24:16.623" v="110" actId="478"/>
          <ac:spMkLst>
            <pc:docMk/>
            <pc:sldMk cId="3295762694" sldId="317"/>
            <ac:spMk id="4" creationId="{CE85609C-62A8-BF20-1CAB-E99473B0BE59}"/>
          </ac:spMkLst>
        </pc:spChg>
        <pc:spChg chg="mod">
          <ac:chgData name="Paul Winser" userId="c3146a91-e6bd-4264-bd86-e164e04bc32d" providerId="ADAL" clId="{5A3BE792-0163-495B-873D-F9DEAE076E37}" dt="2024-11-12T14:24:17.778" v="111" actId="5793"/>
          <ac:spMkLst>
            <pc:docMk/>
            <pc:sldMk cId="3295762694" sldId="317"/>
            <ac:spMk id="34819" creationId="{453C7683-8588-7ABC-32E0-8A4E68218620}"/>
          </ac:spMkLst>
        </pc:spChg>
      </pc:sldChg>
      <pc:sldChg chg="delSp mod">
        <pc:chgData name="Paul Winser" userId="c3146a91-e6bd-4264-bd86-e164e04bc32d" providerId="ADAL" clId="{5A3BE792-0163-495B-873D-F9DEAE076E37}" dt="2024-11-12T14:24:41.903" v="123" actId="478"/>
        <pc:sldMkLst>
          <pc:docMk/>
          <pc:sldMk cId="2669250250" sldId="318"/>
        </pc:sldMkLst>
        <pc:spChg chg="del">
          <ac:chgData name="Paul Winser" userId="c3146a91-e6bd-4264-bd86-e164e04bc32d" providerId="ADAL" clId="{5A3BE792-0163-495B-873D-F9DEAE076E37}" dt="2024-11-12T14:24:41.903" v="123" actId="478"/>
          <ac:spMkLst>
            <pc:docMk/>
            <pc:sldMk cId="2669250250" sldId="318"/>
            <ac:spMk id="4" creationId="{9CD5C3D6-D607-EE9B-7078-A28599CDE0F7}"/>
          </ac:spMkLst>
        </pc:spChg>
      </pc:sldChg>
      <pc:sldChg chg="delSp modSp mod">
        <pc:chgData name="Paul Winser" userId="c3146a91-e6bd-4264-bd86-e164e04bc32d" providerId="ADAL" clId="{5A3BE792-0163-495B-873D-F9DEAE076E37}" dt="2024-11-12T14:24:59.925" v="128" actId="1076"/>
        <pc:sldMkLst>
          <pc:docMk/>
          <pc:sldMk cId="2958246970" sldId="319"/>
        </pc:sldMkLst>
        <pc:spChg chg="del">
          <ac:chgData name="Paul Winser" userId="c3146a91-e6bd-4264-bd86-e164e04bc32d" providerId="ADAL" clId="{5A3BE792-0163-495B-873D-F9DEAE076E37}" dt="2024-11-12T14:24:56.974" v="126" actId="478"/>
          <ac:spMkLst>
            <pc:docMk/>
            <pc:sldMk cId="2958246970" sldId="319"/>
            <ac:spMk id="4" creationId="{DC2B701D-8639-2B43-5A95-11D509179E70}"/>
          </ac:spMkLst>
        </pc:spChg>
        <pc:picChg chg="mod">
          <ac:chgData name="Paul Winser" userId="c3146a91-e6bd-4264-bd86-e164e04bc32d" providerId="ADAL" clId="{5A3BE792-0163-495B-873D-F9DEAE076E37}" dt="2024-11-12T14:24:59.925" v="128" actId="1076"/>
          <ac:picMkLst>
            <pc:docMk/>
            <pc:sldMk cId="2958246970" sldId="319"/>
            <ac:picMk id="5" creationId="{42EC5FEF-B1E3-A438-CDC9-DEF244259CA9}"/>
          </ac:picMkLst>
        </pc:picChg>
      </pc:sldChg>
      <pc:sldChg chg="delSp modSp mod">
        <pc:chgData name="Paul Winser" userId="c3146a91-e6bd-4264-bd86-e164e04bc32d" providerId="ADAL" clId="{5A3BE792-0163-495B-873D-F9DEAE076E37}" dt="2024-11-12T14:25:26.335" v="139" actId="478"/>
        <pc:sldMkLst>
          <pc:docMk/>
          <pc:sldMk cId="3488718199" sldId="320"/>
        </pc:sldMkLst>
        <pc:spChg chg="del">
          <ac:chgData name="Paul Winser" userId="c3146a91-e6bd-4264-bd86-e164e04bc32d" providerId="ADAL" clId="{5A3BE792-0163-495B-873D-F9DEAE076E37}" dt="2024-11-12T14:25:26.335" v="139" actId="478"/>
          <ac:spMkLst>
            <pc:docMk/>
            <pc:sldMk cId="3488718199" sldId="320"/>
            <ac:spMk id="6" creationId="{FDCBE92D-C402-0391-4838-79C56F73B878}"/>
          </ac:spMkLst>
        </pc:spChg>
        <pc:spChg chg="mod">
          <ac:chgData name="Paul Winser" userId="c3146a91-e6bd-4264-bd86-e164e04bc32d" providerId="ADAL" clId="{5A3BE792-0163-495B-873D-F9DEAE076E37}" dt="2024-11-12T14:25:20.598" v="136" actId="313"/>
          <ac:spMkLst>
            <pc:docMk/>
            <pc:sldMk cId="3488718199" sldId="320"/>
            <ac:spMk id="34819" creationId="{453C7683-8588-7ABC-32E0-8A4E68218620}"/>
          </ac:spMkLst>
        </pc:spChg>
        <pc:picChg chg="mod">
          <ac:chgData name="Paul Winser" userId="c3146a91-e6bd-4264-bd86-e164e04bc32d" providerId="ADAL" clId="{5A3BE792-0163-495B-873D-F9DEAE076E37}" dt="2024-11-12T14:25:24.637" v="138" actId="1076"/>
          <ac:picMkLst>
            <pc:docMk/>
            <pc:sldMk cId="3488718199" sldId="320"/>
            <ac:picMk id="4" creationId="{212E3475-022D-53AA-B270-EA5927E4FFF8}"/>
          </ac:picMkLst>
        </pc:picChg>
      </pc:sldChg>
      <pc:sldChg chg="modSp mod">
        <pc:chgData name="Paul Winser" userId="c3146a91-e6bd-4264-bd86-e164e04bc32d" providerId="ADAL" clId="{5A3BE792-0163-495B-873D-F9DEAE076E37}" dt="2024-11-12T14:25:42.125" v="142" actId="1076"/>
        <pc:sldMkLst>
          <pc:docMk/>
          <pc:sldMk cId="1372046140" sldId="321"/>
        </pc:sldMkLst>
        <pc:spChg chg="mod">
          <ac:chgData name="Paul Winser" userId="c3146a91-e6bd-4264-bd86-e164e04bc32d" providerId="ADAL" clId="{5A3BE792-0163-495B-873D-F9DEAE076E37}" dt="2024-11-12T14:25:42.125" v="142" actId="1076"/>
          <ac:spMkLst>
            <pc:docMk/>
            <pc:sldMk cId="1372046140" sldId="321"/>
            <ac:spMk id="34819" creationId="{453C7683-8588-7ABC-32E0-8A4E68218620}"/>
          </ac:spMkLst>
        </pc:spChg>
        <pc:picChg chg="mod">
          <ac:chgData name="Paul Winser" userId="c3146a91-e6bd-4264-bd86-e164e04bc32d" providerId="ADAL" clId="{5A3BE792-0163-495B-873D-F9DEAE076E37}" dt="2024-11-12T14:25:37.005" v="141" actId="1076"/>
          <ac:picMkLst>
            <pc:docMk/>
            <pc:sldMk cId="1372046140" sldId="321"/>
            <ac:picMk id="3" creationId="{0CF6630A-8C8E-F8C0-461E-F6A5BFAA5217}"/>
          </ac:picMkLst>
        </pc:picChg>
      </pc:sldChg>
      <pc:sldChg chg="delSp modSp mod">
        <pc:chgData name="Paul Winser" userId="c3146a91-e6bd-4264-bd86-e164e04bc32d" providerId="ADAL" clId="{5A3BE792-0163-495B-873D-F9DEAE076E37}" dt="2024-11-12T14:26:12.141" v="162" actId="27636"/>
        <pc:sldMkLst>
          <pc:docMk/>
          <pc:sldMk cId="986886062" sldId="322"/>
        </pc:sldMkLst>
        <pc:spChg chg="del">
          <ac:chgData name="Paul Winser" userId="c3146a91-e6bd-4264-bd86-e164e04bc32d" providerId="ADAL" clId="{5A3BE792-0163-495B-873D-F9DEAE076E37}" dt="2024-11-12T14:26:04.414" v="153" actId="478"/>
          <ac:spMkLst>
            <pc:docMk/>
            <pc:sldMk cId="986886062" sldId="322"/>
            <ac:spMk id="6" creationId="{A64294BA-9A3C-9D96-3DD2-B6D681B78E3D}"/>
          </ac:spMkLst>
        </pc:spChg>
        <pc:spChg chg="mod">
          <ac:chgData name="Paul Winser" userId="c3146a91-e6bd-4264-bd86-e164e04bc32d" providerId="ADAL" clId="{5A3BE792-0163-495B-873D-F9DEAE076E37}" dt="2024-11-12T14:26:12.141" v="162" actId="27636"/>
          <ac:spMkLst>
            <pc:docMk/>
            <pc:sldMk cId="986886062" sldId="322"/>
            <ac:spMk id="34819" creationId="{453C7683-8588-7ABC-32E0-8A4E68218620}"/>
          </ac:spMkLst>
        </pc:spChg>
      </pc:sldChg>
      <pc:sldChg chg="delSp modSp mod">
        <pc:chgData name="Paul Winser" userId="c3146a91-e6bd-4264-bd86-e164e04bc32d" providerId="ADAL" clId="{5A3BE792-0163-495B-873D-F9DEAE076E37}" dt="2024-11-12T14:20:31.694" v="25" actId="12"/>
        <pc:sldMkLst>
          <pc:docMk/>
          <pc:sldMk cId="2934499308" sldId="323"/>
        </pc:sldMkLst>
        <pc:spChg chg="del">
          <ac:chgData name="Paul Winser" userId="c3146a91-e6bd-4264-bd86-e164e04bc32d" providerId="ADAL" clId="{5A3BE792-0163-495B-873D-F9DEAE076E37}" dt="2024-11-12T14:20:27.363" v="23" actId="478"/>
          <ac:spMkLst>
            <pc:docMk/>
            <pc:sldMk cId="2934499308" sldId="323"/>
            <ac:spMk id="6" creationId="{BAB29135-C79D-D2C6-2B50-34FED2C1442B}"/>
          </ac:spMkLst>
        </pc:spChg>
        <pc:spChg chg="mod">
          <ac:chgData name="Paul Winser" userId="c3146a91-e6bd-4264-bd86-e164e04bc32d" providerId="ADAL" clId="{5A3BE792-0163-495B-873D-F9DEAE076E37}" dt="2024-11-12T14:20:31.694" v="25" actId="12"/>
          <ac:spMkLst>
            <pc:docMk/>
            <pc:sldMk cId="2934499308" sldId="323"/>
            <ac:spMk id="34819" creationId="{453C7683-8588-7ABC-32E0-8A4E68218620}"/>
          </ac:spMkLst>
        </pc:spChg>
      </pc:sldChg>
      <pc:sldChg chg="delSp modSp mod">
        <pc:chgData name="Paul Winser" userId="c3146a91-e6bd-4264-bd86-e164e04bc32d" providerId="ADAL" clId="{5A3BE792-0163-495B-873D-F9DEAE076E37}" dt="2024-11-12T14:21:49.124" v="51" actId="5793"/>
        <pc:sldMkLst>
          <pc:docMk/>
          <pc:sldMk cId="2278152381" sldId="324"/>
        </pc:sldMkLst>
        <pc:spChg chg="del">
          <ac:chgData name="Paul Winser" userId="c3146a91-e6bd-4264-bd86-e164e04bc32d" providerId="ADAL" clId="{5A3BE792-0163-495B-873D-F9DEAE076E37}" dt="2024-11-12T14:21:47.919" v="50" actId="478"/>
          <ac:spMkLst>
            <pc:docMk/>
            <pc:sldMk cId="2278152381" sldId="324"/>
            <ac:spMk id="4" creationId="{62B848D6-0F84-E19E-CD01-F851D5F557DA}"/>
          </ac:spMkLst>
        </pc:spChg>
        <pc:spChg chg="mod">
          <ac:chgData name="Paul Winser" userId="c3146a91-e6bd-4264-bd86-e164e04bc32d" providerId="ADAL" clId="{5A3BE792-0163-495B-873D-F9DEAE076E37}" dt="2024-11-12T14:21:49.124" v="51" actId="5793"/>
          <ac:spMkLst>
            <pc:docMk/>
            <pc:sldMk cId="2278152381" sldId="324"/>
            <ac:spMk id="34819" creationId="{453C7683-8588-7ABC-32E0-8A4E68218620}"/>
          </ac:spMkLst>
        </pc:spChg>
      </pc:sldChg>
      <pc:sldChg chg="modSp mod">
        <pc:chgData name="Paul Winser" userId="c3146a91-e6bd-4264-bd86-e164e04bc32d" providerId="ADAL" clId="{5A3BE792-0163-495B-873D-F9DEAE076E37}" dt="2024-11-12T14:22:09.783" v="58" actId="1076"/>
        <pc:sldMkLst>
          <pc:docMk/>
          <pc:sldMk cId="3211252196" sldId="325"/>
        </pc:sldMkLst>
        <pc:picChg chg="mod">
          <ac:chgData name="Paul Winser" userId="c3146a91-e6bd-4264-bd86-e164e04bc32d" providerId="ADAL" clId="{5A3BE792-0163-495B-873D-F9DEAE076E37}" dt="2024-11-12T14:22:09.783" v="58" actId="1076"/>
          <ac:picMkLst>
            <pc:docMk/>
            <pc:sldMk cId="3211252196" sldId="325"/>
            <ac:picMk id="3" creationId="{FF0F29AE-AAC4-FC13-B67D-8C533EC90E62}"/>
          </ac:picMkLst>
        </pc:picChg>
      </pc:sldChg>
      <pc:sldChg chg="delSp modSp mod">
        <pc:chgData name="Paul Winser" userId="c3146a91-e6bd-4264-bd86-e164e04bc32d" providerId="ADAL" clId="{5A3BE792-0163-495B-873D-F9DEAE076E37}" dt="2024-11-12T14:23:12.160" v="84" actId="5793"/>
        <pc:sldMkLst>
          <pc:docMk/>
          <pc:sldMk cId="2165699235" sldId="326"/>
        </pc:sldMkLst>
        <pc:spChg chg="del">
          <ac:chgData name="Paul Winser" userId="c3146a91-e6bd-4264-bd86-e164e04bc32d" providerId="ADAL" clId="{5A3BE792-0163-495B-873D-F9DEAE076E37}" dt="2024-11-12T14:23:09.247" v="81" actId="478"/>
          <ac:spMkLst>
            <pc:docMk/>
            <pc:sldMk cId="2165699235" sldId="326"/>
            <ac:spMk id="6" creationId="{1542E666-5F2C-9060-E4EB-19098A8DCEC7}"/>
          </ac:spMkLst>
        </pc:spChg>
        <pc:spChg chg="mod">
          <ac:chgData name="Paul Winser" userId="c3146a91-e6bd-4264-bd86-e164e04bc32d" providerId="ADAL" clId="{5A3BE792-0163-495B-873D-F9DEAE076E37}" dt="2024-11-12T14:23:12.160" v="84" actId="5793"/>
          <ac:spMkLst>
            <pc:docMk/>
            <pc:sldMk cId="2165699235" sldId="326"/>
            <ac:spMk id="34819" creationId="{453C7683-8588-7ABC-32E0-8A4E68218620}"/>
          </ac:spMkLst>
        </pc:spChg>
      </pc:sldChg>
      <pc:sldChg chg="delSp modSp mod">
        <pc:chgData name="Paul Winser" userId="c3146a91-e6bd-4264-bd86-e164e04bc32d" providerId="ADAL" clId="{5A3BE792-0163-495B-873D-F9DEAE076E37}" dt="2024-11-12T14:23:36.026" v="100" actId="403"/>
        <pc:sldMkLst>
          <pc:docMk/>
          <pc:sldMk cId="3433960249" sldId="327"/>
        </pc:sldMkLst>
        <pc:spChg chg="del">
          <ac:chgData name="Paul Winser" userId="c3146a91-e6bd-4264-bd86-e164e04bc32d" providerId="ADAL" clId="{5A3BE792-0163-495B-873D-F9DEAE076E37}" dt="2024-11-12T14:23:30.060" v="95" actId="478"/>
          <ac:spMkLst>
            <pc:docMk/>
            <pc:sldMk cId="3433960249" sldId="327"/>
            <ac:spMk id="4" creationId="{6B9A020C-8B40-086F-D2C1-889656EC4BB5}"/>
          </ac:spMkLst>
        </pc:spChg>
        <pc:spChg chg="mod">
          <ac:chgData name="Paul Winser" userId="c3146a91-e6bd-4264-bd86-e164e04bc32d" providerId="ADAL" clId="{5A3BE792-0163-495B-873D-F9DEAE076E37}" dt="2024-11-12T14:23:36.026" v="100" actId="403"/>
          <ac:spMkLst>
            <pc:docMk/>
            <pc:sldMk cId="3433960249" sldId="327"/>
            <ac:spMk id="34819" creationId="{453C7683-8588-7ABC-32E0-8A4E68218620}"/>
          </ac:spMkLst>
        </pc:spChg>
      </pc:sldChg>
      <pc:sldChg chg="modSp mod">
        <pc:chgData name="Paul Winser" userId="c3146a91-e6bd-4264-bd86-e164e04bc32d" providerId="ADAL" clId="{5A3BE792-0163-495B-873D-F9DEAE076E37}" dt="2024-11-12T14:24:11.240" v="108" actId="1076"/>
        <pc:sldMkLst>
          <pc:docMk/>
          <pc:sldMk cId="1784239410" sldId="328"/>
        </pc:sldMkLst>
        <pc:spChg chg="mod">
          <ac:chgData name="Paul Winser" userId="c3146a91-e6bd-4264-bd86-e164e04bc32d" providerId="ADAL" clId="{5A3BE792-0163-495B-873D-F9DEAE076E37}" dt="2024-11-12T14:24:11.240" v="108" actId="1076"/>
          <ac:spMkLst>
            <pc:docMk/>
            <pc:sldMk cId="1784239410" sldId="328"/>
            <ac:spMk id="2" creationId="{00000000-0000-0000-0000-000000000000}"/>
          </ac:spMkLst>
        </pc:spChg>
        <pc:spChg chg="mod">
          <ac:chgData name="Paul Winser" userId="c3146a91-e6bd-4264-bd86-e164e04bc32d" providerId="ADAL" clId="{5A3BE792-0163-495B-873D-F9DEAE076E37}" dt="2024-11-12T14:24:03.889" v="106" actId="6549"/>
          <ac:spMkLst>
            <pc:docMk/>
            <pc:sldMk cId="1784239410" sldId="328"/>
            <ac:spMk id="34819" creationId="{453C7683-8588-7ABC-32E0-8A4E68218620}"/>
          </ac:spMkLst>
        </pc:spChg>
        <pc:picChg chg="mod">
          <ac:chgData name="Paul Winser" userId="c3146a91-e6bd-4264-bd86-e164e04bc32d" providerId="ADAL" clId="{5A3BE792-0163-495B-873D-F9DEAE076E37}" dt="2024-11-12T14:24:06.518" v="107" actId="1076"/>
          <ac:picMkLst>
            <pc:docMk/>
            <pc:sldMk cId="1784239410" sldId="328"/>
            <ac:picMk id="5" creationId="{9546DDEF-40EC-71EC-A1EF-BA2F6F6F20C4}"/>
          </ac:picMkLst>
        </pc:picChg>
      </pc:sldChg>
      <pc:sldChg chg="delSp modSp mod">
        <pc:chgData name="Paul Winser" userId="c3146a91-e6bd-4264-bd86-e164e04bc32d" providerId="ADAL" clId="{5A3BE792-0163-495B-873D-F9DEAE076E37}" dt="2024-11-12T14:24:34.842" v="122" actId="27636"/>
        <pc:sldMkLst>
          <pc:docMk/>
          <pc:sldMk cId="1713347775" sldId="329"/>
        </pc:sldMkLst>
        <pc:spChg chg="del">
          <ac:chgData name="Paul Winser" userId="c3146a91-e6bd-4264-bd86-e164e04bc32d" providerId="ADAL" clId="{5A3BE792-0163-495B-873D-F9DEAE076E37}" dt="2024-11-12T14:24:25.662" v="112" actId="478"/>
          <ac:spMkLst>
            <pc:docMk/>
            <pc:sldMk cId="1713347775" sldId="329"/>
            <ac:spMk id="4" creationId="{AE711C1C-9610-5329-C304-9EDC63EF7C05}"/>
          </ac:spMkLst>
        </pc:spChg>
        <pc:spChg chg="mod">
          <ac:chgData name="Paul Winser" userId="c3146a91-e6bd-4264-bd86-e164e04bc32d" providerId="ADAL" clId="{5A3BE792-0163-495B-873D-F9DEAE076E37}" dt="2024-11-12T14:24:34.842" v="122" actId="27636"/>
          <ac:spMkLst>
            <pc:docMk/>
            <pc:sldMk cId="1713347775" sldId="329"/>
            <ac:spMk id="34819" creationId="{453C7683-8588-7ABC-32E0-8A4E68218620}"/>
          </ac:spMkLst>
        </pc:spChg>
        <pc:picChg chg="mod">
          <ac:chgData name="Paul Winser" userId="c3146a91-e6bd-4264-bd86-e164e04bc32d" providerId="ADAL" clId="{5A3BE792-0163-495B-873D-F9DEAE076E37}" dt="2024-11-12T14:24:28.590" v="114" actId="1076"/>
          <ac:picMkLst>
            <pc:docMk/>
            <pc:sldMk cId="1713347775" sldId="329"/>
            <ac:picMk id="5" creationId="{5CE39C55-2DB0-FA38-13B5-D119E6161790}"/>
          </ac:picMkLst>
        </pc:picChg>
      </pc:sldChg>
      <pc:sldChg chg="delSp mod">
        <pc:chgData name="Paul Winser" userId="c3146a91-e6bd-4264-bd86-e164e04bc32d" providerId="ADAL" clId="{5A3BE792-0163-495B-873D-F9DEAE076E37}" dt="2024-11-12T14:24:51.746" v="125" actId="478"/>
        <pc:sldMkLst>
          <pc:docMk/>
          <pc:sldMk cId="2641301364" sldId="330"/>
        </pc:sldMkLst>
        <pc:spChg chg="del">
          <ac:chgData name="Paul Winser" userId="c3146a91-e6bd-4264-bd86-e164e04bc32d" providerId="ADAL" clId="{5A3BE792-0163-495B-873D-F9DEAE076E37}" dt="2024-11-12T14:24:51.746" v="125" actId="478"/>
          <ac:spMkLst>
            <pc:docMk/>
            <pc:sldMk cId="2641301364" sldId="330"/>
            <ac:spMk id="34825" creationId="{9A8FB87F-0D39-297D-FB77-8271FDB81027}"/>
          </ac:spMkLst>
        </pc:spChg>
      </pc:sldChg>
      <pc:sldChg chg="delSp modSp mod">
        <pc:chgData name="Paul Winser" userId="c3146a91-e6bd-4264-bd86-e164e04bc32d" providerId="ADAL" clId="{5A3BE792-0163-495B-873D-F9DEAE076E37}" dt="2024-11-12T14:25:59.745" v="152" actId="6549"/>
        <pc:sldMkLst>
          <pc:docMk/>
          <pc:sldMk cId="569407772" sldId="332"/>
        </pc:sldMkLst>
        <pc:spChg chg="del">
          <ac:chgData name="Paul Winser" userId="c3146a91-e6bd-4264-bd86-e164e04bc32d" providerId="ADAL" clId="{5A3BE792-0163-495B-873D-F9DEAE076E37}" dt="2024-11-12T14:25:50.223" v="145" actId="478"/>
          <ac:spMkLst>
            <pc:docMk/>
            <pc:sldMk cId="569407772" sldId="332"/>
            <ac:spMk id="6" creationId="{42D45CD4-3656-DFC7-E6B5-4CC085766D20}"/>
          </ac:spMkLst>
        </pc:spChg>
        <pc:spChg chg="mod">
          <ac:chgData name="Paul Winser" userId="c3146a91-e6bd-4264-bd86-e164e04bc32d" providerId="ADAL" clId="{5A3BE792-0163-495B-873D-F9DEAE076E37}" dt="2024-11-12T14:25:59.745" v="152" actId="6549"/>
          <ac:spMkLst>
            <pc:docMk/>
            <pc:sldMk cId="569407772" sldId="332"/>
            <ac:spMk id="34819" creationId="{453C7683-8588-7ABC-32E0-8A4E68218620}"/>
          </ac:spMkLst>
        </pc:spChg>
        <pc:picChg chg="mod">
          <ac:chgData name="Paul Winser" userId="c3146a91-e6bd-4264-bd86-e164e04bc32d" providerId="ADAL" clId="{5A3BE792-0163-495B-873D-F9DEAE076E37}" dt="2024-11-12T14:25:48.735" v="144" actId="1076"/>
          <ac:picMkLst>
            <pc:docMk/>
            <pc:sldMk cId="569407772" sldId="332"/>
            <ac:picMk id="3" creationId="{51138547-3F95-64F6-8353-3AF1C9EACF86}"/>
          </ac:picMkLst>
        </pc:picChg>
      </pc:sldChg>
      <pc:sldChg chg="delSp modSp mod">
        <pc:chgData name="Paul Winser" userId="c3146a91-e6bd-4264-bd86-e164e04bc32d" providerId="ADAL" clId="{5A3BE792-0163-495B-873D-F9DEAE076E37}" dt="2024-11-12T14:22:27.439" v="63" actId="478"/>
        <pc:sldMkLst>
          <pc:docMk/>
          <pc:sldMk cId="852477681" sldId="333"/>
        </pc:sldMkLst>
        <pc:spChg chg="del">
          <ac:chgData name="Paul Winser" userId="c3146a91-e6bd-4264-bd86-e164e04bc32d" providerId="ADAL" clId="{5A3BE792-0163-495B-873D-F9DEAE076E37}" dt="2024-11-12T14:22:27.439" v="63" actId="478"/>
          <ac:spMkLst>
            <pc:docMk/>
            <pc:sldMk cId="852477681" sldId="333"/>
            <ac:spMk id="4" creationId="{8640EF13-2771-326E-3A1E-BEA425B62D90}"/>
          </ac:spMkLst>
        </pc:spChg>
        <pc:spChg chg="mod">
          <ac:chgData name="Paul Winser" userId="c3146a91-e6bd-4264-bd86-e164e04bc32d" providerId="ADAL" clId="{5A3BE792-0163-495B-873D-F9DEAE076E37}" dt="2024-11-12T14:22:25.075" v="62" actId="5793"/>
          <ac:spMkLst>
            <pc:docMk/>
            <pc:sldMk cId="852477681" sldId="333"/>
            <ac:spMk id="34819" creationId="{453C7683-8588-7ABC-32E0-8A4E68218620}"/>
          </ac:spMkLst>
        </pc:spChg>
      </pc:sldChg>
      <pc:sldChg chg="delSp modSp mod">
        <pc:chgData name="Paul Winser" userId="c3146a91-e6bd-4264-bd86-e164e04bc32d" providerId="ADAL" clId="{5A3BE792-0163-495B-873D-F9DEAE076E37}" dt="2024-11-12T14:21:19.729" v="41" actId="108"/>
        <pc:sldMkLst>
          <pc:docMk/>
          <pc:sldMk cId="1315434725" sldId="334"/>
        </pc:sldMkLst>
        <pc:spChg chg="del">
          <ac:chgData name="Paul Winser" userId="c3146a91-e6bd-4264-bd86-e164e04bc32d" providerId="ADAL" clId="{5A3BE792-0163-495B-873D-F9DEAE076E37}" dt="2024-11-12T14:21:00.818" v="38" actId="478"/>
          <ac:spMkLst>
            <pc:docMk/>
            <pc:sldMk cId="1315434725" sldId="334"/>
            <ac:spMk id="4" creationId="{F1CFDAD5-79B1-833B-00E7-71592D813102}"/>
          </ac:spMkLst>
        </pc:spChg>
        <pc:spChg chg="mod">
          <ac:chgData name="Paul Winser" userId="c3146a91-e6bd-4264-bd86-e164e04bc32d" providerId="ADAL" clId="{5A3BE792-0163-495B-873D-F9DEAE076E37}" dt="2024-11-12T14:21:19.729" v="41" actId="108"/>
          <ac:spMkLst>
            <pc:docMk/>
            <pc:sldMk cId="1315434725" sldId="334"/>
            <ac:spMk id="34819" creationId="{453C7683-8588-7ABC-32E0-8A4E68218620}"/>
          </ac:spMkLst>
        </pc:spChg>
      </pc:sldChg>
      <pc:sldChg chg="delSp modSp mod">
        <pc:chgData name="Paul Winser" userId="c3146a91-e6bd-4264-bd86-e164e04bc32d" providerId="ADAL" clId="{5A3BE792-0163-495B-873D-F9DEAE076E37}" dt="2024-11-12T14:20:52.466" v="36" actId="404"/>
        <pc:sldMkLst>
          <pc:docMk/>
          <pc:sldMk cId="3638658225" sldId="335"/>
        </pc:sldMkLst>
        <pc:spChg chg="del">
          <ac:chgData name="Paul Winser" userId="c3146a91-e6bd-4264-bd86-e164e04bc32d" providerId="ADAL" clId="{5A3BE792-0163-495B-873D-F9DEAE076E37}" dt="2024-11-12T14:20:46.081" v="32" actId="478"/>
          <ac:spMkLst>
            <pc:docMk/>
            <pc:sldMk cId="3638658225" sldId="335"/>
            <ac:spMk id="4" creationId="{B08FB6C6-3DC4-2254-FDC7-FED8F0DF35E8}"/>
          </ac:spMkLst>
        </pc:spChg>
        <pc:spChg chg="mod">
          <ac:chgData name="Paul Winser" userId="c3146a91-e6bd-4264-bd86-e164e04bc32d" providerId="ADAL" clId="{5A3BE792-0163-495B-873D-F9DEAE076E37}" dt="2024-11-12T14:20:52.466" v="36" actId="404"/>
          <ac:spMkLst>
            <pc:docMk/>
            <pc:sldMk cId="3638658225" sldId="335"/>
            <ac:spMk id="34819" creationId="{453C7683-8588-7ABC-32E0-8A4E68218620}"/>
          </ac:spMkLst>
        </pc:spChg>
        <pc:picChg chg="mod">
          <ac:chgData name="Paul Winser" userId="c3146a91-e6bd-4264-bd86-e164e04bc32d" providerId="ADAL" clId="{5A3BE792-0163-495B-873D-F9DEAE076E37}" dt="2024-11-12T14:20:44.799" v="31" actId="1076"/>
          <ac:picMkLst>
            <pc:docMk/>
            <pc:sldMk cId="3638658225" sldId="335"/>
            <ac:picMk id="8" creationId="{48D2B186-E56D-120B-A3DE-F0C38EA76601}"/>
          </ac:picMkLst>
        </pc:picChg>
      </pc:sldChg>
      <pc:sldChg chg="modSp">
        <pc:chgData name="Paul Winser" userId="c3146a91-e6bd-4264-bd86-e164e04bc32d" providerId="ADAL" clId="{5A3BE792-0163-495B-873D-F9DEAE076E37}" dt="2024-11-12T14:19:57.895" v="17" actId="14100"/>
        <pc:sldMkLst>
          <pc:docMk/>
          <pc:sldMk cId="2067537264" sldId="336"/>
        </pc:sldMkLst>
        <pc:spChg chg="mod">
          <ac:chgData name="Paul Winser" userId="c3146a91-e6bd-4264-bd86-e164e04bc32d" providerId="ADAL" clId="{5A3BE792-0163-495B-873D-F9DEAE076E37}" dt="2024-11-12T14:19:57.895" v="17" actId="14100"/>
          <ac:spMkLst>
            <pc:docMk/>
            <pc:sldMk cId="2067537264" sldId="336"/>
            <ac:spMk id="34819" creationId="{453C7683-8588-7ABC-32E0-8A4E68218620}"/>
          </ac:spMkLst>
        </pc:spChg>
      </pc:sldChg>
      <pc:sldChg chg="modSp">
        <pc:chgData name="Paul Winser" userId="c3146a91-e6bd-4264-bd86-e164e04bc32d" providerId="ADAL" clId="{5A3BE792-0163-495B-873D-F9DEAE076E37}" dt="2024-11-12T14:21:26.177" v="42" actId="14100"/>
        <pc:sldMkLst>
          <pc:docMk/>
          <pc:sldMk cId="2348866231" sldId="337"/>
        </pc:sldMkLst>
        <pc:spChg chg="mod">
          <ac:chgData name="Paul Winser" userId="c3146a91-e6bd-4264-bd86-e164e04bc32d" providerId="ADAL" clId="{5A3BE792-0163-495B-873D-F9DEAE076E37}" dt="2024-11-12T14:21:26.177" v="42" actId="14100"/>
          <ac:spMkLst>
            <pc:docMk/>
            <pc:sldMk cId="2348866231" sldId="337"/>
            <ac:spMk id="34819" creationId="{453C7683-8588-7ABC-32E0-8A4E68218620}"/>
          </ac:spMkLst>
        </pc:spChg>
      </pc:sldChg>
      <pc:sldChg chg="delSp mod">
        <pc:chgData name="Paul Winser" userId="c3146a91-e6bd-4264-bd86-e164e04bc32d" providerId="ADAL" clId="{5A3BE792-0163-495B-873D-F9DEAE076E37}" dt="2024-11-12T14:24:48.561" v="124" actId="478"/>
        <pc:sldMkLst>
          <pc:docMk/>
          <pc:sldMk cId="3714724259" sldId="338"/>
        </pc:sldMkLst>
        <pc:spChg chg="del">
          <ac:chgData name="Paul Winser" userId="c3146a91-e6bd-4264-bd86-e164e04bc32d" providerId="ADAL" clId="{5A3BE792-0163-495B-873D-F9DEAE076E37}" dt="2024-11-12T14:24:48.561" v="124" actId="478"/>
          <ac:spMkLst>
            <pc:docMk/>
            <pc:sldMk cId="3714724259" sldId="338"/>
            <ac:spMk id="2" creationId="{888EC4EF-ECBA-5CCD-DC9A-62E8292E224D}"/>
          </ac:spMkLst>
        </pc:spChg>
      </pc:sldChg>
      <pc:sldChg chg="modSp mod">
        <pc:chgData name="Paul Winser" userId="c3146a91-e6bd-4264-bd86-e164e04bc32d" providerId="ADAL" clId="{5A3BE792-0163-495B-873D-F9DEAE076E37}" dt="2024-11-12T14:26:15.713" v="163" actId="5793"/>
        <pc:sldMkLst>
          <pc:docMk/>
          <pc:sldMk cId="0" sldId="339"/>
        </pc:sldMkLst>
        <pc:spChg chg="mod">
          <ac:chgData name="Paul Winser" userId="c3146a91-e6bd-4264-bd86-e164e04bc32d" providerId="ADAL" clId="{5A3BE792-0163-495B-873D-F9DEAE076E37}" dt="2024-11-12T14:26:15.713" v="163" actId="5793"/>
          <ac:spMkLst>
            <pc:docMk/>
            <pc:sldMk cId="0" sldId="339"/>
            <ac:spMk id="5" creationId="{9FA6E9AD-5E58-B78C-95E8-0BA1B8E3BEA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dirty="0"/>
              <a:t>Click to edit Master text styles</a:t>
            </a:r>
          </a:p>
          <a:p>
            <a:pPr lvl="1" rtl="1"/>
            <a:r>
              <a:rPr lang="ar" noProof="0" dirty="0"/>
              <a:t>Second level</a:t>
            </a:r>
          </a:p>
          <a:p>
            <a:pPr lvl="2" rtl="1"/>
            <a:r>
              <a:rPr lang="ar" noProof="0" dirty="0"/>
              <a:t>Third level</a:t>
            </a:r>
          </a:p>
          <a:p>
            <a:pPr lvl="3" rtl="1"/>
            <a:r>
              <a:rPr lang="ar" noProof="0" dirty="0"/>
              <a:t>Fourth level</a:t>
            </a:r>
          </a:p>
          <a:p>
            <a:pPr lvl="4" rtl="1"/>
            <a:r>
              <a:rPr lang="ar" noProof="0" dirty="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fld id="{4D3E6F70-5D4D-4B7F-8590-7D87CFB0B671}" type="slidenum">
              <a:rPr lang="en-GB" altLang="en-US" smtClean="0"/>
              <a:pPr>
                <a:defRPr/>
              </a:pPr>
              <a:t>‹#›</a:t>
            </a:fld>
            <a:endParaRPr lang="en-GB" altLang="en-US" dirty="0"/>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1pPr>
    <a:lvl2pPr marL="4572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2pPr>
    <a:lvl3pPr marL="9144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3pPr>
    <a:lvl4pPr marL="13716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4pPr>
    <a:lvl5pPr marL="18288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latin typeface="Sakkal Majalla" panose="02000000000000000000" pitchFamily="2" charset="-78"/>
                <a:cs typeface="Sakkal Majalla" panose="02000000000000000000" pitchFamily="2" charset="-78"/>
              </a:rPr>
              <a:pPr/>
              <a:t>1</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a:p>
            <a:pPr rtl="1"/>
            <a:endParaRPr lang="en-GB" altLang="en-US" dirty="0"/>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2</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latin typeface="Sakkal Majalla" panose="02000000000000000000" pitchFamily="2" charset="-78"/>
                <a:cs typeface="Sakkal Majalla" panose="02000000000000000000" pitchFamily="2" charset="-78"/>
              </a:rPr>
              <a:pPr/>
              <a:t>3</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4</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6977622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5687514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8253186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3725030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7409357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8373817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0819294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2003142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7858347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0269721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2001609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54831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3297544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6513118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3788228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1677230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1571198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9273450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426959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7441345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266810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0691367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4298845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0408649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26507992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9389529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62851214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42682931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6470226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2137568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0249792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86294452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23118065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6607324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latin typeface="Sakkal Majalla" panose="02000000000000000000" pitchFamily="2" charset="-78"/>
                <a:cs typeface="Sakkal Majalla" panose="02000000000000000000" pitchFamily="2" charset="-78"/>
              </a:rPr>
              <a:pPr/>
              <a:t>39</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Unit X: xxxxxxxxxxxxxxxxxxxxx</a:t>
            </a:r>
            <a:endParaRPr lang="en-GB" altLang="en-US" dirty="0"/>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atin typeface="Sakkal Majalla" panose="02000000000000000000" pitchFamily="2" charset="-78"/>
                <a:cs typeface="Sakkal Majalla" panose="02000000000000000000" pitchFamily="2" charset="-78"/>
              </a:defRPr>
            </a:lvl1pPr>
          </a:lstStyle>
          <a:p>
            <a:pPr rtl="1"/>
            <a:r>
              <a:rPr lang="ar" dirty="0"/>
              <a:t>Learning aim x</a:t>
            </a:r>
            <a:endParaRPr lang="en-US" altLang="en-US" dirty="0"/>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a:p>
            <a:pPr rtl="1"/>
            <a:endParaRPr lang="en-GB" dirty="0"/>
          </a:p>
        </p:txBody>
      </p:sp>
      <p:sp>
        <p:nvSpPr>
          <p:cNvPr id="7" name="Content Placeholder 6"/>
          <p:cNvSpPr>
            <a:spLocks noGrp="1"/>
          </p:cNvSpPr>
          <p:nvPr>
            <p:ph sz="half" idx="10"/>
          </p:nvPr>
        </p:nvSpPr>
        <p:spPr>
          <a:xfrm>
            <a:off x="3421063" y="2212975"/>
            <a:ext cx="2303462" cy="3449638"/>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a:p>
            <a:pPr rtl="1"/>
            <a:endParaRPr lang="en-GB" dirty="0"/>
          </a:p>
        </p:txBody>
      </p:sp>
      <p:sp>
        <p:nvSpPr>
          <p:cNvPr id="8" name="Content Placeholder 6"/>
          <p:cNvSpPr>
            <a:spLocks noGrp="1"/>
          </p:cNvSpPr>
          <p:nvPr>
            <p:ph sz="half" idx="11"/>
          </p:nvPr>
        </p:nvSpPr>
        <p:spPr>
          <a:xfrm>
            <a:off x="6156325" y="2212975"/>
            <a:ext cx="2592388" cy="373697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1pPr>
              <a:defRPr>
                <a:latin typeface="Sakkal Majalla" panose="02000000000000000000" pitchFamily="2" charset="-78"/>
                <a:cs typeface="Sakkal Majalla" panose="02000000000000000000" pitchFamily="2" charset="-78"/>
              </a:defRPr>
            </a:lvl1pPr>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endParaRPr lang="en-GB" altLang="en-US" dirty="0"/>
          </a:p>
        </p:txBody>
      </p:sp>
      <p:sp>
        <p:nvSpPr>
          <p:cNvPr id="10" name="Content Placeholder 2"/>
          <p:cNvSpPr>
            <a:spLocks noGrp="1"/>
          </p:cNvSpPr>
          <p:nvPr>
            <p:ph sz="half" idx="1"/>
          </p:nvPr>
        </p:nvSpPr>
        <p:spPr>
          <a:xfrm>
            <a:off x="468313" y="2195513"/>
            <a:ext cx="4027487" cy="3681412"/>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Blue subhead</a:t>
            </a:r>
          </a:p>
          <a:p>
            <a:pPr rtl="1"/>
            <a:r>
              <a:rPr lang="ar" dirty="0"/>
              <a:t>Bullet text</a:t>
            </a:r>
          </a:p>
          <a:p>
            <a:pPr rtl="1"/>
            <a:endParaRPr lang="en-GB" dirty="0"/>
          </a:p>
          <a:p>
            <a:pPr rtl="1"/>
            <a:endParaRPr lang="en-GB" dirty="0"/>
          </a:p>
        </p:txBody>
      </p:sp>
      <p:sp>
        <p:nvSpPr>
          <p:cNvPr id="11" name="Content Placeholder 3"/>
          <p:cNvSpPr>
            <a:spLocks noGrp="1"/>
          </p:cNvSpPr>
          <p:nvPr>
            <p:ph sz="half" idx="2"/>
          </p:nvPr>
        </p:nvSpPr>
        <p:spPr>
          <a:xfrm>
            <a:off x="4648200" y="2195512"/>
            <a:ext cx="4027488" cy="3681411"/>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Blue subhead</a:t>
            </a:r>
          </a:p>
          <a:p>
            <a:pPr rtl="1"/>
            <a:r>
              <a:rPr lang="ar" dirty="0"/>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dirty="0"/>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atin typeface="Sakkal Majalla" panose="02000000000000000000" pitchFamily="2" charset="-78"/>
                <a:cs typeface="Sakkal Majalla" panose="02000000000000000000" pitchFamily="2" charset="-78"/>
              </a:defRPr>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dirty="0"/>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lvl1pPr>
              <a:defRPr>
                <a:latin typeface="Sakkal Majalla" panose="02000000000000000000" pitchFamily="2" charset="-78"/>
                <a:cs typeface="Sakkal Majalla" panose="02000000000000000000" pitchFamily="2" charset="-78"/>
              </a:defRPr>
            </a:lvl1pPr>
          </a:lstStyle>
          <a:p>
            <a:pPr lvl="0" rtl="1"/>
            <a:endParaRPr lang="en-GB" noProof="0" dirty="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29230881"/>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38162300"/>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5649852"/>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11169128"/>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35013648"/>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4.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audio" Target="../media/audio1.bin"/><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6" Type="http://schemas.openxmlformats.org/officeDocument/2006/relationships/image" Target="../media/image5.jpeg"/><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audio" Target="../media/audio1.bin"/><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2" Type="http://schemas.openxmlformats.org/officeDocument/2006/relationships/slideLayout" Target="../slideLayouts/slideLayout53.xml"/><Relationship Id="rId16" Type="http://schemas.openxmlformats.org/officeDocument/2006/relationships/image" Target="../media/image6.jpeg"/><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audio" Target="../media/audio1.bin"/><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2" Type="http://schemas.openxmlformats.org/officeDocument/2006/relationships/slideLayout" Target="../slideLayouts/slideLayout66.xml"/><Relationship Id="rId16" Type="http://schemas.openxmlformats.org/officeDocument/2006/relationships/image" Target="../media/image7.png"/><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5" Type="http://schemas.openxmlformats.org/officeDocument/2006/relationships/audio" Target="../media/audio1.bin"/><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theme" Target="../theme/theme7.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image" Target="../media/image8.jpeg"/><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audio" Target="../media/audio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theme" Target="../theme/theme8.xml"/><Relationship Id="rId3" Type="http://schemas.openxmlformats.org/officeDocument/2006/relationships/slideLayout" Target="../slideLayouts/slideLayout92.xml"/><Relationship Id="rId7" Type="http://schemas.openxmlformats.org/officeDocument/2006/relationships/slideLayout" Target="../slideLayouts/slideLayout96.xml"/><Relationship Id="rId12" Type="http://schemas.openxmlformats.org/officeDocument/2006/relationships/slideLayout" Target="../slideLayouts/slideLayout101.xml"/><Relationship Id="rId2" Type="http://schemas.openxmlformats.org/officeDocument/2006/relationships/slideLayout" Target="../slideLayouts/slideLayout91.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5" Type="http://schemas.openxmlformats.org/officeDocument/2006/relationships/image" Target="../media/image9.jpeg"/><Relationship Id="rId10" Type="http://schemas.openxmlformats.org/officeDocument/2006/relationships/slideLayout" Target="../slideLayouts/slideLayout99.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9.xml"/><Relationship Id="rId13" Type="http://schemas.openxmlformats.org/officeDocument/2006/relationships/theme" Target="../theme/theme9.xml"/><Relationship Id="rId3" Type="http://schemas.openxmlformats.org/officeDocument/2006/relationships/slideLayout" Target="../slideLayouts/slideLayout104.xml"/><Relationship Id="rId7" Type="http://schemas.openxmlformats.org/officeDocument/2006/relationships/slideLayout" Target="../slideLayouts/slideLayout108.xml"/><Relationship Id="rId12" Type="http://schemas.openxmlformats.org/officeDocument/2006/relationships/slideLayout" Target="../slideLayouts/slideLayout113.xml"/><Relationship Id="rId2" Type="http://schemas.openxmlformats.org/officeDocument/2006/relationships/slideLayout" Target="../slideLayouts/slideLayout103.xml"/><Relationship Id="rId1" Type="http://schemas.openxmlformats.org/officeDocument/2006/relationships/slideLayout" Target="../slideLayouts/slideLayout102.xml"/><Relationship Id="rId6" Type="http://schemas.openxmlformats.org/officeDocument/2006/relationships/slideLayout" Target="../slideLayouts/slideLayout107.xml"/><Relationship Id="rId11" Type="http://schemas.openxmlformats.org/officeDocument/2006/relationships/slideLayout" Target="../slideLayouts/slideLayout112.xml"/><Relationship Id="rId5" Type="http://schemas.openxmlformats.org/officeDocument/2006/relationships/slideLayout" Target="../slideLayouts/slideLayout106.xml"/><Relationship Id="rId15" Type="http://schemas.openxmlformats.org/officeDocument/2006/relationships/image" Target="../media/image10.jpeg"/><Relationship Id="rId10" Type="http://schemas.openxmlformats.org/officeDocument/2006/relationships/slideLayout" Target="../slideLayouts/slideLayout111.xml"/><Relationship Id="rId4" Type="http://schemas.openxmlformats.org/officeDocument/2006/relationships/slideLayout" Target="../slideLayouts/slideLayout105.xml"/><Relationship Id="rId9" Type="http://schemas.openxmlformats.org/officeDocument/2006/relationships/slideLayout" Target="../slideLayouts/slideLayout110.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21.xml"/><Relationship Id="rId13" Type="http://schemas.openxmlformats.org/officeDocument/2006/relationships/theme" Target="../theme/theme10.xml"/><Relationship Id="rId3" Type="http://schemas.openxmlformats.org/officeDocument/2006/relationships/slideLayout" Target="../slideLayouts/slideLayout116.xml"/><Relationship Id="rId7" Type="http://schemas.openxmlformats.org/officeDocument/2006/relationships/slideLayout" Target="../slideLayouts/slideLayout120.xml"/><Relationship Id="rId12" Type="http://schemas.openxmlformats.org/officeDocument/2006/relationships/slideLayout" Target="../slideLayouts/slideLayout125.xml"/><Relationship Id="rId2" Type="http://schemas.openxmlformats.org/officeDocument/2006/relationships/slideLayout" Target="../slideLayouts/slideLayout115.xml"/><Relationship Id="rId1" Type="http://schemas.openxmlformats.org/officeDocument/2006/relationships/slideLayout" Target="../slideLayouts/slideLayout114.xml"/><Relationship Id="rId6" Type="http://schemas.openxmlformats.org/officeDocument/2006/relationships/slideLayout" Target="../slideLayouts/slideLayout119.xml"/><Relationship Id="rId11" Type="http://schemas.openxmlformats.org/officeDocument/2006/relationships/slideLayout" Target="../slideLayouts/slideLayout124.xml"/><Relationship Id="rId5" Type="http://schemas.openxmlformats.org/officeDocument/2006/relationships/slideLayout" Target="../slideLayouts/slideLayout118.xml"/><Relationship Id="rId15" Type="http://schemas.openxmlformats.org/officeDocument/2006/relationships/image" Target="../media/image11.jpeg"/><Relationship Id="rId10" Type="http://schemas.openxmlformats.org/officeDocument/2006/relationships/slideLayout" Target="../slideLayouts/slideLayout123.xml"/><Relationship Id="rId4" Type="http://schemas.openxmlformats.org/officeDocument/2006/relationships/slideLayout" Target="../slideLayouts/slideLayout117.xml"/><Relationship Id="rId9" Type="http://schemas.openxmlformats.org/officeDocument/2006/relationships/slideLayout" Target="../slideLayouts/slideLayout122.xml"/><Relationship Id="rId14" Type="http://schemas.openxmlformats.org/officeDocument/2006/relationships/audio" Target="../media/audio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 id="2147484931"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 id="2147484932"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3236" y="190"/>
            <a:ext cx="9137528" cy="1075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 id="2147484933"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65.xml"/></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77.xml"/></Relationships>
</file>

<file path=ppt/slides/_rels/slide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xml"/><Relationship Id="rId1" Type="http://schemas.openxmlformats.org/officeDocument/2006/relationships/slideLayout" Target="../slideLayouts/slideLayout77.xml"/></Relationships>
</file>

<file path=ppt/slides/_rels/slide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xml"/><Relationship Id="rId1" Type="http://schemas.openxmlformats.org/officeDocument/2006/relationships/slideLayout" Target="../slideLayouts/slideLayout77.xml"/></Relationships>
</file>

<file path=ppt/slides/_rels/slide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xml"/><Relationship Id="rId1" Type="http://schemas.openxmlformats.org/officeDocument/2006/relationships/slideLayout" Target="../slideLayouts/slideLayout77.xml"/></Relationships>
</file>

<file path=ppt/slides/_rels/slide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6.xml"/><Relationship Id="rId1" Type="http://schemas.openxmlformats.org/officeDocument/2006/relationships/slideLayout" Target="../slideLayouts/slideLayout77.xml"/></Relationships>
</file>

<file path=ppt/slides/_rels/slide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7.xml"/><Relationship Id="rId1" Type="http://schemas.openxmlformats.org/officeDocument/2006/relationships/slideLayout" Target="../slideLayouts/slideLayout68.xml"/><Relationship Id="rId4" Type="http://schemas.openxmlformats.org/officeDocument/2006/relationships/image" Target="../media/image12.jpeg"/></Relationships>
</file>

<file path=ppt/slides/_rels/slide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8.xml"/><Relationship Id="rId1" Type="http://schemas.openxmlformats.org/officeDocument/2006/relationships/slideLayout" Target="../slideLayouts/slideLayout77.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9.xml"/><Relationship Id="rId1" Type="http://schemas.openxmlformats.org/officeDocument/2006/relationships/slideLayout" Target="../slideLayouts/slideLayout77.xml"/><Relationship Id="rId4" Type="http://schemas.openxmlformats.org/officeDocument/2006/relationships/image" Target="../media/image14.jpeg"/></Relationships>
</file>

<file path=ppt/slides/_rels/slide1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0.xml"/><Relationship Id="rId1" Type="http://schemas.openxmlformats.org/officeDocument/2006/relationships/slideLayout" Target="../slideLayouts/slideLayout68.xml"/><Relationship Id="rId4" Type="http://schemas.openxmlformats.org/officeDocument/2006/relationships/image" Target="../media/image15.jpeg"/></Relationships>
</file>

<file path=ppt/slides/_rels/slide1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1.xml"/><Relationship Id="rId1" Type="http://schemas.openxmlformats.org/officeDocument/2006/relationships/slideLayout" Target="../slideLayouts/slideLayout77.xml"/></Relationships>
</file>

<file path=ppt/slides/_rels/slide1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2.xml"/><Relationship Id="rId1" Type="http://schemas.openxmlformats.org/officeDocument/2006/relationships/slideLayout" Target="../slideLayouts/slideLayout7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3.xml"/><Relationship Id="rId1" Type="http://schemas.openxmlformats.org/officeDocument/2006/relationships/slideLayout" Target="../slideLayouts/slideLayout77.xml"/><Relationship Id="rId4" Type="http://schemas.openxmlformats.org/officeDocument/2006/relationships/image" Target="../media/image17.jpeg"/></Relationships>
</file>

<file path=ppt/slides/_rels/slide1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4.xml"/><Relationship Id="rId1" Type="http://schemas.openxmlformats.org/officeDocument/2006/relationships/slideLayout" Target="../slideLayouts/slideLayout68.xml"/><Relationship Id="rId4" Type="http://schemas.openxmlformats.org/officeDocument/2006/relationships/image" Target="../media/image18.jpg"/></Relationships>
</file>

<file path=ppt/slides/_rels/slide1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5.xml"/><Relationship Id="rId1" Type="http://schemas.openxmlformats.org/officeDocument/2006/relationships/slideLayout" Target="../slideLayouts/slideLayout68.xml"/><Relationship Id="rId4" Type="http://schemas.openxmlformats.org/officeDocument/2006/relationships/image" Target="../media/image19.jpeg"/></Relationships>
</file>

<file path=ppt/slides/_rels/slide1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6.xml"/><Relationship Id="rId1" Type="http://schemas.openxmlformats.org/officeDocument/2006/relationships/slideLayout" Target="../slideLayouts/slideLayout77.xml"/><Relationship Id="rId4" Type="http://schemas.openxmlformats.org/officeDocument/2006/relationships/image" Target="../media/image20.jpeg"/></Relationships>
</file>

<file path=ppt/slides/_rels/slide1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7.xml"/><Relationship Id="rId1" Type="http://schemas.openxmlformats.org/officeDocument/2006/relationships/slideLayout" Target="../slideLayouts/slideLayout77.xml"/></Relationships>
</file>

<file path=ppt/slides/_rels/slide1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8.xml"/><Relationship Id="rId1" Type="http://schemas.openxmlformats.org/officeDocument/2006/relationships/slideLayout" Target="../slideLayouts/slideLayout68.xml"/><Relationship Id="rId4" Type="http://schemas.openxmlformats.org/officeDocument/2006/relationships/image" Target="../media/image21.jpeg"/></Relationships>
</file>

<file path=ppt/slides/_rels/slide1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9.xml"/><Relationship Id="rId1" Type="http://schemas.openxmlformats.org/officeDocument/2006/relationships/slideLayout" Target="../slideLayouts/slideLayout77.xml"/><Relationship Id="rId4" Type="http://schemas.openxmlformats.org/officeDocument/2006/relationships/image" Target="../media/image22.jpeg"/></Relationships>
</file>

<file path=ppt/slides/_rels/slide2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0.xml"/><Relationship Id="rId1" Type="http://schemas.openxmlformats.org/officeDocument/2006/relationships/slideLayout" Target="../slideLayouts/slideLayout68.xml"/><Relationship Id="rId4" Type="http://schemas.openxmlformats.org/officeDocument/2006/relationships/image" Target="../media/image23.jpeg"/></Relationships>
</file>

<file path=ppt/slides/_rels/slide2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1.xml"/><Relationship Id="rId1" Type="http://schemas.openxmlformats.org/officeDocument/2006/relationships/slideLayout" Target="../slideLayouts/slideLayout68.xml"/><Relationship Id="rId4" Type="http://schemas.openxmlformats.org/officeDocument/2006/relationships/image" Target="../media/image24.jpeg"/></Relationships>
</file>

<file path=ppt/slides/_rels/slide2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2.xml"/><Relationship Id="rId1" Type="http://schemas.openxmlformats.org/officeDocument/2006/relationships/slideLayout" Target="../slideLayouts/slideLayout68.xml"/><Relationship Id="rId4" Type="http://schemas.openxmlformats.org/officeDocument/2006/relationships/image" Target="../media/image25.jpeg"/></Relationships>
</file>

<file path=ppt/slides/_rels/slide2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3.xml"/><Relationship Id="rId1" Type="http://schemas.openxmlformats.org/officeDocument/2006/relationships/slideLayout" Target="../slideLayouts/slideLayout77.xml"/></Relationships>
</file>

<file path=ppt/slides/_rels/slide24.xml.rels><?xml version="1.0" encoding="UTF-8" standalone="yes"?>
<Relationships xmlns="http://schemas.openxmlformats.org/package/2006/relationships"><Relationship Id="rId3" Type="http://schemas.openxmlformats.org/officeDocument/2006/relationships/audio" Target="../media/audio1.bin"/><Relationship Id="rId7"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7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5.xml"/><Relationship Id="rId1" Type="http://schemas.openxmlformats.org/officeDocument/2006/relationships/slideLayout" Target="../slideLayouts/slideLayout77.xml"/><Relationship Id="rId4" Type="http://schemas.openxmlformats.org/officeDocument/2006/relationships/image" Target="../media/image30.jpeg"/></Relationships>
</file>

<file path=ppt/slides/_rels/slide2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6.xml"/><Relationship Id="rId1" Type="http://schemas.openxmlformats.org/officeDocument/2006/relationships/slideLayout" Target="../slideLayouts/slideLayout77.xml"/><Relationship Id="rId4" Type="http://schemas.openxmlformats.org/officeDocument/2006/relationships/image" Target="../media/image31.jpeg"/></Relationships>
</file>

<file path=ppt/slides/_rels/slide2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7.xml"/><Relationship Id="rId1" Type="http://schemas.openxmlformats.org/officeDocument/2006/relationships/slideLayout" Target="../slideLayouts/slideLayout77.xml"/></Relationships>
</file>

<file path=ppt/slides/_rels/slide2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8.xml"/><Relationship Id="rId1" Type="http://schemas.openxmlformats.org/officeDocument/2006/relationships/slideLayout" Target="../slideLayouts/slideLayout68.xml"/><Relationship Id="rId4" Type="http://schemas.openxmlformats.org/officeDocument/2006/relationships/image" Target="../media/image32.jpeg"/></Relationships>
</file>

<file path=ppt/slides/_rels/slide2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9.xml"/><Relationship Id="rId1" Type="http://schemas.openxmlformats.org/officeDocument/2006/relationships/slideLayout" Target="../slideLayouts/slideLayout68.xml"/><Relationship Id="rId4" Type="http://schemas.openxmlformats.org/officeDocument/2006/relationships/image" Target="../media/image33.jpeg"/></Relationships>
</file>

<file path=ppt/slides/_rels/slide3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0.xml"/><Relationship Id="rId1" Type="http://schemas.openxmlformats.org/officeDocument/2006/relationships/slideLayout" Target="../slideLayouts/slideLayout68.xml"/><Relationship Id="rId4" Type="http://schemas.openxmlformats.org/officeDocument/2006/relationships/image" Target="../media/image34.jpeg"/></Relationships>
</file>

<file path=ppt/slides/_rels/slide3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1.xml"/><Relationship Id="rId1" Type="http://schemas.openxmlformats.org/officeDocument/2006/relationships/slideLayout" Target="../slideLayouts/slideLayout77.xml"/></Relationships>
</file>

<file path=ppt/slides/_rels/slide3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2.xml"/><Relationship Id="rId1" Type="http://schemas.openxmlformats.org/officeDocument/2006/relationships/slideLayout" Target="../slideLayouts/slideLayout68.xml"/><Relationship Id="rId4" Type="http://schemas.openxmlformats.org/officeDocument/2006/relationships/image" Target="../media/image35.jpg"/></Relationships>
</file>

<file path=ppt/slides/_rels/slide3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3.xml"/><Relationship Id="rId1" Type="http://schemas.openxmlformats.org/officeDocument/2006/relationships/slideLayout" Target="../slideLayouts/slideLayout68.xml"/><Relationship Id="rId4" Type="http://schemas.openxmlformats.org/officeDocument/2006/relationships/image" Target="../media/image36.jpeg"/></Relationships>
</file>

<file path=ppt/slides/_rels/slide3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4.xml"/><Relationship Id="rId1" Type="http://schemas.openxmlformats.org/officeDocument/2006/relationships/slideLayout" Target="../slideLayouts/slideLayout68.xml"/><Relationship Id="rId4" Type="http://schemas.openxmlformats.org/officeDocument/2006/relationships/image" Target="../media/image37.jpeg"/></Relationships>
</file>

<file path=ppt/slides/_rels/slide3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5.xml"/><Relationship Id="rId1" Type="http://schemas.openxmlformats.org/officeDocument/2006/relationships/slideLayout" Target="../slideLayouts/slideLayout68.xml"/><Relationship Id="rId4" Type="http://schemas.openxmlformats.org/officeDocument/2006/relationships/image" Target="../media/image38.jpeg"/></Relationships>
</file>

<file path=ppt/slides/_rels/slide3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6.xml"/><Relationship Id="rId1" Type="http://schemas.openxmlformats.org/officeDocument/2006/relationships/slideLayout" Target="../slideLayouts/slideLayout77.xml"/><Relationship Id="rId4" Type="http://schemas.openxmlformats.org/officeDocument/2006/relationships/image" Target="../media/image39.jpeg"/></Relationships>
</file>

<file path=ppt/slides/_rels/slide3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7.xml"/><Relationship Id="rId1" Type="http://schemas.openxmlformats.org/officeDocument/2006/relationships/slideLayout" Target="../slideLayouts/slideLayout68.xml"/><Relationship Id="rId4" Type="http://schemas.openxmlformats.org/officeDocument/2006/relationships/image" Target="../media/image40.jpeg"/></Relationships>
</file>

<file path=ppt/slides/_rels/slide3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8.xml"/><Relationship Id="rId1" Type="http://schemas.openxmlformats.org/officeDocument/2006/relationships/slideLayout" Target="../slideLayouts/slideLayout68.xml"/><Relationship Id="rId4" Type="http://schemas.openxmlformats.org/officeDocument/2006/relationships/image" Target="../media/image41.jpeg"/></Relationships>
</file>

<file path=ppt/slides/_rels/slide3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9.xml"/><Relationship Id="rId1" Type="http://schemas.openxmlformats.org/officeDocument/2006/relationships/slideLayout" Target="../slideLayouts/slideLayout6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6D29E0-B089-110D-BF1E-B3C37F2C37F9}"/>
              </a:ext>
            </a:extLst>
          </p:cNvPr>
          <p:cNvSpPr>
            <a:spLocks noGrp="1" noChangeArrowheads="1"/>
          </p:cNvSpPr>
          <p:nvPr>
            <p:ph type="ctr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الوحدة 20</a:t>
            </a:r>
            <a:br>
              <a:rPr lang="en-GB" altLang="en-US" sz="4600" dirty="0"/>
            </a:br>
            <a:r>
              <a:rPr lang="ar" sz="4600" dirty="0"/>
              <a:t>الدوائر الإلكترونية التناظرية</a:t>
            </a:r>
            <a:br>
              <a:rPr lang="en-GB" altLang="en-US" sz="4600" dirty="0"/>
            </a:br>
            <a:br>
              <a:rPr lang="en-US" altLang="en-US" sz="4600" dirty="0"/>
            </a:br>
            <a:endParaRPr lang="en-GB" altLang="en-US" sz="4600" dirty="0"/>
          </a:p>
        </p:txBody>
      </p:sp>
      <p:sp>
        <p:nvSpPr>
          <p:cNvPr id="28680" name="Footer Placeholder 2">
            <a:extLst>
              <a:ext uri="{FF2B5EF4-FFF2-40B4-BE49-F238E27FC236}">
                <a16:creationId xmlns:a16="http://schemas.microsoft.com/office/drawing/2014/main" id="{250B1923-7747-07CF-317E-05CAA217CFCA}"/>
              </a:ext>
            </a:extLst>
          </p:cNvPr>
          <p:cNvSpPr>
            <a:spLocks noGrp="1"/>
          </p:cNvSpPr>
          <p:nvPr>
            <p:ph type="ftr" sz="quarter" idx="10"/>
          </p:nvPr>
        </p:nvSpPr>
        <p:spPr/>
        <p:txBody>
          <a:bodyPr wrap="square" rtlCol="1" anchor="t">
            <a:normAutofit lnSpcReduction="10000"/>
          </a:bodyPr>
          <a:lstStyle/>
          <a:p>
            <a:pPr algn="ctr" rtl="1">
              <a:lnSpc>
                <a:spcPct val="90000"/>
              </a:lnSpc>
              <a:spcAft>
                <a:spcPts val="600"/>
              </a:spcAft>
              <a:defRPr/>
            </a:pPr>
            <a:r>
              <a:rPr lang="ar" sz="1400" dirty="0"/>
              <a:t>© حقوق التأليف والنشر لعام 2024 محفوظة لشركة بيرسون إديوكيشن ليمتد. يُسمح بالنسخ للمؤسسة المشترية فقط. </a:t>
            </a:r>
          </a:p>
        </p:txBody>
      </p:sp>
      <p:sp>
        <p:nvSpPr>
          <p:cNvPr id="2" name="Footer Placeholder 2">
            <a:extLst>
              <a:ext uri="{FF2B5EF4-FFF2-40B4-BE49-F238E27FC236}">
                <a16:creationId xmlns:a16="http://schemas.microsoft.com/office/drawing/2014/main" id="{3A2C97AD-72F2-646F-B43F-B1239CF50974}"/>
              </a:ext>
            </a:extLst>
          </p:cNvPr>
          <p:cNvSpPr txBox="1">
            <a:spLocks/>
          </p:cNvSpPr>
          <p:nvPr/>
        </p:nvSpPr>
        <p:spPr bwMode="auto">
          <a:xfrm>
            <a:off x="107504"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A103000399219</a:t>
            </a:r>
            <a:endParaRPr lang="ar" sz="1000" dirty="0"/>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611559" y="1484784"/>
            <a:ext cx="7776865" cy="25922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algn="ctr" rtl="1">
              <a:buNone/>
            </a:pPr>
            <a:r>
              <a:rPr lang="ar" sz="3400" b="1" dirty="0"/>
              <a:t>مقدمة الوحدة</a:t>
            </a:r>
          </a:p>
          <a:p>
            <a:pPr marL="0" indent="0" algn="ctr" rtl="1">
              <a:buNone/>
            </a:pPr>
            <a:endParaRPr lang="en-GB" sz="2000" dirty="0"/>
          </a:p>
          <a:p>
            <a:pPr marL="0" indent="0" algn="ctr" rtl="1">
              <a:buNone/>
            </a:pPr>
            <a:r>
              <a:rPr lang="ar" sz="2200" dirty="0"/>
              <a:t>إنَّ العدد المتزايد من الأجهزة الرقمية التي نستخدمها يوميًا قد يدفعك للتساؤل عما إذا كانت الدوائر التناظرية قد باتت قديمة؟ ومع ذلك، تعتمد العديد من التقنيات الرقمية على الدوائر التناظرية، ما يضمن استمرار استخدام الإلكترونيات التناظرية. </a:t>
            </a:r>
            <a:br>
              <a:rPr lang="en-GB" sz="2200" dirty="0"/>
            </a:br>
            <a:r>
              <a:rPr lang="ar" sz="2200" dirty="0"/>
              <a:t>فعلى سبيل المثال، منذ عدة سنوات، كان الهاتف المحمول يحتوي على مستشعر تناظري أساسي واحد وهو الميكروفون، أما الآن فقد تطورت ميزات الهواتف المحمولة لتشمل الكاميرات، وأجهزة قياس التسارع، ومستشعرات الشاشات اللمسية وأجهزة استشعار القرب وغيرها، وجميعها أمثلة تعتمد على الدوائر التناظرية.</a:t>
            </a:r>
            <a:endParaRPr lang="en-GB" altLang="en-US" sz="2200" dirty="0"/>
          </a:p>
        </p:txBody>
      </p:sp>
      <p:sp>
        <p:nvSpPr>
          <p:cNvPr id="2" name="Footer Placeholder 2">
            <a:extLst>
              <a:ext uri="{FF2B5EF4-FFF2-40B4-BE49-F238E27FC236}">
                <a16:creationId xmlns:a16="http://schemas.microsoft.com/office/drawing/2014/main" id="{17134F7F-9C33-DAA9-A486-9CB9409C061B}"/>
              </a:ext>
            </a:extLst>
          </p:cNvPr>
          <p:cNvSpPr txBox="1">
            <a:spLocks/>
          </p:cNvSpPr>
          <p:nvPr/>
        </p:nvSpPr>
        <p:spPr bwMode="auto">
          <a:xfrm>
            <a:off x="107504"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A103000399219</a:t>
            </a:r>
            <a:endParaRPr lang="ar" sz="1000" dirty="0"/>
          </a:p>
        </p:txBody>
      </p:sp>
    </p:spTree>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نتاجات التعلم</a:t>
            </a:r>
            <a:endParaRPr lang="en-GB" altLang="en-US" sz="4600" dirty="0"/>
          </a:p>
        </p:txBody>
      </p:sp>
      <p:sp>
        <p:nvSpPr>
          <p:cNvPr id="32771" name="Content Placeholder 3">
            <a:extLst>
              <a:ext uri="{FF2B5EF4-FFF2-40B4-BE49-F238E27FC236}">
                <a16:creationId xmlns:a16="http://schemas.microsoft.com/office/drawing/2014/main" id="{44DFA49F-83B7-E61C-00EB-D6046D571A05}"/>
              </a:ext>
            </a:extLst>
          </p:cNvPr>
          <p:cNvSpPr>
            <a:spLocks noGrp="1" noChangeArrowheads="1"/>
          </p:cNvSpPr>
          <p:nvPr>
            <p:ph sz="half" idx="2"/>
          </p:nvPr>
        </p:nvSpPr>
        <p:spPr bwMode="auto">
          <a:xfrm>
            <a:off x="673316" y="2058988"/>
            <a:ext cx="7991475" cy="410631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404813" indent="-387350" defTabSz="431800" rtl="1">
              <a:buNone/>
            </a:pPr>
            <a:r>
              <a:rPr lang="ar" sz="2200" b="1" dirty="0"/>
              <a:t>أ	التحقق من تشغيل الدوائر الإلكترونية التناظرية أحادية الوظيفة بالبحث والمحاكاة</a:t>
            </a:r>
          </a:p>
          <a:p>
            <a:pPr marL="404813" indent="-387350" defTabSz="431800" rtl="1">
              <a:buNone/>
            </a:pPr>
            <a:endParaRPr lang="en-GB" altLang="en-US" sz="2200" b="1" dirty="0"/>
          </a:p>
          <a:p>
            <a:pPr marL="404813" indent="-387350" defTabSz="431800" rtl="1">
              <a:buNone/>
            </a:pPr>
            <a:r>
              <a:rPr lang="ar" sz="2200" b="1" dirty="0"/>
              <a:t>ب	استكشاف التشغيل الآمن للدوائر الإلكترونية التناظرية أحادية الوظيفة التي تشكل اللبنات الأساسية للدوائر التجارية</a:t>
            </a:r>
          </a:p>
          <a:p>
            <a:pPr marL="404813" indent="-387350" defTabSz="431800" rtl="1">
              <a:buNone/>
            </a:pPr>
            <a:endParaRPr lang="en-GB" altLang="en-US" sz="2200" b="1" dirty="0"/>
          </a:p>
          <a:p>
            <a:pPr marL="404813" indent="-387350" defTabSz="431800" rtl="1">
              <a:buNone/>
            </a:pPr>
            <a:r>
              <a:rPr lang="ar" sz="2200" b="1" dirty="0"/>
              <a:t>ج	تعديل دائرة إلكترونية تناظرية أحادية الوظيفة لتلبية معايير معينة على النحو المعمول به في نطاق واسع في الصناعة</a:t>
            </a:r>
          </a:p>
          <a:p>
            <a:pPr marL="404813" indent="-387350" defTabSz="431800" rtl="1">
              <a:buNone/>
            </a:pPr>
            <a:endParaRPr lang="en-GB" altLang="en-US" sz="2200" b="1" dirty="0"/>
          </a:p>
          <a:p>
            <a:pPr marL="404813" indent="-387350" defTabSz="431800" rtl="1">
              <a:buNone/>
            </a:pPr>
            <a:r>
              <a:rPr lang="ar" sz="2200" b="1" dirty="0"/>
              <a:t>د	مراجعة تطوير الدوائر الإلكترونية التناظرية وتقييم الأداء الشخصي.</a:t>
            </a:r>
            <a:endParaRPr lang="en-GB" altLang="en-US" sz="2200" dirty="0"/>
          </a:p>
        </p:txBody>
      </p:sp>
      <p:sp>
        <p:nvSpPr>
          <p:cNvPr id="2" name="Footer Placeholder 2">
            <a:extLst>
              <a:ext uri="{FF2B5EF4-FFF2-40B4-BE49-F238E27FC236}">
                <a16:creationId xmlns:a16="http://schemas.microsoft.com/office/drawing/2014/main" id="{18C04DDE-B09D-6373-F245-BEEA0D6D8D97}"/>
              </a:ext>
            </a:extLst>
          </p:cNvPr>
          <p:cNvSpPr txBox="1">
            <a:spLocks/>
          </p:cNvSpPr>
          <p:nvPr/>
        </p:nvSpPr>
        <p:spPr bwMode="auto">
          <a:xfrm>
            <a:off x="107504"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A103000399219</a:t>
            </a:r>
            <a:endParaRPr lang="ar" sz="1000" dirty="0"/>
          </a:p>
        </p:txBody>
      </p:sp>
    </p:spTree>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a:t>نتاج التعلم أ</a:t>
            </a:r>
            <a:br>
              <a:rPr lang="en-US" altLang="en-US" sz="2600" dirty="0"/>
            </a:br>
            <a:br>
              <a:rPr lang="en-US" altLang="en-US" sz="2600" dirty="0"/>
            </a:b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612775" y="2493962"/>
            <a:ext cx="7991475" cy="2303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التحقق من تشغيل الدوائر الإلكترونية التناظرية </a:t>
            </a:r>
            <a:br>
              <a:rPr lang="en-GB" altLang="en-US"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أحادية الوظيفة بالبحث </a:t>
            </a:r>
            <a:br>
              <a:rPr lang="en-GB" altLang="en-US"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والمحاكاة</a:t>
            </a:r>
          </a:p>
          <a:p>
            <a:pPr algn="ctr" rtl="1"/>
            <a:endParaRPr lang="ar" sz="38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19CB6FDF-3B88-1AA9-63F3-323621DAD34B}"/>
              </a:ext>
            </a:extLst>
          </p:cNvPr>
          <p:cNvSpPr txBox="1">
            <a:spLocks/>
          </p:cNvSpPr>
          <p:nvPr/>
        </p:nvSpPr>
        <p:spPr bwMode="auto">
          <a:xfrm>
            <a:off x="107504"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A103000399219</a:t>
            </a:r>
            <a:endParaRPr lang="ar" sz="1000" dirty="0"/>
          </a:p>
        </p:txBody>
      </p:sp>
    </p:spTree>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95536" y="1268760"/>
            <a:ext cx="8352928" cy="525658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t>نظرة عامة على مصادر الطاقة</a:t>
            </a:r>
          </a:p>
          <a:p>
            <a:pPr marL="0" indent="0" rtl="1">
              <a:buNone/>
            </a:pPr>
            <a:r>
              <a:rPr lang="ar" sz="1600" dirty="0"/>
              <a:t>مصدر الطاقة مكون أساسي في أي دائرة إلكترونية تناظرية، حيث يوفر الطاقة الكهربائية اللازمة لضمان التشغيل السليم للدائرة.</a:t>
            </a:r>
          </a:p>
          <a:p>
            <a:pPr marL="0" indent="0" rtl="1">
              <a:buNone/>
            </a:pPr>
            <a:endParaRPr lang="en-GB" sz="1600" b="1" dirty="0"/>
          </a:p>
          <a:p>
            <a:pPr marL="0" indent="0" rtl="1">
              <a:buNone/>
            </a:pPr>
            <a:r>
              <a:rPr lang="ar" sz="1600" b="1" dirty="0"/>
              <a:t>أنواع مصادر الطاقة:</a:t>
            </a:r>
          </a:p>
          <a:p>
            <a:pPr rtl="1">
              <a:buFont typeface="Arial" panose="020B0604020202020204" pitchFamily="34" charset="0"/>
              <a:buChar char="•"/>
            </a:pPr>
            <a:r>
              <a:rPr lang="ar" sz="1600" b="1" dirty="0"/>
              <a:t>مصدر الطاقة الخطي</a:t>
            </a:r>
            <a:r>
              <a:rPr lang="ar" sz="1600" dirty="0"/>
              <a:t>: يحول التيار المتناوب إلى جهد تيار مستمر منظم يتميز بانخفاض الضوضاء والتموج. مناسب للدوائر التناظرية الحساسة.</a:t>
            </a:r>
          </a:p>
          <a:p>
            <a:pPr rtl="1">
              <a:buFont typeface="Arial" panose="020B0604020202020204" pitchFamily="34" charset="0"/>
              <a:buChar char="•"/>
            </a:pPr>
            <a:r>
              <a:rPr lang="ar" sz="1600" b="1" dirty="0"/>
              <a:t>مزود الطاقة التحويلي</a:t>
            </a:r>
            <a:r>
              <a:rPr lang="ar" sz="1600" dirty="0"/>
              <a:t>: أكثر كفاءة من مصادر الطاقة الخطية، لأنه يستخدم التحويل عالي التردد لتحويل الطاقة. شائع في التطبيقات التي تكون فيها كفاءة الطاقة عنصرًا بالغ الأهمية.</a:t>
            </a:r>
          </a:p>
          <a:p>
            <a:pPr marL="0" indent="0" rtl="1">
              <a:buNone/>
            </a:pPr>
            <a:br>
              <a:rPr lang="en-GB" sz="1600" dirty="0"/>
            </a:br>
            <a:r>
              <a:rPr lang="ar" sz="1600" b="1" dirty="0"/>
              <a:t>المفاهيم الأساسية:</a:t>
            </a:r>
          </a:p>
          <a:p>
            <a:pPr rtl="1">
              <a:buFont typeface="Arial" panose="020B0604020202020204" pitchFamily="34" charset="0"/>
              <a:buChar char="•"/>
            </a:pPr>
            <a:r>
              <a:rPr lang="ar" sz="1600" b="1" dirty="0"/>
              <a:t>جهد التموج</a:t>
            </a:r>
            <a:r>
              <a:rPr lang="ar" sz="1600" dirty="0"/>
              <a:t>: تقلبات صغيرة في خرج الجهد قد تؤثر في الدوائر التناظرية الحساسة.</a:t>
            </a:r>
          </a:p>
          <a:p>
            <a:pPr rtl="1">
              <a:buFont typeface="Arial" panose="020B0604020202020204" pitchFamily="34" charset="0"/>
              <a:buChar char="•"/>
            </a:pPr>
            <a:r>
              <a:rPr lang="ar" sz="1600" b="1" dirty="0"/>
              <a:t>تنظيم الجهد: </a:t>
            </a:r>
            <a:r>
              <a:rPr lang="ar" sz="1600" dirty="0"/>
              <a:t>قدرة مصدر الطاقة على الحفاظ على جهد خرج ثابت بغض النظر عن التغيرات في الحمل أو جهد الدخل.</a:t>
            </a:r>
          </a:p>
          <a:p>
            <a:pPr rtl="1">
              <a:buFont typeface="Arial" panose="020B0604020202020204" pitchFamily="34" charset="0"/>
              <a:buChar char="•"/>
            </a:pPr>
            <a:r>
              <a:rPr lang="ar" sz="1600" b="1" dirty="0"/>
              <a:t>قيود التيار: </a:t>
            </a:r>
            <a:r>
              <a:rPr lang="ar" sz="1600" dirty="0"/>
              <a:t>يُعد فهم الحد الأقصى لخرج تيار مصدر الطاقة أمرًا بالغ الأهمية لتجنب التحميل الزائد وإتلاف الدائرة.</a:t>
            </a:r>
          </a:p>
          <a:p>
            <a:pPr marL="0" indent="0" rtl="1">
              <a:buNone/>
            </a:pPr>
            <a:br>
              <a:rPr lang="en-GB" sz="1600" dirty="0"/>
            </a:br>
            <a:r>
              <a:rPr lang="ar" sz="1600" b="1" dirty="0"/>
              <a:t>الأهمية في الدوائر التناظرية:</a:t>
            </a:r>
          </a:p>
          <a:p>
            <a:pPr rtl="1">
              <a:buFont typeface="Arial" panose="020B0604020202020204" pitchFamily="34" charset="0"/>
              <a:buChar char="•"/>
            </a:pPr>
            <a:r>
              <a:rPr lang="ar" sz="1600" dirty="0"/>
              <a:t>يعد مصدر الطاقة المستقر والمنظم جيدًا أمرًا بالغ الأهمية لضمان سلامة الإشارة في الأنظمة التناظرية.</a:t>
            </a:r>
            <a:br>
              <a:rPr lang="en-GB" sz="1600" dirty="0"/>
            </a:br>
            <a:r>
              <a:rPr lang="ar" sz="1600" dirty="0"/>
              <a:t>يمكن أن تؤدي ضوضاء مصدر الطاقة إلى حدوث تداخل غير مرغوب فيه، ما قد يشوه أداء الدائرة التناظرية.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44015" y="332656"/>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600" b="1" dirty="0">
                <a:latin typeface="Sakkal Majalla" panose="02000000000000000000" pitchFamily="2" charset="-78"/>
                <a:cs typeface="Sakkal Majalla" panose="02000000000000000000" pitchFamily="2" charset="-78"/>
              </a:rPr>
              <a:t>مصادر الطاقة في الدوائر التناظرية</a:t>
            </a:r>
          </a:p>
        </p:txBody>
      </p:sp>
      <p:sp>
        <p:nvSpPr>
          <p:cNvPr id="2" name="Footer Placeholder 2">
            <a:extLst>
              <a:ext uri="{FF2B5EF4-FFF2-40B4-BE49-F238E27FC236}">
                <a16:creationId xmlns:a16="http://schemas.microsoft.com/office/drawing/2014/main" id="{F9F92FC7-50EB-26EF-4CDC-4659459AD0EB}"/>
              </a:ext>
            </a:extLst>
          </p:cNvPr>
          <p:cNvSpPr txBox="1">
            <a:spLocks/>
          </p:cNvSpPr>
          <p:nvPr/>
        </p:nvSpPr>
        <p:spPr bwMode="auto">
          <a:xfrm>
            <a:off x="107504"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A103000399219</a:t>
            </a:r>
            <a:endParaRPr lang="ar" sz="1000" dirty="0"/>
          </a:p>
        </p:txBody>
      </p:sp>
    </p:spTree>
    <p:extLst>
      <p:ext uri="{BB962C8B-B14F-4D97-AF65-F5344CB8AC3E}">
        <p14:creationId xmlns:p14="http://schemas.microsoft.com/office/powerpoint/2010/main" val="2067537264"/>
      </p:ext>
    </p:extLst>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823122" y="1988840"/>
            <a:ext cx="7781326" cy="39604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800" b="1" dirty="0">
                <a:effectLst/>
              </a:rPr>
              <a:t>تطبيقات المرشحات غير الفعالة</a:t>
            </a:r>
            <a:endParaRPr lang="en-GB" sz="1800" b="1" dirty="0"/>
          </a:p>
          <a:p>
            <a:pPr rtl="1">
              <a:buFont typeface="Arial" panose="020B0604020202020204" pitchFamily="34" charset="0"/>
              <a:buChar char="•"/>
            </a:pPr>
            <a:r>
              <a:rPr lang="ar" sz="1800" dirty="0">
                <a:effectLst/>
              </a:rPr>
              <a:t>المرشحات منخفضة التردد: تسمح بمرور الإشارات منخفضة التردد في أثناء تهوين الإشارات عالية التردد.</a:t>
            </a:r>
          </a:p>
          <a:p>
            <a:pPr rtl="1">
              <a:buFont typeface="Arial" panose="020B0604020202020204" pitchFamily="34" charset="0"/>
              <a:buChar char="•"/>
            </a:pPr>
            <a:r>
              <a:rPr lang="ar" sz="1800" dirty="0">
                <a:effectLst/>
              </a:rPr>
              <a:t>المرشحات عالية التردد: تسمح بمرور الإشارات عالية التردد في أثناء تهوين الإشارات منخفضة التردد.</a:t>
            </a:r>
          </a:p>
          <a:p>
            <a:pPr rtl="1">
              <a:buFont typeface="Arial" panose="020B0604020202020204" pitchFamily="34" charset="0"/>
              <a:buChar char="•"/>
            </a:pPr>
            <a:r>
              <a:rPr lang="ar" sz="1800" dirty="0">
                <a:effectLst/>
              </a:rPr>
              <a:t>المرشحات ذات النطاق المحدد: تسمح بمرور نطاق معين من الترددات في أثناء تهوين الترددات خارج هذا النطاق.</a:t>
            </a:r>
          </a:p>
          <a:p>
            <a:pPr rtl="1">
              <a:buFont typeface="Arial" panose="020B0604020202020204" pitchFamily="34" charset="0"/>
              <a:buChar char="•"/>
            </a:pPr>
            <a:endParaRPr lang="en-GB" sz="1800" dirty="0"/>
          </a:p>
          <a:p>
            <a:pPr marL="0" indent="0" rtl="1">
              <a:buNone/>
            </a:pPr>
            <a:r>
              <a:rPr lang="ar" sz="1800" b="1" dirty="0"/>
              <a:t>خصائص توهين الدوائر التناظرية أحادية الوظيفة: </a:t>
            </a:r>
          </a:p>
          <a:p>
            <a:pPr rtl="1">
              <a:buFont typeface="Arial" panose="020B0604020202020204" pitchFamily="34" charset="0"/>
              <a:buChar char="•"/>
            </a:pPr>
            <a:r>
              <a:rPr lang="ar" sz="1800" dirty="0"/>
              <a:t>انخفاض سعة الإشارة التي يوفرها المرشح. </a:t>
            </a:r>
          </a:p>
          <a:p>
            <a:pPr rtl="1">
              <a:buFont typeface="Arial" panose="020B0604020202020204" pitchFamily="34" charset="0"/>
              <a:buChar char="•"/>
            </a:pPr>
            <a:r>
              <a:rPr lang="ar" sz="1800" dirty="0"/>
              <a:t>الضوضاء: تغيّرات عشوائية غير مرغوب فيها في الإشارة بسبب عوامل خارجية.</a:t>
            </a:r>
          </a:p>
          <a:p>
            <a:pPr rtl="1">
              <a:buFont typeface="Arial" panose="020B0604020202020204" pitchFamily="34" charset="0"/>
              <a:buChar char="•"/>
            </a:pPr>
            <a:r>
              <a:rPr lang="ar" sz="1800" dirty="0"/>
              <a:t>الديسيبل: وحدة لوغاريتمية تستخدم للتعبير عن نسبة سعتي إشارة.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44015" y="332656"/>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600" b="1" dirty="0">
                <a:latin typeface="Sakkal Majalla" panose="02000000000000000000" pitchFamily="2" charset="-78"/>
                <a:cs typeface="Sakkal Majalla" panose="02000000000000000000" pitchFamily="2" charset="-78"/>
              </a:rPr>
              <a:t>المرشحات غير الفعالة</a:t>
            </a:r>
          </a:p>
        </p:txBody>
      </p:sp>
      <p:sp>
        <p:nvSpPr>
          <p:cNvPr id="2" name="Footer Placeholder 2">
            <a:extLst>
              <a:ext uri="{FF2B5EF4-FFF2-40B4-BE49-F238E27FC236}">
                <a16:creationId xmlns:a16="http://schemas.microsoft.com/office/drawing/2014/main" id="{D223570A-41A2-B0D1-20BA-9525B96FF3A2}"/>
              </a:ext>
            </a:extLst>
          </p:cNvPr>
          <p:cNvSpPr txBox="1">
            <a:spLocks/>
          </p:cNvSpPr>
          <p:nvPr/>
        </p:nvSpPr>
        <p:spPr bwMode="auto">
          <a:xfrm>
            <a:off x="107504"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A103000399219</a:t>
            </a:r>
            <a:endParaRPr lang="ar" sz="1000" dirty="0"/>
          </a:p>
        </p:txBody>
      </p:sp>
    </p:spTree>
    <p:extLst>
      <p:ext uri="{BB962C8B-B14F-4D97-AF65-F5344CB8AC3E}">
        <p14:creationId xmlns:p14="http://schemas.microsoft.com/office/powerpoint/2010/main" val="884549766"/>
      </p:ext>
    </p:extLst>
  </p:cSld>
  <p:clrMapOvr>
    <a:masterClrMapping/>
  </p:clrMapOvr>
  <p:transition>
    <p:sndAc>
      <p:stSnd>
        <p:snd r:embed="rId3"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spcAft>
                <a:spcPts val="600"/>
              </a:spcAft>
            </a:pPr>
            <a:r>
              <a:rPr lang="ar" sz="4600" b="1" dirty="0">
                <a:solidFill>
                  <a:schemeClr val="tx2"/>
                </a:solidFill>
                <a:latin typeface="Sakkal Majalla" panose="02000000000000000000" pitchFamily="2" charset="-78"/>
                <a:cs typeface="Sakkal Majalla" panose="02000000000000000000" pitchFamily="2" charset="-78"/>
              </a:rPr>
              <a:t>مكبرات الترانزستور</a:t>
            </a: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1"/>
          </p:nvPr>
        </p:nvSpPr>
        <p:spPr bwMode="auto">
          <a:xfrm>
            <a:off x="4648199" y="2196001"/>
            <a:ext cx="4027487" cy="40241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marL="0" indent="0" rtl="1">
              <a:lnSpc>
                <a:spcPct val="90000"/>
              </a:lnSpc>
            </a:pPr>
            <a:endParaRPr lang="en-GB" sz="1500" b="1" dirty="0">
              <a:effectLst/>
            </a:endParaRPr>
          </a:p>
          <a:p>
            <a:pPr marL="0" indent="0" rtl="1">
              <a:lnSpc>
                <a:spcPct val="90000"/>
              </a:lnSpc>
              <a:buNone/>
            </a:pPr>
            <a:r>
              <a:rPr lang="ar" sz="1500" b="1" dirty="0">
                <a:effectLst/>
              </a:rPr>
              <a:t>التطبيقات</a:t>
            </a:r>
          </a:p>
          <a:p>
            <a:pPr marL="0" indent="0" rtl="1">
              <a:lnSpc>
                <a:spcPct val="90000"/>
              </a:lnSpc>
            </a:pPr>
            <a:endParaRPr lang="en-GB" sz="1500" b="1" dirty="0">
              <a:effectLst/>
            </a:endParaRPr>
          </a:p>
          <a:p>
            <a:pPr rtl="1">
              <a:lnSpc>
                <a:spcPct val="90000"/>
              </a:lnSpc>
            </a:pPr>
            <a:r>
              <a:rPr lang="ar" sz="1500" b="1" dirty="0">
                <a:effectLst/>
              </a:rPr>
              <a:t>المكبرات من الفئة أ</a:t>
            </a:r>
            <a:r>
              <a:rPr lang="ar" sz="1500" dirty="0">
                <a:effectLst/>
              </a:rPr>
              <a:t>: توفر مكبرًا صوتيًا عالي الجودة مع تشويه منخفض.</a:t>
            </a:r>
          </a:p>
          <a:p>
            <a:pPr rtl="1">
              <a:lnSpc>
                <a:spcPct val="90000"/>
              </a:lnSpc>
            </a:pPr>
            <a:endParaRPr lang="en-GB" sz="1500" dirty="0">
              <a:effectLst/>
            </a:endParaRPr>
          </a:p>
          <a:p>
            <a:pPr rtl="1">
              <a:lnSpc>
                <a:spcPct val="90000"/>
              </a:lnSpc>
            </a:pPr>
            <a:r>
              <a:rPr lang="ar" sz="1500" b="1" dirty="0">
                <a:effectLst/>
              </a:rPr>
              <a:t>المكبرات من الفئة ب: </a:t>
            </a:r>
            <a:r>
              <a:rPr lang="ar" sz="1500" dirty="0">
                <a:effectLst/>
              </a:rPr>
              <a:t>تعمل على تكبير الإشارات الصوتية بكفاءة باستخدام ترانزستور للنصفين الموجب والسالب من شكل الموجة.</a:t>
            </a:r>
          </a:p>
          <a:p>
            <a:pPr rtl="1">
              <a:lnSpc>
                <a:spcPct val="90000"/>
              </a:lnSpc>
            </a:pPr>
            <a:endParaRPr lang="en-GB" sz="1500" dirty="0">
              <a:effectLst/>
            </a:endParaRPr>
          </a:p>
          <a:p>
            <a:pPr rtl="1">
              <a:lnSpc>
                <a:spcPct val="90000"/>
              </a:lnSpc>
            </a:pPr>
            <a:r>
              <a:rPr lang="ar" sz="1500" b="1" dirty="0">
                <a:effectLst/>
              </a:rPr>
              <a:t>المكبرات من الفئتين أ وب: </a:t>
            </a:r>
            <a:r>
              <a:rPr lang="ar" sz="1500" dirty="0">
                <a:effectLst/>
              </a:rPr>
              <a:t>تجمع بين مزايا المكبرات من الفئة أ والفئة ب، ما يوفر تشويهًا منخفضًا وكفاءة محسنة.</a:t>
            </a:r>
          </a:p>
          <a:p>
            <a:pPr rtl="1">
              <a:lnSpc>
                <a:spcPct val="90000"/>
              </a:lnSpc>
            </a:pPr>
            <a:endParaRPr lang="en-GB" sz="1500" dirty="0">
              <a:effectLst/>
            </a:endParaRPr>
          </a:p>
          <a:p>
            <a:pPr rtl="1">
              <a:lnSpc>
                <a:spcPct val="90000"/>
              </a:lnSpc>
            </a:pPr>
            <a:r>
              <a:rPr lang="ar" sz="1500" b="1" dirty="0">
                <a:effectLst/>
              </a:rPr>
              <a:t>المكبرات من الفئة ج: </a:t>
            </a:r>
            <a:r>
              <a:rPr lang="ar" sz="1500" dirty="0">
                <a:effectLst/>
              </a:rPr>
              <a:t>تُستخدَم في التطبيقات التي تتطلب مخرجات طاقة عالية، مثل التكبير لدى ترددات اللاسلكي.</a:t>
            </a:r>
          </a:p>
        </p:txBody>
      </p:sp>
      <p:pic>
        <p:nvPicPr>
          <p:cNvPr id="7" name="Picture 6" descr="A close up of a guitar case&#10;&#10;Description automatically generated">
            <a:extLst>
              <a:ext uri="{FF2B5EF4-FFF2-40B4-BE49-F238E27FC236}">
                <a16:creationId xmlns:a16="http://schemas.microsoft.com/office/drawing/2014/main" id="{FEC55862-98DF-AAF9-C6EF-0CC5D89A8C2C}"/>
              </a:ext>
            </a:extLst>
          </p:cNvPr>
          <p:cNvPicPr>
            <a:picLocks noChangeAspect="1"/>
          </p:cNvPicPr>
          <p:nvPr/>
        </p:nvPicPr>
        <p:blipFill>
          <a:blip r:embed="rId4" cstate="print">
            <a:extLst>
              <a:ext uri="{28A0092B-C50C-407E-A947-70E740481C1C}">
                <a14:useLocalDpi xmlns:a14="http://schemas.microsoft.com/office/drawing/2010/main"/>
              </a:ext>
            </a:extLst>
          </a:blip>
          <a:srcRect l="8078" r="25118" b="3"/>
          <a:stretch/>
        </p:blipFill>
        <p:spPr>
          <a:xfrm>
            <a:off x="468312" y="2196001"/>
            <a:ext cx="4027488" cy="4024100"/>
          </a:xfrm>
          <a:prstGeom prst="rect">
            <a:avLst/>
          </a:prstGeom>
          <a:noFill/>
        </p:spPr>
      </p:pic>
      <p:sp>
        <p:nvSpPr>
          <p:cNvPr id="2" name="Footer Placeholder 2">
            <a:extLst>
              <a:ext uri="{FF2B5EF4-FFF2-40B4-BE49-F238E27FC236}">
                <a16:creationId xmlns:a16="http://schemas.microsoft.com/office/drawing/2014/main" id="{4BF22AC6-EBC8-BD23-DED7-B7947013133F}"/>
              </a:ext>
            </a:extLst>
          </p:cNvPr>
          <p:cNvSpPr txBox="1">
            <a:spLocks/>
          </p:cNvSpPr>
          <p:nvPr/>
        </p:nvSpPr>
        <p:spPr bwMode="auto">
          <a:xfrm>
            <a:off x="107504"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A103000399219</a:t>
            </a:r>
            <a:endParaRPr lang="ar" sz="1000" dirty="0"/>
          </a:p>
        </p:txBody>
      </p:sp>
    </p:spTree>
    <p:extLst>
      <p:ext uri="{BB962C8B-B14F-4D97-AF65-F5344CB8AC3E}">
        <p14:creationId xmlns:p14="http://schemas.microsoft.com/office/powerpoint/2010/main" val="2934499308"/>
      </p:ext>
    </p:extLst>
  </p:cSld>
  <p:clrMapOvr>
    <a:masterClrMapping/>
  </p:clrMapOvr>
  <p:transition>
    <p:sndAc>
      <p:stSnd>
        <p:snd r:embed="rId3"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190346" y="1550871"/>
            <a:ext cx="3700043" cy="403836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800" b="1" dirty="0">
                <a:effectLst/>
              </a:rPr>
              <a:t>الخصائص</a:t>
            </a:r>
          </a:p>
          <a:p>
            <a:pPr marL="0" indent="0" rtl="1">
              <a:buNone/>
            </a:pPr>
            <a:endParaRPr lang="en-GB" sz="1800" b="1" dirty="0">
              <a:effectLst/>
            </a:endParaRPr>
          </a:p>
          <a:p>
            <a:pPr marL="0" indent="0" rtl="1">
              <a:buNone/>
            </a:pPr>
            <a:r>
              <a:rPr lang="ar" sz="1800" b="1" dirty="0">
                <a:effectLst/>
              </a:rPr>
              <a:t>الكسب: </a:t>
            </a:r>
            <a:r>
              <a:rPr lang="ar" sz="1800" dirty="0">
                <a:effectLst/>
              </a:rPr>
              <a:t>عامل </a:t>
            </a:r>
            <a:r>
              <a:rPr lang="ar-EG" sz="1800" dirty="0">
                <a:effectLst/>
              </a:rPr>
              <a:t>ال</a:t>
            </a:r>
            <a:r>
              <a:rPr lang="ar" sz="1800" dirty="0">
                <a:effectLst/>
              </a:rPr>
              <a:t>تكبير لمكبر الترانزستور الذي يحدد مستوى إشارة الخرج مقارنة بمستوى إشارة الدخل.</a:t>
            </a:r>
          </a:p>
          <a:p>
            <a:pPr marL="0" indent="0" rtl="1">
              <a:buNone/>
            </a:pPr>
            <a:endParaRPr lang="en-GB" sz="1800" dirty="0">
              <a:effectLst/>
            </a:endParaRPr>
          </a:p>
          <a:p>
            <a:pPr marL="0" indent="0" rtl="1">
              <a:buNone/>
            </a:pPr>
            <a:r>
              <a:rPr lang="ar" sz="1800" b="1" dirty="0">
                <a:effectLst/>
              </a:rPr>
              <a:t>النطاق الترددي</a:t>
            </a:r>
            <a:r>
              <a:rPr lang="ar" sz="1800" dirty="0">
                <a:effectLst/>
              </a:rPr>
              <a:t>: نطاق الترددات التي يمكن لمكبر الترانزستور تكبيرها بفعال</a:t>
            </a:r>
            <a:r>
              <a:rPr lang="ar-EG" sz="1800" dirty="0" err="1">
                <a:effectLst/>
              </a:rPr>
              <a:t>ية</a:t>
            </a:r>
            <a:r>
              <a:rPr lang="ar" sz="1800" dirty="0">
                <a:effectLst/>
              </a:rPr>
              <a:t>.</a:t>
            </a:r>
          </a:p>
          <a:p>
            <a:pPr marL="0" indent="0" rtl="1">
              <a:buNone/>
            </a:pPr>
            <a:endParaRPr lang="en-GB" sz="1800" dirty="0">
              <a:effectLst/>
            </a:endParaRPr>
          </a:p>
          <a:p>
            <a:pPr marL="0" indent="0" rtl="1">
              <a:buNone/>
            </a:pPr>
            <a:r>
              <a:rPr lang="ar" sz="1800" b="1" dirty="0">
                <a:effectLst/>
              </a:rPr>
              <a:t>الاعتماد على قيم المكونات: </a:t>
            </a:r>
            <a:r>
              <a:rPr lang="ar" sz="1800" dirty="0">
                <a:effectLst/>
              </a:rPr>
              <a:t>يتأثر أداء مكبر الترانزستور بقيم مكوناته، مثل المقاومات والمكثفات.</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44015" y="332656"/>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600" b="1" dirty="0">
                <a:latin typeface="Sakkal Majalla" panose="02000000000000000000" pitchFamily="2" charset="-78"/>
                <a:cs typeface="Sakkal Majalla" panose="02000000000000000000" pitchFamily="2" charset="-78"/>
              </a:rPr>
              <a:t>مكبرات الترانزستور</a:t>
            </a:r>
          </a:p>
        </p:txBody>
      </p:sp>
      <p:pic>
        <p:nvPicPr>
          <p:cNvPr id="8" name="Picture 7">
            <a:extLst>
              <a:ext uri="{FF2B5EF4-FFF2-40B4-BE49-F238E27FC236}">
                <a16:creationId xmlns:a16="http://schemas.microsoft.com/office/drawing/2014/main" id="{48D2B186-E56D-120B-A3DE-F0C38EA76601}"/>
              </a:ext>
            </a:extLst>
          </p:cNvPr>
          <p:cNvPicPr>
            <a:picLocks noChangeAspect="1"/>
          </p:cNvPicPr>
          <p:nvPr/>
        </p:nvPicPr>
        <p:blipFill>
          <a:blip r:embed="rId4">
            <a:extLst>
              <a:ext uri="{28A0092B-C50C-407E-A947-70E740481C1C}">
                <a14:useLocalDpi xmlns:a14="http://schemas.microsoft.com/office/drawing/2010/main"/>
              </a:ext>
            </a:extLst>
          </a:blip>
          <a:srcRect/>
          <a:stretch/>
        </p:blipFill>
        <p:spPr>
          <a:xfrm>
            <a:off x="544015" y="2915123"/>
            <a:ext cx="4174372" cy="1963289"/>
          </a:xfrm>
          <a:prstGeom prst="rect">
            <a:avLst/>
          </a:prstGeom>
        </p:spPr>
      </p:pic>
      <p:sp>
        <p:nvSpPr>
          <p:cNvPr id="2" name="Footer Placeholder 2">
            <a:extLst>
              <a:ext uri="{FF2B5EF4-FFF2-40B4-BE49-F238E27FC236}">
                <a16:creationId xmlns:a16="http://schemas.microsoft.com/office/drawing/2014/main" id="{9778F9C8-C26A-500A-836D-883B0101362F}"/>
              </a:ext>
            </a:extLst>
          </p:cNvPr>
          <p:cNvSpPr txBox="1">
            <a:spLocks/>
          </p:cNvSpPr>
          <p:nvPr/>
        </p:nvSpPr>
        <p:spPr bwMode="auto">
          <a:xfrm>
            <a:off x="107504"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A103000399219</a:t>
            </a:r>
            <a:endParaRPr lang="ar" sz="1000" dirty="0"/>
          </a:p>
        </p:txBody>
      </p:sp>
    </p:spTree>
    <p:extLst>
      <p:ext uri="{BB962C8B-B14F-4D97-AF65-F5344CB8AC3E}">
        <p14:creationId xmlns:p14="http://schemas.microsoft.com/office/powerpoint/2010/main" val="3638658225"/>
      </p:ext>
    </p:extLst>
  </p:cSld>
  <p:clrMapOvr>
    <a:masterClrMapping/>
  </p:clrMapOvr>
  <p:transition>
    <p:sndAc>
      <p:stSnd>
        <p:snd r:embed="rId3"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004048" y="1340768"/>
            <a:ext cx="3824298" cy="50131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EG" sz="1600" dirty="0">
                <a:effectLst/>
              </a:rPr>
              <a:t>ال</a:t>
            </a:r>
            <a:r>
              <a:rPr lang="ar" sz="1600" dirty="0">
                <a:effectLst/>
              </a:rPr>
              <a:t>مذبذب LC عبارة عن دائرة إلكترونية تناظرية تستخدم ملفًا حثيًا (L) ومكثفًا (C) لتوليد إشارة متذبذبة. ويشيع استخدامه في تطبيقات الترددات الراديوية (RF).</a:t>
            </a:r>
            <a:endParaRPr lang="en-GB" sz="1600" dirty="0"/>
          </a:p>
          <a:p>
            <a:pPr indent="0" rtl="1">
              <a:buNone/>
            </a:pPr>
            <a:endParaRPr lang="en-GB" sz="1600" b="1" dirty="0"/>
          </a:p>
          <a:p>
            <a:pPr marL="0" indent="0" rtl="1">
              <a:buNone/>
            </a:pPr>
            <a:r>
              <a:rPr lang="ar" sz="1600" b="1" dirty="0">
                <a:effectLst/>
              </a:rPr>
              <a:t>المذبذب البلوري</a:t>
            </a:r>
            <a:endParaRPr lang="en-GB" sz="1600" b="1" dirty="0"/>
          </a:p>
          <a:p>
            <a:pPr rtl="1"/>
            <a:r>
              <a:rPr lang="ar" sz="1600" dirty="0">
                <a:effectLst/>
              </a:rPr>
              <a:t>المذبذب البلوري عبارة عن دائرة إلكترونية تناظرية تستخدم الرنين الميكانيكي للبلورة المهتزة لتوليد إشارة متذبذبة. ويوفر ثباتًا ودقة عاليين </a:t>
            </a:r>
            <a:r>
              <a:rPr lang="ar-EG" sz="1600" dirty="0">
                <a:effectLst/>
              </a:rPr>
              <a:t>ويشيع استخدامه </a:t>
            </a:r>
            <a:r>
              <a:rPr lang="ar" sz="1600" dirty="0">
                <a:effectLst/>
              </a:rPr>
              <a:t>في تطبيقات التوقيت.</a:t>
            </a:r>
            <a:endParaRPr lang="en-GB" sz="1600" dirty="0"/>
          </a:p>
          <a:p>
            <a:pPr indent="0" rtl="1">
              <a:buNone/>
            </a:pPr>
            <a:endParaRPr lang="en-GB" sz="1600" b="1" dirty="0"/>
          </a:p>
          <a:p>
            <a:pPr marL="0" indent="0" rtl="1">
              <a:buNone/>
            </a:pPr>
            <a:r>
              <a:rPr lang="ar" sz="1600" b="1" dirty="0">
                <a:effectLst/>
              </a:rPr>
              <a:t>مذبذب/مؤقت الدائرة المتكاملة</a:t>
            </a:r>
            <a:endParaRPr lang="en-GB" sz="1600" b="1" dirty="0"/>
          </a:p>
          <a:p>
            <a:pPr rtl="1"/>
            <a:r>
              <a:rPr lang="ar" sz="1600" dirty="0">
                <a:effectLst/>
              </a:rPr>
              <a:t>مذبذب/مؤقت الدائرة المتكاملة عبارة عن دائرة تناظرية أحادية الوظيفة تجمع بين المذبذب والمؤقت في دائرة متكاملة واحدة. وتُستخدم </a:t>
            </a:r>
            <a:r>
              <a:rPr lang="ar-EG" sz="1600" dirty="0"/>
              <a:t>في</a:t>
            </a:r>
            <a:r>
              <a:rPr lang="ar" sz="1600" dirty="0">
                <a:effectLst/>
              </a:rPr>
              <a:t> نطاق واسع في العديد من الأجهزة والتطبيقات الإلكترونية.</a:t>
            </a:r>
            <a:endParaRPr lang="en-GB" sz="1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44015" y="332656"/>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600" b="1" dirty="0">
                <a:latin typeface="Sakkal Majalla" panose="02000000000000000000" pitchFamily="2" charset="-78"/>
                <a:cs typeface="Sakkal Majalla" panose="02000000000000000000" pitchFamily="2" charset="-78"/>
              </a:rPr>
              <a:t>مذبذب الملف والمكثف (LC)</a:t>
            </a:r>
          </a:p>
        </p:txBody>
      </p:sp>
      <p:pic>
        <p:nvPicPr>
          <p:cNvPr id="3" name="Picture 2" descr="A close-up of a circuit board&#10;&#10;Description automatically generated">
            <a:extLst>
              <a:ext uri="{FF2B5EF4-FFF2-40B4-BE49-F238E27FC236}">
                <a16:creationId xmlns:a16="http://schemas.microsoft.com/office/drawing/2014/main" id="{2705E842-0E58-BFE8-E0C3-6E1087E4DF7F}"/>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76064" y="2420888"/>
            <a:ext cx="4067944" cy="2711963"/>
          </a:xfrm>
          <a:prstGeom prst="rect">
            <a:avLst/>
          </a:prstGeom>
        </p:spPr>
      </p:pic>
      <p:sp>
        <p:nvSpPr>
          <p:cNvPr id="2" name="Footer Placeholder 2">
            <a:extLst>
              <a:ext uri="{FF2B5EF4-FFF2-40B4-BE49-F238E27FC236}">
                <a16:creationId xmlns:a16="http://schemas.microsoft.com/office/drawing/2014/main" id="{F54837EF-2A68-6174-F5CB-FBDFC06E6A3D}"/>
              </a:ext>
            </a:extLst>
          </p:cNvPr>
          <p:cNvSpPr txBox="1">
            <a:spLocks/>
          </p:cNvSpPr>
          <p:nvPr/>
        </p:nvSpPr>
        <p:spPr bwMode="auto">
          <a:xfrm>
            <a:off x="107504"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A103000399219</a:t>
            </a:r>
            <a:endParaRPr lang="ar" sz="1000" dirty="0"/>
          </a:p>
        </p:txBody>
      </p:sp>
    </p:spTree>
    <p:extLst>
      <p:ext uri="{BB962C8B-B14F-4D97-AF65-F5344CB8AC3E}">
        <p14:creationId xmlns:p14="http://schemas.microsoft.com/office/powerpoint/2010/main" val="2133945393"/>
      </p:ext>
    </p:extLst>
  </p:cSld>
  <p:clrMapOvr>
    <a:masterClrMapping/>
  </p:clrMapOvr>
  <p:transition>
    <p:sndAc>
      <p:stSnd>
        <p:snd r:embed="rId3"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spcAft>
                <a:spcPts val="600"/>
              </a:spcAft>
            </a:pPr>
            <a:r>
              <a:rPr lang="ar" sz="4600" b="1" dirty="0">
                <a:solidFill>
                  <a:schemeClr val="tx2"/>
                </a:solidFill>
                <a:latin typeface="Sakkal Majalla" panose="02000000000000000000" pitchFamily="2" charset="-78"/>
                <a:cs typeface="Sakkal Majalla" panose="02000000000000000000" pitchFamily="2" charset="-78"/>
              </a:rPr>
              <a:t>مذبذب الملف والمكثف (LC)</a:t>
            </a:r>
          </a:p>
        </p:txBody>
      </p:sp>
      <p:pic>
        <p:nvPicPr>
          <p:cNvPr id="5" name="Picture 4" descr="A green and yellow line graph&#10;&#10;Description automatically generated">
            <a:extLst>
              <a:ext uri="{FF2B5EF4-FFF2-40B4-BE49-F238E27FC236}">
                <a16:creationId xmlns:a16="http://schemas.microsoft.com/office/drawing/2014/main" id="{144507FE-3F3D-8741-6504-983BFBABEAF0}"/>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649893" y="2196001"/>
            <a:ext cx="4024100" cy="4024100"/>
          </a:xfrm>
          <a:prstGeom prst="rect">
            <a:avLst/>
          </a:prstGeom>
          <a:noFill/>
        </p:spPr>
      </p:pic>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8312" y="2196001"/>
            <a:ext cx="4027488" cy="40241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indent="0" rtl="1">
              <a:lnSpc>
                <a:spcPct val="90000"/>
              </a:lnSpc>
            </a:pPr>
            <a:endParaRPr lang="en-GB" sz="1700" b="1" dirty="0"/>
          </a:p>
          <a:p>
            <a:pPr marL="0" indent="0" rtl="1">
              <a:lnSpc>
                <a:spcPct val="90000"/>
              </a:lnSpc>
              <a:buNone/>
            </a:pPr>
            <a:r>
              <a:rPr lang="ar" sz="1700" b="1" dirty="0">
                <a:effectLst/>
              </a:rPr>
              <a:t>مذبذب الموجة الجيبية والموجة المربعة</a:t>
            </a:r>
            <a:endParaRPr lang="en-GB" sz="1700" b="1" dirty="0"/>
          </a:p>
          <a:p>
            <a:pPr rtl="1">
              <a:lnSpc>
                <a:spcPct val="90000"/>
              </a:lnSpc>
            </a:pPr>
            <a:r>
              <a:rPr lang="ar" sz="1700" dirty="0">
                <a:effectLst/>
              </a:rPr>
              <a:t>مذبذبات الموجة الجيبية والموجة المربعة عبارة عن دوائر إلكترونية تناظرية تولد إشارات جيبية (مثلث</a:t>
            </a:r>
            <a:r>
              <a:rPr lang="ar-EG" sz="1700" dirty="0"/>
              <a:t>ات</a:t>
            </a:r>
            <a:r>
              <a:rPr lang="ar" sz="1700" dirty="0">
                <a:effectLst/>
              </a:rPr>
              <a:t>) أو مربعة على التوالي. وتُستخدم في العديد من التطبيقات</a:t>
            </a:r>
            <a:r>
              <a:rPr lang="ar-EG" sz="1700" dirty="0"/>
              <a:t> </a:t>
            </a:r>
            <a:r>
              <a:rPr lang="ar-EG" sz="1700" dirty="0">
                <a:effectLst/>
              </a:rPr>
              <a:t>التي تشمل</a:t>
            </a:r>
            <a:r>
              <a:rPr lang="ar" sz="1700" dirty="0">
                <a:effectLst/>
              </a:rPr>
              <a:t> توليد الأصوات والأشكال الموجية.</a:t>
            </a:r>
            <a:endParaRPr lang="en-GB" sz="1700" dirty="0"/>
          </a:p>
          <a:p>
            <a:pPr indent="0" rtl="1">
              <a:lnSpc>
                <a:spcPct val="90000"/>
              </a:lnSpc>
              <a:buNone/>
            </a:pPr>
            <a:endParaRPr lang="en-GB" sz="1700" b="1" dirty="0"/>
          </a:p>
          <a:p>
            <a:pPr marL="0" indent="0" rtl="1">
              <a:lnSpc>
                <a:spcPct val="90000"/>
              </a:lnSpc>
              <a:buNone/>
            </a:pPr>
            <a:r>
              <a:rPr lang="ar" sz="1700" b="1" dirty="0"/>
              <a:t>خصائص المذبذبات</a:t>
            </a:r>
          </a:p>
          <a:p>
            <a:pPr rtl="1">
              <a:lnSpc>
                <a:spcPct val="90000"/>
              </a:lnSpc>
            </a:pPr>
            <a:r>
              <a:rPr lang="ar" sz="1700" dirty="0"/>
              <a:t>تعتمد المذبذبات على ردود الفعل الإيجابية للحفاظ على التذبذب. تتضمن الشروط الضرورية للتذبذب كسب الحلقة الكافي، والتحول المناسب للطور، والاستجابة الترددية المناسبة.</a:t>
            </a:r>
          </a:p>
        </p:txBody>
      </p:sp>
      <p:sp>
        <p:nvSpPr>
          <p:cNvPr id="2" name="Footer Placeholder 2">
            <a:extLst>
              <a:ext uri="{FF2B5EF4-FFF2-40B4-BE49-F238E27FC236}">
                <a16:creationId xmlns:a16="http://schemas.microsoft.com/office/drawing/2014/main" id="{521C6F54-4725-F20E-0F72-561B32618B9B}"/>
              </a:ext>
            </a:extLst>
          </p:cNvPr>
          <p:cNvSpPr txBox="1">
            <a:spLocks/>
          </p:cNvSpPr>
          <p:nvPr/>
        </p:nvSpPr>
        <p:spPr bwMode="auto">
          <a:xfrm>
            <a:off x="107504"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A103000399219</a:t>
            </a:r>
            <a:endParaRPr lang="ar" sz="1000" dirty="0"/>
          </a:p>
        </p:txBody>
      </p:sp>
    </p:spTree>
    <p:extLst>
      <p:ext uri="{BB962C8B-B14F-4D97-AF65-F5344CB8AC3E}">
        <p14:creationId xmlns:p14="http://schemas.microsoft.com/office/powerpoint/2010/main" val="1315434725"/>
      </p:ext>
    </p:extLst>
  </p:cSld>
  <p:clrMapOvr>
    <a:masterClrMapping/>
  </p:clrMapOvr>
  <p:transition>
    <p:sndAc>
      <p:stSnd>
        <p:snd r:embed="rId3"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0" y="1268760"/>
            <a:ext cx="9144000" cy="55892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1600" b="1" dirty="0"/>
              <a:t>نظرة عامة</a:t>
            </a:r>
            <a:endParaRPr lang="en-GB" sz="1600" dirty="0"/>
          </a:p>
          <a:p>
            <a:pPr indent="0" rtl="1">
              <a:buNone/>
            </a:pPr>
            <a:r>
              <a:rPr lang="ar" sz="1600" dirty="0"/>
              <a:t>تعد طرق المحاكاة ضرورية في تصميم الدوائر التناظرية للتنبؤ بالأداء وتحديد المشكلات المحتملة وتوفير الوقت والتكلفة قبل</a:t>
            </a:r>
            <a:r>
              <a:rPr lang="ar-EG" sz="1600" dirty="0"/>
              <a:t> بناء</a:t>
            </a:r>
            <a:r>
              <a:rPr lang="ar" sz="1600" dirty="0"/>
              <a:t> النماذج الأولية المادية.</a:t>
            </a:r>
          </a:p>
          <a:p>
            <a:pPr indent="0" rtl="1">
              <a:buNone/>
            </a:pPr>
            <a:endParaRPr lang="en-GB" sz="1600" dirty="0"/>
          </a:p>
          <a:p>
            <a:pPr indent="0" rtl="1">
              <a:buNone/>
            </a:pPr>
            <a:r>
              <a:rPr lang="ar" sz="1600" b="1" dirty="0"/>
              <a:t>أدوات المحاكاة الشائعة:</a:t>
            </a:r>
          </a:p>
          <a:p>
            <a:pPr marL="514350" indent="-171450" rtl="1">
              <a:buFont typeface="Arial" panose="020B0604020202020204" pitchFamily="34" charset="0"/>
              <a:buChar char="•"/>
            </a:pPr>
            <a:r>
              <a:rPr lang="ar" sz="1600" dirty="0"/>
              <a:t>برنامج المحاكاة مع التركيز على الدوائر المتكاملة (SPICE): يُستخدم في نطاق واسع لمحاكاة الدوائر التناظرية، ما يسمح للمصممين بنمذجة سلوك المكونات الكهربائية.</a:t>
            </a:r>
          </a:p>
          <a:p>
            <a:pPr marL="514350" indent="-171450" rtl="1">
              <a:buFont typeface="Arial" panose="020B0604020202020204" pitchFamily="34" charset="0"/>
              <a:buChar char="•"/>
            </a:pPr>
            <a:r>
              <a:rPr lang="ar" sz="1600" dirty="0"/>
              <a:t>LTspice: إصدار مجاني عالي الأداء من برنامج SPICE، يستخدم لمحاكاة كل من دوائر الإشارات التناظرية والمختلطة.</a:t>
            </a:r>
          </a:p>
          <a:p>
            <a:pPr marL="514350" indent="-171450" rtl="1">
              <a:buFont typeface="Arial" panose="020B0604020202020204" pitchFamily="34" charset="0"/>
              <a:buChar char="•"/>
            </a:pPr>
            <a:r>
              <a:rPr lang="ar" sz="1600" dirty="0"/>
              <a:t>Multisim: أداة محاكاة سهلة الاستخدام تتكامل مع الأجهزة لاختبار وتحليل الدوائر التناظرية في الوقت الفعلي.</a:t>
            </a:r>
          </a:p>
          <a:p>
            <a:pPr indent="0" rtl="1">
              <a:buNone/>
            </a:pPr>
            <a:r>
              <a:rPr lang="ar" sz="1600" b="1" dirty="0"/>
              <a:t>فوائد المحاكاة:</a:t>
            </a:r>
          </a:p>
          <a:p>
            <a:pPr marL="514350" indent="-171450" rtl="1">
              <a:buFont typeface="Arial" panose="020B0604020202020204" pitchFamily="34" charset="0"/>
              <a:buChar char="•"/>
            </a:pPr>
            <a:r>
              <a:rPr lang="ar" sz="1600" dirty="0"/>
              <a:t>الكشف المبكر عن المشكلات: تساعد عمليات المحاكاة في تحديد المشكلات الخاصة بسلوك الدائرة، مثل تقلبات الجهد أو المشكلات الحرارية أو عدم الاستقرار.</a:t>
            </a:r>
          </a:p>
          <a:p>
            <a:pPr marL="514350" indent="-171450" rtl="1">
              <a:buFont typeface="Arial" panose="020B0604020202020204" pitchFamily="34" charset="0"/>
              <a:buChar char="•"/>
            </a:pPr>
            <a:r>
              <a:rPr lang="ar" sz="1600" dirty="0"/>
              <a:t>التحسين: </a:t>
            </a:r>
            <a:r>
              <a:rPr lang="ar-EG" sz="1600" dirty="0"/>
              <a:t>بفضل </a:t>
            </a:r>
            <a:r>
              <a:rPr lang="ar" sz="1600" dirty="0"/>
              <a:t>تعديل قيم المكونات وتكوينات الدوائر في المحاكاة، يمكن للمهندسين تحسين الأداء دون الحاجة إلى مكونات مادية.</a:t>
            </a:r>
          </a:p>
          <a:p>
            <a:pPr marL="514350" indent="-171450" rtl="1">
              <a:buFont typeface="Arial" panose="020B0604020202020204" pitchFamily="34" charset="0"/>
              <a:buChar char="•"/>
            </a:pPr>
            <a:r>
              <a:rPr lang="ar" sz="1600" dirty="0"/>
              <a:t>كفاءة التكلفة: تقلل محاكاة الدوائر من الحاجة إلى النماذج الأولية المتكررة وتقليل التكاليف وتسريع عملية التطوير.</a:t>
            </a:r>
          </a:p>
          <a:p>
            <a:pPr indent="0" rtl="1">
              <a:buNone/>
            </a:pPr>
            <a:r>
              <a:rPr lang="ar" sz="1600" b="1" dirty="0"/>
              <a:t>تطبيقات في الدوائر التناظرية: </a:t>
            </a:r>
          </a:p>
          <a:p>
            <a:pPr marL="514350" indent="-171450" rtl="1">
              <a:buFont typeface="Arial" panose="020B0604020202020204" pitchFamily="34" charset="0"/>
              <a:buChar char="•"/>
            </a:pPr>
            <a:r>
              <a:rPr lang="ar" sz="1600" dirty="0"/>
              <a:t>التحقق من مواصفات التصميم</a:t>
            </a:r>
            <a:r>
              <a:rPr lang="ar-EG" sz="1600" dirty="0"/>
              <a:t>،</a:t>
            </a:r>
            <a:r>
              <a:rPr lang="ar" sz="1600" dirty="0"/>
              <a:t> مثل سلامة الإشارة وكفاءة الطاقة وسماحيات المكونات.</a:t>
            </a:r>
          </a:p>
          <a:p>
            <a:pPr marL="514350" indent="-171450" rtl="1">
              <a:buFont typeface="Arial" panose="020B0604020202020204" pitchFamily="34" charset="0"/>
              <a:buChar char="•"/>
            </a:pPr>
            <a:r>
              <a:rPr lang="ar" sz="1600" dirty="0"/>
              <a:t>اختبار تأثير التغيرات البيئية (مثل التغيرات في درجات الحرارة) على أداء الدائرة.</a:t>
            </a:r>
          </a:p>
          <a:p>
            <a:pPr marL="514350" indent="-171450" rtl="1">
              <a:buFont typeface="Arial" panose="020B0604020202020204" pitchFamily="34" charset="0"/>
              <a:buChar char="•"/>
            </a:pPr>
            <a:r>
              <a:rPr lang="ar" sz="1600" dirty="0"/>
              <a:t>محاكاة حالات الاستخدام الواقعية وظروف الإجهاد.</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44015" y="332656"/>
            <a:ext cx="8568951" cy="3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600" b="1" dirty="0">
                <a:latin typeface="Sakkal Majalla" panose="02000000000000000000" pitchFamily="2" charset="-78"/>
                <a:cs typeface="Sakkal Majalla" panose="02000000000000000000" pitchFamily="2" charset="-78"/>
              </a:rPr>
              <a:t>طرق محاكاة  الدوائر التناظرية</a:t>
            </a:r>
          </a:p>
        </p:txBody>
      </p:sp>
      <p:sp>
        <p:nvSpPr>
          <p:cNvPr id="2" name="Footer Placeholder 2">
            <a:extLst>
              <a:ext uri="{FF2B5EF4-FFF2-40B4-BE49-F238E27FC236}">
                <a16:creationId xmlns:a16="http://schemas.microsoft.com/office/drawing/2014/main" id="{DB650572-24CC-4FAA-B875-E2A6E8D77CF7}"/>
              </a:ext>
            </a:extLst>
          </p:cNvPr>
          <p:cNvSpPr txBox="1">
            <a:spLocks/>
          </p:cNvSpPr>
          <p:nvPr/>
        </p:nvSpPr>
        <p:spPr bwMode="auto">
          <a:xfrm>
            <a:off x="107504"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A103000399219</a:t>
            </a:r>
            <a:endParaRPr lang="ar" sz="1000" dirty="0"/>
          </a:p>
        </p:txBody>
      </p:sp>
    </p:spTree>
    <p:extLst>
      <p:ext uri="{BB962C8B-B14F-4D97-AF65-F5344CB8AC3E}">
        <p14:creationId xmlns:p14="http://schemas.microsoft.com/office/powerpoint/2010/main" val="2348866231"/>
      </p:ext>
    </p:extLst>
  </p:cSld>
  <p:clrMapOvr>
    <a:masterClrMapping/>
  </p:clrMapOvr>
  <p:transition>
    <p:sndAc>
      <p:stSnd>
        <p:snd r:embed="rId3"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678486" y="1195200"/>
            <a:ext cx="3008313" cy="865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b"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spcAft>
                <a:spcPts val="600"/>
              </a:spcAft>
            </a:pPr>
            <a:r>
              <a:rPr lang="ar" sz="2200" b="1" dirty="0">
                <a:solidFill>
                  <a:schemeClr val="tx2"/>
                </a:solidFill>
                <a:latin typeface="Sakkal Majalla" panose="02000000000000000000" pitchFamily="2" charset="-78"/>
                <a:cs typeface="Sakkal Majalla" panose="02000000000000000000" pitchFamily="2" charset="-78"/>
              </a:rPr>
              <a:t>تطبيقات الاتصالات</a:t>
            </a: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type="body" sz="half" idx="2"/>
          </p:nvPr>
        </p:nvSpPr>
        <p:spPr bwMode="auto">
          <a:xfrm>
            <a:off x="5678486" y="2132857"/>
            <a:ext cx="3008313" cy="4248471"/>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Autofit/>
          </a:bodyPr>
          <a:lstStyle/>
          <a:p>
            <a:pPr rtl="1">
              <a:lnSpc>
                <a:spcPct val="90000"/>
              </a:lnSpc>
            </a:pPr>
            <a:r>
              <a:rPr lang="ar" b="1" dirty="0">
                <a:ea typeface="Arial" charset="0"/>
              </a:rPr>
              <a:t>إرسال الاتصالات اللاسلكية واستقبالها:</a:t>
            </a:r>
          </a:p>
          <a:p>
            <a:pPr rtl="1">
              <a:lnSpc>
                <a:spcPct val="90000"/>
              </a:lnSpc>
            </a:pPr>
            <a:r>
              <a:rPr lang="ar" dirty="0">
                <a:ea typeface="Arial" charset="0"/>
              </a:rPr>
              <a:t>تستخدم الدوائر التناظرية أحادية الوظيفة في إرسال الاتصالات اللاسلكية واستقبالها. حيث تتيح هذه الدوائر نقل المعلومات من خلال موجات الراديو.</a:t>
            </a:r>
          </a:p>
          <a:p>
            <a:pPr rtl="1">
              <a:lnSpc>
                <a:spcPct val="90000"/>
              </a:lnSpc>
            </a:pPr>
            <a:endParaRPr lang="en-US" dirty="0">
              <a:ea typeface="Arial" charset="0"/>
            </a:endParaRPr>
          </a:p>
          <a:p>
            <a:pPr rtl="1">
              <a:lnSpc>
                <a:spcPct val="90000"/>
              </a:lnSpc>
            </a:pPr>
            <a:r>
              <a:rPr lang="ar" b="1" dirty="0">
                <a:ea typeface="Arial" charset="0"/>
              </a:rPr>
              <a:t>الدوائر ذات السعة المعدلة (AM):</a:t>
            </a:r>
          </a:p>
          <a:p>
            <a:pPr rtl="1">
              <a:lnSpc>
                <a:spcPct val="90000"/>
              </a:lnSpc>
            </a:pPr>
            <a:r>
              <a:rPr lang="ar" dirty="0">
                <a:ea typeface="Arial" charset="0"/>
              </a:rPr>
              <a:t>تُستخدم الدوائر ذات السعة المعدلة (AM) لبث الإشارات الصوتية عبر مسافات طويلة. تُعدل هذه الدوائر سعة الموجة الحاملة لتشفير المعلومات الصوتية.</a:t>
            </a:r>
          </a:p>
          <a:p>
            <a:pPr rtl="1">
              <a:lnSpc>
                <a:spcPct val="90000"/>
              </a:lnSpc>
            </a:pPr>
            <a:endParaRPr lang="en-US" dirty="0">
              <a:ea typeface="Arial" charset="0"/>
            </a:endParaRPr>
          </a:p>
          <a:p>
            <a:pPr rtl="1">
              <a:lnSpc>
                <a:spcPct val="90000"/>
              </a:lnSpc>
            </a:pPr>
            <a:r>
              <a:rPr lang="ar" b="1" dirty="0">
                <a:ea typeface="Arial" charset="0"/>
              </a:rPr>
              <a:t>الدوائر ذات التردد المعدل (FM):</a:t>
            </a:r>
          </a:p>
          <a:p>
            <a:pPr rtl="1">
              <a:lnSpc>
                <a:spcPct val="90000"/>
              </a:lnSpc>
            </a:pPr>
            <a:r>
              <a:rPr lang="ar-EG" dirty="0">
                <a:ea typeface="Arial" charset="0"/>
              </a:rPr>
              <a:t>يشيع ا</a:t>
            </a:r>
            <a:r>
              <a:rPr lang="ar" dirty="0">
                <a:ea typeface="Arial" charset="0"/>
              </a:rPr>
              <a:t>ستخد</a:t>
            </a:r>
            <a:r>
              <a:rPr lang="ar-EG" dirty="0">
                <a:ea typeface="Arial" charset="0"/>
              </a:rPr>
              <a:t>ا</a:t>
            </a:r>
            <a:r>
              <a:rPr lang="ar" dirty="0">
                <a:ea typeface="Arial" charset="0"/>
              </a:rPr>
              <a:t>م الدوائر ذات التردد المعدل (FM) في البث الإذاعي وأنظمة الاتصالات اللاسلكية. تُعدل هذه الدوائر تردد الموجة الحاملة لتشفير معلومات الصوت أو البيانات.</a:t>
            </a:r>
          </a:p>
          <a:p>
            <a:pPr rtl="1">
              <a:lnSpc>
                <a:spcPct val="90000"/>
              </a:lnSpc>
            </a:pPr>
            <a:endParaRPr lang="en-US" dirty="0">
              <a:ea typeface="Arial" charset="0"/>
            </a:endParaRPr>
          </a:p>
          <a:p>
            <a:pPr rtl="1">
              <a:lnSpc>
                <a:spcPct val="90000"/>
              </a:lnSpc>
            </a:pPr>
            <a:r>
              <a:rPr lang="ar" b="1" dirty="0">
                <a:ea typeface="Arial" charset="0"/>
              </a:rPr>
              <a:t>خصائص الدوائر التناظرية أحادية الوظيفة</a:t>
            </a:r>
          </a:p>
          <a:p>
            <a:pPr rtl="1">
              <a:lnSpc>
                <a:spcPct val="90000"/>
              </a:lnSpc>
            </a:pPr>
            <a:r>
              <a:rPr lang="ar" dirty="0">
                <a:ea typeface="Arial" charset="0"/>
              </a:rPr>
              <a:t>تعرض الدوائر التناظرية أحادية الوظيفة أشكال موجية محددة في نقاط الاختبار الرئيسة. </a:t>
            </a:r>
            <a:r>
              <a:rPr lang="ar-EG" dirty="0">
                <a:ea typeface="Arial" charset="0"/>
              </a:rPr>
              <a:t>و</a:t>
            </a:r>
            <a:r>
              <a:rPr lang="ar" dirty="0">
                <a:ea typeface="Arial" charset="0"/>
              </a:rPr>
              <a:t>توفر هذه الأشكال الموجية معلومات مهمة حول أداء الدوائر ووظائفها.</a:t>
            </a:r>
          </a:p>
          <a:p>
            <a:pPr rtl="1">
              <a:lnSpc>
                <a:spcPct val="90000"/>
              </a:lnSpc>
            </a:pPr>
            <a:endParaRPr lang="en-US" dirty="0">
              <a:ea typeface="Arial" charset="0"/>
            </a:endParaRPr>
          </a:p>
          <a:p>
            <a:pPr rtl="1">
              <a:lnSpc>
                <a:spcPct val="90000"/>
              </a:lnSpc>
            </a:pPr>
            <a:endParaRPr lang="en-US" dirty="0">
              <a:ea typeface="Arial" charset="0"/>
            </a:endParaRPr>
          </a:p>
        </p:txBody>
      </p:sp>
      <p:pic>
        <p:nvPicPr>
          <p:cNvPr id="4" name="Picture 3">
            <a:extLst>
              <a:ext uri="{FF2B5EF4-FFF2-40B4-BE49-F238E27FC236}">
                <a16:creationId xmlns:a16="http://schemas.microsoft.com/office/drawing/2014/main" id="{0263DE24-ED26-7D9A-A72A-1CD956A1049C}"/>
              </a:ext>
            </a:extLst>
          </p:cNvPr>
          <p:cNvPicPr>
            <a:picLocks noChangeAspect="1"/>
          </p:cNvPicPr>
          <p:nvPr/>
        </p:nvPicPr>
        <p:blipFill>
          <a:blip r:embed="rId4">
            <a:extLst>
              <a:ext uri="{28A0092B-C50C-407E-A947-70E740481C1C}">
                <a14:useLocalDpi xmlns:a14="http://schemas.microsoft.com/office/drawing/2010/main"/>
              </a:ext>
            </a:extLst>
          </a:blip>
          <a:srcRect t="11443"/>
          <a:stretch/>
        </p:blipFill>
        <p:spPr>
          <a:xfrm>
            <a:off x="457199" y="2060848"/>
            <a:ext cx="5111751" cy="3507334"/>
          </a:xfrm>
          <a:prstGeom prst="rect">
            <a:avLst/>
          </a:prstGeom>
          <a:noFill/>
        </p:spPr>
      </p:pic>
      <p:sp>
        <p:nvSpPr>
          <p:cNvPr id="2" name="TextBox 1">
            <a:extLst>
              <a:ext uri="{FF2B5EF4-FFF2-40B4-BE49-F238E27FC236}">
                <a16:creationId xmlns:a16="http://schemas.microsoft.com/office/drawing/2014/main" id="{195BB325-D4CF-7618-1A56-8ECC477DD5FE}"/>
              </a:ext>
            </a:extLst>
          </p:cNvPr>
          <p:cNvSpPr txBox="1"/>
          <p:nvPr/>
        </p:nvSpPr>
        <p:spPr>
          <a:xfrm>
            <a:off x="1879481" y="1526597"/>
            <a:ext cx="2301677" cy="584775"/>
          </a:xfrm>
          <a:prstGeom prst="rect">
            <a:avLst/>
          </a:prstGeom>
          <a:noFill/>
        </p:spPr>
        <p:txBody>
          <a:bodyPr wrap="square" rtlCol="0">
            <a:spAutoFit/>
          </a:bodyPr>
          <a:lstStyle/>
          <a:p>
            <a:pPr algn="ctr"/>
            <a:r>
              <a:rPr lang="ar-EG" sz="3200" b="1" dirty="0">
                <a:latin typeface="Sakkal Majalla" panose="02000000000000000000" pitchFamily="2" charset="-78"/>
                <a:cs typeface="Sakkal Majalla" panose="02000000000000000000" pitchFamily="2" charset="-78"/>
              </a:rPr>
              <a:t>أشكال الموجات</a:t>
            </a:r>
            <a:endParaRPr lang="hi-IN" sz="3200" b="1" dirty="0">
              <a:latin typeface="Sakkal Majalla" panose="02000000000000000000" pitchFamily="2" charset="-78"/>
            </a:endParaRPr>
          </a:p>
        </p:txBody>
      </p:sp>
      <p:sp>
        <p:nvSpPr>
          <p:cNvPr id="5" name="Rectangle 4">
            <a:extLst>
              <a:ext uri="{FF2B5EF4-FFF2-40B4-BE49-F238E27FC236}">
                <a16:creationId xmlns:a16="http://schemas.microsoft.com/office/drawing/2014/main" id="{D9F2C6FA-0CE5-D72F-4782-33EEBDF2A05A}"/>
              </a:ext>
            </a:extLst>
          </p:cNvPr>
          <p:cNvSpPr/>
          <p:nvPr/>
        </p:nvSpPr>
        <p:spPr>
          <a:xfrm>
            <a:off x="3079539" y="3185417"/>
            <a:ext cx="988406" cy="23921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6A49513-2A84-7FA6-BCC2-12CE2732349A}"/>
              </a:ext>
            </a:extLst>
          </p:cNvPr>
          <p:cNvSpPr txBox="1"/>
          <p:nvPr/>
        </p:nvSpPr>
        <p:spPr>
          <a:xfrm>
            <a:off x="3003699" y="3175893"/>
            <a:ext cx="1819250" cy="338554"/>
          </a:xfrm>
          <a:prstGeom prst="rect">
            <a:avLst/>
          </a:prstGeom>
          <a:noFill/>
        </p:spPr>
        <p:txBody>
          <a:bodyPr wrap="square" rtlCol="0">
            <a:spAutoFit/>
          </a:bodyPr>
          <a:lstStyle/>
          <a:p>
            <a:r>
              <a:rPr lang="ar-EG" sz="1600" dirty="0">
                <a:latin typeface="Sakkal Majalla" panose="02000000000000000000" pitchFamily="2" charset="-78"/>
                <a:cs typeface="Sakkal Majalla" panose="02000000000000000000" pitchFamily="2" charset="-78"/>
              </a:rPr>
              <a:t>دائرة رقمية ذات سعة معدلة</a:t>
            </a:r>
            <a:endParaRPr lang="hi-IN" sz="1600" dirty="0">
              <a:latin typeface="Sakkal Majalla" panose="02000000000000000000" pitchFamily="2" charset="-78"/>
            </a:endParaRPr>
          </a:p>
        </p:txBody>
      </p:sp>
      <p:sp>
        <p:nvSpPr>
          <p:cNvPr id="6" name="Footer Placeholder 2">
            <a:extLst>
              <a:ext uri="{FF2B5EF4-FFF2-40B4-BE49-F238E27FC236}">
                <a16:creationId xmlns:a16="http://schemas.microsoft.com/office/drawing/2014/main" id="{5EAF1D30-9CFF-2F59-1D46-8618EC967987}"/>
              </a:ext>
            </a:extLst>
          </p:cNvPr>
          <p:cNvSpPr txBox="1">
            <a:spLocks/>
          </p:cNvSpPr>
          <p:nvPr/>
        </p:nvSpPr>
        <p:spPr bwMode="auto">
          <a:xfrm>
            <a:off x="107504"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A103000399219</a:t>
            </a:r>
            <a:endParaRPr lang="ar" sz="1000" dirty="0"/>
          </a:p>
        </p:txBody>
      </p:sp>
    </p:spTree>
    <p:extLst>
      <p:ext uri="{BB962C8B-B14F-4D97-AF65-F5344CB8AC3E}">
        <p14:creationId xmlns:p14="http://schemas.microsoft.com/office/powerpoint/2010/main" val="3282059577"/>
      </p:ext>
    </p:extLst>
  </p:cSld>
  <p:clrMapOvr>
    <a:masterClrMapping/>
  </p:clrMapOvr>
  <p:transition>
    <p:sndAc>
      <p:stSnd>
        <p:snd r:embed="rId3"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79512" y="1268760"/>
            <a:ext cx="3892894" cy="55892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effectLst/>
              </a:rPr>
              <a:t>الإدخال التخطيطي للدوائر التناظرية أحادية الوظيفة</a:t>
            </a:r>
            <a:endParaRPr lang="en-GB" sz="1600" b="1" dirty="0"/>
          </a:p>
          <a:p>
            <a:pPr marL="0" indent="0" rtl="1">
              <a:buNone/>
            </a:pPr>
            <a:r>
              <a:rPr lang="ar" sz="1600" dirty="0">
                <a:effectLst/>
              </a:rPr>
              <a:t>الإدخال التخطيطي </a:t>
            </a:r>
            <a:r>
              <a:rPr lang="ar-EG" sz="1600" dirty="0">
                <a:effectLst/>
              </a:rPr>
              <a:t>هو عملية </a:t>
            </a:r>
            <a:r>
              <a:rPr lang="ar" sz="1600" dirty="0">
                <a:effectLst/>
              </a:rPr>
              <a:t>إنشاء تمثيل رسومي لدائرة إلكترونية باستخدام الرموز والوصلات. و</a:t>
            </a:r>
            <a:r>
              <a:rPr lang="ar-EG" sz="1600" dirty="0">
                <a:effectLst/>
              </a:rPr>
              <a:t>هو </a:t>
            </a:r>
            <a:r>
              <a:rPr lang="ar" sz="1600" dirty="0">
                <a:effectLst/>
              </a:rPr>
              <a:t>خطوة أساسية في تصميم الدوائر التناظرية وتحليلها. عند إنشاء </a:t>
            </a:r>
            <a:r>
              <a:rPr lang="ar-EG" sz="1600" dirty="0">
                <a:effectLst/>
              </a:rPr>
              <a:t>ال</a:t>
            </a:r>
            <a:r>
              <a:rPr lang="ar" sz="1600" dirty="0">
                <a:effectLst/>
              </a:rPr>
              <a:t>مخططات، من المهم اتباع معايير رسم الدوائر الكهربائية مثل</a:t>
            </a:r>
            <a:br>
              <a:rPr lang="en-US" sz="1600" dirty="0">
                <a:effectLst/>
              </a:rPr>
            </a:br>
            <a:r>
              <a:rPr lang="en-US" sz="1600" dirty="0">
                <a:effectLst/>
              </a:rPr>
              <a:t>BS 8888</a:t>
            </a:r>
            <a:r>
              <a:rPr lang="ar" sz="1600" dirty="0">
                <a:effectLst/>
              </a:rPr>
              <a:t> أو </a:t>
            </a:r>
            <a:r>
              <a:rPr lang="en-US" sz="1600" dirty="0">
                <a:effectLst/>
              </a:rPr>
              <a:t>BS 3939</a:t>
            </a:r>
            <a:r>
              <a:rPr lang="ar" sz="1600" dirty="0">
                <a:effectLst/>
              </a:rPr>
              <a:t>،أو غيرها من </a:t>
            </a:r>
            <a:r>
              <a:rPr lang="ar-EG" sz="1600" dirty="0">
                <a:effectLst/>
              </a:rPr>
              <a:t>المعادلات </a:t>
            </a:r>
            <a:r>
              <a:rPr lang="ar" sz="1600" dirty="0">
                <a:effectLst/>
              </a:rPr>
              <a:t>الدولية ذات الصلة. وتضمن هذه المعايير اتساق مخططات الدوائر ووضوحها، ما يسهل فهمها وتفسيرها.</a:t>
            </a:r>
            <a:endParaRPr lang="en-GB" sz="1600" dirty="0"/>
          </a:p>
          <a:p>
            <a:pPr indent="0" rtl="1">
              <a:buNone/>
            </a:pPr>
            <a:endParaRPr lang="en-GB" sz="1600" b="1" dirty="0"/>
          </a:p>
          <a:p>
            <a:pPr marL="0" indent="0" rtl="1">
              <a:buNone/>
            </a:pPr>
            <a:r>
              <a:rPr lang="ar" sz="1600" b="1" dirty="0"/>
              <a:t>معايير رسم الدوائر الكهربائية</a:t>
            </a:r>
          </a:p>
          <a:p>
            <a:pPr marL="0" indent="0" rtl="1">
              <a:buNone/>
            </a:pPr>
            <a:r>
              <a:rPr lang="en-US" sz="1600" b="1" dirty="0">
                <a:effectLst/>
              </a:rPr>
              <a:t>BS 8888</a:t>
            </a:r>
            <a:endParaRPr lang="en-US" sz="1600" b="1" dirty="0"/>
          </a:p>
          <a:p>
            <a:pPr marL="0" indent="0" rtl="1">
              <a:buNone/>
            </a:pPr>
            <a:r>
              <a:rPr lang="en-US" sz="1600" dirty="0">
                <a:effectLst/>
              </a:rPr>
              <a:t>BS 8888</a:t>
            </a:r>
            <a:r>
              <a:rPr lang="ar" sz="1600" dirty="0">
                <a:effectLst/>
              </a:rPr>
              <a:t> هو معيار بريطاني يوفر إرشادات لتوثيق المنتج الفني، بما في ذلك مخططات الدوائر الكهربائية. ويحدد هذا المعيار التنسيقات والرموز والاتفاقيات الواجب استخدامها في تصميم مخططات الدوائر.</a:t>
            </a:r>
            <a:endParaRPr lang="en-GB" sz="1600" dirty="0"/>
          </a:p>
          <a:p>
            <a:pPr indent="0" rtl="1">
              <a:buNone/>
            </a:pPr>
            <a:endParaRPr lang="en-GB" sz="1600" b="1"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44015" y="332656"/>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600" b="1" dirty="0">
                <a:latin typeface="Sakkal Majalla" panose="02000000000000000000" pitchFamily="2" charset="-78"/>
                <a:cs typeface="Sakkal Majalla" panose="02000000000000000000" pitchFamily="2" charset="-78"/>
              </a:rPr>
              <a:t>معايير رسم الدوائر الكهربائية</a:t>
            </a:r>
          </a:p>
        </p:txBody>
      </p:sp>
      <p:sp>
        <p:nvSpPr>
          <p:cNvPr id="2" name="Rectangle 1"/>
          <p:cNvSpPr/>
          <p:nvPr/>
        </p:nvSpPr>
        <p:spPr>
          <a:xfrm>
            <a:off x="6170565" y="5328258"/>
            <a:ext cx="1005403" cy="369332"/>
          </a:xfrm>
          <a:prstGeom prst="rect">
            <a:avLst/>
          </a:prstGeom>
        </p:spPr>
        <p:txBody>
          <a:bodyPr wrap="none" rtlCol="1">
            <a:spAutoFit/>
          </a:bodyPr>
          <a:lstStyle/>
          <a:p>
            <a:pPr algn="ctr" rtl="1"/>
            <a:r>
              <a:rPr lang="ar" b="1" dirty="0">
                <a:latin typeface="Sakkal Majalla" panose="02000000000000000000" pitchFamily="2" charset="-78"/>
                <a:cs typeface="Sakkal Majalla" panose="02000000000000000000" pitchFamily="2" charset="-78"/>
              </a:rPr>
              <a:t>تحليل التردد</a:t>
            </a:r>
            <a:endParaRPr lang="en-GB" b="1" i="0" dirty="0">
              <a:effectLst/>
              <a:latin typeface="Sakkal Majalla" panose="02000000000000000000" pitchFamily="2" charset="-78"/>
              <a:cs typeface="Sakkal Majalla" panose="02000000000000000000" pitchFamily="2" charset="-78"/>
            </a:endParaRPr>
          </a:p>
        </p:txBody>
      </p:sp>
      <p:pic>
        <p:nvPicPr>
          <p:cNvPr id="5" name="Picture 4" descr="A close-up of a graph&#10;&#10;Description automatically generated">
            <a:extLst>
              <a:ext uri="{FF2B5EF4-FFF2-40B4-BE49-F238E27FC236}">
                <a16:creationId xmlns:a16="http://schemas.microsoft.com/office/drawing/2014/main" id="{3FF7E5C8-EFB3-9ED6-59BB-DEB255240862}"/>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432779" y="2204864"/>
            <a:ext cx="4315685" cy="2880320"/>
          </a:xfrm>
          <a:prstGeom prst="rect">
            <a:avLst/>
          </a:prstGeom>
        </p:spPr>
      </p:pic>
      <p:sp>
        <p:nvSpPr>
          <p:cNvPr id="3" name="Footer Placeholder 2">
            <a:extLst>
              <a:ext uri="{FF2B5EF4-FFF2-40B4-BE49-F238E27FC236}">
                <a16:creationId xmlns:a16="http://schemas.microsoft.com/office/drawing/2014/main" id="{2E3B735A-BEE5-F156-A326-8F4238CF58F6}"/>
              </a:ext>
            </a:extLst>
          </p:cNvPr>
          <p:cNvSpPr txBox="1">
            <a:spLocks/>
          </p:cNvSpPr>
          <p:nvPr/>
        </p:nvSpPr>
        <p:spPr bwMode="auto">
          <a:xfrm>
            <a:off x="107504"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A103000399219</a:t>
            </a:r>
            <a:endParaRPr lang="ar" sz="1000" dirty="0"/>
          </a:p>
        </p:txBody>
      </p:sp>
    </p:spTree>
    <p:extLst>
      <p:ext uri="{BB962C8B-B14F-4D97-AF65-F5344CB8AC3E}">
        <p14:creationId xmlns:p14="http://schemas.microsoft.com/office/powerpoint/2010/main" val="4193361183"/>
      </p:ext>
    </p:extLst>
  </p:cSld>
  <p:clrMapOvr>
    <a:masterClrMapping/>
  </p:clrMapOvr>
  <p:transition>
    <p:sndAc>
      <p:stSnd>
        <p:snd r:embed="rId3"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3900" b="1" dirty="0">
                <a:solidFill>
                  <a:schemeClr val="tx2"/>
                </a:solidFill>
                <a:latin typeface="Sakkal Majalla" panose="02000000000000000000" pitchFamily="2" charset="-78"/>
                <a:cs typeface="Sakkal Majalla" panose="02000000000000000000" pitchFamily="2" charset="-78"/>
              </a:rPr>
              <a:t>معايير رسم الدوائر الكهربائية</a:t>
            </a: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1"/>
          </p:nvPr>
        </p:nvSpPr>
        <p:spPr bwMode="auto">
          <a:xfrm>
            <a:off x="4648199" y="2196001"/>
            <a:ext cx="4027487" cy="40241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marL="0" indent="0" rtl="1">
              <a:lnSpc>
                <a:spcPct val="90000"/>
              </a:lnSpc>
              <a:buNone/>
            </a:pPr>
            <a:r>
              <a:rPr lang="en-US" sz="1500" b="1" dirty="0">
                <a:effectLst/>
              </a:rPr>
              <a:t>BS 3939</a:t>
            </a:r>
            <a:endParaRPr lang="en-US" sz="1500" b="1" dirty="0"/>
          </a:p>
          <a:p>
            <a:pPr marL="0" indent="0" rtl="1">
              <a:lnSpc>
                <a:spcPct val="90000"/>
              </a:lnSpc>
              <a:buNone/>
            </a:pPr>
            <a:r>
              <a:rPr lang="en-US" sz="1500" dirty="0">
                <a:effectLst/>
              </a:rPr>
              <a:t>BS 3939</a:t>
            </a:r>
            <a:r>
              <a:rPr lang="ar" sz="1500" dirty="0">
                <a:effectLst/>
              </a:rPr>
              <a:t> هو معيار بريطاني آخر يوفر إرشادات للتمثيل الرسومي للأجهزة الكهربائية والإلكترونية في مخططات الدوائر. </a:t>
            </a:r>
            <a:r>
              <a:rPr lang="ar-EG" sz="1500" dirty="0">
                <a:effectLst/>
              </a:rPr>
              <a:t>و</a:t>
            </a:r>
            <a:r>
              <a:rPr lang="ar" sz="1500" dirty="0">
                <a:effectLst/>
              </a:rPr>
              <a:t>يُحدد الرموز والاتفاقيات الرسومية التي </a:t>
            </a:r>
            <a:r>
              <a:rPr lang="ar-EG" sz="1500" dirty="0">
                <a:effectLst/>
              </a:rPr>
              <a:t>يجب </a:t>
            </a:r>
            <a:r>
              <a:rPr lang="ar" sz="1500" dirty="0">
                <a:effectLst/>
              </a:rPr>
              <a:t>استخدامها في رسومات الدوائر</a:t>
            </a:r>
            <a:r>
              <a:rPr lang="ar" sz="1500" dirty="0"/>
              <a:t> مثل تلك </a:t>
            </a:r>
            <a:r>
              <a:rPr lang="ar" sz="1500" dirty="0">
                <a:effectLst/>
              </a:rPr>
              <a:t> الموضحة هنا.</a:t>
            </a:r>
            <a:endParaRPr lang="en-GB" sz="1500" dirty="0"/>
          </a:p>
          <a:p>
            <a:pPr indent="0" rtl="1">
              <a:lnSpc>
                <a:spcPct val="90000"/>
              </a:lnSpc>
            </a:pPr>
            <a:endParaRPr lang="en-GB" sz="1500" b="1" dirty="0"/>
          </a:p>
          <a:p>
            <a:pPr marL="0" indent="0" rtl="1">
              <a:lnSpc>
                <a:spcPct val="90000"/>
              </a:lnSpc>
              <a:buNone/>
            </a:pPr>
            <a:r>
              <a:rPr lang="ar" sz="1500" b="1" dirty="0">
                <a:effectLst/>
              </a:rPr>
              <a:t>المعادلات الدولية</a:t>
            </a:r>
            <a:endParaRPr lang="en-GB" sz="1500" b="1" dirty="0"/>
          </a:p>
          <a:p>
            <a:pPr rtl="1">
              <a:lnSpc>
                <a:spcPct val="90000"/>
              </a:lnSpc>
            </a:pPr>
            <a:r>
              <a:rPr lang="ar-EG" sz="1500" dirty="0"/>
              <a:t>إ</a:t>
            </a:r>
            <a:r>
              <a:rPr lang="ar" sz="1500" dirty="0">
                <a:effectLst/>
              </a:rPr>
              <a:t>ضافة إلى المعايير البريطانية، توجد العديد من المعادلات الدولية التي تحدد معايير رسم الدوائر الكهربائية. وتشمل </a:t>
            </a:r>
            <a:r>
              <a:rPr lang="ar-EG" sz="1500" dirty="0"/>
              <a:t>ما يأتي</a:t>
            </a:r>
            <a:r>
              <a:rPr lang="ar" sz="1500" dirty="0">
                <a:effectLst/>
              </a:rPr>
              <a:t>:</a:t>
            </a:r>
            <a:endParaRPr lang="en-GB" sz="1500" dirty="0"/>
          </a:p>
          <a:p>
            <a:pPr rtl="1">
              <a:lnSpc>
                <a:spcPct val="90000"/>
              </a:lnSpc>
            </a:pPr>
            <a:r>
              <a:rPr lang="en-US" sz="1500" dirty="0">
                <a:effectLst/>
              </a:rPr>
              <a:t>IEC 60617</a:t>
            </a:r>
            <a:r>
              <a:rPr lang="ar" sz="1500" dirty="0">
                <a:effectLst/>
              </a:rPr>
              <a:t>. معيار اللجنة الكهروتقنية الدولية للرموز البيانية المستخدمة في المخططات.</a:t>
            </a:r>
          </a:p>
          <a:p>
            <a:pPr rtl="1">
              <a:lnSpc>
                <a:spcPct val="90000"/>
              </a:lnSpc>
            </a:pPr>
            <a:r>
              <a:rPr lang="en-US" sz="1500" dirty="0">
                <a:effectLst/>
              </a:rPr>
              <a:t>ANSI Y32.2</a:t>
            </a:r>
            <a:r>
              <a:rPr lang="ar" sz="1500" dirty="0">
                <a:effectLst/>
              </a:rPr>
              <a:t>: معيار المعهد الوطني الأمريكي للمعايير للرموز الرسومية للمخططات الكهربائية والإلكترونية</a:t>
            </a:r>
          </a:p>
          <a:p>
            <a:pPr rtl="1">
              <a:lnSpc>
                <a:spcPct val="90000"/>
              </a:lnSpc>
            </a:pPr>
            <a:r>
              <a:rPr lang="en-US" sz="1500" dirty="0">
                <a:effectLst/>
              </a:rPr>
              <a:t>ISO 1219-2</a:t>
            </a:r>
            <a:r>
              <a:rPr lang="ar" sz="1500" dirty="0">
                <a:effectLst/>
              </a:rPr>
              <a:t>: معيار المنظمة الدولية للتوحيد القياسي للرموز البيانية الخاصة بمخططات الدوائر</a:t>
            </a:r>
          </a:p>
          <a:p>
            <a:pPr indent="0" rtl="1">
              <a:lnSpc>
                <a:spcPct val="90000"/>
              </a:lnSpc>
            </a:pPr>
            <a:endParaRPr lang="en-GB" sz="1500" dirty="0"/>
          </a:p>
        </p:txBody>
      </p:sp>
      <p:pic>
        <p:nvPicPr>
          <p:cNvPr id="5" name="Picture 4" descr="A diagram of a voltage meter&#10;&#10;Description automatically generated">
            <a:extLst>
              <a:ext uri="{FF2B5EF4-FFF2-40B4-BE49-F238E27FC236}">
                <a16:creationId xmlns:a16="http://schemas.microsoft.com/office/drawing/2014/main" id="{913E884F-24F4-9C09-9862-3EFD4976706F}"/>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470006" y="2196001"/>
            <a:ext cx="4024100" cy="4024100"/>
          </a:xfrm>
          <a:prstGeom prst="rect">
            <a:avLst/>
          </a:prstGeom>
          <a:noFill/>
        </p:spPr>
      </p:pic>
      <p:sp>
        <p:nvSpPr>
          <p:cNvPr id="2" name="Footer Placeholder 2">
            <a:extLst>
              <a:ext uri="{FF2B5EF4-FFF2-40B4-BE49-F238E27FC236}">
                <a16:creationId xmlns:a16="http://schemas.microsoft.com/office/drawing/2014/main" id="{99FE4599-53FD-35AD-4383-4FD172B94E3D}"/>
              </a:ext>
            </a:extLst>
          </p:cNvPr>
          <p:cNvSpPr txBox="1">
            <a:spLocks/>
          </p:cNvSpPr>
          <p:nvPr/>
        </p:nvSpPr>
        <p:spPr bwMode="auto">
          <a:xfrm>
            <a:off x="107504"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A103000399219</a:t>
            </a:r>
            <a:endParaRPr lang="ar" sz="1000" dirty="0"/>
          </a:p>
        </p:txBody>
      </p:sp>
    </p:spTree>
    <p:extLst>
      <p:ext uri="{BB962C8B-B14F-4D97-AF65-F5344CB8AC3E}">
        <p14:creationId xmlns:p14="http://schemas.microsoft.com/office/powerpoint/2010/main" val="2278152381"/>
      </p:ext>
    </p:extLst>
  </p:cSld>
  <p:clrMapOvr>
    <a:masterClrMapping/>
  </p:clrMapOvr>
  <p:transition>
    <p:sndAc>
      <p:stSnd>
        <p:snd r:embed="rId3"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3900" b="1" dirty="0">
                <a:solidFill>
                  <a:schemeClr val="tx2"/>
                </a:solidFill>
                <a:latin typeface="Sakkal Majalla" panose="02000000000000000000" pitchFamily="2" charset="-78"/>
                <a:cs typeface="Sakkal Majalla" panose="02000000000000000000" pitchFamily="2" charset="-78"/>
              </a:rPr>
              <a:t>استخراج البيانات/ القياسات</a:t>
            </a:r>
          </a:p>
        </p:txBody>
      </p:sp>
      <p:pic>
        <p:nvPicPr>
          <p:cNvPr id="5" name="Picture 4" descr="A close-up of a device&#10;&#10;Description automatically generated">
            <a:extLst>
              <a:ext uri="{FF2B5EF4-FFF2-40B4-BE49-F238E27FC236}">
                <a16:creationId xmlns:a16="http://schemas.microsoft.com/office/drawing/2014/main" id="{299BD05D-6840-CCB9-BECC-CFF9930BFC57}"/>
              </a:ext>
            </a:extLst>
          </p:cNvPr>
          <p:cNvPicPr>
            <a:picLocks noChangeAspect="1"/>
          </p:cNvPicPr>
          <p:nvPr/>
        </p:nvPicPr>
        <p:blipFill>
          <a:blip r:embed="rId4" cstate="print">
            <a:extLst>
              <a:ext uri="{28A0092B-C50C-407E-A947-70E740481C1C}">
                <a14:useLocalDpi xmlns:a14="http://schemas.microsoft.com/office/drawing/2010/main"/>
              </a:ext>
            </a:extLst>
          </a:blip>
          <a:srcRect l="7614" r="25581" b="3"/>
          <a:stretch/>
        </p:blipFill>
        <p:spPr>
          <a:xfrm>
            <a:off x="4990715" y="2334603"/>
            <a:ext cx="3469717" cy="3466799"/>
          </a:xfrm>
          <a:prstGeom prst="rect">
            <a:avLst/>
          </a:prstGeom>
          <a:noFill/>
        </p:spPr>
      </p:pic>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8312" y="2196001"/>
            <a:ext cx="4247704" cy="40241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marL="0" indent="0" rtl="1">
              <a:lnSpc>
                <a:spcPct val="90000"/>
              </a:lnSpc>
              <a:buNone/>
            </a:pPr>
            <a:r>
              <a:rPr lang="ar" sz="1700" b="1" dirty="0">
                <a:effectLst/>
              </a:rPr>
              <a:t>قياس الجهد الكهربائي</a:t>
            </a:r>
          </a:p>
          <a:p>
            <a:pPr rtl="1">
              <a:lnSpc>
                <a:spcPct val="90000"/>
              </a:lnSpc>
            </a:pPr>
            <a:r>
              <a:rPr lang="ar" sz="1700" dirty="0">
                <a:effectLst/>
              </a:rPr>
              <a:t>تُ</a:t>
            </a:r>
            <a:r>
              <a:rPr lang="ar-EG" sz="1700" dirty="0">
                <a:effectLst/>
              </a:rPr>
              <a:t>ؤ</a:t>
            </a:r>
            <a:r>
              <a:rPr lang="ar" sz="1700" dirty="0">
                <a:effectLst/>
              </a:rPr>
              <a:t>خذ قياسات الجهد في نقاط مختلفة في الدائرة لتحديد فرق الجهد بين نقطتين.</a:t>
            </a:r>
          </a:p>
          <a:p>
            <a:pPr rtl="1">
              <a:lnSpc>
                <a:spcPct val="90000"/>
              </a:lnSpc>
            </a:pPr>
            <a:r>
              <a:rPr lang="ar" sz="1700" dirty="0">
                <a:effectLst/>
              </a:rPr>
              <a:t>تُستخدم أجهزة الفولتميتر لقياس الجهد و</a:t>
            </a:r>
            <a:r>
              <a:rPr lang="ar-EG" sz="1700" dirty="0">
                <a:effectLst/>
              </a:rPr>
              <a:t>تُوصَّل</a:t>
            </a:r>
            <a:r>
              <a:rPr lang="ar" sz="1700" dirty="0">
                <a:effectLst/>
              </a:rPr>
              <a:t> بالتوازي مع المكون أو الدائرة المراد قياسها.</a:t>
            </a:r>
          </a:p>
          <a:p>
            <a:pPr rtl="1">
              <a:lnSpc>
                <a:spcPct val="90000"/>
              </a:lnSpc>
            </a:pPr>
            <a:endParaRPr lang="en-GB" sz="1700" dirty="0">
              <a:effectLst/>
            </a:endParaRPr>
          </a:p>
          <a:p>
            <a:pPr marL="0" indent="0" rtl="1">
              <a:lnSpc>
                <a:spcPct val="90000"/>
              </a:lnSpc>
              <a:buNone/>
            </a:pPr>
            <a:r>
              <a:rPr lang="ar" sz="1700" b="1" dirty="0">
                <a:effectLst/>
              </a:rPr>
              <a:t>قياس التيار الكهربائي</a:t>
            </a:r>
          </a:p>
          <a:p>
            <a:pPr rtl="1">
              <a:lnSpc>
                <a:spcPct val="90000"/>
              </a:lnSpc>
            </a:pPr>
            <a:r>
              <a:rPr lang="ar" sz="1700" dirty="0">
                <a:effectLst/>
              </a:rPr>
              <a:t>تُؤخذ قياسات التيار لمعرفة تدفق الشحنة الكهربائية عبر مكون أو دائرة معينة.</a:t>
            </a:r>
          </a:p>
          <a:p>
            <a:pPr rtl="1">
              <a:lnSpc>
                <a:spcPct val="90000"/>
              </a:lnSpc>
            </a:pPr>
            <a:r>
              <a:rPr lang="ar" sz="1700" dirty="0">
                <a:effectLst/>
              </a:rPr>
              <a:t>يُستخدم مقياس التيار (</a:t>
            </a:r>
            <a:r>
              <a:rPr lang="ar-EG" sz="1700" dirty="0" err="1">
                <a:effectLst/>
              </a:rPr>
              <a:t>الأميتر</a:t>
            </a:r>
            <a:r>
              <a:rPr lang="ar" sz="1700" dirty="0">
                <a:effectLst/>
              </a:rPr>
              <a:t>) لقياس التيار و</a:t>
            </a:r>
            <a:r>
              <a:rPr lang="ar-EG" sz="1700" dirty="0">
                <a:effectLst/>
              </a:rPr>
              <a:t>ي</a:t>
            </a:r>
            <a:r>
              <a:rPr lang="ar" sz="1700" dirty="0">
                <a:effectLst/>
              </a:rPr>
              <a:t>وصل على التوالي مع المكون أو الدائرة المراد قياسها.</a:t>
            </a:r>
          </a:p>
        </p:txBody>
      </p:sp>
      <p:sp>
        <p:nvSpPr>
          <p:cNvPr id="2" name="Footer Placeholder 2">
            <a:extLst>
              <a:ext uri="{FF2B5EF4-FFF2-40B4-BE49-F238E27FC236}">
                <a16:creationId xmlns:a16="http://schemas.microsoft.com/office/drawing/2014/main" id="{CE83EC9B-452C-3E04-4582-A244B3D8ECA6}"/>
              </a:ext>
            </a:extLst>
          </p:cNvPr>
          <p:cNvSpPr txBox="1">
            <a:spLocks/>
          </p:cNvSpPr>
          <p:nvPr/>
        </p:nvSpPr>
        <p:spPr bwMode="auto">
          <a:xfrm>
            <a:off x="107504"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A103000399219</a:t>
            </a:r>
            <a:endParaRPr lang="ar" sz="1000" dirty="0"/>
          </a:p>
        </p:txBody>
      </p:sp>
    </p:spTree>
    <p:extLst>
      <p:ext uri="{BB962C8B-B14F-4D97-AF65-F5344CB8AC3E}">
        <p14:creationId xmlns:p14="http://schemas.microsoft.com/office/powerpoint/2010/main" val="697862392"/>
      </p:ext>
    </p:extLst>
  </p:cSld>
  <p:clrMapOvr>
    <a:masterClrMapping/>
  </p:clrMapOvr>
  <p:transition>
    <p:sndAc>
      <p:stSnd>
        <p:snd r:embed="rId3"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355976" y="1152128"/>
            <a:ext cx="4684982" cy="551723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500" b="1" dirty="0">
                <a:effectLst/>
              </a:rPr>
              <a:t>قياس ال</a:t>
            </a:r>
            <a:r>
              <a:rPr lang="ar-EG" sz="1500" b="1" dirty="0">
                <a:effectLst/>
              </a:rPr>
              <a:t>قدرة</a:t>
            </a:r>
            <a:r>
              <a:rPr lang="ar" sz="1500" b="1" dirty="0">
                <a:effectLst/>
              </a:rPr>
              <a:t> الكهربائية</a:t>
            </a:r>
          </a:p>
          <a:p>
            <a:pPr rtl="1">
              <a:buFont typeface="Arial" panose="020B0604020202020204" pitchFamily="34" charset="0"/>
              <a:buChar char="•"/>
            </a:pPr>
            <a:r>
              <a:rPr lang="ar" sz="1500" dirty="0">
                <a:effectLst/>
              </a:rPr>
              <a:t>تؤخذ قياسات ال</a:t>
            </a:r>
            <a:r>
              <a:rPr lang="ar-EG" sz="1500" dirty="0">
                <a:effectLst/>
              </a:rPr>
              <a:t>قدرة</a:t>
            </a:r>
            <a:r>
              <a:rPr lang="ar" sz="1500" dirty="0">
                <a:effectLst/>
              </a:rPr>
              <a:t> لتحديد معدل تحويل الطاقة أو نقلها داخل الدائرة.</a:t>
            </a:r>
          </a:p>
          <a:p>
            <a:pPr rtl="1">
              <a:buFont typeface="Arial" panose="020B0604020202020204" pitchFamily="34" charset="0"/>
              <a:buChar char="•"/>
            </a:pPr>
            <a:r>
              <a:rPr lang="ar" sz="1500" dirty="0">
                <a:effectLst/>
              </a:rPr>
              <a:t>يمكن حساب القدرة بضرب الجهد عبر المكون في التيار المار من خلاله.</a:t>
            </a:r>
          </a:p>
          <a:p>
            <a:pPr rtl="1">
              <a:buFont typeface="Arial" panose="020B0604020202020204" pitchFamily="34" charset="0"/>
              <a:buChar char="•"/>
            </a:pPr>
            <a:endParaRPr lang="en-GB" sz="1500" dirty="0">
              <a:effectLst/>
            </a:endParaRPr>
          </a:p>
          <a:p>
            <a:pPr marL="0" indent="0" rtl="1">
              <a:buNone/>
            </a:pPr>
            <a:r>
              <a:rPr lang="ar" sz="1500" b="1" dirty="0">
                <a:effectLst/>
              </a:rPr>
              <a:t>إشارات الدخل والخرج</a:t>
            </a:r>
            <a:endParaRPr lang="en-GB" sz="1500" b="1" dirty="0"/>
          </a:p>
          <a:p>
            <a:pPr rtl="1">
              <a:buFont typeface="Arial" panose="020B0604020202020204" pitchFamily="34" charset="0"/>
              <a:buChar char="•"/>
            </a:pPr>
            <a:r>
              <a:rPr lang="ar" sz="1500" dirty="0">
                <a:effectLst/>
              </a:rPr>
              <a:t>تُقاس إشارات الدخل والخرج لتحليل سلوك الدائرة وأدا</a:t>
            </a:r>
            <a:r>
              <a:rPr lang="ar-EG" sz="1500" dirty="0">
                <a:effectLst/>
              </a:rPr>
              <a:t>ئ</a:t>
            </a:r>
            <a:r>
              <a:rPr lang="ar" sz="1500" dirty="0">
                <a:effectLst/>
              </a:rPr>
              <a:t>ها.</a:t>
            </a:r>
          </a:p>
          <a:p>
            <a:pPr rtl="1">
              <a:buFont typeface="Arial" panose="020B0604020202020204" pitchFamily="34" charset="0"/>
              <a:buChar char="•"/>
            </a:pPr>
            <a:r>
              <a:rPr lang="ar" sz="1500" dirty="0">
                <a:effectLst/>
              </a:rPr>
              <a:t>تُستخدم راسمات الذبذبات لقياس الأشكال الموجية للإشارات وعرضها.</a:t>
            </a:r>
          </a:p>
          <a:p>
            <a:pPr rtl="1">
              <a:buFont typeface="Arial" panose="020B0604020202020204" pitchFamily="34" charset="0"/>
              <a:buChar char="•"/>
            </a:pPr>
            <a:endParaRPr lang="en-GB" sz="1500" dirty="0">
              <a:effectLst/>
            </a:endParaRPr>
          </a:p>
          <a:p>
            <a:pPr marL="0" indent="0" rtl="1">
              <a:buNone/>
            </a:pPr>
            <a:r>
              <a:rPr lang="ar" sz="1500" b="1" dirty="0">
                <a:effectLst/>
              </a:rPr>
              <a:t>الكسب</a:t>
            </a:r>
            <a:endParaRPr lang="en-GB" sz="1500" b="1" dirty="0"/>
          </a:p>
          <a:p>
            <a:pPr rtl="1">
              <a:buFont typeface="Arial" panose="020B0604020202020204" pitchFamily="34" charset="0"/>
              <a:buChar char="•"/>
            </a:pPr>
            <a:r>
              <a:rPr lang="ar" sz="1500" dirty="0">
                <a:effectLst/>
              </a:rPr>
              <a:t>يُعد الكسب مقياس</a:t>
            </a:r>
            <a:r>
              <a:rPr lang="ar-EG" sz="1500" dirty="0">
                <a:effectLst/>
              </a:rPr>
              <a:t>ًا</a:t>
            </a:r>
            <a:r>
              <a:rPr lang="ar" sz="1500" dirty="0">
                <a:effectLst/>
              </a:rPr>
              <a:t> لتكبير الإشارة في الدائرة.</a:t>
            </a:r>
          </a:p>
          <a:p>
            <a:pPr rtl="1">
              <a:buFont typeface="Arial" panose="020B0604020202020204" pitchFamily="34" charset="0"/>
              <a:buChar char="•"/>
            </a:pPr>
            <a:r>
              <a:rPr lang="ar" sz="1500" dirty="0">
                <a:effectLst/>
              </a:rPr>
              <a:t>ويُحسب بقسمة سعة إشارة الخرج على سعة إشارة الدخل.</a:t>
            </a:r>
          </a:p>
          <a:p>
            <a:pPr rtl="1">
              <a:buFont typeface="Arial" panose="020B0604020202020204" pitchFamily="34" charset="0"/>
              <a:buChar char="•"/>
            </a:pPr>
            <a:endParaRPr lang="en-GB" sz="1500" dirty="0">
              <a:effectLst/>
            </a:endParaRPr>
          </a:p>
          <a:p>
            <a:pPr marL="0" indent="0" rtl="1">
              <a:buNone/>
            </a:pPr>
            <a:r>
              <a:rPr lang="ar" sz="1500" b="1" dirty="0">
                <a:effectLst/>
              </a:rPr>
              <a:t>المعايير الأخرى ذات الصلة</a:t>
            </a:r>
            <a:endParaRPr lang="en-GB" sz="1500" b="1" dirty="0"/>
          </a:p>
          <a:p>
            <a:pPr rtl="1">
              <a:buFont typeface="Arial" panose="020B0604020202020204" pitchFamily="34" charset="0"/>
              <a:buChar char="•"/>
            </a:pPr>
            <a:r>
              <a:rPr lang="ar" sz="1500" dirty="0">
                <a:effectLst/>
              </a:rPr>
              <a:t>تشمل المعايير الأخرى ذات الصلة التي يمكن استخراجها المعاوقة واستجابة التردد والإزاحة الطورية والتشويه.</a:t>
            </a:r>
          </a:p>
          <a:p>
            <a:pPr rtl="1">
              <a:buFont typeface="Arial" panose="020B0604020202020204" pitchFamily="34" charset="0"/>
              <a:buChar char="•"/>
            </a:pPr>
            <a:r>
              <a:rPr lang="ar" sz="1500" dirty="0">
                <a:effectLst/>
              </a:rPr>
              <a:t>وتوفر هذه المعايير تحليلات مهمة حول أداء الدائرة وخصائصها</a:t>
            </a:r>
            <a:r>
              <a:rPr lang="ar" sz="1500" dirty="0"/>
              <a:t>.</a:t>
            </a:r>
            <a:endParaRPr lang="en-GB" sz="1500" dirty="0">
              <a:effectLst/>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44015" y="332656"/>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استخراج البيانات/ القياسات</a:t>
            </a:r>
          </a:p>
        </p:txBody>
      </p:sp>
      <p:pic>
        <p:nvPicPr>
          <p:cNvPr id="3" name="Picture 2" descr="A close-up of a computer monitor&#10;&#10;Description automatically generated">
            <a:extLst>
              <a:ext uri="{FF2B5EF4-FFF2-40B4-BE49-F238E27FC236}">
                <a16:creationId xmlns:a16="http://schemas.microsoft.com/office/drawing/2014/main" id="{FF0F29AE-AAC4-FC13-B67D-8C533EC90E62}"/>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6845" y="2564904"/>
            <a:ext cx="3761099" cy="2520280"/>
          </a:xfrm>
          <a:prstGeom prst="rect">
            <a:avLst/>
          </a:prstGeom>
        </p:spPr>
      </p:pic>
      <p:sp>
        <p:nvSpPr>
          <p:cNvPr id="2" name="Footer Placeholder 2">
            <a:extLst>
              <a:ext uri="{FF2B5EF4-FFF2-40B4-BE49-F238E27FC236}">
                <a16:creationId xmlns:a16="http://schemas.microsoft.com/office/drawing/2014/main" id="{55D8F045-D1B8-79A3-FA7F-61D9F01EBABB}"/>
              </a:ext>
            </a:extLst>
          </p:cNvPr>
          <p:cNvSpPr txBox="1">
            <a:spLocks/>
          </p:cNvSpPr>
          <p:nvPr/>
        </p:nvSpPr>
        <p:spPr bwMode="auto">
          <a:xfrm>
            <a:off x="107504"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A103000399219</a:t>
            </a:r>
            <a:endParaRPr lang="ar" sz="1000" dirty="0"/>
          </a:p>
        </p:txBody>
      </p:sp>
    </p:spTree>
    <p:extLst>
      <p:ext uri="{BB962C8B-B14F-4D97-AF65-F5344CB8AC3E}">
        <p14:creationId xmlns:p14="http://schemas.microsoft.com/office/powerpoint/2010/main" val="3211252196"/>
      </p:ext>
    </p:extLst>
  </p:cSld>
  <p:clrMapOvr>
    <a:masterClrMapping/>
  </p:clrMapOvr>
  <p:transition>
    <p:sndAc>
      <p:stSnd>
        <p:snd r:embed="rId3"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نتاج التعلم ب</a:t>
            </a:r>
            <a:br>
              <a:rPr lang="en-US" altLang="en-US" sz="2600" dirty="0"/>
            </a:br>
            <a:br>
              <a:rPr lang="en-US" altLang="en-US" sz="2600" dirty="0"/>
            </a:b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971601" y="2493963"/>
            <a:ext cx="72008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استكشاف التشغيل الآمن للدوائر الإلكترونية التناظرية</a:t>
            </a:r>
            <a:r>
              <a:rPr lang="en-US" sz="3800" b="1" dirty="0">
                <a:latin typeface="Sakkal Majalla" panose="02000000000000000000" pitchFamily="2" charset="-78"/>
                <a:cs typeface="Sakkal Majalla" panose="02000000000000000000" pitchFamily="2" charset="-78"/>
              </a:rPr>
              <a:t> </a:t>
            </a:r>
            <a:r>
              <a:rPr lang="ar" sz="3800" b="1" dirty="0">
                <a:latin typeface="Sakkal Majalla" panose="02000000000000000000" pitchFamily="2" charset="-78"/>
                <a:cs typeface="Sakkal Majalla" panose="02000000000000000000" pitchFamily="2" charset="-78"/>
              </a:rPr>
              <a:t>أحادية الوظيفة التي تشكل اللبنات الأساسية للدوائر التجارية</a:t>
            </a:r>
          </a:p>
        </p:txBody>
      </p:sp>
      <p:sp>
        <p:nvSpPr>
          <p:cNvPr id="2" name="Footer Placeholder 2">
            <a:extLst>
              <a:ext uri="{FF2B5EF4-FFF2-40B4-BE49-F238E27FC236}">
                <a16:creationId xmlns:a16="http://schemas.microsoft.com/office/drawing/2014/main" id="{65CB3BA2-F910-E717-81F7-6E766E8B66A9}"/>
              </a:ext>
            </a:extLst>
          </p:cNvPr>
          <p:cNvSpPr txBox="1">
            <a:spLocks/>
          </p:cNvSpPr>
          <p:nvPr/>
        </p:nvSpPr>
        <p:spPr bwMode="auto">
          <a:xfrm>
            <a:off x="107504"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A103000399219</a:t>
            </a:r>
            <a:endParaRPr lang="ar" sz="1000" dirty="0"/>
          </a:p>
        </p:txBody>
      </p:sp>
    </p:spTree>
    <p:extLst>
      <p:ext uri="{BB962C8B-B14F-4D97-AF65-F5344CB8AC3E}">
        <p14:creationId xmlns:p14="http://schemas.microsoft.com/office/powerpoint/2010/main" val="3677341621"/>
      </p:ext>
    </p:extLst>
  </p:cSld>
  <p:clrMapOvr>
    <a:masterClrMapping/>
  </p:clrMapOvr>
  <p:transition>
    <p:sndAc>
      <p:stSnd>
        <p:snd r:embed="rId3"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spcAft>
                <a:spcPts val="600"/>
              </a:spcAft>
            </a:pPr>
            <a:r>
              <a:rPr lang="ar" sz="4600" b="1" dirty="0">
                <a:solidFill>
                  <a:schemeClr val="tx2"/>
                </a:solidFill>
                <a:latin typeface="Sakkal Majalla" panose="02000000000000000000" pitchFamily="2" charset="-78"/>
                <a:cs typeface="Sakkal Majalla" panose="02000000000000000000" pitchFamily="2" charset="-78"/>
              </a:rPr>
              <a:t>طرق تجميع الدوائر</a:t>
            </a:r>
          </a:p>
        </p:txBody>
      </p:sp>
      <p:pic>
        <p:nvPicPr>
          <p:cNvPr id="5" name="Picture 4" descr="A person holding a tweezers&#10;&#10;Description automatically generated">
            <a:extLst>
              <a:ext uri="{FF2B5EF4-FFF2-40B4-BE49-F238E27FC236}">
                <a16:creationId xmlns:a16="http://schemas.microsoft.com/office/drawing/2014/main" id="{7872B573-94F7-1291-DC84-087DDBA39AEE}"/>
              </a:ext>
            </a:extLst>
          </p:cNvPr>
          <p:cNvPicPr>
            <a:picLocks noChangeAspect="1"/>
          </p:cNvPicPr>
          <p:nvPr/>
        </p:nvPicPr>
        <p:blipFill>
          <a:blip r:embed="rId4" cstate="print">
            <a:extLst>
              <a:ext uri="{28A0092B-C50C-407E-A947-70E740481C1C}">
                <a14:useLocalDpi xmlns:a14="http://schemas.microsoft.com/office/drawing/2010/main"/>
              </a:ext>
            </a:extLst>
          </a:blip>
          <a:srcRect l="14629" r="18567" b="3"/>
          <a:stretch/>
        </p:blipFill>
        <p:spPr>
          <a:xfrm>
            <a:off x="4648199" y="2196001"/>
            <a:ext cx="4027487" cy="4024100"/>
          </a:xfrm>
          <a:prstGeom prst="rect">
            <a:avLst/>
          </a:prstGeom>
          <a:noFill/>
        </p:spPr>
      </p:pic>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8312" y="2196001"/>
            <a:ext cx="4027488" cy="40241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indent="0" rtl="1">
              <a:lnSpc>
                <a:spcPct val="90000"/>
              </a:lnSpc>
            </a:pPr>
            <a:endParaRPr lang="en-GB" sz="1700" dirty="0"/>
          </a:p>
          <a:p>
            <a:pPr marL="0" indent="0" rtl="1">
              <a:lnSpc>
                <a:spcPct val="90000"/>
              </a:lnSpc>
              <a:buNone/>
            </a:pPr>
            <a:r>
              <a:rPr lang="ar" sz="1700" b="1" dirty="0">
                <a:effectLst/>
              </a:rPr>
              <a:t>تفسير مخططات الدوائر</a:t>
            </a:r>
            <a:endParaRPr lang="en-GB" sz="1700" b="1" dirty="0"/>
          </a:p>
          <a:p>
            <a:pPr rtl="1">
              <a:lnSpc>
                <a:spcPct val="90000"/>
              </a:lnSpc>
            </a:pPr>
            <a:r>
              <a:rPr lang="ar" sz="1700" dirty="0">
                <a:effectLst/>
              </a:rPr>
              <a:t>يعد فهم مخططات الدوائر وتفسيرها أمرًا ضروريًا لتجميع الدوائر. </a:t>
            </a:r>
            <a:r>
              <a:rPr lang="ar-EG" sz="1700" dirty="0"/>
              <a:t>و</a:t>
            </a:r>
            <a:r>
              <a:rPr lang="ar" sz="1700" dirty="0">
                <a:effectLst/>
              </a:rPr>
              <a:t>يتضمن </a:t>
            </a:r>
            <a:r>
              <a:rPr lang="ar-EG" sz="1700" dirty="0">
                <a:effectLst/>
              </a:rPr>
              <a:t>ذلك </a:t>
            </a:r>
            <a:r>
              <a:rPr lang="ar" sz="1700" dirty="0">
                <a:effectLst/>
              </a:rPr>
              <a:t>تحليل التمثيل التخطيطي للدائرة لتحديد التوصيلات والمكونات.</a:t>
            </a:r>
            <a:endParaRPr lang="en-GB" sz="1700" dirty="0"/>
          </a:p>
          <a:p>
            <a:pPr indent="0" rtl="1">
              <a:lnSpc>
                <a:spcPct val="90000"/>
              </a:lnSpc>
            </a:pPr>
            <a:endParaRPr lang="en-GB" sz="1700" dirty="0"/>
          </a:p>
          <a:p>
            <a:pPr marL="0" indent="0" rtl="1">
              <a:lnSpc>
                <a:spcPct val="90000"/>
              </a:lnSpc>
              <a:buNone/>
            </a:pPr>
            <a:r>
              <a:rPr lang="ar" sz="1700" b="1" dirty="0">
                <a:effectLst/>
              </a:rPr>
              <a:t>تحديد المكونات والتعامل معها</a:t>
            </a:r>
            <a:endParaRPr lang="en-GB" sz="1700" b="1" dirty="0"/>
          </a:p>
          <a:p>
            <a:pPr rtl="1">
              <a:lnSpc>
                <a:spcPct val="90000"/>
              </a:lnSpc>
            </a:pPr>
            <a:r>
              <a:rPr lang="ar-EG" sz="1700" dirty="0">
                <a:effectLst/>
              </a:rPr>
              <a:t>إن</a:t>
            </a:r>
            <a:r>
              <a:rPr lang="ar" sz="1700" dirty="0">
                <a:effectLst/>
              </a:rPr>
              <a:t> تحديد المكونات والتعامل معها </a:t>
            </a:r>
            <a:r>
              <a:rPr lang="ar-EG" sz="1700" dirty="0"/>
              <a:t>تعاملًا</a:t>
            </a:r>
            <a:r>
              <a:rPr lang="ar" sz="1700" dirty="0">
                <a:effectLst/>
              </a:rPr>
              <a:t> صحيح</a:t>
            </a:r>
            <a:r>
              <a:rPr lang="ar-EG" sz="1700" dirty="0">
                <a:effectLst/>
              </a:rPr>
              <a:t>ًا</a:t>
            </a:r>
            <a:r>
              <a:rPr lang="ar" sz="1700" dirty="0">
                <a:effectLst/>
              </a:rPr>
              <a:t> أمر</a:t>
            </a:r>
            <a:r>
              <a:rPr lang="ar-EG" sz="1700" dirty="0">
                <a:effectLst/>
              </a:rPr>
              <a:t>ٌ</a:t>
            </a:r>
            <a:r>
              <a:rPr lang="ar" sz="1700" dirty="0">
                <a:effectLst/>
              </a:rPr>
              <a:t> بالغ الأهمية لضمان التجميع الصحيح للدائرة. ويتضمن ذلك تعرف أنواع مختلفة من المكونات وفهم مواصفاتها وخصائصها.</a:t>
            </a:r>
            <a:endParaRPr lang="en-GB" sz="1700" dirty="0"/>
          </a:p>
          <a:p>
            <a:pPr indent="0" rtl="1">
              <a:lnSpc>
                <a:spcPct val="90000"/>
              </a:lnSpc>
            </a:pPr>
            <a:endParaRPr lang="en-GB" sz="1700" dirty="0"/>
          </a:p>
          <a:p>
            <a:pPr indent="0" rtl="1">
              <a:lnSpc>
                <a:spcPct val="90000"/>
              </a:lnSpc>
            </a:pPr>
            <a:endParaRPr lang="en-GB" sz="1700" dirty="0"/>
          </a:p>
          <a:p>
            <a:pPr indent="0" rtl="1">
              <a:lnSpc>
                <a:spcPct val="90000"/>
              </a:lnSpc>
            </a:pPr>
            <a:endParaRPr lang="en-GB" sz="1700" dirty="0"/>
          </a:p>
        </p:txBody>
      </p:sp>
      <p:sp>
        <p:nvSpPr>
          <p:cNvPr id="2" name="Footer Placeholder 2">
            <a:extLst>
              <a:ext uri="{FF2B5EF4-FFF2-40B4-BE49-F238E27FC236}">
                <a16:creationId xmlns:a16="http://schemas.microsoft.com/office/drawing/2014/main" id="{46C01E04-622F-79DA-286C-A6F142D4843F}"/>
              </a:ext>
            </a:extLst>
          </p:cNvPr>
          <p:cNvSpPr txBox="1">
            <a:spLocks/>
          </p:cNvSpPr>
          <p:nvPr/>
        </p:nvSpPr>
        <p:spPr bwMode="auto">
          <a:xfrm>
            <a:off x="107504"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A103000399219</a:t>
            </a:r>
            <a:endParaRPr lang="ar" sz="1000" dirty="0"/>
          </a:p>
        </p:txBody>
      </p:sp>
    </p:spTree>
    <p:extLst>
      <p:ext uri="{BB962C8B-B14F-4D97-AF65-F5344CB8AC3E}">
        <p14:creationId xmlns:p14="http://schemas.microsoft.com/office/powerpoint/2010/main" val="2130119256"/>
      </p:ext>
    </p:extLst>
  </p:cSld>
  <p:clrMapOvr>
    <a:masterClrMapping/>
  </p:clrMapOvr>
  <p:transition>
    <p:sndAc>
      <p:stSnd>
        <p:snd r:embed="rId3"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796136" y="1427320"/>
            <a:ext cx="3028798" cy="479715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endParaRPr lang="en-GB" sz="1600" dirty="0"/>
          </a:p>
          <a:p>
            <a:pPr marL="0" indent="0" rtl="1">
              <a:buNone/>
            </a:pPr>
            <a:r>
              <a:rPr lang="ar" sz="1600" b="1" dirty="0">
                <a:effectLst/>
              </a:rPr>
              <a:t>قطبية المكونات وتموضعها</a:t>
            </a:r>
            <a:endParaRPr lang="en-GB" sz="1600" b="1" dirty="0"/>
          </a:p>
          <a:p>
            <a:pPr marL="0" indent="0" rtl="1">
              <a:buNone/>
            </a:pPr>
            <a:r>
              <a:rPr lang="ar" sz="1600" dirty="0">
                <a:effectLst/>
              </a:rPr>
              <a:t>تعد قطبية المكونات المناسبة وتموضعها أمرًا بالغ الأهمية حتى تعمل الدائرة بشكل صحيح. </a:t>
            </a:r>
            <a:br>
              <a:rPr lang="en-GB" sz="1600" dirty="0">
                <a:effectLst/>
              </a:rPr>
            </a:br>
            <a:r>
              <a:rPr lang="ar" sz="1600" dirty="0">
                <a:effectLst/>
              </a:rPr>
              <a:t>ويتضمن ذلك تحديد قطبية المكونات </a:t>
            </a:r>
            <a:r>
              <a:rPr lang="ar-EG" sz="1600" dirty="0">
                <a:effectLst/>
              </a:rPr>
              <a:t>تحديدًا صحيحًا </a:t>
            </a:r>
            <a:r>
              <a:rPr lang="ar" sz="1600" dirty="0">
                <a:effectLst/>
              </a:rPr>
              <a:t>ووضعها في الاتجاه الصحيح على لوحة الدائرة.</a:t>
            </a:r>
            <a:endParaRPr lang="en-GB" sz="1600" dirty="0"/>
          </a:p>
          <a:p>
            <a:pPr indent="0" rtl="1">
              <a:buNone/>
            </a:pPr>
            <a:endParaRPr lang="en-GB" sz="1600" dirty="0"/>
          </a:p>
          <a:p>
            <a:pPr marL="0" indent="0" rtl="1">
              <a:buNone/>
            </a:pPr>
            <a:r>
              <a:rPr lang="ar" sz="1600" b="1" dirty="0">
                <a:effectLst/>
              </a:rPr>
              <a:t>طرق إعداد النماذج الأولية</a:t>
            </a:r>
            <a:endParaRPr lang="en-GB" sz="1600" b="1" dirty="0"/>
          </a:p>
          <a:p>
            <a:pPr marL="0" indent="0" rtl="1">
              <a:buNone/>
            </a:pPr>
            <a:r>
              <a:rPr lang="ar" sz="1600" dirty="0">
                <a:effectLst/>
              </a:rPr>
              <a:t>تُستخدم طرق إعداد النماذج الأولية لاختبار تصميمات الدوائر والتحقق من صحتها قبل الشروع في عملية الإنتاج الشامل. وقد يشمل ذلك بناء دائرة نموذجية أولية واختبارها لضمان الأداء والوظائف المطلوبة.</a:t>
            </a:r>
            <a:endParaRPr lang="en-GB" sz="1600" dirty="0"/>
          </a:p>
          <a:p>
            <a:pPr indent="0" rtl="1">
              <a:buNone/>
            </a:pPr>
            <a:endParaRPr lang="en-GB" sz="1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91880" y="260648"/>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طرق تجميع الدوائر</a:t>
            </a:r>
          </a:p>
        </p:txBody>
      </p:sp>
      <p:sp>
        <p:nvSpPr>
          <p:cNvPr id="2" name="Rectangle 1"/>
          <p:cNvSpPr/>
          <p:nvPr/>
        </p:nvSpPr>
        <p:spPr>
          <a:xfrm>
            <a:off x="2235564" y="5157192"/>
            <a:ext cx="1332417" cy="400110"/>
          </a:xfrm>
          <a:prstGeom prst="rect">
            <a:avLst/>
          </a:prstGeom>
        </p:spPr>
        <p:txBody>
          <a:bodyPr wrap="none" rtlCol="1">
            <a:spAutoFit/>
          </a:bodyPr>
          <a:lstStyle/>
          <a:p>
            <a:pPr algn="ctr" rtl="1"/>
            <a:r>
              <a:rPr lang="ar" sz="2000" b="1" dirty="0">
                <a:latin typeface="Sakkal Majalla" panose="02000000000000000000" pitchFamily="2" charset="-78"/>
                <a:cs typeface="Sakkal Majalla" panose="02000000000000000000" pitchFamily="2" charset="-78"/>
              </a:rPr>
              <a:t>قطبية المكونات</a:t>
            </a:r>
            <a:endParaRPr lang="en-GB" sz="2000" b="1" i="0" dirty="0">
              <a:effectLst/>
              <a:latin typeface="Sakkal Majalla" panose="02000000000000000000" pitchFamily="2" charset="-78"/>
              <a:cs typeface="Sakkal Majalla" panose="02000000000000000000" pitchFamily="2" charset="-78"/>
            </a:endParaRPr>
          </a:p>
        </p:txBody>
      </p:sp>
      <p:pic>
        <p:nvPicPr>
          <p:cNvPr id="6" name="Picture 5" descr="A diagram of a circuit with a light bulb and a battery&#10;&#10;Description automatically generated">
            <a:extLst>
              <a:ext uri="{FF2B5EF4-FFF2-40B4-BE49-F238E27FC236}">
                <a16:creationId xmlns:a16="http://schemas.microsoft.com/office/drawing/2014/main" id="{F28A533D-1EA5-7D3A-D53F-74EE2F1EE14C}"/>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l="3077" t="13184" r="1559" b="4756"/>
          <a:stretch/>
        </p:blipFill>
        <p:spPr>
          <a:xfrm>
            <a:off x="899592" y="2276873"/>
            <a:ext cx="4464497" cy="2698136"/>
          </a:xfrm>
          <a:prstGeom prst="rect">
            <a:avLst/>
          </a:prstGeom>
        </p:spPr>
      </p:pic>
      <p:sp>
        <p:nvSpPr>
          <p:cNvPr id="7" name="Rectangle 6">
            <a:extLst>
              <a:ext uri="{FF2B5EF4-FFF2-40B4-BE49-F238E27FC236}">
                <a16:creationId xmlns:a16="http://schemas.microsoft.com/office/drawing/2014/main" id="{7D142E93-45F0-603B-1B1B-C91E27C86CA9}"/>
              </a:ext>
            </a:extLst>
          </p:cNvPr>
          <p:cNvSpPr/>
          <p:nvPr/>
        </p:nvSpPr>
        <p:spPr>
          <a:xfrm>
            <a:off x="3124333" y="4636454"/>
            <a:ext cx="2024914" cy="369332"/>
          </a:xfrm>
          <a:prstGeom prst="rect">
            <a:avLst/>
          </a:prstGeom>
          <a:solidFill>
            <a:schemeClr val="bg1"/>
          </a:solidFill>
        </p:spPr>
        <p:txBody>
          <a:bodyPr wrap="none" rtlCol="1">
            <a:spAutoFit/>
          </a:bodyPr>
          <a:lstStyle/>
          <a:p>
            <a:pPr algn="ctr" rtl="1"/>
            <a:r>
              <a:rPr lang="ar" b="1" dirty="0">
                <a:latin typeface="Sakkal Majalla" panose="02000000000000000000" pitchFamily="2" charset="-78"/>
                <a:cs typeface="Sakkal Majalla" panose="02000000000000000000" pitchFamily="2" charset="-78"/>
              </a:rPr>
              <a:t>الدوائر المتصلة على التوازي</a:t>
            </a:r>
            <a:endParaRPr lang="en-GB" b="1" i="0" dirty="0">
              <a:effectLst/>
              <a:latin typeface="Sakkal Majalla" panose="02000000000000000000" pitchFamily="2" charset="-78"/>
              <a:cs typeface="Sakkal Majalla" panose="02000000000000000000" pitchFamily="2" charset="-78"/>
            </a:endParaRPr>
          </a:p>
        </p:txBody>
      </p:sp>
      <p:sp>
        <p:nvSpPr>
          <p:cNvPr id="8" name="Rectangle 7">
            <a:extLst>
              <a:ext uri="{FF2B5EF4-FFF2-40B4-BE49-F238E27FC236}">
                <a16:creationId xmlns:a16="http://schemas.microsoft.com/office/drawing/2014/main" id="{E7EAF33F-DC00-0C09-FAB9-1BFF599A31C6}"/>
              </a:ext>
            </a:extLst>
          </p:cNvPr>
          <p:cNvSpPr/>
          <p:nvPr/>
        </p:nvSpPr>
        <p:spPr>
          <a:xfrm>
            <a:off x="986624" y="4636454"/>
            <a:ext cx="1967205" cy="369332"/>
          </a:xfrm>
          <a:prstGeom prst="rect">
            <a:avLst/>
          </a:prstGeom>
          <a:solidFill>
            <a:schemeClr val="bg1"/>
          </a:solidFill>
        </p:spPr>
        <p:txBody>
          <a:bodyPr wrap="none" rtlCol="1">
            <a:spAutoFit/>
          </a:bodyPr>
          <a:lstStyle/>
          <a:p>
            <a:pPr algn="ctr" rtl="1"/>
            <a:r>
              <a:rPr lang="ar" b="1" dirty="0">
                <a:latin typeface="Sakkal Majalla" panose="02000000000000000000" pitchFamily="2" charset="-78"/>
                <a:cs typeface="Sakkal Majalla" panose="02000000000000000000" pitchFamily="2" charset="-78"/>
              </a:rPr>
              <a:t>الدوائر المتصلة على التوالي</a:t>
            </a:r>
            <a:endParaRPr lang="en-GB" b="1" i="0" dirty="0">
              <a:effectLst/>
              <a:latin typeface="Sakkal Majalla" panose="02000000000000000000" pitchFamily="2" charset="-78"/>
              <a:cs typeface="Sakkal Majalla" panose="02000000000000000000" pitchFamily="2" charset="-78"/>
            </a:endParaRPr>
          </a:p>
        </p:txBody>
      </p:sp>
      <p:sp>
        <p:nvSpPr>
          <p:cNvPr id="3" name="Footer Placeholder 2">
            <a:extLst>
              <a:ext uri="{FF2B5EF4-FFF2-40B4-BE49-F238E27FC236}">
                <a16:creationId xmlns:a16="http://schemas.microsoft.com/office/drawing/2014/main" id="{E9C3764E-08B5-477F-12DC-9928635D8980}"/>
              </a:ext>
            </a:extLst>
          </p:cNvPr>
          <p:cNvSpPr txBox="1">
            <a:spLocks/>
          </p:cNvSpPr>
          <p:nvPr/>
        </p:nvSpPr>
        <p:spPr bwMode="auto">
          <a:xfrm>
            <a:off x="107504"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A103000399219</a:t>
            </a:r>
            <a:endParaRPr lang="ar" sz="1000" dirty="0"/>
          </a:p>
        </p:txBody>
      </p:sp>
    </p:spTree>
    <p:extLst>
      <p:ext uri="{BB962C8B-B14F-4D97-AF65-F5344CB8AC3E}">
        <p14:creationId xmlns:p14="http://schemas.microsoft.com/office/powerpoint/2010/main" val="852477681"/>
      </p:ext>
    </p:extLst>
  </p:cSld>
  <p:clrMapOvr>
    <a:masterClrMapping/>
  </p:clrMapOvr>
  <p:transition>
    <p:sndAc>
      <p:stSnd>
        <p:snd r:embed="rId3"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spcAft>
                <a:spcPts val="600"/>
              </a:spcAft>
            </a:pPr>
            <a:r>
              <a:rPr lang="ar" sz="4600" b="1" dirty="0">
                <a:solidFill>
                  <a:schemeClr val="tx2"/>
                </a:solidFill>
                <a:latin typeface="Sakkal Majalla" panose="02000000000000000000" pitchFamily="2" charset="-78"/>
                <a:cs typeface="Sakkal Majalla" panose="02000000000000000000" pitchFamily="2" charset="-78"/>
              </a:rPr>
              <a:t>فحوصات مراقبة الجودة</a:t>
            </a:r>
          </a:p>
        </p:txBody>
      </p:sp>
      <p:pic>
        <p:nvPicPr>
          <p:cNvPr id="5" name="Picture 4" descr="A person working on a ring&#10;&#10;Description automatically generated">
            <a:extLst>
              <a:ext uri="{FF2B5EF4-FFF2-40B4-BE49-F238E27FC236}">
                <a16:creationId xmlns:a16="http://schemas.microsoft.com/office/drawing/2014/main" id="{F20DFC81-FC69-E4DF-E3CB-C7D2B1BAC37E}"/>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267879" y="2732985"/>
            <a:ext cx="3407806" cy="2496215"/>
          </a:xfrm>
          <a:prstGeom prst="rect">
            <a:avLst/>
          </a:prstGeom>
          <a:noFill/>
        </p:spPr>
      </p:pic>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3528" y="2196000"/>
            <a:ext cx="4176464" cy="4329344"/>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Autofit/>
          </a:bodyPr>
          <a:lstStyle/>
          <a:p>
            <a:pPr marL="0" indent="0" rtl="1">
              <a:lnSpc>
                <a:spcPct val="90000"/>
              </a:lnSpc>
              <a:buNone/>
            </a:pPr>
            <a:r>
              <a:rPr lang="ar" sz="1700" b="1" dirty="0">
                <a:effectLst/>
              </a:rPr>
              <a:t>تحديد المكونات</a:t>
            </a:r>
            <a:endParaRPr lang="en-GB" sz="1700" b="1" dirty="0"/>
          </a:p>
          <a:p>
            <a:pPr marL="0" indent="0" rtl="1">
              <a:lnSpc>
                <a:spcPct val="90000"/>
              </a:lnSpc>
              <a:buNone/>
            </a:pPr>
            <a:r>
              <a:rPr lang="ar" sz="1700" dirty="0"/>
              <a:t>تُجرى فحوصات مراقبة الجودة لضمان اختيار المكونات الصحيحة للدائرة. ويتضمن ذلك التحقق من مواصفات المكونات وتوافقها.</a:t>
            </a:r>
          </a:p>
          <a:p>
            <a:pPr indent="0" rtl="1">
              <a:lnSpc>
                <a:spcPct val="90000"/>
              </a:lnSpc>
            </a:pPr>
            <a:endParaRPr lang="en-GB" sz="1700" dirty="0"/>
          </a:p>
          <a:p>
            <a:pPr marL="0" indent="0" rtl="1">
              <a:lnSpc>
                <a:spcPct val="90000"/>
              </a:lnSpc>
              <a:buNone/>
            </a:pPr>
            <a:r>
              <a:rPr lang="ar" sz="1700" b="1" dirty="0">
                <a:effectLst/>
              </a:rPr>
              <a:t>تموضع المكونات وقطبيتها</a:t>
            </a:r>
            <a:endParaRPr lang="en-GB" sz="1700" b="1" dirty="0"/>
          </a:p>
          <a:p>
            <a:pPr marL="0" indent="0" rtl="1">
              <a:lnSpc>
                <a:spcPct val="90000"/>
              </a:lnSpc>
              <a:buNone/>
            </a:pPr>
            <a:r>
              <a:rPr lang="ar" sz="1700" dirty="0"/>
              <a:t>تُجرى فحوصات مراقبة الجودة لضمان وضع المكونات بدقة على لوحة الدائرة وللتحقق من القطبية الصحيحة للمكونات مثل الدايود</a:t>
            </a:r>
            <a:r>
              <a:rPr lang="ar-EG" sz="1700" dirty="0"/>
              <a:t>ات</a:t>
            </a:r>
            <a:r>
              <a:rPr lang="ar" sz="1700" dirty="0"/>
              <a:t> (</a:t>
            </a:r>
            <a:r>
              <a:rPr lang="ar-EG" sz="1700" dirty="0"/>
              <a:t>الصمامات </a:t>
            </a:r>
            <a:r>
              <a:rPr lang="ar" sz="1700" dirty="0"/>
              <a:t>الثنائي</a:t>
            </a:r>
            <a:r>
              <a:rPr lang="ar-EG" sz="1700" dirty="0"/>
              <a:t>ة</a:t>
            </a:r>
            <a:r>
              <a:rPr lang="ar" sz="1700" dirty="0"/>
              <a:t>) والمكثفات.</a:t>
            </a:r>
          </a:p>
          <a:p>
            <a:pPr indent="0" rtl="1">
              <a:lnSpc>
                <a:spcPct val="90000"/>
              </a:lnSpc>
            </a:pPr>
            <a:endParaRPr lang="en-GB" sz="1700" dirty="0"/>
          </a:p>
          <a:p>
            <a:pPr marL="0" indent="0" rtl="1">
              <a:lnSpc>
                <a:spcPct val="90000"/>
              </a:lnSpc>
              <a:buNone/>
            </a:pPr>
            <a:r>
              <a:rPr lang="ar" sz="1700" b="1" dirty="0">
                <a:effectLst/>
              </a:rPr>
              <a:t>جودة البناء</a:t>
            </a:r>
            <a:endParaRPr lang="en-GB" sz="1700" b="1" dirty="0"/>
          </a:p>
          <a:p>
            <a:pPr marL="0" indent="0" rtl="1">
              <a:lnSpc>
                <a:spcPct val="90000"/>
              </a:lnSpc>
              <a:buNone/>
            </a:pPr>
            <a:r>
              <a:rPr lang="ar" sz="1700" dirty="0"/>
              <a:t>تُجرى فحوصات مراقبة الجودة لضمان الجودة الشاملة للبناء، بما في ذلك دقة الأسلاك والعزل المناسب والوصلات الآمنة.</a:t>
            </a:r>
          </a:p>
          <a:p>
            <a:pPr indent="0" rtl="1">
              <a:lnSpc>
                <a:spcPct val="90000"/>
              </a:lnSpc>
            </a:pPr>
            <a:endParaRPr lang="en-GB" sz="1700" dirty="0"/>
          </a:p>
          <a:p>
            <a:pPr marL="0" indent="0" rtl="1">
              <a:lnSpc>
                <a:spcPct val="90000"/>
              </a:lnSpc>
              <a:buNone/>
            </a:pPr>
            <a:r>
              <a:rPr lang="ar" sz="1700" b="1" dirty="0">
                <a:effectLst/>
              </a:rPr>
              <a:t>جودة اللحام</a:t>
            </a:r>
            <a:endParaRPr lang="en-GB" sz="1700" b="1" dirty="0"/>
          </a:p>
          <a:p>
            <a:pPr marL="0" indent="0" rtl="1">
              <a:lnSpc>
                <a:spcPct val="90000"/>
              </a:lnSpc>
              <a:buNone/>
            </a:pPr>
            <a:r>
              <a:rPr lang="ar" sz="1700" dirty="0"/>
              <a:t>تُجرى فحوصات مراقبة الجودة للتحقق من جودة اللحام، بما في ذلك قوة المفاصل، وغياب جسور اللحام والترطيب المناسب للحام.</a:t>
            </a:r>
          </a:p>
          <a:p>
            <a:pPr indent="0" rtl="1">
              <a:lnSpc>
                <a:spcPct val="90000"/>
              </a:lnSpc>
            </a:pPr>
            <a:endParaRPr lang="en-GB" sz="1700" dirty="0"/>
          </a:p>
          <a:p>
            <a:pPr indent="0" rtl="1">
              <a:lnSpc>
                <a:spcPct val="90000"/>
              </a:lnSpc>
            </a:pPr>
            <a:endParaRPr lang="en-GB" sz="1700" dirty="0"/>
          </a:p>
        </p:txBody>
      </p:sp>
      <p:sp>
        <p:nvSpPr>
          <p:cNvPr id="2" name="Footer Placeholder 2">
            <a:extLst>
              <a:ext uri="{FF2B5EF4-FFF2-40B4-BE49-F238E27FC236}">
                <a16:creationId xmlns:a16="http://schemas.microsoft.com/office/drawing/2014/main" id="{5CACA8F0-0CBE-A592-DD9A-D220270E85C7}"/>
              </a:ext>
            </a:extLst>
          </p:cNvPr>
          <p:cNvSpPr txBox="1">
            <a:spLocks/>
          </p:cNvSpPr>
          <p:nvPr/>
        </p:nvSpPr>
        <p:spPr bwMode="auto">
          <a:xfrm>
            <a:off x="107504"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A103000399219</a:t>
            </a:r>
            <a:endParaRPr lang="ar" sz="1000" dirty="0"/>
          </a:p>
        </p:txBody>
      </p:sp>
    </p:spTree>
    <p:extLst>
      <p:ext uri="{BB962C8B-B14F-4D97-AF65-F5344CB8AC3E}">
        <p14:creationId xmlns:p14="http://schemas.microsoft.com/office/powerpoint/2010/main" val="2024892141"/>
      </p:ext>
    </p:extLst>
  </p:cSld>
  <p:clrMapOvr>
    <a:masterClrMapping/>
  </p:clrMapOvr>
  <p:transition>
    <p:sndAc>
      <p:stSnd>
        <p:snd r:embed="rId3"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spcAft>
                <a:spcPts val="600"/>
              </a:spcAft>
            </a:pPr>
            <a:r>
              <a:rPr lang="ar" sz="4600" b="1" dirty="0">
                <a:solidFill>
                  <a:schemeClr val="tx2"/>
                </a:solidFill>
                <a:latin typeface="Sakkal Majalla" panose="02000000000000000000" pitchFamily="2" charset="-78"/>
                <a:cs typeface="Sakkal Majalla" panose="02000000000000000000" pitchFamily="2" charset="-78"/>
              </a:rPr>
              <a:t>ممارسات العمل الآمن</a:t>
            </a: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1"/>
          </p:nvPr>
        </p:nvSpPr>
        <p:spPr bwMode="auto">
          <a:xfrm>
            <a:off x="4648199" y="2196001"/>
            <a:ext cx="4027487" cy="40241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marL="0" indent="0" rtl="1">
              <a:lnSpc>
                <a:spcPct val="90000"/>
              </a:lnSpc>
              <a:buNone/>
            </a:pPr>
            <a:r>
              <a:rPr lang="ar" sz="1700" b="1" dirty="0">
                <a:effectLst/>
              </a:rPr>
              <a:t>تحديد الأخطار</a:t>
            </a:r>
            <a:endParaRPr lang="en-GB" sz="1700" b="1" dirty="0"/>
          </a:p>
          <a:p>
            <a:pPr marL="0" indent="0" rtl="1">
              <a:lnSpc>
                <a:spcPct val="90000"/>
              </a:lnSpc>
              <a:buNone/>
            </a:pPr>
            <a:r>
              <a:rPr lang="ar" sz="1700" dirty="0">
                <a:effectLst/>
              </a:rPr>
              <a:t>من المهم أن تكون على دراية بالأخطار المحتملة المرتبطة بالمهام الإلكترونية وتحديدها قبل البدء في أي عمل.</a:t>
            </a:r>
            <a:endParaRPr lang="en-GB" sz="1700" dirty="0"/>
          </a:p>
          <a:p>
            <a:pPr indent="0" rtl="1">
              <a:lnSpc>
                <a:spcPct val="90000"/>
              </a:lnSpc>
            </a:pPr>
            <a:endParaRPr lang="en-GB" sz="1700" dirty="0"/>
          </a:p>
          <a:p>
            <a:pPr marL="0" indent="0" rtl="1">
              <a:lnSpc>
                <a:spcPct val="90000"/>
              </a:lnSpc>
              <a:buNone/>
            </a:pPr>
            <a:r>
              <a:rPr lang="ar" sz="1700" b="1" dirty="0">
                <a:effectLst/>
              </a:rPr>
              <a:t>تقييم الأخطار</a:t>
            </a:r>
            <a:endParaRPr lang="en-GB" sz="1700" b="1" dirty="0"/>
          </a:p>
          <a:p>
            <a:pPr marL="0" indent="0" rtl="1">
              <a:lnSpc>
                <a:spcPct val="90000"/>
              </a:lnSpc>
              <a:buNone/>
            </a:pPr>
            <a:r>
              <a:rPr lang="ar" sz="1700" dirty="0">
                <a:effectLst/>
              </a:rPr>
              <a:t>إجراء تقييم</a:t>
            </a:r>
            <a:r>
              <a:rPr lang="ar-EG" sz="1700" dirty="0">
                <a:effectLst/>
              </a:rPr>
              <a:t>ات الأخطار</a:t>
            </a:r>
            <a:r>
              <a:rPr lang="ar" sz="1700" dirty="0">
                <a:effectLst/>
              </a:rPr>
              <a:t> </a:t>
            </a:r>
            <a:r>
              <a:rPr lang="ar-EG" sz="1700" dirty="0">
                <a:effectLst/>
              </a:rPr>
              <a:t>يساعد </a:t>
            </a:r>
            <a:r>
              <a:rPr lang="ar" sz="1700" dirty="0">
                <a:effectLst/>
              </a:rPr>
              <a:t>على تحديد ال</a:t>
            </a:r>
            <a:r>
              <a:rPr lang="ar-EG" sz="1700" dirty="0">
                <a:effectLst/>
              </a:rPr>
              <a:t>أخطار</a:t>
            </a:r>
            <a:r>
              <a:rPr lang="ar" sz="1700" dirty="0">
                <a:effectLst/>
              </a:rPr>
              <a:t> المحتملة وتقييمها وتنفيذ تدابير الرقابة المناسبة للتخفيف منها.</a:t>
            </a:r>
            <a:endParaRPr lang="en-GB" sz="1700" dirty="0"/>
          </a:p>
          <a:p>
            <a:pPr indent="0" rtl="1">
              <a:lnSpc>
                <a:spcPct val="90000"/>
              </a:lnSpc>
            </a:pPr>
            <a:endParaRPr lang="en-GB" sz="1700" dirty="0"/>
          </a:p>
          <a:p>
            <a:pPr marL="0" indent="0" rtl="1">
              <a:lnSpc>
                <a:spcPct val="90000"/>
              </a:lnSpc>
              <a:buNone/>
            </a:pPr>
            <a:r>
              <a:rPr lang="ar" sz="1700" b="1" dirty="0">
                <a:effectLst/>
              </a:rPr>
              <a:t>إجراءات التشغيل القياسية</a:t>
            </a:r>
            <a:endParaRPr lang="en-GB" sz="1700" b="1" dirty="0"/>
          </a:p>
          <a:p>
            <a:pPr marL="0" indent="0" rtl="1">
              <a:lnSpc>
                <a:spcPct val="90000"/>
              </a:lnSpc>
              <a:buNone/>
            </a:pPr>
            <a:r>
              <a:rPr lang="ar" sz="1700" dirty="0">
                <a:effectLst/>
              </a:rPr>
              <a:t>اتباع إجراءات التشغيل القياسية </a:t>
            </a:r>
            <a:r>
              <a:rPr lang="ar-EG" sz="1700" dirty="0">
                <a:effectLst/>
              </a:rPr>
              <a:t>يضمن </a:t>
            </a:r>
            <a:r>
              <a:rPr lang="ar" sz="1700" dirty="0">
                <a:effectLst/>
              </a:rPr>
              <a:t>ممارسات متسقة وآمنة في أثناء العمل مع الدوائر الإلكترونية.</a:t>
            </a:r>
            <a:endParaRPr lang="en-GB" sz="1700" dirty="0"/>
          </a:p>
          <a:p>
            <a:pPr indent="0" rtl="1">
              <a:lnSpc>
                <a:spcPct val="90000"/>
              </a:lnSpc>
            </a:pPr>
            <a:endParaRPr lang="en-GB" sz="1700" dirty="0"/>
          </a:p>
        </p:txBody>
      </p:sp>
      <p:pic>
        <p:nvPicPr>
          <p:cNvPr id="3" name="Picture 2" descr="A person writing on a clipboard&#10;&#10;Description automatically generated">
            <a:extLst>
              <a:ext uri="{FF2B5EF4-FFF2-40B4-BE49-F238E27FC236}">
                <a16:creationId xmlns:a16="http://schemas.microsoft.com/office/drawing/2014/main" id="{FD955B5B-BB31-4838-B2F9-F30A5AB3B699}"/>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139013" y="2196001"/>
            <a:ext cx="2686086" cy="4024100"/>
          </a:xfrm>
          <a:prstGeom prst="rect">
            <a:avLst/>
          </a:prstGeom>
          <a:noFill/>
        </p:spPr>
      </p:pic>
      <p:sp>
        <p:nvSpPr>
          <p:cNvPr id="2" name="Footer Placeholder 2">
            <a:extLst>
              <a:ext uri="{FF2B5EF4-FFF2-40B4-BE49-F238E27FC236}">
                <a16:creationId xmlns:a16="http://schemas.microsoft.com/office/drawing/2014/main" id="{68F24AD0-10CB-ECEF-28A6-E3EA4DB9B347}"/>
              </a:ext>
            </a:extLst>
          </p:cNvPr>
          <p:cNvSpPr txBox="1">
            <a:spLocks/>
          </p:cNvSpPr>
          <p:nvPr/>
        </p:nvSpPr>
        <p:spPr bwMode="auto">
          <a:xfrm>
            <a:off x="107504"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A103000399219</a:t>
            </a:r>
            <a:endParaRPr lang="ar" sz="1000" dirty="0"/>
          </a:p>
        </p:txBody>
      </p:sp>
    </p:spTree>
    <p:extLst>
      <p:ext uri="{BB962C8B-B14F-4D97-AF65-F5344CB8AC3E}">
        <p14:creationId xmlns:p14="http://schemas.microsoft.com/office/powerpoint/2010/main" val="2165699235"/>
      </p:ext>
    </p:extLst>
  </p:cSld>
  <p:clrMapOvr>
    <a:masterClrMapping/>
  </p:clrMapOvr>
  <p:transition>
    <p:sndAc>
      <p:stSnd>
        <p:snd r:embed="rId3"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3000" b="1" dirty="0">
                <a:solidFill>
                  <a:schemeClr val="tx2"/>
                </a:solidFill>
                <a:latin typeface="Sakkal Majalla" panose="02000000000000000000" pitchFamily="2" charset="-78"/>
                <a:cs typeface="Sakkal Majalla" panose="02000000000000000000" pitchFamily="2" charset="-78"/>
              </a:rPr>
              <a:t>اختبار</a:t>
            </a:r>
            <a:r>
              <a:rPr lang="ar-EG" sz="3000" b="1" dirty="0">
                <a:solidFill>
                  <a:schemeClr val="tx2"/>
                </a:solidFill>
                <a:latin typeface="Sakkal Majalla" panose="02000000000000000000" pitchFamily="2" charset="-78"/>
                <a:cs typeface="Sakkal Majalla" panose="02000000000000000000" pitchFamily="2" charset="-78"/>
              </a:rPr>
              <a:t> </a:t>
            </a:r>
            <a:r>
              <a:rPr lang="ar" sz="3000" b="1" dirty="0">
                <a:solidFill>
                  <a:schemeClr val="tx2"/>
                </a:solidFill>
                <a:latin typeface="Sakkal Majalla" panose="02000000000000000000" pitchFamily="2" charset="-78"/>
                <a:cs typeface="Sakkal Majalla" panose="02000000000000000000" pitchFamily="2" charset="-78"/>
              </a:rPr>
              <a:t>الدوائر الإلكترونية التناظرية أحادية الوظيفة</a:t>
            </a:r>
          </a:p>
        </p:txBody>
      </p:sp>
      <p:pic>
        <p:nvPicPr>
          <p:cNvPr id="5" name="Picture 4" descr="A hand holding a soldering iron&#10;&#10;Description automatically generated">
            <a:extLst>
              <a:ext uri="{FF2B5EF4-FFF2-40B4-BE49-F238E27FC236}">
                <a16:creationId xmlns:a16="http://schemas.microsoft.com/office/drawing/2014/main" id="{BF1FCDB7-4DF3-1036-8AB6-C88B1FE8EAB6}"/>
              </a:ext>
            </a:extLst>
          </p:cNvPr>
          <p:cNvPicPr>
            <a:picLocks noChangeAspect="1"/>
          </p:cNvPicPr>
          <p:nvPr/>
        </p:nvPicPr>
        <p:blipFill>
          <a:blip r:embed="rId4" cstate="print">
            <a:extLst>
              <a:ext uri="{28A0092B-C50C-407E-A947-70E740481C1C}">
                <a14:useLocalDpi xmlns:a14="http://schemas.microsoft.com/office/drawing/2010/main"/>
              </a:ext>
            </a:extLst>
          </a:blip>
          <a:srcRect l="5800" r="19139" b="2"/>
          <a:stretch/>
        </p:blipFill>
        <p:spPr>
          <a:xfrm>
            <a:off x="5136466" y="2564904"/>
            <a:ext cx="3251958" cy="3249223"/>
          </a:xfrm>
          <a:prstGeom prst="rect">
            <a:avLst/>
          </a:prstGeom>
          <a:noFill/>
        </p:spPr>
      </p:pic>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8312" y="2196001"/>
            <a:ext cx="4027488" cy="40241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marL="0" indent="0" rtl="1">
              <a:lnSpc>
                <a:spcPct val="90000"/>
              </a:lnSpc>
              <a:buNone/>
            </a:pPr>
            <a:r>
              <a:rPr lang="ar" sz="1700" b="1" dirty="0">
                <a:effectLst/>
              </a:rPr>
              <a:t>الاختبار الوظيفي</a:t>
            </a:r>
            <a:endParaRPr lang="en-GB" sz="1700" b="1" dirty="0"/>
          </a:p>
          <a:p>
            <a:pPr rtl="1">
              <a:lnSpc>
                <a:spcPct val="90000"/>
              </a:lnSpc>
            </a:pPr>
            <a:r>
              <a:rPr lang="ar" sz="1700" dirty="0">
                <a:effectLst/>
              </a:rPr>
              <a:t>استخدم معدات الاختبار المناسبة لإجراء اختبار وظيفي للدوائر الإلكترونية التناظرية أحادية الوظيفة.</a:t>
            </a:r>
          </a:p>
          <a:p>
            <a:pPr rtl="1">
              <a:lnSpc>
                <a:spcPct val="90000"/>
              </a:lnSpc>
            </a:pPr>
            <a:r>
              <a:rPr lang="ar" sz="1700" dirty="0">
                <a:effectLst/>
              </a:rPr>
              <a:t>تأكد من أن الدوائر تؤدي وظائفها المقصودة بشكل صحيح.</a:t>
            </a:r>
          </a:p>
          <a:p>
            <a:pPr indent="0" rtl="1">
              <a:lnSpc>
                <a:spcPct val="90000"/>
              </a:lnSpc>
            </a:pPr>
            <a:endParaRPr lang="en-GB" sz="1700" dirty="0"/>
          </a:p>
          <a:p>
            <a:pPr marL="0" indent="0" rtl="1">
              <a:lnSpc>
                <a:spcPct val="90000"/>
              </a:lnSpc>
              <a:buNone/>
            </a:pPr>
            <a:r>
              <a:rPr lang="ar" sz="1700" b="1" dirty="0">
                <a:effectLst/>
              </a:rPr>
              <a:t>القياس الدقيق</a:t>
            </a:r>
            <a:endParaRPr lang="en-GB" sz="1700" b="1" dirty="0"/>
          </a:p>
          <a:p>
            <a:pPr rtl="1">
              <a:lnSpc>
                <a:spcPct val="90000"/>
              </a:lnSpc>
            </a:pPr>
            <a:r>
              <a:rPr lang="ar" sz="1700" dirty="0">
                <a:effectLst/>
              </a:rPr>
              <a:t>قياس المعايير الأساسية للدوائر بدقة، مثل الجهد والتيار والتردد.</a:t>
            </a:r>
          </a:p>
          <a:p>
            <a:pPr rtl="1">
              <a:lnSpc>
                <a:spcPct val="90000"/>
              </a:lnSpc>
            </a:pPr>
            <a:r>
              <a:rPr lang="ar" sz="1700" dirty="0">
                <a:effectLst/>
              </a:rPr>
              <a:t>قارن المعايير المقاسة بنتائج المحاكاة وموجز العميل لضمان الامتثال.</a:t>
            </a:r>
          </a:p>
          <a:p>
            <a:pPr indent="0" rtl="1">
              <a:lnSpc>
                <a:spcPct val="90000"/>
              </a:lnSpc>
            </a:pPr>
            <a:endParaRPr lang="en-GB" sz="1700" dirty="0"/>
          </a:p>
          <a:p>
            <a:pPr indent="0" rtl="1">
              <a:lnSpc>
                <a:spcPct val="90000"/>
              </a:lnSpc>
            </a:pPr>
            <a:endParaRPr lang="en-GB" sz="1700" dirty="0"/>
          </a:p>
        </p:txBody>
      </p:sp>
      <p:sp>
        <p:nvSpPr>
          <p:cNvPr id="2" name="Footer Placeholder 2">
            <a:extLst>
              <a:ext uri="{FF2B5EF4-FFF2-40B4-BE49-F238E27FC236}">
                <a16:creationId xmlns:a16="http://schemas.microsoft.com/office/drawing/2014/main" id="{4825A49A-F7E8-E9FD-4E3E-82F21EB01A14}"/>
              </a:ext>
            </a:extLst>
          </p:cNvPr>
          <p:cNvSpPr txBox="1">
            <a:spLocks/>
          </p:cNvSpPr>
          <p:nvPr/>
        </p:nvSpPr>
        <p:spPr bwMode="auto">
          <a:xfrm>
            <a:off x="107504"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A103000399219</a:t>
            </a:r>
            <a:endParaRPr lang="ar" sz="1000" dirty="0"/>
          </a:p>
        </p:txBody>
      </p:sp>
    </p:spTree>
    <p:extLst>
      <p:ext uri="{BB962C8B-B14F-4D97-AF65-F5344CB8AC3E}">
        <p14:creationId xmlns:p14="http://schemas.microsoft.com/office/powerpoint/2010/main" val="1812944479"/>
      </p:ext>
    </p:extLst>
  </p:cSld>
  <p:clrMapOvr>
    <a:masterClrMapping/>
  </p:clrMapOvr>
  <p:transition>
    <p:sndAc>
      <p:stSnd>
        <p:snd r:embed="rId3"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611560" y="1484784"/>
            <a:ext cx="8141366" cy="316835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000" b="1" dirty="0"/>
              <a:t>مصدر الطاقة</a:t>
            </a:r>
          </a:p>
          <a:p>
            <a:pPr indent="0" rtl="1">
              <a:buNone/>
            </a:pPr>
            <a:endParaRPr lang="en-GB" sz="2000" b="1" dirty="0"/>
          </a:p>
          <a:p>
            <a:pPr marL="0" indent="0" rtl="1">
              <a:buNone/>
            </a:pPr>
            <a:r>
              <a:rPr lang="ar" sz="2000" b="1" dirty="0"/>
              <a:t>حساب الجذر التربيعي لمتوسط مربع الجهد (RMS)</a:t>
            </a:r>
          </a:p>
          <a:p>
            <a:pPr marL="0" indent="0" rtl="1">
              <a:buNone/>
            </a:pPr>
            <a:r>
              <a:rPr lang="ar" sz="2000" dirty="0"/>
              <a:t>يمكن حساب الجذر التربيعي لمتوسط مربع الجهد (RMS) لمصدر الطاقة باستخدام أشكال الموجة النظرية والمحاكاة. تمثل هذه القيمة الجهد الفعال لمصدر الطاقة.</a:t>
            </a:r>
          </a:p>
          <a:p>
            <a:pPr indent="0" rtl="1">
              <a:buNone/>
            </a:pPr>
            <a:endParaRPr lang="fr-FR" sz="2000" dirty="0">
              <a:solidFill>
                <a:srgbClr val="FF0000"/>
              </a:solidFill>
              <a:highlight>
                <a:srgbClr val="FFFF00"/>
              </a:highlight>
            </a:endParaRPr>
          </a:p>
          <a:p>
            <a:pPr marL="0" indent="0" rtl="1">
              <a:buNone/>
            </a:pPr>
            <a:r>
              <a:rPr lang="ar" sz="2000" b="1" dirty="0"/>
              <a:t>قياس جهد التموج ومحاكاته</a:t>
            </a:r>
          </a:p>
          <a:p>
            <a:pPr marL="0" indent="0" rtl="1">
              <a:buNone/>
            </a:pPr>
            <a:r>
              <a:rPr lang="ar" sz="2000" dirty="0"/>
              <a:t>يمكن قياس جهد التموج لمصدر الطاقة ومحاكاته لتقييم مقدار جهد التيار المت</a:t>
            </a:r>
            <a:r>
              <a:rPr lang="ar-EG" sz="2000" dirty="0"/>
              <a:t>ناوب</a:t>
            </a:r>
            <a:r>
              <a:rPr lang="ar" sz="2000" dirty="0"/>
              <a:t> المتراكب على خرج التيار المستمر. يساعد هذا القياس على تقييم جودة مصدر الطاقة.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الاختبار</a:t>
            </a:r>
            <a:br>
              <a:rPr lang="en-GB" altLang="en-US" sz="2200" b="1" dirty="0">
                <a:latin typeface="Sakkal Majalla" panose="02000000000000000000" pitchFamily="2" charset="-78"/>
                <a:cs typeface="Sakkal Majalla" panose="02000000000000000000" pitchFamily="2" charset="-78"/>
              </a:rPr>
            </a:br>
            <a:r>
              <a:rPr lang="ar" sz="2200" b="1" dirty="0">
                <a:latin typeface="Sakkal Majalla" panose="02000000000000000000" pitchFamily="2" charset="-78"/>
                <a:cs typeface="Sakkal Majalla" panose="02000000000000000000" pitchFamily="2" charset="-78"/>
              </a:rPr>
              <a:t>الدوائر الإلكترونية التناظرية أحادية الوظيفة</a:t>
            </a:r>
          </a:p>
        </p:txBody>
      </p:sp>
      <p:sp>
        <p:nvSpPr>
          <p:cNvPr id="2" name="Footer Placeholder 2">
            <a:extLst>
              <a:ext uri="{FF2B5EF4-FFF2-40B4-BE49-F238E27FC236}">
                <a16:creationId xmlns:a16="http://schemas.microsoft.com/office/drawing/2014/main" id="{DB036427-3A02-D47A-6437-70228EACDB32}"/>
              </a:ext>
            </a:extLst>
          </p:cNvPr>
          <p:cNvSpPr txBox="1">
            <a:spLocks/>
          </p:cNvSpPr>
          <p:nvPr/>
        </p:nvSpPr>
        <p:spPr bwMode="auto">
          <a:xfrm>
            <a:off x="107504"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A103000399219</a:t>
            </a:r>
            <a:endParaRPr lang="ar" sz="1000" dirty="0"/>
          </a:p>
        </p:txBody>
      </p:sp>
    </p:spTree>
    <p:extLst>
      <p:ext uri="{BB962C8B-B14F-4D97-AF65-F5344CB8AC3E}">
        <p14:creationId xmlns:p14="http://schemas.microsoft.com/office/powerpoint/2010/main" val="3433960249"/>
      </p:ext>
    </p:extLst>
  </p:cSld>
  <p:clrMapOvr>
    <a:masterClrMapping/>
  </p:clrMapOvr>
  <p:transition>
    <p:sndAc>
      <p:stSnd>
        <p:snd r:embed="rId3"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أنواع المعادلات للتحقق من تشغيل الدائرة</a:t>
            </a:r>
          </a:p>
        </p:txBody>
      </p:sp>
      <p:grpSp>
        <p:nvGrpSpPr>
          <p:cNvPr id="6" name="Group 5">
            <a:extLst>
              <a:ext uri="{FF2B5EF4-FFF2-40B4-BE49-F238E27FC236}">
                <a16:creationId xmlns:a16="http://schemas.microsoft.com/office/drawing/2014/main" id="{FC7208AC-3EE3-556D-6745-26E1A4955CDC}"/>
              </a:ext>
            </a:extLst>
          </p:cNvPr>
          <p:cNvGrpSpPr/>
          <p:nvPr/>
        </p:nvGrpSpPr>
        <p:grpSpPr>
          <a:xfrm>
            <a:off x="4745226" y="1196752"/>
            <a:ext cx="4291270" cy="5171021"/>
            <a:chOff x="0" y="1196752"/>
            <a:chExt cx="4291270" cy="5171021"/>
          </a:xfrm>
        </p:grpSpPr>
        <p:pic>
          <p:nvPicPr>
            <p:cNvPr id="2" name="Picture 1"/>
            <p:cNvPicPr>
              <a:picLocks noChangeAspect="1"/>
            </p:cNvPicPr>
            <p:nvPr/>
          </p:nvPicPr>
          <p:blipFill>
            <a:blip r:embed="rId4">
              <a:extLst>
                <a:ext uri="{28A0092B-C50C-407E-A947-70E740481C1C}">
                  <a14:useLocalDpi xmlns:a14="http://schemas.microsoft.com/office/drawing/2010/main"/>
                </a:ext>
              </a:extLst>
            </a:blip>
            <a:srcRect l="13804" r="64"/>
            <a:stretch/>
          </p:blipFill>
          <p:spPr>
            <a:xfrm>
              <a:off x="0" y="1196752"/>
              <a:ext cx="4291270" cy="2691546"/>
            </a:xfrm>
            <a:prstGeom prst="rect">
              <a:avLst/>
            </a:prstGeom>
          </p:spPr>
        </p:pic>
        <p:pic>
          <p:nvPicPr>
            <p:cNvPr id="3" name="Picture 2"/>
            <p:cNvPicPr>
              <a:picLocks noChangeAspect="1"/>
            </p:cNvPicPr>
            <p:nvPr/>
          </p:nvPicPr>
          <p:blipFill>
            <a:blip r:embed="rId5">
              <a:extLst>
                <a:ext uri="{28A0092B-C50C-407E-A947-70E740481C1C}">
                  <a14:useLocalDpi xmlns:a14="http://schemas.microsoft.com/office/drawing/2010/main"/>
                </a:ext>
              </a:extLst>
            </a:blip>
            <a:srcRect l="22250"/>
            <a:stretch/>
          </p:blipFill>
          <p:spPr>
            <a:xfrm>
              <a:off x="323527" y="4090901"/>
              <a:ext cx="3363485" cy="2276872"/>
            </a:xfrm>
            <a:prstGeom prst="rect">
              <a:avLst/>
            </a:prstGeom>
          </p:spPr>
        </p:pic>
      </p:grpSp>
      <p:pic>
        <p:nvPicPr>
          <p:cNvPr id="4" name="Picture 3"/>
          <p:cNvPicPr>
            <a:picLocks noChangeAspect="1"/>
          </p:cNvPicPr>
          <p:nvPr/>
        </p:nvPicPr>
        <p:blipFill>
          <a:blip r:embed="rId6">
            <a:extLst>
              <a:ext uri="{28A0092B-C50C-407E-A947-70E740481C1C}">
                <a14:useLocalDpi xmlns:a14="http://schemas.microsoft.com/office/drawing/2010/main"/>
              </a:ext>
            </a:extLst>
          </a:blip>
          <a:srcRect/>
          <a:stretch/>
        </p:blipFill>
        <p:spPr>
          <a:xfrm>
            <a:off x="19416" y="1164027"/>
            <a:ext cx="3891202" cy="2407027"/>
          </a:xfrm>
          <a:prstGeom prst="rect">
            <a:avLst/>
          </a:prstGeom>
        </p:spPr>
      </p:pic>
      <p:pic>
        <p:nvPicPr>
          <p:cNvPr id="11" name="Picture 10" descr="A math equations and formulas&#10;&#10;Description automatically generated with medium confidence">
            <a:extLst>
              <a:ext uri="{FF2B5EF4-FFF2-40B4-BE49-F238E27FC236}">
                <a16:creationId xmlns:a16="http://schemas.microsoft.com/office/drawing/2014/main" id="{38464A01-59DB-7072-7327-66E7437B0C4A}"/>
              </a:ext>
            </a:extLst>
          </p:cNvPr>
          <p:cNvPicPr>
            <a:picLocks noChangeAspect="1"/>
          </p:cNvPicPr>
          <p:nvPr/>
        </p:nvPicPr>
        <p:blipFill>
          <a:blip r:embed="rId7">
            <a:extLst>
              <a:ext uri="{28A0092B-C50C-407E-A947-70E740481C1C}">
                <a14:useLocalDpi xmlns:a14="http://schemas.microsoft.com/office/drawing/2010/main"/>
              </a:ext>
            </a:extLst>
          </a:blip>
          <a:srcRect l="19715"/>
          <a:stretch/>
        </p:blipFill>
        <p:spPr>
          <a:xfrm>
            <a:off x="611560" y="3645024"/>
            <a:ext cx="3510071" cy="3067050"/>
          </a:xfrm>
          <a:prstGeom prst="rect">
            <a:avLst/>
          </a:prstGeom>
        </p:spPr>
      </p:pic>
      <p:sp>
        <p:nvSpPr>
          <p:cNvPr id="5" name="Footer Placeholder 2">
            <a:extLst>
              <a:ext uri="{FF2B5EF4-FFF2-40B4-BE49-F238E27FC236}">
                <a16:creationId xmlns:a16="http://schemas.microsoft.com/office/drawing/2014/main" id="{E8312ABF-EA4A-9F7D-F36C-445DDE097729}"/>
              </a:ext>
            </a:extLst>
          </p:cNvPr>
          <p:cNvSpPr txBox="1">
            <a:spLocks/>
          </p:cNvSpPr>
          <p:nvPr/>
        </p:nvSpPr>
        <p:spPr bwMode="auto">
          <a:xfrm>
            <a:off x="107504"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A103000399219</a:t>
            </a:r>
            <a:endParaRPr lang="ar" sz="1000" dirty="0"/>
          </a:p>
        </p:txBody>
      </p:sp>
    </p:spTree>
    <p:extLst>
      <p:ext uri="{BB962C8B-B14F-4D97-AF65-F5344CB8AC3E}">
        <p14:creationId xmlns:p14="http://schemas.microsoft.com/office/powerpoint/2010/main" val="3626080753"/>
      </p:ext>
    </p:extLst>
  </p:cSld>
  <p:clrMapOvr>
    <a:masterClrMapping/>
  </p:clrMapOvr>
  <p:transition>
    <p:sndAc>
      <p:stSnd>
        <p:snd r:embed="rId3"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724127" y="2276872"/>
            <a:ext cx="3081387" cy="29625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500" b="1" dirty="0"/>
              <a:t>مكبرات الترانزستور</a:t>
            </a:r>
          </a:p>
          <a:p>
            <a:pPr rtl="1"/>
            <a:r>
              <a:rPr lang="ar" sz="1500" dirty="0"/>
              <a:t>تُستخدم مكبرات الباعث الشائعة في نطاق واسع في الدوائر التناظرية لقدرتها على توفير كسب الجهد العالي وتكبير التيار. يمكننا تحقيق الأداء الأمثل وضمان تشغيل المكبر داخل منطقته الخطية من خلال تحييد الترانزستور بشكل صحيح.</a:t>
            </a:r>
          </a:p>
          <a:p>
            <a:pPr rtl="1"/>
            <a:r>
              <a:rPr lang="ar" sz="1500" dirty="0"/>
              <a:t>ولحساب حيود مكبرات الباعث الشائعة، يلزم تحديد قيمة كسب التيار ومقاومة الباعث الداخلي وكسب الجهد. ويمكن إجراء هذه الحسابات باستخدام تقنيات النظرية والمحاكاة والقياس.</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مكبرات الترانزستور</a:t>
            </a:r>
          </a:p>
        </p:txBody>
      </p:sp>
      <p:sp>
        <p:nvSpPr>
          <p:cNvPr id="12" name="Content Placeholder 3">
            <a:extLst>
              <a:ext uri="{FF2B5EF4-FFF2-40B4-BE49-F238E27FC236}">
                <a16:creationId xmlns:a16="http://schemas.microsoft.com/office/drawing/2014/main" id="{ED0DA88D-58FF-FAA4-8EE4-8DC39A77218C}"/>
              </a:ext>
            </a:extLst>
          </p:cNvPr>
          <p:cNvSpPr txBox="1">
            <a:spLocks noChangeArrowheads="1"/>
          </p:cNvSpPr>
          <p:nvPr/>
        </p:nvSpPr>
        <p:spPr bwMode="auto">
          <a:xfrm>
            <a:off x="715585" y="3562831"/>
            <a:ext cx="3748878" cy="296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Font typeface="Wingdings" panose="05000000000000000000" pitchFamily="2" charset="2"/>
              <a:buNone/>
            </a:pPr>
            <a:r>
              <a:rPr lang="ar" sz="1500" b="1" kern="0" dirty="0">
                <a:latin typeface="Sakkal Majalla" panose="02000000000000000000" pitchFamily="2" charset="-78"/>
                <a:cs typeface="Sakkal Majalla" panose="02000000000000000000" pitchFamily="2" charset="-78"/>
              </a:rPr>
              <a:t>كسب التيار</a:t>
            </a:r>
          </a:p>
          <a:p>
            <a:pPr rtl="1"/>
            <a:r>
              <a:rPr lang="ar" sz="1500" kern="0" dirty="0">
                <a:latin typeface="Sakkal Majalla" panose="02000000000000000000" pitchFamily="2" charset="-78"/>
                <a:cs typeface="Sakkal Majalla" panose="02000000000000000000" pitchFamily="2" charset="-78"/>
              </a:rPr>
              <a:t>يُمثل كسب التيار، المعروف أيضًا باسم قيمة بيتا (β)، نسبة تيار المجمع (IC) إلى تيار القاعدة (IB). ويعكس قدرة الترانزستور على التكبير وعادةً ما يتم تحديده في ورقة المواصفات الفنية.</a:t>
            </a:r>
          </a:p>
          <a:p>
            <a:pPr marL="0" indent="0" rtl="1">
              <a:buFont typeface="Wingdings" panose="05000000000000000000" pitchFamily="2" charset="2"/>
              <a:buNone/>
            </a:pPr>
            <a:r>
              <a:rPr lang="ar" sz="1500" b="1" kern="0" dirty="0">
                <a:latin typeface="Sakkal Majalla" panose="02000000000000000000" pitchFamily="2" charset="-78"/>
                <a:cs typeface="Sakkal Majalla" panose="02000000000000000000" pitchFamily="2" charset="-78"/>
              </a:rPr>
              <a:t>مقاومة الباعث الداخلي</a:t>
            </a:r>
          </a:p>
          <a:p>
            <a:pPr rtl="1"/>
            <a:r>
              <a:rPr lang="ar" sz="1500" kern="0" dirty="0">
                <a:latin typeface="Sakkal Majalla" panose="02000000000000000000" pitchFamily="2" charset="-78"/>
                <a:cs typeface="Sakkal Majalla" panose="02000000000000000000" pitchFamily="2" charset="-78"/>
              </a:rPr>
              <a:t>تمثل مقاومة الباعث الداخلية (re) المقاومة الديناميكية لوصلة باعث الترانزستور. وتؤثر في كسب الجهد ويمكن حسابها باستخدام المعادلة: re = (26 mV / IC)، حيث يشير IC إلى تيار المجمع.</a:t>
            </a:r>
          </a:p>
        </p:txBody>
      </p:sp>
      <p:grpSp>
        <p:nvGrpSpPr>
          <p:cNvPr id="2" name="Group 1">
            <a:extLst>
              <a:ext uri="{FF2B5EF4-FFF2-40B4-BE49-F238E27FC236}">
                <a16:creationId xmlns:a16="http://schemas.microsoft.com/office/drawing/2014/main" id="{2D2F6C42-DF60-1665-DC9B-8EF8E4BC144D}"/>
              </a:ext>
            </a:extLst>
          </p:cNvPr>
          <p:cNvGrpSpPr/>
          <p:nvPr/>
        </p:nvGrpSpPr>
        <p:grpSpPr>
          <a:xfrm>
            <a:off x="251519" y="1124744"/>
            <a:ext cx="5256712" cy="2394268"/>
            <a:chOff x="3864989" y="1124744"/>
            <a:chExt cx="5256712" cy="2394268"/>
          </a:xfrm>
        </p:grpSpPr>
        <p:pic>
          <p:nvPicPr>
            <p:cNvPr id="5" name="Picture 4" descr="A diagram of a diagram of a circle&#10;&#10;Description automatically generated with medium confidence">
              <a:extLst>
                <a:ext uri="{FF2B5EF4-FFF2-40B4-BE49-F238E27FC236}">
                  <a16:creationId xmlns:a16="http://schemas.microsoft.com/office/drawing/2014/main" id="{B1BD2498-58F6-71C9-7628-E2F2A542C0AA}"/>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716016" y="1124744"/>
              <a:ext cx="3312368" cy="2343471"/>
            </a:xfrm>
            <a:prstGeom prst="rect">
              <a:avLst/>
            </a:prstGeom>
          </p:spPr>
        </p:pic>
        <p:sp>
          <p:nvSpPr>
            <p:cNvPr id="6" name="Rectangle 5">
              <a:extLst>
                <a:ext uri="{FF2B5EF4-FFF2-40B4-BE49-F238E27FC236}">
                  <a16:creationId xmlns:a16="http://schemas.microsoft.com/office/drawing/2014/main" id="{9EB3BEE3-992C-2EFD-FA49-36601ED3E362}"/>
                </a:ext>
              </a:extLst>
            </p:cNvPr>
            <p:cNvSpPr/>
            <p:nvPr/>
          </p:nvSpPr>
          <p:spPr>
            <a:xfrm>
              <a:off x="7639356" y="2564905"/>
              <a:ext cx="1017681" cy="954107"/>
            </a:xfrm>
            <a:prstGeom prst="rect">
              <a:avLst/>
            </a:prstGeom>
            <a:solidFill>
              <a:schemeClr val="bg1"/>
            </a:solidFill>
          </p:spPr>
          <p:txBody>
            <a:bodyPr wrap="square" rtlCol="1">
              <a:spAutoFit/>
            </a:bodyPr>
            <a:lstStyle/>
            <a:p>
              <a:pPr algn="ctr" rtl="1"/>
              <a:r>
                <a:rPr lang="ar" sz="1400" dirty="0">
                  <a:latin typeface="Sakkal Majalla" panose="02000000000000000000" pitchFamily="2" charset="-78"/>
                  <a:cs typeface="Sakkal Majalla" panose="02000000000000000000" pitchFamily="2" charset="-78"/>
                </a:rPr>
                <a:t>تتباطأ الأشعة تحت الحمراء عند مرورها عبر البلاستيك</a:t>
              </a:r>
              <a:endParaRPr lang="en-GB" sz="1400" i="0" dirty="0">
                <a:effectLst/>
                <a:latin typeface="Sakkal Majalla" panose="02000000000000000000" pitchFamily="2" charset="-78"/>
                <a:cs typeface="Sakkal Majalla" panose="02000000000000000000" pitchFamily="2" charset="-78"/>
              </a:endParaRPr>
            </a:p>
          </p:txBody>
        </p:sp>
        <p:sp>
          <p:nvSpPr>
            <p:cNvPr id="7" name="Rectangle 6">
              <a:extLst>
                <a:ext uri="{FF2B5EF4-FFF2-40B4-BE49-F238E27FC236}">
                  <a16:creationId xmlns:a16="http://schemas.microsoft.com/office/drawing/2014/main" id="{906F6935-796A-2B56-F64C-47B56746476D}"/>
                </a:ext>
              </a:extLst>
            </p:cNvPr>
            <p:cNvSpPr/>
            <p:nvPr/>
          </p:nvSpPr>
          <p:spPr>
            <a:xfrm>
              <a:off x="3864989" y="1988841"/>
              <a:ext cx="1090371" cy="523220"/>
            </a:xfrm>
            <a:prstGeom prst="rect">
              <a:avLst/>
            </a:prstGeom>
            <a:solidFill>
              <a:schemeClr val="bg1"/>
            </a:solidFill>
          </p:spPr>
          <p:txBody>
            <a:bodyPr wrap="square" rtlCol="1">
              <a:spAutoFit/>
            </a:bodyPr>
            <a:lstStyle/>
            <a:p>
              <a:pPr algn="r" rtl="1"/>
              <a:r>
                <a:rPr lang="ar" sz="1400" dirty="0">
                  <a:latin typeface="Sakkal Majalla" panose="02000000000000000000" pitchFamily="2" charset="-78"/>
                  <a:cs typeface="Sakkal Majalla" panose="02000000000000000000" pitchFamily="2" charset="-78"/>
                </a:rPr>
                <a:t>باعث الأشعة تحت الحمراء</a:t>
              </a:r>
              <a:endParaRPr lang="en-GB" sz="1400" i="0" dirty="0">
                <a:effectLst/>
                <a:latin typeface="Sakkal Majalla" panose="02000000000000000000" pitchFamily="2" charset="-78"/>
                <a:cs typeface="Sakkal Majalla" panose="02000000000000000000" pitchFamily="2" charset="-78"/>
              </a:endParaRPr>
            </a:p>
          </p:txBody>
        </p:sp>
        <p:sp>
          <p:nvSpPr>
            <p:cNvPr id="8" name="Rectangle 7">
              <a:extLst>
                <a:ext uri="{FF2B5EF4-FFF2-40B4-BE49-F238E27FC236}">
                  <a16:creationId xmlns:a16="http://schemas.microsoft.com/office/drawing/2014/main" id="{87D9433E-767D-7066-0D1A-CF0AA145D207}"/>
                </a:ext>
              </a:extLst>
            </p:cNvPr>
            <p:cNvSpPr/>
            <p:nvPr/>
          </p:nvSpPr>
          <p:spPr>
            <a:xfrm>
              <a:off x="4408886" y="2564905"/>
              <a:ext cx="696024" cy="307777"/>
            </a:xfrm>
            <a:prstGeom prst="rect">
              <a:avLst/>
            </a:prstGeom>
            <a:solidFill>
              <a:schemeClr val="bg1"/>
            </a:solidFill>
          </p:spPr>
          <p:txBody>
            <a:bodyPr wrap="none" rtlCol="1">
              <a:spAutoFit/>
            </a:bodyPr>
            <a:lstStyle/>
            <a:p>
              <a:pPr algn="ctr" rtl="1"/>
              <a:r>
                <a:rPr lang="ar" sz="1400" dirty="0">
                  <a:latin typeface="Sakkal Majalla" panose="02000000000000000000" pitchFamily="2" charset="-78"/>
                  <a:cs typeface="Sakkal Majalla" panose="02000000000000000000" pitchFamily="2" charset="-78"/>
                </a:rPr>
                <a:t>البلاستيك</a:t>
              </a:r>
              <a:endParaRPr lang="en-GB" sz="1400" i="0" dirty="0">
                <a:effectLst/>
                <a:latin typeface="Sakkal Majalla" panose="02000000000000000000" pitchFamily="2" charset="-78"/>
                <a:cs typeface="Sakkal Majalla" panose="02000000000000000000" pitchFamily="2" charset="-78"/>
              </a:endParaRPr>
            </a:p>
          </p:txBody>
        </p:sp>
        <p:sp>
          <p:nvSpPr>
            <p:cNvPr id="9" name="Rectangle 8">
              <a:extLst>
                <a:ext uri="{FF2B5EF4-FFF2-40B4-BE49-F238E27FC236}">
                  <a16:creationId xmlns:a16="http://schemas.microsoft.com/office/drawing/2014/main" id="{5EAA32C8-75F6-4B44-5D49-D5C4D34201FB}"/>
                </a:ext>
              </a:extLst>
            </p:cNvPr>
            <p:cNvSpPr/>
            <p:nvPr/>
          </p:nvSpPr>
          <p:spPr>
            <a:xfrm>
              <a:off x="5003917" y="2618575"/>
              <a:ext cx="1584307" cy="738664"/>
            </a:xfrm>
            <a:prstGeom prst="rect">
              <a:avLst/>
            </a:prstGeom>
            <a:solidFill>
              <a:schemeClr val="bg1"/>
            </a:solidFill>
          </p:spPr>
          <p:txBody>
            <a:bodyPr wrap="square" rtlCol="1">
              <a:spAutoFit/>
            </a:bodyPr>
            <a:lstStyle/>
            <a:p>
              <a:pPr algn="ctr" rtl="1"/>
              <a:r>
                <a:rPr lang="ar" sz="1400" dirty="0">
                  <a:latin typeface="Sakkal Majalla" panose="02000000000000000000" pitchFamily="2" charset="-78"/>
                  <a:cs typeface="Sakkal Majalla" panose="02000000000000000000" pitchFamily="2" charset="-78"/>
                </a:rPr>
                <a:t>تزداد سرعة الأشعة تحت الحمراء عند انتقالها من البلاستيك إلى الهواء.</a:t>
              </a:r>
              <a:endParaRPr lang="en-GB" sz="1400" i="0" dirty="0">
                <a:effectLst/>
                <a:latin typeface="Sakkal Majalla" panose="02000000000000000000" pitchFamily="2" charset="-78"/>
                <a:cs typeface="Sakkal Majalla" panose="02000000000000000000" pitchFamily="2" charset="-78"/>
              </a:endParaRPr>
            </a:p>
          </p:txBody>
        </p:sp>
        <p:sp>
          <p:nvSpPr>
            <p:cNvPr id="10" name="Rectangle 9">
              <a:extLst>
                <a:ext uri="{FF2B5EF4-FFF2-40B4-BE49-F238E27FC236}">
                  <a16:creationId xmlns:a16="http://schemas.microsoft.com/office/drawing/2014/main" id="{29874E22-F009-138C-605B-E9D7B7FF18D7}"/>
                </a:ext>
              </a:extLst>
            </p:cNvPr>
            <p:cNvSpPr/>
            <p:nvPr/>
          </p:nvSpPr>
          <p:spPr>
            <a:xfrm>
              <a:off x="5391674" y="1518864"/>
              <a:ext cx="1526380" cy="307777"/>
            </a:xfrm>
            <a:prstGeom prst="rect">
              <a:avLst/>
            </a:prstGeom>
            <a:solidFill>
              <a:schemeClr val="bg1"/>
            </a:solidFill>
          </p:spPr>
          <p:txBody>
            <a:bodyPr wrap="none" rtlCol="1">
              <a:spAutoFit/>
            </a:bodyPr>
            <a:lstStyle/>
            <a:p>
              <a:pPr algn="ctr" rtl="1"/>
              <a:r>
                <a:rPr lang="ar" sz="1400" dirty="0">
                  <a:latin typeface="Sakkal Majalla" panose="02000000000000000000" pitchFamily="2" charset="-78"/>
                  <a:cs typeface="Sakkal Majalla" panose="02000000000000000000" pitchFamily="2" charset="-78"/>
                </a:rPr>
                <a:t>شعاع الأشعة تحت الحمراء</a:t>
              </a:r>
              <a:endParaRPr lang="en-GB" sz="1400" i="0" dirty="0">
                <a:effectLst/>
                <a:latin typeface="Sakkal Majalla" panose="02000000000000000000" pitchFamily="2" charset="-78"/>
                <a:cs typeface="Sakkal Majalla" panose="02000000000000000000" pitchFamily="2" charset="-78"/>
              </a:endParaRPr>
            </a:p>
          </p:txBody>
        </p:sp>
        <p:sp>
          <p:nvSpPr>
            <p:cNvPr id="11" name="Rectangle 10">
              <a:extLst>
                <a:ext uri="{FF2B5EF4-FFF2-40B4-BE49-F238E27FC236}">
                  <a16:creationId xmlns:a16="http://schemas.microsoft.com/office/drawing/2014/main" id="{069A2A63-5850-F1AD-8930-929E5A0D6B3F}"/>
                </a:ext>
              </a:extLst>
            </p:cNvPr>
            <p:cNvSpPr/>
            <p:nvPr/>
          </p:nvSpPr>
          <p:spPr>
            <a:xfrm>
              <a:off x="7749209" y="1988840"/>
              <a:ext cx="1372492" cy="523220"/>
            </a:xfrm>
            <a:prstGeom prst="rect">
              <a:avLst/>
            </a:prstGeom>
            <a:solidFill>
              <a:schemeClr val="bg1"/>
            </a:solidFill>
          </p:spPr>
          <p:txBody>
            <a:bodyPr wrap="square" rtlCol="1">
              <a:spAutoFit/>
            </a:bodyPr>
            <a:lstStyle/>
            <a:p>
              <a:pPr algn="r" rtl="1"/>
              <a:r>
                <a:rPr lang="ar" sz="1400" dirty="0">
                  <a:latin typeface="Sakkal Majalla" panose="02000000000000000000" pitchFamily="2" charset="-78"/>
                  <a:cs typeface="Sakkal Majalla" panose="02000000000000000000" pitchFamily="2" charset="-78"/>
                </a:rPr>
                <a:t>كاشف الأشعة تحت الحمراء</a:t>
              </a:r>
              <a:endParaRPr lang="en-GB" sz="1400" i="0" dirty="0">
                <a:effectLst/>
                <a:latin typeface="Sakkal Majalla" panose="02000000000000000000" pitchFamily="2" charset="-78"/>
                <a:cs typeface="Sakkal Majalla" panose="02000000000000000000" pitchFamily="2" charset="-78"/>
              </a:endParaRPr>
            </a:p>
          </p:txBody>
        </p:sp>
        <p:sp>
          <p:nvSpPr>
            <p:cNvPr id="3" name="Rectangle 2"/>
            <p:cNvSpPr/>
            <p:nvPr/>
          </p:nvSpPr>
          <p:spPr>
            <a:xfrm>
              <a:off x="6638120" y="1151033"/>
              <a:ext cx="2002472" cy="400110"/>
            </a:xfrm>
            <a:prstGeom prst="rect">
              <a:avLst/>
            </a:prstGeom>
          </p:spPr>
          <p:txBody>
            <a:bodyPr wrap="none" rtlCol="1">
              <a:spAutoFit/>
            </a:bodyPr>
            <a:lstStyle/>
            <a:p>
              <a:pPr algn="ctr" rtl="1"/>
              <a:r>
                <a:rPr lang="ar" b="1" dirty="0">
                  <a:latin typeface="Sakkal Majalla" panose="02000000000000000000" pitchFamily="2" charset="-78"/>
                  <a:cs typeface="Sakkal Majalla" panose="02000000000000000000" pitchFamily="2" charset="-78"/>
                </a:rPr>
                <a:t>باعث الأشعة </a:t>
              </a:r>
              <a:r>
                <a:rPr lang="ar" sz="2000" b="1" dirty="0">
                  <a:latin typeface="Sakkal Majalla" panose="02000000000000000000" pitchFamily="2" charset="-78"/>
                  <a:cs typeface="Sakkal Majalla" panose="02000000000000000000" pitchFamily="2" charset="-78"/>
                </a:rPr>
                <a:t>تحت</a:t>
              </a:r>
              <a:r>
                <a:rPr lang="ar" b="1" dirty="0">
                  <a:latin typeface="Sakkal Majalla" panose="02000000000000000000" pitchFamily="2" charset="-78"/>
                  <a:cs typeface="Sakkal Majalla" panose="02000000000000000000" pitchFamily="2" charset="-78"/>
                </a:rPr>
                <a:t> الحمراء</a:t>
              </a:r>
              <a:endParaRPr lang="en-GB" b="1" i="0" dirty="0">
                <a:effectLst/>
                <a:latin typeface="Sakkal Majalla" panose="02000000000000000000" pitchFamily="2" charset="-78"/>
                <a:cs typeface="Sakkal Majalla" panose="02000000000000000000" pitchFamily="2" charset="-78"/>
              </a:endParaRPr>
            </a:p>
          </p:txBody>
        </p:sp>
      </p:grpSp>
      <p:sp>
        <p:nvSpPr>
          <p:cNvPr id="4" name="Footer Placeholder 2">
            <a:extLst>
              <a:ext uri="{FF2B5EF4-FFF2-40B4-BE49-F238E27FC236}">
                <a16:creationId xmlns:a16="http://schemas.microsoft.com/office/drawing/2014/main" id="{0DC59EB7-1310-51A1-C4CD-9F0649BAC12C}"/>
              </a:ext>
            </a:extLst>
          </p:cNvPr>
          <p:cNvSpPr txBox="1">
            <a:spLocks/>
          </p:cNvSpPr>
          <p:nvPr/>
        </p:nvSpPr>
        <p:spPr bwMode="auto">
          <a:xfrm>
            <a:off x="107504"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A103000399219</a:t>
            </a:r>
            <a:endParaRPr lang="ar" sz="1000" dirty="0"/>
          </a:p>
        </p:txBody>
      </p:sp>
    </p:spTree>
    <p:extLst>
      <p:ext uri="{BB962C8B-B14F-4D97-AF65-F5344CB8AC3E}">
        <p14:creationId xmlns:p14="http://schemas.microsoft.com/office/powerpoint/2010/main" val="1900585619"/>
      </p:ext>
    </p:extLst>
  </p:cSld>
  <p:clrMapOvr>
    <a:masterClrMapping/>
  </p:clrMapOvr>
  <p:transition>
    <p:sndAc>
      <p:stSnd>
        <p:snd r:embed="rId3"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427984" y="1124744"/>
            <a:ext cx="4464496" cy="573325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t>كسب الجهد</a:t>
            </a:r>
          </a:p>
          <a:p>
            <a:pPr marL="0" indent="0" rtl="1">
              <a:buNone/>
            </a:pPr>
            <a:r>
              <a:rPr lang="ar" sz="1600" dirty="0"/>
              <a:t>يمكن تحديد كسب الجهد (Av) لمكبر الباعث الشائع من خلال نسبة جهد الخرج (Vout) إلى جهد الدخل (Vin). ويتأثر بكسب التيار للترانزستور ومقاومة الباعث الداخلية.</a:t>
            </a:r>
          </a:p>
          <a:p>
            <a:pPr rtl="1"/>
            <a:endParaRPr lang="en-GB" sz="1600" dirty="0"/>
          </a:p>
          <a:p>
            <a:pPr marL="0" indent="0" rtl="1">
              <a:buNone/>
            </a:pPr>
            <a:r>
              <a:rPr lang="ar" sz="1600" b="1" dirty="0"/>
              <a:t>القياس والمحاكاة</a:t>
            </a:r>
          </a:p>
          <a:p>
            <a:pPr marL="0" indent="0" rtl="1">
              <a:buNone/>
            </a:pPr>
            <a:r>
              <a:rPr lang="ar" sz="1600" dirty="0"/>
              <a:t>للتحقق من صحة الحسابات وتحديد كسب الجهد الفعلي، يمكننا قياس ومحاكاة المكبر باستخدام معدات الاختبار المناسبة والبرمجيات المخصصة، ما يتيح لنا ذلك التحقق من أداء المكبر وإجراء أي تعديلات ضرورية.</a:t>
            </a:r>
          </a:p>
          <a:p>
            <a:pPr rtl="1"/>
            <a:endParaRPr lang="en-GB" sz="1600" dirty="0"/>
          </a:p>
          <a:p>
            <a:pPr marL="0" indent="0" rtl="1">
              <a:buNone/>
            </a:pPr>
            <a:r>
              <a:rPr lang="ar" sz="1600" b="1" dirty="0"/>
              <a:t>تطبيقات الاتصالات</a:t>
            </a:r>
          </a:p>
          <a:p>
            <a:pPr marL="0" indent="0" rtl="1">
              <a:buNone/>
            </a:pPr>
            <a:r>
              <a:rPr lang="ar" sz="1600" b="1" dirty="0"/>
              <a:t>تحليل الأشكال الموجية</a:t>
            </a:r>
          </a:p>
          <a:p>
            <a:pPr marL="0" indent="0" rtl="1">
              <a:buNone/>
            </a:pPr>
            <a:r>
              <a:rPr lang="ar" sz="1600" dirty="0"/>
              <a:t>يعد تحليل الأشكال الموجية أمرًا بالغ الأهمية لفهم سلوك الإشارات في تطبيقات الاتصالات. كما يمكننا استنباط خصائص الإشارة مثل السعة والتردد والطور من خلال تحليل الأشكال الموجية. وتعد هذه المعلومات أساسية لتصميم أنظمة الاتصالات وتحسينها.</a:t>
            </a:r>
          </a:p>
          <a:p>
            <a:pPr rtl="1"/>
            <a:endParaRPr lang="en-GB" sz="1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مكبرات الترانزستور</a:t>
            </a:r>
          </a:p>
        </p:txBody>
      </p:sp>
      <p:sp>
        <p:nvSpPr>
          <p:cNvPr id="2" name="Rectangle 1"/>
          <p:cNvSpPr/>
          <p:nvPr/>
        </p:nvSpPr>
        <p:spPr>
          <a:xfrm>
            <a:off x="464583" y="4869160"/>
            <a:ext cx="2367957" cy="338554"/>
          </a:xfrm>
          <a:prstGeom prst="rect">
            <a:avLst/>
          </a:prstGeom>
        </p:spPr>
        <p:txBody>
          <a:bodyPr wrap="none" rtlCol="1">
            <a:spAutoFit/>
          </a:bodyPr>
          <a:lstStyle/>
          <a:p>
            <a:pPr rtl="1"/>
            <a:r>
              <a:rPr lang="ar" sz="1600" b="1" dirty="0">
                <a:latin typeface="Sakkal Majalla" panose="02000000000000000000" pitchFamily="2" charset="-78"/>
                <a:cs typeface="Sakkal Majalla" panose="02000000000000000000" pitchFamily="2" charset="-78"/>
              </a:rPr>
              <a:t>الأشكال الموجية لمرشح إدخال المكثف</a:t>
            </a:r>
          </a:p>
        </p:txBody>
      </p:sp>
      <p:pic>
        <p:nvPicPr>
          <p:cNvPr id="5" name="Picture 4" descr="A line of lines on a white background&#10;&#10;Description automatically generated">
            <a:extLst>
              <a:ext uri="{FF2B5EF4-FFF2-40B4-BE49-F238E27FC236}">
                <a16:creationId xmlns:a16="http://schemas.microsoft.com/office/drawing/2014/main" id="{9546DDEF-40EC-71EC-A1EF-BA2F6F6F20C4}"/>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821892" y="2564904"/>
            <a:ext cx="3174044" cy="2245608"/>
          </a:xfrm>
          <a:prstGeom prst="rect">
            <a:avLst/>
          </a:prstGeom>
        </p:spPr>
      </p:pic>
      <p:sp>
        <p:nvSpPr>
          <p:cNvPr id="3" name="Footer Placeholder 2">
            <a:extLst>
              <a:ext uri="{FF2B5EF4-FFF2-40B4-BE49-F238E27FC236}">
                <a16:creationId xmlns:a16="http://schemas.microsoft.com/office/drawing/2014/main" id="{CDD2A404-C370-431A-4396-26DBE5F92F32}"/>
              </a:ext>
            </a:extLst>
          </p:cNvPr>
          <p:cNvSpPr txBox="1">
            <a:spLocks/>
          </p:cNvSpPr>
          <p:nvPr/>
        </p:nvSpPr>
        <p:spPr bwMode="auto">
          <a:xfrm>
            <a:off x="107504"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A103000399219</a:t>
            </a:r>
            <a:endParaRPr lang="ar" sz="1000" dirty="0"/>
          </a:p>
        </p:txBody>
      </p:sp>
    </p:spTree>
    <p:extLst>
      <p:ext uri="{BB962C8B-B14F-4D97-AF65-F5344CB8AC3E}">
        <p14:creationId xmlns:p14="http://schemas.microsoft.com/office/powerpoint/2010/main" val="1784239410"/>
      </p:ext>
    </p:extLst>
  </p:cSld>
  <p:clrMapOvr>
    <a:masterClrMapping/>
  </p:clrMapOvr>
  <p:transition>
    <p:sndAc>
      <p:stSnd>
        <p:snd r:embed="rId3"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نتاج التعلم ج</a:t>
            </a:r>
            <a:br>
              <a:rPr lang="en-US" altLang="en-US" sz="2600" dirty="0"/>
            </a:br>
            <a:br>
              <a:rPr lang="en-US" altLang="en-US" sz="2600" dirty="0"/>
            </a:b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1259633" y="2493963"/>
            <a:ext cx="662473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تعديل دائرة إلكترونية تناظرية أحادية الوظيفة لتلبية</a:t>
            </a:r>
            <a:r>
              <a:rPr lang="en-US" sz="3800" b="1" dirty="0">
                <a:latin typeface="Sakkal Majalla" panose="02000000000000000000" pitchFamily="2" charset="-78"/>
                <a:cs typeface="Sakkal Majalla" panose="02000000000000000000" pitchFamily="2" charset="-78"/>
              </a:rPr>
              <a:t> </a:t>
            </a:r>
            <a:r>
              <a:rPr lang="ar" sz="3800" b="1" dirty="0">
                <a:latin typeface="Sakkal Majalla" panose="02000000000000000000" pitchFamily="2" charset="-78"/>
                <a:cs typeface="Sakkal Majalla" panose="02000000000000000000" pitchFamily="2" charset="-78"/>
              </a:rPr>
              <a:t>معايير معينة على النحو المعمول به </a:t>
            </a:r>
            <a:br>
              <a:rPr lang="en-US"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في نطاق واسع في الصناعة</a:t>
            </a:r>
          </a:p>
        </p:txBody>
      </p:sp>
      <p:sp>
        <p:nvSpPr>
          <p:cNvPr id="2" name="Footer Placeholder 2">
            <a:extLst>
              <a:ext uri="{FF2B5EF4-FFF2-40B4-BE49-F238E27FC236}">
                <a16:creationId xmlns:a16="http://schemas.microsoft.com/office/drawing/2014/main" id="{CE8F5B7B-3C74-F9DB-C0B1-4D58571696D7}"/>
              </a:ext>
            </a:extLst>
          </p:cNvPr>
          <p:cNvSpPr txBox="1">
            <a:spLocks/>
          </p:cNvSpPr>
          <p:nvPr/>
        </p:nvSpPr>
        <p:spPr bwMode="auto">
          <a:xfrm>
            <a:off x="107504"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A103000399219</a:t>
            </a:r>
            <a:endParaRPr lang="ar" sz="1000" dirty="0"/>
          </a:p>
        </p:txBody>
      </p:sp>
    </p:spTree>
    <p:extLst>
      <p:ext uri="{BB962C8B-B14F-4D97-AF65-F5344CB8AC3E}">
        <p14:creationId xmlns:p14="http://schemas.microsoft.com/office/powerpoint/2010/main" val="1796285363"/>
      </p:ext>
    </p:extLst>
  </p:cSld>
  <p:clrMapOvr>
    <a:masterClrMapping/>
  </p:clrMapOvr>
  <p:transition>
    <p:sndAc>
      <p:stSnd>
        <p:snd r:embed="rId3"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3300" b="1" dirty="0">
                <a:solidFill>
                  <a:schemeClr val="tx2"/>
                </a:solidFill>
                <a:latin typeface="Sakkal Majalla" panose="02000000000000000000" pitchFamily="2" charset="-78"/>
                <a:cs typeface="Sakkal Majalla" panose="02000000000000000000" pitchFamily="2" charset="-78"/>
              </a:rPr>
              <a:t>تعديل الدوائر الإلكترونية التناظرية</a:t>
            </a:r>
          </a:p>
        </p:txBody>
      </p:sp>
      <p:pic>
        <p:nvPicPr>
          <p:cNvPr id="5" name="Picture 4" descr="A close-up of pencils on a graph&#10;&#10;Description automatically generated">
            <a:extLst>
              <a:ext uri="{FF2B5EF4-FFF2-40B4-BE49-F238E27FC236}">
                <a16:creationId xmlns:a16="http://schemas.microsoft.com/office/drawing/2014/main" id="{896438E3-B15C-B0FB-F041-D45DC1A006C2}"/>
              </a:ext>
            </a:extLst>
          </p:cNvPr>
          <p:cNvPicPr>
            <a:picLocks noChangeAspect="1"/>
          </p:cNvPicPr>
          <p:nvPr/>
        </p:nvPicPr>
        <p:blipFill>
          <a:blip r:embed="rId4" cstate="print">
            <a:extLst>
              <a:ext uri="{28A0092B-C50C-407E-A947-70E740481C1C}">
                <a14:useLocalDpi xmlns:a14="http://schemas.microsoft.com/office/drawing/2010/main"/>
              </a:ext>
            </a:extLst>
          </a:blip>
          <a:srcRect t="6582" b="26974"/>
          <a:stretch/>
        </p:blipFill>
        <p:spPr>
          <a:xfrm>
            <a:off x="4648199" y="2196001"/>
            <a:ext cx="4027487" cy="4024100"/>
          </a:xfrm>
          <a:prstGeom prst="rect">
            <a:avLst/>
          </a:prstGeom>
          <a:noFill/>
        </p:spPr>
      </p:pic>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8312" y="2196001"/>
            <a:ext cx="4027488" cy="40241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marL="0" indent="0" rtl="1">
              <a:lnSpc>
                <a:spcPct val="90000"/>
              </a:lnSpc>
              <a:buNone/>
            </a:pPr>
            <a:r>
              <a:rPr lang="ar" sz="1500" b="1" dirty="0"/>
              <a:t>تحديد المكونات</a:t>
            </a:r>
          </a:p>
          <a:p>
            <a:pPr rtl="1">
              <a:lnSpc>
                <a:spcPct val="90000"/>
              </a:lnSpc>
            </a:pPr>
            <a:endParaRPr lang="en-GB" sz="1500" b="1" dirty="0"/>
          </a:p>
          <a:p>
            <a:pPr marL="0" indent="0" rtl="1">
              <a:lnSpc>
                <a:spcPct val="90000"/>
              </a:lnSpc>
              <a:buNone/>
            </a:pPr>
            <a:r>
              <a:rPr lang="ar" sz="1500" b="1" dirty="0"/>
              <a:t>أهمية تحديد المكونات</a:t>
            </a:r>
          </a:p>
          <a:p>
            <a:pPr rtl="1">
              <a:lnSpc>
                <a:spcPct val="90000"/>
              </a:lnSpc>
            </a:pPr>
            <a:r>
              <a:rPr lang="ar" sz="1500" dirty="0"/>
              <a:t>يعد تحديد المكونات خطوة حاسمة في تعديل الدوائر الإلكترونية التناظرية.</a:t>
            </a:r>
          </a:p>
          <a:p>
            <a:pPr rtl="1">
              <a:lnSpc>
                <a:spcPct val="90000"/>
              </a:lnSpc>
            </a:pPr>
            <a:r>
              <a:rPr lang="ar" sz="1500" dirty="0"/>
              <a:t>يتضمن تحديد قيم المكونات لتلبية موجز متطلبات عميل معين.</a:t>
            </a:r>
          </a:p>
          <a:p>
            <a:pPr rtl="1">
              <a:lnSpc>
                <a:spcPct val="90000"/>
              </a:lnSpc>
            </a:pPr>
            <a:r>
              <a:rPr lang="ar" sz="1500" dirty="0"/>
              <a:t>يشمل تحديد القيم المفضلة للمكونات بناءً على القيم المثالية المحسوبة.</a:t>
            </a:r>
          </a:p>
          <a:p>
            <a:pPr rtl="1">
              <a:lnSpc>
                <a:spcPct val="90000"/>
              </a:lnSpc>
            </a:pPr>
            <a:r>
              <a:rPr lang="ar" sz="1500" dirty="0"/>
              <a:t>يتضمن حساب مخرجات الدائرة المتوقعة باستخدام مكونات القيمة المفضلة.</a:t>
            </a:r>
          </a:p>
          <a:p>
            <a:pPr rtl="1">
              <a:lnSpc>
                <a:spcPct val="90000"/>
              </a:lnSpc>
            </a:pPr>
            <a:endParaRPr lang="en-GB" sz="1500" dirty="0"/>
          </a:p>
          <a:p>
            <a:pPr marL="0" indent="0" rtl="1">
              <a:lnSpc>
                <a:spcPct val="90000"/>
              </a:lnSpc>
              <a:buNone/>
            </a:pPr>
            <a:r>
              <a:rPr lang="ar" sz="1500" b="1" dirty="0"/>
              <a:t>محاكاة الدائرة المعدلة</a:t>
            </a:r>
          </a:p>
          <a:p>
            <a:pPr rtl="1">
              <a:lnSpc>
                <a:spcPct val="90000"/>
              </a:lnSpc>
            </a:pPr>
            <a:r>
              <a:rPr lang="ar" sz="1500" dirty="0"/>
              <a:t>يجب إجراء محاكاة للدائرة المعدلة للتحقق من التعديلات التي </a:t>
            </a:r>
            <a:r>
              <a:rPr lang="ar-EG" sz="1500" dirty="0"/>
              <a:t>أُجرِيت </a:t>
            </a:r>
            <a:r>
              <a:rPr lang="ar" sz="1500" dirty="0"/>
              <a:t>على الدائرة الإلكترونية التناظرية. ويمكن أن تساعد هذه المحاكاة في ضمان تلبية الدائرة للمعايير المحددة وتشغيلها </a:t>
            </a:r>
            <a:r>
              <a:rPr lang="ar-EG" sz="1500" dirty="0"/>
              <a:t>على النحو</a:t>
            </a:r>
            <a:r>
              <a:rPr lang="ar" sz="1500" dirty="0"/>
              <a:t> </a:t>
            </a:r>
            <a:r>
              <a:rPr lang="ar-EG" sz="1500" dirty="0"/>
              <a:t>ال</a:t>
            </a:r>
            <a:r>
              <a:rPr lang="ar" sz="1500" dirty="0"/>
              <a:t>متوقع. </a:t>
            </a:r>
          </a:p>
        </p:txBody>
      </p:sp>
      <p:sp>
        <p:nvSpPr>
          <p:cNvPr id="2" name="Footer Placeholder 2">
            <a:extLst>
              <a:ext uri="{FF2B5EF4-FFF2-40B4-BE49-F238E27FC236}">
                <a16:creationId xmlns:a16="http://schemas.microsoft.com/office/drawing/2014/main" id="{80446391-46EC-141B-F3DA-D1C43BAD4872}"/>
              </a:ext>
            </a:extLst>
          </p:cNvPr>
          <p:cNvSpPr txBox="1">
            <a:spLocks/>
          </p:cNvSpPr>
          <p:nvPr/>
        </p:nvSpPr>
        <p:spPr bwMode="auto">
          <a:xfrm>
            <a:off x="107504"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A103000399219</a:t>
            </a:r>
            <a:endParaRPr lang="ar" sz="1000" dirty="0"/>
          </a:p>
        </p:txBody>
      </p:sp>
    </p:spTree>
    <p:extLst>
      <p:ext uri="{BB962C8B-B14F-4D97-AF65-F5344CB8AC3E}">
        <p14:creationId xmlns:p14="http://schemas.microsoft.com/office/powerpoint/2010/main" val="3295762694"/>
      </p:ext>
    </p:extLst>
  </p:cSld>
  <p:clrMapOvr>
    <a:masterClrMapping/>
  </p:clrMapOvr>
  <p:transition>
    <p:sndAc>
      <p:stSnd>
        <p:snd r:embed="rId3"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3300" b="1" dirty="0">
                <a:solidFill>
                  <a:schemeClr val="tx2"/>
                </a:solidFill>
                <a:latin typeface="Sakkal Majalla" panose="02000000000000000000" pitchFamily="2" charset="-78"/>
                <a:cs typeface="Sakkal Majalla" panose="02000000000000000000" pitchFamily="2" charset="-78"/>
              </a:rPr>
              <a:t>تعديل الدوائر الإلكترونية التناظرية</a:t>
            </a: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1"/>
          </p:nvPr>
        </p:nvSpPr>
        <p:spPr bwMode="auto">
          <a:xfrm>
            <a:off x="4648199" y="2196001"/>
            <a:ext cx="4027487" cy="40241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marL="0" indent="0" rtl="1">
              <a:lnSpc>
                <a:spcPct val="90000"/>
              </a:lnSpc>
            </a:pPr>
            <a:endParaRPr lang="en-GB" sz="1600" b="1" dirty="0"/>
          </a:p>
          <a:p>
            <a:pPr marL="0" indent="0" rtl="1">
              <a:lnSpc>
                <a:spcPct val="90000"/>
              </a:lnSpc>
              <a:buNone/>
            </a:pPr>
            <a:r>
              <a:rPr lang="ar" sz="1600" b="1" dirty="0"/>
              <a:t>تشمل طرق التحقق من التعديلات ما يأتي:</a:t>
            </a:r>
          </a:p>
          <a:p>
            <a:pPr rtl="1">
              <a:lnSpc>
                <a:spcPct val="90000"/>
              </a:lnSpc>
            </a:pPr>
            <a:endParaRPr lang="en-GB" sz="1600" b="1" dirty="0"/>
          </a:p>
          <a:p>
            <a:pPr rtl="1">
              <a:lnSpc>
                <a:spcPct val="90000"/>
              </a:lnSpc>
            </a:pPr>
            <a:r>
              <a:rPr lang="ar" sz="1600" dirty="0"/>
              <a:t>الإدخال التخطيطي للدائرة المعدلة: يتضمن ذلك إنشاء مخطط تخطيطي للدائرة المعدلة، والذي يمكن أن يساعد على تصور الاتصالات والمكونات.</a:t>
            </a:r>
          </a:p>
          <a:p>
            <a:pPr rtl="1">
              <a:lnSpc>
                <a:spcPct val="90000"/>
              </a:lnSpc>
            </a:pPr>
            <a:r>
              <a:rPr lang="ar" sz="1600" dirty="0"/>
              <a:t>محاكاة تشغيل الدائرة المعدلة: يمكن اختبار الدائرة المعدلة وتحليلها لتحديد سلوكها وأدائها باستخدام برنامج المحاكاة.</a:t>
            </a:r>
          </a:p>
          <a:p>
            <a:pPr rtl="1">
              <a:lnSpc>
                <a:spcPct val="90000"/>
              </a:lnSpc>
            </a:pPr>
            <a:r>
              <a:rPr lang="ar" sz="1600" dirty="0"/>
              <a:t>تعديل قيم المكونات: إذا لم تستوف الدائرة المعدلة المعايير المحددة، فيمكن تعديل قيم المكونات لتحقيق النتائج المرجوة.</a:t>
            </a:r>
          </a:p>
          <a:p>
            <a:pPr rtl="1">
              <a:lnSpc>
                <a:spcPct val="90000"/>
              </a:lnSpc>
            </a:pPr>
            <a:r>
              <a:rPr lang="ar" sz="1600" dirty="0"/>
              <a:t>تحديد التشغيل المتوقع للدائرة: استنادًا إلى التعديلات المجراة، يمكن تحديد السلوك المتوقع للدائرة ومقارنته بنتائج المحاكاة.</a:t>
            </a:r>
          </a:p>
          <a:p>
            <a:pPr rtl="1">
              <a:lnSpc>
                <a:spcPct val="90000"/>
              </a:lnSpc>
            </a:pPr>
            <a:r>
              <a:rPr lang="ar" sz="1600" dirty="0"/>
              <a:t>تحسينات أداء الدوائر: يمكن أيضًا استخدام المحاكاة لتحديد مجالات التحسين في أداء الدائرة.</a:t>
            </a:r>
          </a:p>
          <a:p>
            <a:pPr rtl="1">
              <a:lnSpc>
                <a:spcPct val="90000"/>
              </a:lnSpc>
            </a:pPr>
            <a:endParaRPr lang="en-GB" sz="1600" dirty="0"/>
          </a:p>
        </p:txBody>
      </p:sp>
      <p:pic>
        <p:nvPicPr>
          <p:cNvPr id="5" name="Picture 4" descr="A close up of a computer&#10;&#10;Description automatically generated">
            <a:extLst>
              <a:ext uri="{FF2B5EF4-FFF2-40B4-BE49-F238E27FC236}">
                <a16:creationId xmlns:a16="http://schemas.microsoft.com/office/drawing/2014/main" id="{5CE39C55-2DB0-FA38-13B5-D119E6161790}"/>
              </a:ext>
            </a:extLst>
          </p:cNvPr>
          <p:cNvPicPr>
            <a:picLocks noChangeAspect="1"/>
          </p:cNvPicPr>
          <p:nvPr/>
        </p:nvPicPr>
        <p:blipFill>
          <a:blip r:embed="rId4" cstate="print">
            <a:extLst>
              <a:ext uri="{28A0092B-C50C-407E-A947-70E740481C1C}">
                <a14:useLocalDpi xmlns:a14="http://schemas.microsoft.com/office/drawing/2010/main"/>
              </a:ext>
            </a:extLst>
          </a:blip>
          <a:srcRect l="5800" r="27396" b="3"/>
          <a:stretch/>
        </p:blipFill>
        <p:spPr>
          <a:xfrm>
            <a:off x="612328" y="2492896"/>
            <a:ext cx="3311600" cy="3308814"/>
          </a:xfrm>
          <a:prstGeom prst="rect">
            <a:avLst/>
          </a:prstGeom>
          <a:noFill/>
        </p:spPr>
      </p:pic>
      <p:sp>
        <p:nvSpPr>
          <p:cNvPr id="2" name="Footer Placeholder 2">
            <a:extLst>
              <a:ext uri="{FF2B5EF4-FFF2-40B4-BE49-F238E27FC236}">
                <a16:creationId xmlns:a16="http://schemas.microsoft.com/office/drawing/2014/main" id="{A5F2C8EE-601B-1E61-5C3A-F4C6E55D3D70}"/>
              </a:ext>
            </a:extLst>
          </p:cNvPr>
          <p:cNvSpPr txBox="1">
            <a:spLocks/>
          </p:cNvSpPr>
          <p:nvPr/>
        </p:nvSpPr>
        <p:spPr bwMode="auto">
          <a:xfrm>
            <a:off x="107504"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A103000399219</a:t>
            </a:r>
            <a:endParaRPr lang="ar" sz="1000" dirty="0"/>
          </a:p>
        </p:txBody>
      </p:sp>
    </p:spTree>
    <p:extLst>
      <p:ext uri="{BB962C8B-B14F-4D97-AF65-F5344CB8AC3E}">
        <p14:creationId xmlns:p14="http://schemas.microsoft.com/office/powerpoint/2010/main" val="1713347775"/>
      </p:ext>
    </p:extLst>
  </p:cSld>
  <p:clrMapOvr>
    <a:masterClrMapping/>
  </p:clrMapOvr>
  <p:transition>
    <p:sndAc>
      <p:stSnd>
        <p:snd r:embed="rId3"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3000" b="1" dirty="0">
                <a:solidFill>
                  <a:schemeClr val="tx2"/>
                </a:solidFill>
                <a:latin typeface="Sakkal Majalla" panose="02000000000000000000" pitchFamily="2" charset="-78"/>
                <a:cs typeface="Sakkal Majalla" panose="02000000000000000000" pitchFamily="2" charset="-78"/>
              </a:rPr>
              <a:t>بناء الدوائر المعدلة واختبارها</a:t>
            </a:r>
          </a:p>
        </p:txBody>
      </p:sp>
      <p:pic>
        <p:nvPicPr>
          <p:cNvPr id="5" name="Picture 4" descr="A close-up of a circuit board&#10;&#10;Description automatically generated">
            <a:extLst>
              <a:ext uri="{FF2B5EF4-FFF2-40B4-BE49-F238E27FC236}">
                <a16:creationId xmlns:a16="http://schemas.microsoft.com/office/drawing/2014/main" id="{C213E17D-5AF0-CDCB-1A9C-A4084EA5AD04}"/>
              </a:ext>
            </a:extLst>
          </p:cNvPr>
          <p:cNvPicPr>
            <a:picLocks noChangeAspect="1"/>
          </p:cNvPicPr>
          <p:nvPr/>
        </p:nvPicPr>
        <p:blipFill>
          <a:blip r:embed="rId4" cstate="print">
            <a:extLst>
              <a:ext uri="{28A0092B-C50C-407E-A947-70E740481C1C}">
                <a14:useLocalDpi xmlns:a14="http://schemas.microsoft.com/office/drawing/2010/main"/>
              </a:ext>
            </a:extLst>
          </a:blip>
          <a:srcRect l="18023" r="15173" b="3"/>
          <a:stretch/>
        </p:blipFill>
        <p:spPr>
          <a:xfrm>
            <a:off x="4648199" y="2196001"/>
            <a:ext cx="4027487" cy="4024100"/>
          </a:xfrm>
          <a:prstGeom prst="rect">
            <a:avLst/>
          </a:prstGeom>
          <a:noFill/>
        </p:spPr>
      </p:pic>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8312" y="2196001"/>
            <a:ext cx="4027488" cy="40241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marL="0" indent="0" rtl="1">
              <a:lnSpc>
                <a:spcPct val="90000"/>
              </a:lnSpc>
              <a:buNone/>
            </a:pPr>
            <a:r>
              <a:rPr lang="ar" sz="1700" b="1" dirty="0"/>
              <a:t>بناء الدائرة المعدلة واختبارها</a:t>
            </a:r>
          </a:p>
          <a:p>
            <a:pPr rtl="1">
              <a:lnSpc>
                <a:spcPct val="90000"/>
              </a:lnSpc>
            </a:pPr>
            <a:endParaRPr lang="en-GB" sz="1700" b="1" dirty="0"/>
          </a:p>
          <a:p>
            <a:pPr rtl="1">
              <a:lnSpc>
                <a:spcPct val="90000"/>
              </a:lnSpc>
            </a:pPr>
            <a:r>
              <a:rPr lang="ar" sz="1700" dirty="0"/>
              <a:t>تجميع الدائرة باستخدام طرق البناء الدائمة لمرة واحدة مثل لوحة التجارب أو لوح الشرائح أو لوحة الدارة المطبوعة.</a:t>
            </a:r>
          </a:p>
          <a:p>
            <a:pPr rtl="1">
              <a:lnSpc>
                <a:spcPct val="90000"/>
              </a:lnSpc>
            </a:pPr>
            <a:r>
              <a:rPr lang="ar" sz="1700" dirty="0"/>
              <a:t>يتضمن اختبار الدائرة استخدام مخططات الدوائر لتحديد نقاط الاختبار.</a:t>
            </a:r>
          </a:p>
          <a:p>
            <a:pPr rtl="1">
              <a:lnSpc>
                <a:spcPct val="90000"/>
              </a:lnSpc>
            </a:pPr>
            <a:r>
              <a:rPr lang="ar" sz="1700" dirty="0"/>
              <a:t>تفسير القياسات وتسجيلها.</a:t>
            </a:r>
          </a:p>
          <a:p>
            <a:pPr rtl="1">
              <a:lnSpc>
                <a:spcPct val="90000"/>
              </a:lnSpc>
            </a:pPr>
            <a:r>
              <a:rPr lang="ar" sz="1700" dirty="0">
                <a:latin typeface="Sakkal Majalla"/>
                <a:cs typeface="Sakkal Majalla"/>
              </a:rPr>
              <a:t>استخدام معدات الاختبار، مثل راسم الذبذبات، ومولد </a:t>
            </a:r>
            <a:r>
              <a:rPr lang="ar" sz="1700">
                <a:latin typeface="Sakkal Majalla"/>
                <a:cs typeface="Sakkal Majalla"/>
              </a:rPr>
              <a:t>الإشارات، </a:t>
            </a:r>
            <a:r>
              <a:rPr lang="ar" sz="1700" dirty="0">
                <a:latin typeface="Sakkal Majalla"/>
                <a:cs typeface="Sakkal Majalla"/>
              </a:rPr>
              <a:t>وجهاز القياس متعدد الأغراض الرقمي، ومقياس التردد/ محلل الطيف الترددي، والأدوات الافتراضية (القائمة على الحاسوب).</a:t>
            </a:r>
          </a:p>
          <a:p>
            <a:pPr rtl="1">
              <a:lnSpc>
                <a:spcPct val="90000"/>
              </a:lnSpc>
            </a:pPr>
            <a:r>
              <a:rPr lang="ar" sz="1700" dirty="0"/>
              <a:t>اتباع ممارسات العمل الآمن.</a:t>
            </a:r>
          </a:p>
          <a:p>
            <a:pPr rtl="1">
              <a:lnSpc>
                <a:spcPct val="90000"/>
              </a:lnSpc>
            </a:pPr>
            <a:endParaRPr lang="en-GB" sz="1700" dirty="0"/>
          </a:p>
        </p:txBody>
      </p:sp>
      <p:sp>
        <p:nvSpPr>
          <p:cNvPr id="2" name="Footer Placeholder 2">
            <a:extLst>
              <a:ext uri="{FF2B5EF4-FFF2-40B4-BE49-F238E27FC236}">
                <a16:creationId xmlns:a16="http://schemas.microsoft.com/office/drawing/2014/main" id="{083D66CC-DCC7-B1B1-1DFE-0D732F68EF52}"/>
              </a:ext>
            </a:extLst>
          </p:cNvPr>
          <p:cNvSpPr txBox="1">
            <a:spLocks/>
          </p:cNvSpPr>
          <p:nvPr/>
        </p:nvSpPr>
        <p:spPr bwMode="auto">
          <a:xfrm>
            <a:off x="107504"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A103000399219</a:t>
            </a:r>
            <a:endParaRPr lang="ar" sz="1000" dirty="0"/>
          </a:p>
        </p:txBody>
      </p:sp>
    </p:spTree>
    <p:extLst>
      <p:ext uri="{BB962C8B-B14F-4D97-AF65-F5344CB8AC3E}">
        <p14:creationId xmlns:p14="http://schemas.microsoft.com/office/powerpoint/2010/main" val="2669250250"/>
      </p:ext>
    </p:extLst>
  </p:cSld>
  <p:clrMapOvr>
    <a:masterClrMapping/>
  </p:clrMapOvr>
  <p:transition>
    <p:sndAc>
      <p:stSnd>
        <p:snd r:embed="rId3" name="click.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نتاج التعلم د</a:t>
            </a:r>
            <a:br>
              <a:rPr lang="en-US" altLang="en-US" sz="2600" dirty="0"/>
            </a:br>
            <a:br>
              <a:rPr lang="en-US" altLang="en-US" sz="2600" dirty="0"/>
            </a:b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1" y="2493963"/>
            <a:ext cx="9143999" cy="194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مراجعة تطوير </a:t>
            </a:r>
            <a:br>
              <a:rPr lang="en-GB" altLang="en-US"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الدوائر الإلكترونية التناظرية </a:t>
            </a:r>
            <a:br>
              <a:rPr lang="en-GB" altLang="en-US"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وتقييم الأداء الشخصي</a:t>
            </a:r>
          </a:p>
        </p:txBody>
      </p:sp>
      <p:sp>
        <p:nvSpPr>
          <p:cNvPr id="2" name="Footer Placeholder 2">
            <a:extLst>
              <a:ext uri="{FF2B5EF4-FFF2-40B4-BE49-F238E27FC236}">
                <a16:creationId xmlns:a16="http://schemas.microsoft.com/office/drawing/2014/main" id="{29A0707F-A9B3-D786-7CCA-10E4C5EEF80F}"/>
              </a:ext>
            </a:extLst>
          </p:cNvPr>
          <p:cNvSpPr txBox="1">
            <a:spLocks/>
          </p:cNvSpPr>
          <p:nvPr/>
        </p:nvSpPr>
        <p:spPr bwMode="auto">
          <a:xfrm>
            <a:off x="107504"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A103000399219</a:t>
            </a:r>
            <a:endParaRPr lang="ar" sz="1000" dirty="0"/>
          </a:p>
        </p:txBody>
      </p:sp>
    </p:spTree>
    <p:extLst>
      <p:ext uri="{BB962C8B-B14F-4D97-AF65-F5344CB8AC3E}">
        <p14:creationId xmlns:p14="http://schemas.microsoft.com/office/powerpoint/2010/main" val="3714724259"/>
      </p:ext>
    </p:extLst>
  </p:cSld>
  <p:clrMapOvr>
    <a:masterClrMapping/>
  </p:clrMapOvr>
  <p:transition>
    <p:sndAc>
      <p:stSnd>
        <p:snd r:embed="rId3" name="click.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fontScale="92500" lnSpcReduction="10000"/>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3200" b="1" dirty="0">
                <a:solidFill>
                  <a:schemeClr val="tx2"/>
                </a:solidFill>
                <a:latin typeface="Sakkal Majalla" panose="02000000000000000000" pitchFamily="2" charset="-78"/>
                <a:cs typeface="Sakkal Majalla" panose="02000000000000000000" pitchFamily="2" charset="-78"/>
              </a:rPr>
              <a:t>مراجعة </a:t>
            </a:r>
            <a:br>
              <a:rPr lang="en-US" altLang="en-US" sz="3200" b="1" dirty="0">
                <a:solidFill>
                  <a:schemeClr val="tx2"/>
                </a:solidFill>
                <a:latin typeface="Sakkal Majalla" panose="02000000000000000000" pitchFamily="2" charset="-78"/>
                <a:cs typeface="Sakkal Majalla" panose="02000000000000000000" pitchFamily="2" charset="-78"/>
              </a:rPr>
            </a:br>
            <a:r>
              <a:rPr lang="ar" sz="3200" b="1" dirty="0">
                <a:solidFill>
                  <a:schemeClr val="tx2"/>
                </a:solidFill>
                <a:latin typeface="Sakkal Majalla" panose="02000000000000000000" pitchFamily="2" charset="-78"/>
                <a:cs typeface="Sakkal Majalla" panose="02000000000000000000" pitchFamily="2" charset="-78"/>
              </a:rPr>
              <a:t>تطوير الدوائر الإلكترونية التناظرية</a:t>
            </a: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1"/>
          </p:nvPr>
        </p:nvSpPr>
        <p:spPr bwMode="auto">
          <a:xfrm>
            <a:off x="4648199" y="2196001"/>
            <a:ext cx="4027487" cy="40241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Autofit/>
          </a:bodyPr>
          <a:lstStyle/>
          <a:p>
            <a:pPr marL="0" indent="0" rtl="1">
              <a:lnSpc>
                <a:spcPct val="90000"/>
              </a:lnSpc>
              <a:buNone/>
            </a:pPr>
            <a:r>
              <a:rPr lang="ar" sz="1400" b="1" dirty="0"/>
              <a:t>الدروس المستفادة من استكشاف الدوائر الإلكترونية التناظرية</a:t>
            </a:r>
          </a:p>
          <a:p>
            <a:pPr rtl="1">
              <a:lnSpc>
                <a:spcPct val="90000"/>
              </a:lnSpc>
            </a:pPr>
            <a:endParaRPr lang="en-GB" sz="1400" dirty="0"/>
          </a:p>
          <a:p>
            <a:pPr marL="0" indent="0" rtl="1">
              <a:lnSpc>
                <a:spcPct val="90000"/>
              </a:lnSpc>
              <a:buNone/>
            </a:pPr>
            <a:r>
              <a:rPr lang="ar" sz="1400" b="1" dirty="0"/>
              <a:t>مهارات الصحة والسلامة</a:t>
            </a:r>
          </a:p>
          <a:p>
            <a:pPr rtl="1">
              <a:lnSpc>
                <a:spcPct val="90000"/>
              </a:lnSpc>
            </a:pPr>
            <a:r>
              <a:rPr lang="ar" sz="1400" dirty="0"/>
              <a:t>أهمية التعامل السليم مع المكونات الإلكترونية والتخلص منها بطريقة صحيحة.</a:t>
            </a:r>
          </a:p>
          <a:p>
            <a:pPr rtl="1">
              <a:lnSpc>
                <a:spcPct val="90000"/>
              </a:lnSpc>
            </a:pPr>
            <a:r>
              <a:rPr lang="ar" sz="1400" dirty="0"/>
              <a:t>أهمية ارتداء معدات الحماية مثل القفازات ونظارات السلامة عند العمل مع مكاوي اللحام والأدوات الأخرى.</a:t>
            </a:r>
          </a:p>
          <a:p>
            <a:pPr rtl="1">
              <a:lnSpc>
                <a:spcPct val="90000"/>
              </a:lnSpc>
            </a:pPr>
            <a:endParaRPr lang="en-GB" sz="1400" dirty="0"/>
          </a:p>
          <a:p>
            <a:pPr marL="0" indent="0" rtl="1">
              <a:lnSpc>
                <a:spcPct val="90000"/>
              </a:lnSpc>
              <a:buNone/>
            </a:pPr>
            <a:r>
              <a:rPr lang="ar" sz="1400" b="1" dirty="0"/>
              <a:t>مهارات تطوير الدوائر الإلكترونية التناظرية</a:t>
            </a:r>
          </a:p>
          <a:p>
            <a:pPr rtl="1">
              <a:lnSpc>
                <a:spcPct val="90000"/>
              </a:lnSpc>
            </a:pPr>
            <a:r>
              <a:rPr lang="ar" sz="1400" dirty="0"/>
              <a:t>فهم أساسيات تصميم الدوائر وتحليلها.</a:t>
            </a:r>
          </a:p>
          <a:p>
            <a:pPr rtl="1">
              <a:lnSpc>
                <a:spcPct val="90000"/>
              </a:lnSpc>
            </a:pPr>
            <a:r>
              <a:rPr lang="ar" sz="1400" dirty="0"/>
              <a:t>إتقان تقنيات اللحام وتجميع لوحة الدارة المطبوعة.</a:t>
            </a:r>
          </a:p>
          <a:p>
            <a:pPr rtl="1">
              <a:lnSpc>
                <a:spcPct val="90000"/>
              </a:lnSpc>
            </a:pPr>
            <a:r>
              <a:rPr lang="ar" sz="1400" dirty="0"/>
              <a:t>تعلم استكشاف مشكلات الدوائر وإصلاحها.</a:t>
            </a:r>
          </a:p>
          <a:p>
            <a:pPr rtl="1">
              <a:lnSpc>
                <a:spcPct val="90000"/>
              </a:lnSpc>
            </a:pPr>
            <a:endParaRPr lang="en-GB" sz="1400" dirty="0"/>
          </a:p>
          <a:p>
            <a:pPr marL="0" indent="0" rtl="1">
              <a:lnSpc>
                <a:spcPct val="90000"/>
              </a:lnSpc>
              <a:buNone/>
            </a:pPr>
            <a:r>
              <a:rPr lang="ar" sz="1400" b="1" dirty="0"/>
              <a:t>المهارات الهندسية العامة</a:t>
            </a:r>
          </a:p>
          <a:p>
            <a:pPr rtl="1">
              <a:lnSpc>
                <a:spcPct val="90000"/>
              </a:lnSpc>
            </a:pPr>
            <a:r>
              <a:rPr lang="ar" sz="1400" dirty="0"/>
              <a:t>تطوير قدرات حل المشكلات من خلال تحديات تصميم الدوائر.</a:t>
            </a:r>
          </a:p>
          <a:p>
            <a:pPr rtl="1">
              <a:lnSpc>
                <a:spcPct val="90000"/>
              </a:lnSpc>
            </a:pPr>
            <a:r>
              <a:rPr lang="ar" sz="1400" dirty="0"/>
              <a:t>تعزيز مهارات التفكير النقدي من خلال تحليل أداء الدوائر وإجراء التحسينات.</a:t>
            </a:r>
          </a:p>
          <a:p>
            <a:pPr rtl="1">
              <a:lnSpc>
                <a:spcPct val="90000"/>
              </a:lnSpc>
            </a:pPr>
            <a:r>
              <a:rPr lang="ar" sz="1400" dirty="0"/>
              <a:t>تحسين مهارات إدارة الوقت من خلال التزام المواعيد النهائية للمشروع.</a:t>
            </a:r>
          </a:p>
          <a:p>
            <a:pPr rtl="1">
              <a:lnSpc>
                <a:spcPct val="90000"/>
              </a:lnSpc>
            </a:pPr>
            <a:endParaRPr lang="en-GB" sz="1400" dirty="0"/>
          </a:p>
        </p:txBody>
      </p:sp>
      <p:pic>
        <p:nvPicPr>
          <p:cNvPr id="4" name="Picture 3" descr="A collection of warning signs&#10;&#10;Description automatically generated">
            <a:extLst>
              <a:ext uri="{FF2B5EF4-FFF2-40B4-BE49-F238E27FC236}">
                <a16:creationId xmlns:a16="http://schemas.microsoft.com/office/drawing/2014/main" id="{22888F98-7C3C-58F1-7F4C-02211570EB1D}"/>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540428" y="2196001"/>
            <a:ext cx="3883256" cy="4024100"/>
          </a:xfrm>
          <a:prstGeom prst="rect">
            <a:avLst/>
          </a:prstGeom>
          <a:noFill/>
        </p:spPr>
      </p:pic>
      <p:sp>
        <p:nvSpPr>
          <p:cNvPr id="2" name="Footer Placeholder 2">
            <a:extLst>
              <a:ext uri="{FF2B5EF4-FFF2-40B4-BE49-F238E27FC236}">
                <a16:creationId xmlns:a16="http://schemas.microsoft.com/office/drawing/2014/main" id="{B5CB8F5C-2900-BB9E-D04A-D3A579E98EF7}"/>
              </a:ext>
            </a:extLst>
          </p:cNvPr>
          <p:cNvSpPr txBox="1">
            <a:spLocks/>
          </p:cNvSpPr>
          <p:nvPr/>
        </p:nvSpPr>
        <p:spPr bwMode="auto">
          <a:xfrm>
            <a:off x="107504"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A103000399219</a:t>
            </a:r>
            <a:endParaRPr lang="ar" sz="1000" dirty="0"/>
          </a:p>
        </p:txBody>
      </p:sp>
    </p:spTree>
    <p:extLst>
      <p:ext uri="{BB962C8B-B14F-4D97-AF65-F5344CB8AC3E}">
        <p14:creationId xmlns:p14="http://schemas.microsoft.com/office/powerpoint/2010/main" val="2641301364"/>
      </p:ext>
    </p:extLst>
  </p:cSld>
  <p:clrMapOvr>
    <a:masterClrMapping/>
  </p:clrMapOvr>
  <p:transition>
    <p:sndAc>
      <p:stSnd>
        <p:snd r:embed="rId3" name="click.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3000" b="1" dirty="0">
                <a:solidFill>
                  <a:schemeClr val="tx2"/>
                </a:solidFill>
                <a:latin typeface="Sakkal Majalla" panose="02000000000000000000" pitchFamily="2" charset="-78"/>
                <a:cs typeface="Sakkal Majalla" panose="02000000000000000000" pitchFamily="2" charset="-78"/>
              </a:rPr>
              <a:t>الأداء الشخصي في أثناء استكشاف الدوائر الإلكترونية التناظرية</a:t>
            </a:r>
          </a:p>
        </p:txBody>
      </p:sp>
      <p:pic>
        <p:nvPicPr>
          <p:cNvPr id="5" name="Picture 4" descr="A pile of electronic components&#10;&#10;Description automatically generated">
            <a:extLst>
              <a:ext uri="{FF2B5EF4-FFF2-40B4-BE49-F238E27FC236}">
                <a16:creationId xmlns:a16="http://schemas.microsoft.com/office/drawing/2014/main" id="{42EC5FEF-B1E3-A438-CDC9-DEF244259CA9}"/>
              </a:ext>
            </a:extLst>
          </p:cNvPr>
          <p:cNvPicPr>
            <a:picLocks noChangeAspect="1"/>
          </p:cNvPicPr>
          <p:nvPr/>
        </p:nvPicPr>
        <p:blipFill>
          <a:blip r:embed="rId4" cstate="print">
            <a:extLst>
              <a:ext uri="{28A0092B-C50C-407E-A947-70E740481C1C}">
                <a14:useLocalDpi xmlns:a14="http://schemas.microsoft.com/office/drawing/2010/main"/>
              </a:ext>
            </a:extLst>
          </a:blip>
          <a:srcRect l="11124" r="22072" b="3"/>
          <a:stretch/>
        </p:blipFill>
        <p:spPr>
          <a:xfrm>
            <a:off x="5136466" y="2636912"/>
            <a:ext cx="3251958" cy="3249223"/>
          </a:xfrm>
          <a:prstGeom prst="rect">
            <a:avLst/>
          </a:prstGeom>
          <a:noFill/>
        </p:spPr>
      </p:pic>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8312" y="2196001"/>
            <a:ext cx="4027488" cy="40241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marL="0" indent="0" rtl="1">
              <a:lnSpc>
                <a:spcPct val="90000"/>
              </a:lnSpc>
              <a:buNone/>
            </a:pPr>
            <a:r>
              <a:rPr lang="ar" sz="1300" b="1" dirty="0"/>
              <a:t>التخطيط وإدارة الوقت</a:t>
            </a:r>
          </a:p>
          <a:p>
            <a:pPr rtl="1">
              <a:lnSpc>
                <a:spcPct val="90000"/>
              </a:lnSpc>
            </a:pPr>
            <a:r>
              <a:rPr lang="ar" sz="1300" dirty="0"/>
              <a:t>تعد الإدارة الفعالة للوقت أمرًا بالغ الأهمية عند استكشاف الدوائر الإلكترونية التناظرية.</a:t>
            </a:r>
          </a:p>
          <a:p>
            <a:pPr rtl="1">
              <a:lnSpc>
                <a:spcPct val="90000"/>
              </a:lnSpc>
            </a:pPr>
            <a:r>
              <a:rPr lang="ar" sz="1300" dirty="0"/>
              <a:t>يعد التخطيط وتخصيص الوقت الكافي للبحث والتجريب واستكشاف الأخطاء وإصلاحها أمرًا ضروريًا لتحقيق نتائج ناجحة.</a:t>
            </a:r>
          </a:p>
          <a:p>
            <a:pPr rtl="1">
              <a:lnSpc>
                <a:spcPct val="90000"/>
              </a:lnSpc>
            </a:pPr>
            <a:endParaRPr lang="en-GB" sz="1300" dirty="0"/>
          </a:p>
          <a:p>
            <a:pPr marL="0" indent="0" rtl="1">
              <a:lnSpc>
                <a:spcPct val="90000"/>
              </a:lnSpc>
              <a:buNone/>
            </a:pPr>
            <a:r>
              <a:rPr lang="ar" sz="1300" b="1" dirty="0"/>
              <a:t>الوعي التجاري وتوعية العملاء</a:t>
            </a:r>
          </a:p>
          <a:p>
            <a:pPr rtl="1">
              <a:lnSpc>
                <a:spcPct val="90000"/>
              </a:lnSpc>
            </a:pPr>
            <a:r>
              <a:rPr lang="ar" sz="1300" dirty="0"/>
              <a:t>يُمثل إدراك الأبعاد التجارية للدوائر الإلكترونية التناظرية قيمة كبيرة عند تحليل متطلبات السوق وتلبية احتياجات العملاء.</a:t>
            </a:r>
          </a:p>
          <a:p>
            <a:pPr rtl="1">
              <a:lnSpc>
                <a:spcPct val="90000"/>
              </a:lnSpc>
            </a:pPr>
            <a:r>
              <a:rPr lang="ar" sz="1300" dirty="0"/>
              <a:t>يمكن أن يساعد إدراك الأسعار واتجاهات السوق وتفضيلات العملاء على دفع الابتكار وإنشاء منتجات تنافسية.</a:t>
            </a:r>
          </a:p>
          <a:p>
            <a:pPr rtl="1">
              <a:lnSpc>
                <a:spcPct val="90000"/>
              </a:lnSpc>
            </a:pPr>
            <a:endParaRPr lang="en-GB" sz="1300" dirty="0"/>
          </a:p>
          <a:p>
            <a:pPr marL="0" indent="0" rtl="1">
              <a:lnSpc>
                <a:spcPct val="90000"/>
              </a:lnSpc>
              <a:buNone/>
            </a:pPr>
            <a:r>
              <a:rPr lang="ar" sz="1300" b="1" dirty="0"/>
              <a:t>مهارات التواصل والتثقيف</a:t>
            </a:r>
          </a:p>
          <a:p>
            <a:pPr rtl="1">
              <a:lnSpc>
                <a:spcPct val="90000"/>
              </a:lnSpc>
            </a:pPr>
            <a:r>
              <a:rPr lang="ar" sz="1300" dirty="0"/>
              <a:t>التواصل الواضح والموجز ضروري عند مناقشة الدوائر الإلكترونية التناظرية.</a:t>
            </a:r>
          </a:p>
          <a:p>
            <a:pPr rtl="1">
              <a:lnSpc>
                <a:spcPct val="90000"/>
              </a:lnSpc>
            </a:pPr>
            <a:r>
              <a:rPr lang="ar" sz="1300" dirty="0"/>
              <a:t>يمكن أن يؤدي تطوير التثقيف التقني والقدرة على شرح المفاهيم للآخرين إلى تعزيز التعاون والتفاهم.</a:t>
            </a:r>
          </a:p>
          <a:p>
            <a:pPr rtl="1">
              <a:lnSpc>
                <a:spcPct val="90000"/>
              </a:lnSpc>
            </a:pPr>
            <a:endParaRPr lang="en-GB" sz="1300" dirty="0"/>
          </a:p>
          <a:p>
            <a:pPr rtl="1">
              <a:lnSpc>
                <a:spcPct val="90000"/>
              </a:lnSpc>
            </a:pPr>
            <a:endParaRPr lang="en-GB" sz="1300" dirty="0"/>
          </a:p>
        </p:txBody>
      </p:sp>
      <p:sp>
        <p:nvSpPr>
          <p:cNvPr id="2" name="Footer Placeholder 2">
            <a:extLst>
              <a:ext uri="{FF2B5EF4-FFF2-40B4-BE49-F238E27FC236}">
                <a16:creationId xmlns:a16="http://schemas.microsoft.com/office/drawing/2014/main" id="{72EA885E-5ED4-9B9D-7F19-596CDAE001A8}"/>
              </a:ext>
            </a:extLst>
          </p:cNvPr>
          <p:cNvSpPr txBox="1">
            <a:spLocks/>
          </p:cNvSpPr>
          <p:nvPr/>
        </p:nvSpPr>
        <p:spPr bwMode="auto">
          <a:xfrm>
            <a:off x="107504"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A103000399219</a:t>
            </a:r>
            <a:endParaRPr lang="ar" sz="1000" dirty="0"/>
          </a:p>
        </p:txBody>
      </p:sp>
    </p:spTree>
    <p:extLst>
      <p:ext uri="{BB962C8B-B14F-4D97-AF65-F5344CB8AC3E}">
        <p14:creationId xmlns:p14="http://schemas.microsoft.com/office/powerpoint/2010/main" val="2958246970"/>
      </p:ext>
    </p:extLst>
  </p:cSld>
  <p:clrMapOvr>
    <a:masterClrMapping/>
  </p:clrMapOvr>
  <p:transition>
    <p:sndAc>
      <p:stSnd>
        <p:snd r:embed="rId3" name="click.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3600" b="1" dirty="0">
                <a:solidFill>
                  <a:schemeClr val="tx2"/>
                </a:solidFill>
                <a:latin typeface="Sakkal Majalla" panose="02000000000000000000" pitchFamily="2" charset="-78"/>
                <a:cs typeface="Sakkal Majalla" panose="02000000000000000000" pitchFamily="2" charset="-78"/>
              </a:rPr>
              <a:t>التفكير مليًا في المهارات والفهم</a:t>
            </a: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1"/>
          </p:nvPr>
        </p:nvSpPr>
        <p:spPr bwMode="auto">
          <a:xfrm>
            <a:off x="4648199" y="2196001"/>
            <a:ext cx="4027487" cy="40241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marL="0" indent="0" rtl="1">
              <a:lnSpc>
                <a:spcPct val="90000"/>
              </a:lnSpc>
              <a:buNone/>
            </a:pPr>
            <a:r>
              <a:rPr lang="ar" sz="1700" b="1" dirty="0"/>
              <a:t>تصميم الدوائر</a:t>
            </a:r>
          </a:p>
          <a:p>
            <a:pPr rtl="1">
              <a:lnSpc>
                <a:spcPct val="90000"/>
              </a:lnSpc>
            </a:pPr>
            <a:r>
              <a:rPr lang="ar" sz="1700" dirty="0"/>
              <a:t>"</a:t>
            </a:r>
            <a:r>
              <a:rPr lang="ar" sz="1700" i="1" dirty="0"/>
              <a:t>اكتسبت، من خلال بناء الدوائر التناظرية وتعديلها واختبارها، مهارات عملية في تصميم الدوائر واستكشاف الأخطاء وإصلاحها".</a:t>
            </a:r>
          </a:p>
          <a:p>
            <a:pPr rtl="1">
              <a:lnSpc>
                <a:spcPct val="90000"/>
              </a:lnSpc>
            </a:pPr>
            <a:r>
              <a:rPr lang="ar" sz="1700" i="1" dirty="0"/>
              <a:t>"لقد تعلمت كيفية تحديد مكونات الدوائر المنفصلة والمتكاملة ودمجها لإنشاء دوائر وظيفية.</a:t>
            </a:r>
            <a:r>
              <a:rPr lang="ar" sz="1700" dirty="0"/>
              <a:t>"</a:t>
            </a:r>
          </a:p>
          <a:p>
            <a:pPr rtl="1">
              <a:lnSpc>
                <a:spcPct val="90000"/>
              </a:lnSpc>
            </a:pPr>
            <a:endParaRPr lang="en-GB" sz="1700" dirty="0"/>
          </a:p>
          <a:p>
            <a:pPr rtl="1">
              <a:lnSpc>
                <a:spcPct val="90000"/>
              </a:lnSpc>
            </a:pPr>
            <a:endParaRPr lang="en-GB" sz="1700" dirty="0"/>
          </a:p>
          <a:p>
            <a:pPr marL="0" indent="0" rtl="1">
              <a:lnSpc>
                <a:spcPct val="90000"/>
              </a:lnSpc>
              <a:buNone/>
            </a:pPr>
            <a:r>
              <a:rPr lang="ar" sz="1700" b="1" dirty="0"/>
              <a:t>حل المشكلات والتفكير النقدي</a:t>
            </a:r>
          </a:p>
          <a:p>
            <a:pPr rtl="1">
              <a:lnSpc>
                <a:spcPct val="90000"/>
              </a:lnSpc>
            </a:pPr>
            <a:r>
              <a:rPr lang="ar" sz="1700" dirty="0"/>
              <a:t>"</a:t>
            </a:r>
            <a:r>
              <a:rPr lang="ar" sz="1700" i="1" dirty="0"/>
              <a:t>أدى العمل مع الدوائر التناظرية إلى صقل قدراتي في حل المشكلات والتفكير النقدي".</a:t>
            </a:r>
          </a:p>
          <a:p>
            <a:pPr rtl="1">
              <a:lnSpc>
                <a:spcPct val="90000"/>
              </a:lnSpc>
            </a:pPr>
            <a:r>
              <a:rPr lang="ar" sz="1700" i="1" dirty="0"/>
              <a:t>"لقد تعلمت تحليل سلوكيات الدوائر وتحديد المشكلات واقتراح حلول فعالة.</a:t>
            </a:r>
            <a:r>
              <a:rPr lang="ar" sz="1700" dirty="0"/>
              <a:t>"</a:t>
            </a:r>
          </a:p>
          <a:p>
            <a:pPr rtl="1">
              <a:lnSpc>
                <a:spcPct val="90000"/>
              </a:lnSpc>
            </a:pPr>
            <a:endParaRPr lang="en-GB" sz="1700" dirty="0">
              <a:effectLst/>
            </a:endParaRPr>
          </a:p>
          <a:p>
            <a:pPr rtl="1">
              <a:lnSpc>
                <a:spcPct val="90000"/>
              </a:lnSpc>
            </a:pPr>
            <a:endParaRPr lang="en-GB" sz="1700" dirty="0">
              <a:effectLst/>
            </a:endParaRPr>
          </a:p>
        </p:txBody>
      </p:sp>
      <p:pic>
        <p:nvPicPr>
          <p:cNvPr id="4" name="Picture 3" descr="A person wearing a mask and gloves working on a computer&#10;&#10;Description automatically generated">
            <a:extLst>
              <a:ext uri="{FF2B5EF4-FFF2-40B4-BE49-F238E27FC236}">
                <a16:creationId xmlns:a16="http://schemas.microsoft.com/office/drawing/2014/main" id="{212E3475-022D-53AA-B270-EA5927E4FFF8}"/>
              </a:ext>
            </a:extLst>
          </p:cNvPr>
          <p:cNvPicPr>
            <a:picLocks noChangeAspect="1"/>
          </p:cNvPicPr>
          <p:nvPr/>
        </p:nvPicPr>
        <p:blipFill>
          <a:blip r:embed="rId4" cstate="print">
            <a:extLst>
              <a:ext uri="{28A0092B-C50C-407E-A947-70E740481C1C}">
                <a14:useLocalDpi xmlns:a14="http://schemas.microsoft.com/office/drawing/2010/main"/>
              </a:ext>
            </a:extLst>
          </a:blip>
          <a:srcRect l="15076" r="18119" b="3"/>
          <a:stretch/>
        </p:blipFill>
        <p:spPr>
          <a:xfrm>
            <a:off x="671666" y="2316204"/>
            <a:ext cx="3612302" cy="3609263"/>
          </a:xfrm>
          <a:prstGeom prst="rect">
            <a:avLst/>
          </a:prstGeom>
          <a:noFill/>
        </p:spPr>
      </p:pic>
      <p:sp>
        <p:nvSpPr>
          <p:cNvPr id="2" name="Footer Placeholder 2">
            <a:extLst>
              <a:ext uri="{FF2B5EF4-FFF2-40B4-BE49-F238E27FC236}">
                <a16:creationId xmlns:a16="http://schemas.microsoft.com/office/drawing/2014/main" id="{94572CC1-5E61-CEE9-4DB8-FAB6E456B986}"/>
              </a:ext>
            </a:extLst>
          </p:cNvPr>
          <p:cNvSpPr txBox="1">
            <a:spLocks/>
          </p:cNvSpPr>
          <p:nvPr/>
        </p:nvSpPr>
        <p:spPr bwMode="auto">
          <a:xfrm>
            <a:off x="107504"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A103000399219</a:t>
            </a:r>
            <a:endParaRPr lang="ar" sz="1000" dirty="0"/>
          </a:p>
        </p:txBody>
      </p:sp>
    </p:spTree>
    <p:extLst>
      <p:ext uri="{BB962C8B-B14F-4D97-AF65-F5344CB8AC3E}">
        <p14:creationId xmlns:p14="http://schemas.microsoft.com/office/powerpoint/2010/main" val="3488718199"/>
      </p:ext>
    </p:extLst>
  </p:cSld>
  <p:clrMapOvr>
    <a:masterClrMapping/>
  </p:clrMapOvr>
  <p:transition>
    <p:sndAc>
      <p:stSnd>
        <p:snd r:embed="rId3" name="click.wav"/>
      </p:stSnd>
    </p:sndAc>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3600" b="1" dirty="0">
                <a:solidFill>
                  <a:schemeClr val="tx2"/>
                </a:solidFill>
                <a:latin typeface="Sakkal Majalla" panose="02000000000000000000" pitchFamily="2" charset="-78"/>
                <a:cs typeface="Sakkal Majalla" panose="02000000000000000000" pitchFamily="2" charset="-78"/>
              </a:rPr>
              <a:t>التفكير مليًا في المهارات والفهم</a:t>
            </a:r>
          </a:p>
        </p:txBody>
      </p:sp>
      <p:pic>
        <p:nvPicPr>
          <p:cNvPr id="3" name="Picture 2" descr="A red and green chat bubbles&#10;&#10;Description automatically generated">
            <a:extLst>
              <a:ext uri="{FF2B5EF4-FFF2-40B4-BE49-F238E27FC236}">
                <a16:creationId xmlns:a16="http://schemas.microsoft.com/office/drawing/2014/main" id="{DFB230CA-23EC-58EE-0692-F3B81F5184A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649893" y="2196001"/>
            <a:ext cx="4024100" cy="4024100"/>
          </a:xfrm>
          <a:prstGeom prst="rect">
            <a:avLst/>
          </a:prstGeom>
          <a:noFill/>
        </p:spPr>
      </p:pic>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8312" y="2196001"/>
            <a:ext cx="4027488" cy="40241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marL="0" indent="0" rtl="1">
              <a:lnSpc>
                <a:spcPct val="90000"/>
              </a:lnSpc>
              <a:buNone/>
            </a:pPr>
            <a:r>
              <a:rPr lang="ar" sz="1300" b="1" dirty="0"/>
              <a:t>محاكاة البرامج</a:t>
            </a:r>
          </a:p>
          <a:p>
            <a:pPr rtl="1">
              <a:lnSpc>
                <a:spcPct val="90000"/>
              </a:lnSpc>
            </a:pPr>
            <a:r>
              <a:rPr lang="ar" sz="1300" dirty="0"/>
              <a:t>"</a:t>
            </a:r>
            <a:r>
              <a:rPr lang="ar" sz="1300" i="1" dirty="0"/>
              <a:t>أدى استخدام البرامج لمحاكاة الدوائر إلى توسيع فهمي لسلوكيات الدوائر وسمح لي باستكشاف إمكانيات التصميم المختلفة.</a:t>
            </a:r>
          </a:p>
          <a:p>
            <a:pPr rtl="1">
              <a:lnSpc>
                <a:spcPct val="90000"/>
              </a:lnSpc>
            </a:pPr>
            <a:r>
              <a:rPr lang="ar" sz="1300" i="1" dirty="0"/>
              <a:t>لقد أتقنت استخدام أدوات المحاكاة لتحسين أداء الدائرة.</a:t>
            </a:r>
          </a:p>
          <a:p>
            <a:pPr rtl="1">
              <a:lnSpc>
                <a:spcPct val="90000"/>
              </a:lnSpc>
            </a:pPr>
            <a:endParaRPr lang="en-GB" sz="1300" dirty="0"/>
          </a:p>
          <a:p>
            <a:pPr marL="0" indent="0" rtl="1">
              <a:lnSpc>
                <a:spcPct val="90000"/>
              </a:lnSpc>
              <a:buNone/>
            </a:pPr>
            <a:r>
              <a:rPr lang="ar" sz="1300" b="1" dirty="0"/>
              <a:t>الاختبار والقياس</a:t>
            </a:r>
          </a:p>
          <a:p>
            <a:pPr rtl="1">
              <a:lnSpc>
                <a:spcPct val="90000"/>
              </a:lnSpc>
            </a:pPr>
            <a:r>
              <a:rPr lang="ar" sz="1300" dirty="0"/>
              <a:t>"</a:t>
            </a:r>
            <a:r>
              <a:rPr lang="ar" sz="1300" i="1" dirty="0"/>
              <a:t>لقد علمتني تجربة استخدام الأجهزة المختبرية لاختبار الدوائر أهمية الدقة في القياسات والحرص على التحقق من صحة النتائج بشكل موثوق.</a:t>
            </a:r>
          </a:p>
          <a:p>
            <a:pPr rtl="1">
              <a:lnSpc>
                <a:spcPct val="90000"/>
              </a:lnSpc>
            </a:pPr>
            <a:r>
              <a:rPr lang="ar" sz="1300" i="1" dirty="0"/>
              <a:t>لقد طورت مهارات في استخدام أدوات مثل راسمات الذبذبات وأجهزة القياس المتعددة للتحقق من فعالية عمل الدائرة.</a:t>
            </a:r>
            <a:r>
              <a:rPr lang="ar" sz="1300" dirty="0"/>
              <a:t>"</a:t>
            </a:r>
          </a:p>
          <a:p>
            <a:pPr rtl="1">
              <a:lnSpc>
                <a:spcPct val="90000"/>
              </a:lnSpc>
            </a:pPr>
            <a:endParaRPr lang="en-GB" sz="1300" dirty="0"/>
          </a:p>
          <a:p>
            <a:pPr marL="0" indent="0" rtl="1">
              <a:lnSpc>
                <a:spcPct val="90000"/>
              </a:lnSpc>
              <a:buNone/>
            </a:pPr>
            <a:r>
              <a:rPr lang="ar" sz="1300" b="1" dirty="0"/>
              <a:t>التطبيق العملي</a:t>
            </a:r>
          </a:p>
          <a:p>
            <a:pPr rtl="1">
              <a:lnSpc>
                <a:spcPct val="90000"/>
              </a:lnSpc>
            </a:pPr>
            <a:r>
              <a:rPr lang="ar" sz="1300" i="1" dirty="0"/>
              <a:t>"القدرات والمعرفة التي اكتسبتها في الدوائر الإلكترونية التناظرية قابلة للتطبيق بشكل كبير في العديد من الصناعات."</a:t>
            </a:r>
          </a:p>
          <a:p>
            <a:pPr rtl="1">
              <a:lnSpc>
                <a:spcPct val="90000"/>
              </a:lnSpc>
            </a:pPr>
            <a:r>
              <a:rPr lang="ar" sz="1300" i="1" dirty="0"/>
              <a:t>"أنا الآن مستعد بشكل جيد لفرص العمل والتعليم المتقدم في المجالات التي تتطلب خبرة في تصميم الدوائر وتحليلها</a:t>
            </a:r>
            <a:r>
              <a:rPr lang="ar" sz="1300" dirty="0"/>
              <a:t>"</a:t>
            </a:r>
          </a:p>
          <a:p>
            <a:pPr rtl="1">
              <a:lnSpc>
                <a:spcPct val="90000"/>
              </a:lnSpc>
            </a:pPr>
            <a:endParaRPr lang="en-GB" sz="1300" dirty="0">
              <a:effectLst/>
            </a:endParaRPr>
          </a:p>
          <a:p>
            <a:pPr rtl="1">
              <a:lnSpc>
                <a:spcPct val="90000"/>
              </a:lnSpc>
            </a:pPr>
            <a:endParaRPr lang="en-GB" sz="1300" dirty="0">
              <a:effectLst/>
            </a:endParaRPr>
          </a:p>
        </p:txBody>
      </p:sp>
      <p:sp>
        <p:nvSpPr>
          <p:cNvPr id="2" name="Footer Placeholder 2">
            <a:extLst>
              <a:ext uri="{FF2B5EF4-FFF2-40B4-BE49-F238E27FC236}">
                <a16:creationId xmlns:a16="http://schemas.microsoft.com/office/drawing/2014/main" id="{0EE65B68-7E2B-ED84-3D1C-78ED1C482026}"/>
              </a:ext>
            </a:extLst>
          </p:cNvPr>
          <p:cNvSpPr txBox="1">
            <a:spLocks/>
          </p:cNvSpPr>
          <p:nvPr/>
        </p:nvSpPr>
        <p:spPr bwMode="auto">
          <a:xfrm>
            <a:off x="107504"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A103000399219</a:t>
            </a:r>
            <a:endParaRPr lang="ar" sz="1000" dirty="0"/>
          </a:p>
        </p:txBody>
      </p:sp>
    </p:spTree>
    <p:extLst>
      <p:ext uri="{BB962C8B-B14F-4D97-AF65-F5344CB8AC3E}">
        <p14:creationId xmlns:p14="http://schemas.microsoft.com/office/powerpoint/2010/main" val="2711709198"/>
      </p:ext>
    </p:extLst>
  </p:cSld>
  <p:clrMapOvr>
    <a:masterClrMapping/>
  </p:clrMapOvr>
  <p:transition>
    <p:sndAc>
      <p:stSnd>
        <p:snd r:embed="rId3" name="click.wav"/>
      </p:stSnd>
    </p:sndAc>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atellite in space above earth&#10;&#10;Description automatically generated">
            <a:extLst>
              <a:ext uri="{FF2B5EF4-FFF2-40B4-BE49-F238E27FC236}">
                <a16:creationId xmlns:a16="http://schemas.microsoft.com/office/drawing/2014/main" id="{0CF6630A-8C8E-F8C0-461E-F6A5BFAA521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034734" y="1219445"/>
            <a:ext cx="7074532" cy="5305899"/>
          </a:xfrm>
          <a:prstGeom prst="rect">
            <a:avLst/>
          </a:prstGeom>
        </p:spPr>
      </p:pic>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192036" y="1340768"/>
            <a:ext cx="6917230" cy="48965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algn="ctr" rtl="1">
              <a:buNone/>
            </a:pPr>
            <a:r>
              <a:rPr lang="ar" sz="1600" b="1" dirty="0">
                <a:solidFill>
                  <a:schemeClr val="bg1"/>
                </a:solidFill>
              </a:rPr>
              <a:t>المجال الجوي</a:t>
            </a:r>
          </a:p>
          <a:p>
            <a:pPr rtl="1"/>
            <a:r>
              <a:rPr lang="ar" sz="1600" b="1" dirty="0">
                <a:solidFill>
                  <a:schemeClr val="bg1"/>
                </a:solidFill>
              </a:rPr>
              <a:t>يزداد الطلب على مهندسي الإلكترونيات التناظرية في صناعة الطيران، </a:t>
            </a:r>
            <a:r>
              <a:rPr lang="ar-EG" sz="1600" b="1" dirty="0">
                <a:solidFill>
                  <a:schemeClr val="bg1"/>
                </a:solidFill>
              </a:rPr>
              <a:t>فهم</a:t>
            </a:r>
            <a:r>
              <a:rPr lang="ar" sz="1600" b="1" dirty="0">
                <a:solidFill>
                  <a:schemeClr val="bg1"/>
                </a:solidFill>
              </a:rPr>
              <a:t> يعملون على تصميم الأنظمة الإلكترونية للطائرات والمركبات الفضائية وتطويرها، </a:t>
            </a:r>
            <a:r>
              <a:rPr lang="ar-EG" sz="1600" b="1" dirty="0">
                <a:solidFill>
                  <a:schemeClr val="bg1"/>
                </a:solidFill>
              </a:rPr>
              <a:t>مثل </a:t>
            </a:r>
            <a:r>
              <a:rPr lang="ar" sz="1600" b="1" dirty="0">
                <a:solidFill>
                  <a:schemeClr val="bg1"/>
                </a:solidFill>
              </a:rPr>
              <a:t>أنظمة التحكم وأنظمة الاتصالات وأنظمة الملاحة.</a:t>
            </a:r>
          </a:p>
          <a:p>
            <a:pPr rtl="1"/>
            <a:endParaRPr lang="en-GB" sz="1600" b="1" dirty="0">
              <a:solidFill>
                <a:schemeClr val="bg1"/>
              </a:solidFill>
            </a:endParaRPr>
          </a:p>
          <a:p>
            <a:pPr rtl="1"/>
            <a:endParaRPr lang="en-GB" sz="1600" dirty="0">
              <a:solidFill>
                <a:schemeClr val="bg1"/>
              </a:solidFill>
            </a:endParaRPr>
          </a:p>
          <a:p>
            <a:pPr rtl="1"/>
            <a:endParaRPr lang="en-GB" sz="1600" dirty="0">
              <a:solidFill>
                <a:schemeClr val="bg1"/>
              </a:solidFill>
            </a:endParaRPr>
          </a:p>
          <a:p>
            <a:pPr algn="ctr" rtl="1"/>
            <a:r>
              <a:rPr lang="ar" sz="1600" b="1" dirty="0">
                <a:solidFill>
                  <a:schemeClr val="bg1"/>
                </a:solidFill>
              </a:rPr>
              <a:t>المركبات</a:t>
            </a:r>
          </a:p>
          <a:p>
            <a:pPr algn="ctr" rtl="1"/>
            <a:r>
              <a:rPr lang="ar" sz="1600" b="1" dirty="0">
                <a:solidFill>
                  <a:schemeClr val="bg1"/>
                </a:solidFill>
              </a:rPr>
              <a:t>يؤدي مهندسو الإلكترونيات التناظرية دورًا مهمًا في صناعة المركبات، </a:t>
            </a:r>
            <a:r>
              <a:rPr lang="ar-EG" sz="1600" b="1" dirty="0">
                <a:solidFill>
                  <a:schemeClr val="bg1"/>
                </a:solidFill>
              </a:rPr>
              <a:t>فهم</a:t>
            </a:r>
            <a:r>
              <a:rPr lang="ar" sz="1600" b="1" dirty="0">
                <a:solidFill>
                  <a:schemeClr val="bg1"/>
                </a:solidFill>
              </a:rPr>
              <a:t> يعملون على تصميم الأنظمة الإلكترونية للمركبات وتطويرها، </a:t>
            </a:r>
            <a:r>
              <a:rPr lang="ar-EG" sz="1600" b="1" dirty="0">
                <a:solidFill>
                  <a:schemeClr val="bg1"/>
                </a:solidFill>
              </a:rPr>
              <a:t>مثل</a:t>
            </a:r>
            <a:r>
              <a:rPr lang="ar" sz="1600" b="1" dirty="0">
                <a:solidFill>
                  <a:schemeClr val="bg1"/>
                </a:solidFill>
              </a:rPr>
              <a:t> أنظمة التحكم في المحرك وأنظمة السلامة وأنظمة الترفيه.</a:t>
            </a:r>
          </a:p>
          <a:p>
            <a:pPr marL="0" indent="0" algn="r" rtl="1">
              <a:buNone/>
            </a:pPr>
            <a:endParaRPr lang="en-GB" sz="1600" b="1" dirty="0">
              <a:solidFill>
                <a:schemeClr val="bg1"/>
              </a:solidFill>
            </a:endParaRPr>
          </a:p>
          <a:p>
            <a:pPr marL="0" indent="0" algn="r" rtl="1">
              <a:buNone/>
            </a:pPr>
            <a:endParaRPr lang="en-GB" sz="1600" b="1" dirty="0">
              <a:solidFill>
                <a:schemeClr val="bg1"/>
              </a:solidFill>
            </a:endParaRPr>
          </a:p>
          <a:p>
            <a:pPr marL="0" indent="0" algn="r" rtl="1">
              <a:buNone/>
            </a:pPr>
            <a:endParaRPr lang="en-GB" sz="1600" b="1" dirty="0">
              <a:solidFill>
                <a:schemeClr val="bg1"/>
              </a:solidFill>
            </a:endParaRPr>
          </a:p>
          <a:p>
            <a:pPr marL="0" indent="0" algn="ctr" rtl="1">
              <a:buNone/>
            </a:pPr>
            <a:r>
              <a:rPr lang="ar" sz="1600" b="1" dirty="0">
                <a:solidFill>
                  <a:schemeClr val="bg1"/>
                </a:solidFill>
              </a:rPr>
              <a:t>الصوت والفيديو</a:t>
            </a:r>
          </a:p>
          <a:p>
            <a:pPr algn="r" rtl="1"/>
            <a:r>
              <a:rPr lang="ar" sz="1600" b="1" dirty="0">
                <a:solidFill>
                  <a:schemeClr val="bg1"/>
                </a:solidFill>
              </a:rPr>
              <a:t>يشارك مهندسو الإلكترونيات التناظرية في تصميم أنظمة الصوت والفيديو وتطويرها. حيث يعملون على تصميم وتحسين دوائر الصوت والفيديو، بما في ذلك المكبرات والمرشحات ودوائر معالجة الإشارات.</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فرص العمل في </a:t>
            </a:r>
            <a:br>
              <a:rPr lang="en-GB" altLang="en-US" sz="2200" b="1" dirty="0">
                <a:latin typeface="Sakkal Majalla" panose="02000000000000000000" pitchFamily="2" charset="-78"/>
                <a:cs typeface="Sakkal Majalla" panose="02000000000000000000" pitchFamily="2" charset="-78"/>
              </a:rPr>
            </a:br>
            <a:r>
              <a:rPr lang="ar" sz="2200" b="1" dirty="0">
                <a:latin typeface="Sakkal Majalla" panose="02000000000000000000" pitchFamily="2" charset="-78"/>
                <a:cs typeface="Sakkal Majalla" panose="02000000000000000000" pitchFamily="2" charset="-78"/>
              </a:rPr>
              <a:t>الإلكترونيات التناظرية</a:t>
            </a:r>
          </a:p>
        </p:txBody>
      </p:sp>
      <p:sp>
        <p:nvSpPr>
          <p:cNvPr id="2" name="Footer Placeholder 2">
            <a:extLst>
              <a:ext uri="{FF2B5EF4-FFF2-40B4-BE49-F238E27FC236}">
                <a16:creationId xmlns:a16="http://schemas.microsoft.com/office/drawing/2014/main" id="{D2AA898B-3314-2BB7-9350-185AA802240C}"/>
              </a:ext>
            </a:extLst>
          </p:cNvPr>
          <p:cNvSpPr txBox="1">
            <a:spLocks/>
          </p:cNvSpPr>
          <p:nvPr/>
        </p:nvSpPr>
        <p:spPr bwMode="auto">
          <a:xfrm>
            <a:off x="107504"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A103000399219</a:t>
            </a:r>
            <a:endParaRPr lang="ar" sz="1000" dirty="0"/>
          </a:p>
        </p:txBody>
      </p:sp>
    </p:spTree>
    <p:extLst>
      <p:ext uri="{BB962C8B-B14F-4D97-AF65-F5344CB8AC3E}">
        <p14:creationId xmlns:p14="http://schemas.microsoft.com/office/powerpoint/2010/main" val="1372046140"/>
      </p:ext>
    </p:extLst>
  </p:cSld>
  <p:clrMapOvr>
    <a:masterClrMapping/>
  </p:clrMapOvr>
  <p:transition>
    <p:sndAc>
      <p:stSnd>
        <p:snd r:embed="rId3" name="click.wav"/>
      </p:stSnd>
    </p:sndAc>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fontScale="92500" lnSpcReduction="10000"/>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2800" b="1" dirty="0">
                <a:solidFill>
                  <a:schemeClr val="tx2"/>
                </a:solidFill>
                <a:latin typeface="Sakkal Majalla" panose="02000000000000000000" pitchFamily="2" charset="-78"/>
                <a:cs typeface="Sakkal Majalla" panose="02000000000000000000" pitchFamily="2" charset="-78"/>
              </a:rPr>
              <a:t>فرص العمل في </a:t>
            </a:r>
          </a:p>
          <a:p>
            <a:pPr algn="ctr" rtl="1">
              <a:lnSpc>
                <a:spcPct val="90000"/>
              </a:lnSpc>
              <a:spcAft>
                <a:spcPts val="600"/>
              </a:spcAft>
            </a:pPr>
            <a:r>
              <a:rPr lang="ar" sz="2800" b="1" dirty="0">
                <a:solidFill>
                  <a:schemeClr val="tx2"/>
                </a:solidFill>
                <a:latin typeface="Sakkal Majalla" panose="02000000000000000000" pitchFamily="2" charset="-78"/>
                <a:cs typeface="Sakkal Majalla" panose="02000000000000000000" pitchFamily="2" charset="-78"/>
              </a:rPr>
              <a:t>الإلكترونيات التناظرية</a:t>
            </a: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1"/>
          </p:nvPr>
        </p:nvSpPr>
        <p:spPr bwMode="auto">
          <a:xfrm>
            <a:off x="4648199" y="2196001"/>
            <a:ext cx="4027487" cy="40241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marL="0" indent="0" rtl="1">
              <a:lnSpc>
                <a:spcPct val="90000"/>
              </a:lnSpc>
              <a:buNone/>
            </a:pPr>
            <a:r>
              <a:rPr lang="ar" sz="1600" b="1" dirty="0"/>
              <a:t>الاتصالات اللاسلكية</a:t>
            </a:r>
          </a:p>
          <a:p>
            <a:pPr marL="0" indent="0" rtl="1">
              <a:lnSpc>
                <a:spcPct val="90000"/>
              </a:lnSpc>
              <a:buNone/>
            </a:pPr>
            <a:r>
              <a:rPr lang="ar" sz="1600" dirty="0"/>
              <a:t>تعتمد أنظمة الاتصالات اللاسلكية </a:t>
            </a:r>
            <a:r>
              <a:rPr lang="ar-EG" sz="1600" dirty="0"/>
              <a:t>اعتمادًا كبيرًا</a:t>
            </a:r>
            <a:r>
              <a:rPr lang="ar" sz="1600" dirty="0"/>
              <a:t>على الهندسة الإلكترونية التناظرية، </a:t>
            </a:r>
            <a:r>
              <a:rPr lang="ar-EG" sz="1600" dirty="0"/>
              <a:t>إذ </a:t>
            </a:r>
            <a:r>
              <a:rPr lang="ar" sz="1600" dirty="0"/>
              <a:t>يعمل مهندسو الإلكترونيات التناظرية على تصميم دوائر الاتصالات اللاسلكية وتحسينها، </a:t>
            </a:r>
            <a:r>
              <a:rPr lang="ar-EG" sz="1600" dirty="0"/>
              <a:t>لا سيما</a:t>
            </a:r>
            <a:r>
              <a:rPr lang="ar" sz="1600" dirty="0"/>
              <a:t>أجهزة الإرسال والاستقبال والهوائيات.</a:t>
            </a:r>
          </a:p>
          <a:p>
            <a:pPr rtl="1">
              <a:lnSpc>
                <a:spcPct val="90000"/>
              </a:lnSpc>
            </a:pPr>
            <a:endParaRPr lang="en-GB" sz="1600" dirty="0"/>
          </a:p>
          <a:p>
            <a:pPr marL="0" indent="0" rtl="1">
              <a:lnSpc>
                <a:spcPct val="90000"/>
              </a:lnSpc>
              <a:buNone/>
            </a:pPr>
            <a:r>
              <a:rPr lang="ar" sz="1600" b="1" dirty="0"/>
              <a:t>التحكم الصناعي</a:t>
            </a:r>
          </a:p>
          <a:p>
            <a:pPr marL="0" indent="0" rtl="1">
              <a:lnSpc>
                <a:spcPct val="90000"/>
              </a:lnSpc>
              <a:buNone/>
            </a:pPr>
            <a:r>
              <a:rPr lang="ar" sz="1600" dirty="0"/>
              <a:t>يشارك مهندسو الإلكترونيات التناظرية في تصميم أنظمة التحكم الصناعية وتطويرها. </a:t>
            </a:r>
            <a:r>
              <a:rPr lang="ar-EG" sz="1600" dirty="0"/>
              <a:t>إذ</a:t>
            </a:r>
            <a:r>
              <a:rPr lang="ar" sz="1600" dirty="0"/>
              <a:t> يعملون على تصميم دوائر التحكم للآلات الصناعية وتحسينها، </a:t>
            </a:r>
            <a:r>
              <a:rPr lang="ar-EG" sz="1600" dirty="0"/>
              <a:t>لا سيما </a:t>
            </a:r>
            <a:r>
              <a:rPr lang="ar" sz="1600" dirty="0"/>
              <a:t>أجهزة الاستشعار والمشغلات وواجهات التحكم.</a:t>
            </a:r>
          </a:p>
          <a:p>
            <a:pPr rtl="1">
              <a:lnSpc>
                <a:spcPct val="90000"/>
              </a:lnSpc>
            </a:pPr>
            <a:endParaRPr lang="en-GB" sz="1600" dirty="0"/>
          </a:p>
          <a:p>
            <a:pPr marL="0" indent="0" rtl="1">
              <a:lnSpc>
                <a:spcPct val="90000"/>
              </a:lnSpc>
              <a:buNone/>
            </a:pPr>
            <a:r>
              <a:rPr lang="ar" sz="1600" b="1" dirty="0"/>
              <a:t>أتمتة المصانع</a:t>
            </a:r>
          </a:p>
          <a:p>
            <a:pPr marL="0" indent="0" rtl="1">
              <a:lnSpc>
                <a:spcPct val="90000"/>
              </a:lnSpc>
              <a:buNone/>
            </a:pPr>
            <a:r>
              <a:rPr lang="ar" sz="1600" dirty="0"/>
              <a:t>يؤدي مهندسو الإلكترونيات التناظرية دورًا مهمًا في أتمتة المصانع. </a:t>
            </a:r>
            <a:r>
              <a:rPr lang="ar-EG" sz="1600" dirty="0"/>
              <a:t>فهم</a:t>
            </a:r>
            <a:r>
              <a:rPr lang="ar" sz="1600" dirty="0"/>
              <a:t> يعملون على تصميم الأنظمة الإلكترونية لعمليات التصنيع الآلية وتطويرها، </a:t>
            </a:r>
            <a:r>
              <a:rPr lang="ar-EG" sz="1600" dirty="0"/>
              <a:t>لا سيما </a:t>
            </a:r>
            <a:r>
              <a:rPr lang="ar" sz="1600" dirty="0"/>
              <a:t>أنظمة التحكم والروبوتات وأجهزة الاستشعار.</a:t>
            </a:r>
          </a:p>
          <a:p>
            <a:pPr rtl="1">
              <a:lnSpc>
                <a:spcPct val="90000"/>
              </a:lnSpc>
            </a:pPr>
            <a:endParaRPr lang="en-GB" sz="1200" dirty="0"/>
          </a:p>
        </p:txBody>
      </p:sp>
      <p:pic>
        <p:nvPicPr>
          <p:cNvPr id="3" name="Picture 2" descr="A yellow robots in a factory&#10;&#10;Description automatically generated">
            <a:extLst>
              <a:ext uri="{FF2B5EF4-FFF2-40B4-BE49-F238E27FC236}">
                <a16:creationId xmlns:a16="http://schemas.microsoft.com/office/drawing/2014/main" id="{51138547-3F95-64F6-8353-3AF1C9EACF86}"/>
              </a:ext>
            </a:extLst>
          </p:cNvPr>
          <p:cNvPicPr>
            <a:picLocks noChangeAspect="1"/>
          </p:cNvPicPr>
          <p:nvPr/>
        </p:nvPicPr>
        <p:blipFill>
          <a:blip r:embed="rId4" cstate="print">
            <a:extLst>
              <a:ext uri="{28A0092B-C50C-407E-A947-70E740481C1C}">
                <a14:useLocalDpi xmlns:a14="http://schemas.microsoft.com/office/drawing/2010/main"/>
              </a:ext>
            </a:extLst>
          </a:blip>
          <a:srcRect l="11144" r="9287" b="-3"/>
          <a:stretch/>
        </p:blipFill>
        <p:spPr>
          <a:xfrm>
            <a:off x="599840" y="2316564"/>
            <a:ext cx="3396096" cy="3393239"/>
          </a:xfrm>
          <a:prstGeom prst="rect">
            <a:avLst/>
          </a:prstGeom>
          <a:noFill/>
        </p:spPr>
      </p:pic>
      <p:sp>
        <p:nvSpPr>
          <p:cNvPr id="2" name="Footer Placeholder 2">
            <a:extLst>
              <a:ext uri="{FF2B5EF4-FFF2-40B4-BE49-F238E27FC236}">
                <a16:creationId xmlns:a16="http://schemas.microsoft.com/office/drawing/2014/main" id="{96D4D4F5-B926-4B23-C2EB-D3178262807A}"/>
              </a:ext>
            </a:extLst>
          </p:cNvPr>
          <p:cNvSpPr txBox="1">
            <a:spLocks/>
          </p:cNvSpPr>
          <p:nvPr/>
        </p:nvSpPr>
        <p:spPr bwMode="auto">
          <a:xfrm>
            <a:off x="107504"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A103000399219</a:t>
            </a:r>
            <a:endParaRPr lang="ar" sz="1000" dirty="0"/>
          </a:p>
        </p:txBody>
      </p:sp>
    </p:spTree>
    <p:extLst>
      <p:ext uri="{BB962C8B-B14F-4D97-AF65-F5344CB8AC3E}">
        <p14:creationId xmlns:p14="http://schemas.microsoft.com/office/powerpoint/2010/main" val="569407772"/>
      </p:ext>
    </p:extLst>
  </p:cSld>
  <p:clrMapOvr>
    <a:masterClrMapping/>
  </p:clrMapOvr>
  <p:transition>
    <p:sndAc>
      <p:stSnd>
        <p:snd r:embed="rId3" name="click.wav"/>
      </p:stSnd>
    </p:sndAc>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3000" b="1" dirty="0">
                <a:solidFill>
                  <a:schemeClr val="tx2"/>
                </a:solidFill>
                <a:latin typeface="Sakkal Majalla" panose="02000000000000000000" pitchFamily="2" charset="-78"/>
                <a:cs typeface="Sakkal Majalla" panose="02000000000000000000" pitchFamily="2" charset="-78"/>
              </a:rPr>
              <a:t>التحضير للتعليم المستقبلي والمهنة</a:t>
            </a:r>
          </a:p>
        </p:txBody>
      </p:sp>
      <p:pic>
        <p:nvPicPr>
          <p:cNvPr id="3" name="Picture 2" descr="A rolled up paper with a red ribbon&#10;&#10;Description automatically generated">
            <a:extLst>
              <a:ext uri="{FF2B5EF4-FFF2-40B4-BE49-F238E27FC236}">
                <a16:creationId xmlns:a16="http://schemas.microsoft.com/office/drawing/2014/main" id="{DC9A1AFC-FDB2-4E63-FEE8-AB7F2955AAEE}"/>
              </a:ext>
            </a:extLst>
          </p:cNvPr>
          <p:cNvPicPr>
            <a:picLocks noChangeAspect="1"/>
          </p:cNvPicPr>
          <p:nvPr/>
        </p:nvPicPr>
        <p:blipFill>
          <a:blip r:embed="rId4" cstate="print">
            <a:extLst>
              <a:ext uri="{28A0092B-C50C-407E-A947-70E740481C1C}">
                <a14:useLocalDpi xmlns:a14="http://schemas.microsoft.com/office/drawing/2010/main"/>
              </a:ext>
            </a:extLst>
          </a:blip>
          <a:srcRect l="25471" r="6972"/>
          <a:stretch/>
        </p:blipFill>
        <p:spPr>
          <a:xfrm>
            <a:off x="4648199" y="2196001"/>
            <a:ext cx="4027487" cy="4024100"/>
          </a:xfrm>
          <a:prstGeom prst="rect">
            <a:avLst/>
          </a:prstGeom>
          <a:noFill/>
        </p:spPr>
      </p:pic>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8312" y="2196001"/>
            <a:ext cx="4027488" cy="40241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marL="0" indent="0" rtl="1">
              <a:lnSpc>
                <a:spcPct val="90000"/>
              </a:lnSpc>
              <a:buNone/>
            </a:pPr>
            <a:r>
              <a:rPr lang="ar" sz="1600" b="1" dirty="0"/>
              <a:t>فرص التوظيف</a:t>
            </a:r>
          </a:p>
          <a:p>
            <a:pPr marL="0" indent="0" rtl="1">
              <a:lnSpc>
                <a:spcPct val="90000"/>
              </a:lnSpc>
              <a:buNone/>
            </a:pPr>
            <a:r>
              <a:rPr lang="ar" sz="1600" dirty="0"/>
              <a:t>ستزودك هذه الوحدة بالمهارات والمعرفة اللازمة لمتابعة مسيرتك المهنية بصفتك فني كهربائي/إلكتروني. ستكون مستعدًا للعمل في مختلف الصناعات التي تتطلب خبرة في الدوائر الإلكترونية التناظرية.</a:t>
            </a:r>
          </a:p>
          <a:p>
            <a:pPr rtl="1">
              <a:lnSpc>
                <a:spcPct val="90000"/>
              </a:lnSpc>
            </a:pPr>
            <a:endParaRPr lang="en-GB" sz="1600" dirty="0"/>
          </a:p>
          <a:p>
            <a:pPr marL="0" indent="0" rtl="1">
              <a:lnSpc>
                <a:spcPct val="90000"/>
              </a:lnSpc>
              <a:buNone/>
            </a:pPr>
            <a:r>
              <a:rPr lang="ar" sz="1600" b="1" dirty="0"/>
              <a:t>التدريب/التدريب المهني</a:t>
            </a:r>
          </a:p>
          <a:p>
            <a:pPr marL="0" indent="0" rtl="1">
              <a:lnSpc>
                <a:spcPct val="90000"/>
              </a:lnSpc>
              <a:buNone/>
            </a:pPr>
            <a:r>
              <a:rPr lang="ar" sz="1600" dirty="0"/>
              <a:t>تؤهلك هذه الوحدة للالتحاق ببرامج التدريب أو التدريب المهني في مجال الهندسة الكهربائية/ هندسة الإلكترونيات. توفر هذه البرامج التدريب العملي والخبرة الصناعية القيمة.</a:t>
            </a:r>
          </a:p>
          <a:p>
            <a:pPr rtl="1">
              <a:lnSpc>
                <a:spcPct val="90000"/>
              </a:lnSpc>
            </a:pPr>
            <a:endParaRPr lang="en-GB" sz="1600" dirty="0"/>
          </a:p>
          <a:p>
            <a:pPr marL="0" indent="0" rtl="1">
              <a:lnSpc>
                <a:spcPct val="90000"/>
              </a:lnSpc>
              <a:buNone/>
            </a:pPr>
            <a:r>
              <a:rPr lang="ar" sz="1600" b="1" dirty="0"/>
              <a:t>التعليم العالي</a:t>
            </a:r>
          </a:p>
          <a:p>
            <a:pPr marL="0" indent="0" rtl="1">
              <a:lnSpc>
                <a:spcPct val="90000"/>
              </a:lnSpc>
              <a:buNone/>
            </a:pPr>
            <a:r>
              <a:rPr lang="ar" sz="1600" dirty="0"/>
              <a:t>إذا كنت مهتمًا بمتابعة التعليم العالي، فستكون هذه الوحدة بمثابة أساس متين لمزيد من الدراسات في مجال الهندسة الكهربائية/ هندسة الإلكترونيات أو المجالات ذات الصلة. ستكتسب المهارات والمعرفة اللازمة للنجاح في الدورات المتقدمة.</a:t>
            </a:r>
          </a:p>
          <a:p>
            <a:pPr rtl="1">
              <a:lnSpc>
                <a:spcPct val="90000"/>
              </a:lnSpc>
            </a:pPr>
            <a:endParaRPr lang="en-GB" sz="1200" dirty="0"/>
          </a:p>
        </p:txBody>
      </p:sp>
      <p:sp>
        <p:nvSpPr>
          <p:cNvPr id="2" name="Footer Placeholder 2">
            <a:extLst>
              <a:ext uri="{FF2B5EF4-FFF2-40B4-BE49-F238E27FC236}">
                <a16:creationId xmlns:a16="http://schemas.microsoft.com/office/drawing/2014/main" id="{23A190FB-22DC-7B88-3F52-40D5715BD3EC}"/>
              </a:ext>
            </a:extLst>
          </p:cNvPr>
          <p:cNvSpPr txBox="1">
            <a:spLocks/>
          </p:cNvSpPr>
          <p:nvPr/>
        </p:nvSpPr>
        <p:spPr bwMode="auto">
          <a:xfrm>
            <a:off x="107504"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A103000399219</a:t>
            </a:r>
            <a:endParaRPr lang="ar" sz="1000" dirty="0"/>
          </a:p>
        </p:txBody>
      </p:sp>
    </p:spTree>
    <p:extLst>
      <p:ext uri="{BB962C8B-B14F-4D97-AF65-F5344CB8AC3E}">
        <p14:creationId xmlns:p14="http://schemas.microsoft.com/office/powerpoint/2010/main" val="986886062"/>
      </p:ext>
    </p:extLst>
  </p:cSld>
  <p:clrMapOvr>
    <a:masterClrMapping/>
  </p:clrMapOvr>
  <p:transition>
    <p:sndAc>
      <p:stSnd>
        <p:snd r:embed="rId3" name="click.wav"/>
      </p:stSnd>
    </p:sndAc>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463FA762-9023-8075-7EFA-66D2BEA654B3}"/>
              </a:ext>
            </a:extLst>
          </p:cNvPr>
          <p:cNvSpPr txBox="1">
            <a:spLocks noChangeArrowheads="1"/>
          </p:cNvSpPr>
          <p:nvPr/>
        </p:nvSpPr>
        <p:spPr bwMode="auto">
          <a:xfrm>
            <a:off x="251520" y="1268760"/>
            <a:ext cx="864096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r>
              <a:rPr lang="ar" sz="4600" kern="0" dirty="0">
                <a:latin typeface="Sakkal Majalla" panose="02000000000000000000" pitchFamily="2" charset="-78"/>
                <a:cs typeface="Sakkal Majalla" panose="02000000000000000000" pitchFamily="2" charset="-78"/>
              </a:rPr>
              <a:t>شكر وتقدير</a:t>
            </a:r>
          </a:p>
        </p:txBody>
      </p:sp>
      <p:sp>
        <p:nvSpPr>
          <p:cNvPr id="5" name="Content Placeholder 1">
            <a:extLst>
              <a:ext uri="{FF2B5EF4-FFF2-40B4-BE49-F238E27FC236}">
                <a16:creationId xmlns:a16="http://schemas.microsoft.com/office/drawing/2014/main" id="{9FA6E9AD-5E58-B78C-95E8-0BA1B8E3BEA7}"/>
              </a:ext>
            </a:extLst>
          </p:cNvPr>
          <p:cNvSpPr txBox="1">
            <a:spLocks/>
          </p:cNvSpPr>
          <p:nvPr/>
        </p:nvSpPr>
        <p:spPr>
          <a:xfrm>
            <a:off x="576263" y="2060848"/>
            <a:ext cx="7991475" cy="3168351"/>
          </a:xfrm>
          <a:prstGeom prst="rect">
            <a:avLst/>
          </a:prstGeom>
        </p:spPr>
        <p:txBody>
          <a:bodyPr rtlCol="1"/>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 sz="2600" kern="0" dirty="0">
                <a:latin typeface="Sakkal Majalla" panose="02000000000000000000" pitchFamily="2" charset="-78"/>
                <a:cs typeface="Sakkal Majalla" panose="02000000000000000000" pitchFamily="2" charset="-78"/>
              </a:rPr>
              <a:t>الصور</a:t>
            </a:r>
          </a:p>
          <a:p>
            <a:pPr rtl="1">
              <a:lnSpc>
                <a:spcPct val="107000"/>
              </a:lnSpc>
              <a:spcAft>
                <a:spcPts val="800"/>
              </a:spcAft>
            </a:pPr>
            <a:r>
              <a:rPr lang="ar" sz="2000" b="1" dirty="0">
                <a:effectLst/>
                <a:latin typeface="Sakkal Majalla" panose="02000000000000000000" pitchFamily="2" charset="-78"/>
                <a:ea typeface="Calibri" panose="020F0502020204030204" pitchFamily="34" charset="0"/>
                <a:cs typeface="Sakkal Majalla" panose="02000000000000000000" pitchFamily="2" charset="-78"/>
              </a:rPr>
              <a:t>123RF:</a:t>
            </a:r>
            <a:r>
              <a:rPr lang="ar" sz="2000" dirty="0">
                <a:solidFill>
                  <a:srgbClr val="242424"/>
                </a:solidFill>
                <a:effectLst/>
                <a:latin typeface="Sakkal Majalla" panose="02000000000000000000" pitchFamily="2" charset="-78"/>
                <a:ea typeface="Calibri" panose="020F0502020204030204" pitchFamily="34" charset="0"/>
                <a:cs typeface="Sakkal Majalla" panose="02000000000000000000" pitchFamily="2" charset="-78"/>
              </a:rPr>
              <a:t> نيجرون (شريحة 20)، راينر بليندل (شريحة 37)</a:t>
            </a:r>
            <a:r>
              <a:rPr lang="ar" sz="2000" dirty="0">
                <a:effectLst/>
                <a:latin typeface="Sakkal Majalla" panose="02000000000000000000" pitchFamily="2" charset="-78"/>
                <a:ea typeface="Calibri" panose="020F0502020204030204" pitchFamily="34" charset="0"/>
                <a:cs typeface="Sakkal Majalla" panose="02000000000000000000" pitchFamily="2" charset="-78"/>
              </a:rPr>
              <a:t>؛ </a:t>
            </a:r>
            <a:r>
              <a:rPr lang="ar" sz="2000" b="1" dirty="0">
                <a:effectLst/>
                <a:latin typeface="Sakkal Majalla" panose="02000000000000000000" pitchFamily="2" charset="-78"/>
                <a:ea typeface="Calibri" panose="020F0502020204030204" pitchFamily="34" charset="0"/>
                <a:cs typeface="Sakkal Majalla" panose="02000000000000000000" pitchFamily="2" charset="-78"/>
              </a:rPr>
              <a:t> أ. أحمد: </a:t>
            </a:r>
            <a:r>
              <a:rPr lang="ar" sz="2000" dirty="0">
                <a:effectLst/>
                <a:latin typeface="Sakkal Majalla" panose="02000000000000000000" pitchFamily="2" charset="-78"/>
                <a:ea typeface="Calibri" panose="020F0502020204030204" pitchFamily="34" charset="0"/>
                <a:cs typeface="Sakkal Majalla" panose="02000000000000000000" pitchFamily="2" charset="-78"/>
              </a:rPr>
              <a:t> (شريحة 8)</a:t>
            </a:r>
            <a:r>
              <a:rPr lang="ar" sz="2000" b="1" dirty="0">
                <a:effectLst/>
                <a:latin typeface="Sakkal Majalla" panose="02000000000000000000" pitchFamily="2" charset="-78"/>
                <a:ea typeface="Calibri" panose="020F0502020204030204" pitchFamily="34" charset="0"/>
                <a:cs typeface="Sakkal Majalla" panose="02000000000000000000" pitchFamily="2" charset="-78"/>
              </a:rPr>
              <a:t>؛ بيرسون إيدوكيشن ليمتد:</a:t>
            </a:r>
            <a:r>
              <a:rPr lang="ar" sz="2000" dirty="0">
                <a:effectLst/>
                <a:latin typeface="Sakkal Majalla" panose="02000000000000000000" pitchFamily="2" charset="-78"/>
                <a:ea typeface="Calibri" panose="020F0502020204030204" pitchFamily="34" charset="0"/>
                <a:cs typeface="Sakkal Majalla" panose="02000000000000000000" pitchFamily="2" charset="-78"/>
              </a:rPr>
              <a:t> كين فيل جيرافيك ديزاين (شريحة 14)، إتش إل استيديوز (شريحة 25)، بيرسون إيدوكيشن ليمتد (شريحة 26)، غاريث بودن (شريحة 30)؛</a:t>
            </a:r>
            <a:r>
              <a:rPr lang="ar" sz="2000" b="1" dirty="0">
                <a:effectLst/>
                <a:latin typeface="Sakkal Majalla" panose="02000000000000000000" pitchFamily="2" charset="-78"/>
                <a:ea typeface="Calibri" panose="020F0502020204030204" pitchFamily="34" charset="0"/>
                <a:cs typeface="Sakkal Majalla" panose="02000000000000000000" pitchFamily="2" charset="-78"/>
              </a:rPr>
              <a:t> شوترستوك: </a:t>
            </a:r>
            <a:r>
              <a:rPr lang="ar" sz="2000" dirty="0">
                <a:effectLst/>
                <a:latin typeface="Sakkal Majalla" panose="02000000000000000000" pitchFamily="2" charset="-78"/>
                <a:ea typeface="Calibri" panose="020F0502020204030204" pitchFamily="34" charset="0"/>
                <a:cs typeface="Sakkal Majalla" panose="02000000000000000000" pitchFamily="2" charset="-78"/>
              </a:rPr>
              <a:t>جراش أليكس (شريحة 7)، فلاديمير زوبانينكو (شريحة 9)، فيلاتوف أليكسي (شريحة 10)، ديسينوا (شريحة 12)، رادو بيركان (شريحة 13)، ديزفوتو (شريحة 15)، لوتشين (شريحة 16)، سيرفيكوز (شريحة 18)، Corbac40 (شريحة 19)، روبرت كنيشكه (شريحة 21)، ريكارد ستادلر (شريحة 22)، لوكاس فوتو (الشريحة 28)، فيلجودلك (الشريحة 29)، </a:t>
            </a:r>
            <a:r>
              <a:rPr lang="en-US" sz="2000" dirty="0">
                <a:effectLst/>
                <a:latin typeface="Sakkal Majalla" panose="02000000000000000000" pitchFamily="2" charset="-78"/>
                <a:ea typeface="Calibri" panose="020F0502020204030204" pitchFamily="34" charset="0"/>
                <a:cs typeface="Sakkal Majalla" panose="02000000000000000000" pitchFamily="2" charset="-78"/>
              </a:rPr>
              <a:t>Gabor2100</a:t>
            </a:r>
            <a:r>
              <a:rPr lang="ar" sz="2000" dirty="0">
                <a:effectLst/>
                <a:latin typeface="Sakkal Majalla" panose="02000000000000000000" pitchFamily="2" charset="-78"/>
                <a:ea typeface="Calibri" panose="020F0502020204030204" pitchFamily="34" charset="0"/>
                <a:cs typeface="Sakkal Majalla" panose="02000000000000000000" pitchFamily="2" charset="-78"/>
              </a:rPr>
              <a:t> (الشريحة 32)، KPixMining (الشريحة 33)، Looker_Studio (الشريحة 34)، دينوسوفت لاب (الشريحة 35)، بول فليت (الشريحة 36)، Gl0ck (الشريحة 38).</a:t>
            </a:r>
            <a:endParaRPr lang="en-GB" sz="2000" dirty="0">
              <a:effectLst/>
              <a:latin typeface="Sakkal Majalla" panose="02000000000000000000" pitchFamily="2" charset="-78"/>
              <a:ea typeface="Calibri" panose="020F0502020204030204" pitchFamily="34" charset="0"/>
              <a:cs typeface="Sakkal Majalla" panose="02000000000000000000" pitchFamily="2" charset="-78"/>
            </a:endParaRPr>
          </a:p>
          <a:p>
            <a:pPr marL="0" indent="0" rtl="1">
              <a:buFont typeface="Wingdings" panose="05000000000000000000" pitchFamily="2" charset="2"/>
              <a:buNone/>
            </a:pPr>
            <a:endParaRPr lang="en-GB" kern="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88C24917-27EA-2458-4B42-ADD8765653CA}"/>
              </a:ext>
            </a:extLst>
          </p:cNvPr>
          <p:cNvSpPr txBox="1">
            <a:spLocks/>
          </p:cNvSpPr>
          <p:nvPr/>
        </p:nvSpPr>
        <p:spPr bwMode="auto">
          <a:xfrm>
            <a:off x="107504"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A103000399219</a:t>
            </a:r>
            <a:endParaRPr lang="ar" sz="1000" dirty="0"/>
          </a:p>
        </p:txBody>
      </p:sp>
    </p:spTree>
  </p:cSld>
  <p:clrMapOvr>
    <a:masterClrMapping/>
  </p:clrMapOvr>
  <p:transition>
    <p:sndAc>
      <p:stSnd>
        <p:snd r:embed="rId3" name="click.wav"/>
      </p:stSnd>
    </p:sndAc>
  </p:transition>
</p:sld>
</file>

<file path=ppt/theme/theme1.xml><?xml version="1.0" encoding="utf-8"?>
<a:theme xmlns:a="http://schemas.openxmlformats.org/drawingml/2006/main" name="1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Land-based">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1F2AC0EC27FF3458662E003F8FEC281" ma:contentTypeVersion="24" ma:contentTypeDescription="Create a new document." ma:contentTypeScope="" ma:versionID="4a6fe28517af40a4350532efd75208a6">
  <xsd:schema xmlns:xsd="http://www.w3.org/2001/XMLSchema" xmlns:xs="http://www.w3.org/2001/XMLSchema" xmlns:p="http://schemas.microsoft.com/office/2006/metadata/properties" xmlns:ns1="http://schemas.microsoft.com/sharepoint/v3" xmlns:ns2="f63d1639-2e8e-4dfe-b2d4-ff2deac92409" xmlns:ns3="7012c9df-7563-46f6-96ee-cebd66fd5577" targetNamespace="http://schemas.microsoft.com/office/2006/metadata/properties" ma:root="true" ma:fieldsID="d17e6436edd79e558b922fed90e52d35" ns1:_="" ns2:_="" ns3:_="">
    <xsd:import namespace="http://schemas.microsoft.com/sharepoint/v3"/>
    <xsd:import namespace="f63d1639-2e8e-4dfe-b2d4-ff2deac92409"/>
    <xsd:import namespace="7012c9df-7563-46f6-96ee-cebd66fd5577"/>
    <xsd:element name="properties">
      <xsd:complexType>
        <xsd:sequence>
          <xsd:element name="documentManagement">
            <xsd:complexType>
              <xsd:all>
                <xsd:element ref="ns2:_Flow_SignoffStatus" minOccurs="0"/>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AdditionalInfo"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9" nillable="true" ma:displayName="Unified Compliance Policy Properties" ma:hidden="true" ma:internalName="_ip_UnifiedCompliancePolicyProperties">
      <xsd:simpleType>
        <xsd:restriction base="dms:Note"/>
      </xsd:simpleType>
    </xsd:element>
    <xsd:element name="_ip_UnifiedCompliancePolicyUIAction" ma:index="3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3d1639-2e8e-4dfe-b2d4-ff2deac92409" elementFormDefault="qualified">
    <xsd:import namespace="http://schemas.microsoft.com/office/2006/documentManagement/types"/>
    <xsd:import namespace="http://schemas.microsoft.com/office/infopath/2007/PartnerControls"/>
    <xsd:element name="_Flow_SignoffStatus" ma:index="2" nillable="true" ma:displayName="Sign-off status" ma:internalName="Sign_x002d_off_x0020_status" ma:readOnly="false">
      <xsd:simpleType>
        <xsd:restriction base="dms:Text"/>
      </xsd:simple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hidden="true" ma:internalName="MediaServiceKeyPoints" ma:readOnly="true">
      <xsd:simpleType>
        <xsd:restriction base="dms:Note"/>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hidden="true" ma:internalName="MediaServiceAutoTags" ma:readOnly="true">
      <xsd:simpleType>
        <xsd:restriction base="dms:Text"/>
      </xsd:simpleType>
    </xsd:element>
    <xsd:element name="MediaServiceOCR" ma:index="16" nillable="true" ma:displayName="Extracted Text" ma:hidden="true" ma:internalName="MediaServiceOCR" ma:readOnly="true">
      <xsd:simpleType>
        <xsd:restriction base="dms:Note"/>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hidden="true"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dditionalInfo" ma:index="27" nillable="true" ma:displayName="Additional Info" ma:format="Dropdown" ma:hidden="true" ma:internalName="AdditionalInfo" ma:readOnly="fals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012c9df-7563-46f6-96ee-cebd66fd5577" elementFormDefault="qualified">
    <xsd:import namespace="http://schemas.microsoft.com/office/2006/documentManagement/types"/>
    <xsd:import namespace="http://schemas.microsoft.com/office/infopath/2007/PartnerControls"/>
    <xsd:element name="SharedWithUsers" ma:index="12"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hidden="true" ma:internalName="SharedWithDetails" ma:readOnly="true">
      <xsd:simpleType>
        <xsd:restriction base="dms:Note"/>
      </xsd:simpleType>
    </xsd:element>
    <xsd:element name="TaxCatchAll" ma:index="22" nillable="true" ma:displayName="Taxonomy Catch All Column" ma:hidden="true" ma:list="{68bf6128-19fb-458b-8dd6-b174ec593e06}" ma:internalName="TaxCatchAll" ma:readOnly="false" ma:showField="CatchAllData" ma:web="7012c9df-7563-46f6-96ee-cebd66fd55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7012c9df-7563-46f6-96ee-cebd66fd5577" xsi:nil="true"/>
    <lcf76f155ced4ddcb4097134ff3c332f xmlns="f63d1639-2e8e-4dfe-b2d4-ff2deac92409">
      <Terms xmlns="http://schemas.microsoft.com/office/infopath/2007/PartnerControls"/>
    </lcf76f155ced4ddcb4097134ff3c332f>
    <SharedWithUsers xmlns="7012c9df-7563-46f6-96ee-cebd66fd5577">
      <UserInfo>
        <DisplayName/>
        <AccountId xsi:nil="true"/>
        <AccountType/>
      </UserInfo>
    </SharedWithUsers>
    <MediaLengthInSeconds xmlns="f63d1639-2e8e-4dfe-b2d4-ff2deac92409" xsi:nil="true"/>
    <AdditionalInfo xmlns="f63d1639-2e8e-4dfe-b2d4-ff2deac92409" xsi:nil="true"/>
    <_Flow_SignoffStatus xmlns="f63d1639-2e8e-4dfe-b2d4-ff2deac92409" xsi:nil="true"/>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D202AA1-6563-4DF0-BD32-7264C2079E24}"/>
</file>

<file path=customXml/itemProps2.xml><?xml version="1.0" encoding="utf-8"?>
<ds:datastoreItem xmlns:ds="http://schemas.openxmlformats.org/officeDocument/2006/customXml" ds:itemID="{4B700610-39F3-4A35-AAF4-C1E1359C0930}">
  <ds:schemaRefs>
    <ds:schemaRef ds:uri="7c1bd8dc-4e40-424f-a15f-9ffcd522197f"/>
    <ds:schemaRef ds:uri="http://schemas.openxmlformats.org/package/2006/metadata/core-properties"/>
    <ds:schemaRef ds:uri="http://schemas.microsoft.com/office/infopath/2007/PartnerControls"/>
    <ds:schemaRef ds:uri="http://purl.org/dc/terms/"/>
    <ds:schemaRef ds:uri="http://schemas.microsoft.com/office/2006/metadata/properties"/>
    <ds:schemaRef ds:uri="http://schemas.microsoft.com/office/2006/documentManagement/types"/>
    <ds:schemaRef ds:uri="http://purl.org/dc/elements/1.1/"/>
    <ds:schemaRef ds:uri="6125ffc9-2c56-435e-8267-1393444907b2"/>
    <ds:schemaRef ds:uri="http://www.w3.org/XML/1998/namespace"/>
    <ds:schemaRef ds:uri="http://purl.org/dc/dcmitype/"/>
  </ds:schemaRefs>
</ds:datastoreItem>
</file>

<file path=customXml/itemProps3.xml><?xml version="1.0" encoding="utf-8"?>
<ds:datastoreItem xmlns:ds="http://schemas.openxmlformats.org/officeDocument/2006/customXml" ds:itemID="{0AA2910D-4917-49C0-8FBC-BFF7ABD28CF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10882</TotalTime>
  <Words>3522</Words>
  <Application>Microsoft Office PowerPoint</Application>
  <PresentationFormat>On-screen Show (4:3)</PresentationFormat>
  <Paragraphs>421</Paragraphs>
  <Slides>39</Slides>
  <Notes>39</Notes>
  <HiddenSlides>0</HiddenSlides>
  <MMClips>0</MMClips>
  <ScaleCrop>false</ScaleCrop>
  <HeadingPairs>
    <vt:vector size="6" baseType="variant">
      <vt:variant>
        <vt:lpstr>Fonts Used</vt:lpstr>
      </vt:variant>
      <vt:variant>
        <vt:i4>5</vt:i4>
      </vt:variant>
      <vt:variant>
        <vt:lpstr>Theme</vt:lpstr>
      </vt:variant>
      <vt:variant>
        <vt:i4>10</vt:i4>
      </vt:variant>
      <vt:variant>
        <vt:lpstr>Slide Titles</vt:lpstr>
      </vt:variant>
      <vt:variant>
        <vt:i4>39</vt:i4>
      </vt:variant>
    </vt:vector>
  </HeadingPairs>
  <TitlesOfParts>
    <vt:vector size="54" baseType="lpstr">
      <vt:lpstr>Arial</vt:lpstr>
      <vt:lpstr>Calibri</vt:lpstr>
      <vt:lpstr>Sakkal Majalla</vt:lpstr>
      <vt:lpstr>Verdana</vt:lpstr>
      <vt:lpstr>Wingdings</vt:lpstr>
      <vt:lpstr>1_Art and Design</vt:lpstr>
      <vt:lpstr>2_Beauty Therapy</vt:lpstr>
      <vt:lpstr>3_Business</vt:lpstr>
      <vt:lpstr>4_Construction</vt:lpstr>
      <vt:lpstr>5_Creative Media</vt:lpstr>
      <vt:lpstr>6_Engineering</vt:lpstr>
      <vt:lpstr>7_Hospitality</vt:lpstr>
      <vt:lpstr>8_Information Technology</vt:lpstr>
      <vt:lpstr>9_Land-based</vt:lpstr>
      <vt:lpstr>10_Travel and Tourism</vt:lpstr>
      <vt:lpstr>الوحدة 20 الدوائر الإلكترونية التناظرية  </vt:lpstr>
      <vt:lpstr>PowerPoint Presentation</vt:lpstr>
      <vt:lpstr>نتاجات التعلم</vt:lpstr>
      <vt:lpstr>نتاج التعلم أ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نتاج التعلم ب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نتاج التعلم ج  </vt:lpstr>
      <vt:lpstr>PowerPoint Presentation</vt:lpstr>
      <vt:lpstr>PowerPoint Presentation</vt:lpstr>
      <vt:lpstr>PowerPoint Presentation</vt:lpstr>
      <vt:lpstr>نتاج التعلم د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192</cp:revision>
  <dcterms:created xsi:type="dcterms:W3CDTF">2020-07-15T07:14:47Z</dcterms:created>
  <dcterms:modified xsi:type="dcterms:W3CDTF">2024-12-09T16:35:17Z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0x01010011F2AC0EC27FF3458662E003F8FEC281</vt:lpwstr>
  </property>
  <property fmtid="{D5CDD505-2E9C-101B-9397-08002B2CF9AE}" pid="4" name="Order">
    <vt:r8>13842000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MediaServiceImageTags">
    <vt:lpwstr/>
  </property>
</Properties>
</file>